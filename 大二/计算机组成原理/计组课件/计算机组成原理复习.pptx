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notesSlides/notesSlide8.xml" ContentType="application/vnd.openxmlformats-officedocument.presentationml.notesSlid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notesSlides/notesSlide9.xml" ContentType="application/vnd.openxmlformats-officedocument.presentationml.notesSlide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tags/tag909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tags/tag913.xml" ContentType="application/vnd.openxmlformats-officedocument.presentationml.tags+xml"/>
  <Override PartName="/ppt/tags/tag914.xml" ContentType="application/vnd.openxmlformats-officedocument.presentationml.tags+xml"/>
  <Override PartName="/ppt/tags/tag915.xml" ContentType="application/vnd.openxmlformats-officedocument.presentationml.tags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tags/tag919.xml" ContentType="application/vnd.openxmlformats-officedocument.presentationml.tags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tags/tag922.xml" ContentType="application/vnd.openxmlformats-officedocument.presentationml.tags+xml"/>
  <Override PartName="/ppt/tags/tag923.xml" ContentType="application/vnd.openxmlformats-officedocument.presentationml.tags+xml"/>
  <Override PartName="/ppt/tags/tag924.xml" ContentType="application/vnd.openxmlformats-officedocument.presentationml.tags+xml"/>
  <Override PartName="/ppt/tags/tag925.xml" ContentType="application/vnd.openxmlformats-officedocument.presentationml.tags+xml"/>
  <Override PartName="/ppt/tags/tag926.xml" ContentType="application/vnd.openxmlformats-officedocument.presentationml.tags+xml"/>
  <Override PartName="/ppt/tags/tag927.xml" ContentType="application/vnd.openxmlformats-officedocument.presentationml.tags+xml"/>
  <Override PartName="/ppt/tags/tag928.xml" ContentType="application/vnd.openxmlformats-officedocument.presentationml.tags+xml"/>
  <Override PartName="/ppt/tags/tag929.xml" ContentType="application/vnd.openxmlformats-officedocument.presentationml.tags+xml"/>
  <Override PartName="/ppt/tags/tag930.xml" ContentType="application/vnd.openxmlformats-officedocument.presentationml.tags+xml"/>
  <Override PartName="/ppt/tags/tag931.xml" ContentType="application/vnd.openxmlformats-officedocument.presentationml.tags+xml"/>
  <Override PartName="/ppt/tags/tag932.xml" ContentType="application/vnd.openxmlformats-officedocument.presentationml.tags+xml"/>
  <Override PartName="/ppt/tags/tag933.xml" ContentType="application/vnd.openxmlformats-officedocument.presentationml.tags+xml"/>
  <Override PartName="/ppt/tags/tag934.xml" ContentType="application/vnd.openxmlformats-officedocument.presentationml.tags+xml"/>
  <Override PartName="/ppt/tags/tag935.xml" ContentType="application/vnd.openxmlformats-officedocument.presentationml.tags+xml"/>
  <Override PartName="/ppt/tags/tag936.xml" ContentType="application/vnd.openxmlformats-officedocument.presentationml.tags+xml"/>
  <Override PartName="/ppt/tags/tag937.xml" ContentType="application/vnd.openxmlformats-officedocument.presentationml.tags+xml"/>
  <Override PartName="/ppt/tags/tag938.xml" ContentType="application/vnd.openxmlformats-officedocument.presentationml.tags+xml"/>
  <Override PartName="/ppt/tags/tag939.xml" ContentType="application/vnd.openxmlformats-officedocument.presentationml.tags+xml"/>
  <Override PartName="/ppt/tags/tag940.xml" ContentType="application/vnd.openxmlformats-officedocument.presentationml.tags+xml"/>
  <Override PartName="/ppt/tags/tag941.xml" ContentType="application/vnd.openxmlformats-officedocument.presentationml.tags+xml"/>
  <Override PartName="/ppt/tags/tag942.xml" ContentType="application/vnd.openxmlformats-officedocument.presentationml.tags+xml"/>
  <Override PartName="/ppt/tags/tag943.xml" ContentType="application/vnd.openxmlformats-officedocument.presentationml.tags+xml"/>
  <Override PartName="/ppt/tags/tag944.xml" ContentType="application/vnd.openxmlformats-officedocument.presentationml.tags+xml"/>
  <Override PartName="/ppt/tags/tag945.xml" ContentType="application/vnd.openxmlformats-officedocument.presentationml.tags+xml"/>
  <Override PartName="/ppt/tags/tag946.xml" ContentType="application/vnd.openxmlformats-officedocument.presentationml.tags+xml"/>
  <Override PartName="/ppt/tags/tag947.xml" ContentType="application/vnd.openxmlformats-officedocument.presentationml.tags+xml"/>
  <Override PartName="/ppt/tags/tag948.xml" ContentType="application/vnd.openxmlformats-officedocument.presentationml.tags+xml"/>
  <Override PartName="/ppt/tags/tag949.xml" ContentType="application/vnd.openxmlformats-officedocument.presentationml.tags+xml"/>
  <Override PartName="/ppt/tags/tag950.xml" ContentType="application/vnd.openxmlformats-officedocument.presentationml.tags+xml"/>
  <Override PartName="/ppt/tags/tag951.xml" ContentType="application/vnd.openxmlformats-officedocument.presentationml.tags+xml"/>
  <Override PartName="/ppt/tags/tag952.xml" ContentType="application/vnd.openxmlformats-officedocument.presentationml.tags+xml"/>
  <Override PartName="/ppt/tags/tag953.xml" ContentType="application/vnd.openxmlformats-officedocument.presentationml.tags+xml"/>
  <Override PartName="/ppt/tags/tag954.xml" ContentType="application/vnd.openxmlformats-officedocument.presentationml.tags+xml"/>
  <Override PartName="/ppt/tags/tag955.xml" ContentType="application/vnd.openxmlformats-officedocument.presentationml.tags+xml"/>
  <Override PartName="/ppt/tags/tag956.xml" ContentType="application/vnd.openxmlformats-officedocument.presentationml.tags+xml"/>
  <Override PartName="/ppt/tags/tag957.xml" ContentType="application/vnd.openxmlformats-officedocument.presentationml.tags+xml"/>
  <Override PartName="/ppt/tags/tag958.xml" ContentType="application/vnd.openxmlformats-officedocument.presentationml.tags+xml"/>
  <Override PartName="/ppt/tags/tag959.xml" ContentType="application/vnd.openxmlformats-officedocument.presentationml.tags+xml"/>
  <Override PartName="/ppt/tags/tag960.xml" ContentType="application/vnd.openxmlformats-officedocument.presentationml.tags+xml"/>
  <Override PartName="/ppt/tags/tag961.xml" ContentType="application/vnd.openxmlformats-officedocument.presentationml.tags+xml"/>
  <Override PartName="/ppt/tags/tag962.xml" ContentType="application/vnd.openxmlformats-officedocument.presentationml.tags+xml"/>
  <Override PartName="/ppt/tags/tag963.xml" ContentType="application/vnd.openxmlformats-officedocument.presentationml.tags+xml"/>
  <Override PartName="/ppt/tags/tag964.xml" ContentType="application/vnd.openxmlformats-officedocument.presentationml.tags+xml"/>
  <Override PartName="/ppt/tags/tag965.xml" ContentType="application/vnd.openxmlformats-officedocument.presentationml.tags+xml"/>
  <Override PartName="/ppt/tags/tag966.xml" ContentType="application/vnd.openxmlformats-officedocument.presentationml.tags+xml"/>
  <Override PartName="/ppt/tags/tag967.xml" ContentType="application/vnd.openxmlformats-officedocument.presentationml.tags+xml"/>
  <Override PartName="/ppt/tags/tag968.xml" ContentType="application/vnd.openxmlformats-officedocument.presentationml.tags+xml"/>
  <Override PartName="/ppt/tags/tag969.xml" ContentType="application/vnd.openxmlformats-officedocument.presentationml.tags+xml"/>
  <Override PartName="/ppt/tags/tag970.xml" ContentType="application/vnd.openxmlformats-officedocument.presentationml.tags+xml"/>
  <Override PartName="/ppt/tags/tag971.xml" ContentType="application/vnd.openxmlformats-officedocument.presentationml.tags+xml"/>
  <Override PartName="/ppt/tags/tag972.xml" ContentType="application/vnd.openxmlformats-officedocument.presentationml.tags+xml"/>
  <Override PartName="/ppt/tags/tag973.xml" ContentType="application/vnd.openxmlformats-officedocument.presentationml.tags+xml"/>
  <Override PartName="/ppt/tags/tag974.xml" ContentType="application/vnd.openxmlformats-officedocument.presentationml.tags+xml"/>
  <Override PartName="/ppt/tags/tag975.xml" ContentType="application/vnd.openxmlformats-officedocument.presentationml.tags+xml"/>
  <Override PartName="/ppt/tags/tag976.xml" ContentType="application/vnd.openxmlformats-officedocument.presentationml.tags+xml"/>
  <Override PartName="/ppt/tags/tag977.xml" ContentType="application/vnd.openxmlformats-officedocument.presentationml.tags+xml"/>
  <Override PartName="/ppt/tags/tag978.xml" ContentType="application/vnd.openxmlformats-officedocument.presentationml.tags+xml"/>
  <Override PartName="/ppt/tags/tag979.xml" ContentType="application/vnd.openxmlformats-officedocument.presentationml.tags+xml"/>
  <Override PartName="/ppt/tags/tag980.xml" ContentType="application/vnd.openxmlformats-officedocument.presentationml.tags+xml"/>
  <Override PartName="/ppt/tags/tag981.xml" ContentType="application/vnd.openxmlformats-officedocument.presentationml.tags+xml"/>
  <Override PartName="/ppt/tags/tag982.xml" ContentType="application/vnd.openxmlformats-officedocument.presentationml.tags+xml"/>
  <Override PartName="/ppt/tags/tag983.xml" ContentType="application/vnd.openxmlformats-officedocument.presentationml.tags+xml"/>
  <Override PartName="/ppt/tags/tag984.xml" ContentType="application/vnd.openxmlformats-officedocument.presentationml.tags+xml"/>
  <Override PartName="/ppt/tags/tag985.xml" ContentType="application/vnd.openxmlformats-officedocument.presentationml.tags+xml"/>
  <Override PartName="/ppt/tags/tag986.xml" ContentType="application/vnd.openxmlformats-officedocument.presentationml.tags+xml"/>
  <Override PartName="/ppt/tags/tag987.xml" ContentType="application/vnd.openxmlformats-officedocument.presentationml.tags+xml"/>
  <Override PartName="/ppt/tags/tag988.xml" ContentType="application/vnd.openxmlformats-officedocument.presentationml.tags+xml"/>
  <Override PartName="/ppt/tags/tag989.xml" ContentType="application/vnd.openxmlformats-officedocument.presentationml.tags+xml"/>
  <Override PartName="/ppt/tags/tag990.xml" ContentType="application/vnd.openxmlformats-officedocument.presentationml.tags+xml"/>
  <Override PartName="/ppt/tags/tag991.xml" ContentType="application/vnd.openxmlformats-officedocument.presentationml.tags+xml"/>
  <Override PartName="/ppt/tags/tag992.xml" ContentType="application/vnd.openxmlformats-officedocument.presentationml.tags+xml"/>
  <Override PartName="/ppt/tags/tag993.xml" ContentType="application/vnd.openxmlformats-officedocument.presentationml.tags+xml"/>
  <Override PartName="/ppt/tags/tag994.xml" ContentType="application/vnd.openxmlformats-officedocument.presentationml.tags+xml"/>
  <Override PartName="/ppt/tags/tag995.xml" ContentType="application/vnd.openxmlformats-officedocument.presentationml.tags+xml"/>
  <Override PartName="/ppt/tags/tag996.xml" ContentType="application/vnd.openxmlformats-officedocument.presentationml.tags+xml"/>
  <Override PartName="/ppt/tags/tag997.xml" ContentType="application/vnd.openxmlformats-officedocument.presentationml.tags+xml"/>
  <Override PartName="/ppt/tags/tag998.xml" ContentType="application/vnd.openxmlformats-officedocument.presentationml.tags+xml"/>
  <Override PartName="/ppt/tags/tag999.xml" ContentType="application/vnd.openxmlformats-officedocument.presentationml.tags+xml"/>
  <Override PartName="/ppt/tags/tag1000.xml" ContentType="application/vnd.openxmlformats-officedocument.presentationml.tags+xml"/>
  <Override PartName="/ppt/tags/tag1001.xml" ContentType="application/vnd.openxmlformats-officedocument.presentationml.tags+xml"/>
  <Override PartName="/ppt/tags/tag1002.xml" ContentType="application/vnd.openxmlformats-officedocument.presentationml.tags+xml"/>
  <Override PartName="/ppt/tags/tag1003.xml" ContentType="application/vnd.openxmlformats-officedocument.presentationml.tags+xml"/>
  <Override PartName="/ppt/tags/tag1004.xml" ContentType="application/vnd.openxmlformats-officedocument.presentationml.tags+xml"/>
  <Override PartName="/ppt/tags/tag1005.xml" ContentType="application/vnd.openxmlformats-officedocument.presentationml.tags+xml"/>
  <Override PartName="/ppt/tags/tag1006.xml" ContentType="application/vnd.openxmlformats-officedocument.presentationml.tags+xml"/>
  <Override PartName="/ppt/tags/tag1007.xml" ContentType="application/vnd.openxmlformats-officedocument.presentationml.tags+xml"/>
  <Override PartName="/ppt/tags/tag1008.xml" ContentType="application/vnd.openxmlformats-officedocument.presentationml.tags+xml"/>
  <Override PartName="/ppt/tags/tag1009.xml" ContentType="application/vnd.openxmlformats-officedocument.presentationml.tags+xml"/>
  <Override PartName="/ppt/tags/tag1010.xml" ContentType="application/vnd.openxmlformats-officedocument.presentationml.tags+xml"/>
  <Override PartName="/ppt/tags/tag1011.xml" ContentType="application/vnd.openxmlformats-officedocument.presentationml.tags+xml"/>
  <Override PartName="/ppt/tags/tag1012.xml" ContentType="application/vnd.openxmlformats-officedocument.presentationml.tags+xml"/>
  <Override PartName="/ppt/tags/tag1013.xml" ContentType="application/vnd.openxmlformats-officedocument.presentationml.tags+xml"/>
  <Override PartName="/ppt/tags/tag1014.xml" ContentType="application/vnd.openxmlformats-officedocument.presentationml.tags+xml"/>
  <Override PartName="/ppt/tags/tag1015.xml" ContentType="application/vnd.openxmlformats-officedocument.presentationml.tags+xml"/>
  <Override PartName="/ppt/tags/tag1016.xml" ContentType="application/vnd.openxmlformats-officedocument.presentationml.tags+xml"/>
  <Override PartName="/ppt/tags/tag1017.xml" ContentType="application/vnd.openxmlformats-officedocument.presentationml.tags+xml"/>
  <Override PartName="/ppt/tags/tag1018.xml" ContentType="application/vnd.openxmlformats-officedocument.presentationml.tags+xml"/>
  <Override PartName="/ppt/tags/tag1019.xml" ContentType="application/vnd.openxmlformats-officedocument.presentationml.tags+xml"/>
  <Override PartName="/ppt/tags/tag1020.xml" ContentType="application/vnd.openxmlformats-officedocument.presentationml.tags+xml"/>
  <Override PartName="/ppt/tags/tag1021.xml" ContentType="application/vnd.openxmlformats-officedocument.presentationml.tags+xml"/>
  <Override PartName="/ppt/tags/tag1022.xml" ContentType="application/vnd.openxmlformats-officedocument.presentationml.tags+xml"/>
  <Override PartName="/ppt/tags/tag1023.xml" ContentType="application/vnd.openxmlformats-officedocument.presentationml.tags+xml"/>
  <Override PartName="/ppt/tags/tag1024.xml" ContentType="application/vnd.openxmlformats-officedocument.presentationml.tags+xml"/>
  <Override PartName="/ppt/tags/tag1025.xml" ContentType="application/vnd.openxmlformats-officedocument.presentationml.tags+xml"/>
  <Override PartName="/ppt/tags/tag1026.xml" ContentType="application/vnd.openxmlformats-officedocument.presentationml.tags+xml"/>
  <Override PartName="/ppt/tags/tag1027.xml" ContentType="application/vnd.openxmlformats-officedocument.presentationml.tags+xml"/>
  <Override PartName="/ppt/tags/tag1028.xml" ContentType="application/vnd.openxmlformats-officedocument.presentationml.tags+xml"/>
  <Override PartName="/ppt/tags/tag1029.xml" ContentType="application/vnd.openxmlformats-officedocument.presentationml.tags+xml"/>
  <Override PartName="/ppt/tags/tag1030.xml" ContentType="application/vnd.openxmlformats-officedocument.presentationml.tags+xml"/>
  <Override PartName="/ppt/tags/tag1031.xml" ContentType="application/vnd.openxmlformats-officedocument.presentationml.tags+xml"/>
  <Override PartName="/ppt/tags/tag1032.xml" ContentType="application/vnd.openxmlformats-officedocument.presentationml.tags+xml"/>
  <Override PartName="/ppt/tags/tag1033.xml" ContentType="application/vnd.openxmlformats-officedocument.presentationml.tags+xml"/>
  <Override PartName="/ppt/tags/tag1034.xml" ContentType="application/vnd.openxmlformats-officedocument.presentationml.tags+xml"/>
  <Override PartName="/ppt/tags/tag1035.xml" ContentType="application/vnd.openxmlformats-officedocument.presentationml.tags+xml"/>
  <Override PartName="/ppt/tags/tag1036.xml" ContentType="application/vnd.openxmlformats-officedocument.presentationml.tags+xml"/>
  <Override PartName="/ppt/tags/tag1037.xml" ContentType="application/vnd.openxmlformats-officedocument.presentationml.tags+xml"/>
  <Override PartName="/ppt/tags/tag1038.xml" ContentType="application/vnd.openxmlformats-officedocument.presentationml.tags+xml"/>
  <Override PartName="/ppt/tags/tag1039.xml" ContentType="application/vnd.openxmlformats-officedocument.presentationml.tags+xml"/>
  <Override PartName="/ppt/tags/tag1040.xml" ContentType="application/vnd.openxmlformats-officedocument.presentationml.tags+xml"/>
  <Override PartName="/ppt/tags/tag1041.xml" ContentType="application/vnd.openxmlformats-officedocument.presentationml.tags+xml"/>
  <Override PartName="/ppt/tags/tag1042.xml" ContentType="application/vnd.openxmlformats-officedocument.presentationml.tags+xml"/>
  <Override PartName="/ppt/tags/tag1043.xml" ContentType="application/vnd.openxmlformats-officedocument.presentationml.tags+xml"/>
  <Override PartName="/ppt/tags/tag1044.xml" ContentType="application/vnd.openxmlformats-officedocument.presentationml.tags+xml"/>
  <Override PartName="/ppt/tags/tag1045.xml" ContentType="application/vnd.openxmlformats-officedocument.presentationml.tags+xml"/>
  <Override PartName="/ppt/tags/tag1046.xml" ContentType="application/vnd.openxmlformats-officedocument.presentationml.tags+xml"/>
  <Override PartName="/ppt/tags/tag1047.xml" ContentType="application/vnd.openxmlformats-officedocument.presentationml.tags+xml"/>
  <Override PartName="/ppt/tags/tag1048.xml" ContentType="application/vnd.openxmlformats-officedocument.presentationml.tags+xml"/>
  <Override PartName="/ppt/tags/tag1049.xml" ContentType="application/vnd.openxmlformats-officedocument.presentationml.tags+xml"/>
  <Override PartName="/ppt/tags/tag1050.xml" ContentType="application/vnd.openxmlformats-officedocument.presentationml.tags+xml"/>
  <Override PartName="/ppt/tags/tag1051.xml" ContentType="application/vnd.openxmlformats-officedocument.presentationml.tags+xml"/>
  <Override PartName="/ppt/tags/tag1052.xml" ContentType="application/vnd.openxmlformats-officedocument.presentationml.tags+xml"/>
  <Override PartName="/ppt/tags/tag1053.xml" ContentType="application/vnd.openxmlformats-officedocument.presentationml.tags+xml"/>
  <Override PartName="/ppt/tags/tag1054.xml" ContentType="application/vnd.openxmlformats-officedocument.presentationml.tags+xml"/>
  <Override PartName="/ppt/tags/tag1055.xml" ContentType="application/vnd.openxmlformats-officedocument.presentationml.tags+xml"/>
  <Override PartName="/ppt/tags/tag1056.xml" ContentType="application/vnd.openxmlformats-officedocument.presentationml.tags+xml"/>
  <Override PartName="/ppt/tags/tag1057.xml" ContentType="application/vnd.openxmlformats-officedocument.presentationml.tags+xml"/>
  <Override PartName="/ppt/tags/tag1058.xml" ContentType="application/vnd.openxmlformats-officedocument.presentationml.tags+xml"/>
  <Override PartName="/ppt/tags/tag1059.xml" ContentType="application/vnd.openxmlformats-officedocument.presentationml.tags+xml"/>
  <Override PartName="/ppt/tags/tag1060.xml" ContentType="application/vnd.openxmlformats-officedocument.presentationml.tags+xml"/>
  <Override PartName="/ppt/tags/tag1061.xml" ContentType="application/vnd.openxmlformats-officedocument.presentationml.tags+xml"/>
  <Override PartName="/ppt/tags/tag1062.xml" ContentType="application/vnd.openxmlformats-officedocument.presentationml.tags+xml"/>
  <Override PartName="/ppt/tags/tag1063.xml" ContentType="application/vnd.openxmlformats-officedocument.presentationml.tags+xml"/>
  <Override PartName="/ppt/tags/tag1064.xml" ContentType="application/vnd.openxmlformats-officedocument.presentationml.tags+xml"/>
  <Override PartName="/ppt/tags/tag1065.xml" ContentType="application/vnd.openxmlformats-officedocument.presentationml.tags+xml"/>
  <Override PartName="/ppt/tags/tag1066.xml" ContentType="application/vnd.openxmlformats-officedocument.presentationml.tags+xml"/>
  <Override PartName="/ppt/tags/tag1067.xml" ContentType="application/vnd.openxmlformats-officedocument.presentationml.tags+xml"/>
  <Override PartName="/ppt/tags/tag1068.xml" ContentType="application/vnd.openxmlformats-officedocument.presentationml.tags+xml"/>
  <Override PartName="/ppt/tags/tag1069.xml" ContentType="application/vnd.openxmlformats-officedocument.presentationml.tags+xml"/>
  <Override PartName="/ppt/tags/tag1070.xml" ContentType="application/vnd.openxmlformats-officedocument.presentationml.tags+xml"/>
  <Override PartName="/ppt/tags/tag1071.xml" ContentType="application/vnd.openxmlformats-officedocument.presentationml.tags+xml"/>
  <Override PartName="/ppt/tags/tag1072.xml" ContentType="application/vnd.openxmlformats-officedocument.presentationml.tags+xml"/>
  <Override PartName="/ppt/tags/tag1073.xml" ContentType="application/vnd.openxmlformats-officedocument.presentationml.tags+xml"/>
  <Override PartName="/ppt/tags/tag1074.xml" ContentType="application/vnd.openxmlformats-officedocument.presentationml.tags+xml"/>
  <Override PartName="/ppt/tags/tag1075.xml" ContentType="application/vnd.openxmlformats-officedocument.presentationml.tags+xml"/>
  <Override PartName="/ppt/tags/tag1076.xml" ContentType="application/vnd.openxmlformats-officedocument.presentationml.tags+xml"/>
  <Override PartName="/ppt/tags/tag1077.xml" ContentType="application/vnd.openxmlformats-officedocument.presentationml.tags+xml"/>
  <Override PartName="/ppt/tags/tag1078.xml" ContentType="application/vnd.openxmlformats-officedocument.presentationml.tags+xml"/>
  <Override PartName="/ppt/tags/tag1079.xml" ContentType="application/vnd.openxmlformats-officedocument.presentationml.tags+xml"/>
  <Override PartName="/ppt/tags/tag1080.xml" ContentType="application/vnd.openxmlformats-officedocument.presentationml.tags+xml"/>
  <Override PartName="/ppt/tags/tag1081.xml" ContentType="application/vnd.openxmlformats-officedocument.presentationml.tags+xml"/>
  <Override PartName="/ppt/tags/tag1082.xml" ContentType="application/vnd.openxmlformats-officedocument.presentationml.tags+xml"/>
  <Override PartName="/ppt/tags/tag1083.xml" ContentType="application/vnd.openxmlformats-officedocument.presentationml.tags+xml"/>
  <Override PartName="/ppt/tags/tag1084.xml" ContentType="application/vnd.openxmlformats-officedocument.presentationml.tags+xml"/>
  <Override PartName="/ppt/tags/tag1085.xml" ContentType="application/vnd.openxmlformats-officedocument.presentationml.tags+xml"/>
  <Override PartName="/ppt/tags/tag1086.xml" ContentType="application/vnd.openxmlformats-officedocument.presentationml.tags+xml"/>
  <Override PartName="/ppt/tags/tag1087.xml" ContentType="application/vnd.openxmlformats-officedocument.presentationml.tags+xml"/>
  <Override PartName="/ppt/tags/tag1088.xml" ContentType="application/vnd.openxmlformats-officedocument.presentationml.tags+xml"/>
  <Override PartName="/ppt/tags/tag1089.xml" ContentType="application/vnd.openxmlformats-officedocument.presentationml.tags+xml"/>
  <Override PartName="/ppt/tags/tag1090.xml" ContentType="application/vnd.openxmlformats-officedocument.presentationml.tags+xml"/>
  <Override PartName="/ppt/tags/tag1091.xml" ContentType="application/vnd.openxmlformats-officedocument.presentationml.tags+xml"/>
  <Override PartName="/ppt/tags/tag1092.xml" ContentType="application/vnd.openxmlformats-officedocument.presentationml.tags+xml"/>
  <Override PartName="/ppt/tags/tag1093.xml" ContentType="application/vnd.openxmlformats-officedocument.presentationml.tags+xml"/>
  <Override PartName="/ppt/tags/tag1094.xml" ContentType="application/vnd.openxmlformats-officedocument.presentationml.tags+xml"/>
  <Override PartName="/ppt/tags/tag1095.xml" ContentType="application/vnd.openxmlformats-officedocument.presentationml.tags+xml"/>
  <Override PartName="/ppt/tags/tag1096.xml" ContentType="application/vnd.openxmlformats-officedocument.presentationml.tags+xml"/>
  <Override PartName="/ppt/tags/tag1097.xml" ContentType="application/vnd.openxmlformats-officedocument.presentationml.tags+xml"/>
  <Override PartName="/ppt/tags/tag1098.xml" ContentType="application/vnd.openxmlformats-officedocument.presentationml.tags+xml"/>
  <Override PartName="/ppt/tags/tag1099.xml" ContentType="application/vnd.openxmlformats-officedocument.presentationml.tags+xml"/>
  <Override PartName="/ppt/tags/tag1100.xml" ContentType="application/vnd.openxmlformats-officedocument.presentationml.tags+xml"/>
  <Override PartName="/ppt/tags/tag1101.xml" ContentType="application/vnd.openxmlformats-officedocument.presentationml.tags+xml"/>
  <Override PartName="/ppt/tags/tag1102.xml" ContentType="application/vnd.openxmlformats-officedocument.presentationml.tags+xml"/>
  <Override PartName="/ppt/tags/tag1103.xml" ContentType="application/vnd.openxmlformats-officedocument.presentationml.tags+xml"/>
  <Override PartName="/ppt/tags/tag1104.xml" ContentType="application/vnd.openxmlformats-officedocument.presentationml.tags+xml"/>
  <Override PartName="/ppt/tags/tag1105.xml" ContentType="application/vnd.openxmlformats-officedocument.presentationml.tags+xml"/>
  <Override PartName="/ppt/tags/tag1106.xml" ContentType="application/vnd.openxmlformats-officedocument.presentationml.tags+xml"/>
  <Override PartName="/ppt/tags/tag1107.xml" ContentType="application/vnd.openxmlformats-officedocument.presentationml.tags+xml"/>
  <Override PartName="/ppt/tags/tag1108.xml" ContentType="application/vnd.openxmlformats-officedocument.presentationml.tags+xml"/>
  <Override PartName="/ppt/tags/tag1109.xml" ContentType="application/vnd.openxmlformats-officedocument.presentationml.tags+xml"/>
  <Override PartName="/ppt/tags/tag1110.xml" ContentType="application/vnd.openxmlformats-officedocument.presentationml.tags+xml"/>
  <Override PartName="/ppt/tags/tag1111.xml" ContentType="application/vnd.openxmlformats-officedocument.presentationml.tags+xml"/>
  <Override PartName="/ppt/tags/tag1112.xml" ContentType="application/vnd.openxmlformats-officedocument.presentationml.tags+xml"/>
  <Override PartName="/ppt/tags/tag1113.xml" ContentType="application/vnd.openxmlformats-officedocument.presentationml.tags+xml"/>
  <Override PartName="/ppt/tags/tag1114.xml" ContentType="application/vnd.openxmlformats-officedocument.presentationml.tags+xml"/>
  <Override PartName="/ppt/tags/tag1115.xml" ContentType="application/vnd.openxmlformats-officedocument.presentationml.tags+xml"/>
  <Override PartName="/ppt/tags/tag1116.xml" ContentType="application/vnd.openxmlformats-officedocument.presentationml.tags+xml"/>
  <Override PartName="/ppt/tags/tag1117.xml" ContentType="application/vnd.openxmlformats-officedocument.presentationml.tags+xml"/>
  <Override PartName="/ppt/tags/tag1118.xml" ContentType="application/vnd.openxmlformats-officedocument.presentationml.tags+xml"/>
  <Override PartName="/ppt/tags/tag1119.xml" ContentType="application/vnd.openxmlformats-officedocument.presentationml.tags+xml"/>
  <Override PartName="/ppt/tags/tag1120.xml" ContentType="application/vnd.openxmlformats-officedocument.presentationml.tags+xml"/>
  <Override PartName="/ppt/tags/tag1121.xml" ContentType="application/vnd.openxmlformats-officedocument.presentationml.tags+xml"/>
  <Override PartName="/ppt/tags/tag1122.xml" ContentType="application/vnd.openxmlformats-officedocument.presentationml.tags+xml"/>
  <Override PartName="/ppt/tags/tag1123.xml" ContentType="application/vnd.openxmlformats-officedocument.presentationml.tags+xml"/>
  <Override PartName="/ppt/tags/tag1124.xml" ContentType="application/vnd.openxmlformats-officedocument.presentationml.tags+xml"/>
  <Override PartName="/ppt/tags/tag1125.xml" ContentType="application/vnd.openxmlformats-officedocument.presentationml.tags+xml"/>
  <Override PartName="/ppt/tags/tag1126.xml" ContentType="application/vnd.openxmlformats-officedocument.presentationml.tags+xml"/>
  <Override PartName="/ppt/tags/tag1127.xml" ContentType="application/vnd.openxmlformats-officedocument.presentationml.tags+xml"/>
  <Override PartName="/ppt/tags/tag1128.xml" ContentType="application/vnd.openxmlformats-officedocument.presentationml.tags+xml"/>
  <Override PartName="/ppt/tags/tag1129.xml" ContentType="application/vnd.openxmlformats-officedocument.presentationml.tags+xml"/>
  <Override PartName="/ppt/tags/tag1130.xml" ContentType="application/vnd.openxmlformats-officedocument.presentationml.tags+xml"/>
  <Override PartName="/ppt/tags/tag1131.xml" ContentType="application/vnd.openxmlformats-officedocument.presentationml.tags+xml"/>
  <Override PartName="/ppt/tags/tag1132.xml" ContentType="application/vnd.openxmlformats-officedocument.presentationml.tags+xml"/>
  <Override PartName="/ppt/tags/tag1133.xml" ContentType="application/vnd.openxmlformats-officedocument.presentationml.tags+xml"/>
  <Override PartName="/ppt/tags/tag1134.xml" ContentType="application/vnd.openxmlformats-officedocument.presentationml.tags+xml"/>
  <Override PartName="/ppt/tags/tag1135.xml" ContentType="application/vnd.openxmlformats-officedocument.presentationml.tags+xml"/>
  <Override PartName="/ppt/tags/tag1136.xml" ContentType="application/vnd.openxmlformats-officedocument.presentationml.tags+xml"/>
  <Override PartName="/ppt/tags/tag1137.xml" ContentType="application/vnd.openxmlformats-officedocument.presentationml.tags+xml"/>
  <Override PartName="/ppt/tags/tag1138.xml" ContentType="application/vnd.openxmlformats-officedocument.presentationml.tags+xml"/>
  <Override PartName="/ppt/tags/tag1139.xml" ContentType="application/vnd.openxmlformats-officedocument.presentationml.tags+xml"/>
  <Override PartName="/ppt/tags/tag1140.xml" ContentType="application/vnd.openxmlformats-officedocument.presentationml.tags+xml"/>
  <Override PartName="/ppt/tags/tag1141.xml" ContentType="application/vnd.openxmlformats-officedocument.presentationml.tags+xml"/>
  <Override PartName="/ppt/tags/tag1142.xml" ContentType="application/vnd.openxmlformats-officedocument.presentationml.tags+xml"/>
  <Override PartName="/ppt/tags/tag1143.xml" ContentType="application/vnd.openxmlformats-officedocument.presentationml.tags+xml"/>
  <Override PartName="/ppt/tags/tag1144.xml" ContentType="application/vnd.openxmlformats-officedocument.presentationml.tags+xml"/>
  <Override PartName="/ppt/tags/tag1145.xml" ContentType="application/vnd.openxmlformats-officedocument.presentationml.tags+xml"/>
  <Override PartName="/ppt/tags/tag1146.xml" ContentType="application/vnd.openxmlformats-officedocument.presentationml.tags+xml"/>
  <Override PartName="/ppt/tags/tag1147.xml" ContentType="application/vnd.openxmlformats-officedocument.presentationml.tags+xml"/>
  <Override PartName="/ppt/tags/tag1148.xml" ContentType="application/vnd.openxmlformats-officedocument.presentationml.tags+xml"/>
  <Override PartName="/ppt/tags/tag1149.xml" ContentType="application/vnd.openxmlformats-officedocument.presentationml.tags+xml"/>
  <Override PartName="/ppt/tags/tag1150.xml" ContentType="application/vnd.openxmlformats-officedocument.presentationml.tags+xml"/>
  <Override PartName="/ppt/tags/tag1151.xml" ContentType="application/vnd.openxmlformats-officedocument.presentationml.tags+xml"/>
  <Override PartName="/ppt/tags/tag1152.xml" ContentType="application/vnd.openxmlformats-officedocument.presentationml.tags+xml"/>
  <Override PartName="/ppt/tags/tag1153.xml" ContentType="application/vnd.openxmlformats-officedocument.presentationml.tags+xml"/>
  <Override PartName="/ppt/tags/tag1154.xml" ContentType="application/vnd.openxmlformats-officedocument.presentationml.tags+xml"/>
  <Override PartName="/ppt/tags/tag1155.xml" ContentType="application/vnd.openxmlformats-officedocument.presentationml.tags+xml"/>
  <Override PartName="/ppt/tags/tag1156.xml" ContentType="application/vnd.openxmlformats-officedocument.presentationml.tags+xml"/>
  <Override PartName="/ppt/tags/tag1157.xml" ContentType="application/vnd.openxmlformats-officedocument.presentationml.tags+xml"/>
  <Override PartName="/ppt/tags/tag1158.xml" ContentType="application/vnd.openxmlformats-officedocument.presentationml.tags+xml"/>
  <Override PartName="/ppt/tags/tag1159.xml" ContentType="application/vnd.openxmlformats-officedocument.presentationml.tags+xml"/>
  <Override PartName="/ppt/tags/tag1160.xml" ContentType="application/vnd.openxmlformats-officedocument.presentationml.tags+xml"/>
  <Override PartName="/ppt/tags/tag1161.xml" ContentType="application/vnd.openxmlformats-officedocument.presentationml.tags+xml"/>
  <Override PartName="/ppt/tags/tag1162.xml" ContentType="application/vnd.openxmlformats-officedocument.presentationml.tags+xml"/>
  <Override PartName="/ppt/tags/tag1163.xml" ContentType="application/vnd.openxmlformats-officedocument.presentationml.tags+xml"/>
  <Override PartName="/ppt/tags/tag1164.xml" ContentType="application/vnd.openxmlformats-officedocument.presentationml.tags+xml"/>
  <Override PartName="/ppt/tags/tag1165.xml" ContentType="application/vnd.openxmlformats-officedocument.presentationml.tags+xml"/>
  <Override PartName="/ppt/tags/tag1166.xml" ContentType="application/vnd.openxmlformats-officedocument.presentationml.tags+xml"/>
  <Override PartName="/ppt/tags/tag1167.xml" ContentType="application/vnd.openxmlformats-officedocument.presentationml.tags+xml"/>
  <Override PartName="/ppt/tags/tag1168.xml" ContentType="application/vnd.openxmlformats-officedocument.presentationml.tags+xml"/>
  <Override PartName="/ppt/tags/tag1169.xml" ContentType="application/vnd.openxmlformats-officedocument.presentationml.tags+xml"/>
  <Override PartName="/ppt/tags/tag1170.xml" ContentType="application/vnd.openxmlformats-officedocument.presentationml.tags+xml"/>
  <Override PartName="/ppt/tags/tag1171.xml" ContentType="application/vnd.openxmlformats-officedocument.presentationml.tags+xml"/>
  <Override PartName="/ppt/tags/tag1172.xml" ContentType="application/vnd.openxmlformats-officedocument.presentationml.tags+xml"/>
  <Override PartName="/ppt/tags/tag1173.xml" ContentType="application/vnd.openxmlformats-officedocument.presentationml.tags+xml"/>
  <Override PartName="/ppt/tags/tag1174.xml" ContentType="application/vnd.openxmlformats-officedocument.presentationml.tags+xml"/>
  <Override PartName="/ppt/tags/tag1175.xml" ContentType="application/vnd.openxmlformats-officedocument.presentationml.tags+xml"/>
  <Override PartName="/ppt/tags/tag1176.xml" ContentType="application/vnd.openxmlformats-officedocument.presentationml.tags+xml"/>
  <Override PartName="/ppt/tags/tag1177.xml" ContentType="application/vnd.openxmlformats-officedocument.presentationml.tags+xml"/>
  <Override PartName="/ppt/tags/tag1178.xml" ContentType="application/vnd.openxmlformats-officedocument.presentationml.tags+xml"/>
  <Override PartName="/ppt/tags/tag1179.xml" ContentType="application/vnd.openxmlformats-officedocument.presentationml.tags+xml"/>
  <Override PartName="/ppt/tags/tag1180.xml" ContentType="application/vnd.openxmlformats-officedocument.presentationml.tags+xml"/>
  <Override PartName="/ppt/tags/tag1181.xml" ContentType="application/vnd.openxmlformats-officedocument.presentationml.tags+xml"/>
  <Override PartName="/ppt/tags/tag1182.xml" ContentType="application/vnd.openxmlformats-officedocument.presentationml.tags+xml"/>
  <Override PartName="/ppt/tags/tag1183.xml" ContentType="application/vnd.openxmlformats-officedocument.presentationml.tags+xml"/>
  <Override PartName="/ppt/tags/tag1184.xml" ContentType="application/vnd.openxmlformats-officedocument.presentationml.tags+xml"/>
  <Override PartName="/ppt/tags/tag1185.xml" ContentType="application/vnd.openxmlformats-officedocument.presentationml.tags+xml"/>
  <Override PartName="/ppt/tags/tag1186.xml" ContentType="application/vnd.openxmlformats-officedocument.presentationml.tags+xml"/>
  <Override PartName="/ppt/tags/tag1187.xml" ContentType="application/vnd.openxmlformats-officedocument.presentationml.tags+xml"/>
  <Override PartName="/ppt/tags/tag1188.xml" ContentType="application/vnd.openxmlformats-officedocument.presentationml.tags+xml"/>
  <Override PartName="/ppt/tags/tag1189.xml" ContentType="application/vnd.openxmlformats-officedocument.presentationml.tags+xml"/>
  <Override PartName="/ppt/tags/tag1190.xml" ContentType="application/vnd.openxmlformats-officedocument.presentationml.tags+xml"/>
  <Override PartName="/ppt/tags/tag1191.xml" ContentType="application/vnd.openxmlformats-officedocument.presentationml.tags+xml"/>
  <Override PartName="/ppt/tags/tag1192.xml" ContentType="application/vnd.openxmlformats-officedocument.presentationml.tags+xml"/>
  <Override PartName="/ppt/tags/tag1193.xml" ContentType="application/vnd.openxmlformats-officedocument.presentationml.tags+xml"/>
  <Override PartName="/ppt/tags/tag1194.xml" ContentType="application/vnd.openxmlformats-officedocument.presentationml.tags+xml"/>
  <Override PartName="/ppt/tags/tag1195.xml" ContentType="application/vnd.openxmlformats-officedocument.presentationml.tags+xml"/>
  <Override PartName="/ppt/tags/tag1196.xml" ContentType="application/vnd.openxmlformats-officedocument.presentationml.tags+xml"/>
  <Override PartName="/ppt/tags/tag1197.xml" ContentType="application/vnd.openxmlformats-officedocument.presentationml.tags+xml"/>
  <Override PartName="/ppt/tags/tag1198.xml" ContentType="application/vnd.openxmlformats-officedocument.presentationml.tags+xml"/>
  <Override PartName="/ppt/tags/tag1199.xml" ContentType="application/vnd.openxmlformats-officedocument.presentationml.tags+xml"/>
  <Override PartName="/ppt/tags/tag1200.xml" ContentType="application/vnd.openxmlformats-officedocument.presentationml.tags+xml"/>
  <Override PartName="/ppt/tags/tag1201.xml" ContentType="application/vnd.openxmlformats-officedocument.presentationml.tags+xml"/>
  <Override PartName="/ppt/tags/tag1202.xml" ContentType="application/vnd.openxmlformats-officedocument.presentationml.tags+xml"/>
  <Override PartName="/ppt/tags/tag1203.xml" ContentType="application/vnd.openxmlformats-officedocument.presentationml.tags+xml"/>
  <Override PartName="/ppt/tags/tag1204.xml" ContentType="application/vnd.openxmlformats-officedocument.presentationml.tags+xml"/>
  <Override PartName="/ppt/tags/tag1205.xml" ContentType="application/vnd.openxmlformats-officedocument.presentationml.tags+xml"/>
  <Override PartName="/ppt/tags/tag1206.xml" ContentType="application/vnd.openxmlformats-officedocument.presentationml.tags+xml"/>
  <Override PartName="/ppt/tags/tag1207.xml" ContentType="application/vnd.openxmlformats-officedocument.presentationml.tags+xml"/>
  <Override PartName="/ppt/tags/tag1208.xml" ContentType="application/vnd.openxmlformats-officedocument.presentationml.tags+xml"/>
  <Override PartName="/ppt/tags/tag1209.xml" ContentType="application/vnd.openxmlformats-officedocument.presentationml.tags+xml"/>
  <Override PartName="/ppt/tags/tag1210.xml" ContentType="application/vnd.openxmlformats-officedocument.presentationml.tags+xml"/>
  <Override PartName="/ppt/tags/tag1211.xml" ContentType="application/vnd.openxmlformats-officedocument.presentationml.tags+xml"/>
  <Override PartName="/ppt/tags/tag1212.xml" ContentType="application/vnd.openxmlformats-officedocument.presentationml.tags+xml"/>
  <Override PartName="/ppt/tags/tag1213.xml" ContentType="application/vnd.openxmlformats-officedocument.presentationml.tags+xml"/>
  <Override PartName="/ppt/tags/tag1214.xml" ContentType="application/vnd.openxmlformats-officedocument.presentationml.tags+xml"/>
  <Override PartName="/ppt/tags/tag1215.xml" ContentType="application/vnd.openxmlformats-officedocument.presentationml.tags+xml"/>
  <Override PartName="/ppt/tags/tag1216.xml" ContentType="application/vnd.openxmlformats-officedocument.presentationml.tags+xml"/>
  <Override PartName="/ppt/tags/tag1217.xml" ContentType="application/vnd.openxmlformats-officedocument.presentationml.tags+xml"/>
  <Override PartName="/ppt/tags/tag1218.xml" ContentType="application/vnd.openxmlformats-officedocument.presentationml.tags+xml"/>
  <Override PartName="/ppt/tags/tag1219.xml" ContentType="application/vnd.openxmlformats-officedocument.presentationml.tags+xml"/>
  <Override PartName="/ppt/tags/tag1220.xml" ContentType="application/vnd.openxmlformats-officedocument.presentationml.tags+xml"/>
  <Override PartName="/ppt/tags/tag1221.xml" ContentType="application/vnd.openxmlformats-officedocument.presentationml.tags+xml"/>
  <Override PartName="/ppt/tags/tag1222.xml" ContentType="application/vnd.openxmlformats-officedocument.presentationml.tags+xml"/>
  <Override PartName="/ppt/tags/tag1223.xml" ContentType="application/vnd.openxmlformats-officedocument.presentationml.tags+xml"/>
  <Override PartName="/ppt/tags/tag1224.xml" ContentType="application/vnd.openxmlformats-officedocument.presentationml.tags+xml"/>
  <Override PartName="/ppt/tags/tag1225.xml" ContentType="application/vnd.openxmlformats-officedocument.presentationml.tags+xml"/>
  <Override PartName="/ppt/tags/tag1226.xml" ContentType="application/vnd.openxmlformats-officedocument.presentationml.tags+xml"/>
  <Override PartName="/ppt/tags/tag1227.xml" ContentType="application/vnd.openxmlformats-officedocument.presentationml.tags+xml"/>
  <Override PartName="/ppt/tags/tag1228.xml" ContentType="application/vnd.openxmlformats-officedocument.presentationml.tags+xml"/>
  <Override PartName="/ppt/tags/tag1229.xml" ContentType="application/vnd.openxmlformats-officedocument.presentationml.tags+xml"/>
  <Override PartName="/ppt/tags/tag1230.xml" ContentType="application/vnd.openxmlformats-officedocument.presentationml.tags+xml"/>
  <Override PartName="/ppt/tags/tag1231.xml" ContentType="application/vnd.openxmlformats-officedocument.presentationml.tags+xml"/>
  <Override PartName="/ppt/tags/tag1232.xml" ContentType="application/vnd.openxmlformats-officedocument.presentationml.tags+xml"/>
  <Override PartName="/ppt/tags/tag1233.xml" ContentType="application/vnd.openxmlformats-officedocument.presentationml.tags+xml"/>
  <Override PartName="/ppt/tags/tag1234.xml" ContentType="application/vnd.openxmlformats-officedocument.presentationml.tags+xml"/>
  <Override PartName="/ppt/tags/tag1235.xml" ContentType="application/vnd.openxmlformats-officedocument.presentationml.tags+xml"/>
  <Override PartName="/ppt/tags/tag1236.xml" ContentType="application/vnd.openxmlformats-officedocument.presentationml.tags+xml"/>
  <Override PartName="/ppt/tags/tag1237.xml" ContentType="application/vnd.openxmlformats-officedocument.presentationml.tags+xml"/>
  <Override PartName="/ppt/tags/tag1238.xml" ContentType="application/vnd.openxmlformats-officedocument.presentationml.tags+xml"/>
  <Override PartName="/ppt/tags/tag1239.xml" ContentType="application/vnd.openxmlformats-officedocument.presentationml.tags+xml"/>
  <Override PartName="/ppt/tags/tag1240.xml" ContentType="application/vnd.openxmlformats-officedocument.presentationml.tags+xml"/>
  <Override PartName="/ppt/tags/tag1241.xml" ContentType="application/vnd.openxmlformats-officedocument.presentationml.tags+xml"/>
  <Override PartName="/ppt/tags/tag1242.xml" ContentType="application/vnd.openxmlformats-officedocument.presentationml.tags+xml"/>
  <Override PartName="/ppt/tags/tag1243.xml" ContentType="application/vnd.openxmlformats-officedocument.presentationml.tags+xml"/>
  <Override PartName="/ppt/tags/tag1244.xml" ContentType="application/vnd.openxmlformats-officedocument.presentationml.tags+xml"/>
  <Override PartName="/ppt/tags/tag1245.xml" ContentType="application/vnd.openxmlformats-officedocument.presentationml.tags+xml"/>
  <Override PartName="/ppt/tags/tag1246.xml" ContentType="application/vnd.openxmlformats-officedocument.presentationml.tags+xml"/>
  <Override PartName="/ppt/tags/tag1247.xml" ContentType="application/vnd.openxmlformats-officedocument.presentationml.tags+xml"/>
  <Override PartName="/ppt/tags/tag1248.xml" ContentType="application/vnd.openxmlformats-officedocument.presentationml.tags+xml"/>
  <Override PartName="/ppt/tags/tag1249.xml" ContentType="application/vnd.openxmlformats-officedocument.presentationml.tags+xml"/>
  <Override PartName="/ppt/tags/tag1250.xml" ContentType="application/vnd.openxmlformats-officedocument.presentationml.tags+xml"/>
  <Override PartName="/ppt/tags/tag1251.xml" ContentType="application/vnd.openxmlformats-officedocument.presentationml.tags+xml"/>
  <Override PartName="/ppt/tags/tag1252.xml" ContentType="application/vnd.openxmlformats-officedocument.presentationml.tags+xml"/>
  <Override PartName="/ppt/tags/tag1253.xml" ContentType="application/vnd.openxmlformats-officedocument.presentationml.tags+xml"/>
  <Override PartName="/ppt/tags/tag1254.xml" ContentType="application/vnd.openxmlformats-officedocument.presentationml.tags+xml"/>
  <Override PartName="/ppt/tags/tag1255.xml" ContentType="application/vnd.openxmlformats-officedocument.presentationml.tags+xml"/>
  <Override PartName="/ppt/tags/tag1256.xml" ContentType="application/vnd.openxmlformats-officedocument.presentationml.tags+xml"/>
  <Override PartName="/ppt/tags/tag1257.xml" ContentType="application/vnd.openxmlformats-officedocument.presentationml.tags+xml"/>
  <Override PartName="/ppt/tags/tag1258.xml" ContentType="application/vnd.openxmlformats-officedocument.presentationml.tags+xml"/>
  <Override PartName="/ppt/tags/tag1259.xml" ContentType="application/vnd.openxmlformats-officedocument.presentationml.tags+xml"/>
  <Override PartName="/ppt/tags/tag1260.xml" ContentType="application/vnd.openxmlformats-officedocument.presentationml.tags+xml"/>
  <Override PartName="/ppt/tags/tag1261.xml" ContentType="application/vnd.openxmlformats-officedocument.presentationml.tags+xml"/>
  <Override PartName="/ppt/tags/tag1262.xml" ContentType="application/vnd.openxmlformats-officedocument.presentationml.tags+xml"/>
  <Override PartName="/ppt/tags/tag1263.xml" ContentType="application/vnd.openxmlformats-officedocument.presentationml.tags+xml"/>
  <Override PartName="/ppt/tags/tag1264.xml" ContentType="application/vnd.openxmlformats-officedocument.presentationml.tags+xml"/>
  <Override PartName="/ppt/tags/tag1265.xml" ContentType="application/vnd.openxmlformats-officedocument.presentationml.tags+xml"/>
  <Override PartName="/ppt/tags/tag1266.xml" ContentType="application/vnd.openxmlformats-officedocument.presentationml.tags+xml"/>
  <Override PartName="/ppt/tags/tag1267.xml" ContentType="application/vnd.openxmlformats-officedocument.presentationml.tags+xml"/>
  <Override PartName="/ppt/tags/tag1268.xml" ContentType="application/vnd.openxmlformats-officedocument.presentationml.tags+xml"/>
  <Override PartName="/ppt/tags/tag1269.xml" ContentType="application/vnd.openxmlformats-officedocument.presentationml.tags+xml"/>
  <Override PartName="/ppt/tags/tag1270.xml" ContentType="application/vnd.openxmlformats-officedocument.presentationml.tags+xml"/>
  <Override PartName="/ppt/tags/tag1271.xml" ContentType="application/vnd.openxmlformats-officedocument.presentationml.tags+xml"/>
  <Override PartName="/ppt/tags/tag1272.xml" ContentType="application/vnd.openxmlformats-officedocument.presentationml.tags+xml"/>
  <Override PartName="/ppt/tags/tag1273.xml" ContentType="application/vnd.openxmlformats-officedocument.presentationml.tags+xml"/>
  <Override PartName="/ppt/tags/tag1274.xml" ContentType="application/vnd.openxmlformats-officedocument.presentationml.tags+xml"/>
  <Override PartName="/ppt/tags/tag1275.xml" ContentType="application/vnd.openxmlformats-officedocument.presentationml.tags+xml"/>
  <Override PartName="/ppt/tags/tag1276.xml" ContentType="application/vnd.openxmlformats-officedocument.presentationml.tags+xml"/>
  <Override PartName="/ppt/tags/tag1277.xml" ContentType="application/vnd.openxmlformats-officedocument.presentationml.tags+xml"/>
  <Override PartName="/ppt/tags/tag1278.xml" ContentType="application/vnd.openxmlformats-officedocument.presentationml.tags+xml"/>
  <Override PartName="/ppt/tags/tag1279.xml" ContentType="application/vnd.openxmlformats-officedocument.presentationml.tags+xml"/>
  <Override PartName="/ppt/tags/tag1280.xml" ContentType="application/vnd.openxmlformats-officedocument.presentationml.tags+xml"/>
  <Override PartName="/ppt/tags/tag1281.xml" ContentType="application/vnd.openxmlformats-officedocument.presentationml.tags+xml"/>
  <Override PartName="/ppt/tags/tag1282.xml" ContentType="application/vnd.openxmlformats-officedocument.presentationml.tags+xml"/>
  <Override PartName="/ppt/tags/tag1283.xml" ContentType="application/vnd.openxmlformats-officedocument.presentationml.tags+xml"/>
  <Override PartName="/ppt/tags/tag1284.xml" ContentType="application/vnd.openxmlformats-officedocument.presentationml.tags+xml"/>
  <Override PartName="/ppt/tags/tag1285.xml" ContentType="application/vnd.openxmlformats-officedocument.presentationml.tags+xml"/>
  <Override PartName="/ppt/tags/tag1286.xml" ContentType="application/vnd.openxmlformats-officedocument.presentationml.tags+xml"/>
  <Override PartName="/ppt/tags/tag1287.xml" ContentType="application/vnd.openxmlformats-officedocument.presentationml.tags+xml"/>
  <Override PartName="/ppt/tags/tag1288.xml" ContentType="application/vnd.openxmlformats-officedocument.presentationml.tags+xml"/>
  <Override PartName="/ppt/tags/tag1289.xml" ContentType="application/vnd.openxmlformats-officedocument.presentationml.tags+xml"/>
  <Override PartName="/ppt/tags/tag1290.xml" ContentType="application/vnd.openxmlformats-officedocument.presentationml.tags+xml"/>
  <Override PartName="/ppt/tags/tag1291.xml" ContentType="application/vnd.openxmlformats-officedocument.presentationml.tags+xml"/>
  <Override PartName="/ppt/tags/tag1292.xml" ContentType="application/vnd.openxmlformats-officedocument.presentationml.tags+xml"/>
  <Override PartName="/ppt/tags/tag1293.xml" ContentType="application/vnd.openxmlformats-officedocument.presentationml.tags+xml"/>
  <Override PartName="/ppt/tags/tag1294.xml" ContentType="application/vnd.openxmlformats-officedocument.presentationml.tags+xml"/>
  <Override PartName="/ppt/tags/tag1295.xml" ContentType="application/vnd.openxmlformats-officedocument.presentationml.tags+xml"/>
  <Override PartName="/ppt/tags/tag1296.xml" ContentType="application/vnd.openxmlformats-officedocument.presentationml.tags+xml"/>
  <Override PartName="/ppt/tags/tag1297.xml" ContentType="application/vnd.openxmlformats-officedocument.presentationml.tags+xml"/>
  <Override PartName="/ppt/tags/tag1298.xml" ContentType="application/vnd.openxmlformats-officedocument.presentationml.tags+xml"/>
  <Override PartName="/ppt/tags/tag1299.xml" ContentType="application/vnd.openxmlformats-officedocument.presentationml.tags+xml"/>
  <Override PartName="/ppt/tags/tag1300.xml" ContentType="application/vnd.openxmlformats-officedocument.presentationml.tags+xml"/>
  <Override PartName="/ppt/tags/tag1301.xml" ContentType="application/vnd.openxmlformats-officedocument.presentationml.tags+xml"/>
  <Override PartName="/ppt/tags/tag1302.xml" ContentType="application/vnd.openxmlformats-officedocument.presentationml.tags+xml"/>
  <Override PartName="/ppt/tags/tag1303.xml" ContentType="application/vnd.openxmlformats-officedocument.presentationml.tags+xml"/>
  <Override PartName="/ppt/tags/tag1304.xml" ContentType="application/vnd.openxmlformats-officedocument.presentationml.tags+xml"/>
  <Override PartName="/ppt/tags/tag1305.xml" ContentType="application/vnd.openxmlformats-officedocument.presentationml.tags+xml"/>
  <Override PartName="/ppt/tags/tag1306.xml" ContentType="application/vnd.openxmlformats-officedocument.presentationml.tags+xml"/>
  <Override PartName="/ppt/tags/tag1307.xml" ContentType="application/vnd.openxmlformats-officedocument.presentationml.tags+xml"/>
  <Override PartName="/ppt/tags/tag1308.xml" ContentType="application/vnd.openxmlformats-officedocument.presentationml.tags+xml"/>
  <Override PartName="/ppt/tags/tag1309.xml" ContentType="application/vnd.openxmlformats-officedocument.presentationml.tags+xml"/>
  <Override PartName="/ppt/tags/tag1310.xml" ContentType="application/vnd.openxmlformats-officedocument.presentationml.tags+xml"/>
  <Override PartName="/ppt/tags/tag1311.xml" ContentType="application/vnd.openxmlformats-officedocument.presentationml.tags+xml"/>
  <Override PartName="/ppt/tags/tag1312.xml" ContentType="application/vnd.openxmlformats-officedocument.presentationml.tags+xml"/>
  <Override PartName="/ppt/tags/tag1313.xml" ContentType="application/vnd.openxmlformats-officedocument.presentationml.tags+xml"/>
  <Override PartName="/ppt/tags/tag1314.xml" ContentType="application/vnd.openxmlformats-officedocument.presentationml.tags+xml"/>
  <Override PartName="/ppt/tags/tag1315.xml" ContentType="application/vnd.openxmlformats-officedocument.presentationml.tags+xml"/>
  <Override PartName="/ppt/tags/tag1316.xml" ContentType="application/vnd.openxmlformats-officedocument.presentationml.tags+xml"/>
  <Override PartName="/ppt/tags/tag1317.xml" ContentType="application/vnd.openxmlformats-officedocument.presentationml.tags+xml"/>
  <Override PartName="/ppt/tags/tag1318.xml" ContentType="application/vnd.openxmlformats-officedocument.presentationml.tags+xml"/>
  <Override PartName="/ppt/tags/tag1319.xml" ContentType="application/vnd.openxmlformats-officedocument.presentationml.tags+xml"/>
  <Override PartName="/ppt/tags/tag1320.xml" ContentType="application/vnd.openxmlformats-officedocument.presentationml.tags+xml"/>
  <Override PartName="/ppt/tags/tag1321.xml" ContentType="application/vnd.openxmlformats-officedocument.presentationml.tags+xml"/>
  <Override PartName="/ppt/tags/tag1322.xml" ContentType="application/vnd.openxmlformats-officedocument.presentationml.tags+xml"/>
  <Override PartName="/ppt/tags/tag1323.xml" ContentType="application/vnd.openxmlformats-officedocument.presentationml.tags+xml"/>
  <Override PartName="/ppt/tags/tag1324.xml" ContentType="application/vnd.openxmlformats-officedocument.presentationml.tags+xml"/>
  <Override PartName="/ppt/tags/tag1325.xml" ContentType="application/vnd.openxmlformats-officedocument.presentationml.tags+xml"/>
  <Override PartName="/ppt/tags/tag1326.xml" ContentType="application/vnd.openxmlformats-officedocument.presentationml.tags+xml"/>
  <Override PartName="/ppt/tags/tag1327.xml" ContentType="application/vnd.openxmlformats-officedocument.presentationml.tags+xml"/>
  <Override PartName="/ppt/tags/tag1328.xml" ContentType="application/vnd.openxmlformats-officedocument.presentationml.tags+xml"/>
  <Override PartName="/ppt/tags/tag1329.xml" ContentType="application/vnd.openxmlformats-officedocument.presentationml.tags+xml"/>
  <Override PartName="/ppt/tags/tag1330.xml" ContentType="application/vnd.openxmlformats-officedocument.presentationml.tags+xml"/>
  <Override PartName="/ppt/tags/tag1331.xml" ContentType="application/vnd.openxmlformats-officedocument.presentationml.tags+xml"/>
  <Override PartName="/ppt/tags/tag1332.xml" ContentType="application/vnd.openxmlformats-officedocument.presentationml.tags+xml"/>
  <Override PartName="/ppt/tags/tag1333.xml" ContentType="application/vnd.openxmlformats-officedocument.presentationml.tags+xml"/>
  <Override PartName="/ppt/tags/tag1334.xml" ContentType="application/vnd.openxmlformats-officedocument.presentationml.tags+xml"/>
  <Override PartName="/ppt/tags/tag1335.xml" ContentType="application/vnd.openxmlformats-officedocument.presentationml.tags+xml"/>
  <Override PartName="/ppt/tags/tag1336.xml" ContentType="application/vnd.openxmlformats-officedocument.presentationml.tags+xml"/>
  <Override PartName="/ppt/tags/tag1337.xml" ContentType="application/vnd.openxmlformats-officedocument.presentationml.tags+xml"/>
  <Override PartName="/ppt/tags/tag1338.xml" ContentType="application/vnd.openxmlformats-officedocument.presentationml.tags+xml"/>
  <Override PartName="/ppt/tags/tag1339.xml" ContentType="application/vnd.openxmlformats-officedocument.presentationml.tags+xml"/>
  <Override PartName="/ppt/tags/tag1340.xml" ContentType="application/vnd.openxmlformats-officedocument.presentationml.tags+xml"/>
  <Override PartName="/ppt/tags/tag1341.xml" ContentType="application/vnd.openxmlformats-officedocument.presentationml.tags+xml"/>
  <Override PartName="/ppt/tags/tag1342.xml" ContentType="application/vnd.openxmlformats-officedocument.presentationml.tags+xml"/>
  <Override PartName="/ppt/tags/tag1343.xml" ContentType="application/vnd.openxmlformats-officedocument.presentationml.tags+xml"/>
  <Override PartName="/ppt/tags/tag1344.xml" ContentType="application/vnd.openxmlformats-officedocument.presentationml.tags+xml"/>
  <Override PartName="/ppt/tags/tag1345.xml" ContentType="application/vnd.openxmlformats-officedocument.presentationml.tags+xml"/>
  <Override PartName="/ppt/tags/tag1346.xml" ContentType="application/vnd.openxmlformats-officedocument.presentationml.tags+xml"/>
  <Override PartName="/ppt/tags/tag1347.xml" ContentType="application/vnd.openxmlformats-officedocument.presentationml.tags+xml"/>
  <Override PartName="/ppt/tags/tag1348.xml" ContentType="application/vnd.openxmlformats-officedocument.presentationml.tags+xml"/>
  <Override PartName="/ppt/tags/tag1349.xml" ContentType="application/vnd.openxmlformats-officedocument.presentationml.tags+xml"/>
  <Override PartName="/ppt/tags/tag1350.xml" ContentType="application/vnd.openxmlformats-officedocument.presentationml.tags+xml"/>
  <Override PartName="/ppt/tags/tag1351.xml" ContentType="application/vnd.openxmlformats-officedocument.presentationml.tags+xml"/>
  <Override PartName="/ppt/tags/tag1352.xml" ContentType="application/vnd.openxmlformats-officedocument.presentationml.tags+xml"/>
  <Override PartName="/ppt/tags/tag1353.xml" ContentType="application/vnd.openxmlformats-officedocument.presentationml.tags+xml"/>
  <Override PartName="/ppt/tags/tag1354.xml" ContentType="application/vnd.openxmlformats-officedocument.presentationml.tags+xml"/>
  <Override PartName="/ppt/tags/tag1355.xml" ContentType="application/vnd.openxmlformats-officedocument.presentationml.tags+xml"/>
  <Override PartName="/ppt/tags/tag1356.xml" ContentType="application/vnd.openxmlformats-officedocument.presentationml.tags+xml"/>
  <Override PartName="/ppt/tags/tag1357.xml" ContentType="application/vnd.openxmlformats-officedocument.presentationml.tags+xml"/>
  <Override PartName="/ppt/tags/tag1358.xml" ContentType="application/vnd.openxmlformats-officedocument.presentationml.tags+xml"/>
  <Override PartName="/ppt/tags/tag1359.xml" ContentType="application/vnd.openxmlformats-officedocument.presentationml.tags+xml"/>
  <Override PartName="/ppt/tags/tag1360.xml" ContentType="application/vnd.openxmlformats-officedocument.presentationml.tags+xml"/>
  <Override PartName="/ppt/tags/tag1361.xml" ContentType="application/vnd.openxmlformats-officedocument.presentationml.tags+xml"/>
  <Override PartName="/ppt/tags/tag1362.xml" ContentType="application/vnd.openxmlformats-officedocument.presentationml.tags+xml"/>
  <Override PartName="/ppt/tags/tag1363.xml" ContentType="application/vnd.openxmlformats-officedocument.presentationml.tags+xml"/>
  <Override PartName="/ppt/tags/tag1364.xml" ContentType="application/vnd.openxmlformats-officedocument.presentationml.tags+xml"/>
  <Override PartName="/ppt/tags/tag1365.xml" ContentType="application/vnd.openxmlformats-officedocument.presentationml.tags+xml"/>
  <Override PartName="/ppt/tags/tag1366.xml" ContentType="application/vnd.openxmlformats-officedocument.presentationml.tags+xml"/>
  <Override PartName="/ppt/tags/tag1367.xml" ContentType="application/vnd.openxmlformats-officedocument.presentationml.tags+xml"/>
  <Override PartName="/ppt/tags/tag1368.xml" ContentType="application/vnd.openxmlformats-officedocument.presentationml.tags+xml"/>
  <Override PartName="/ppt/tags/tag1369.xml" ContentType="application/vnd.openxmlformats-officedocument.presentationml.tags+xml"/>
  <Override PartName="/ppt/tags/tag1370.xml" ContentType="application/vnd.openxmlformats-officedocument.presentationml.tags+xml"/>
  <Override PartName="/ppt/tags/tag1371.xml" ContentType="application/vnd.openxmlformats-officedocument.presentationml.tags+xml"/>
  <Override PartName="/ppt/tags/tag1372.xml" ContentType="application/vnd.openxmlformats-officedocument.presentationml.tags+xml"/>
  <Override PartName="/ppt/tags/tag1373.xml" ContentType="application/vnd.openxmlformats-officedocument.presentationml.tags+xml"/>
  <Override PartName="/ppt/tags/tag1374.xml" ContentType="application/vnd.openxmlformats-officedocument.presentationml.tags+xml"/>
  <Override PartName="/ppt/tags/tag1375.xml" ContentType="application/vnd.openxmlformats-officedocument.presentationml.tags+xml"/>
  <Override PartName="/ppt/tags/tag1376.xml" ContentType="application/vnd.openxmlformats-officedocument.presentationml.tags+xml"/>
  <Override PartName="/ppt/tags/tag1377.xml" ContentType="application/vnd.openxmlformats-officedocument.presentationml.tags+xml"/>
  <Override PartName="/ppt/tags/tag1378.xml" ContentType="application/vnd.openxmlformats-officedocument.presentationml.tags+xml"/>
  <Override PartName="/ppt/tags/tag1379.xml" ContentType="application/vnd.openxmlformats-officedocument.presentationml.tags+xml"/>
  <Override PartName="/ppt/tags/tag1380.xml" ContentType="application/vnd.openxmlformats-officedocument.presentationml.tags+xml"/>
  <Override PartName="/ppt/tags/tag1381.xml" ContentType="application/vnd.openxmlformats-officedocument.presentationml.tags+xml"/>
  <Override PartName="/ppt/tags/tag1382.xml" ContentType="application/vnd.openxmlformats-officedocument.presentationml.tags+xml"/>
  <Override PartName="/ppt/tags/tag1383.xml" ContentType="application/vnd.openxmlformats-officedocument.presentationml.tags+xml"/>
  <Override PartName="/ppt/tags/tag1384.xml" ContentType="application/vnd.openxmlformats-officedocument.presentationml.tags+xml"/>
  <Override PartName="/ppt/tags/tag1385.xml" ContentType="application/vnd.openxmlformats-officedocument.presentationml.tags+xml"/>
  <Override PartName="/ppt/tags/tag1386.xml" ContentType="application/vnd.openxmlformats-officedocument.presentationml.tags+xml"/>
  <Override PartName="/ppt/tags/tag1387.xml" ContentType="application/vnd.openxmlformats-officedocument.presentationml.tags+xml"/>
  <Override PartName="/ppt/tags/tag1388.xml" ContentType="application/vnd.openxmlformats-officedocument.presentationml.tags+xml"/>
  <Override PartName="/ppt/tags/tag1389.xml" ContentType="application/vnd.openxmlformats-officedocument.presentationml.tags+xml"/>
  <Override PartName="/ppt/tags/tag1390.xml" ContentType="application/vnd.openxmlformats-officedocument.presentationml.tags+xml"/>
  <Override PartName="/ppt/tags/tag1391.xml" ContentType="application/vnd.openxmlformats-officedocument.presentationml.tags+xml"/>
  <Override PartName="/ppt/tags/tag1392.xml" ContentType="application/vnd.openxmlformats-officedocument.presentationml.tags+xml"/>
  <Override PartName="/ppt/tags/tag1393.xml" ContentType="application/vnd.openxmlformats-officedocument.presentationml.tags+xml"/>
  <Override PartName="/ppt/tags/tag1394.xml" ContentType="application/vnd.openxmlformats-officedocument.presentationml.tags+xml"/>
  <Override PartName="/ppt/tags/tag1395.xml" ContentType="application/vnd.openxmlformats-officedocument.presentationml.tags+xml"/>
  <Override PartName="/ppt/tags/tag1396.xml" ContentType="application/vnd.openxmlformats-officedocument.presentationml.tags+xml"/>
  <Override PartName="/ppt/tags/tag1397.xml" ContentType="application/vnd.openxmlformats-officedocument.presentationml.tags+xml"/>
  <Override PartName="/ppt/tags/tag1398.xml" ContentType="application/vnd.openxmlformats-officedocument.presentationml.tags+xml"/>
  <Override PartName="/ppt/tags/tag1399.xml" ContentType="application/vnd.openxmlformats-officedocument.presentationml.tags+xml"/>
  <Override PartName="/ppt/tags/tag1400.xml" ContentType="application/vnd.openxmlformats-officedocument.presentationml.tags+xml"/>
  <Override PartName="/ppt/tags/tag140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39"/>
  </p:notesMasterIdLst>
  <p:sldIdLst>
    <p:sldId id="256" r:id="rId2"/>
    <p:sldId id="327" r:id="rId3"/>
    <p:sldId id="450" r:id="rId4"/>
    <p:sldId id="397" r:id="rId5"/>
    <p:sldId id="430" r:id="rId6"/>
    <p:sldId id="413" r:id="rId7"/>
    <p:sldId id="414" r:id="rId8"/>
    <p:sldId id="415" r:id="rId9"/>
    <p:sldId id="416" r:id="rId10"/>
    <p:sldId id="417" r:id="rId11"/>
    <p:sldId id="418" r:id="rId12"/>
    <p:sldId id="419" r:id="rId13"/>
    <p:sldId id="420" r:id="rId14"/>
    <p:sldId id="421" r:id="rId15"/>
    <p:sldId id="422" r:id="rId16"/>
    <p:sldId id="423" r:id="rId17"/>
    <p:sldId id="424" r:id="rId18"/>
    <p:sldId id="433" r:id="rId19"/>
    <p:sldId id="425" r:id="rId20"/>
    <p:sldId id="426" r:id="rId21"/>
    <p:sldId id="427" r:id="rId22"/>
    <p:sldId id="428" r:id="rId23"/>
    <p:sldId id="429" r:id="rId24"/>
    <p:sldId id="431" r:id="rId25"/>
    <p:sldId id="434" r:id="rId26"/>
    <p:sldId id="437" r:id="rId27"/>
    <p:sldId id="435" r:id="rId28"/>
    <p:sldId id="439" r:id="rId29"/>
    <p:sldId id="441" r:id="rId30"/>
    <p:sldId id="446" r:id="rId31"/>
    <p:sldId id="436" r:id="rId32"/>
    <p:sldId id="442" r:id="rId33"/>
    <p:sldId id="448" r:id="rId34"/>
    <p:sldId id="445" r:id="rId35"/>
    <p:sldId id="447" r:id="rId36"/>
    <p:sldId id="449" r:id="rId37"/>
    <p:sldId id="440" r:id="rId38"/>
  </p:sldIdLst>
  <p:sldSz cx="9144000" cy="6858000" type="screen4x3"/>
  <p:notesSz cx="6858000" cy="9144000"/>
  <p:custDataLst>
    <p:tags r:id="rId40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2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olin" initials="g" lastIdx="1" clrIdx="0">
    <p:extLst>
      <p:ext uri="{19B8F6BF-5375-455C-9EA6-DF929625EA0E}">
        <p15:presenceInfo xmlns:p15="http://schemas.microsoft.com/office/powerpoint/2012/main" userId="4f578e8ad608eea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99"/>
    <a:srgbClr val="99CCFF"/>
    <a:srgbClr val="990099"/>
    <a:srgbClr val="CC6600"/>
    <a:srgbClr val="CCFFFF"/>
    <a:srgbClr val="CCCCFF"/>
    <a:srgbClr val="FFCC99"/>
    <a:srgbClr val="CCECFF"/>
    <a:srgbClr val="CC99FF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28" autoAdjust="0"/>
    <p:restoredTop sz="95669" autoAdjust="0"/>
  </p:normalViewPr>
  <p:slideViewPr>
    <p:cSldViewPr showGuides="1">
      <p:cViewPr varScale="1">
        <p:scale>
          <a:sx n="91" d="100"/>
          <a:sy n="91" d="100"/>
        </p:scale>
        <p:origin x="1880" y="44"/>
      </p:cViewPr>
      <p:guideLst>
        <p:guide orient="horz" pos="218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ags" Target="tags/tag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48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smtClean="0"/>
            </a:lvl1pPr>
          </a:lstStyle>
          <a:p>
            <a:pPr>
              <a:defRPr/>
            </a:pPr>
            <a:fld id="{95FB4FD2-40DE-4077-9F22-6A1ED43CA00E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FB4FD2-40DE-4077-9F22-6A1ED43CA00E}" type="slidenum">
              <a:rPr lang="en-US" altLang="zh-CN" smtClean="0"/>
              <a:t>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指令地址用程序</a:t>
            </a:r>
            <a:r>
              <a:rPr lang="en-US" altLang="zh-CN" dirty="0"/>
              <a:t>MEM</a:t>
            </a:r>
            <a:r>
              <a:rPr lang="zh-CN" altLang="en-US" dirty="0"/>
              <a:t>地址表示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FB4FD2-40DE-4077-9F22-6A1ED43CA00E}" type="slidenum">
              <a:rPr lang="en-US" altLang="zh-CN" smtClean="0"/>
              <a:t>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指令信息的约定方法：先确定表示方式（哪些显式、哪些隐式），再进行编码（仅显式信息）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FB4FD2-40DE-4077-9F22-6A1ED43CA00E}" type="slidenum">
              <a:rPr lang="en-US" altLang="zh-CN" smtClean="0"/>
              <a:t>15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寻址方式通过操作码、寻址方式位来识别，通过相关部件来实现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FB4FD2-40DE-4077-9F22-6A1ED43CA00E}" type="slidenum">
              <a:rPr lang="en-US" altLang="zh-CN" smtClean="0"/>
              <a:t>16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1200" b="0" dirty="0">
                <a:solidFill>
                  <a:srgbClr val="0033CC"/>
                </a:solidFill>
                <a:latin typeface="+mn-ea"/>
              </a:rPr>
              <a:t>CPU</a:t>
            </a:r>
            <a:r>
              <a:rPr lang="zh-CN" altLang="en-US" sz="1200" b="0" dirty="0">
                <a:solidFill>
                  <a:srgbClr val="0033CC"/>
                </a:solidFill>
                <a:latin typeface="+mn-ea"/>
              </a:rPr>
              <a:t>工作原理</a:t>
            </a:r>
            <a:r>
              <a:rPr lang="en-US" altLang="zh-CN" sz="1200" b="0" dirty="0">
                <a:solidFill>
                  <a:srgbClr val="0033CC"/>
                </a:solidFill>
                <a:latin typeface="+mn-ea"/>
              </a:rPr>
              <a:t>—</a:t>
            </a:r>
            <a:r>
              <a:rPr lang="en-US" altLang="zh-CN" sz="1200" b="0" dirty="0">
                <a:latin typeface="+mn-ea"/>
              </a:rPr>
              <a:t>CU</a:t>
            </a:r>
            <a:r>
              <a:rPr lang="zh-CN" altLang="en-US" sz="1200" b="0" dirty="0">
                <a:latin typeface="+mn-ea"/>
              </a:rPr>
              <a:t>循环地产生工作流程所需的</a:t>
            </a:r>
            <a:r>
              <a:rPr lang="en-US" altLang="zh-CN" sz="1200" b="0" spc="-80" dirty="0" err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μ</a:t>
            </a:r>
            <a:r>
              <a:rPr lang="en-US" altLang="zh-CN" sz="1200" b="0" spc="-80" dirty="0" err="1">
                <a:latin typeface="宋体" panose="02010600030101010101" pitchFamily="2" charset="-122"/>
              </a:rPr>
              <a:t>OP</a:t>
            </a:r>
            <a:r>
              <a:rPr lang="zh-CN" altLang="en-US" sz="1200" b="0" spc="-80" dirty="0">
                <a:latin typeface="宋体" panose="02010600030101010101" pitchFamily="2" charset="-122"/>
              </a:rPr>
              <a:t>控制信号，控制</a:t>
            </a:r>
            <a:r>
              <a:rPr lang="en-US" altLang="zh-CN" sz="1200" b="0" spc="-80" dirty="0" err="1">
                <a:latin typeface="宋体" panose="02010600030101010101" pitchFamily="2" charset="-122"/>
              </a:rPr>
              <a:t>DataPath</a:t>
            </a:r>
            <a:r>
              <a:rPr lang="zh-CN" altLang="en-US" sz="1200" b="0" spc="-80" dirty="0">
                <a:latin typeface="宋体" panose="02010600030101010101" pitchFamily="2" charset="-122"/>
              </a:rPr>
              <a:t>实现工作流程约定的操作</a:t>
            </a:r>
            <a:endParaRPr lang="en-US" altLang="zh-CN" sz="1200" b="0" dirty="0">
              <a:latin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FB4FD2-40DE-4077-9F22-6A1ED43CA00E}" type="slidenum">
              <a:rPr lang="en-US" altLang="zh-CN" smtClean="0"/>
              <a:t>17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FB4FD2-40DE-4077-9F22-6A1ED43CA00E}" type="slidenum">
              <a:rPr lang="en-US" altLang="zh-CN" smtClean="0"/>
              <a:t>22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5FB4FD2-40DE-4077-9F22-6A1ED43CA00E}" type="slidenum">
              <a:rPr lang="en-US" altLang="zh-CN" smtClean="0"/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306900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5FB4FD2-40DE-4077-9F22-6A1ED43CA00E}" type="slidenum">
              <a:rPr lang="en-US" altLang="zh-CN" smtClean="0"/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9382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8C050A-F57A-40C0-9B1B-373CE1AC8D9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A890A0-C1D7-4D81-BC83-BB8B5B83BF6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44B6CB-6BFD-4E2B-B1E4-61114F34ED3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585928-72D7-42F3-890C-59D38CD3E3A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F782DC-BC2B-490B-872A-14D20A00881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6D8C57-9535-4CE0-B4EB-86CA6883D37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44408" y="6525344"/>
            <a:ext cx="899592" cy="288032"/>
          </a:xfrm>
          <a:blipFill dpi="0" rotWithShape="1">
            <a:blip r:embed="rId2">
              <a:alphaModFix amt="70000"/>
            </a:blip>
            <a:srcRect/>
            <a:tile tx="0" ty="0" sx="100000" sy="100000" flip="none" algn="tl"/>
          </a:blipFill>
        </p:spPr>
        <p:txBody>
          <a:bodyPr lIns="18000" tIns="10800" rIns="18000" bIns="10800" anchor="ctr" anchorCtr="0"/>
          <a:lstStyle>
            <a:lvl1pPr algn="ctr">
              <a:lnSpc>
                <a:spcPct val="90000"/>
              </a:lnSpc>
              <a:defRPr sz="16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5C4C1B93-8483-479B-9518-A9279CF2AAB5}" type="slidenum">
              <a:rPr lang="en-US" altLang="zh-CN" smtClean="0"/>
              <a:t>‹#›</a:t>
            </a:fld>
            <a:endParaRPr lang="en-US" altLang="zh-CN" dirty="0"/>
          </a:p>
        </p:txBody>
      </p:sp>
      <p:sp>
        <p:nvSpPr>
          <p:cNvPr id="9" name="Rectangle 6"/>
          <p:cNvSpPr txBox="1">
            <a:spLocks noChangeArrowheads="1"/>
          </p:cNvSpPr>
          <p:nvPr userDrawn="1"/>
        </p:nvSpPr>
        <p:spPr bwMode="auto">
          <a:xfrm>
            <a:off x="0" y="6525344"/>
            <a:ext cx="1187624" cy="288032"/>
          </a:xfrm>
          <a:prstGeom prst="rect">
            <a:avLst/>
          </a:prstGeom>
          <a:blipFill dpi="0" rotWithShape="1">
            <a:blip r:embed="rId2">
              <a:alphaModFix amt="70000"/>
            </a:blip>
            <a:srcRect/>
            <a:tile tx="0" ty="0" sx="100000" sy="100000" flip="none" algn="tl"/>
          </a:blipFill>
          <a:ln w="9525">
            <a:noFill/>
            <a:miter lim="800000"/>
          </a:ln>
          <a:effectLst/>
        </p:spPr>
        <p:txBody>
          <a:bodyPr vert="horz" wrap="square" lIns="18000" tIns="10800" rIns="18000" bIns="10800" numCol="1" anchor="ctr" anchorCtr="0" compatLnSpc="1"/>
          <a:lstStyle>
            <a:defPPr>
              <a:defRPr lang="zh-CN"/>
            </a:defPPr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6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en-US" altLang="zh-CN" b="0" dirty="0">
                <a:solidFill>
                  <a:schemeClr val="tx1">
                    <a:lumMod val="50000"/>
                    <a:lumOff val="50000"/>
                  </a:schemeClr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SEU.CSE.RGL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1515D5-EFA9-4F76-9D3B-C25D31E1909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B06FE7-E0C2-4275-AC9D-E8EDB399D1F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7D5888-32B9-4CAB-AF74-F9CAFEAEF5A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1C1C2F-8197-4EDA-89D9-CC230000E4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smtClean="0"/>
            </a:lvl1pPr>
          </a:lstStyle>
          <a:p>
            <a:pPr>
              <a:defRPr/>
            </a:pPr>
            <a:fld id="{5B4E53F5-CDC8-4E76-9FDD-E52403B1F9B0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3" Type="http://schemas.openxmlformats.org/officeDocument/2006/relationships/tags" Target="../tags/tag4.xml"/><Relationship Id="rId7" Type="http://schemas.openxmlformats.org/officeDocument/2006/relationships/notesSlide" Target="../notesSlides/notesSlide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6.xml"/><Relationship Id="rId10" Type="http://schemas.openxmlformats.org/officeDocument/2006/relationships/slide" Target="slide12.xml"/><Relationship Id="rId4" Type="http://schemas.openxmlformats.org/officeDocument/2006/relationships/tags" Target="../tags/tag5.xml"/><Relationship Id="rId9" Type="http://schemas.openxmlformats.org/officeDocument/2006/relationships/slide" Target="slide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&#35745;&#31639;&#26426;&#32452;&#25104;&#21407;&#29702;&#31532;1&#31456;.pptx#-1,39,PowerPoint%20&#28436;&#31034;&#25991;&#31295;" TargetMode="External"/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&#35745;&#31639;&#26426;&#32452;&#25104;&#21407;&#29702;&#31532;2&#31456;.pptx#-1,42,PowerPoint%20&#28436;&#31034;&#25991;&#31295;" TargetMode="External"/><Relationship Id="rId2" Type="http://schemas.openxmlformats.org/officeDocument/2006/relationships/hyperlink" Target="&#35745;&#31639;&#26426;&#32452;&#25104;&#21407;&#29702;&#31532;2&#31456;.pptx#-1,44,PowerPoint%20&#28436;&#31034;&#25991;&#31295;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slide" Target="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7" Type="http://schemas.openxmlformats.org/officeDocument/2006/relationships/slide" Target="slide17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5" Type="http://schemas.openxmlformats.org/officeDocument/2006/relationships/hyperlink" Target="&#35745;&#31639;&#26426;&#32452;&#25104;&#21407;&#29702;&#31532;3&#31456;.pptx#-1,12,PowerPoint &#28436;&#31034;&#25991;&#31295;" TargetMode="External"/><Relationship Id="rId4" Type="http://schemas.openxmlformats.org/officeDocument/2006/relationships/hyperlink" Target="&#35745;&#31639;&#26426;&#32452;&#25104;&#21407;&#29702;&#31532;3&#31456;.pptx#-1,8,PowerPoint &#28436;&#31034;&#25991;&#31295;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&#35745;&#31639;&#26426;&#32452;&#25104;&#21407;&#29702;&#31532;3&#31456;.pptx#-1,36,PowerPoint%20&#28436;&#31034;&#25991;&#31295;" TargetMode="Externa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&#35745;&#31639;&#26426;&#32452;&#25104;&#21407;&#29702;&#31532;3&#31456;.pptx#-1,50,PowerPoint%20&#28436;&#31034;&#25991;&#31295;" TargetMode="External"/><Relationship Id="rId2" Type="http://schemas.openxmlformats.org/officeDocument/2006/relationships/slide" Target="slide12.xml"/><Relationship Id="rId1" Type="http://schemas.openxmlformats.org/officeDocument/2006/relationships/slideLayout" Target="../slideLayouts/slideLayout7.xml"/><Relationship Id="rId4" Type="http://schemas.openxmlformats.org/officeDocument/2006/relationships/hyperlink" Target="&#35745;&#31639;&#26426;&#32452;&#25104;&#21407;&#29702;&#31532;3&#31456;.pptx#-1,61,PowerPoint%20&#28436;&#31034;&#25991;&#31295;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Relationship Id="rId5" Type="http://schemas.openxmlformats.org/officeDocument/2006/relationships/hyperlink" Target="&#35745;&#31639;&#26426;&#32452;&#25104;&#21407;&#29702;&#31532;2&#31456;.pptx#-1,39,PowerPoint%20&#28436;&#31034;&#25991;&#31295;" TargetMode="External"/><Relationship Id="rId4" Type="http://schemas.openxmlformats.org/officeDocument/2006/relationships/hyperlink" Target="&#35745;&#31639;&#26426;&#32452;&#25104;&#21407;&#29702;&#31532;4&#31456;.pptx#-1,17,PowerPoint &#28436;&#31034;&#25991;&#31295;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&#35745;&#31639;&#26426;&#32452;&#25104;&#21407;&#29702;&#31532;4&#31456;.pptx#-1,32,PowerPoint%20&#28436;&#31034;&#25991;&#31295;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&#35745;&#31639;&#26426;&#32452;&#25104;&#21407;&#29702;&#31532;5&#31456;.pptx#-1,15,PowerPoint%20&#28436;&#31034;&#25991;&#31295;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slide" Target="slide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&#35745;&#31639;&#26426;&#32452;&#25104;&#21407;&#29702;&#31532;5&#31456;.pptx#-1,48,PowerPoint%20&#28436;&#31034;&#25991;&#31295;" TargetMode="Externa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&#35745;&#31639;&#26426;&#32452;&#25104;&#21407;&#29702;&#31532;5&#31456;.pptx#-1,68,PowerPoint%20&#28436;&#31034;&#25991;&#31295;" TargetMode="Externa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Relationship Id="rId6" Type="http://schemas.openxmlformats.org/officeDocument/2006/relationships/hyperlink" Target="&#35745;&#31639;&#26426;&#32452;&#25104;&#21407;&#29702;&#31532;5&#31456;.pptx#-1,49,PowerPoint%20&#28436;&#31034;&#25991;&#31295;" TargetMode="External"/><Relationship Id="rId5" Type="http://schemas.openxmlformats.org/officeDocument/2006/relationships/hyperlink" Target="&#35745;&#31639;&#26426;&#32452;&#25104;&#21407;&#29702;&#31532;5&#31456;.pptx#-1,57,PowerPoint%20&#28436;&#31034;&#25991;&#31295;" TargetMode="External"/><Relationship Id="rId4" Type="http://schemas.openxmlformats.org/officeDocument/2006/relationships/hyperlink" Target="&#35745;&#31639;&#26426;&#32452;&#25104;&#21407;&#29702;&#31532;5&#31456;.pptx#-1,53,PowerPoint%20&#28436;&#31034;&#25991;&#31295;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&#35745;&#31639;&#26426;&#32452;&#25104;&#21407;&#29702;&#31532;5&#31456;.pptx#-1,78,PowerPoint%20&#28436;&#31034;&#25991;&#31295;" TargetMode="Externa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&#35745;&#31639;&#26426;&#32452;&#25104;&#21407;&#29702;&#31532;6&#31456;.pptx#-1,6,PowerPoint%20&#28436;&#31034;&#25991;&#31295;" TargetMode="Externa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&#35745;&#31639;&#26426;&#32452;&#25104;&#21407;&#29702;&#31532;7&#31456;.pptx#-1,9,PowerPoint%20&#28436;&#31034;&#25991;&#31295;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hyperlink" Target="&#35745;&#31639;&#26426;&#32452;&#25104;&#21407;&#29702;&#31532;7&#31456;.pptx#-1,29,PowerPoint%20&#28436;&#31034;&#25991;&#31295;" TargetMode="External"/><Relationship Id="rId5" Type="http://schemas.openxmlformats.org/officeDocument/2006/relationships/hyperlink" Target="&#35745;&#31639;&#26426;&#32452;&#25104;&#21407;&#29702;&#31532;7&#31456;.pptx#-1,45,PowerPoint%20&#28436;&#31034;&#25991;&#31295;" TargetMode="External"/><Relationship Id="rId4" Type="http://schemas.openxmlformats.org/officeDocument/2006/relationships/hyperlink" Target="&#35745;&#31639;&#26426;&#32452;&#25104;&#21407;&#29702;&#31532;7&#31456;.pptx#-1,26,PowerPoint%20&#28436;&#31034;&#25991;&#31295;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&#35745;&#31639;&#26426;&#32452;&#25104;&#21407;&#29702;&#31532;7&#31456;.pptx#-1,46,PowerPoint%20&#28436;&#31034;&#25991;&#31295;" TargetMode="Externa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16.xml"/><Relationship Id="rId13" Type="http://schemas.openxmlformats.org/officeDocument/2006/relationships/tags" Target="../tags/tag21.xml"/><Relationship Id="rId3" Type="http://schemas.openxmlformats.org/officeDocument/2006/relationships/tags" Target="../tags/tag11.xml"/><Relationship Id="rId7" Type="http://schemas.openxmlformats.org/officeDocument/2006/relationships/tags" Target="../tags/tag15.xml"/><Relationship Id="rId12" Type="http://schemas.openxmlformats.org/officeDocument/2006/relationships/tags" Target="../tags/tag20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tags" Target="../tags/tag19.xml"/><Relationship Id="rId5" Type="http://schemas.openxmlformats.org/officeDocument/2006/relationships/tags" Target="../tags/tag13.xml"/><Relationship Id="rId15" Type="http://schemas.openxmlformats.org/officeDocument/2006/relationships/slide" Target="slide31.xml"/><Relationship Id="rId10" Type="http://schemas.openxmlformats.org/officeDocument/2006/relationships/tags" Target="../tags/tag18.xml"/><Relationship Id="rId4" Type="http://schemas.openxmlformats.org/officeDocument/2006/relationships/tags" Target="../tags/tag12.xml"/><Relationship Id="rId9" Type="http://schemas.openxmlformats.org/officeDocument/2006/relationships/tags" Target="../tags/tag17.xml"/><Relationship Id="rId14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tags" Target="../tags/tag34.xml"/><Relationship Id="rId18" Type="http://schemas.openxmlformats.org/officeDocument/2006/relationships/tags" Target="../tags/tag39.xml"/><Relationship Id="rId26" Type="http://schemas.openxmlformats.org/officeDocument/2006/relationships/tags" Target="../tags/tag47.xml"/><Relationship Id="rId39" Type="http://schemas.openxmlformats.org/officeDocument/2006/relationships/tags" Target="../tags/tag60.xml"/><Relationship Id="rId21" Type="http://schemas.openxmlformats.org/officeDocument/2006/relationships/tags" Target="../tags/tag42.xml"/><Relationship Id="rId34" Type="http://schemas.openxmlformats.org/officeDocument/2006/relationships/tags" Target="../tags/tag55.xml"/><Relationship Id="rId42" Type="http://schemas.openxmlformats.org/officeDocument/2006/relationships/notesSlide" Target="../notesSlides/notesSlide8.xml"/><Relationship Id="rId7" Type="http://schemas.openxmlformats.org/officeDocument/2006/relationships/tags" Target="../tags/tag28.xml"/><Relationship Id="rId2" Type="http://schemas.openxmlformats.org/officeDocument/2006/relationships/tags" Target="../tags/tag23.xml"/><Relationship Id="rId16" Type="http://schemas.openxmlformats.org/officeDocument/2006/relationships/tags" Target="../tags/tag37.xml"/><Relationship Id="rId20" Type="http://schemas.openxmlformats.org/officeDocument/2006/relationships/tags" Target="../tags/tag41.xml"/><Relationship Id="rId29" Type="http://schemas.openxmlformats.org/officeDocument/2006/relationships/tags" Target="../tags/tag50.xml"/><Relationship Id="rId41" Type="http://schemas.openxmlformats.org/officeDocument/2006/relationships/slideLayout" Target="../slideLayouts/slideLayout7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11" Type="http://schemas.openxmlformats.org/officeDocument/2006/relationships/tags" Target="../tags/tag32.xml"/><Relationship Id="rId24" Type="http://schemas.openxmlformats.org/officeDocument/2006/relationships/tags" Target="../tags/tag45.xml"/><Relationship Id="rId32" Type="http://schemas.openxmlformats.org/officeDocument/2006/relationships/tags" Target="../tags/tag53.xml"/><Relationship Id="rId37" Type="http://schemas.openxmlformats.org/officeDocument/2006/relationships/tags" Target="../tags/tag58.xml"/><Relationship Id="rId40" Type="http://schemas.openxmlformats.org/officeDocument/2006/relationships/tags" Target="../tags/tag61.xml"/><Relationship Id="rId5" Type="http://schemas.openxmlformats.org/officeDocument/2006/relationships/tags" Target="../tags/tag26.xml"/><Relationship Id="rId15" Type="http://schemas.openxmlformats.org/officeDocument/2006/relationships/tags" Target="../tags/tag36.xml"/><Relationship Id="rId23" Type="http://schemas.openxmlformats.org/officeDocument/2006/relationships/tags" Target="../tags/tag44.xml"/><Relationship Id="rId28" Type="http://schemas.openxmlformats.org/officeDocument/2006/relationships/tags" Target="../tags/tag49.xml"/><Relationship Id="rId36" Type="http://schemas.openxmlformats.org/officeDocument/2006/relationships/tags" Target="../tags/tag57.xml"/><Relationship Id="rId10" Type="http://schemas.openxmlformats.org/officeDocument/2006/relationships/tags" Target="../tags/tag31.xml"/><Relationship Id="rId19" Type="http://schemas.openxmlformats.org/officeDocument/2006/relationships/tags" Target="../tags/tag40.xml"/><Relationship Id="rId31" Type="http://schemas.openxmlformats.org/officeDocument/2006/relationships/tags" Target="../tags/tag52.xml"/><Relationship Id="rId4" Type="http://schemas.openxmlformats.org/officeDocument/2006/relationships/tags" Target="../tags/tag25.xml"/><Relationship Id="rId9" Type="http://schemas.openxmlformats.org/officeDocument/2006/relationships/tags" Target="../tags/tag30.xml"/><Relationship Id="rId14" Type="http://schemas.openxmlformats.org/officeDocument/2006/relationships/tags" Target="../tags/tag35.xml"/><Relationship Id="rId22" Type="http://schemas.openxmlformats.org/officeDocument/2006/relationships/tags" Target="../tags/tag43.xml"/><Relationship Id="rId27" Type="http://schemas.openxmlformats.org/officeDocument/2006/relationships/tags" Target="../tags/tag48.xml"/><Relationship Id="rId30" Type="http://schemas.openxmlformats.org/officeDocument/2006/relationships/tags" Target="../tags/tag51.xml"/><Relationship Id="rId35" Type="http://schemas.openxmlformats.org/officeDocument/2006/relationships/tags" Target="../tags/tag56.xml"/><Relationship Id="rId8" Type="http://schemas.openxmlformats.org/officeDocument/2006/relationships/tags" Target="../tags/tag29.xml"/><Relationship Id="rId3" Type="http://schemas.openxmlformats.org/officeDocument/2006/relationships/tags" Target="../tags/tag24.xml"/><Relationship Id="rId12" Type="http://schemas.openxmlformats.org/officeDocument/2006/relationships/tags" Target="../tags/tag33.xml"/><Relationship Id="rId17" Type="http://schemas.openxmlformats.org/officeDocument/2006/relationships/tags" Target="../tags/tag38.xml"/><Relationship Id="rId25" Type="http://schemas.openxmlformats.org/officeDocument/2006/relationships/tags" Target="../tags/tag46.xml"/><Relationship Id="rId33" Type="http://schemas.openxmlformats.org/officeDocument/2006/relationships/tags" Target="../tags/tag54.xml"/><Relationship Id="rId38" Type="http://schemas.openxmlformats.org/officeDocument/2006/relationships/tags" Target="../tags/tag5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3.xml"/><Relationship Id="rId1" Type="http://schemas.openxmlformats.org/officeDocument/2006/relationships/tags" Target="../tags/tag62.xml"/></Relationships>
</file>

<file path=ppt/slides/_rels/slide28.xml.rels><?xml version="1.0" encoding="UTF-8" standalone="yes"?>
<Relationships xmlns="http://schemas.openxmlformats.org/package/2006/relationships"><Relationship Id="rId26" Type="http://schemas.openxmlformats.org/officeDocument/2006/relationships/tags" Target="../tags/tag89.xml"/><Relationship Id="rId21" Type="http://schemas.openxmlformats.org/officeDocument/2006/relationships/tags" Target="../tags/tag84.xml"/><Relationship Id="rId42" Type="http://schemas.openxmlformats.org/officeDocument/2006/relationships/tags" Target="../tags/tag105.xml"/><Relationship Id="rId47" Type="http://schemas.openxmlformats.org/officeDocument/2006/relationships/tags" Target="../tags/tag110.xml"/><Relationship Id="rId63" Type="http://schemas.openxmlformats.org/officeDocument/2006/relationships/tags" Target="../tags/tag126.xml"/><Relationship Id="rId68" Type="http://schemas.openxmlformats.org/officeDocument/2006/relationships/tags" Target="../tags/tag131.xml"/><Relationship Id="rId84" Type="http://schemas.openxmlformats.org/officeDocument/2006/relationships/tags" Target="../tags/tag147.xml"/><Relationship Id="rId89" Type="http://schemas.openxmlformats.org/officeDocument/2006/relationships/tags" Target="../tags/tag152.xml"/><Relationship Id="rId112" Type="http://schemas.openxmlformats.org/officeDocument/2006/relationships/tags" Target="../tags/tag175.xml"/><Relationship Id="rId16" Type="http://schemas.openxmlformats.org/officeDocument/2006/relationships/tags" Target="../tags/tag79.xml"/><Relationship Id="rId107" Type="http://schemas.openxmlformats.org/officeDocument/2006/relationships/tags" Target="../tags/tag170.xml"/><Relationship Id="rId11" Type="http://schemas.openxmlformats.org/officeDocument/2006/relationships/tags" Target="../tags/tag74.xml"/><Relationship Id="rId32" Type="http://schemas.openxmlformats.org/officeDocument/2006/relationships/tags" Target="../tags/tag95.xml"/><Relationship Id="rId37" Type="http://schemas.openxmlformats.org/officeDocument/2006/relationships/tags" Target="../tags/tag100.xml"/><Relationship Id="rId53" Type="http://schemas.openxmlformats.org/officeDocument/2006/relationships/tags" Target="../tags/tag116.xml"/><Relationship Id="rId58" Type="http://schemas.openxmlformats.org/officeDocument/2006/relationships/tags" Target="../tags/tag121.xml"/><Relationship Id="rId74" Type="http://schemas.openxmlformats.org/officeDocument/2006/relationships/tags" Target="../tags/tag137.xml"/><Relationship Id="rId79" Type="http://schemas.openxmlformats.org/officeDocument/2006/relationships/tags" Target="../tags/tag142.xml"/><Relationship Id="rId102" Type="http://schemas.openxmlformats.org/officeDocument/2006/relationships/tags" Target="../tags/tag165.xml"/><Relationship Id="rId5" Type="http://schemas.openxmlformats.org/officeDocument/2006/relationships/tags" Target="../tags/tag68.xml"/><Relationship Id="rId90" Type="http://schemas.openxmlformats.org/officeDocument/2006/relationships/tags" Target="../tags/tag153.xml"/><Relationship Id="rId95" Type="http://schemas.openxmlformats.org/officeDocument/2006/relationships/tags" Target="../tags/tag158.xml"/><Relationship Id="rId22" Type="http://schemas.openxmlformats.org/officeDocument/2006/relationships/tags" Target="../tags/tag85.xml"/><Relationship Id="rId27" Type="http://schemas.openxmlformats.org/officeDocument/2006/relationships/tags" Target="../tags/tag90.xml"/><Relationship Id="rId43" Type="http://schemas.openxmlformats.org/officeDocument/2006/relationships/tags" Target="../tags/tag106.xml"/><Relationship Id="rId48" Type="http://schemas.openxmlformats.org/officeDocument/2006/relationships/tags" Target="../tags/tag111.xml"/><Relationship Id="rId64" Type="http://schemas.openxmlformats.org/officeDocument/2006/relationships/tags" Target="../tags/tag127.xml"/><Relationship Id="rId69" Type="http://schemas.openxmlformats.org/officeDocument/2006/relationships/tags" Target="../tags/tag132.xml"/><Relationship Id="rId113" Type="http://schemas.openxmlformats.org/officeDocument/2006/relationships/tags" Target="../tags/tag176.xml"/><Relationship Id="rId80" Type="http://schemas.openxmlformats.org/officeDocument/2006/relationships/tags" Target="../tags/tag143.xml"/><Relationship Id="rId85" Type="http://schemas.openxmlformats.org/officeDocument/2006/relationships/tags" Target="../tags/tag148.xml"/><Relationship Id="rId12" Type="http://schemas.openxmlformats.org/officeDocument/2006/relationships/tags" Target="../tags/tag75.xml"/><Relationship Id="rId17" Type="http://schemas.openxmlformats.org/officeDocument/2006/relationships/tags" Target="../tags/tag80.xml"/><Relationship Id="rId33" Type="http://schemas.openxmlformats.org/officeDocument/2006/relationships/tags" Target="../tags/tag96.xml"/><Relationship Id="rId38" Type="http://schemas.openxmlformats.org/officeDocument/2006/relationships/tags" Target="../tags/tag101.xml"/><Relationship Id="rId59" Type="http://schemas.openxmlformats.org/officeDocument/2006/relationships/tags" Target="../tags/tag122.xml"/><Relationship Id="rId103" Type="http://schemas.openxmlformats.org/officeDocument/2006/relationships/tags" Target="../tags/tag166.xml"/><Relationship Id="rId108" Type="http://schemas.openxmlformats.org/officeDocument/2006/relationships/tags" Target="../tags/tag171.xml"/><Relationship Id="rId54" Type="http://schemas.openxmlformats.org/officeDocument/2006/relationships/tags" Target="../tags/tag117.xml"/><Relationship Id="rId70" Type="http://schemas.openxmlformats.org/officeDocument/2006/relationships/tags" Target="../tags/tag133.xml"/><Relationship Id="rId75" Type="http://schemas.openxmlformats.org/officeDocument/2006/relationships/tags" Target="../tags/tag138.xml"/><Relationship Id="rId91" Type="http://schemas.openxmlformats.org/officeDocument/2006/relationships/tags" Target="../tags/tag154.xml"/><Relationship Id="rId96" Type="http://schemas.openxmlformats.org/officeDocument/2006/relationships/tags" Target="../tags/tag159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15" Type="http://schemas.openxmlformats.org/officeDocument/2006/relationships/tags" Target="../tags/tag78.xml"/><Relationship Id="rId23" Type="http://schemas.openxmlformats.org/officeDocument/2006/relationships/tags" Target="../tags/tag86.xml"/><Relationship Id="rId28" Type="http://schemas.openxmlformats.org/officeDocument/2006/relationships/tags" Target="../tags/tag91.xml"/><Relationship Id="rId36" Type="http://schemas.openxmlformats.org/officeDocument/2006/relationships/tags" Target="../tags/tag99.xml"/><Relationship Id="rId49" Type="http://schemas.openxmlformats.org/officeDocument/2006/relationships/tags" Target="../tags/tag112.xml"/><Relationship Id="rId57" Type="http://schemas.openxmlformats.org/officeDocument/2006/relationships/tags" Target="../tags/tag120.xml"/><Relationship Id="rId106" Type="http://schemas.openxmlformats.org/officeDocument/2006/relationships/tags" Target="../tags/tag169.xml"/><Relationship Id="rId114" Type="http://schemas.openxmlformats.org/officeDocument/2006/relationships/tags" Target="../tags/tag177.xml"/><Relationship Id="rId10" Type="http://schemas.openxmlformats.org/officeDocument/2006/relationships/tags" Target="../tags/tag73.xml"/><Relationship Id="rId31" Type="http://schemas.openxmlformats.org/officeDocument/2006/relationships/tags" Target="../tags/tag94.xml"/><Relationship Id="rId44" Type="http://schemas.openxmlformats.org/officeDocument/2006/relationships/tags" Target="../tags/tag107.xml"/><Relationship Id="rId52" Type="http://schemas.openxmlformats.org/officeDocument/2006/relationships/tags" Target="../tags/tag115.xml"/><Relationship Id="rId60" Type="http://schemas.openxmlformats.org/officeDocument/2006/relationships/tags" Target="../tags/tag123.xml"/><Relationship Id="rId65" Type="http://schemas.openxmlformats.org/officeDocument/2006/relationships/tags" Target="../tags/tag128.xml"/><Relationship Id="rId73" Type="http://schemas.openxmlformats.org/officeDocument/2006/relationships/tags" Target="../tags/tag136.xml"/><Relationship Id="rId78" Type="http://schemas.openxmlformats.org/officeDocument/2006/relationships/tags" Target="../tags/tag141.xml"/><Relationship Id="rId81" Type="http://schemas.openxmlformats.org/officeDocument/2006/relationships/tags" Target="../tags/tag144.xml"/><Relationship Id="rId86" Type="http://schemas.openxmlformats.org/officeDocument/2006/relationships/tags" Target="../tags/tag149.xml"/><Relationship Id="rId94" Type="http://schemas.openxmlformats.org/officeDocument/2006/relationships/tags" Target="../tags/tag157.xml"/><Relationship Id="rId99" Type="http://schemas.openxmlformats.org/officeDocument/2006/relationships/tags" Target="../tags/tag162.xml"/><Relationship Id="rId101" Type="http://schemas.openxmlformats.org/officeDocument/2006/relationships/tags" Target="../tags/tag164.xml"/><Relationship Id="rId4" Type="http://schemas.openxmlformats.org/officeDocument/2006/relationships/tags" Target="../tags/tag67.xml"/><Relationship Id="rId9" Type="http://schemas.openxmlformats.org/officeDocument/2006/relationships/tags" Target="../tags/tag72.xml"/><Relationship Id="rId13" Type="http://schemas.openxmlformats.org/officeDocument/2006/relationships/tags" Target="../tags/tag76.xml"/><Relationship Id="rId18" Type="http://schemas.openxmlformats.org/officeDocument/2006/relationships/tags" Target="../tags/tag81.xml"/><Relationship Id="rId39" Type="http://schemas.openxmlformats.org/officeDocument/2006/relationships/tags" Target="../tags/tag102.xml"/><Relationship Id="rId109" Type="http://schemas.openxmlformats.org/officeDocument/2006/relationships/tags" Target="../tags/tag172.xml"/><Relationship Id="rId34" Type="http://schemas.openxmlformats.org/officeDocument/2006/relationships/tags" Target="../tags/tag97.xml"/><Relationship Id="rId50" Type="http://schemas.openxmlformats.org/officeDocument/2006/relationships/tags" Target="../tags/tag113.xml"/><Relationship Id="rId55" Type="http://schemas.openxmlformats.org/officeDocument/2006/relationships/tags" Target="../tags/tag118.xml"/><Relationship Id="rId76" Type="http://schemas.openxmlformats.org/officeDocument/2006/relationships/tags" Target="../tags/tag139.xml"/><Relationship Id="rId97" Type="http://schemas.openxmlformats.org/officeDocument/2006/relationships/tags" Target="../tags/tag160.xml"/><Relationship Id="rId104" Type="http://schemas.openxmlformats.org/officeDocument/2006/relationships/tags" Target="../tags/tag167.xml"/><Relationship Id="rId7" Type="http://schemas.openxmlformats.org/officeDocument/2006/relationships/tags" Target="../tags/tag70.xml"/><Relationship Id="rId71" Type="http://schemas.openxmlformats.org/officeDocument/2006/relationships/tags" Target="../tags/tag134.xml"/><Relationship Id="rId92" Type="http://schemas.openxmlformats.org/officeDocument/2006/relationships/tags" Target="../tags/tag155.xml"/><Relationship Id="rId2" Type="http://schemas.openxmlformats.org/officeDocument/2006/relationships/tags" Target="../tags/tag65.xml"/><Relationship Id="rId29" Type="http://schemas.openxmlformats.org/officeDocument/2006/relationships/tags" Target="../tags/tag92.xml"/><Relationship Id="rId24" Type="http://schemas.openxmlformats.org/officeDocument/2006/relationships/tags" Target="../tags/tag87.xml"/><Relationship Id="rId40" Type="http://schemas.openxmlformats.org/officeDocument/2006/relationships/tags" Target="../tags/tag103.xml"/><Relationship Id="rId45" Type="http://schemas.openxmlformats.org/officeDocument/2006/relationships/tags" Target="../tags/tag108.xml"/><Relationship Id="rId66" Type="http://schemas.openxmlformats.org/officeDocument/2006/relationships/tags" Target="../tags/tag129.xml"/><Relationship Id="rId87" Type="http://schemas.openxmlformats.org/officeDocument/2006/relationships/tags" Target="../tags/tag150.xml"/><Relationship Id="rId110" Type="http://schemas.openxmlformats.org/officeDocument/2006/relationships/tags" Target="../tags/tag173.xml"/><Relationship Id="rId115" Type="http://schemas.openxmlformats.org/officeDocument/2006/relationships/tags" Target="../tags/tag178.xml"/><Relationship Id="rId61" Type="http://schemas.openxmlformats.org/officeDocument/2006/relationships/tags" Target="../tags/tag124.xml"/><Relationship Id="rId82" Type="http://schemas.openxmlformats.org/officeDocument/2006/relationships/tags" Target="../tags/tag145.xml"/><Relationship Id="rId19" Type="http://schemas.openxmlformats.org/officeDocument/2006/relationships/tags" Target="../tags/tag82.xml"/><Relationship Id="rId14" Type="http://schemas.openxmlformats.org/officeDocument/2006/relationships/tags" Target="../tags/tag77.xml"/><Relationship Id="rId30" Type="http://schemas.openxmlformats.org/officeDocument/2006/relationships/tags" Target="../tags/tag93.xml"/><Relationship Id="rId35" Type="http://schemas.openxmlformats.org/officeDocument/2006/relationships/tags" Target="../tags/tag98.xml"/><Relationship Id="rId56" Type="http://schemas.openxmlformats.org/officeDocument/2006/relationships/tags" Target="../tags/tag119.xml"/><Relationship Id="rId77" Type="http://schemas.openxmlformats.org/officeDocument/2006/relationships/tags" Target="../tags/tag140.xml"/><Relationship Id="rId100" Type="http://schemas.openxmlformats.org/officeDocument/2006/relationships/tags" Target="../tags/tag163.xml"/><Relationship Id="rId105" Type="http://schemas.openxmlformats.org/officeDocument/2006/relationships/tags" Target="../tags/tag168.xml"/><Relationship Id="rId8" Type="http://schemas.openxmlformats.org/officeDocument/2006/relationships/tags" Target="../tags/tag71.xml"/><Relationship Id="rId51" Type="http://schemas.openxmlformats.org/officeDocument/2006/relationships/tags" Target="../tags/tag114.xml"/><Relationship Id="rId72" Type="http://schemas.openxmlformats.org/officeDocument/2006/relationships/tags" Target="../tags/tag135.xml"/><Relationship Id="rId93" Type="http://schemas.openxmlformats.org/officeDocument/2006/relationships/tags" Target="../tags/tag156.xml"/><Relationship Id="rId98" Type="http://schemas.openxmlformats.org/officeDocument/2006/relationships/tags" Target="../tags/tag161.xml"/><Relationship Id="rId3" Type="http://schemas.openxmlformats.org/officeDocument/2006/relationships/tags" Target="../tags/tag66.xml"/><Relationship Id="rId25" Type="http://schemas.openxmlformats.org/officeDocument/2006/relationships/tags" Target="../tags/tag88.xml"/><Relationship Id="rId46" Type="http://schemas.openxmlformats.org/officeDocument/2006/relationships/tags" Target="../tags/tag109.xml"/><Relationship Id="rId67" Type="http://schemas.openxmlformats.org/officeDocument/2006/relationships/tags" Target="../tags/tag130.xml"/><Relationship Id="rId116" Type="http://schemas.openxmlformats.org/officeDocument/2006/relationships/slideLayout" Target="../slideLayouts/slideLayout7.xml"/><Relationship Id="rId20" Type="http://schemas.openxmlformats.org/officeDocument/2006/relationships/tags" Target="../tags/tag83.xml"/><Relationship Id="rId41" Type="http://schemas.openxmlformats.org/officeDocument/2006/relationships/tags" Target="../tags/tag104.xml"/><Relationship Id="rId62" Type="http://schemas.openxmlformats.org/officeDocument/2006/relationships/tags" Target="../tags/tag125.xml"/><Relationship Id="rId83" Type="http://schemas.openxmlformats.org/officeDocument/2006/relationships/tags" Target="../tags/tag146.xml"/><Relationship Id="rId88" Type="http://schemas.openxmlformats.org/officeDocument/2006/relationships/tags" Target="../tags/tag151.xml"/><Relationship Id="rId111" Type="http://schemas.openxmlformats.org/officeDocument/2006/relationships/tags" Target="../tags/tag174.xml"/></Relationships>
</file>

<file path=ppt/slides/_rels/slide29.xml.rels><?xml version="1.0" encoding="UTF-8" standalone="yes"?>
<Relationships xmlns="http://schemas.openxmlformats.org/package/2006/relationships"><Relationship Id="rId26" Type="http://schemas.openxmlformats.org/officeDocument/2006/relationships/tags" Target="../tags/tag204.xml"/><Relationship Id="rId21" Type="http://schemas.openxmlformats.org/officeDocument/2006/relationships/tags" Target="../tags/tag199.xml"/><Relationship Id="rId42" Type="http://schemas.openxmlformats.org/officeDocument/2006/relationships/tags" Target="../tags/tag220.xml"/><Relationship Id="rId47" Type="http://schemas.openxmlformats.org/officeDocument/2006/relationships/tags" Target="../tags/tag225.xml"/><Relationship Id="rId63" Type="http://schemas.openxmlformats.org/officeDocument/2006/relationships/tags" Target="../tags/tag241.xml"/><Relationship Id="rId68" Type="http://schemas.openxmlformats.org/officeDocument/2006/relationships/tags" Target="../tags/tag246.xml"/><Relationship Id="rId16" Type="http://schemas.openxmlformats.org/officeDocument/2006/relationships/tags" Target="../tags/tag194.xml"/><Relationship Id="rId11" Type="http://schemas.openxmlformats.org/officeDocument/2006/relationships/tags" Target="../tags/tag189.xml"/><Relationship Id="rId32" Type="http://schemas.openxmlformats.org/officeDocument/2006/relationships/tags" Target="../tags/tag210.xml"/><Relationship Id="rId37" Type="http://schemas.openxmlformats.org/officeDocument/2006/relationships/tags" Target="../tags/tag215.xml"/><Relationship Id="rId53" Type="http://schemas.openxmlformats.org/officeDocument/2006/relationships/tags" Target="../tags/tag231.xml"/><Relationship Id="rId58" Type="http://schemas.openxmlformats.org/officeDocument/2006/relationships/tags" Target="../tags/tag236.xml"/><Relationship Id="rId74" Type="http://schemas.openxmlformats.org/officeDocument/2006/relationships/tags" Target="../tags/tag252.xml"/><Relationship Id="rId79" Type="http://schemas.openxmlformats.org/officeDocument/2006/relationships/tags" Target="../tags/tag257.xml"/><Relationship Id="rId5" Type="http://schemas.openxmlformats.org/officeDocument/2006/relationships/tags" Target="../tags/tag183.xml"/><Relationship Id="rId61" Type="http://schemas.openxmlformats.org/officeDocument/2006/relationships/tags" Target="../tags/tag239.xml"/><Relationship Id="rId82" Type="http://schemas.openxmlformats.org/officeDocument/2006/relationships/notesSlide" Target="../notesSlides/notesSlide9.xml"/><Relationship Id="rId19" Type="http://schemas.openxmlformats.org/officeDocument/2006/relationships/tags" Target="../tags/tag197.xml"/><Relationship Id="rId14" Type="http://schemas.openxmlformats.org/officeDocument/2006/relationships/tags" Target="../tags/tag192.xml"/><Relationship Id="rId22" Type="http://schemas.openxmlformats.org/officeDocument/2006/relationships/tags" Target="../tags/tag200.xml"/><Relationship Id="rId27" Type="http://schemas.openxmlformats.org/officeDocument/2006/relationships/tags" Target="../tags/tag205.xml"/><Relationship Id="rId30" Type="http://schemas.openxmlformats.org/officeDocument/2006/relationships/tags" Target="../tags/tag208.xml"/><Relationship Id="rId35" Type="http://schemas.openxmlformats.org/officeDocument/2006/relationships/tags" Target="../tags/tag213.xml"/><Relationship Id="rId43" Type="http://schemas.openxmlformats.org/officeDocument/2006/relationships/tags" Target="../tags/tag221.xml"/><Relationship Id="rId48" Type="http://schemas.openxmlformats.org/officeDocument/2006/relationships/tags" Target="../tags/tag226.xml"/><Relationship Id="rId56" Type="http://schemas.openxmlformats.org/officeDocument/2006/relationships/tags" Target="../tags/tag234.xml"/><Relationship Id="rId64" Type="http://schemas.openxmlformats.org/officeDocument/2006/relationships/tags" Target="../tags/tag242.xml"/><Relationship Id="rId69" Type="http://schemas.openxmlformats.org/officeDocument/2006/relationships/tags" Target="../tags/tag247.xml"/><Relationship Id="rId77" Type="http://schemas.openxmlformats.org/officeDocument/2006/relationships/tags" Target="../tags/tag255.xml"/><Relationship Id="rId8" Type="http://schemas.openxmlformats.org/officeDocument/2006/relationships/tags" Target="../tags/tag186.xml"/><Relationship Id="rId51" Type="http://schemas.openxmlformats.org/officeDocument/2006/relationships/tags" Target="../tags/tag229.xml"/><Relationship Id="rId72" Type="http://schemas.openxmlformats.org/officeDocument/2006/relationships/tags" Target="../tags/tag250.xml"/><Relationship Id="rId80" Type="http://schemas.openxmlformats.org/officeDocument/2006/relationships/tags" Target="../tags/tag258.xml"/><Relationship Id="rId3" Type="http://schemas.openxmlformats.org/officeDocument/2006/relationships/tags" Target="../tags/tag181.xml"/><Relationship Id="rId12" Type="http://schemas.openxmlformats.org/officeDocument/2006/relationships/tags" Target="../tags/tag190.xml"/><Relationship Id="rId17" Type="http://schemas.openxmlformats.org/officeDocument/2006/relationships/tags" Target="../tags/tag195.xml"/><Relationship Id="rId25" Type="http://schemas.openxmlformats.org/officeDocument/2006/relationships/tags" Target="../tags/tag203.xml"/><Relationship Id="rId33" Type="http://schemas.openxmlformats.org/officeDocument/2006/relationships/tags" Target="../tags/tag211.xml"/><Relationship Id="rId38" Type="http://schemas.openxmlformats.org/officeDocument/2006/relationships/tags" Target="../tags/tag216.xml"/><Relationship Id="rId46" Type="http://schemas.openxmlformats.org/officeDocument/2006/relationships/tags" Target="../tags/tag224.xml"/><Relationship Id="rId59" Type="http://schemas.openxmlformats.org/officeDocument/2006/relationships/tags" Target="../tags/tag237.xml"/><Relationship Id="rId67" Type="http://schemas.openxmlformats.org/officeDocument/2006/relationships/tags" Target="../tags/tag245.xml"/><Relationship Id="rId20" Type="http://schemas.openxmlformats.org/officeDocument/2006/relationships/tags" Target="../tags/tag198.xml"/><Relationship Id="rId41" Type="http://schemas.openxmlformats.org/officeDocument/2006/relationships/tags" Target="../tags/tag219.xml"/><Relationship Id="rId54" Type="http://schemas.openxmlformats.org/officeDocument/2006/relationships/tags" Target="../tags/tag232.xml"/><Relationship Id="rId62" Type="http://schemas.openxmlformats.org/officeDocument/2006/relationships/tags" Target="../tags/tag240.xml"/><Relationship Id="rId70" Type="http://schemas.openxmlformats.org/officeDocument/2006/relationships/tags" Target="../tags/tag248.xml"/><Relationship Id="rId75" Type="http://schemas.openxmlformats.org/officeDocument/2006/relationships/tags" Target="../tags/tag253.xml"/><Relationship Id="rId1" Type="http://schemas.openxmlformats.org/officeDocument/2006/relationships/tags" Target="../tags/tag179.xml"/><Relationship Id="rId6" Type="http://schemas.openxmlformats.org/officeDocument/2006/relationships/tags" Target="../tags/tag184.xml"/><Relationship Id="rId15" Type="http://schemas.openxmlformats.org/officeDocument/2006/relationships/tags" Target="../tags/tag193.xml"/><Relationship Id="rId23" Type="http://schemas.openxmlformats.org/officeDocument/2006/relationships/tags" Target="../tags/tag201.xml"/><Relationship Id="rId28" Type="http://schemas.openxmlformats.org/officeDocument/2006/relationships/tags" Target="../tags/tag206.xml"/><Relationship Id="rId36" Type="http://schemas.openxmlformats.org/officeDocument/2006/relationships/tags" Target="../tags/tag214.xml"/><Relationship Id="rId49" Type="http://schemas.openxmlformats.org/officeDocument/2006/relationships/tags" Target="../tags/tag227.xml"/><Relationship Id="rId57" Type="http://schemas.openxmlformats.org/officeDocument/2006/relationships/tags" Target="../tags/tag235.xml"/><Relationship Id="rId10" Type="http://schemas.openxmlformats.org/officeDocument/2006/relationships/tags" Target="../tags/tag188.xml"/><Relationship Id="rId31" Type="http://schemas.openxmlformats.org/officeDocument/2006/relationships/tags" Target="../tags/tag209.xml"/><Relationship Id="rId44" Type="http://schemas.openxmlformats.org/officeDocument/2006/relationships/tags" Target="../tags/tag222.xml"/><Relationship Id="rId52" Type="http://schemas.openxmlformats.org/officeDocument/2006/relationships/tags" Target="../tags/tag230.xml"/><Relationship Id="rId60" Type="http://schemas.openxmlformats.org/officeDocument/2006/relationships/tags" Target="../tags/tag238.xml"/><Relationship Id="rId65" Type="http://schemas.openxmlformats.org/officeDocument/2006/relationships/tags" Target="../tags/tag243.xml"/><Relationship Id="rId73" Type="http://schemas.openxmlformats.org/officeDocument/2006/relationships/tags" Target="../tags/tag251.xml"/><Relationship Id="rId78" Type="http://schemas.openxmlformats.org/officeDocument/2006/relationships/tags" Target="../tags/tag256.xml"/><Relationship Id="rId81" Type="http://schemas.openxmlformats.org/officeDocument/2006/relationships/slideLayout" Target="../slideLayouts/slideLayout7.xml"/><Relationship Id="rId4" Type="http://schemas.openxmlformats.org/officeDocument/2006/relationships/tags" Target="../tags/tag182.xml"/><Relationship Id="rId9" Type="http://schemas.openxmlformats.org/officeDocument/2006/relationships/tags" Target="../tags/tag187.xml"/><Relationship Id="rId13" Type="http://schemas.openxmlformats.org/officeDocument/2006/relationships/tags" Target="../tags/tag191.xml"/><Relationship Id="rId18" Type="http://schemas.openxmlformats.org/officeDocument/2006/relationships/tags" Target="../tags/tag196.xml"/><Relationship Id="rId39" Type="http://schemas.openxmlformats.org/officeDocument/2006/relationships/tags" Target="../tags/tag217.xml"/><Relationship Id="rId34" Type="http://schemas.openxmlformats.org/officeDocument/2006/relationships/tags" Target="../tags/tag212.xml"/><Relationship Id="rId50" Type="http://schemas.openxmlformats.org/officeDocument/2006/relationships/tags" Target="../tags/tag228.xml"/><Relationship Id="rId55" Type="http://schemas.openxmlformats.org/officeDocument/2006/relationships/tags" Target="../tags/tag233.xml"/><Relationship Id="rId76" Type="http://schemas.openxmlformats.org/officeDocument/2006/relationships/tags" Target="../tags/tag254.xml"/><Relationship Id="rId7" Type="http://schemas.openxmlformats.org/officeDocument/2006/relationships/tags" Target="../tags/tag185.xml"/><Relationship Id="rId71" Type="http://schemas.openxmlformats.org/officeDocument/2006/relationships/tags" Target="../tags/tag249.xml"/><Relationship Id="rId2" Type="http://schemas.openxmlformats.org/officeDocument/2006/relationships/tags" Target="../tags/tag180.xml"/><Relationship Id="rId29" Type="http://schemas.openxmlformats.org/officeDocument/2006/relationships/tags" Target="../tags/tag207.xml"/><Relationship Id="rId24" Type="http://schemas.openxmlformats.org/officeDocument/2006/relationships/tags" Target="../tags/tag202.xml"/><Relationship Id="rId40" Type="http://schemas.openxmlformats.org/officeDocument/2006/relationships/tags" Target="../tags/tag218.xml"/><Relationship Id="rId45" Type="http://schemas.openxmlformats.org/officeDocument/2006/relationships/tags" Target="../tags/tag223.xml"/><Relationship Id="rId66" Type="http://schemas.openxmlformats.org/officeDocument/2006/relationships/tags" Target="../tags/tag244.xml"/></Relationships>
</file>

<file path=ppt/slides/_rels/slide30.xml.rels><?xml version="1.0" encoding="UTF-8" standalone="yes"?>
<Relationships xmlns="http://schemas.openxmlformats.org/package/2006/relationships"><Relationship Id="rId117" Type="http://schemas.openxmlformats.org/officeDocument/2006/relationships/tags" Target="../tags/tag375.xml"/><Relationship Id="rId21" Type="http://schemas.openxmlformats.org/officeDocument/2006/relationships/tags" Target="../tags/tag279.xml"/><Relationship Id="rId42" Type="http://schemas.openxmlformats.org/officeDocument/2006/relationships/tags" Target="../tags/tag300.xml"/><Relationship Id="rId63" Type="http://schemas.openxmlformats.org/officeDocument/2006/relationships/tags" Target="../tags/tag321.xml"/><Relationship Id="rId84" Type="http://schemas.openxmlformats.org/officeDocument/2006/relationships/tags" Target="../tags/tag342.xml"/><Relationship Id="rId138" Type="http://schemas.openxmlformats.org/officeDocument/2006/relationships/tags" Target="../tags/tag396.xml"/><Relationship Id="rId159" Type="http://schemas.openxmlformats.org/officeDocument/2006/relationships/tags" Target="../tags/tag417.xml"/><Relationship Id="rId170" Type="http://schemas.openxmlformats.org/officeDocument/2006/relationships/tags" Target="../tags/tag428.xml"/><Relationship Id="rId107" Type="http://schemas.openxmlformats.org/officeDocument/2006/relationships/tags" Target="../tags/tag365.xml"/><Relationship Id="rId11" Type="http://schemas.openxmlformats.org/officeDocument/2006/relationships/tags" Target="../tags/tag269.xml"/><Relationship Id="rId32" Type="http://schemas.openxmlformats.org/officeDocument/2006/relationships/tags" Target="../tags/tag290.xml"/><Relationship Id="rId53" Type="http://schemas.openxmlformats.org/officeDocument/2006/relationships/tags" Target="../tags/tag311.xml"/><Relationship Id="rId74" Type="http://schemas.openxmlformats.org/officeDocument/2006/relationships/tags" Target="../tags/tag332.xml"/><Relationship Id="rId128" Type="http://schemas.openxmlformats.org/officeDocument/2006/relationships/tags" Target="../tags/tag386.xml"/><Relationship Id="rId149" Type="http://schemas.openxmlformats.org/officeDocument/2006/relationships/tags" Target="../tags/tag407.xml"/><Relationship Id="rId5" Type="http://schemas.openxmlformats.org/officeDocument/2006/relationships/tags" Target="../tags/tag263.xml"/><Relationship Id="rId95" Type="http://schemas.openxmlformats.org/officeDocument/2006/relationships/tags" Target="../tags/tag353.xml"/><Relationship Id="rId160" Type="http://schemas.openxmlformats.org/officeDocument/2006/relationships/tags" Target="../tags/tag418.xml"/><Relationship Id="rId22" Type="http://schemas.openxmlformats.org/officeDocument/2006/relationships/tags" Target="../tags/tag280.xml"/><Relationship Id="rId43" Type="http://schemas.openxmlformats.org/officeDocument/2006/relationships/tags" Target="../tags/tag301.xml"/><Relationship Id="rId64" Type="http://schemas.openxmlformats.org/officeDocument/2006/relationships/tags" Target="../tags/tag322.xml"/><Relationship Id="rId118" Type="http://schemas.openxmlformats.org/officeDocument/2006/relationships/tags" Target="../tags/tag376.xml"/><Relationship Id="rId139" Type="http://schemas.openxmlformats.org/officeDocument/2006/relationships/tags" Target="../tags/tag397.xml"/><Relationship Id="rId85" Type="http://schemas.openxmlformats.org/officeDocument/2006/relationships/tags" Target="../tags/tag343.xml"/><Relationship Id="rId150" Type="http://schemas.openxmlformats.org/officeDocument/2006/relationships/tags" Target="../tags/tag408.xml"/><Relationship Id="rId171" Type="http://schemas.openxmlformats.org/officeDocument/2006/relationships/tags" Target="../tags/tag429.xml"/><Relationship Id="rId12" Type="http://schemas.openxmlformats.org/officeDocument/2006/relationships/tags" Target="../tags/tag270.xml"/><Relationship Id="rId33" Type="http://schemas.openxmlformats.org/officeDocument/2006/relationships/tags" Target="../tags/tag291.xml"/><Relationship Id="rId108" Type="http://schemas.openxmlformats.org/officeDocument/2006/relationships/tags" Target="../tags/tag366.xml"/><Relationship Id="rId129" Type="http://schemas.openxmlformats.org/officeDocument/2006/relationships/tags" Target="../tags/tag387.xml"/><Relationship Id="rId54" Type="http://schemas.openxmlformats.org/officeDocument/2006/relationships/tags" Target="../tags/tag312.xml"/><Relationship Id="rId75" Type="http://schemas.openxmlformats.org/officeDocument/2006/relationships/tags" Target="../tags/tag333.xml"/><Relationship Id="rId96" Type="http://schemas.openxmlformats.org/officeDocument/2006/relationships/tags" Target="../tags/tag354.xml"/><Relationship Id="rId140" Type="http://schemas.openxmlformats.org/officeDocument/2006/relationships/tags" Target="../tags/tag398.xml"/><Relationship Id="rId161" Type="http://schemas.openxmlformats.org/officeDocument/2006/relationships/tags" Target="../tags/tag419.xml"/><Relationship Id="rId6" Type="http://schemas.openxmlformats.org/officeDocument/2006/relationships/tags" Target="../tags/tag264.xml"/><Relationship Id="rId23" Type="http://schemas.openxmlformats.org/officeDocument/2006/relationships/tags" Target="../tags/tag281.xml"/><Relationship Id="rId28" Type="http://schemas.openxmlformats.org/officeDocument/2006/relationships/tags" Target="../tags/tag286.xml"/><Relationship Id="rId49" Type="http://schemas.openxmlformats.org/officeDocument/2006/relationships/tags" Target="../tags/tag307.xml"/><Relationship Id="rId114" Type="http://schemas.openxmlformats.org/officeDocument/2006/relationships/tags" Target="../tags/tag372.xml"/><Relationship Id="rId119" Type="http://schemas.openxmlformats.org/officeDocument/2006/relationships/tags" Target="../tags/tag377.xml"/><Relationship Id="rId44" Type="http://schemas.openxmlformats.org/officeDocument/2006/relationships/tags" Target="../tags/tag302.xml"/><Relationship Id="rId60" Type="http://schemas.openxmlformats.org/officeDocument/2006/relationships/tags" Target="../tags/tag318.xml"/><Relationship Id="rId65" Type="http://schemas.openxmlformats.org/officeDocument/2006/relationships/tags" Target="../tags/tag323.xml"/><Relationship Id="rId81" Type="http://schemas.openxmlformats.org/officeDocument/2006/relationships/tags" Target="../tags/tag339.xml"/><Relationship Id="rId86" Type="http://schemas.openxmlformats.org/officeDocument/2006/relationships/tags" Target="../tags/tag344.xml"/><Relationship Id="rId130" Type="http://schemas.openxmlformats.org/officeDocument/2006/relationships/tags" Target="../tags/tag388.xml"/><Relationship Id="rId135" Type="http://schemas.openxmlformats.org/officeDocument/2006/relationships/tags" Target="../tags/tag393.xml"/><Relationship Id="rId151" Type="http://schemas.openxmlformats.org/officeDocument/2006/relationships/tags" Target="../tags/tag409.xml"/><Relationship Id="rId156" Type="http://schemas.openxmlformats.org/officeDocument/2006/relationships/tags" Target="../tags/tag414.xml"/><Relationship Id="rId177" Type="http://schemas.openxmlformats.org/officeDocument/2006/relationships/tags" Target="../tags/tag435.xml"/><Relationship Id="rId172" Type="http://schemas.openxmlformats.org/officeDocument/2006/relationships/tags" Target="../tags/tag430.xml"/><Relationship Id="rId13" Type="http://schemas.openxmlformats.org/officeDocument/2006/relationships/tags" Target="../tags/tag271.xml"/><Relationship Id="rId18" Type="http://schemas.openxmlformats.org/officeDocument/2006/relationships/tags" Target="../tags/tag276.xml"/><Relationship Id="rId39" Type="http://schemas.openxmlformats.org/officeDocument/2006/relationships/tags" Target="../tags/tag297.xml"/><Relationship Id="rId109" Type="http://schemas.openxmlformats.org/officeDocument/2006/relationships/tags" Target="../tags/tag367.xml"/><Relationship Id="rId34" Type="http://schemas.openxmlformats.org/officeDocument/2006/relationships/tags" Target="../tags/tag292.xml"/><Relationship Id="rId50" Type="http://schemas.openxmlformats.org/officeDocument/2006/relationships/tags" Target="../tags/tag308.xml"/><Relationship Id="rId55" Type="http://schemas.openxmlformats.org/officeDocument/2006/relationships/tags" Target="../tags/tag313.xml"/><Relationship Id="rId76" Type="http://schemas.openxmlformats.org/officeDocument/2006/relationships/tags" Target="../tags/tag334.xml"/><Relationship Id="rId97" Type="http://schemas.openxmlformats.org/officeDocument/2006/relationships/tags" Target="../tags/tag355.xml"/><Relationship Id="rId104" Type="http://schemas.openxmlformats.org/officeDocument/2006/relationships/tags" Target="../tags/tag362.xml"/><Relationship Id="rId120" Type="http://schemas.openxmlformats.org/officeDocument/2006/relationships/tags" Target="../tags/tag378.xml"/><Relationship Id="rId125" Type="http://schemas.openxmlformats.org/officeDocument/2006/relationships/tags" Target="../tags/tag383.xml"/><Relationship Id="rId141" Type="http://schemas.openxmlformats.org/officeDocument/2006/relationships/tags" Target="../tags/tag399.xml"/><Relationship Id="rId146" Type="http://schemas.openxmlformats.org/officeDocument/2006/relationships/tags" Target="../tags/tag404.xml"/><Relationship Id="rId167" Type="http://schemas.openxmlformats.org/officeDocument/2006/relationships/tags" Target="../tags/tag425.xml"/><Relationship Id="rId7" Type="http://schemas.openxmlformats.org/officeDocument/2006/relationships/tags" Target="../tags/tag265.xml"/><Relationship Id="rId71" Type="http://schemas.openxmlformats.org/officeDocument/2006/relationships/tags" Target="../tags/tag329.xml"/><Relationship Id="rId92" Type="http://schemas.openxmlformats.org/officeDocument/2006/relationships/tags" Target="../tags/tag350.xml"/><Relationship Id="rId162" Type="http://schemas.openxmlformats.org/officeDocument/2006/relationships/tags" Target="../tags/tag420.xml"/><Relationship Id="rId2" Type="http://schemas.openxmlformats.org/officeDocument/2006/relationships/tags" Target="../tags/tag260.xml"/><Relationship Id="rId29" Type="http://schemas.openxmlformats.org/officeDocument/2006/relationships/tags" Target="../tags/tag287.xml"/><Relationship Id="rId24" Type="http://schemas.openxmlformats.org/officeDocument/2006/relationships/tags" Target="../tags/tag282.xml"/><Relationship Id="rId40" Type="http://schemas.openxmlformats.org/officeDocument/2006/relationships/tags" Target="../tags/tag298.xml"/><Relationship Id="rId45" Type="http://schemas.openxmlformats.org/officeDocument/2006/relationships/tags" Target="../tags/tag303.xml"/><Relationship Id="rId66" Type="http://schemas.openxmlformats.org/officeDocument/2006/relationships/tags" Target="../tags/tag324.xml"/><Relationship Id="rId87" Type="http://schemas.openxmlformats.org/officeDocument/2006/relationships/tags" Target="../tags/tag345.xml"/><Relationship Id="rId110" Type="http://schemas.openxmlformats.org/officeDocument/2006/relationships/tags" Target="../tags/tag368.xml"/><Relationship Id="rId115" Type="http://schemas.openxmlformats.org/officeDocument/2006/relationships/tags" Target="../tags/tag373.xml"/><Relationship Id="rId131" Type="http://schemas.openxmlformats.org/officeDocument/2006/relationships/tags" Target="../tags/tag389.xml"/><Relationship Id="rId136" Type="http://schemas.openxmlformats.org/officeDocument/2006/relationships/tags" Target="../tags/tag394.xml"/><Relationship Id="rId157" Type="http://schemas.openxmlformats.org/officeDocument/2006/relationships/tags" Target="../tags/tag415.xml"/><Relationship Id="rId178" Type="http://schemas.openxmlformats.org/officeDocument/2006/relationships/tags" Target="../tags/tag436.xml"/><Relationship Id="rId61" Type="http://schemas.openxmlformats.org/officeDocument/2006/relationships/tags" Target="../tags/tag319.xml"/><Relationship Id="rId82" Type="http://schemas.openxmlformats.org/officeDocument/2006/relationships/tags" Target="../tags/tag340.xml"/><Relationship Id="rId152" Type="http://schemas.openxmlformats.org/officeDocument/2006/relationships/tags" Target="../tags/tag410.xml"/><Relationship Id="rId173" Type="http://schemas.openxmlformats.org/officeDocument/2006/relationships/tags" Target="../tags/tag431.xml"/><Relationship Id="rId19" Type="http://schemas.openxmlformats.org/officeDocument/2006/relationships/tags" Target="../tags/tag277.xml"/><Relationship Id="rId14" Type="http://schemas.openxmlformats.org/officeDocument/2006/relationships/tags" Target="../tags/tag272.xml"/><Relationship Id="rId30" Type="http://schemas.openxmlformats.org/officeDocument/2006/relationships/tags" Target="../tags/tag288.xml"/><Relationship Id="rId35" Type="http://schemas.openxmlformats.org/officeDocument/2006/relationships/tags" Target="../tags/tag293.xml"/><Relationship Id="rId56" Type="http://schemas.openxmlformats.org/officeDocument/2006/relationships/tags" Target="../tags/tag314.xml"/><Relationship Id="rId77" Type="http://schemas.openxmlformats.org/officeDocument/2006/relationships/tags" Target="../tags/tag335.xml"/><Relationship Id="rId100" Type="http://schemas.openxmlformats.org/officeDocument/2006/relationships/tags" Target="../tags/tag358.xml"/><Relationship Id="rId105" Type="http://schemas.openxmlformats.org/officeDocument/2006/relationships/tags" Target="../tags/tag363.xml"/><Relationship Id="rId126" Type="http://schemas.openxmlformats.org/officeDocument/2006/relationships/tags" Target="../tags/tag384.xml"/><Relationship Id="rId147" Type="http://schemas.openxmlformats.org/officeDocument/2006/relationships/tags" Target="../tags/tag405.xml"/><Relationship Id="rId168" Type="http://schemas.openxmlformats.org/officeDocument/2006/relationships/tags" Target="../tags/tag426.xml"/><Relationship Id="rId8" Type="http://schemas.openxmlformats.org/officeDocument/2006/relationships/tags" Target="../tags/tag266.xml"/><Relationship Id="rId51" Type="http://schemas.openxmlformats.org/officeDocument/2006/relationships/tags" Target="../tags/tag309.xml"/><Relationship Id="rId72" Type="http://schemas.openxmlformats.org/officeDocument/2006/relationships/tags" Target="../tags/tag330.xml"/><Relationship Id="rId93" Type="http://schemas.openxmlformats.org/officeDocument/2006/relationships/tags" Target="../tags/tag351.xml"/><Relationship Id="rId98" Type="http://schemas.openxmlformats.org/officeDocument/2006/relationships/tags" Target="../tags/tag356.xml"/><Relationship Id="rId121" Type="http://schemas.openxmlformats.org/officeDocument/2006/relationships/tags" Target="../tags/tag379.xml"/><Relationship Id="rId142" Type="http://schemas.openxmlformats.org/officeDocument/2006/relationships/tags" Target="../tags/tag400.xml"/><Relationship Id="rId163" Type="http://schemas.openxmlformats.org/officeDocument/2006/relationships/tags" Target="../tags/tag421.xml"/><Relationship Id="rId3" Type="http://schemas.openxmlformats.org/officeDocument/2006/relationships/tags" Target="../tags/tag261.xml"/><Relationship Id="rId25" Type="http://schemas.openxmlformats.org/officeDocument/2006/relationships/tags" Target="../tags/tag283.xml"/><Relationship Id="rId46" Type="http://schemas.openxmlformats.org/officeDocument/2006/relationships/tags" Target="../tags/tag304.xml"/><Relationship Id="rId67" Type="http://schemas.openxmlformats.org/officeDocument/2006/relationships/tags" Target="../tags/tag325.xml"/><Relationship Id="rId116" Type="http://schemas.openxmlformats.org/officeDocument/2006/relationships/tags" Target="../tags/tag374.xml"/><Relationship Id="rId137" Type="http://schemas.openxmlformats.org/officeDocument/2006/relationships/tags" Target="../tags/tag395.xml"/><Relationship Id="rId158" Type="http://schemas.openxmlformats.org/officeDocument/2006/relationships/tags" Target="../tags/tag416.xml"/><Relationship Id="rId20" Type="http://schemas.openxmlformats.org/officeDocument/2006/relationships/tags" Target="../tags/tag278.xml"/><Relationship Id="rId41" Type="http://schemas.openxmlformats.org/officeDocument/2006/relationships/tags" Target="../tags/tag299.xml"/><Relationship Id="rId62" Type="http://schemas.openxmlformats.org/officeDocument/2006/relationships/tags" Target="../tags/tag320.xml"/><Relationship Id="rId83" Type="http://schemas.openxmlformats.org/officeDocument/2006/relationships/tags" Target="../tags/tag341.xml"/><Relationship Id="rId88" Type="http://schemas.openxmlformats.org/officeDocument/2006/relationships/tags" Target="../tags/tag346.xml"/><Relationship Id="rId111" Type="http://schemas.openxmlformats.org/officeDocument/2006/relationships/tags" Target="../tags/tag369.xml"/><Relationship Id="rId132" Type="http://schemas.openxmlformats.org/officeDocument/2006/relationships/tags" Target="../tags/tag390.xml"/><Relationship Id="rId153" Type="http://schemas.openxmlformats.org/officeDocument/2006/relationships/tags" Target="../tags/tag411.xml"/><Relationship Id="rId174" Type="http://schemas.openxmlformats.org/officeDocument/2006/relationships/tags" Target="../tags/tag432.xml"/><Relationship Id="rId179" Type="http://schemas.openxmlformats.org/officeDocument/2006/relationships/tags" Target="../tags/tag437.xml"/><Relationship Id="rId15" Type="http://schemas.openxmlformats.org/officeDocument/2006/relationships/tags" Target="../tags/tag273.xml"/><Relationship Id="rId36" Type="http://schemas.openxmlformats.org/officeDocument/2006/relationships/tags" Target="../tags/tag294.xml"/><Relationship Id="rId57" Type="http://schemas.openxmlformats.org/officeDocument/2006/relationships/tags" Target="../tags/tag315.xml"/><Relationship Id="rId106" Type="http://schemas.openxmlformats.org/officeDocument/2006/relationships/tags" Target="../tags/tag364.xml"/><Relationship Id="rId127" Type="http://schemas.openxmlformats.org/officeDocument/2006/relationships/tags" Target="../tags/tag385.xml"/><Relationship Id="rId10" Type="http://schemas.openxmlformats.org/officeDocument/2006/relationships/tags" Target="../tags/tag268.xml"/><Relationship Id="rId31" Type="http://schemas.openxmlformats.org/officeDocument/2006/relationships/tags" Target="../tags/tag289.xml"/><Relationship Id="rId52" Type="http://schemas.openxmlformats.org/officeDocument/2006/relationships/tags" Target="../tags/tag310.xml"/><Relationship Id="rId73" Type="http://schemas.openxmlformats.org/officeDocument/2006/relationships/tags" Target="../tags/tag331.xml"/><Relationship Id="rId78" Type="http://schemas.openxmlformats.org/officeDocument/2006/relationships/tags" Target="../tags/tag336.xml"/><Relationship Id="rId94" Type="http://schemas.openxmlformats.org/officeDocument/2006/relationships/tags" Target="../tags/tag352.xml"/><Relationship Id="rId99" Type="http://schemas.openxmlformats.org/officeDocument/2006/relationships/tags" Target="../tags/tag357.xml"/><Relationship Id="rId101" Type="http://schemas.openxmlformats.org/officeDocument/2006/relationships/tags" Target="../tags/tag359.xml"/><Relationship Id="rId122" Type="http://schemas.openxmlformats.org/officeDocument/2006/relationships/tags" Target="../tags/tag380.xml"/><Relationship Id="rId143" Type="http://schemas.openxmlformats.org/officeDocument/2006/relationships/tags" Target="../tags/tag401.xml"/><Relationship Id="rId148" Type="http://schemas.openxmlformats.org/officeDocument/2006/relationships/tags" Target="../tags/tag406.xml"/><Relationship Id="rId164" Type="http://schemas.openxmlformats.org/officeDocument/2006/relationships/tags" Target="../tags/tag422.xml"/><Relationship Id="rId169" Type="http://schemas.openxmlformats.org/officeDocument/2006/relationships/tags" Target="../tags/tag427.xml"/><Relationship Id="rId4" Type="http://schemas.openxmlformats.org/officeDocument/2006/relationships/tags" Target="../tags/tag262.xml"/><Relationship Id="rId9" Type="http://schemas.openxmlformats.org/officeDocument/2006/relationships/tags" Target="../tags/tag267.xml"/><Relationship Id="rId180" Type="http://schemas.openxmlformats.org/officeDocument/2006/relationships/slideLayout" Target="../slideLayouts/slideLayout7.xml"/><Relationship Id="rId26" Type="http://schemas.openxmlformats.org/officeDocument/2006/relationships/tags" Target="../tags/tag284.xml"/><Relationship Id="rId47" Type="http://schemas.openxmlformats.org/officeDocument/2006/relationships/tags" Target="../tags/tag305.xml"/><Relationship Id="rId68" Type="http://schemas.openxmlformats.org/officeDocument/2006/relationships/tags" Target="../tags/tag326.xml"/><Relationship Id="rId89" Type="http://schemas.openxmlformats.org/officeDocument/2006/relationships/tags" Target="../tags/tag347.xml"/><Relationship Id="rId112" Type="http://schemas.openxmlformats.org/officeDocument/2006/relationships/tags" Target="../tags/tag370.xml"/><Relationship Id="rId133" Type="http://schemas.openxmlformats.org/officeDocument/2006/relationships/tags" Target="../tags/tag391.xml"/><Relationship Id="rId154" Type="http://schemas.openxmlformats.org/officeDocument/2006/relationships/tags" Target="../tags/tag412.xml"/><Relationship Id="rId175" Type="http://schemas.openxmlformats.org/officeDocument/2006/relationships/tags" Target="../tags/tag433.xml"/><Relationship Id="rId16" Type="http://schemas.openxmlformats.org/officeDocument/2006/relationships/tags" Target="../tags/tag274.xml"/><Relationship Id="rId37" Type="http://schemas.openxmlformats.org/officeDocument/2006/relationships/tags" Target="../tags/tag295.xml"/><Relationship Id="rId58" Type="http://schemas.openxmlformats.org/officeDocument/2006/relationships/tags" Target="../tags/tag316.xml"/><Relationship Id="rId79" Type="http://schemas.openxmlformats.org/officeDocument/2006/relationships/tags" Target="../tags/tag337.xml"/><Relationship Id="rId102" Type="http://schemas.openxmlformats.org/officeDocument/2006/relationships/tags" Target="../tags/tag360.xml"/><Relationship Id="rId123" Type="http://schemas.openxmlformats.org/officeDocument/2006/relationships/tags" Target="../tags/tag381.xml"/><Relationship Id="rId144" Type="http://schemas.openxmlformats.org/officeDocument/2006/relationships/tags" Target="../tags/tag402.xml"/><Relationship Id="rId90" Type="http://schemas.openxmlformats.org/officeDocument/2006/relationships/tags" Target="../tags/tag348.xml"/><Relationship Id="rId165" Type="http://schemas.openxmlformats.org/officeDocument/2006/relationships/tags" Target="../tags/tag423.xml"/><Relationship Id="rId27" Type="http://schemas.openxmlformats.org/officeDocument/2006/relationships/tags" Target="../tags/tag285.xml"/><Relationship Id="rId48" Type="http://schemas.openxmlformats.org/officeDocument/2006/relationships/tags" Target="../tags/tag306.xml"/><Relationship Id="rId69" Type="http://schemas.openxmlformats.org/officeDocument/2006/relationships/tags" Target="../tags/tag327.xml"/><Relationship Id="rId113" Type="http://schemas.openxmlformats.org/officeDocument/2006/relationships/tags" Target="../tags/tag371.xml"/><Relationship Id="rId134" Type="http://schemas.openxmlformats.org/officeDocument/2006/relationships/tags" Target="../tags/tag392.xml"/><Relationship Id="rId80" Type="http://schemas.openxmlformats.org/officeDocument/2006/relationships/tags" Target="../tags/tag338.xml"/><Relationship Id="rId155" Type="http://schemas.openxmlformats.org/officeDocument/2006/relationships/tags" Target="../tags/tag413.xml"/><Relationship Id="rId176" Type="http://schemas.openxmlformats.org/officeDocument/2006/relationships/tags" Target="../tags/tag434.xml"/><Relationship Id="rId17" Type="http://schemas.openxmlformats.org/officeDocument/2006/relationships/tags" Target="../tags/tag275.xml"/><Relationship Id="rId38" Type="http://schemas.openxmlformats.org/officeDocument/2006/relationships/tags" Target="../tags/tag296.xml"/><Relationship Id="rId59" Type="http://schemas.openxmlformats.org/officeDocument/2006/relationships/tags" Target="../tags/tag317.xml"/><Relationship Id="rId103" Type="http://schemas.openxmlformats.org/officeDocument/2006/relationships/tags" Target="../tags/tag361.xml"/><Relationship Id="rId124" Type="http://schemas.openxmlformats.org/officeDocument/2006/relationships/tags" Target="../tags/tag382.xml"/><Relationship Id="rId70" Type="http://schemas.openxmlformats.org/officeDocument/2006/relationships/tags" Target="../tags/tag328.xml"/><Relationship Id="rId91" Type="http://schemas.openxmlformats.org/officeDocument/2006/relationships/tags" Target="../tags/tag349.xml"/><Relationship Id="rId145" Type="http://schemas.openxmlformats.org/officeDocument/2006/relationships/tags" Target="../tags/tag403.xml"/><Relationship Id="rId166" Type="http://schemas.openxmlformats.org/officeDocument/2006/relationships/tags" Target="../tags/tag424.xml"/><Relationship Id="rId1" Type="http://schemas.openxmlformats.org/officeDocument/2006/relationships/tags" Target="../tags/tag259.xml"/></Relationships>
</file>

<file path=ppt/slides/_rels/slide31.xml.rels><?xml version="1.0" encoding="UTF-8" standalone="yes"?>
<Relationships xmlns="http://schemas.openxmlformats.org/package/2006/relationships"><Relationship Id="rId117" Type="http://schemas.openxmlformats.org/officeDocument/2006/relationships/tags" Target="../tags/tag554.xml"/><Relationship Id="rId21" Type="http://schemas.openxmlformats.org/officeDocument/2006/relationships/tags" Target="../tags/tag458.xml"/><Relationship Id="rId42" Type="http://schemas.openxmlformats.org/officeDocument/2006/relationships/tags" Target="../tags/tag479.xml"/><Relationship Id="rId63" Type="http://schemas.openxmlformats.org/officeDocument/2006/relationships/tags" Target="../tags/tag500.xml"/><Relationship Id="rId84" Type="http://schemas.openxmlformats.org/officeDocument/2006/relationships/tags" Target="../tags/tag521.xml"/><Relationship Id="rId138" Type="http://schemas.openxmlformats.org/officeDocument/2006/relationships/tags" Target="../tags/tag575.xml"/><Relationship Id="rId159" Type="http://schemas.openxmlformats.org/officeDocument/2006/relationships/tags" Target="../tags/tag596.xml"/><Relationship Id="rId170" Type="http://schemas.openxmlformats.org/officeDocument/2006/relationships/tags" Target="../tags/tag607.xml"/><Relationship Id="rId191" Type="http://schemas.openxmlformats.org/officeDocument/2006/relationships/tags" Target="../tags/tag628.xml"/><Relationship Id="rId205" Type="http://schemas.openxmlformats.org/officeDocument/2006/relationships/tags" Target="../tags/tag642.xml"/><Relationship Id="rId107" Type="http://schemas.openxmlformats.org/officeDocument/2006/relationships/tags" Target="../tags/tag544.xml"/><Relationship Id="rId11" Type="http://schemas.openxmlformats.org/officeDocument/2006/relationships/tags" Target="../tags/tag448.xml"/><Relationship Id="rId32" Type="http://schemas.openxmlformats.org/officeDocument/2006/relationships/tags" Target="../tags/tag469.xml"/><Relationship Id="rId53" Type="http://schemas.openxmlformats.org/officeDocument/2006/relationships/tags" Target="../tags/tag490.xml"/><Relationship Id="rId74" Type="http://schemas.openxmlformats.org/officeDocument/2006/relationships/tags" Target="../tags/tag511.xml"/><Relationship Id="rId128" Type="http://schemas.openxmlformats.org/officeDocument/2006/relationships/tags" Target="../tags/tag565.xml"/><Relationship Id="rId149" Type="http://schemas.openxmlformats.org/officeDocument/2006/relationships/tags" Target="../tags/tag586.xml"/><Relationship Id="rId5" Type="http://schemas.openxmlformats.org/officeDocument/2006/relationships/tags" Target="../tags/tag442.xml"/><Relationship Id="rId95" Type="http://schemas.openxmlformats.org/officeDocument/2006/relationships/tags" Target="../tags/tag532.xml"/><Relationship Id="rId160" Type="http://schemas.openxmlformats.org/officeDocument/2006/relationships/tags" Target="../tags/tag597.xml"/><Relationship Id="rId181" Type="http://schemas.openxmlformats.org/officeDocument/2006/relationships/tags" Target="../tags/tag618.xml"/><Relationship Id="rId22" Type="http://schemas.openxmlformats.org/officeDocument/2006/relationships/tags" Target="../tags/tag459.xml"/><Relationship Id="rId43" Type="http://schemas.openxmlformats.org/officeDocument/2006/relationships/tags" Target="../tags/tag480.xml"/><Relationship Id="rId64" Type="http://schemas.openxmlformats.org/officeDocument/2006/relationships/tags" Target="../tags/tag501.xml"/><Relationship Id="rId118" Type="http://schemas.openxmlformats.org/officeDocument/2006/relationships/tags" Target="../tags/tag555.xml"/><Relationship Id="rId139" Type="http://schemas.openxmlformats.org/officeDocument/2006/relationships/tags" Target="../tags/tag576.xml"/><Relationship Id="rId85" Type="http://schemas.openxmlformats.org/officeDocument/2006/relationships/tags" Target="../tags/tag522.xml"/><Relationship Id="rId150" Type="http://schemas.openxmlformats.org/officeDocument/2006/relationships/tags" Target="../tags/tag587.xml"/><Relationship Id="rId171" Type="http://schemas.openxmlformats.org/officeDocument/2006/relationships/tags" Target="../tags/tag608.xml"/><Relationship Id="rId192" Type="http://schemas.openxmlformats.org/officeDocument/2006/relationships/tags" Target="../tags/tag629.xml"/><Relationship Id="rId206" Type="http://schemas.openxmlformats.org/officeDocument/2006/relationships/slideLayout" Target="../slideLayouts/slideLayout7.xml"/><Relationship Id="rId12" Type="http://schemas.openxmlformats.org/officeDocument/2006/relationships/tags" Target="../tags/tag449.xml"/><Relationship Id="rId33" Type="http://schemas.openxmlformats.org/officeDocument/2006/relationships/tags" Target="../tags/tag470.xml"/><Relationship Id="rId108" Type="http://schemas.openxmlformats.org/officeDocument/2006/relationships/tags" Target="../tags/tag545.xml"/><Relationship Id="rId129" Type="http://schemas.openxmlformats.org/officeDocument/2006/relationships/tags" Target="../tags/tag566.xml"/><Relationship Id="rId54" Type="http://schemas.openxmlformats.org/officeDocument/2006/relationships/tags" Target="../tags/tag491.xml"/><Relationship Id="rId75" Type="http://schemas.openxmlformats.org/officeDocument/2006/relationships/tags" Target="../tags/tag512.xml"/><Relationship Id="rId96" Type="http://schemas.openxmlformats.org/officeDocument/2006/relationships/tags" Target="../tags/tag533.xml"/><Relationship Id="rId140" Type="http://schemas.openxmlformats.org/officeDocument/2006/relationships/tags" Target="../tags/tag577.xml"/><Relationship Id="rId161" Type="http://schemas.openxmlformats.org/officeDocument/2006/relationships/tags" Target="../tags/tag598.xml"/><Relationship Id="rId182" Type="http://schemas.openxmlformats.org/officeDocument/2006/relationships/tags" Target="../tags/tag619.xml"/><Relationship Id="rId6" Type="http://schemas.openxmlformats.org/officeDocument/2006/relationships/tags" Target="../tags/tag443.xml"/><Relationship Id="rId23" Type="http://schemas.openxmlformats.org/officeDocument/2006/relationships/tags" Target="../tags/tag460.xml"/><Relationship Id="rId119" Type="http://schemas.openxmlformats.org/officeDocument/2006/relationships/tags" Target="../tags/tag556.xml"/><Relationship Id="rId44" Type="http://schemas.openxmlformats.org/officeDocument/2006/relationships/tags" Target="../tags/tag481.xml"/><Relationship Id="rId65" Type="http://schemas.openxmlformats.org/officeDocument/2006/relationships/tags" Target="../tags/tag502.xml"/><Relationship Id="rId86" Type="http://schemas.openxmlformats.org/officeDocument/2006/relationships/tags" Target="../tags/tag523.xml"/><Relationship Id="rId130" Type="http://schemas.openxmlformats.org/officeDocument/2006/relationships/tags" Target="../tags/tag567.xml"/><Relationship Id="rId151" Type="http://schemas.openxmlformats.org/officeDocument/2006/relationships/tags" Target="../tags/tag588.xml"/><Relationship Id="rId172" Type="http://schemas.openxmlformats.org/officeDocument/2006/relationships/tags" Target="../tags/tag609.xml"/><Relationship Id="rId193" Type="http://schemas.openxmlformats.org/officeDocument/2006/relationships/tags" Target="../tags/tag630.xml"/><Relationship Id="rId207" Type="http://schemas.openxmlformats.org/officeDocument/2006/relationships/slide" Target="slide25.xml"/><Relationship Id="rId13" Type="http://schemas.openxmlformats.org/officeDocument/2006/relationships/tags" Target="../tags/tag450.xml"/><Relationship Id="rId109" Type="http://schemas.openxmlformats.org/officeDocument/2006/relationships/tags" Target="../tags/tag546.xml"/><Relationship Id="rId34" Type="http://schemas.openxmlformats.org/officeDocument/2006/relationships/tags" Target="../tags/tag471.xml"/><Relationship Id="rId55" Type="http://schemas.openxmlformats.org/officeDocument/2006/relationships/tags" Target="../tags/tag492.xml"/><Relationship Id="rId76" Type="http://schemas.openxmlformats.org/officeDocument/2006/relationships/tags" Target="../tags/tag513.xml"/><Relationship Id="rId97" Type="http://schemas.openxmlformats.org/officeDocument/2006/relationships/tags" Target="../tags/tag534.xml"/><Relationship Id="rId120" Type="http://schemas.openxmlformats.org/officeDocument/2006/relationships/tags" Target="../tags/tag557.xml"/><Relationship Id="rId141" Type="http://schemas.openxmlformats.org/officeDocument/2006/relationships/tags" Target="../tags/tag578.xml"/><Relationship Id="rId7" Type="http://schemas.openxmlformats.org/officeDocument/2006/relationships/tags" Target="../tags/tag444.xml"/><Relationship Id="rId162" Type="http://schemas.openxmlformats.org/officeDocument/2006/relationships/tags" Target="../tags/tag599.xml"/><Relationship Id="rId183" Type="http://schemas.openxmlformats.org/officeDocument/2006/relationships/tags" Target="../tags/tag620.xml"/><Relationship Id="rId24" Type="http://schemas.openxmlformats.org/officeDocument/2006/relationships/tags" Target="../tags/tag461.xml"/><Relationship Id="rId40" Type="http://schemas.openxmlformats.org/officeDocument/2006/relationships/tags" Target="../tags/tag477.xml"/><Relationship Id="rId45" Type="http://schemas.openxmlformats.org/officeDocument/2006/relationships/tags" Target="../tags/tag482.xml"/><Relationship Id="rId66" Type="http://schemas.openxmlformats.org/officeDocument/2006/relationships/tags" Target="../tags/tag503.xml"/><Relationship Id="rId87" Type="http://schemas.openxmlformats.org/officeDocument/2006/relationships/tags" Target="../tags/tag524.xml"/><Relationship Id="rId110" Type="http://schemas.openxmlformats.org/officeDocument/2006/relationships/tags" Target="../tags/tag547.xml"/><Relationship Id="rId115" Type="http://schemas.openxmlformats.org/officeDocument/2006/relationships/tags" Target="../tags/tag552.xml"/><Relationship Id="rId131" Type="http://schemas.openxmlformats.org/officeDocument/2006/relationships/tags" Target="../tags/tag568.xml"/><Relationship Id="rId136" Type="http://schemas.openxmlformats.org/officeDocument/2006/relationships/tags" Target="../tags/tag573.xml"/><Relationship Id="rId157" Type="http://schemas.openxmlformats.org/officeDocument/2006/relationships/tags" Target="../tags/tag594.xml"/><Relationship Id="rId178" Type="http://schemas.openxmlformats.org/officeDocument/2006/relationships/tags" Target="../tags/tag615.xml"/><Relationship Id="rId61" Type="http://schemas.openxmlformats.org/officeDocument/2006/relationships/tags" Target="../tags/tag498.xml"/><Relationship Id="rId82" Type="http://schemas.openxmlformats.org/officeDocument/2006/relationships/tags" Target="../tags/tag519.xml"/><Relationship Id="rId152" Type="http://schemas.openxmlformats.org/officeDocument/2006/relationships/tags" Target="../tags/tag589.xml"/><Relationship Id="rId173" Type="http://schemas.openxmlformats.org/officeDocument/2006/relationships/tags" Target="../tags/tag610.xml"/><Relationship Id="rId194" Type="http://schemas.openxmlformats.org/officeDocument/2006/relationships/tags" Target="../tags/tag631.xml"/><Relationship Id="rId199" Type="http://schemas.openxmlformats.org/officeDocument/2006/relationships/tags" Target="../tags/tag636.xml"/><Relationship Id="rId203" Type="http://schemas.openxmlformats.org/officeDocument/2006/relationships/tags" Target="../tags/tag640.xml"/><Relationship Id="rId19" Type="http://schemas.openxmlformats.org/officeDocument/2006/relationships/tags" Target="../tags/tag456.xml"/><Relationship Id="rId14" Type="http://schemas.openxmlformats.org/officeDocument/2006/relationships/tags" Target="../tags/tag451.xml"/><Relationship Id="rId30" Type="http://schemas.openxmlformats.org/officeDocument/2006/relationships/tags" Target="../tags/tag467.xml"/><Relationship Id="rId35" Type="http://schemas.openxmlformats.org/officeDocument/2006/relationships/tags" Target="../tags/tag472.xml"/><Relationship Id="rId56" Type="http://schemas.openxmlformats.org/officeDocument/2006/relationships/tags" Target="../tags/tag493.xml"/><Relationship Id="rId77" Type="http://schemas.openxmlformats.org/officeDocument/2006/relationships/tags" Target="../tags/tag514.xml"/><Relationship Id="rId100" Type="http://schemas.openxmlformats.org/officeDocument/2006/relationships/tags" Target="../tags/tag537.xml"/><Relationship Id="rId105" Type="http://schemas.openxmlformats.org/officeDocument/2006/relationships/tags" Target="../tags/tag542.xml"/><Relationship Id="rId126" Type="http://schemas.openxmlformats.org/officeDocument/2006/relationships/tags" Target="../tags/tag563.xml"/><Relationship Id="rId147" Type="http://schemas.openxmlformats.org/officeDocument/2006/relationships/tags" Target="../tags/tag584.xml"/><Relationship Id="rId168" Type="http://schemas.openxmlformats.org/officeDocument/2006/relationships/tags" Target="../tags/tag605.xml"/><Relationship Id="rId8" Type="http://schemas.openxmlformats.org/officeDocument/2006/relationships/tags" Target="../tags/tag445.xml"/><Relationship Id="rId51" Type="http://schemas.openxmlformats.org/officeDocument/2006/relationships/tags" Target="../tags/tag488.xml"/><Relationship Id="rId72" Type="http://schemas.openxmlformats.org/officeDocument/2006/relationships/tags" Target="../tags/tag509.xml"/><Relationship Id="rId93" Type="http://schemas.openxmlformats.org/officeDocument/2006/relationships/tags" Target="../tags/tag530.xml"/><Relationship Id="rId98" Type="http://schemas.openxmlformats.org/officeDocument/2006/relationships/tags" Target="../tags/tag535.xml"/><Relationship Id="rId121" Type="http://schemas.openxmlformats.org/officeDocument/2006/relationships/tags" Target="../tags/tag558.xml"/><Relationship Id="rId142" Type="http://schemas.openxmlformats.org/officeDocument/2006/relationships/tags" Target="../tags/tag579.xml"/><Relationship Id="rId163" Type="http://schemas.openxmlformats.org/officeDocument/2006/relationships/tags" Target="../tags/tag600.xml"/><Relationship Id="rId184" Type="http://schemas.openxmlformats.org/officeDocument/2006/relationships/tags" Target="../tags/tag621.xml"/><Relationship Id="rId189" Type="http://schemas.openxmlformats.org/officeDocument/2006/relationships/tags" Target="../tags/tag626.xml"/><Relationship Id="rId3" Type="http://schemas.openxmlformats.org/officeDocument/2006/relationships/tags" Target="../tags/tag440.xml"/><Relationship Id="rId25" Type="http://schemas.openxmlformats.org/officeDocument/2006/relationships/tags" Target="../tags/tag462.xml"/><Relationship Id="rId46" Type="http://schemas.openxmlformats.org/officeDocument/2006/relationships/tags" Target="../tags/tag483.xml"/><Relationship Id="rId67" Type="http://schemas.openxmlformats.org/officeDocument/2006/relationships/tags" Target="../tags/tag504.xml"/><Relationship Id="rId116" Type="http://schemas.openxmlformats.org/officeDocument/2006/relationships/tags" Target="../tags/tag553.xml"/><Relationship Id="rId137" Type="http://schemas.openxmlformats.org/officeDocument/2006/relationships/tags" Target="../tags/tag574.xml"/><Relationship Id="rId158" Type="http://schemas.openxmlformats.org/officeDocument/2006/relationships/tags" Target="../tags/tag595.xml"/><Relationship Id="rId20" Type="http://schemas.openxmlformats.org/officeDocument/2006/relationships/tags" Target="../tags/tag457.xml"/><Relationship Id="rId41" Type="http://schemas.openxmlformats.org/officeDocument/2006/relationships/tags" Target="../tags/tag478.xml"/><Relationship Id="rId62" Type="http://schemas.openxmlformats.org/officeDocument/2006/relationships/tags" Target="../tags/tag499.xml"/><Relationship Id="rId83" Type="http://schemas.openxmlformats.org/officeDocument/2006/relationships/tags" Target="../tags/tag520.xml"/><Relationship Id="rId88" Type="http://schemas.openxmlformats.org/officeDocument/2006/relationships/tags" Target="../tags/tag525.xml"/><Relationship Id="rId111" Type="http://schemas.openxmlformats.org/officeDocument/2006/relationships/tags" Target="../tags/tag548.xml"/><Relationship Id="rId132" Type="http://schemas.openxmlformats.org/officeDocument/2006/relationships/tags" Target="../tags/tag569.xml"/><Relationship Id="rId153" Type="http://schemas.openxmlformats.org/officeDocument/2006/relationships/tags" Target="../tags/tag590.xml"/><Relationship Id="rId174" Type="http://schemas.openxmlformats.org/officeDocument/2006/relationships/tags" Target="../tags/tag611.xml"/><Relationship Id="rId179" Type="http://schemas.openxmlformats.org/officeDocument/2006/relationships/tags" Target="../tags/tag616.xml"/><Relationship Id="rId195" Type="http://schemas.openxmlformats.org/officeDocument/2006/relationships/tags" Target="../tags/tag632.xml"/><Relationship Id="rId190" Type="http://schemas.openxmlformats.org/officeDocument/2006/relationships/tags" Target="../tags/tag627.xml"/><Relationship Id="rId204" Type="http://schemas.openxmlformats.org/officeDocument/2006/relationships/tags" Target="../tags/tag641.xml"/><Relationship Id="rId15" Type="http://schemas.openxmlformats.org/officeDocument/2006/relationships/tags" Target="../tags/tag452.xml"/><Relationship Id="rId36" Type="http://schemas.openxmlformats.org/officeDocument/2006/relationships/tags" Target="../tags/tag473.xml"/><Relationship Id="rId57" Type="http://schemas.openxmlformats.org/officeDocument/2006/relationships/tags" Target="../tags/tag494.xml"/><Relationship Id="rId106" Type="http://schemas.openxmlformats.org/officeDocument/2006/relationships/tags" Target="../tags/tag543.xml"/><Relationship Id="rId127" Type="http://schemas.openxmlformats.org/officeDocument/2006/relationships/tags" Target="../tags/tag564.xml"/><Relationship Id="rId10" Type="http://schemas.openxmlformats.org/officeDocument/2006/relationships/tags" Target="../tags/tag447.xml"/><Relationship Id="rId31" Type="http://schemas.openxmlformats.org/officeDocument/2006/relationships/tags" Target="../tags/tag468.xml"/><Relationship Id="rId52" Type="http://schemas.openxmlformats.org/officeDocument/2006/relationships/tags" Target="../tags/tag489.xml"/><Relationship Id="rId73" Type="http://schemas.openxmlformats.org/officeDocument/2006/relationships/tags" Target="../tags/tag510.xml"/><Relationship Id="rId78" Type="http://schemas.openxmlformats.org/officeDocument/2006/relationships/tags" Target="../tags/tag515.xml"/><Relationship Id="rId94" Type="http://schemas.openxmlformats.org/officeDocument/2006/relationships/tags" Target="../tags/tag531.xml"/><Relationship Id="rId99" Type="http://schemas.openxmlformats.org/officeDocument/2006/relationships/tags" Target="../tags/tag536.xml"/><Relationship Id="rId101" Type="http://schemas.openxmlformats.org/officeDocument/2006/relationships/tags" Target="../tags/tag538.xml"/><Relationship Id="rId122" Type="http://schemas.openxmlformats.org/officeDocument/2006/relationships/tags" Target="../tags/tag559.xml"/><Relationship Id="rId143" Type="http://schemas.openxmlformats.org/officeDocument/2006/relationships/tags" Target="../tags/tag580.xml"/><Relationship Id="rId148" Type="http://schemas.openxmlformats.org/officeDocument/2006/relationships/tags" Target="../tags/tag585.xml"/><Relationship Id="rId164" Type="http://schemas.openxmlformats.org/officeDocument/2006/relationships/tags" Target="../tags/tag601.xml"/><Relationship Id="rId169" Type="http://schemas.openxmlformats.org/officeDocument/2006/relationships/tags" Target="../tags/tag606.xml"/><Relationship Id="rId185" Type="http://schemas.openxmlformats.org/officeDocument/2006/relationships/tags" Target="../tags/tag622.xml"/><Relationship Id="rId4" Type="http://schemas.openxmlformats.org/officeDocument/2006/relationships/tags" Target="../tags/tag441.xml"/><Relationship Id="rId9" Type="http://schemas.openxmlformats.org/officeDocument/2006/relationships/tags" Target="../tags/tag446.xml"/><Relationship Id="rId180" Type="http://schemas.openxmlformats.org/officeDocument/2006/relationships/tags" Target="../tags/tag617.xml"/><Relationship Id="rId26" Type="http://schemas.openxmlformats.org/officeDocument/2006/relationships/tags" Target="../tags/tag463.xml"/><Relationship Id="rId47" Type="http://schemas.openxmlformats.org/officeDocument/2006/relationships/tags" Target="../tags/tag484.xml"/><Relationship Id="rId68" Type="http://schemas.openxmlformats.org/officeDocument/2006/relationships/tags" Target="../tags/tag505.xml"/><Relationship Id="rId89" Type="http://schemas.openxmlformats.org/officeDocument/2006/relationships/tags" Target="../tags/tag526.xml"/><Relationship Id="rId112" Type="http://schemas.openxmlformats.org/officeDocument/2006/relationships/tags" Target="../tags/tag549.xml"/><Relationship Id="rId133" Type="http://schemas.openxmlformats.org/officeDocument/2006/relationships/tags" Target="../tags/tag570.xml"/><Relationship Id="rId154" Type="http://schemas.openxmlformats.org/officeDocument/2006/relationships/tags" Target="../tags/tag591.xml"/><Relationship Id="rId175" Type="http://schemas.openxmlformats.org/officeDocument/2006/relationships/tags" Target="../tags/tag612.xml"/><Relationship Id="rId196" Type="http://schemas.openxmlformats.org/officeDocument/2006/relationships/tags" Target="../tags/tag633.xml"/><Relationship Id="rId200" Type="http://schemas.openxmlformats.org/officeDocument/2006/relationships/tags" Target="../tags/tag637.xml"/><Relationship Id="rId16" Type="http://schemas.openxmlformats.org/officeDocument/2006/relationships/tags" Target="../tags/tag453.xml"/><Relationship Id="rId37" Type="http://schemas.openxmlformats.org/officeDocument/2006/relationships/tags" Target="../tags/tag474.xml"/><Relationship Id="rId58" Type="http://schemas.openxmlformats.org/officeDocument/2006/relationships/tags" Target="../tags/tag495.xml"/><Relationship Id="rId79" Type="http://schemas.openxmlformats.org/officeDocument/2006/relationships/tags" Target="../tags/tag516.xml"/><Relationship Id="rId102" Type="http://schemas.openxmlformats.org/officeDocument/2006/relationships/tags" Target="../tags/tag539.xml"/><Relationship Id="rId123" Type="http://schemas.openxmlformats.org/officeDocument/2006/relationships/tags" Target="../tags/tag560.xml"/><Relationship Id="rId144" Type="http://schemas.openxmlformats.org/officeDocument/2006/relationships/tags" Target="../tags/tag581.xml"/><Relationship Id="rId90" Type="http://schemas.openxmlformats.org/officeDocument/2006/relationships/tags" Target="../tags/tag527.xml"/><Relationship Id="rId165" Type="http://schemas.openxmlformats.org/officeDocument/2006/relationships/tags" Target="../tags/tag602.xml"/><Relationship Id="rId186" Type="http://schemas.openxmlformats.org/officeDocument/2006/relationships/tags" Target="../tags/tag623.xml"/><Relationship Id="rId27" Type="http://schemas.openxmlformats.org/officeDocument/2006/relationships/tags" Target="../tags/tag464.xml"/><Relationship Id="rId48" Type="http://schemas.openxmlformats.org/officeDocument/2006/relationships/tags" Target="../tags/tag485.xml"/><Relationship Id="rId69" Type="http://schemas.openxmlformats.org/officeDocument/2006/relationships/tags" Target="../tags/tag506.xml"/><Relationship Id="rId113" Type="http://schemas.openxmlformats.org/officeDocument/2006/relationships/tags" Target="../tags/tag550.xml"/><Relationship Id="rId134" Type="http://schemas.openxmlformats.org/officeDocument/2006/relationships/tags" Target="../tags/tag571.xml"/><Relationship Id="rId80" Type="http://schemas.openxmlformats.org/officeDocument/2006/relationships/tags" Target="../tags/tag517.xml"/><Relationship Id="rId155" Type="http://schemas.openxmlformats.org/officeDocument/2006/relationships/tags" Target="../tags/tag592.xml"/><Relationship Id="rId176" Type="http://schemas.openxmlformats.org/officeDocument/2006/relationships/tags" Target="../tags/tag613.xml"/><Relationship Id="rId197" Type="http://schemas.openxmlformats.org/officeDocument/2006/relationships/tags" Target="../tags/tag634.xml"/><Relationship Id="rId201" Type="http://schemas.openxmlformats.org/officeDocument/2006/relationships/tags" Target="../tags/tag638.xml"/><Relationship Id="rId17" Type="http://schemas.openxmlformats.org/officeDocument/2006/relationships/tags" Target="../tags/tag454.xml"/><Relationship Id="rId38" Type="http://schemas.openxmlformats.org/officeDocument/2006/relationships/tags" Target="../tags/tag475.xml"/><Relationship Id="rId59" Type="http://schemas.openxmlformats.org/officeDocument/2006/relationships/tags" Target="../tags/tag496.xml"/><Relationship Id="rId103" Type="http://schemas.openxmlformats.org/officeDocument/2006/relationships/tags" Target="../tags/tag540.xml"/><Relationship Id="rId124" Type="http://schemas.openxmlformats.org/officeDocument/2006/relationships/tags" Target="../tags/tag561.xml"/><Relationship Id="rId70" Type="http://schemas.openxmlformats.org/officeDocument/2006/relationships/tags" Target="../tags/tag507.xml"/><Relationship Id="rId91" Type="http://schemas.openxmlformats.org/officeDocument/2006/relationships/tags" Target="../tags/tag528.xml"/><Relationship Id="rId145" Type="http://schemas.openxmlformats.org/officeDocument/2006/relationships/tags" Target="../tags/tag582.xml"/><Relationship Id="rId166" Type="http://schemas.openxmlformats.org/officeDocument/2006/relationships/tags" Target="../tags/tag603.xml"/><Relationship Id="rId187" Type="http://schemas.openxmlformats.org/officeDocument/2006/relationships/tags" Target="../tags/tag624.xml"/><Relationship Id="rId1" Type="http://schemas.openxmlformats.org/officeDocument/2006/relationships/tags" Target="../tags/tag438.xml"/><Relationship Id="rId28" Type="http://schemas.openxmlformats.org/officeDocument/2006/relationships/tags" Target="../tags/tag465.xml"/><Relationship Id="rId49" Type="http://schemas.openxmlformats.org/officeDocument/2006/relationships/tags" Target="../tags/tag486.xml"/><Relationship Id="rId114" Type="http://schemas.openxmlformats.org/officeDocument/2006/relationships/tags" Target="../tags/tag551.xml"/><Relationship Id="rId60" Type="http://schemas.openxmlformats.org/officeDocument/2006/relationships/tags" Target="../tags/tag497.xml"/><Relationship Id="rId81" Type="http://schemas.openxmlformats.org/officeDocument/2006/relationships/tags" Target="../tags/tag518.xml"/><Relationship Id="rId135" Type="http://schemas.openxmlformats.org/officeDocument/2006/relationships/tags" Target="../tags/tag572.xml"/><Relationship Id="rId156" Type="http://schemas.openxmlformats.org/officeDocument/2006/relationships/tags" Target="../tags/tag593.xml"/><Relationship Id="rId177" Type="http://schemas.openxmlformats.org/officeDocument/2006/relationships/tags" Target="../tags/tag614.xml"/><Relationship Id="rId198" Type="http://schemas.openxmlformats.org/officeDocument/2006/relationships/tags" Target="../tags/tag635.xml"/><Relationship Id="rId202" Type="http://schemas.openxmlformats.org/officeDocument/2006/relationships/tags" Target="../tags/tag639.xml"/><Relationship Id="rId18" Type="http://schemas.openxmlformats.org/officeDocument/2006/relationships/tags" Target="../tags/tag455.xml"/><Relationship Id="rId39" Type="http://schemas.openxmlformats.org/officeDocument/2006/relationships/tags" Target="../tags/tag476.xml"/><Relationship Id="rId50" Type="http://schemas.openxmlformats.org/officeDocument/2006/relationships/tags" Target="../tags/tag487.xml"/><Relationship Id="rId104" Type="http://schemas.openxmlformats.org/officeDocument/2006/relationships/tags" Target="../tags/tag541.xml"/><Relationship Id="rId125" Type="http://schemas.openxmlformats.org/officeDocument/2006/relationships/tags" Target="../tags/tag562.xml"/><Relationship Id="rId146" Type="http://schemas.openxmlformats.org/officeDocument/2006/relationships/tags" Target="../tags/tag583.xml"/><Relationship Id="rId167" Type="http://schemas.openxmlformats.org/officeDocument/2006/relationships/tags" Target="../tags/tag604.xml"/><Relationship Id="rId188" Type="http://schemas.openxmlformats.org/officeDocument/2006/relationships/tags" Target="../tags/tag625.xml"/><Relationship Id="rId71" Type="http://schemas.openxmlformats.org/officeDocument/2006/relationships/tags" Target="../tags/tag508.xml"/><Relationship Id="rId92" Type="http://schemas.openxmlformats.org/officeDocument/2006/relationships/tags" Target="../tags/tag529.xml"/><Relationship Id="rId2" Type="http://schemas.openxmlformats.org/officeDocument/2006/relationships/tags" Target="../tags/tag439.xml"/><Relationship Id="rId29" Type="http://schemas.openxmlformats.org/officeDocument/2006/relationships/tags" Target="../tags/tag466.xml"/></Relationships>
</file>

<file path=ppt/slides/_rels/slide32.xml.rels><?xml version="1.0" encoding="UTF-8" standalone="yes"?>
<Relationships xmlns="http://schemas.openxmlformats.org/package/2006/relationships"><Relationship Id="rId26" Type="http://schemas.openxmlformats.org/officeDocument/2006/relationships/tags" Target="../tags/tag668.xml"/><Relationship Id="rId21" Type="http://schemas.openxmlformats.org/officeDocument/2006/relationships/tags" Target="../tags/tag663.xml"/><Relationship Id="rId42" Type="http://schemas.openxmlformats.org/officeDocument/2006/relationships/tags" Target="../tags/tag684.xml"/><Relationship Id="rId47" Type="http://schemas.openxmlformats.org/officeDocument/2006/relationships/tags" Target="../tags/tag689.xml"/><Relationship Id="rId63" Type="http://schemas.openxmlformats.org/officeDocument/2006/relationships/tags" Target="../tags/tag705.xml"/><Relationship Id="rId68" Type="http://schemas.openxmlformats.org/officeDocument/2006/relationships/tags" Target="../tags/tag710.xml"/><Relationship Id="rId84" Type="http://schemas.openxmlformats.org/officeDocument/2006/relationships/tags" Target="../tags/tag726.xml"/><Relationship Id="rId89" Type="http://schemas.openxmlformats.org/officeDocument/2006/relationships/tags" Target="../tags/tag731.xml"/><Relationship Id="rId16" Type="http://schemas.openxmlformats.org/officeDocument/2006/relationships/tags" Target="../tags/tag658.xml"/><Relationship Id="rId11" Type="http://schemas.openxmlformats.org/officeDocument/2006/relationships/tags" Target="../tags/tag653.xml"/><Relationship Id="rId32" Type="http://schemas.openxmlformats.org/officeDocument/2006/relationships/tags" Target="../tags/tag674.xml"/><Relationship Id="rId37" Type="http://schemas.openxmlformats.org/officeDocument/2006/relationships/tags" Target="../tags/tag679.xml"/><Relationship Id="rId53" Type="http://schemas.openxmlformats.org/officeDocument/2006/relationships/tags" Target="../tags/tag695.xml"/><Relationship Id="rId58" Type="http://schemas.openxmlformats.org/officeDocument/2006/relationships/tags" Target="../tags/tag700.xml"/><Relationship Id="rId74" Type="http://schemas.openxmlformats.org/officeDocument/2006/relationships/tags" Target="../tags/tag716.xml"/><Relationship Id="rId79" Type="http://schemas.openxmlformats.org/officeDocument/2006/relationships/tags" Target="../tags/tag721.xml"/><Relationship Id="rId5" Type="http://schemas.openxmlformats.org/officeDocument/2006/relationships/tags" Target="../tags/tag647.xml"/><Relationship Id="rId90" Type="http://schemas.openxmlformats.org/officeDocument/2006/relationships/tags" Target="../tags/tag732.xml"/><Relationship Id="rId95" Type="http://schemas.openxmlformats.org/officeDocument/2006/relationships/slideLayout" Target="../slideLayouts/slideLayout7.xml"/><Relationship Id="rId22" Type="http://schemas.openxmlformats.org/officeDocument/2006/relationships/tags" Target="../tags/tag664.xml"/><Relationship Id="rId27" Type="http://schemas.openxmlformats.org/officeDocument/2006/relationships/tags" Target="../tags/tag669.xml"/><Relationship Id="rId43" Type="http://schemas.openxmlformats.org/officeDocument/2006/relationships/tags" Target="../tags/tag685.xml"/><Relationship Id="rId48" Type="http://schemas.openxmlformats.org/officeDocument/2006/relationships/tags" Target="../tags/tag690.xml"/><Relationship Id="rId64" Type="http://schemas.openxmlformats.org/officeDocument/2006/relationships/tags" Target="../tags/tag706.xml"/><Relationship Id="rId69" Type="http://schemas.openxmlformats.org/officeDocument/2006/relationships/tags" Target="../tags/tag711.xml"/><Relationship Id="rId8" Type="http://schemas.openxmlformats.org/officeDocument/2006/relationships/tags" Target="../tags/tag650.xml"/><Relationship Id="rId51" Type="http://schemas.openxmlformats.org/officeDocument/2006/relationships/tags" Target="../tags/tag693.xml"/><Relationship Id="rId72" Type="http://schemas.openxmlformats.org/officeDocument/2006/relationships/tags" Target="../tags/tag714.xml"/><Relationship Id="rId80" Type="http://schemas.openxmlformats.org/officeDocument/2006/relationships/tags" Target="../tags/tag722.xml"/><Relationship Id="rId85" Type="http://schemas.openxmlformats.org/officeDocument/2006/relationships/tags" Target="../tags/tag727.xml"/><Relationship Id="rId93" Type="http://schemas.openxmlformats.org/officeDocument/2006/relationships/tags" Target="../tags/tag735.xml"/><Relationship Id="rId3" Type="http://schemas.openxmlformats.org/officeDocument/2006/relationships/tags" Target="../tags/tag645.xml"/><Relationship Id="rId12" Type="http://schemas.openxmlformats.org/officeDocument/2006/relationships/tags" Target="../tags/tag654.xml"/><Relationship Id="rId17" Type="http://schemas.openxmlformats.org/officeDocument/2006/relationships/tags" Target="../tags/tag659.xml"/><Relationship Id="rId25" Type="http://schemas.openxmlformats.org/officeDocument/2006/relationships/tags" Target="../tags/tag667.xml"/><Relationship Id="rId33" Type="http://schemas.openxmlformats.org/officeDocument/2006/relationships/tags" Target="../tags/tag675.xml"/><Relationship Id="rId38" Type="http://schemas.openxmlformats.org/officeDocument/2006/relationships/tags" Target="../tags/tag680.xml"/><Relationship Id="rId46" Type="http://schemas.openxmlformats.org/officeDocument/2006/relationships/tags" Target="../tags/tag688.xml"/><Relationship Id="rId59" Type="http://schemas.openxmlformats.org/officeDocument/2006/relationships/tags" Target="../tags/tag701.xml"/><Relationship Id="rId67" Type="http://schemas.openxmlformats.org/officeDocument/2006/relationships/tags" Target="../tags/tag709.xml"/><Relationship Id="rId20" Type="http://schemas.openxmlformats.org/officeDocument/2006/relationships/tags" Target="../tags/tag662.xml"/><Relationship Id="rId41" Type="http://schemas.openxmlformats.org/officeDocument/2006/relationships/tags" Target="../tags/tag683.xml"/><Relationship Id="rId54" Type="http://schemas.openxmlformats.org/officeDocument/2006/relationships/tags" Target="../tags/tag696.xml"/><Relationship Id="rId62" Type="http://schemas.openxmlformats.org/officeDocument/2006/relationships/tags" Target="../tags/tag704.xml"/><Relationship Id="rId70" Type="http://schemas.openxmlformats.org/officeDocument/2006/relationships/tags" Target="../tags/tag712.xml"/><Relationship Id="rId75" Type="http://schemas.openxmlformats.org/officeDocument/2006/relationships/tags" Target="../tags/tag717.xml"/><Relationship Id="rId83" Type="http://schemas.openxmlformats.org/officeDocument/2006/relationships/tags" Target="../tags/tag725.xml"/><Relationship Id="rId88" Type="http://schemas.openxmlformats.org/officeDocument/2006/relationships/tags" Target="../tags/tag730.xml"/><Relationship Id="rId91" Type="http://schemas.openxmlformats.org/officeDocument/2006/relationships/tags" Target="../tags/tag733.xml"/><Relationship Id="rId1" Type="http://schemas.openxmlformats.org/officeDocument/2006/relationships/tags" Target="../tags/tag643.xml"/><Relationship Id="rId6" Type="http://schemas.openxmlformats.org/officeDocument/2006/relationships/tags" Target="../tags/tag648.xml"/><Relationship Id="rId15" Type="http://schemas.openxmlformats.org/officeDocument/2006/relationships/tags" Target="../tags/tag657.xml"/><Relationship Id="rId23" Type="http://schemas.openxmlformats.org/officeDocument/2006/relationships/tags" Target="../tags/tag665.xml"/><Relationship Id="rId28" Type="http://schemas.openxmlformats.org/officeDocument/2006/relationships/tags" Target="../tags/tag670.xml"/><Relationship Id="rId36" Type="http://schemas.openxmlformats.org/officeDocument/2006/relationships/tags" Target="../tags/tag678.xml"/><Relationship Id="rId49" Type="http://schemas.openxmlformats.org/officeDocument/2006/relationships/tags" Target="../tags/tag691.xml"/><Relationship Id="rId57" Type="http://schemas.openxmlformats.org/officeDocument/2006/relationships/tags" Target="../tags/tag699.xml"/><Relationship Id="rId10" Type="http://schemas.openxmlformats.org/officeDocument/2006/relationships/tags" Target="../tags/tag652.xml"/><Relationship Id="rId31" Type="http://schemas.openxmlformats.org/officeDocument/2006/relationships/tags" Target="../tags/tag673.xml"/><Relationship Id="rId44" Type="http://schemas.openxmlformats.org/officeDocument/2006/relationships/tags" Target="../tags/tag686.xml"/><Relationship Id="rId52" Type="http://schemas.openxmlformats.org/officeDocument/2006/relationships/tags" Target="../tags/tag694.xml"/><Relationship Id="rId60" Type="http://schemas.openxmlformats.org/officeDocument/2006/relationships/tags" Target="../tags/tag702.xml"/><Relationship Id="rId65" Type="http://schemas.openxmlformats.org/officeDocument/2006/relationships/tags" Target="../tags/tag707.xml"/><Relationship Id="rId73" Type="http://schemas.openxmlformats.org/officeDocument/2006/relationships/tags" Target="../tags/tag715.xml"/><Relationship Id="rId78" Type="http://schemas.openxmlformats.org/officeDocument/2006/relationships/tags" Target="../tags/tag720.xml"/><Relationship Id="rId81" Type="http://schemas.openxmlformats.org/officeDocument/2006/relationships/tags" Target="../tags/tag723.xml"/><Relationship Id="rId86" Type="http://schemas.openxmlformats.org/officeDocument/2006/relationships/tags" Target="../tags/tag728.xml"/><Relationship Id="rId94" Type="http://schemas.openxmlformats.org/officeDocument/2006/relationships/tags" Target="../tags/tag736.xml"/><Relationship Id="rId4" Type="http://schemas.openxmlformats.org/officeDocument/2006/relationships/tags" Target="../tags/tag646.xml"/><Relationship Id="rId9" Type="http://schemas.openxmlformats.org/officeDocument/2006/relationships/tags" Target="../tags/tag651.xml"/><Relationship Id="rId13" Type="http://schemas.openxmlformats.org/officeDocument/2006/relationships/tags" Target="../tags/tag655.xml"/><Relationship Id="rId18" Type="http://schemas.openxmlformats.org/officeDocument/2006/relationships/tags" Target="../tags/tag660.xml"/><Relationship Id="rId39" Type="http://schemas.openxmlformats.org/officeDocument/2006/relationships/tags" Target="../tags/tag681.xml"/><Relationship Id="rId34" Type="http://schemas.openxmlformats.org/officeDocument/2006/relationships/tags" Target="../tags/tag676.xml"/><Relationship Id="rId50" Type="http://schemas.openxmlformats.org/officeDocument/2006/relationships/tags" Target="../tags/tag692.xml"/><Relationship Id="rId55" Type="http://schemas.openxmlformats.org/officeDocument/2006/relationships/tags" Target="../tags/tag697.xml"/><Relationship Id="rId76" Type="http://schemas.openxmlformats.org/officeDocument/2006/relationships/tags" Target="../tags/tag718.xml"/><Relationship Id="rId7" Type="http://schemas.openxmlformats.org/officeDocument/2006/relationships/tags" Target="../tags/tag649.xml"/><Relationship Id="rId71" Type="http://schemas.openxmlformats.org/officeDocument/2006/relationships/tags" Target="../tags/tag713.xml"/><Relationship Id="rId92" Type="http://schemas.openxmlformats.org/officeDocument/2006/relationships/tags" Target="../tags/tag734.xml"/><Relationship Id="rId2" Type="http://schemas.openxmlformats.org/officeDocument/2006/relationships/tags" Target="../tags/tag644.xml"/><Relationship Id="rId29" Type="http://schemas.openxmlformats.org/officeDocument/2006/relationships/tags" Target="../tags/tag671.xml"/><Relationship Id="rId24" Type="http://schemas.openxmlformats.org/officeDocument/2006/relationships/tags" Target="../tags/tag666.xml"/><Relationship Id="rId40" Type="http://schemas.openxmlformats.org/officeDocument/2006/relationships/tags" Target="../tags/tag682.xml"/><Relationship Id="rId45" Type="http://schemas.openxmlformats.org/officeDocument/2006/relationships/tags" Target="../tags/tag687.xml"/><Relationship Id="rId66" Type="http://schemas.openxmlformats.org/officeDocument/2006/relationships/tags" Target="../tags/tag708.xml"/><Relationship Id="rId87" Type="http://schemas.openxmlformats.org/officeDocument/2006/relationships/tags" Target="../tags/tag729.xml"/><Relationship Id="rId61" Type="http://schemas.openxmlformats.org/officeDocument/2006/relationships/tags" Target="../tags/tag703.xml"/><Relationship Id="rId82" Type="http://schemas.openxmlformats.org/officeDocument/2006/relationships/tags" Target="../tags/tag724.xml"/><Relationship Id="rId19" Type="http://schemas.openxmlformats.org/officeDocument/2006/relationships/tags" Target="../tags/tag661.xml"/><Relationship Id="rId14" Type="http://schemas.openxmlformats.org/officeDocument/2006/relationships/tags" Target="../tags/tag656.xml"/><Relationship Id="rId30" Type="http://schemas.openxmlformats.org/officeDocument/2006/relationships/tags" Target="../tags/tag672.xml"/><Relationship Id="rId35" Type="http://schemas.openxmlformats.org/officeDocument/2006/relationships/tags" Target="../tags/tag677.xml"/><Relationship Id="rId56" Type="http://schemas.openxmlformats.org/officeDocument/2006/relationships/tags" Target="../tags/tag698.xml"/><Relationship Id="rId77" Type="http://schemas.openxmlformats.org/officeDocument/2006/relationships/tags" Target="../tags/tag719.xml"/></Relationships>
</file>

<file path=ppt/slides/_rels/slide33.xml.rels><?xml version="1.0" encoding="UTF-8" standalone="yes"?>
<Relationships xmlns="http://schemas.openxmlformats.org/package/2006/relationships"><Relationship Id="rId117" Type="http://schemas.openxmlformats.org/officeDocument/2006/relationships/tags" Target="../tags/tag853.xml"/><Relationship Id="rId21" Type="http://schemas.openxmlformats.org/officeDocument/2006/relationships/tags" Target="../tags/tag757.xml"/><Relationship Id="rId42" Type="http://schemas.openxmlformats.org/officeDocument/2006/relationships/tags" Target="../tags/tag778.xml"/><Relationship Id="rId63" Type="http://schemas.openxmlformats.org/officeDocument/2006/relationships/tags" Target="../tags/tag799.xml"/><Relationship Id="rId84" Type="http://schemas.openxmlformats.org/officeDocument/2006/relationships/tags" Target="../tags/tag820.xml"/><Relationship Id="rId138" Type="http://schemas.openxmlformats.org/officeDocument/2006/relationships/tags" Target="../tags/tag874.xml"/><Relationship Id="rId159" Type="http://schemas.openxmlformats.org/officeDocument/2006/relationships/tags" Target="../tags/tag895.xml"/><Relationship Id="rId170" Type="http://schemas.openxmlformats.org/officeDocument/2006/relationships/tags" Target="../tags/tag906.xml"/><Relationship Id="rId107" Type="http://schemas.openxmlformats.org/officeDocument/2006/relationships/tags" Target="../tags/tag843.xml"/><Relationship Id="rId11" Type="http://schemas.openxmlformats.org/officeDocument/2006/relationships/tags" Target="../tags/tag747.xml"/><Relationship Id="rId32" Type="http://schemas.openxmlformats.org/officeDocument/2006/relationships/tags" Target="../tags/tag768.xml"/><Relationship Id="rId53" Type="http://schemas.openxmlformats.org/officeDocument/2006/relationships/tags" Target="../tags/tag789.xml"/><Relationship Id="rId74" Type="http://schemas.openxmlformats.org/officeDocument/2006/relationships/tags" Target="../tags/tag810.xml"/><Relationship Id="rId128" Type="http://schemas.openxmlformats.org/officeDocument/2006/relationships/tags" Target="../tags/tag864.xml"/><Relationship Id="rId149" Type="http://schemas.openxmlformats.org/officeDocument/2006/relationships/tags" Target="../tags/tag885.xml"/><Relationship Id="rId5" Type="http://schemas.openxmlformats.org/officeDocument/2006/relationships/tags" Target="../tags/tag741.xml"/><Relationship Id="rId95" Type="http://schemas.openxmlformats.org/officeDocument/2006/relationships/tags" Target="../tags/tag831.xml"/><Relationship Id="rId160" Type="http://schemas.openxmlformats.org/officeDocument/2006/relationships/tags" Target="../tags/tag896.xml"/><Relationship Id="rId181" Type="http://schemas.openxmlformats.org/officeDocument/2006/relationships/tags" Target="../tags/tag917.xml"/><Relationship Id="rId22" Type="http://schemas.openxmlformats.org/officeDocument/2006/relationships/tags" Target="../tags/tag758.xml"/><Relationship Id="rId43" Type="http://schemas.openxmlformats.org/officeDocument/2006/relationships/tags" Target="../tags/tag779.xml"/><Relationship Id="rId64" Type="http://schemas.openxmlformats.org/officeDocument/2006/relationships/tags" Target="../tags/tag800.xml"/><Relationship Id="rId118" Type="http://schemas.openxmlformats.org/officeDocument/2006/relationships/tags" Target="../tags/tag854.xml"/><Relationship Id="rId139" Type="http://schemas.openxmlformats.org/officeDocument/2006/relationships/tags" Target="../tags/tag875.xml"/><Relationship Id="rId85" Type="http://schemas.openxmlformats.org/officeDocument/2006/relationships/tags" Target="../tags/tag821.xml"/><Relationship Id="rId150" Type="http://schemas.openxmlformats.org/officeDocument/2006/relationships/tags" Target="../tags/tag886.xml"/><Relationship Id="rId171" Type="http://schemas.openxmlformats.org/officeDocument/2006/relationships/tags" Target="../tags/tag907.xml"/><Relationship Id="rId12" Type="http://schemas.openxmlformats.org/officeDocument/2006/relationships/tags" Target="../tags/tag748.xml"/><Relationship Id="rId33" Type="http://schemas.openxmlformats.org/officeDocument/2006/relationships/tags" Target="../tags/tag769.xml"/><Relationship Id="rId108" Type="http://schemas.openxmlformats.org/officeDocument/2006/relationships/tags" Target="../tags/tag844.xml"/><Relationship Id="rId129" Type="http://schemas.openxmlformats.org/officeDocument/2006/relationships/tags" Target="../tags/tag865.xml"/><Relationship Id="rId54" Type="http://schemas.openxmlformats.org/officeDocument/2006/relationships/tags" Target="../tags/tag790.xml"/><Relationship Id="rId75" Type="http://schemas.openxmlformats.org/officeDocument/2006/relationships/tags" Target="../tags/tag811.xml"/><Relationship Id="rId96" Type="http://schemas.openxmlformats.org/officeDocument/2006/relationships/tags" Target="../tags/tag832.xml"/><Relationship Id="rId140" Type="http://schemas.openxmlformats.org/officeDocument/2006/relationships/tags" Target="../tags/tag876.xml"/><Relationship Id="rId161" Type="http://schemas.openxmlformats.org/officeDocument/2006/relationships/tags" Target="../tags/tag897.xml"/><Relationship Id="rId182" Type="http://schemas.openxmlformats.org/officeDocument/2006/relationships/tags" Target="../tags/tag918.xml"/><Relationship Id="rId6" Type="http://schemas.openxmlformats.org/officeDocument/2006/relationships/tags" Target="../tags/tag742.xml"/><Relationship Id="rId23" Type="http://schemas.openxmlformats.org/officeDocument/2006/relationships/tags" Target="../tags/tag759.xml"/><Relationship Id="rId119" Type="http://schemas.openxmlformats.org/officeDocument/2006/relationships/tags" Target="../tags/tag855.xml"/><Relationship Id="rId44" Type="http://schemas.openxmlformats.org/officeDocument/2006/relationships/tags" Target="../tags/tag780.xml"/><Relationship Id="rId60" Type="http://schemas.openxmlformats.org/officeDocument/2006/relationships/tags" Target="../tags/tag796.xml"/><Relationship Id="rId65" Type="http://schemas.openxmlformats.org/officeDocument/2006/relationships/tags" Target="../tags/tag801.xml"/><Relationship Id="rId81" Type="http://schemas.openxmlformats.org/officeDocument/2006/relationships/tags" Target="../tags/tag817.xml"/><Relationship Id="rId86" Type="http://schemas.openxmlformats.org/officeDocument/2006/relationships/tags" Target="../tags/tag822.xml"/><Relationship Id="rId130" Type="http://schemas.openxmlformats.org/officeDocument/2006/relationships/tags" Target="../tags/tag866.xml"/><Relationship Id="rId135" Type="http://schemas.openxmlformats.org/officeDocument/2006/relationships/tags" Target="../tags/tag871.xml"/><Relationship Id="rId151" Type="http://schemas.openxmlformats.org/officeDocument/2006/relationships/tags" Target="../tags/tag887.xml"/><Relationship Id="rId156" Type="http://schemas.openxmlformats.org/officeDocument/2006/relationships/tags" Target="../tags/tag892.xml"/><Relationship Id="rId177" Type="http://schemas.openxmlformats.org/officeDocument/2006/relationships/tags" Target="../tags/tag913.xml"/><Relationship Id="rId172" Type="http://schemas.openxmlformats.org/officeDocument/2006/relationships/tags" Target="../tags/tag908.xml"/><Relationship Id="rId13" Type="http://schemas.openxmlformats.org/officeDocument/2006/relationships/tags" Target="../tags/tag749.xml"/><Relationship Id="rId18" Type="http://schemas.openxmlformats.org/officeDocument/2006/relationships/tags" Target="../tags/tag754.xml"/><Relationship Id="rId39" Type="http://schemas.openxmlformats.org/officeDocument/2006/relationships/tags" Target="../tags/tag775.xml"/><Relationship Id="rId109" Type="http://schemas.openxmlformats.org/officeDocument/2006/relationships/tags" Target="../tags/tag845.xml"/><Relationship Id="rId34" Type="http://schemas.openxmlformats.org/officeDocument/2006/relationships/tags" Target="../tags/tag770.xml"/><Relationship Id="rId50" Type="http://schemas.openxmlformats.org/officeDocument/2006/relationships/tags" Target="../tags/tag786.xml"/><Relationship Id="rId55" Type="http://schemas.openxmlformats.org/officeDocument/2006/relationships/tags" Target="../tags/tag791.xml"/><Relationship Id="rId76" Type="http://schemas.openxmlformats.org/officeDocument/2006/relationships/tags" Target="../tags/tag812.xml"/><Relationship Id="rId97" Type="http://schemas.openxmlformats.org/officeDocument/2006/relationships/tags" Target="../tags/tag833.xml"/><Relationship Id="rId104" Type="http://schemas.openxmlformats.org/officeDocument/2006/relationships/tags" Target="../tags/tag840.xml"/><Relationship Id="rId120" Type="http://schemas.openxmlformats.org/officeDocument/2006/relationships/tags" Target="../tags/tag856.xml"/><Relationship Id="rId125" Type="http://schemas.openxmlformats.org/officeDocument/2006/relationships/tags" Target="../tags/tag861.xml"/><Relationship Id="rId141" Type="http://schemas.openxmlformats.org/officeDocument/2006/relationships/tags" Target="../tags/tag877.xml"/><Relationship Id="rId146" Type="http://schemas.openxmlformats.org/officeDocument/2006/relationships/tags" Target="../tags/tag882.xml"/><Relationship Id="rId167" Type="http://schemas.openxmlformats.org/officeDocument/2006/relationships/tags" Target="../tags/tag903.xml"/><Relationship Id="rId7" Type="http://schemas.openxmlformats.org/officeDocument/2006/relationships/tags" Target="../tags/tag743.xml"/><Relationship Id="rId71" Type="http://schemas.openxmlformats.org/officeDocument/2006/relationships/tags" Target="../tags/tag807.xml"/><Relationship Id="rId92" Type="http://schemas.openxmlformats.org/officeDocument/2006/relationships/tags" Target="../tags/tag828.xml"/><Relationship Id="rId162" Type="http://schemas.openxmlformats.org/officeDocument/2006/relationships/tags" Target="../tags/tag898.xml"/><Relationship Id="rId183" Type="http://schemas.openxmlformats.org/officeDocument/2006/relationships/slideLayout" Target="../slideLayouts/slideLayout7.xml"/><Relationship Id="rId2" Type="http://schemas.openxmlformats.org/officeDocument/2006/relationships/tags" Target="../tags/tag738.xml"/><Relationship Id="rId29" Type="http://schemas.openxmlformats.org/officeDocument/2006/relationships/tags" Target="../tags/tag765.xml"/><Relationship Id="rId24" Type="http://schemas.openxmlformats.org/officeDocument/2006/relationships/tags" Target="../tags/tag760.xml"/><Relationship Id="rId40" Type="http://schemas.openxmlformats.org/officeDocument/2006/relationships/tags" Target="../tags/tag776.xml"/><Relationship Id="rId45" Type="http://schemas.openxmlformats.org/officeDocument/2006/relationships/tags" Target="../tags/tag781.xml"/><Relationship Id="rId66" Type="http://schemas.openxmlformats.org/officeDocument/2006/relationships/tags" Target="../tags/tag802.xml"/><Relationship Id="rId87" Type="http://schemas.openxmlformats.org/officeDocument/2006/relationships/tags" Target="../tags/tag823.xml"/><Relationship Id="rId110" Type="http://schemas.openxmlformats.org/officeDocument/2006/relationships/tags" Target="../tags/tag846.xml"/><Relationship Id="rId115" Type="http://schemas.openxmlformats.org/officeDocument/2006/relationships/tags" Target="../tags/tag851.xml"/><Relationship Id="rId131" Type="http://schemas.openxmlformats.org/officeDocument/2006/relationships/tags" Target="../tags/tag867.xml"/><Relationship Id="rId136" Type="http://schemas.openxmlformats.org/officeDocument/2006/relationships/tags" Target="../tags/tag872.xml"/><Relationship Id="rId157" Type="http://schemas.openxmlformats.org/officeDocument/2006/relationships/tags" Target="../tags/tag893.xml"/><Relationship Id="rId178" Type="http://schemas.openxmlformats.org/officeDocument/2006/relationships/tags" Target="../tags/tag914.xml"/><Relationship Id="rId61" Type="http://schemas.openxmlformats.org/officeDocument/2006/relationships/tags" Target="../tags/tag797.xml"/><Relationship Id="rId82" Type="http://schemas.openxmlformats.org/officeDocument/2006/relationships/tags" Target="../tags/tag818.xml"/><Relationship Id="rId152" Type="http://schemas.openxmlformats.org/officeDocument/2006/relationships/tags" Target="../tags/tag888.xml"/><Relationship Id="rId173" Type="http://schemas.openxmlformats.org/officeDocument/2006/relationships/tags" Target="../tags/tag909.xml"/><Relationship Id="rId19" Type="http://schemas.openxmlformats.org/officeDocument/2006/relationships/tags" Target="../tags/tag755.xml"/><Relationship Id="rId14" Type="http://schemas.openxmlformats.org/officeDocument/2006/relationships/tags" Target="../tags/tag750.xml"/><Relationship Id="rId30" Type="http://schemas.openxmlformats.org/officeDocument/2006/relationships/tags" Target="../tags/tag766.xml"/><Relationship Id="rId35" Type="http://schemas.openxmlformats.org/officeDocument/2006/relationships/tags" Target="../tags/tag771.xml"/><Relationship Id="rId56" Type="http://schemas.openxmlformats.org/officeDocument/2006/relationships/tags" Target="../tags/tag792.xml"/><Relationship Id="rId77" Type="http://schemas.openxmlformats.org/officeDocument/2006/relationships/tags" Target="../tags/tag813.xml"/><Relationship Id="rId100" Type="http://schemas.openxmlformats.org/officeDocument/2006/relationships/tags" Target="../tags/tag836.xml"/><Relationship Id="rId105" Type="http://schemas.openxmlformats.org/officeDocument/2006/relationships/tags" Target="../tags/tag841.xml"/><Relationship Id="rId126" Type="http://schemas.openxmlformats.org/officeDocument/2006/relationships/tags" Target="../tags/tag862.xml"/><Relationship Id="rId147" Type="http://schemas.openxmlformats.org/officeDocument/2006/relationships/tags" Target="../tags/tag883.xml"/><Relationship Id="rId168" Type="http://schemas.openxmlformats.org/officeDocument/2006/relationships/tags" Target="../tags/tag904.xml"/><Relationship Id="rId8" Type="http://schemas.openxmlformats.org/officeDocument/2006/relationships/tags" Target="../tags/tag744.xml"/><Relationship Id="rId51" Type="http://schemas.openxmlformats.org/officeDocument/2006/relationships/tags" Target="../tags/tag787.xml"/><Relationship Id="rId72" Type="http://schemas.openxmlformats.org/officeDocument/2006/relationships/tags" Target="../tags/tag808.xml"/><Relationship Id="rId93" Type="http://schemas.openxmlformats.org/officeDocument/2006/relationships/tags" Target="../tags/tag829.xml"/><Relationship Id="rId98" Type="http://schemas.openxmlformats.org/officeDocument/2006/relationships/tags" Target="../tags/tag834.xml"/><Relationship Id="rId121" Type="http://schemas.openxmlformats.org/officeDocument/2006/relationships/tags" Target="../tags/tag857.xml"/><Relationship Id="rId142" Type="http://schemas.openxmlformats.org/officeDocument/2006/relationships/tags" Target="../tags/tag878.xml"/><Relationship Id="rId163" Type="http://schemas.openxmlformats.org/officeDocument/2006/relationships/tags" Target="../tags/tag899.xml"/><Relationship Id="rId3" Type="http://schemas.openxmlformats.org/officeDocument/2006/relationships/tags" Target="../tags/tag739.xml"/><Relationship Id="rId25" Type="http://schemas.openxmlformats.org/officeDocument/2006/relationships/tags" Target="../tags/tag761.xml"/><Relationship Id="rId46" Type="http://schemas.openxmlformats.org/officeDocument/2006/relationships/tags" Target="../tags/tag782.xml"/><Relationship Id="rId67" Type="http://schemas.openxmlformats.org/officeDocument/2006/relationships/tags" Target="../tags/tag803.xml"/><Relationship Id="rId116" Type="http://schemas.openxmlformats.org/officeDocument/2006/relationships/tags" Target="../tags/tag852.xml"/><Relationship Id="rId137" Type="http://schemas.openxmlformats.org/officeDocument/2006/relationships/tags" Target="../tags/tag873.xml"/><Relationship Id="rId158" Type="http://schemas.openxmlformats.org/officeDocument/2006/relationships/tags" Target="../tags/tag894.xml"/><Relationship Id="rId20" Type="http://schemas.openxmlformats.org/officeDocument/2006/relationships/tags" Target="../tags/tag756.xml"/><Relationship Id="rId41" Type="http://schemas.openxmlformats.org/officeDocument/2006/relationships/tags" Target="../tags/tag777.xml"/><Relationship Id="rId62" Type="http://schemas.openxmlformats.org/officeDocument/2006/relationships/tags" Target="../tags/tag798.xml"/><Relationship Id="rId83" Type="http://schemas.openxmlformats.org/officeDocument/2006/relationships/tags" Target="../tags/tag819.xml"/><Relationship Id="rId88" Type="http://schemas.openxmlformats.org/officeDocument/2006/relationships/tags" Target="../tags/tag824.xml"/><Relationship Id="rId111" Type="http://schemas.openxmlformats.org/officeDocument/2006/relationships/tags" Target="../tags/tag847.xml"/><Relationship Id="rId132" Type="http://schemas.openxmlformats.org/officeDocument/2006/relationships/tags" Target="../tags/tag868.xml"/><Relationship Id="rId153" Type="http://schemas.openxmlformats.org/officeDocument/2006/relationships/tags" Target="../tags/tag889.xml"/><Relationship Id="rId174" Type="http://schemas.openxmlformats.org/officeDocument/2006/relationships/tags" Target="../tags/tag910.xml"/><Relationship Id="rId179" Type="http://schemas.openxmlformats.org/officeDocument/2006/relationships/tags" Target="../tags/tag915.xml"/><Relationship Id="rId15" Type="http://schemas.openxmlformats.org/officeDocument/2006/relationships/tags" Target="../tags/tag751.xml"/><Relationship Id="rId36" Type="http://schemas.openxmlformats.org/officeDocument/2006/relationships/tags" Target="../tags/tag772.xml"/><Relationship Id="rId57" Type="http://schemas.openxmlformats.org/officeDocument/2006/relationships/tags" Target="../tags/tag793.xml"/><Relationship Id="rId106" Type="http://schemas.openxmlformats.org/officeDocument/2006/relationships/tags" Target="../tags/tag842.xml"/><Relationship Id="rId127" Type="http://schemas.openxmlformats.org/officeDocument/2006/relationships/tags" Target="../tags/tag863.xml"/><Relationship Id="rId10" Type="http://schemas.openxmlformats.org/officeDocument/2006/relationships/tags" Target="../tags/tag746.xml"/><Relationship Id="rId31" Type="http://schemas.openxmlformats.org/officeDocument/2006/relationships/tags" Target="../tags/tag767.xml"/><Relationship Id="rId52" Type="http://schemas.openxmlformats.org/officeDocument/2006/relationships/tags" Target="../tags/tag788.xml"/><Relationship Id="rId73" Type="http://schemas.openxmlformats.org/officeDocument/2006/relationships/tags" Target="../tags/tag809.xml"/><Relationship Id="rId78" Type="http://schemas.openxmlformats.org/officeDocument/2006/relationships/tags" Target="../tags/tag814.xml"/><Relationship Id="rId94" Type="http://schemas.openxmlformats.org/officeDocument/2006/relationships/tags" Target="../tags/tag830.xml"/><Relationship Id="rId99" Type="http://schemas.openxmlformats.org/officeDocument/2006/relationships/tags" Target="../tags/tag835.xml"/><Relationship Id="rId101" Type="http://schemas.openxmlformats.org/officeDocument/2006/relationships/tags" Target="../tags/tag837.xml"/><Relationship Id="rId122" Type="http://schemas.openxmlformats.org/officeDocument/2006/relationships/tags" Target="../tags/tag858.xml"/><Relationship Id="rId143" Type="http://schemas.openxmlformats.org/officeDocument/2006/relationships/tags" Target="../tags/tag879.xml"/><Relationship Id="rId148" Type="http://schemas.openxmlformats.org/officeDocument/2006/relationships/tags" Target="../tags/tag884.xml"/><Relationship Id="rId164" Type="http://schemas.openxmlformats.org/officeDocument/2006/relationships/tags" Target="../tags/tag900.xml"/><Relationship Id="rId169" Type="http://schemas.openxmlformats.org/officeDocument/2006/relationships/tags" Target="../tags/tag905.xml"/><Relationship Id="rId4" Type="http://schemas.openxmlformats.org/officeDocument/2006/relationships/tags" Target="../tags/tag740.xml"/><Relationship Id="rId9" Type="http://schemas.openxmlformats.org/officeDocument/2006/relationships/tags" Target="../tags/tag745.xml"/><Relationship Id="rId180" Type="http://schemas.openxmlformats.org/officeDocument/2006/relationships/tags" Target="../tags/tag916.xml"/><Relationship Id="rId26" Type="http://schemas.openxmlformats.org/officeDocument/2006/relationships/tags" Target="../tags/tag762.xml"/><Relationship Id="rId47" Type="http://schemas.openxmlformats.org/officeDocument/2006/relationships/tags" Target="../tags/tag783.xml"/><Relationship Id="rId68" Type="http://schemas.openxmlformats.org/officeDocument/2006/relationships/tags" Target="../tags/tag804.xml"/><Relationship Id="rId89" Type="http://schemas.openxmlformats.org/officeDocument/2006/relationships/tags" Target="../tags/tag825.xml"/><Relationship Id="rId112" Type="http://schemas.openxmlformats.org/officeDocument/2006/relationships/tags" Target="../tags/tag848.xml"/><Relationship Id="rId133" Type="http://schemas.openxmlformats.org/officeDocument/2006/relationships/tags" Target="../tags/tag869.xml"/><Relationship Id="rId154" Type="http://schemas.openxmlformats.org/officeDocument/2006/relationships/tags" Target="../tags/tag890.xml"/><Relationship Id="rId175" Type="http://schemas.openxmlformats.org/officeDocument/2006/relationships/tags" Target="../tags/tag911.xml"/><Relationship Id="rId16" Type="http://schemas.openxmlformats.org/officeDocument/2006/relationships/tags" Target="../tags/tag752.xml"/><Relationship Id="rId37" Type="http://schemas.openxmlformats.org/officeDocument/2006/relationships/tags" Target="../tags/tag773.xml"/><Relationship Id="rId58" Type="http://schemas.openxmlformats.org/officeDocument/2006/relationships/tags" Target="../tags/tag794.xml"/><Relationship Id="rId79" Type="http://schemas.openxmlformats.org/officeDocument/2006/relationships/tags" Target="../tags/tag815.xml"/><Relationship Id="rId102" Type="http://schemas.openxmlformats.org/officeDocument/2006/relationships/tags" Target="../tags/tag838.xml"/><Relationship Id="rId123" Type="http://schemas.openxmlformats.org/officeDocument/2006/relationships/tags" Target="../tags/tag859.xml"/><Relationship Id="rId144" Type="http://schemas.openxmlformats.org/officeDocument/2006/relationships/tags" Target="../tags/tag880.xml"/><Relationship Id="rId90" Type="http://schemas.openxmlformats.org/officeDocument/2006/relationships/tags" Target="../tags/tag826.xml"/><Relationship Id="rId165" Type="http://schemas.openxmlformats.org/officeDocument/2006/relationships/tags" Target="../tags/tag901.xml"/><Relationship Id="rId27" Type="http://schemas.openxmlformats.org/officeDocument/2006/relationships/tags" Target="../tags/tag763.xml"/><Relationship Id="rId48" Type="http://schemas.openxmlformats.org/officeDocument/2006/relationships/tags" Target="../tags/tag784.xml"/><Relationship Id="rId69" Type="http://schemas.openxmlformats.org/officeDocument/2006/relationships/tags" Target="../tags/tag805.xml"/><Relationship Id="rId113" Type="http://schemas.openxmlformats.org/officeDocument/2006/relationships/tags" Target="../tags/tag849.xml"/><Relationship Id="rId134" Type="http://schemas.openxmlformats.org/officeDocument/2006/relationships/tags" Target="../tags/tag870.xml"/><Relationship Id="rId80" Type="http://schemas.openxmlformats.org/officeDocument/2006/relationships/tags" Target="../tags/tag816.xml"/><Relationship Id="rId155" Type="http://schemas.openxmlformats.org/officeDocument/2006/relationships/tags" Target="../tags/tag891.xml"/><Relationship Id="rId176" Type="http://schemas.openxmlformats.org/officeDocument/2006/relationships/tags" Target="../tags/tag912.xml"/><Relationship Id="rId17" Type="http://schemas.openxmlformats.org/officeDocument/2006/relationships/tags" Target="../tags/tag753.xml"/><Relationship Id="rId38" Type="http://schemas.openxmlformats.org/officeDocument/2006/relationships/tags" Target="../tags/tag774.xml"/><Relationship Id="rId59" Type="http://schemas.openxmlformats.org/officeDocument/2006/relationships/tags" Target="../tags/tag795.xml"/><Relationship Id="rId103" Type="http://schemas.openxmlformats.org/officeDocument/2006/relationships/tags" Target="../tags/tag839.xml"/><Relationship Id="rId124" Type="http://schemas.openxmlformats.org/officeDocument/2006/relationships/tags" Target="../tags/tag860.xml"/><Relationship Id="rId70" Type="http://schemas.openxmlformats.org/officeDocument/2006/relationships/tags" Target="../tags/tag806.xml"/><Relationship Id="rId91" Type="http://schemas.openxmlformats.org/officeDocument/2006/relationships/tags" Target="../tags/tag827.xml"/><Relationship Id="rId145" Type="http://schemas.openxmlformats.org/officeDocument/2006/relationships/tags" Target="../tags/tag881.xml"/><Relationship Id="rId166" Type="http://schemas.openxmlformats.org/officeDocument/2006/relationships/tags" Target="../tags/tag902.xml"/><Relationship Id="rId1" Type="http://schemas.openxmlformats.org/officeDocument/2006/relationships/tags" Target="../tags/tag737.xml"/><Relationship Id="rId28" Type="http://schemas.openxmlformats.org/officeDocument/2006/relationships/tags" Target="../tags/tag764.xml"/><Relationship Id="rId49" Type="http://schemas.openxmlformats.org/officeDocument/2006/relationships/tags" Target="../tags/tag785.xml"/><Relationship Id="rId114" Type="http://schemas.openxmlformats.org/officeDocument/2006/relationships/tags" Target="../tags/tag850.xml"/></Relationships>
</file>

<file path=ppt/slides/_rels/slide34.xml.rels><?xml version="1.0" encoding="UTF-8" standalone="yes"?>
<Relationships xmlns="http://schemas.openxmlformats.org/package/2006/relationships"><Relationship Id="rId13" Type="http://schemas.openxmlformats.org/officeDocument/2006/relationships/tags" Target="../tags/tag931.xml"/><Relationship Id="rId18" Type="http://schemas.openxmlformats.org/officeDocument/2006/relationships/tags" Target="../tags/tag936.xml"/><Relationship Id="rId26" Type="http://schemas.openxmlformats.org/officeDocument/2006/relationships/tags" Target="../tags/tag944.xml"/><Relationship Id="rId3" Type="http://schemas.openxmlformats.org/officeDocument/2006/relationships/tags" Target="../tags/tag921.xml"/><Relationship Id="rId21" Type="http://schemas.openxmlformats.org/officeDocument/2006/relationships/tags" Target="../tags/tag939.xml"/><Relationship Id="rId34" Type="http://schemas.openxmlformats.org/officeDocument/2006/relationships/tags" Target="../tags/tag952.xml"/><Relationship Id="rId7" Type="http://schemas.openxmlformats.org/officeDocument/2006/relationships/tags" Target="../tags/tag925.xml"/><Relationship Id="rId12" Type="http://schemas.openxmlformats.org/officeDocument/2006/relationships/tags" Target="../tags/tag930.xml"/><Relationship Id="rId17" Type="http://schemas.openxmlformats.org/officeDocument/2006/relationships/tags" Target="../tags/tag935.xml"/><Relationship Id="rId25" Type="http://schemas.openxmlformats.org/officeDocument/2006/relationships/tags" Target="../tags/tag943.xml"/><Relationship Id="rId33" Type="http://schemas.openxmlformats.org/officeDocument/2006/relationships/tags" Target="../tags/tag951.xml"/><Relationship Id="rId2" Type="http://schemas.openxmlformats.org/officeDocument/2006/relationships/tags" Target="../tags/tag920.xml"/><Relationship Id="rId16" Type="http://schemas.openxmlformats.org/officeDocument/2006/relationships/tags" Target="../tags/tag934.xml"/><Relationship Id="rId20" Type="http://schemas.openxmlformats.org/officeDocument/2006/relationships/tags" Target="../tags/tag938.xml"/><Relationship Id="rId29" Type="http://schemas.openxmlformats.org/officeDocument/2006/relationships/tags" Target="../tags/tag947.xml"/><Relationship Id="rId1" Type="http://schemas.openxmlformats.org/officeDocument/2006/relationships/tags" Target="../tags/tag919.xml"/><Relationship Id="rId6" Type="http://schemas.openxmlformats.org/officeDocument/2006/relationships/tags" Target="../tags/tag924.xml"/><Relationship Id="rId11" Type="http://schemas.openxmlformats.org/officeDocument/2006/relationships/tags" Target="../tags/tag929.xml"/><Relationship Id="rId24" Type="http://schemas.openxmlformats.org/officeDocument/2006/relationships/tags" Target="../tags/tag942.xml"/><Relationship Id="rId32" Type="http://schemas.openxmlformats.org/officeDocument/2006/relationships/tags" Target="../tags/tag950.xml"/><Relationship Id="rId5" Type="http://schemas.openxmlformats.org/officeDocument/2006/relationships/tags" Target="../tags/tag923.xml"/><Relationship Id="rId15" Type="http://schemas.openxmlformats.org/officeDocument/2006/relationships/tags" Target="../tags/tag933.xml"/><Relationship Id="rId23" Type="http://schemas.openxmlformats.org/officeDocument/2006/relationships/tags" Target="../tags/tag941.xml"/><Relationship Id="rId28" Type="http://schemas.openxmlformats.org/officeDocument/2006/relationships/tags" Target="../tags/tag946.xml"/><Relationship Id="rId10" Type="http://schemas.openxmlformats.org/officeDocument/2006/relationships/tags" Target="../tags/tag928.xml"/><Relationship Id="rId19" Type="http://schemas.openxmlformats.org/officeDocument/2006/relationships/tags" Target="../tags/tag937.xml"/><Relationship Id="rId31" Type="http://schemas.openxmlformats.org/officeDocument/2006/relationships/tags" Target="../tags/tag949.xml"/><Relationship Id="rId4" Type="http://schemas.openxmlformats.org/officeDocument/2006/relationships/tags" Target="../tags/tag922.xml"/><Relationship Id="rId9" Type="http://schemas.openxmlformats.org/officeDocument/2006/relationships/tags" Target="../tags/tag927.xml"/><Relationship Id="rId14" Type="http://schemas.openxmlformats.org/officeDocument/2006/relationships/tags" Target="../tags/tag932.xml"/><Relationship Id="rId22" Type="http://schemas.openxmlformats.org/officeDocument/2006/relationships/tags" Target="../tags/tag940.xml"/><Relationship Id="rId27" Type="http://schemas.openxmlformats.org/officeDocument/2006/relationships/tags" Target="../tags/tag945.xml"/><Relationship Id="rId30" Type="http://schemas.openxmlformats.org/officeDocument/2006/relationships/tags" Target="../tags/tag948.xml"/><Relationship Id="rId35" Type="http://schemas.openxmlformats.org/officeDocument/2006/relationships/slideLayout" Target="../slideLayouts/slideLayout7.xml"/><Relationship Id="rId8" Type="http://schemas.openxmlformats.org/officeDocument/2006/relationships/tags" Target="../tags/tag926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tags" Target="../tags/tag960.xml"/><Relationship Id="rId13" Type="http://schemas.openxmlformats.org/officeDocument/2006/relationships/tags" Target="../tags/tag965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955.xml"/><Relationship Id="rId7" Type="http://schemas.openxmlformats.org/officeDocument/2006/relationships/tags" Target="../tags/tag959.xml"/><Relationship Id="rId12" Type="http://schemas.openxmlformats.org/officeDocument/2006/relationships/tags" Target="../tags/tag964.xml"/><Relationship Id="rId17" Type="http://schemas.openxmlformats.org/officeDocument/2006/relationships/tags" Target="../tags/tag969.xml"/><Relationship Id="rId2" Type="http://schemas.openxmlformats.org/officeDocument/2006/relationships/tags" Target="../tags/tag954.xml"/><Relationship Id="rId16" Type="http://schemas.openxmlformats.org/officeDocument/2006/relationships/tags" Target="../tags/tag968.xml"/><Relationship Id="rId1" Type="http://schemas.openxmlformats.org/officeDocument/2006/relationships/tags" Target="../tags/tag953.xml"/><Relationship Id="rId6" Type="http://schemas.openxmlformats.org/officeDocument/2006/relationships/tags" Target="../tags/tag958.xml"/><Relationship Id="rId11" Type="http://schemas.openxmlformats.org/officeDocument/2006/relationships/tags" Target="../tags/tag963.xml"/><Relationship Id="rId5" Type="http://schemas.openxmlformats.org/officeDocument/2006/relationships/tags" Target="../tags/tag957.xml"/><Relationship Id="rId15" Type="http://schemas.openxmlformats.org/officeDocument/2006/relationships/tags" Target="../tags/tag967.xml"/><Relationship Id="rId10" Type="http://schemas.openxmlformats.org/officeDocument/2006/relationships/tags" Target="../tags/tag962.xml"/><Relationship Id="rId4" Type="http://schemas.openxmlformats.org/officeDocument/2006/relationships/tags" Target="../tags/tag956.xml"/><Relationship Id="rId9" Type="http://schemas.openxmlformats.org/officeDocument/2006/relationships/tags" Target="../tags/tag961.xml"/><Relationship Id="rId14" Type="http://schemas.openxmlformats.org/officeDocument/2006/relationships/tags" Target="../tags/tag966.xml"/></Relationships>
</file>

<file path=ppt/slides/_rels/slide36.xml.rels><?xml version="1.0" encoding="UTF-8" standalone="yes"?>
<Relationships xmlns="http://schemas.openxmlformats.org/package/2006/relationships"><Relationship Id="rId117" Type="http://schemas.openxmlformats.org/officeDocument/2006/relationships/tags" Target="../tags/tag1086.xml"/><Relationship Id="rId21" Type="http://schemas.openxmlformats.org/officeDocument/2006/relationships/tags" Target="../tags/tag990.xml"/><Relationship Id="rId42" Type="http://schemas.openxmlformats.org/officeDocument/2006/relationships/tags" Target="../tags/tag1011.xml"/><Relationship Id="rId63" Type="http://schemas.openxmlformats.org/officeDocument/2006/relationships/tags" Target="../tags/tag1032.xml"/><Relationship Id="rId84" Type="http://schemas.openxmlformats.org/officeDocument/2006/relationships/tags" Target="../tags/tag1053.xml"/><Relationship Id="rId138" Type="http://schemas.openxmlformats.org/officeDocument/2006/relationships/tags" Target="../tags/tag1107.xml"/><Relationship Id="rId159" Type="http://schemas.openxmlformats.org/officeDocument/2006/relationships/tags" Target="../tags/tag1128.xml"/><Relationship Id="rId170" Type="http://schemas.openxmlformats.org/officeDocument/2006/relationships/tags" Target="../tags/tag1139.xml"/><Relationship Id="rId191" Type="http://schemas.openxmlformats.org/officeDocument/2006/relationships/tags" Target="../tags/tag1160.xml"/><Relationship Id="rId205" Type="http://schemas.openxmlformats.org/officeDocument/2006/relationships/tags" Target="../tags/tag1174.xml"/><Relationship Id="rId107" Type="http://schemas.openxmlformats.org/officeDocument/2006/relationships/tags" Target="../tags/tag1076.xml"/><Relationship Id="rId11" Type="http://schemas.openxmlformats.org/officeDocument/2006/relationships/tags" Target="../tags/tag980.xml"/><Relationship Id="rId32" Type="http://schemas.openxmlformats.org/officeDocument/2006/relationships/tags" Target="../tags/tag1001.xml"/><Relationship Id="rId53" Type="http://schemas.openxmlformats.org/officeDocument/2006/relationships/tags" Target="../tags/tag1022.xml"/><Relationship Id="rId74" Type="http://schemas.openxmlformats.org/officeDocument/2006/relationships/tags" Target="../tags/tag1043.xml"/><Relationship Id="rId128" Type="http://schemas.openxmlformats.org/officeDocument/2006/relationships/tags" Target="../tags/tag1097.xml"/><Relationship Id="rId149" Type="http://schemas.openxmlformats.org/officeDocument/2006/relationships/tags" Target="../tags/tag1118.xml"/><Relationship Id="rId5" Type="http://schemas.openxmlformats.org/officeDocument/2006/relationships/tags" Target="../tags/tag974.xml"/><Relationship Id="rId95" Type="http://schemas.openxmlformats.org/officeDocument/2006/relationships/tags" Target="../tags/tag1064.xml"/><Relationship Id="rId160" Type="http://schemas.openxmlformats.org/officeDocument/2006/relationships/tags" Target="../tags/tag1129.xml"/><Relationship Id="rId181" Type="http://schemas.openxmlformats.org/officeDocument/2006/relationships/tags" Target="../tags/tag1150.xml"/><Relationship Id="rId216" Type="http://schemas.openxmlformats.org/officeDocument/2006/relationships/tags" Target="../tags/tag1185.xml"/><Relationship Id="rId22" Type="http://schemas.openxmlformats.org/officeDocument/2006/relationships/tags" Target="../tags/tag991.xml"/><Relationship Id="rId43" Type="http://schemas.openxmlformats.org/officeDocument/2006/relationships/tags" Target="../tags/tag1012.xml"/><Relationship Id="rId64" Type="http://schemas.openxmlformats.org/officeDocument/2006/relationships/tags" Target="../tags/tag1033.xml"/><Relationship Id="rId118" Type="http://schemas.openxmlformats.org/officeDocument/2006/relationships/tags" Target="../tags/tag1087.xml"/><Relationship Id="rId139" Type="http://schemas.openxmlformats.org/officeDocument/2006/relationships/tags" Target="../tags/tag1108.xml"/><Relationship Id="rId85" Type="http://schemas.openxmlformats.org/officeDocument/2006/relationships/tags" Target="../tags/tag1054.xml"/><Relationship Id="rId150" Type="http://schemas.openxmlformats.org/officeDocument/2006/relationships/tags" Target="../tags/tag1119.xml"/><Relationship Id="rId171" Type="http://schemas.openxmlformats.org/officeDocument/2006/relationships/tags" Target="../tags/tag1140.xml"/><Relationship Id="rId192" Type="http://schemas.openxmlformats.org/officeDocument/2006/relationships/tags" Target="../tags/tag1161.xml"/><Relationship Id="rId206" Type="http://schemas.openxmlformats.org/officeDocument/2006/relationships/tags" Target="../tags/tag1175.xml"/><Relationship Id="rId12" Type="http://schemas.openxmlformats.org/officeDocument/2006/relationships/tags" Target="../tags/tag981.xml"/><Relationship Id="rId33" Type="http://schemas.openxmlformats.org/officeDocument/2006/relationships/tags" Target="../tags/tag1002.xml"/><Relationship Id="rId108" Type="http://schemas.openxmlformats.org/officeDocument/2006/relationships/tags" Target="../tags/tag1077.xml"/><Relationship Id="rId129" Type="http://schemas.openxmlformats.org/officeDocument/2006/relationships/tags" Target="../tags/tag1098.xml"/><Relationship Id="rId54" Type="http://schemas.openxmlformats.org/officeDocument/2006/relationships/tags" Target="../tags/tag1023.xml"/><Relationship Id="rId75" Type="http://schemas.openxmlformats.org/officeDocument/2006/relationships/tags" Target="../tags/tag1044.xml"/><Relationship Id="rId96" Type="http://schemas.openxmlformats.org/officeDocument/2006/relationships/tags" Target="../tags/tag1065.xml"/><Relationship Id="rId140" Type="http://schemas.openxmlformats.org/officeDocument/2006/relationships/tags" Target="../tags/tag1109.xml"/><Relationship Id="rId161" Type="http://schemas.openxmlformats.org/officeDocument/2006/relationships/tags" Target="../tags/tag1130.xml"/><Relationship Id="rId182" Type="http://schemas.openxmlformats.org/officeDocument/2006/relationships/tags" Target="../tags/tag1151.xml"/><Relationship Id="rId217" Type="http://schemas.openxmlformats.org/officeDocument/2006/relationships/slideLayout" Target="../slideLayouts/slideLayout7.xml"/><Relationship Id="rId6" Type="http://schemas.openxmlformats.org/officeDocument/2006/relationships/tags" Target="../tags/tag975.xml"/><Relationship Id="rId23" Type="http://schemas.openxmlformats.org/officeDocument/2006/relationships/tags" Target="../tags/tag992.xml"/><Relationship Id="rId119" Type="http://schemas.openxmlformats.org/officeDocument/2006/relationships/tags" Target="../tags/tag1088.xml"/><Relationship Id="rId44" Type="http://schemas.openxmlformats.org/officeDocument/2006/relationships/tags" Target="../tags/tag1013.xml"/><Relationship Id="rId65" Type="http://schemas.openxmlformats.org/officeDocument/2006/relationships/tags" Target="../tags/tag1034.xml"/><Relationship Id="rId86" Type="http://schemas.openxmlformats.org/officeDocument/2006/relationships/tags" Target="../tags/tag1055.xml"/><Relationship Id="rId130" Type="http://schemas.openxmlformats.org/officeDocument/2006/relationships/tags" Target="../tags/tag1099.xml"/><Relationship Id="rId151" Type="http://schemas.openxmlformats.org/officeDocument/2006/relationships/tags" Target="../tags/tag1120.xml"/><Relationship Id="rId172" Type="http://schemas.openxmlformats.org/officeDocument/2006/relationships/tags" Target="../tags/tag1141.xml"/><Relationship Id="rId193" Type="http://schemas.openxmlformats.org/officeDocument/2006/relationships/tags" Target="../tags/tag1162.xml"/><Relationship Id="rId207" Type="http://schemas.openxmlformats.org/officeDocument/2006/relationships/tags" Target="../tags/tag1176.xml"/><Relationship Id="rId13" Type="http://schemas.openxmlformats.org/officeDocument/2006/relationships/tags" Target="../tags/tag982.xml"/><Relationship Id="rId109" Type="http://schemas.openxmlformats.org/officeDocument/2006/relationships/tags" Target="../tags/tag1078.xml"/><Relationship Id="rId34" Type="http://schemas.openxmlformats.org/officeDocument/2006/relationships/tags" Target="../tags/tag1003.xml"/><Relationship Id="rId55" Type="http://schemas.openxmlformats.org/officeDocument/2006/relationships/tags" Target="../tags/tag1024.xml"/><Relationship Id="rId76" Type="http://schemas.openxmlformats.org/officeDocument/2006/relationships/tags" Target="../tags/tag1045.xml"/><Relationship Id="rId97" Type="http://schemas.openxmlformats.org/officeDocument/2006/relationships/tags" Target="../tags/tag1066.xml"/><Relationship Id="rId120" Type="http://schemas.openxmlformats.org/officeDocument/2006/relationships/tags" Target="../tags/tag1089.xml"/><Relationship Id="rId141" Type="http://schemas.openxmlformats.org/officeDocument/2006/relationships/tags" Target="../tags/tag1110.xml"/><Relationship Id="rId7" Type="http://schemas.openxmlformats.org/officeDocument/2006/relationships/tags" Target="../tags/tag976.xml"/><Relationship Id="rId162" Type="http://schemas.openxmlformats.org/officeDocument/2006/relationships/tags" Target="../tags/tag1131.xml"/><Relationship Id="rId183" Type="http://schemas.openxmlformats.org/officeDocument/2006/relationships/tags" Target="../tags/tag1152.xml"/><Relationship Id="rId24" Type="http://schemas.openxmlformats.org/officeDocument/2006/relationships/tags" Target="../tags/tag993.xml"/><Relationship Id="rId45" Type="http://schemas.openxmlformats.org/officeDocument/2006/relationships/tags" Target="../tags/tag1014.xml"/><Relationship Id="rId66" Type="http://schemas.openxmlformats.org/officeDocument/2006/relationships/tags" Target="../tags/tag1035.xml"/><Relationship Id="rId87" Type="http://schemas.openxmlformats.org/officeDocument/2006/relationships/tags" Target="../tags/tag1056.xml"/><Relationship Id="rId110" Type="http://schemas.openxmlformats.org/officeDocument/2006/relationships/tags" Target="../tags/tag1079.xml"/><Relationship Id="rId131" Type="http://schemas.openxmlformats.org/officeDocument/2006/relationships/tags" Target="../tags/tag1100.xml"/><Relationship Id="rId152" Type="http://schemas.openxmlformats.org/officeDocument/2006/relationships/tags" Target="../tags/tag1121.xml"/><Relationship Id="rId173" Type="http://schemas.openxmlformats.org/officeDocument/2006/relationships/tags" Target="../tags/tag1142.xml"/><Relationship Id="rId194" Type="http://schemas.openxmlformats.org/officeDocument/2006/relationships/tags" Target="../tags/tag1163.xml"/><Relationship Id="rId208" Type="http://schemas.openxmlformats.org/officeDocument/2006/relationships/tags" Target="../tags/tag1177.xml"/><Relationship Id="rId14" Type="http://schemas.openxmlformats.org/officeDocument/2006/relationships/tags" Target="../tags/tag983.xml"/><Relationship Id="rId30" Type="http://schemas.openxmlformats.org/officeDocument/2006/relationships/tags" Target="../tags/tag999.xml"/><Relationship Id="rId35" Type="http://schemas.openxmlformats.org/officeDocument/2006/relationships/tags" Target="../tags/tag1004.xml"/><Relationship Id="rId56" Type="http://schemas.openxmlformats.org/officeDocument/2006/relationships/tags" Target="../tags/tag1025.xml"/><Relationship Id="rId77" Type="http://schemas.openxmlformats.org/officeDocument/2006/relationships/tags" Target="../tags/tag1046.xml"/><Relationship Id="rId100" Type="http://schemas.openxmlformats.org/officeDocument/2006/relationships/tags" Target="../tags/tag1069.xml"/><Relationship Id="rId105" Type="http://schemas.openxmlformats.org/officeDocument/2006/relationships/tags" Target="../tags/tag1074.xml"/><Relationship Id="rId126" Type="http://schemas.openxmlformats.org/officeDocument/2006/relationships/tags" Target="../tags/tag1095.xml"/><Relationship Id="rId147" Type="http://schemas.openxmlformats.org/officeDocument/2006/relationships/tags" Target="../tags/tag1116.xml"/><Relationship Id="rId168" Type="http://schemas.openxmlformats.org/officeDocument/2006/relationships/tags" Target="../tags/tag1137.xml"/><Relationship Id="rId8" Type="http://schemas.openxmlformats.org/officeDocument/2006/relationships/tags" Target="../tags/tag977.xml"/><Relationship Id="rId51" Type="http://schemas.openxmlformats.org/officeDocument/2006/relationships/tags" Target="../tags/tag1020.xml"/><Relationship Id="rId72" Type="http://schemas.openxmlformats.org/officeDocument/2006/relationships/tags" Target="../tags/tag1041.xml"/><Relationship Id="rId93" Type="http://schemas.openxmlformats.org/officeDocument/2006/relationships/tags" Target="../tags/tag1062.xml"/><Relationship Id="rId98" Type="http://schemas.openxmlformats.org/officeDocument/2006/relationships/tags" Target="../tags/tag1067.xml"/><Relationship Id="rId121" Type="http://schemas.openxmlformats.org/officeDocument/2006/relationships/tags" Target="../tags/tag1090.xml"/><Relationship Id="rId142" Type="http://schemas.openxmlformats.org/officeDocument/2006/relationships/tags" Target="../tags/tag1111.xml"/><Relationship Id="rId163" Type="http://schemas.openxmlformats.org/officeDocument/2006/relationships/tags" Target="../tags/tag1132.xml"/><Relationship Id="rId184" Type="http://schemas.openxmlformats.org/officeDocument/2006/relationships/tags" Target="../tags/tag1153.xml"/><Relationship Id="rId189" Type="http://schemas.openxmlformats.org/officeDocument/2006/relationships/tags" Target="../tags/tag1158.xml"/><Relationship Id="rId3" Type="http://schemas.openxmlformats.org/officeDocument/2006/relationships/tags" Target="../tags/tag972.xml"/><Relationship Id="rId214" Type="http://schemas.openxmlformats.org/officeDocument/2006/relationships/tags" Target="../tags/tag1183.xml"/><Relationship Id="rId25" Type="http://schemas.openxmlformats.org/officeDocument/2006/relationships/tags" Target="../tags/tag994.xml"/><Relationship Id="rId46" Type="http://schemas.openxmlformats.org/officeDocument/2006/relationships/tags" Target="../tags/tag1015.xml"/><Relationship Id="rId67" Type="http://schemas.openxmlformats.org/officeDocument/2006/relationships/tags" Target="../tags/tag1036.xml"/><Relationship Id="rId116" Type="http://schemas.openxmlformats.org/officeDocument/2006/relationships/tags" Target="../tags/tag1085.xml"/><Relationship Id="rId137" Type="http://schemas.openxmlformats.org/officeDocument/2006/relationships/tags" Target="../tags/tag1106.xml"/><Relationship Id="rId158" Type="http://schemas.openxmlformats.org/officeDocument/2006/relationships/tags" Target="../tags/tag1127.xml"/><Relationship Id="rId20" Type="http://schemas.openxmlformats.org/officeDocument/2006/relationships/tags" Target="../tags/tag989.xml"/><Relationship Id="rId41" Type="http://schemas.openxmlformats.org/officeDocument/2006/relationships/tags" Target="../tags/tag1010.xml"/><Relationship Id="rId62" Type="http://schemas.openxmlformats.org/officeDocument/2006/relationships/tags" Target="../tags/tag1031.xml"/><Relationship Id="rId83" Type="http://schemas.openxmlformats.org/officeDocument/2006/relationships/tags" Target="../tags/tag1052.xml"/><Relationship Id="rId88" Type="http://schemas.openxmlformats.org/officeDocument/2006/relationships/tags" Target="../tags/tag1057.xml"/><Relationship Id="rId111" Type="http://schemas.openxmlformats.org/officeDocument/2006/relationships/tags" Target="../tags/tag1080.xml"/><Relationship Id="rId132" Type="http://schemas.openxmlformats.org/officeDocument/2006/relationships/tags" Target="../tags/tag1101.xml"/><Relationship Id="rId153" Type="http://schemas.openxmlformats.org/officeDocument/2006/relationships/tags" Target="../tags/tag1122.xml"/><Relationship Id="rId174" Type="http://schemas.openxmlformats.org/officeDocument/2006/relationships/tags" Target="../tags/tag1143.xml"/><Relationship Id="rId179" Type="http://schemas.openxmlformats.org/officeDocument/2006/relationships/tags" Target="../tags/tag1148.xml"/><Relationship Id="rId195" Type="http://schemas.openxmlformats.org/officeDocument/2006/relationships/tags" Target="../tags/tag1164.xml"/><Relationship Id="rId209" Type="http://schemas.openxmlformats.org/officeDocument/2006/relationships/tags" Target="../tags/tag1178.xml"/><Relationship Id="rId190" Type="http://schemas.openxmlformats.org/officeDocument/2006/relationships/tags" Target="../tags/tag1159.xml"/><Relationship Id="rId204" Type="http://schemas.openxmlformats.org/officeDocument/2006/relationships/tags" Target="../tags/tag1173.xml"/><Relationship Id="rId15" Type="http://schemas.openxmlformats.org/officeDocument/2006/relationships/tags" Target="../tags/tag984.xml"/><Relationship Id="rId36" Type="http://schemas.openxmlformats.org/officeDocument/2006/relationships/tags" Target="../tags/tag1005.xml"/><Relationship Id="rId57" Type="http://schemas.openxmlformats.org/officeDocument/2006/relationships/tags" Target="../tags/tag1026.xml"/><Relationship Id="rId106" Type="http://schemas.openxmlformats.org/officeDocument/2006/relationships/tags" Target="../tags/tag1075.xml"/><Relationship Id="rId127" Type="http://schemas.openxmlformats.org/officeDocument/2006/relationships/tags" Target="../tags/tag1096.xml"/><Relationship Id="rId10" Type="http://schemas.openxmlformats.org/officeDocument/2006/relationships/tags" Target="../tags/tag979.xml"/><Relationship Id="rId31" Type="http://schemas.openxmlformats.org/officeDocument/2006/relationships/tags" Target="../tags/tag1000.xml"/><Relationship Id="rId52" Type="http://schemas.openxmlformats.org/officeDocument/2006/relationships/tags" Target="../tags/tag1021.xml"/><Relationship Id="rId73" Type="http://schemas.openxmlformats.org/officeDocument/2006/relationships/tags" Target="../tags/tag1042.xml"/><Relationship Id="rId78" Type="http://schemas.openxmlformats.org/officeDocument/2006/relationships/tags" Target="../tags/tag1047.xml"/><Relationship Id="rId94" Type="http://schemas.openxmlformats.org/officeDocument/2006/relationships/tags" Target="../tags/tag1063.xml"/><Relationship Id="rId99" Type="http://schemas.openxmlformats.org/officeDocument/2006/relationships/tags" Target="../tags/tag1068.xml"/><Relationship Id="rId101" Type="http://schemas.openxmlformats.org/officeDocument/2006/relationships/tags" Target="../tags/tag1070.xml"/><Relationship Id="rId122" Type="http://schemas.openxmlformats.org/officeDocument/2006/relationships/tags" Target="../tags/tag1091.xml"/><Relationship Id="rId143" Type="http://schemas.openxmlformats.org/officeDocument/2006/relationships/tags" Target="../tags/tag1112.xml"/><Relationship Id="rId148" Type="http://schemas.openxmlformats.org/officeDocument/2006/relationships/tags" Target="../tags/tag1117.xml"/><Relationship Id="rId164" Type="http://schemas.openxmlformats.org/officeDocument/2006/relationships/tags" Target="../tags/tag1133.xml"/><Relationship Id="rId169" Type="http://schemas.openxmlformats.org/officeDocument/2006/relationships/tags" Target="../tags/tag1138.xml"/><Relationship Id="rId185" Type="http://schemas.openxmlformats.org/officeDocument/2006/relationships/tags" Target="../tags/tag1154.xml"/><Relationship Id="rId4" Type="http://schemas.openxmlformats.org/officeDocument/2006/relationships/tags" Target="../tags/tag973.xml"/><Relationship Id="rId9" Type="http://schemas.openxmlformats.org/officeDocument/2006/relationships/tags" Target="../tags/tag978.xml"/><Relationship Id="rId180" Type="http://schemas.openxmlformats.org/officeDocument/2006/relationships/tags" Target="../tags/tag1149.xml"/><Relationship Id="rId210" Type="http://schemas.openxmlformats.org/officeDocument/2006/relationships/tags" Target="../tags/tag1179.xml"/><Relationship Id="rId215" Type="http://schemas.openxmlformats.org/officeDocument/2006/relationships/tags" Target="../tags/tag1184.xml"/><Relationship Id="rId26" Type="http://schemas.openxmlformats.org/officeDocument/2006/relationships/tags" Target="../tags/tag995.xml"/><Relationship Id="rId47" Type="http://schemas.openxmlformats.org/officeDocument/2006/relationships/tags" Target="../tags/tag1016.xml"/><Relationship Id="rId68" Type="http://schemas.openxmlformats.org/officeDocument/2006/relationships/tags" Target="../tags/tag1037.xml"/><Relationship Id="rId89" Type="http://schemas.openxmlformats.org/officeDocument/2006/relationships/tags" Target="../tags/tag1058.xml"/><Relationship Id="rId112" Type="http://schemas.openxmlformats.org/officeDocument/2006/relationships/tags" Target="../tags/tag1081.xml"/><Relationship Id="rId133" Type="http://schemas.openxmlformats.org/officeDocument/2006/relationships/tags" Target="../tags/tag1102.xml"/><Relationship Id="rId154" Type="http://schemas.openxmlformats.org/officeDocument/2006/relationships/tags" Target="../tags/tag1123.xml"/><Relationship Id="rId175" Type="http://schemas.openxmlformats.org/officeDocument/2006/relationships/tags" Target="../tags/tag1144.xml"/><Relationship Id="rId196" Type="http://schemas.openxmlformats.org/officeDocument/2006/relationships/tags" Target="../tags/tag1165.xml"/><Relationship Id="rId200" Type="http://schemas.openxmlformats.org/officeDocument/2006/relationships/tags" Target="../tags/tag1169.xml"/><Relationship Id="rId16" Type="http://schemas.openxmlformats.org/officeDocument/2006/relationships/tags" Target="../tags/tag985.xml"/><Relationship Id="rId37" Type="http://schemas.openxmlformats.org/officeDocument/2006/relationships/tags" Target="../tags/tag1006.xml"/><Relationship Id="rId58" Type="http://schemas.openxmlformats.org/officeDocument/2006/relationships/tags" Target="../tags/tag1027.xml"/><Relationship Id="rId79" Type="http://schemas.openxmlformats.org/officeDocument/2006/relationships/tags" Target="../tags/tag1048.xml"/><Relationship Id="rId102" Type="http://schemas.openxmlformats.org/officeDocument/2006/relationships/tags" Target="../tags/tag1071.xml"/><Relationship Id="rId123" Type="http://schemas.openxmlformats.org/officeDocument/2006/relationships/tags" Target="../tags/tag1092.xml"/><Relationship Id="rId144" Type="http://schemas.openxmlformats.org/officeDocument/2006/relationships/tags" Target="../tags/tag1113.xml"/><Relationship Id="rId90" Type="http://schemas.openxmlformats.org/officeDocument/2006/relationships/tags" Target="../tags/tag1059.xml"/><Relationship Id="rId165" Type="http://schemas.openxmlformats.org/officeDocument/2006/relationships/tags" Target="../tags/tag1134.xml"/><Relationship Id="rId186" Type="http://schemas.openxmlformats.org/officeDocument/2006/relationships/tags" Target="../tags/tag1155.xml"/><Relationship Id="rId211" Type="http://schemas.openxmlformats.org/officeDocument/2006/relationships/tags" Target="../tags/tag1180.xml"/><Relationship Id="rId27" Type="http://schemas.openxmlformats.org/officeDocument/2006/relationships/tags" Target="../tags/tag996.xml"/><Relationship Id="rId48" Type="http://schemas.openxmlformats.org/officeDocument/2006/relationships/tags" Target="../tags/tag1017.xml"/><Relationship Id="rId69" Type="http://schemas.openxmlformats.org/officeDocument/2006/relationships/tags" Target="../tags/tag1038.xml"/><Relationship Id="rId113" Type="http://schemas.openxmlformats.org/officeDocument/2006/relationships/tags" Target="../tags/tag1082.xml"/><Relationship Id="rId134" Type="http://schemas.openxmlformats.org/officeDocument/2006/relationships/tags" Target="../tags/tag1103.xml"/><Relationship Id="rId80" Type="http://schemas.openxmlformats.org/officeDocument/2006/relationships/tags" Target="../tags/tag1049.xml"/><Relationship Id="rId155" Type="http://schemas.openxmlformats.org/officeDocument/2006/relationships/tags" Target="../tags/tag1124.xml"/><Relationship Id="rId176" Type="http://schemas.openxmlformats.org/officeDocument/2006/relationships/tags" Target="../tags/tag1145.xml"/><Relationship Id="rId197" Type="http://schemas.openxmlformats.org/officeDocument/2006/relationships/tags" Target="../tags/tag1166.xml"/><Relationship Id="rId201" Type="http://schemas.openxmlformats.org/officeDocument/2006/relationships/tags" Target="../tags/tag1170.xml"/><Relationship Id="rId17" Type="http://schemas.openxmlformats.org/officeDocument/2006/relationships/tags" Target="../tags/tag986.xml"/><Relationship Id="rId38" Type="http://schemas.openxmlformats.org/officeDocument/2006/relationships/tags" Target="../tags/tag1007.xml"/><Relationship Id="rId59" Type="http://schemas.openxmlformats.org/officeDocument/2006/relationships/tags" Target="../tags/tag1028.xml"/><Relationship Id="rId103" Type="http://schemas.openxmlformats.org/officeDocument/2006/relationships/tags" Target="../tags/tag1072.xml"/><Relationship Id="rId124" Type="http://schemas.openxmlformats.org/officeDocument/2006/relationships/tags" Target="../tags/tag1093.xml"/><Relationship Id="rId70" Type="http://schemas.openxmlformats.org/officeDocument/2006/relationships/tags" Target="../tags/tag1039.xml"/><Relationship Id="rId91" Type="http://schemas.openxmlformats.org/officeDocument/2006/relationships/tags" Target="../tags/tag1060.xml"/><Relationship Id="rId145" Type="http://schemas.openxmlformats.org/officeDocument/2006/relationships/tags" Target="../tags/tag1114.xml"/><Relationship Id="rId166" Type="http://schemas.openxmlformats.org/officeDocument/2006/relationships/tags" Target="../tags/tag1135.xml"/><Relationship Id="rId187" Type="http://schemas.openxmlformats.org/officeDocument/2006/relationships/tags" Target="../tags/tag1156.xml"/><Relationship Id="rId1" Type="http://schemas.openxmlformats.org/officeDocument/2006/relationships/tags" Target="../tags/tag970.xml"/><Relationship Id="rId212" Type="http://schemas.openxmlformats.org/officeDocument/2006/relationships/tags" Target="../tags/tag1181.xml"/><Relationship Id="rId28" Type="http://schemas.openxmlformats.org/officeDocument/2006/relationships/tags" Target="../tags/tag997.xml"/><Relationship Id="rId49" Type="http://schemas.openxmlformats.org/officeDocument/2006/relationships/tags" Target="../tags/tag1018.xml"/><Relationship Id="rId114" Type="http://schemas.openxmlformats.org/officeDocument/2006/relationships/tags" Target="../tags/tag1083.xml"/><Relationship Id="rId60" Type="http://schemas.openxmlformats.org/officeDocument/2006/relationships/tags" Target="../tags/tag1029.xml"/><Relationship Id="rId81" Type="http://schemas.openxmlformats.org/officeDocument/2006/relationships/tags" Target="../tags/tag1050.xml"/><Relationship Id="rId135" Type="http://schemas.openxmlformats.org/officeDocument/2006/relationships/tags" Target="../tags/tag1104.xml"/><Relationship Id="rId156" Type="http://schemas.openxmlformats.org/officeDocument/2006/relationships/tags" Target="../tags/tag1125.xml"/><Relationship Id="rId177" Type="http://schemas.openxmlformats.org/officeDocument/2006/relationships/tags" Target="../tags/tag1146.xml"/><Relationship Id="rId198" Type="http://schemas.openxmlformats.org/officeDocument/2006/relationships/tags" Target="../tags/tag1167.xml"/><Relationship Id="rId202" Type="http://schemas.openxmlformats.org/officeDocument/2006/relationships/tags" Target="../tags/tag1171.xml"/><Relationship Id="rId18" Type="http://schemas.openxmlformats.org/officeDocument/2006/relationships/tags" Target="../tags/tag987.xml"/><Relationship Id="rId39" Type="http://schemas.openxmlformats.org/officeDocument/2006/relationships/tags" Target="../tags/tag1008.xml"/><Relationship Id="rId50" Type="http://schemas.openxmlformats.org/officeDocument/2006/relationships/tags" Target="../tags/tag1019.xml"/><Relationship Id="rId104" Type="http://schemas.openxmlformats.org/officeDocument/2006/relationships/tags" Target="../tags/tag1073.xml"/><Relationship Id="rId125" Type="http://schemas.openxmlformats.org/officeDocument/2006/relationships/tags" Target="../tags/tag1094.xml"/><Relationship Id="rId146" Type="http://schemas.openxmlformats.org/officeDocument/2006/relationships/tags" Target="../tags/tag1115.xml"/><Relationship Id="rId167" Type="http://schemas.openxmlformats.org/officeDocument/2006/relationships/tags" Target="../tags/tag1136.xml"/><Relationship Id="rId188" Type="http://schemas.openxmlformats.org/officeDocument/2006/relationships/tags" Target="../tags/tag1157.xml"/><Relationship Id="rId71" Type="http://schemas.openxmlformats.org/officeDocument/2006/relationships/tags" Target="../tags/tag1040.xml"/><Relationship Id="rId92" Type="http://schemas.openxmlformats.org/officeDocument/2006/relationships/tags" Target="../tags/tag1061.xml"/><Relationship Id="rId213" Type="http://schemas.openxmlformats.org/officeDocument/2006/relationships/tags" Target="../tags/tag1182.xml"/><Relationship Id="rId2" Type="http://schemas.openxmlformats.org/officeDocument/2006/relationships/tags" Target="../tags/tag971.xml"/><Relationship Id="rId29" Type="http://schemas.openxmlformats.org/officeDocument/2006/relationships/tags" Target="../tags/tag998.xml"/><Relationship Id="rId40" Type="http://schemas.openxmlformats.org/officeDocument/2006/relationships/tags" Target="../tags/tag1009.xml"/><Relationship Id="rId115" Type="http://schemas.openxmlformats.org/officeDocument/2006/relationships/tags" Target="../tags/tag1084.xml"/><Relationship Id="rId136" Type="http://schemas.openxmlformats.org/officeDocument/2006/relationships/tags" Target="../tags/tag1105.xml"/><Relationship Id="rId157" Type="http://schemas.openxmlformats.org/officeDocument/2006/relationships/tags" Target="../tags/tag1126.xml"/><Relationship Id="rId178" Type="http://schemas.openxmlformats.org/officeDocument/2006/relationships/tags" Target="../tags/tag1147.xml"/><Relationship Id="rId61" Type="http://schemas.openxmlformats.org/officeDocument/2006/relationships/tags" Target="../tags/tag1030.xml"/><Relationship Id="rId82" Type="http://schemas.openxmlformats.org/officeDocument/2006/relationships/tags" Target="../tags/tag1051.xml"/><Relationship Id="rId199" Type="http://schemas.openxmlformats.org/officeDocument/2006/relationships/tags" Target="../tags/tag1168.xml"/><Relationship Id="rId203" Type="http://schemas.openxmlformats.org/officeDocument/2006/relationships/tags" Target="../tags/tag1172.xml"/><Relationship Id="rId19" Type="http://schemas.openxmlformats.org/officeDocument/2006/relationships/tags" Target="../tags/tag988.xml"/></Relationships>
</file>

<file path=ppt/slides/_rels/slide37.xml.rels><?xml version="1.0" encoding="UTF-8" standalone="yes"?>
<Relationships xmlns="http://schemas.openxmlformats.org/package/2006/relationships"><Relationship Id="rId117" Type="http://schemas.openxmlformats.org/officeDocument/2006/relationships/tags" Target="../tags/tag1302.xml"/><Relationship Id="rId21" Type="http://schemas.openxmlformats.org/officeDocument/2006/relationships/tags" Target="../tags/tag1206.xml"/><Relationship Id="rId42" Type="http://schemas.openxmlformats.org/officeDocument/2006/relationships/tags" Target="../tags/tag1227.xml"/><Relationship Id="rId63" Type="http://schemas.openxmlformats.org/officeDocument/2006/relationships/tags" Target="../tags/tag1248.xml"/><Relationship Id="rId84" Type="http://schemas.openxmlformats.org/officeDocument/2006/relationships/tags" Target="../tags/tag1269.xml"/><Relationship Id="rId138" Type="http://schemas.openxmlformats.org/officeDocument/2006/relationships/tags" Target="../tags/tag1323.xml"/><Relationship Id="rId159" Type="http://schemas.openxmlformats.org/officeDocument/2006/relationships/tags" Target="../tags/tag1344.xml"/><Relationship Id="rId170" Type="http://schemas.openxmlformats.org/officeDocument/2006/relationships/tags" Target="../tags/tag1355.xml"/><Relationship Id="rId191" Type="http://schemas.openxmlformats.org/officeDocument/2006/relationships/tags" Target="../tags/tag1376.xml"/><Relationship Id="rId205" Type="http://schemas.openxmlformats.org/officeDocument/2006/relationships/tags" Target="../tags/tag1390.xml"/><Relationship Id="rId107" Type="http://schemas.openxmlformats.org/officeDocument/2006/relationships/tags" Target="../tags/tag1292.xml"/><Relationship Id="rId11" Type="http://schemas.openxmlformats.org/officeDocument/2006/relationships/tags" Target="../tags/tag1196.xml"/><Relationship Id="rId32" Type="http://schemas.openxmlformats.org/officeDocument/2006/relationships/tags" Target="../tags/tag1217.xml"/><Relationship Id="rId53" Type="http://schemas.openxmlformats.org/officeDocument/2006/relationships/tags" Target="../tags/tag1238.xml"/><Relationship Id="rId74" Type="http://schemas.openxmlformats.org/officeDocument/2006/relationships/tags" Target="../tags/tag1259.xml"/><Relationship Id="rId128" Type="http://schemas.openxmlformats.org/officeDocument/2006/relationships/tags" Target="../tags/tag1313.xml"/><Relationship Id="rId149" Type="http://schemas.openxmlformats.org/officeDocument/2006/relationships/tags" Target="../tags/tag1334.xml"/><Relationship Id="rId5" Type="http://schemas.openxmlformats.org/officeDocument/2006/relationships/tags" Target="../tags/tag1190.xml"/><Relationship Id="rId95" Type="http://schemas.openxmlformats.org/officeDocument/2006/relationships/tags" Target="../tags/tag1280.xml"/><Relationship Id="rId160" Type="http://schemas.openxmlformats.org/officeDocument/2006/relationships/tags" Target="../tags/tag1345.xml"/><Relationship Id="rId181" Type="http://schemas.openxmlformats.org/officeDocument/2006/relationships/tags" Target="../tags/tag1366.xml"/><Relationship Id="rId216" Type="http://schemas.openxmlformats.org/officeDocument/2006/relationships/tags" Target="../tags/tag1401.xml"/><Relationship Id="rId22" Type="http://schemas.openxmlformats.org/officeDocument/2006/relationships/tags" Target="../tags/tag1207.xml"/><Relationship Id="rId43" Type="http://schemas.openxmlformats.org/officeDocument/2006/relationships/tags" Target="../tags/tag1228.xml"/><Relationship Id="rId64" Type="http://schemas.openxmlformats.org/officeDocument/2006/relationships/tags" Target="../tags/tag1249.xml"/><Relationship Id="rId118" Type="http://schemas.openxmlformats.org/officeDocument/2006/relationships/tags" Target="../tags/tag1303.xml"/><Relationship Id="rId139" Type="http://schemas.openxmlformats.org/officeDocument/2006/relationships/tags" Target="../tags/tag1324.xml"/><Relationship Id="rId85" Type="http://schemas.openxmlformats.org/officeDocument/2006/relationships/tags" Target="../tags/tag1270.xml"/><Relationship Id="rId150" Type="http://schemas.openxmlformats.org/officeDocument/2006/relationships/tags" Target="../tags/tag1335.xml"/><Relationship Id="rId171" Type="http://schemas.openxmlformats.org/officeDocument/2006/relationships/tags" Target="../tags/tag1356.xml"/><Relationship Id="rId192" Type="http://schemas.openxmlformats.org/officeDocument/2006/relationships/tags" Target="../tags/tag1377.xml"/><Relationship Id="rId206" Type="http://schemas.openxmlformats.org/officeDocument/2006/relationships/tags" Target="../tags/tag1391.xml"/><Relationship Id="rId12" Type="http://schemas.openxmlformats.org/officeDocument/2006/relationships/tags" Target="../tags/tag1197.xml"/><Relationship Id="rId33" Type="http://schemas.openxmlformats.org/officeDocument/2006/relationships/tags" Target="../tags/tag1218.xml"/><Relationship Id="rId108" Type="http://schemas.openxmlformats.org/officeDocument/2006/relationships/tags" Target="../tags/tag1293.xml"/><Relationship Id="rId129" Type="http://schemas.openxmlformats.org/officeDocument/2006/relationships/tags" Target="../tags/tag1314.xml"/><Relationship Id="rId54" Type="http://schemas.openxmlformats.org/officeDocument/2006/relationships/tags" Target="../tags/tag1239.xml"/><Relationship Id="rId75" Type="http://schemas.openxmlformats.org/officeDocument/2006/relationships/tags" Target="../tags/tag1260.xml"/><Relationship Id="rId96" Type="http://schemas.openxmlformats.org/officeDocument/2006/relationships/tags" Target="../tags/tag1281.xml"/><Relationship Id="rId140" Type="http://schemas.openxmlformats.org/officeDocument/2006/relationships/tags" Target="../tags/tag1325.xml"/><Relationship Id="rId161" Type="http://schemas.openxmlformats.org/officeDocument/2006/relationships/tags" Target="../tags/tag1346.xml"/><Relationship Id="rId182" Type="http://schemas.openxmlformats.org/officeDocument/2006/relationships/tags" Target="../tags/tag1367.xml"/><Relationship Id="rId217" Type="http://schemas.openxmlformats.org/officeDocument/2006/relationships/slideLayout" Target="../slideLayouts/slideLayout7.xml"/><Relationship Id="rId6" Type="http://schemas.openxmlformats.org/officeDocument/2006/relationships/tags" Target="../tags/tag1191.xml"/><Relationship Id="rId23" Type="http://schemas.openxmlformats.org/officeDocument/2006/relationships/tags" Target="../tags/tag1208.xml"/><Relationship Id="rId119" Type="http://schemas.openxmlformats.org/officeDocument/2006/relationships/tags" Target="../tags/tag1304.xml"/><Relationship Id="rId44" Type="http://schemas.openxmlformats.org/officeDocument/2006/relationships/tags" Target="../tags/tag1229.xml"/><Relationship Id="rId65" Type="http://schemas.openxmlformats.org/officeDocument/2006/relationships/tags" Target="../tags/tag1250.xml"/><Relationship Id="rId86" Type="http://schemas.openxmlformats.org/officeDocument/2006/relationships/tags" Target="../tags/tag1271.xml"/><Relationship Id="rId130" Type="http://schemas.openxmlformats.org/officeDocument/2006/relationships/tags" Target="../tags/tag1315.xml"/><Relationship Id="rId151" Type="http://schemas.openxmlformats.org/officeDocument/2006/relationships/tags" Target="../tags/tag1336.xml"/><Relationship Id="rId172" Type="http://schemas.openxmlformats.org/officeDocument/2006/relationships/tags" Target="../tags/tag1357.xml"/><Relationship Id="rId193" Type="http://schemas.openxmlformats.org/officeDocument/2006/relationships/tags" Target="../tags/tag1378.xml"/><Relationship Id="rId207" Type="http://schemas.openxmlformats.org/officeDocument/2006/relationships/tags" Target="../tags/tag1392.xml"/><Relationship Id="rId13" Type="http://schemas.openxmlformats.org/officeDocument/2006/relationships/tags" Target="../tags/tag1198.xml"/><Relationship Id="rId109" Type="http://schemas.openxmlformats.org/officeDocument/2006/relationships/tags" Target="../tags/tag1294.xml"/><Relationship Id="rId34" Type="http://schemas.openxmlformats.org/officeDocument/2006/relationships/tags" Target="../tags/tag1219.xml"/><Relationship Id="rId55" Type="http://schemas.openxmlformats.org/officeDocument/2006/relationships/tags" Target="../tags/tag1240.xml"/><Relationship Id="rId76" Type="http://schemas.openxmlformats.org/officeDocument/2006/relationships/tags" Target="../tags/tag1261.xml"/><Relationship Id="rId97" Type="http://schemas.openxmlformats.org/officeDocument/2006/relationships/tags" Target="../tags/tag1282.xml"/><Relationship Id="rId120" Type="http://schemas.openxmlformats.org/officeDocument/2006/relationships/tags" Target="../tags/tag1305.xml"/><Relationship Id="rId141" Type="http://schemas.openxmlformats.org/officeDocument/2006/relationships/tags" Target="../tags/tag1326.xml"/><Relationship Id="rId7" Type="http://schemas.openxmlformats.org/officeDocument/2006/relationships/tags" Target="../tags/tag1192.xml"/><Relationship Id="rId162" Type="http://schemas.openxmlformats.org/officeDocument/2006/relationships/tags" Target="../tags/tag1347.xml"/><Relationship Id="rId183" Type="http://schemas.openxmlformats.org/officeDocument/2006/relationships/tags" Target="../tags/tag1368.xml"/><Relationship Id="rId24" Type="http://schemas.openxmlformats.org/officeDocument/2006/relationships/tags" Target="../tags/tag1209.xml"/><Relationship Id="rId45" Type="http://schemas.openxmlformats.org/officeDocument/2006/relationships/tags" Target="../tags/tag1230.xml"/><Relationship Id="rId66" Type="http://schemas.openxmlformats.org/officeDocument/2006/relationships/tags" Target="../tags/tag1251.xml"/><Relationship Id="rId87" Type="http://schemas.openxmlformats.org/officeDocument/2006/relationships/tags" Target="../tags/tag1272.xml"/><Relationship Id="rId110" Type="http://schemas.openxmlformats.org/officeDocument/2006/relationships/tags" Target="../tags/tag1295.xml"/><Relationship Id="rId131" Type="http://schemas.openxmlformats.org/officeDocument/2006/relationships/tags" Target="../tags/tag1316.xml"/><Relationship Id="rId152" Type="http://schemas.openxmlformats.org/officeDocument/2006/relationships/tags" Target="../tags/tag1337.xml"/><Relationship Id="rId173" Type="http://schemas.openxmlformats.org/officeDocument/2006/relationships/tags" Target="../tags/tag1358.xml"/><Relationship Id="rId194" Type="http://schemas.openxmlformats.org/officeDocument/2006/relationships/tags" Target="../tags/tag1379.xml"/><Relationship Id="rId208" Type="http://schemas.openxmlformats.org/officeDocument/2006/relationships/tags" Target="../tags/tag1393.xml"/><Relationship Id="rId14" Type="http://schemas.openxmlformats.org/officeDocument/2006/relationships/tags" Target="../tags/tag1199.xml"/><Relationship Id="rId30" Type="http://schemas.openxmlformats.org/officeDocument/2006/relationships/tags" Target="../tags/tag1215.xml"/><Relationship Id="rId35" Type="http://schemas.openxmlformats.org/officeDocument/2006/relationships/tags" Target="../tags/tag1220.xml"/><Relationship Id="rId56" Type="http://schemas.openxmlformats.org/officeDocument/2006/relationships/tags" Target="../tags/tag1241.xml"/><Relationship Id="rId77" Type="http://schemas.openxmlformats.org/officeDocument/2006/relationships/tags" Target="../tags/tag1262.xml"/><Relationship Id="rId100" Type="http://schemas.openxmlformats.org/officeDocument/2006/relationships/tags" Target="../tags/tag1285.xml"/><Relationship Id="rId105" Type="http://schemas.openxmlformats.org/officeDocument/2006/relationships/tags" Target="../tags/tag1290.xml"/><Relationship Id="rId126" Type="http://schemas.openxmlformats.org/officeDocument/2006/relationships/tags" Target="../tags/tag1311.xml"/><Relationship Id="rId147" Type="http://schemas.openxmlformats.org/officeDocument/2006/relationships/tags" Target="../tags/tag1332.xml"/><Relationship Id="rId168" Type="http://schemas.openxmlformats.org/officeDocument/2006/relationships/tags" Target="../tags/tag1353.xml"/><Relationship Id="rId8" Type="http://schemas.openxmlformats.org/officeDocument/2006/relationships/tags" Target="../tags/tag1193.xml"/><Relationship Id="rId51" Type="http://schemas.openxmlformats.org/officeDocument/2006/relationships/tags" Target="../tags/tag1236.xml"/><Relationship Id="rId72" Type="http://schemas.openxmlformats.org/officeDocument/2006/relationships/tags" Target="../tags/tag1257.xml"/><Relationship Id="rId93" Type="http://schemas.openxmlformats.org/officeDocument/2006/relationships/tags" Target="../tags/tag1278.xml"/><Relationship Id="rId98" Type="http://schemas.openxmlformats.org/officeDocument/2006/relationships/tags" Target="../tags/tag1283.xml"/><Relationship Id="rId121" Type="http://schemas.openxmlformats.org/officeDocument/2006/relationships/tags" Target="../tags/tag1306.xml"/><Relationship Id="rId142" Type="http://schemas.openxmlformats.org/officeDocument/2006/relationships/tags" Target="../tags/tag1327.xml"/><Relationship Id="rId163" Type="http://schemas.openxmlformats.org/officeDocument/2006/relationships/tags" Target="../tags/tag1348.xml"/><Relationship Id="rId184" Type="http://schemas.openxmlformats.org/officeDocument/2006/relationships/tags" Target="../tags/tag1369.xml"/><Relationship Id="rId189" Type="http://schemas.openxmlformats.org/officeDocument/2006/relationships/tags" Target="../tags/tag1374.xml"/><Relationship Id="rId3" Type="http://schemas.openxmlformats.org/officeDocument/2006/relationships/tags" Target="../tags/tag1188.xml"/><Relationship Id="rId214" Type="http://schemas.openxmlformats.org/officeDocument/2006/relationships/tags" Target="../tags/tag1399.xml"/><Relationship Id="rId25" Type="http://schemas.openxmlformats.org/officeDocument/2006/relationships/tags" Target="../tags/tag1210.xml"/><Relationship Id="rId46" Type="http://schemas.openxmlformats.org/officeDocument/2006/relationships/tags" Target="../tags/tag1231.xml"/><Relationship Id="rId67" Type="http://schemas.openxmlformats.org/officeDocument/2006/relationships/tags" Target="../tags/tag1252.xml"/><Relationship Id="rId116" Type="http://schemas.openxmlformats.org/officeDocument/2006/relationships/tags" Target="../tags/tag1301.xml"/><Relationship Id="rId137" Type="http://schemas.openxmlformats.org/officeDocument/2006/relationships/tags" Target="../tags/tag1322.xml"/><Relationship Id="rId158" Type="http://schemas.openxmlformats.org/officeDocument/2006/relationships/tags" Target="../tags/tag1343.xml"/><Relationship Id="rId20" Type="http://schemas.openxmlformats.org/officeDocument/2006/relationships/tags" Target="../tags/tag1205.xml"/><Relationship Id="rId41" Type="http://schemas.openxmlformats.org/officeDocument/2006/relationships/tags" Target="../tags/tag1226.xml"/><Relationship Id="rId62" Type="http://schemas.openxmlformats.org/officeDocument/2006/relationships/tags" Target="../tags/tag1247.xml"/><Relationship Id="rId83" Type="http://schemas.openxmlformats.org/officeDocument/2006/relationships/tags" Target="../tags/tag1268.xml"/><Relationship Id="rId88" Type="http://schemas.openxmlformats.org/officeDocument/2006/relationships/tags" Target="../tags/tag1273.xml"/><Relationship Id="rId111" Type="http://schemas.openxmlformats.org/officeDocument/2006/relationships/tags" Target="../tags/tag1296.xml"/><Relationship Id="rId132" Type="http://schemas.openxmlformats.org/officeDocument/2006/relationships/tags" Target="../tags/tag1317.xml"/><Relationship Id="rId153" Type="http://schemas.openxmlformats.org/officeDocument/2006/relationships/tags" Target="../tags/tag1338.xml"/><Relationship Id="rId174" Type="http://schemas.openxmlformats.org/officeDocument/2006/relationships/tags" Target="../tags/tag1359.xml"/><Relationship Id="rId179" Type="http://schemas.openxmlformats.org/officeDocument/2006/relationships/tags" Target="../tags/tag1364.xml"/><Relationship Id="rId195" Type="http://schemas.openxmlformats.org/officeDocument/2006/relationships/tags" Target="../tags/tag1380.xml"/><Relationship Id="rId209" Type="http://schemas.openxmlformats.org/officeDocument/2006/relationships/tags" Target="../tags/tag1394.xml"/><Relationship Id="rId190" Type="http://schemas.openxmlformats.org/officeDocument/2006/relationships/tags" Target="../tags/tag1375.xml"/><Relationship Id="rId204" Type="http://schemas.openxmlformats.org/officeDocument/2006/relationships/tags" Target="../tags/tag1389.xml"/><Relationship Id="rId15" Type="http://schemas.openxmlformats.org/officeDocument/2006/relationships/tags" Target="../tags/tag1200.xml"/><Relationship Id="rId36" Type="http://schemas.openxmlformats.org/officeDocument/2006/relationships/tags" Target="../tags/tag1221.xml"/><Relationship Id="rId57" Type="http://schemas.openxmlformats.org/officeDocument/2006/relationships/tags" Target="../tags/tag1242.xml"/><Relationship Id="rId106" Type="http://schemas.openxmlformats.org/officeDocument/2006/relationships/tags" Target="../tags/tag1291.xml"/><Relationship Id="rId127" Type="http://schemas.openxmlformats.org/officeDocument/2006/relationships/tags" Target="../tags/tag1312.xml"/><Relationship Id="rId10" Type="http://schemas.openxmlformats.org/officeDocument/2006/relationships/tags" Target="../tags/tag1195.xml"/><Relationship Id="rId31" Type="http://schemas.openxmlformats.org/officeDocument/2006/relationships/tags" Target="../tags/tag1216.xml"/><Relationship Id="rId52" Type="http://schemas.openxmlformats.org/officeDocument/2006/relationships/tags" Target="../tags/tag1237.xml"/><Relationship Id="rId73" Type="http://schemas.openxmlformats.org/officeDocument/2006/relationships/tags" Target="../tags/tag1258.xml"/><Relationship Id="rId78" Type="http://schemas.openxmlformats.org/officeDocument/2006/relationships/tags" Target="../tags/tag1263.xml"/><Relationship Id="rId94" Type="http://schemas.openxmlformats.org/officeDocument/2006/relationships/tags" Target="../tags/tag1279.xml"/><Relationship Id="rId99" Type="http://schemas.openxmlformats.org/officeDocument/2006/relationships/tags" Target="../tags/tag1284.xml"/><Relationship Id="rId101" Type="http://schemas.openxmlformats.org/officeDocument/2006/relationships/tags" Target="../tags/tag1286.xml"/><Relationship Id="rId122" Type="http://schemas.openxmlformats.org/officeDocument/2006/relationships/tags" Target="../tags/tag1307.xml"/><Relationship Id="rId143" Type="http://schemas.openxmlformats.org/officeDocument/2006/relationships/tags" Target="../tags/tag1328.xml"/><Relationship Id="rId148" Type="http://schemas.openxmlformats.org/officeDocument/2006/relationships/tags" Target="../tags/tag1333.xml"/><Relationship Id="rId164" Type="http://schemas.openxmlformats.org/officeDocument/2006/relationships/tags" Target="../tags/tag1349.xml"/><Relationship Id="rId169" Type="http://schemas.openxmlformats.org/officeDocument/2006/relationships/tags" Target="../tags/tag1354.xml"/><Relationship Id="rId185" Type="http://schemas.openxmlformats.org/officeDocument/2006/relationships/tags" Target="../tags/tag1370.xml"/><Relationship Id="rId4" Type="http://schemas.openxmlformats.org/officeDocument/2006/relationships/tags" Target="../tags/tag1189.xml"/><Relationship Id="rId9" Type="http://schemas.openxmlformats.org/officeDocument/2006/relationships/tags" Target="../tags/tag1194.xml"/><Relationship Id="rId180" Type="http://schemas.openxmlformats.org/officeDocument/2006/relationships/tags" Target="../tags/tag1365.xml"/><Relationship Id="rId210" Type="http://schemas.openxmlformats.org/officeDocument/2006/relationships/tags" Target="../tags/tag1395.xml"/><Relationship Id="rId215" Type="http://schemas.openxmlformats.org/officeDocument/2006/relationships/tags" Target="../tags/tag1400.xml"/><Relationship Id="rId26" Type="http://schemas.openxmlformats.org/officeDocument/2006/relationships/tags" Target="../tags/tag1211.xml"/><Relationship Id="rId47" Type="http://schemas.openxmlformats.org/officeDocument/2006/relationships/tags" Target="../tags/tag1232.xml"/><Relationship Id="rId68" Type="http://schemas.openxmlformats.org/officeDocument/2006/relationships/tags" Target="../tags/tag1253.xml"/><Relationship Id="rId89" Type="http://schemas.openxmlformats.org/officeDocument/2006/relationships/tags" Target="../tags/tag1274.xml"/><Relationship Id="rId112" Type="http://schemas.openxmlformats.org/officeDocument/2006/relationships/tags" Target="../tags/tag1297.xml"/><Relationship Id="rId133" Type="http://schemas.openxmlformats.org/officeDocument/2006/relationships/tags" Target="../tags/tag1318.xml"/><Relationship Id="rId154" Type="http://schemas.openxmlformats.org/officeDocument/2006/relationships/tags" Target="../tags/tag1339.xml"/><Relationship Id="rId175" Type="http://schemas.openxmlformats.org/officeDocument/2006/relationships/tags" Target="../tags/tag1360.xml"/><Relationship Id="rId196" Type="http://schemas.openxmlformats.org/officeDocument/2006/relationships/tags" Target="../tags/tag1381.xml"/><Relationship Id="rId200" Type="http://schemas.openxmlformats.org/officeDocument/2006/relationships/tags" Target="../tags/tag1385.xml"/><Relationship Id="rId16" Type="http://schemas.openxmlformats.org/officeDocument/2006/relationships/tags" Target="../tags/tag1201.xml"/><Relationship Id="rId37" Type="http://schemas.openxmlformats.org/officeDocument/2006/relationships/tags" Target="../tags/tag1222.xml"/><Relationship Id="rId58" Type="http://schemas.openxmlformats.org/officeDocument/2006/relationships/tags" Target="../tags/tag1243.xml"/><Relationship Id="rId79" Type="http://schemas.openxmlformats.org/officeDocument/2006/relationships/tags" Target="../tags/tag1264.xml"/><Relationship Id="rId102" Type="http://schemas.openxmlformats.org/officeDocument/2006/relationships/tags" Target="../tags/tag1287.xml"/><Relationship Id="rId123" Type="http://schemas.openxmlformats.org/officeDocument/2006/relationships/tags" Target="../tags/tag1308.xml"/><Relationship Id="rId144" Type="http://schemas.openxmlformats.org/officeDocument/2006/relationships/tags" Target="../tags/tag1329.xml"/><Relationship Id="rId90" Type="http://schemas.openxmlformats.org/officeDocument/2006/relationships/tags" Target="../tags/tag1275.xml"/><Relationship Id="rId165" Type="http://schemas.openxmlformats.org/officeDocument/2006/relationships/tags" Target="../tags/tag1350.xml"/><Relationship Id="rId186" Type="http://schemas.openxmlformats.org/officeDocument/2006/relationships/tags" Target="../tags/tag1371.xml"/><Relationship Id="rId211" Type="http://schemas.openxmlformats.org/officeDocument/2006/relationships/tags" Target="../tags/tag1396.xml"/><Relationship Id="rId27" Type="http://schemas.openxmlformats.org/officeDocument/2006/relationships/tags" Target="../tags/tag1212.xml"/><Relationship Id="rId48" Type="http://schemas.openxmlformats.org/officeDocument/2006/relationships/tags" Target="../tags/tag1233.xml"/><Relationship Id="rId69" Type="http://schemas.openxmlformats.org/officeDocument/2006/relationships/tags" Target="../tags/tag1254.xml"/><Relationship Id="rId113" Type="http://schemas.openxmlformats.org/officeDocument/2006/relationships/tags" Target="../tags/tag1298.xml"/><Relationship Id="rId134" Type="http://schemas.openxmlformats.org/officeDocument/2006/relationships/tags" Target="../tags/tag1319.xml"/><Relationship Id="rId80" Type="http://schemas.openxmlformats.org/officeDocument/2006/relationships/tags" Target="../tags/tag1265.xml"/><Relationship Id="rId155" Type="http://schemas.openxmlformats.org/officeDocument/2006/relationships/tags" Target="../tags/tag1340.xml"/><Relationship Id="rId176" Type="http://schemas.openxmlformats.org/officeDocument/2006/relationships/tags" Target="../tags/tag1361.xml"/><Relationship Id="rId197" Type="http://schemas.openxmlformats.org/officeDocument/2006/relationships/tags" Target="../tags/tag1382.xml"/><Relationship Id="rId201" Type="http://schemas.openxmlformats.org/officeDocument/2006/relationships/tags" Target="../tags/tag1386.xml"/><Relationship Id="rId17" Type="http://schemas.openxmlformats.org/officeDocument/2006/relationships/tags" Target="../tags/tag1202.xml"/><Relationship Id="rId38" Type="http://schemas.openxmlformats.org/officeDocument/2006/relationships/tags" Target="../tags/tag1223.xml"/><Relationship Id="rId59" Type="http://schemas.openxmlformats.org/officeDocument/2006/relationships/tags" Target="../tags/tag1244.xml"/><Relationship Id="rId103" Type="http://schemas.openxmlformats.org/officeDocument/2006/relationships/tags" Target="../tags/tag1288.xml"/><Relationship Id="rId124" Type="http://schemas.openxmlformats.org/officeDocument/2006/relationships/tags" Target="../tags/tag1309.xml"/><Relationship Id="rId70" Type="http://schemas.openxmlformats.org/officeDocument/2006/relationships/tags" Target="../tags/tag1255.xml"/><Relationship Id="rId91" Type="http://schemas.openxmlformats.org/officeDocument/2006/relationships/tags" Target="../tags/tag1276.xml"/><Relationship Id="rId145" Type="http://schemas.openxmlformats.org/officeDocument/2006/relationships/tags" Target="../tags/tag1330.xml"/><Relationship Id="rId166" Type="http://schemas.openxmlformats.org/officeDocument/2006/relationships/tags" Target="../tags/tag1351.xml"/><Relationship Id="rId187" Type="http://schemas.openxmlformats.org/officeDocument/2006/relationships/tags" Target="../tags/tag1372.xml"/><Relationship Id="rId1" Type="http://schemas.openxmlformats.org/officeDocument/2006/relationships/tags" Target="../tags/tag1186.xml"/><Relationship Id="rId212" Type="http://schemas.openxmlformats.org/officeDocument/2006/relationships/tags" Target="../tags/tag1397.xml"/><Relationship Id="rId28" Type="http://schemas.openxmlformats.org/officeDocument/2006/relationships/tags" Target="../tags/tag1213.xml"/><Relationship Id="rId49" Type="http://schemas.openxmlformats.org/officeDocument/2006/relationships/tags" Target="../tags/tag1234.xml"/><Relationship Id="rId114" Type="http://schemas.openxmlformats.org/officeDocument/2006/relationships/tags" Target="../tags/tag1299.xml"/><Relationship Id="rId60" Type="http://schemas.openxmlformats.org/officeDocument/2006/relationships/tags" Target="../tags/tag1245.xml"/><Relationship Id="rId81" Type="http://schemas.openxmlformats.org/officeDocument/2006/relationships/tags" Target="../tags/tag1266.xml"/><Relationship Id="rId135" Type="http://schemas.openxmlformats.org/officeDocument/2006/relationships/tags" Target="../tags/tag1320.xml"/><Relationship Id="rId156" Type="http://schemas.openxmlformats.org/officeDocument/2006/relationships/tags" Target="../tags/tag1341.xml"/><Relationship Id="rId177" Type="http://schemas.openxmlformats.org/officeDocument/2006/relationships/tags" Target="../tags/tag1362.xml"/><Relationship Id="rId198" Type="http://schemas.openxmlformats.org/officeDocument/2006/relationships/tags" Target="../tags/tag1383.xml"/><Relationship Id="rId202" Type="http://schemas.openxmlformats.org/officeDocument/2006/relationships/tags" Target="../tags/tag1387.xml"/><Relationship Id="rId18" Type="http://schemas.openxmlformats.org/officeDocument/2006/relationships/tags" Target="../tags/tag1203.xml"/><Relationship Id="rId39" Type="http://schemas.openxmlformats.org/officeDocument/2006/relationships/tags" Target="../tags/tag1224.xml"/><Relationship Id="rId50" Type="http://schemas.openxmlformats.org/officeDocument/2006/relationships/tags" Target="../tags/tag1235.xml"/><Relationship Id="rId104" Type="http://schemas.openxmlformats.org/officeDocument/2006/relationships/tags" Target="../tags/tag1289.xml"/><Relationship Id="rId125" Type="http://schemas.openxmlformats.org/officeDocument/2006/relationships/tags" Target="../tags/tag1310.xml"/><Relationship Id="rId146" Type="http://schemas.openxmlformats.org/officeDocument/2006/relationships/tags" Target="../tags/tag1331.xml"/><Relationship Id="rId167" Type="http://schemas.openxmlformats.org/officeDocument/2006/relationships/tags" Target="../tags/tag1352.xml"/><Relationship Id="rId188" Type="http://schemas.openxmlformats.org/officeDocument/2006/relationships/tags" Target="../tags/tag1373.xml"/><Relationship Id="rId71" Type="http://schemas.openxmlformats.org/officeDocument/2006/relationships/tags" Target="../tags/tag1256.xml"/><Relationship Id="rId92" Type="http://schemas.openxmlformats.org/officeDocument/2006/relationships/tags" Target="../tags/tag1277.xml"/><Relationship Id="rId213" Type="http://schemas.openxmlformats.org/officeDocument/2006/relationships/tags" Target="../tags/tag1398.xml"/><Relationship Id="rId2" Type="http://schemas.openxmlformats.org/officeDocument/2006/relationships/tags" Target="../tags/tag1187.xml"/><Relationship Id="rId29" Type="http://schemas.openxmlformats.org/officeDocument/2006/relationships/tags" Target="../tags/tag1214.xml"/><Relationship Id="rId40" Type="http://schemas.openxmlformats.org/officeDocument/2006/relationships/tags" Target="../tags/tag1225.xml"/><Relationship Id="rId115" Type="http://schemas.openxmlformats.org/officeDocument/2006/relationships/tags" Target="../tags/tag1300.xml"/><Relationship Id="rId136" Type="http://schemas.openxmlformats.org/officeDocument/2006/relationships/tags" Target="../tags/tag1321.xml"/><Relationship Id="rId157" Type="http://schemas.openxmlformats.org/officeDocument/2006/relationships/tags" Target="../tags/tag1342.xml"/><Relationship Id="rId178" Type="http://schemas.openxmlformats.org/officeDocument/2006/relationships/tags" Target="../tags/tag1363.xml"/><Relationship Id="rId61" Type="http://schemas.openxmlformats.org/officeDocument/2006/relationships/tags" Target="../tags/tag1246.xml"/><Relationship Id="rId82" Type="http://schemas.openxmlformats.org/officeDocument/2006/relationships/tags" Target="../tags/tag1267.xml"/><Relationship Id="rId199" Type="http://schemas.openxmlformats.org/officeDocument/2006/relationships/tags" Target="../tags/tag1384.xml"/><Relationship Id="rId203" Type="http://schemas.openxmlformats.org/officeDocument/2006/relationships/tags" Target="../tags/tag1388.xml"/><Relationship Id="rId19" Type="http://schemas.openxmlformats.org/officeDocument/2006/relationships/tags" Target="../tags/tag120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ext Box 5"/>
          <p:cNvSpPr txBox="1">
            <a:spLocks noChangeArrowheads="1"/>
          </p:cNvSpPr>
          <p:nvPr/>
        </p:nvSpPr>
        <p:spPr bwMode="auto">
          <a:xfrm>
            <a:off x="1258888" y="2595563"/>
            <a:ext cx="6697662" cy="762000"/>
          </a:xfrm>
          <a:prstGeom prst="rect">
            <a:avLst/>
          </a:prstGeom>
          <a:solidFill>
            <a:srgbClr val="CC99FF"/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/>
            <a:r>
              <a:rPr lang="zh-CN" altLang="en-US" sz="4400" b="1" dirty="0">
                <a:latin typeface="黑体" panose="02010609060101010101" pitchFamily="2" charset="-122"/>
                <a:ea typeface="黑体" panose="02010609060101010101" pitchFamily="2" charset="-122"/>
              </a:rPr>
              <a:t>总  复  习 </a:t>
            </a:r>
            <a:endParaRPr lang="zh-CN" altLang="en-US" sz="44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E29CF-EAF2-4097-B0D5-FADE98AC9160}" type="slidenum">
              <a:rPr lang="en-US" altLang="zh-CN" smtClean="0"/>
              <a:t>2</a:t>
            </a:fld>
            <a:endParaRPr lang="en-US" altLang="zh-CN"/>
          </a:p>
        </p:txBody>
      </p:sp>
      <p:sp>
        <p:nvSpPr>
          <p:cNvPr id="4099" name="Text Box 173"/>
          <p:cNvSpPr txBox="1">
            <a:spLocks noChangeArrowheads="1"/>
          </p:cNvSpPr>
          <p:nvPr/>
        </p:nvSpPr>
        <p:spPr bwMode="auto">
          <a:xfrm>
            <a:off x="838200" y="323945"/>
            <a:ext cx="7467600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/>
            <a:r>
              <a:rPr lang="zh-CN" altLang="en-US" sz="2800" b="1" dirty="0">
                <a:latin typeface="宋体" panose="02010600030101010101" pitchFamily="2" charset="-122"/>
              </a:rPr>
              <a:t>考试题型</a:t>
            </a:r>
            <a:r>
              <a:rPr lang="en-US" altLang="zh-CN" b="1" dirty="0">
                <a:latin typeface="宋体" panose="02010600030101010101" pitchFamily="2" charset="-122"/>
              </a:rPr>
              <a:t>(</a:t>
            </a:r>
            <a:r>
              <a:rPr lang="zh-CN" altLang="en-US" b="1" dirty="0">
                <a:latin typeface="宋体" panose="02010600030101010101" pitchFamily="2" charset="-122"/>
              </a:rPr>
              <a:t>闭卷</a:t>
            </a:r>
            <a:r>
              <a:rPr lang="en-US" altLang="zh-CN" b="1" dirty="0">
                <a:latin typeface="宋体" panose="02010600030101010101" pitchFamily="2" charset="-122"/>
              </a:rPr>
              <a:t>)</a:t>
            </a:r>
            <a:endParaRPr lang="zh-CN" altLang="en-US" b="1" dirty="0"/>
          </a:p>
        </p:txBody>
      </p:sp>
      <p:sp>
        <p:nvSpPr>
          <p:cNvPr id="135343" name="Text Box 175"/>
          <p:cNvSpPr txBox="1">
            <a:spLocks noChangeArrowheads="1"/>
          </p:cNvSpPr>
          <p:nvPr/>
        </p:nvSpPr>
        <p:spPr bwMode="auto">
          <a:xfrm>
            <a:off x="179388" y="836712"/>
            <a:ext cx="8812212" cy="430887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、选择题（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分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×12=24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分）</a:t>
            </a:r>
          </a:p>
        </p:txBody>
      </p:sp>
      <p:sp>
        <p:nvSpPr>
          <p:cNvPr id="135344" name="Text Box 176"/>
          <p:cNvSpPr txBox="1">
            <a:spLocks noChangeArrowheads="1"/>
          </p:cNvSpPr>
          <p:nvPr/>
        </p:nvSpPr>
        <p:spPr bwMode="auto">
          <a:xfrm>
            <a:off x="179388" y="1268760"/>
            <a:ext cx="8812212" cy="794064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000" b="1" dirty="0">
                <a:latin typeface="宋体" panose="02010600030101010101" pitchFamily="2" charset="-122"/>
              </a:rPr>
              <a:t>下列总线仲裁方式中，会发生断链现象的是</a:t>
            </a:r>
            <a:r>
              <a:rPr lang="en-US" altLang="zh-CN" sz="2000" b="1" dirty="0">
                <a:latin typeface="宋体" panose="02010600030101010101" pitchFamily="2" charset="-122"/>
              </a:rPr>
              <a:t>(  )</a:t>
            </a:r>
            <a:r>
              <a:rPr lang="zh-CN" altLang="en-US" sz="2000" b="1" dirty="0">
                <a:latin typeface="宋体" panose="02010600030101010101" pitchFamily="2" charset="-122"/>
              </a:rPr>
              <a:t>方式</a:t>
            </a:r>
          </a:p>
          <a:p>
            <a:pPr>
              <a:lnSpc>
                <a:spcPct val="114000"/>
              </a:lnSpc>
            </a:pPr>
            <a:r>
              <a:rPr lang="zh-CN" altLang="en-US" sz="2000" b="1" dirty="0">
                <a:latin typeface="宋体" panose="02010600030101010101" pitchFamily="2" charset="-122"/>
              </a:rPr>
              <a:t>       </a:t>
            </a:r>
            <a:r>
              <a:rPr lang="en-US" altLang="zh-CN" sz="2000" b="1" dirty="0">
                <a:latin typeface="宋体" panose="02010600030101010101" pitchFamily="2" charset="-122"/>
              </a:rPr>
              <a:t>A.</a:t>
            </a:r>
            <a:r>
              <a:rPr lang="zh-CN" altLang="en-US" sz="2000" b="1" dirty="0">
                <a:latin typeface="宋体" panose="02010600030101010101" pitchFamily="2" charset="-122"/>
              </a:rPr>
              <a:t>链式查询     </a:t>
            </a:r>
            <a:r>
              <a:rPr lang="en-US" altLang="zh-CN" sz="2000" b="1" dirty="0">
                <a:latin typeface="宋体" panose="02010600030101010101" pitchFamily="2" charset="-122"/>
              </a:rPr>
              <a:t>B.</a:t>
            </a:r>
            <a:r>
              <a:rPr lang="zh-CN" altLang="en-US" sz="2000" b="1" dirty="0">
                <a:latin typeface="宋体" panose="02010600030101010101" pitchFamily="2" charset="-122"/>
              </a:rPr>
              <a:t>计数器定时查询   </a:t>
            </a:r>
            <a:r>
              <a:rPr lang="en-US" altLang="zh-CN" sz="2000" b="1" dirty="0">
                <a:latin typeface="宋体" panose="02010600030101010101" pitchFamily="2" charset="-122"/>
              </a:rPr>
              <a:t>C.</a:t>
            </a:r>
            <a:r>
              <a:rPr lang="zh-CN" altLang="en-US" sz="2000" b="1" dirty="0">
                <a:latin typeface="宋体" panose="02010600030101010101" pitchFamily="2" charset="-122"/>
              </a:rPr>
              <a:t>独立请求</a:t>
            </a: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179388" y="3284984"/>
            <a:ext cx="8812212" cy="398764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000" b="1" dirty="0">
                <a:latin typeface="宋体" panose="02010600030101010101" pitchFamily="2" charset="-122"/>
              </a:rPr>
              <a:t>若</a:t>
            </a:r>
            <a:r>
              <a:rPr lang="en-US" altLang="zh-CN" sz="2000" b="1" dirty="0">
                <a:latin typeface="宋体" panose="02010600030101010101" pitchFamily="2" charset="-122"/>
              </a:rPr>
              <a:t>X</a:t>
            </a:r>
            <a:r>
              <a:rPr lang="zh-CN" altLang="en-US" sz="2000" b="1" dirty="0">
                <a:latin typeface="宋体" panose="02010600030101010101" pitchFamily="2" charset="-122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</a:rPr>
              <a:t>-1011</a:t>
            </a:r>
            <a:r>
              <a:rPr lang="zh-CN" altLang="en-US" sz="2000" b="1" dirty="0">
                <a:latin typeface="宋体" panose="02010600030101010101" pitchFamily="2" charset="-122"/>
              </a:rPr>
              <a:t>，</a:t>
            </a:r>
            <a:r>
              <a:rPr lang="en-US" altLang="zh-CN" sz="2000" b="1" dirty="0">
                <a:latin typeface="宋体" panose="02010600030101010101" pitchFamily="2" charset="-122"/>
              </a:rPr>
              <a:t>Y</a:t>
            </a:r>
            <a:r>
              <a:rPr lang="zh-CN" altLang="en-US" sz="2000" b="1" dirty="0">
                <a:latin typeface="宋体" panose="02010600030101010101" pitchFamily="2" charset="-122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</a:rPr>
              <a:t>+1101</a:t>
            </a:r>
            <a:r>
              <a:rPr lang="zh-CN" altLang="en-US" sz="2000" b="1" dirty="0">
                <a:latin typeface="宋体" panose="02010600030101010101" pitchFamily="2" charset="-122"/>
              </a:rPr>
              <a:t>的机器数为</a:t>
            </a:r>
            <a:r>
              <a:rPr lang="en-US" altLang="zh-CN" sz="2000" b="1" dirty="0">
                <a:latin typeface="宋体" panose="02010600030101010101" pitchFamily="2" charset="-122"/>
              </a:rPr>
              <a:t>8</a:t>
            </a:r>
            <a:r>
              <a:rPr lang="zh-CN" altLang="en-US" sz="2000" b="1" dirty="0">
                <a:latin typeface="宋体" panose="02010600030101010101" pitchFamily="2" charset="-122"/>
              </a:rPr>
              <a:t>位，求</a:t>
            </a:r>
            <a:r>
              <a:rPr lang="en-US" altLang="zh-CN" sz="2000" b="1" dirty="0">
                <a:latin typeface="宋体" panose="02010600030101010101" pitchFamily="2" charset="-122"/>
              </a:rPr>
              <a:t>[X]</a:t>
            </a:r>
            <a:r>
              <a:rPr lang="zh-CN" altLang="en-US" sz="2000" b="1" baseline="-20000" dirty="0">
                <a:latin typeface="宋体" panose="02010600030101010101" pitchFamily="2" charset="-122"/>
              </a:rPr>
              <a:t>移</a:t>
            </a:r>
            <a:r>
              <a:rPr lang="zh-CN" altLang="en-US" sz="2000" b="1" dirty="0">
                <a:latin typeface="宋体" panose="02010600030101010101" pitchFamily="2" charset="-122"/>
              </a:rPr>
              <a:t>、</a:t>
            </a:r>
            <a:r>
              <a:rPr lang="en-US" altLang="zh-CN" sz="2000" b="1" dirty="0">
                <a:latin typeface="宋体" panose="02010600030101010101" pitchFamily="2" charset="-122"/>
              </a:rPr>
              <a:t>[X+Y]</a:t>
            </a:r>
            <a:r>
              <a:rPr lang="zh-CN" altLang="en-US" sz="2000" b="1" baseline="-20000" dirty="0">
                <a:latin typeface="宋体" panose="02010600030101010101" pitchFamily="2" charset="-122"/>
              </a:rPr>
              <a:t>补</a:t>
            </a:r>
            <a:r>
              <a:rPr lang="zh-CN" altLang="en-US" sz="2000" b="1" dirty="0">
                <a:latin typeface="宋体" panose="02010600030101010101" pitchFamily="2" charset="-122"/>
              </a:rPr>
              <a:t>、</a:t>
            </a:r>
            <a:r>
              <a:rPr lang="en-US" altLang="zh-CN" sz="2000" b="1" dirty="0">
                <a:latin typeface="宋体" panose="02010600030101010101" pitchFamily="2" charset="-122"/>
              </a:rPr>
              <a:t>[X&gt;&gt;2]</a:t>
            </a:r>
            <a:r>
              <a:rPr lang="zh-CN" altLang="en-US" sz="2000" b="1" baseline="-20000" dirty="0">
                <a:latin typeface="宋体" panose="02010600030101010101" pitchFamily="2" charset="-122"/>
              </a:rPr>
              <a:t>补</a:t>
            </a:r>
            <a:r>
              <a:rPr lang="zh-CN" altLang="en-US" sz="2000" b="1" dirty="0">
                <a:latin typeface="宋体" panose="02010600030101010101" pitchFamily="2" charset="-122"/>
              </a:rPr>
              <a:t>。</a:t>
            </a:r>
            <a:r>
              <a:rPr lang="zh-CN" altLang="en-US" sz="2000" dirty="0">
                <a:latin typeface="宋体" panose="02010600030101010101" pitchFamily="2" charset="-122"/>
              </a:rPr>
              <a:t> </a:t>
            </a:r>
            <a:endParaRPr lang="zh-CN" altLang="en-US" sz="2000" b="1" dirty="0">
              <a:latin typeface="宋体" panose="02010600030101010101" pitchFamily="2" charset="-122"/>
            </a:endParaRP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179388" y="2852936"/>
            <a:ext cx="8812212" cy="430887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3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、计算题（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7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分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×3=21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分）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179388" y="4149080"/>
            <a:ext cx="8812212" cy="398764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000" b="1" dirty="0">
                <a:latin typeface="宋体" panose="02010600030101010101" pitchFamily="2" charset="-122"/>
              </a:rPr>
              <a:t>简述冯</a:t>
            </a:r>
            <a:r>
              <a:rPr lang="en-US" altLang="zh-CN" sz="2000" b="1" dirty="0">
                <a:latin typeface="宋体" panose="02010600030101010101" pitchFamily="2" charset="-122"/>
              </a:rPr>
              <a:t>·</a:t>
            </a:r>
            <a:r>
              <a:rPr lang="zh-CN" altLang="en-US" sz="2000" b="1" dirty="0">
                <a:latin typeface="宋体" panose="02010600030101010101" pitchFamily="2" charset="-122"/>
              </a:rPr>
              <a:t>诺依曼计算机中存储程序工作方式的基本思想</a:t>
            </a:r>
            <a:r>
              <a:rPr lang="zh-CN" altLang="en-US" sz="2000" dirty="0">
                <a:latin typeface="宋体" panose="02010600030101010101" pitchFamily="2" charset="-122"/>
              </a:rPr>
              <a:t> </a:t>
            </a:r>
            <a:endParaRPr lang="zh-CN" altLang="en-US" sz="2000" b="1" dirty="0">
              <a:latin typeface="宋体" panose="02010600030101010101" pitchFamily="2" charset="-122"/>
            </a:endParaRPr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179388" y="3718193"/>
            <a:ext cx="8812212" cy="430887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4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、简答题（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5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分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×3=15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分）</a:t>
            </a:r>
          </a:p>
        </p:txBody>
      </p:sp>
      <p:sp>
        <p:nvSpPr>
          <p:cNvPr id="12" name="Text Box 6"/>
          <p:cNvSpPr txBox="1">
            <a:spLocks noChangeArrowheads="1"/>
          </p:cNvSpPr>
          <p:nvPr/>
        </p:nvSpPr>
        <p:spPr bwMode="auto">
          <a:xfrm>
            <a:off x="179388" y="5013176"/>
            <a:ext cx="8812212" cy="1144929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1—</a:t>
            </a:r>
            <a:r>
              <a:rPr lang="zh-CN" altLang="en-US" sz="2000" b="1" dirty="0">
                <a:latin typeface="宋体" panose="02010600030101010101" pitchFamily="2" charset="-122"/>
              </a:rPr>
              <a:t>用</a:t>
            </a:r>
            <a:r>
              <a:rPr lang="en-US" altLang="zh-CN" sz="2000" b="1" dirty="0">
                <a:latin typeface="宋体" panose="02010600030101010101" pitchFamily="2" charset="-122"/>
              </a:rPr>
              <a:t>1K×4</a:t>
            </a:r>
            <a:r>
              <a:rPr lang="zh-CN" altLang="en-US" sz="2000" b="1" dirty="0">
                <a:latin typeface="宋体" panose="02010600030101010101" pitchFamily="2" charset="-122"/>
              </a:rPr>
              <a:t>位</a:t>
            </a:r>
            <a:r>
              <a:rPr lang="en-US" altLang="zh-CN" sz="2000" b="1" dirty="0">
                <a:latin typeface="宋体" panose="02010600030101010101" pitchFamily="2" charset="-122"/>
              </a:rPr>
              <a:t>SRAM</a:t>
            </a:r>
            <a:r>
              <a:rPr lang="zh-CN" altLang="en-US" sz="2000" b="1" dirty="0">
                <a:latin typeface="宋体" panose="02010600030101010101" pitchFamily="2" charset="-122"/>
              </a:rPr>
              <a:t>芯片构成</a:t>
            </a:r>
            <a:r>
              <a:rPr lang="en-US" altLang="zh-CN" sz="2000" b="1" dirty="0">
                <a:latin typeface="宋体" panose="02010600030101010101" pitchFamily="2" charset="-122"/>
              </a:rPr>
              <a:t>2K×8</a:t>
            </a:r>
            <a:r>
              <a:rPr lang="zh-CN" altLang="en-US" sz="2000" b="1" dirty="0">
                <a:latin typeface="宋体" panose="02010600030101010101" pitchFamily="2" charset="-122"/>
              </a:rPr>
              <a:t>位存储模块，画出存储模块内部的芯片连接图，及连接</a:t>
            </a:r>
            <a:r>
              <a:rPr lang="en-US" altLang="zh-CN" sz="2000" b="1" dirty="0">
                <a:latin typeface="宋体" panose="02010600030101010101" pitchFamily="2" charset="-122"/>
              </a:rPr>
              <a:t>CPU</a:t>
            </a:r>
            <a:r>
              <a:rPr lang="zh-CN" altLang="en-US" sz="2000" b="1" dirty="0">
                <a:latin typeface="宋体" panose="02010600030101010101" pitchFamily="2" charset="-122"/>
              </a:rPr>
              <a:t>时其</a:t>
            </a:r>
            <a:r>
              <a:rPr lang="en-US" altLang="zh-CN" sz="2000" b="1" dirty="0">
                <a:latin typeface="宋体" panose="02010600030101010101" pitchFamily="2" charset="-122"/>
              </a:rPr>
              <a:t>CS#</a:t>
            </a:r>
            <a:r>
              <a:rPr lang="zh-CN" altLang="en-US" sz="2000" b="1" dirty="0">
                <a:latin typeface="宋体" panose="02010600030101010101" pitchFamily="2" charset="-122"/>
              </a:rPr>
              <a:t>的逻辑表达式         </a:t>
            </a:r>
            <a:r>
              <a:rPr lang="zh-CN" altLang="en-US" sz="2000" b="1" dirty="0">
                <a:latin typeface="宋体" panose="02010600030101010101" pitchFamily="2" charset="-122"/>
                <a:sym typeface="Wingdings" panose="05000000000000000000" pitchFamily="2" charset="2"/>
              </a:rPr>
              <a:t>←参见</a:t>
            </a:r>
            <a:r>
              <a:rPr lang="en-US" altLang="zh-CN" sz="2000" b="1" dirty="0">
                <a:latin typeface="宋体" panose="02010600030101010101" pitchFamily="2" charset="-122"/>
                <a:sym typeface="Wingdings" panose="05000000000000000000" pitchFamily="2" charset="2"/>
              </a:rPr>
              <a:t>PPT3-P36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14000"/>
              </a:lnSpc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2—</a:t>
            </a:r>
            <a:r>
              <a:rPr lang="en-US" altLang="zh-CN" sz="2000" b="1" dirty="0">
                <a:latin typeface="宋体" panose="02010600030101010101" pitchFamily="2" charset="-122"/>
              </a:rPr>
              <a:t>P182</a:t>
            </a:r>
            <a:r>
              <a:rPr lang="zh-CN" altLang="en-US" sz="2000" b="1" dirty="0">
                <a:latin typeface="宋体" panose="02010600030101010101" pitchFamily="2" charset="-122"/>
              </a:rPr>
              <a:t>例</a:t>
            </a:r>
            <a:r>
              <a:rPr lang="en-US" altLang="zh-CN" sz="2000" b="1" dirty="0">
                <a:latin typeface="宋体" panose="02010600030101010101" pitchFamily="2" charset="-122"/>
              </a:rPr>
              <a:t>5.2</a:t>
            </a:r>
            <a:r>
              <a:rPr lang="zh-CN" altLang="en-US" sz="2000" b="1" dirty="0">
                <a:latin typeface="宋体" panose="02010600030101010101" pitchFamily="2" charset="-122"/>
              </a:rPr>
              <a:t>，写出</a:t>
            </a:r>
            <a:r>
              <a:rPr lang="en-US" altLang="zh-CN" sz="2000" b="1" dirty="0">
                <a:latin typeface="宋体" panose="02010600030101010101" pitchFamily="2" charset="-122"/>
              </a:rPr>
              <a:t>R1←(R2)+M[(R3)]</a:t>
            </a:r>
            <a:r>
              <a:rPr lang="zh-CN" altLang="en-US" sz="2000" b="1" dirty="0">
                <a:latin typeface="宋体" panose="02010600030101010101" pitchFamily="2" charset="-122"/>
              </a:rPr>
              <a:t>执行阶段的</a:t>
            </a:r>
            <a:r>
              <a:rPr lang="en-US" altLang="zh-CN" sz="2000" dirty="0" err="1">
                <a:latin typeface="+mn-lt"/>
              </a:rPr>
              <a:t>μ</a:t>
            </a:r>
            <a:r>
              <a:rPr lang="en-US" altLang="zh-CN" sz="2000" b="1" dirty="0" err="1">
                <a:latin typeface="宋体" panose="02010600030101010101" pitchFamily="2" charset="-122"/>
              </a:rPr>
              <a:t>OPCmd</a:t>
            </a:r>
            <a:r>
              <a:rPr lang="zh-CN" altLang="en-US" sz="2000" b="1" dirty="0">
                <a:latin typeface="宋体" panose="02010600030101010101" pitchFamily="2" charset="-122"/>
              </a:rPr>
              <a:t>序列</a:t>
            </a:r>
            <a:endParaRPr lang="en-US" altLang="zh-CN" sz="2000" b="1" dirty="0">
              <a:latin typeface="宋体" panose="02010600030101010101" pitchFamily="2" charset="-122"/>
            </a:endParaRPr>
          </a:p>
        </p:txBody>
      </p:sp>
      <p:sp>
        <p:nvSpPr>
          <p:cNvPr id="13" name="Text Box 9"/>
          <p:cNvSpPr txBox="1">
            <a:spLocks noChangeArrowheads="1"/>
          </p:cNvSpPr>
          <p:nvPr/>
        </p:nvSpPr>
        <p:spPr bwMode="auto">
          <a:xfrm>
            <a:off x="179388" y="4581128"/>
            <a:ext cx="8812212" cy="430887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5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、应用题（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13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分＋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12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分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=25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分）</a:t>
            </a:r>
          </a:p>
        </p:txBody>
      </p:sp>
      <p:sp>
        <p:nvSpPr>
          <p:cNvPr id="14" name="Text Box 175"/>
          <p:cNvSpPr txBox="1">
            <a:spLocks noChangeArrowheads="1"/>
          </p:cNvSpPr>
          <p:nvPr/>
        </p:nvSpPr>
        <p:spPr bwMode="auto">
          <a:xfrm>
            <a:off x="179512" y="1988840"/>
            <a:ext cx="8812212" cy="430887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、判断题（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分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×15=15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分）</a:t>
            </a:r>
          </a:p>
        </p:txBody>
      </p:sp>
      <p:sp>
        <p:nvSpPr>
          <p:cNvPr id="15" name="Text Box 176"/>
          <p:cNvSpPr txBox="1">
            <a:spLocks noChangeArrowheads="1"/>
          </p:cNvSpPr>
          <p:nvPr/>
        </p:nvSpPr>
        <p:spPr bwMode="auto">
          <a:xfrm>
            <a:off x="179512" y="2420888"/>
            <a:ext cx="8812212" cy="443198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000" b="1" dirty="0">
                <a:latin typeface="宋体" panose="02010600030101010101" pitchFamily="2" charset="-122"/>
              </a:rPr>
              <a:t>同样长度的补码比原码多表示一个数。</a:t>
            </a:r>
            <a:r>
              <a:rPr lang="en-US" altLang="zh-CN" sz="2000" b="1" dirty="0">
                <a:latin typeface="宋体" panose="02010600030101010101" pitchFamily="2" charset="-122"/>
              </a:rPr>
              <a:t>(  )</a:t>
            </a:r>
            <a:endParaRPr lang="zh-CN" altLang="en-US" sz="20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EFACD66-3566-4C3A-BCF1-9B1640B31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t>3</a:t>
            </a:fld>
            <a:endParaRPr lang="en-US" altLang="zh-CN" dirty="0"/>
          </a:p>
        </p:txBody>
      </p:sp>
      <p:sp>
        <p:nvSpPr>
          <p:cNvPr id="43" name="Text Box 43">
            <a:extLst>
              <a:ext uri="{FF2B5EF4-FFF2-40B4-BE49-F238E27FC236}">
                <a16:creationId xmlns:a16="http://schemas.microsoft.com/office/drawing/2014/main" id="{80B4C7D7-3575-42A8-A514-5FF05F7C6C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3212976"/>
            <a:ext cx="8712968" cy="32658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※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复习建议：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思路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200" b="1" dirty="0">
                <a:latin typeface="宋体" panose="02010600030101010101" pitchFamily="2" charset="-122"/>
              </a:rPr>
              <a:t>建立整机概念，基于需求理解部件组成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2100"/>
              </a:spcBef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 方法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200" b="1" dirty="0">
                <a:latin typeface="宋体" panose="02010600030101010101" pitchFamily="2" charset="-122"/>
              </a:rPr>
              <a:t>教材、课件同步看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互补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，做题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巩固、查漏补缺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dirty="0">
                <a:latin typeface="宋体" panose="02010600030101010101" pitchFamily="2" charset="-122"/>
              </a:rPr>
              <a:t>           </a:t>
            </a:r>
            <a:r>
              <a:rPr lang="zh-CN" altLang="en-US" sz="2200" b="1" dirty="0">
                <a:latin typeface="宋体" panose="02010600030101010101" pitchFamily="2" charset="-122"/>
              </a:rPr>
              <a:t>注意知识点融合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理解原理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zh-CN" altLang="en-US" sz="2800" b="1" dirty="0">
              <a:latin typeface="+mn-ea"/>
              <a:ea typeface="+mn-ea"/>
            </a:endParaRPr>
          </a:p>
        </p:txBody>
      </p:sp>
      <p:sp>
        <p:nvSpPr>
          <p:cNvPr id="44" name="Text Box 10">
            <a:extLst>
              <a:ext uri="{FF2B5EF4-FFF2-40B4-BE49-F238E27FC236}">
                <a16:creationId xmlns:a16="http://schemas.microsoft.com/office/drawing/2014/main" id="{0B4DC33A-1BA1-40D7-BAFA-E980F6209E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04664"/>
            <a:ext cx="8712968" cy="2862322"/>
          </a:xfrm>
          <a:prstGeom prst="rect">
            <a:avLst/>
          </a:prstGeom>
          <a:noFill/>
          <a:ln w="15875">
            <a:noFill/>
            <a:prstDash val="sysDash"/>
            <a:miter lim="800000"/>
          </a:ln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※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考核相关信息：</a:t>
            </a:r>
            <a:endParaRPr lang="en-US" altLang="zh-CN" sz="22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just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考核目标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200" b="1" dirty="0">
                <a:latin typeface="宋体" panose="02010600030101010101" pitchFamily="2" charset="-122"/>
              </a:rPr>
              <a:t>基本概念、基本方法</a:t>
            </a:r>
            <a:r>
              <a:rPr lang="en-US" altLang="zh-CN" sz="2200" b="1" dirty="0">
                <a:latin typeface="宋体" panose="02010600030101010101" pitchFamily="2" charset="-122"/>
              </a:rPr>
              <a:t>/</a:t>
            </a:r>
            <a:r>
              <a:rPr lang="zh-CN" altLang="en-US" sz="2200" b="1" dirty="0">
                <a:latin typeface="宋体" panose="02010600030101010101" pitchFamily="2" charset="-122"/>
              </a:rPr>
              <a:t>原理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just"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 考核方法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概念理解、原理解释、量化分析、简单设计</a:t>
            </a:r>
            <a:endParaRPr lang="en-US" altLang="zh-CN" sz="2200" b="1" spc="-100" dirty="0">
              <a:latin typeface="宋体" panose="02010600030101010101" pitchFamily="2" charset="-122"/>
            </a:endParaRPr>
          </a:p>
          <a:p>
            <a:pPr algn="just">
              <a:lnSpc>
                <a:spcPct val="105000"/>
              </a:lnSpc>
            </a:pPr>
            <a:r>
              <a:rPr lang="en-US" altLang="zh-CN" sz="1600" b="1" spc="-100" dirty="0">
                <a:latin typeface="宋体" panose="02010600030101010101" pitchFamily="2" charset="-122"/>
              </a:rPr>
              <a:t>                         (</a:t>
            </a:r>
            <a:r>
              <a:rPr lang="zh-CN" altLang="en-US" sz="1600" b="1" spc="-100" dirty="0">
                <a:latin typeface="宋体" panose="02010600030101010101" pitchFamily="2" charset="-122"/>
              </a:rPr>
              <a:t>闭卷考试时，场景会给出的</a:t>
            </a:r>
            <a:r>
              <a:rPr lang="en-US" altLang="zh-CN" sz="1600" b="1" spc="-100" dirty="0">
                <a:latin typeface="宋体" panose="02010600030101010101" pitchFamily="2" charset="-122"/>
              </a:rPr>
              <a:t>[</a:t>
            </a:r>
            <a:r>
              <a:rPr lang="zh-CN" altLang="en-US" sz="1600" b="1" spc="-100" dirty="0">
                <a:latin typeface="宋体" panose="02010600030101010101" pitchFamily="2" charset="-122"/>
              </a:rPr>
              <a:t>不需要背</a:t>
            </a:r>
            <a:r>
              <a:rPr lang="en-US" altLang="zh-CN" sz="1600" b="1" spc="-100" dirty="0">
                <a:latin typeface="宋体" panose="02010600030101010101" pitchFamily="2" charset="-122"/>
              </a:rPr>
              <a:t>])</a:t>
            </a:r>
          </a:p>
          <a:p>
            <a:pPr algn="just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考核范围</a:t>
            </a: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200" b="1" dirty="0">
                <a:latin typeface="宋体" panose="02010600030101010101" pitchFamily="2" charset="-122"/>
              </a:rPr>
              <a:t>课件未讲的不考，标</a:t>
            </a:r>
            <a:r>
              <a:rPr lang="en-US" altLang="zh-CN" sz="2200" b="1" dirty="0">
                <a:latin typeface="宋体" panose="02010600030101010101" pitchFamily="2" charset="-122"/>
              </a:rPr>
              <a:t>×</a:t>
            </a:r>
            <a:r>
              <a:rPr lang="zh-CN" altLang="en-US" sz="2200" b="1" dirty="0">
                <a:latin typeface="宋体" panose="02010600030101010101" pitchFamily="2" charset="-122"/>
              </a:rPr>
              <a:t>的不考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just">
              <a:lnSpc>
                <a:spcPct val="125000"/>
              </a:lnSpc>
            </a:pPr>
            <a:r>
              <a:rPr lang="en-US" altLang="zh-CN" sz="2000" b="1" dirty="0">
                <a:latin typeface="宋体" panose="02010600030101010101" pitchFamily="2" charset="-122"/>
              </a:rPr>
              <a:t>        </a:t>
            </a:r>
            <a:r>
              <a:rPr lang="zh-CN" altLang="en-US" sz="2000" b="1" dirty="0">
                <a:latin typeface="宋体" panose="02010600030101010101" pitchFamily="2" charset="-122"/>
              </a:rPr>
              <a:t>重 要 性：层次有     、    、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紫色文字</a:t>
            </a:r>
            <a:r>
              <a:rPr lang="zh-CN" altLang="en-US" sz="2000" b="1" dirty="0">
                <a:latin typeface="宋体" panose="02010600030101010101" pitchFamily="2" charset="-122"/>
              </a:rPr>
              <a:t>、黑色文字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algn="just">
              <a:lnSpc>
                <a:spcPct val="125000"/>
              </a:lnSpc>
            </a:pPr>
            <a:r>
              <a:rPr lang="en-US" altLang="zh-CN" sz="2000" b="1" dirty="0">
                <a:latin typeface="宋体" panose="02010600030101010101" pitchFamily="2" charset="-122"/>
              </a:rPr>
              <a:t>        </a:t>
            </a:r>
            <a:r>
              <a:rPr lang="zh-CN" altLang="en-US" sz="2000" b="1" dirty="0">
                <a:latin typeface="宋体" panose="02010600030101010101" pitchFamily="2" charset="-122"/>
              </a:rPr>
              <a:t>掌握程度：级别有☆、◇、△</a:t>
            </a:r>
            <a:endParaRPr lang="en-US" altLang="zh-CN" sz="2000" b="1" dirty="0">
              <a:latin typeface="宋体" panose="02010600030101010101" pitchFamily="2" charset="-122"/>
            </a:endParaRP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7566ACDF-C07D-473B-ABF5-E463318C698B}"/>
              </a:ext>
            </a:extLst>
          </p:cNvPr>
          <p:cNvGrpSpPr/>
          <p:nvPr/>
        </p:nvGrpSpPr>
        <p:grpSpPr>
          <a:xfrm>
            <a:off x="3419872" y="2456920"/>
            <a:ext cx="1351662" cy="252000"/>
            <a:chOff x="3618318" y="4229612"/>
            <a:chExt cx="1426039" cy="352715"/>
          </a:xfrm>
        </p:grpSpPr>
        <p:sp>
          <p:nvSpPr>
            <p:cNvPr id="46" name="Text Box 75">
              <a:extLst>
                <a:ext uri="{FF2B5EF4-FFF2-40B4-BE49-F238E27FC236}">
                  <a16:creationId xmlns:a16="http://schemas.microsoft.com/office/drawing/2014/main" id="{79D2F755-5AD6-49E6-B1DE-0C5AA790F8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8318" y="4229612"/>
              <a:ext cx="576064" cy="352715"/>
            </a:xfrm>
            <a:prstGeom prst="rect">
              <a:avLst/>
            </a:prstGeom>
            <a:noFill/>
            <a:ln w="19050">
              <a:solidFill>
                <a:srgbClr val="FF3300"/>
              </a:solidFill>
              <a:miter lim="800000"/>
            </a:ln>
          </p:spPr>
          <p:txBody>
            <a:bodyPr wrap="square">
              <a:noAutofit/>
            </a:bodyPr>
            <a:lstStyle/>
            <a:p>
              <a:endPara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7" name="Text Box 75">
              <a:extLst>
                <a:ext uri="{FF2B5EF4-FFF2-40B4-BE49-F238E27FC236}">
                  <a16:creationId xmlns:a16="http://schemas.microsoft.com/office/drawing/2014/main" id="{A0DD4A76-6D82-4211-94F0-A38AA1BB5C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8293" y="4229612"/>
              <a:ext cx="576064" cy="352715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  <a:miter lim="800000"/>
            </a:ln>
          </p:spPr>
          <p:txBody>
            <a:bodyPr wrap="square">
              <a:noAutofit/>
            </a:bodyPr>
            <a:lstStyle/>
            <a:p>
              <a:endPara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3788BBE1-F8FA-44AE-88FA-9641E247E8BB}"/>
              </a:ext>
            </a:extLst>
          </p:cNvPr>
          <p:cNvGrpSpPr/>
          <p:nvPr/>
        </p:nvGrpSpPr>
        <p:grpSpPr>
          <a:xfrm>
            <a:off x="4211960" y="4150800"/>
            <a:ext cx="1296144" cy="1296000"/>
            <a:chOff x="4211960" y="4221088"/>
            <a:chExt cx="1296144" cy="1296000"/>
          </a:xfrm>
        </p:grpSpPr>
        <p:sp>
          <p:nvSpPr>
            <p:cNvPr id="49" name="Text Box 316">
              <a:extLst>
                <a:ext uri="{FF2B5EF4-FFF2-40B4-BE49-F238E27FC236}">
                  <a16:creationId xmlns:a16="http://schemas.microsoft.com/office/drawing/2014/main" id="{F40CBBD1-2F8E-4069-9D8E-FE12F36D41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0074" y="4438800"/>
              <a:ext cx="288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5C66BD4A-7AF4-4E9A-8834-B9191A07E3A1}"/>
                </a:ext>
              </a:extLst>
            </p:cNvPr>
            <p:cNvCxnSpPr/>
            <p:nvPr/>
          </p:nvCxnSpPr>
          <p:spPr bwMode="auto">
            <a:xfrm flipV="1">
              <a:off x="4211961" y="4330800"/>
              <a:ext cx="288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1" name="直接箭头连接符 50">
              <a:extLst>
                <a:ext uri="{FF2B5EF4-FFF2-40B4-BE49-F238E27FC236}">
                  <a16:creationId xmlns:a16="http://schemas.microsoft.com/office/drawing/2014/main" id="{C38BE32B-B6B5-4CBE-BCAA-340A6EE361B7}"/>
                </a:ext>
              </a:extLst>
            </p:cNvPr>
            <p:cNvCxnSpPr/>
            <p:nvPr/>
          </p:nvCxnSpPr>
          <p:spPr bwMode="auto">
            <a:xfrm flipV="1">
              <a:off x="4211960" y="4725088"/>
              <a:ext cx="288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2" name="Text Box 314">
              <a:extLst>
                <a:ext uri="{FF2B5EF4-FFF2-40B4-BE49-F238E27FC236}">
                  <a16:creationId xmlns:a16="http://schemas.microsoft.com/office/drawing/2014/main" id="{74C11EA6-5D58-4901-A64F-2108D54297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0075" y="4221088"/>
              <a:ext cx="1008000" cy="216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部件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需求</a:t>
              </a:r>
            </a:p>
          </p:txBody>
        </p:sp>
        <p:sp>
          <p:nvSpPr>
            <p:cNvPr id="53" name="Text Box 314">
              <a:extLst>
                <a:ext uri="{FF2B5EF4-FFF2-40B4-BE49-F238E27FC236}">
                  <a16:creationId xmlns:a16="http://schemas.microsoft.com/office/drawing/2014/main" id="{9355DC11-9A59-4D0C-9F31-5C6D028C49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0075" y="4617088"/>
              <a:ext cx="1008000" cy="216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部件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n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需求</a:t>
              </a:r>
            </a:p>
          </p:txBody>
        </p:sp>
        <p:sp>
          <p:nvSpPr>
            <p:cNvPr id="54" name="Text Box 314">
              <a:extLst>
                <a:ext uri="{FF2B5EF4-FFF2-40B4-BE49-F238E27FC236}">
                  <a16:creationId xmlns:a16="http://schemas.microsoft.com/office/drawing/2014/main" id="{598014A8-497A-4FDA-987E-09767E5695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0105" y="5301088"/>
              <a:ext cx="1007999" cy="216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solidFill>
                <a:srgbClr val="990099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控制需求</a:t>
              </a:r>
            </a:p>
          </p:txBody>
        </p:sp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C869E4F1-0FA7-4A31-ADE8-9E8EFDD49D55}"/>
                </a:ext>
              </a:extLst>
            </p:cNvPr>
            <p:cNvCxnSpPr/>
            <p:nvPr/>
          </p:nvCxnSpPr>
          <p:spPr bwMode="auto">
            <a:xfrm flipV="1">
              <a:off x="4211960" y="5409088"/>
              <a:ext cx="28800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FD206EC8-74E2-4073-BF89-EA82BCD1B42F}"/>
                </a:ext>
              </a:extLst>
            </p:cNvPr>
            <p:cNvCxnSpPr/>
            <p:nvPr/>
          </p:nvCxnSpPr>
          <p:spPr bwMode="auto">
            <a:xfrm flipV="1">
              <a:off x="4211960" y="5085088"/>
              <a:ext cx="288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7" name="Text Box 314">
              <a:extLst>
                <a:ext uri="{FF2B5EF4-FFF2-40B4-BE49-F238E27FC236}">
                  <a16:creationId xmlns:a16="http://schemas.microsoft.com/office/drawing/2014/main" id="{94B64ECA-296F-4B3D-A3E5-E1F94FE45A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0075" y="4977088"/>
              <a:ext cx="1008000" cy="216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连接方案</a:t>
              </a:r>
            </a:p>
          </p:txBody>
        </p: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C089B79B-D3E7-41E8-B3F1-6C685FC67907}"/>
              </a:ext>
            </a:extLst>
          </p:cNvPr>
          <p:cNvGrpSpPr/>
          <p:nvPr/>
        </p:nvGrpSpPr>
        <p:grpSpPr>
          <a:xfrm>
            <a:off x="5508104" y="4078800"/>
            <a:ext cx="2556280" cy="1045720"/>
            <a:chOff x="5508104" y="4149080"/>
            <a:chExt cx="2556280" cy="1045720"/>
          </a:xfrm>
        </p:grpSpPr>
        <p:sp>
          <p:nvSpPr>
            <p:cNvPr id="59" name="Text Box 314">
              <a:extLst>
                <a:ext uri="{FF2B5EF4-FFF2-40B4-BE49-F238E27FC236}">
                  <a16:creationId xmlns:a16="http://schemas.microsoft.com/office/drawing/2014/main" id="{8BFD1F5E-026A-4952-94AF-99D6523C4B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68248" y="4221088"/>
              <a:ext cx="936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硬件组成</a:t>
              </a:r>
            </a:p>
          </p:txBody>
        </p:sp>
        <p:sp>
          <p:nvSpPr>
            <p:cNvPr id="60" name="Text Box 314">
              <a:extLst>
                <a:ext uri="{FF2B5EF4-FFF2-40B4-BE49-F238E27FC236}">
                  <a16:creationId xmlns:a16="http://schemas.microsoft.com/office/drawing/2014/main" id="{93FE3617-3BB1-45F7-999E-FC57544A19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68248" y="4618800"/>
              <a:ext cx="900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硬件组成</a:t>
              </a:r>
            </a:p>
          </p:txBody>
        </p:sp>
        <p:sp>
          <p:nvSpPr>
            <p:cNvPr id="61" name="Text Box 314">
              <a:extLst>
                <a:ext uri="{FF2B5EF4-FFF2-40B4-BE49-F238E27FC236}">
                  <a16:creationId xmlns:a16="http://schemas.microsoft.com/office/drawing/2014/main" id="{2DCA7A32-B241-4703-BF9E-A4FFA038F3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64384" y="4618800"/>
              <a:ext cx="900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工作原理</a:t>
              </a:r>
            </a:p>
          </p:txBody>
        </p:sp>
        <p:sp>
          <p:nvSpPr>
            <p:cNvPr id="62" name="Text Box 314">
              <a:extLst>
                <a:ext uri="{FF2B5EF4-FFF2-40B4-BE49-F238E27FC236}">
                  <a16:creationId xmlns:a16="http://schemas.microsoft.com/office/drawing/2014/main" id="{B3E182DF-C1DC-4090-B1D3-C1F2B95B71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64288" y="4221088"/>
              <a:ext cx="900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工作原理</a:t>
              </a:r>
            </a:p>
          </p:txBody>
        </p:sp>
        <p:cxnSp>
          <p:nvCxnSpPr>
            <p:cNvPr id="63" name="直接箭头连接符 62">
              <a:extLst>
                <a:ext uri="{FF2B5EF4-FFF2-40B4-BE49-F238E27FC236}">
                  <a16:creationId xmlns:a16="http://schemas.microsoft.com/office/drawing/2014/main" id="{DC337AE0-7F47-44A4-9750-AE34F2A43E46}"/>
                </a:ext>
              </a:extLst>
            </p:cNvPr>
            <p:cNvCxnSpPr>
              <a:stCxn id="59" idx="3"/>
              <a:endCxn id="62" idx="1"/>
            </p:cNvCxnSpPr>
            <p:nvPr/>
          </p:nvCxnSpPr>
          <p:spPr bwMode="auto">
            <a:xfrm>
              <a:off x="6804248" y="4329088"/>
              <a:ext cx="3600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4" name="直接箭头连接符 63">
              <a:extLst>
                <a:ext uri="{FF2B5EF4-FFF2-40B4-BE49-F238E27FC236}">
                  <a16:creationId xmlns:a16="http://schemas.microsoft.com/office/drawing/2014/main" id="{E99AC612-80C9-42BF-BF12-F878A9B993D4}"/>
                </a:ext>
              </a:extLst>
            </p:cNvPr>
            <p:cNvCxnSpPr>
              <a:stCxn id="60" idx="3"/>
              <a:endCxn id="61" idx="1"/>
            </p:cNvCxnSpPr>
            <p:nvPr/>
          </p:nvCxnSpPr>
          <p:spPr bwMode="auto">
            <a:xfrm>
              <a:off x="6768248" y="4726800"/>
              <a:ext cx="396136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5" name="直接箭头连接符 64">
              <a:extLst>
                <a:ext uri="{FF2B5EF4-FFF2-40B4-BE49-F238E27FC236}">
                  <a16:creationId xmlns:a16="http://schemas.microsoft.com/office/drawing/2014/main" id="{1261998B-52DC-4764-A0AB-455053F72882}"/>
                </a:ext>
              </a:extLst>
            </p:cNvPr>
            <p:cNvCxnSpPr/>
            <p:nvPr/>
          </p:nvCxnSpPr>
          <p:spPr bwMode="auto">
            <a:xfrm>
              <a:off x="5508104" y="4330800"/>
              <a:ext cx="360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6" name="直接箭头连接符 65">
              <a:extLst>
                <a:ext uri="{FF2B5EF4-FFF2-40B4-BE49-F238E27FC236}">
                  <a16:creationId xmlns:a16="http://schemas.microsoft.com/office/drawing/2014/main" id="{C3AFEFB4-8961-4211-8D55-B99A5375178C}"/>
                </a:ext>
              </a:extLst>
            </p:cNvPr>
            <p:cNvCxnSpPr/>
            <p:nvPr/>
          </p:nvCxnSpPr>
          <p:spPr bwMode="auto">
            <a:xfrm>
              <a:off x="5508104" y="4726800"/>
              <a:ext cx="360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7" name="直接箭头连接符 66">
              <a:extLst>
                <a:ext uri="{FF2B5EF4-FFF2-40B4-BE49-F238E27FC236}">
                  <a16:creationId xmlns:a16="http://schemas.microsoft.com/office/drawing/2014/main" id="{608D3B3B-7D2B-4758-8641-67A19C5F93B8}"/>
                </a:ext>
              </a:extLst>
            </p:cNvPr>
            <p:cNvCxnSpPr/>
            <p:nvPr/>
          </p:nvCxnSpPr>
          <p:spPr bwMode="auto">
            <a:xfrm>
              <a:off x="5652120" y="4149080"/>
              <a:ext cx="1296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8" name="直接箭头连接符 67">
              <a:extLst>
                <a:ext uri="{FF2B5EF4-FFF2-40B4-BE49-F238E27FC236}">
                  <a16:creationId xmlns:a16="http://schemas.microsoft.com/office/drawing/2014/main" id="{7DDAC4A0-55BF-4CCB-9F5D-09BFB8CF1417}"/>
                </a:ext>
              </a:extLst>
            </p:cNvPr>
            <p:cNvCxnSpPr/>
            <p:nvPr/>
          </p:nvCxnSpPr>
          <p:spPr bwMode="auto">
            <a:xfrm>
              <a:off x="6948264" y="4149080"/>
              <a:ext cx="0" cy="180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9" name="直接箭头连接符 68">
              <a:extLst>
                <a:ext uri="{FF2B5EF4-FFF2-40B4-BE49-F238E27FC236}">
                  <a16:creationId xmlns:a16="http://schemas.microsoft.com/office/drawing/2014/main" id="{ABBE2F01-BFAF-41C3-8482-C116E626936B}"/>
                </a:ext>
              </a:extLst>
            </p:cNvPr>
            <p:cNvCxnSpPr/>
            <p:nvPr/>
          </p:nvCxnSpPr>
          <p:spPr bwMode="auto">
            <a:xfrm flipV="1">
              <a:off x="5652120" y="4149080"/>
              <a:ext cx="0" cy="180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cxnSp>
          <p:nvCxnSpPr>
            <p:cNvPr id="70" name="直接箭头连接符 69">
              <a:extLst>
                <a:ext uri="{FF2B5EF4-FFF2-40B4-BE49-F238E27FC236}">
                  <a16:creationId xmlns:a16="http://schemas.microsoft.com/office/drawing/2014/main" id="{3E4FD836-BE15-49B1-976D-FAC872DD6B3F}"/>
                </a:ext>
              </a:extLst>
            </p:cNvPr>
            <p:cNvCxnSpPr/>
            <p:nvPr/>
          </p:nvCxnSpPr>
          <p:spPr bwMode="auto">
            <a:xfrm>
              <a:off x="5652120" y="4906800"/>
              <a:ext cx="1296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71" name="直接箭头连接符 70">
              <a:extLst>
                <a:ext uri="{FF2B5EF4-FFF2-40B4-BE49-F238E27FC236}">
                  <a16:creationId xmlns:a16="http://schemas.microsoft.com/office/drawing/2014/main" id="{FB87ADA1-A1C0-4948-8234-DC6B2B660112}"/>
                </a:ext>
              </a:extLst>
            </p:cNvPr>
            <p:cNvCxnSpPr/>
            <p:nvPr/>
          </p:nvCxnSpPr>
          <p:spPr bwMode="auto">
            <a:xfrm flipH="1" flipV="1">
              <a:off x="6948264" y="4726800"/>
              <a:ext cx="0" cy="180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2" name="直接箭头连接符 71">
              <a:extLst>
                <a:ext uri="{FF2B5EF4-FFF2-40B4-BE49-F238E27FC236}">
                  <a16:creationId xmlns:a16="http://schemas.microsoft.com/office/drawing/2014/main" id="{FC9D02DB-701C-41F7-96E4-55B42575FB2F}"/>
                </a:ext>
              </a:extLst>
            </p:cNvPr>
            <p:cNvCxnSpPr/>
            <p:nvPr/>
          </p:nvCxnSpPr>
          <p:spPr bwMode="auto">
            <a:xfrm>
              <a:off x="5652120" y="4726800"/>
              <a:ext cx="0" cy="180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  <a:effectLst/>
          </p:spPr>
        </p:cxnSp>
        <p:sp>
          <p:nvSpPr>
            <p:cNvPr id="73" name="Text Box 316">
              <a:extLst>
                <a:ext uri="{FF2B5EF4-FFF2-40B4-BE49-F238E27FC236}">
                  <a16:creationId xmlns:a16="http://schemas.microsoft.com/office/drawing/2014/main" id="{F6BB30F1-E27D-4280-AF0E-7F1FE4ED0F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56448" y="4438800"/>
              <a:ext cx="1656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600" b="1" dirty="0">
                  <a:latin typeface="宋体" panose="02010600030101010101" pitchFamily="2" charset="-122"/>
                </a:rPr>
                <a:t>…           …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74" name="Text Box 314">
              <a:extLst>
                <a:ext uri="{FF2B5EF4-FFF2-40B4-BE49-F238E27FC236}">
                  <a16:creationId xmlns:a16="http://schemas.microsoft.com/office/drawing/2014/main" id="{96B580C8-E244-4892-BEA4-1BF8845E95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68248" y="4978800"/>
              <a:ext cx="900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硬件连接</a:t>
              </a:r>
            </a:p>
          </p:txBody>
        </p:sp>
        <p:sp>
          <p:nvSpPr>
            <p:cNvPr id="75" name="Text Box 314">
              <a:extLst>
                <a:ext uri="{FF2B5EF4-FFF2-40B4-BE49-F238E27FC236}">
                  <a16:creationId xmlns:a16="http://schemas.microsoft.com/office/drawing/2014/main" id="{2A9D5A00-5750-49DB-804C-3F2151831C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64384" y="4978800"/>
              <a:ext cx="900000" cy="216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传送方法</a:t>
              </a:r>
            </a:p>
          </p:txBody>
        </p:sp>
        <p:cxnSp>
          <p:nvCxnSpPr>
            <p:cNvPr id="76" name="直接箭头连接符 75">
              <a:extLst>
                <a:ext uri="{FF2B5EF4-FFF2-40B4-BE49-F238E27FC236}">
                  <a16:creationId xmlns:a16="http://schemas.microsoft.com/office/drawing/2014/main" id="{4179DAC3-C5DD-4C12-AE41-60E122560C35}"/>
                </a:ext>
              </a:extLst>
            </p:cNvPr>
            <p:cNvCxnSpPr/>
            <p:nvPr/>
          </p:nvCxnSpPr>
          <p:spPr bwMode="auto">
            <a:xfrm>
              <a:off x="5508104" y="5086800"/>
              <a:ext cx="360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7" name="直接箭头连接符 76">
              <a:extLst>
                <a:ext uri="{FF2B5EF4-FFF2-40B4-BE49-F238E27FC236}">
                  <a16:creationId xmlns:a16="http://schemas.microsoft.com/office/drawing/2014/main" id="{6B4EB273-6589-4D1F-BB7E-7DC0A4DDA1DD}"/>
                </a:ext>
              </a:extLst>
            </p:cNvPr>
            <p:cNvCxnSpPr>
              <a:cxnSpLocks/>
              <a:stCxn id="74" idx="3"/>
              <a:endCxn id="75" idx="1"/>
            </p:cNvCxnSpPr>
            <p:nvPr/>
          </p:nvCxnSpPr>
          <p:spPr bwMode="auto">
            <a:xfrm>
              <a:off x="6768248" y="5086800"/>
              <a:ext cx="396136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F6C593A4-5E7A-4D5B-9F4F-54539E33E7E3}"/>
              </a:ext>
            </a:extLst>
          </p:cNvPr>
          <p:cNvGrpSpPr/>
          <p:nvPr/>
        </p:nvGrpSpPr>
        <p:grpSpPr>
          <a:xfrm>
            <a:off x="5508000" y="4258800"/>
            <a:ext cx="2851593" cy="1188000"/>
            <a:chOff x="5508000" y="4330800"/>
            <a:chExt cx="2851593" cy="1188000"/>
          </a:xfrm>
        </p:grpSpPr>
        <p:cxnSp>
          <p:nvCxnSpPr>
            <p:cNvPr id="79" name="直接箭头连接符 78">
              <a:extLst>
                <a:ext uri="{FF2B5EF4-FFF2-40B4-BE49-F238E27FC236}">
                  <a16:creationId xmlns:a16="http://schemas.microsoft.com/office/drawing/2014/main" id="{EAEB80A9-6087-4E7F-828C-2A43F63BAB1E}"/>
                </a:ext>
              </a:extLst>
            </p:cNvPr>
            <p:cNvCxnSpPr/>
            <p:nvPr/>
          </p:nvCxnSpPr>
          <p:spPr bwMode="auto">
            <a:xfrm flipH="1">
              <a:off x="6804000" y="5410800"/>
              <a:ext cx="147600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0" name="直接箭头连接符 79">
              <a:extLst>
                <a:ext uri="{FF2B5EF4-FFF2-40B4-BE49-F238E27FC236}">
                  <a16:creationId xmlns:a16="http://schemas.microsoft.com/office/drawing/2014/main" id="{410E6F3E-ACA2-4CEF-9D26-64C82A898C3D}"/>
                </a:ext>
              </a:extLst>
            </p:cNvPr>
            <p:cNvCxnSpPr/>
            <p:nvPr/>
          </p:nvCxnSpPr>
          <p:spPr bwMode="auto">
            <a:xfrm flipV="1">
              <a:off x="6300192" y="4834800"/>
              <a:ext cx="0" cy="46800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81" name="直接箭头连接符 27">
              <a:extLst>
                <a:ext uri="{FF2B5EF4-FFF2-40B4-BE49-F238E27FC236}">
                  <a16:creationId xmlns:a16="http://schemas.microsoft.com/office/drawing/2014/main" id="{F998E62E-3138-4726-B188-0E16A24192B0}"/>
                </a:ext>
              </a:extLst>
            </p:cNvPr>
            <p:cNvCxnSpPr/>
            <p:nvPr/>
          </p:nvCxnSpPr>
          <p:spPr bwMode="auto">
            <a:xfrm>
              <a:off x="8064000" y="4725144"/>
              <a:ext cx="216000" cy="684000"/>
            </a:xfrm>
            <a:prstGeom prst="bentConnector2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82" name="Text Box 311">
              <a:extLst>
                <a:ext uri="{FF2B5EF4-FFF2-40B4-BE49-F238E27FC236}">
                  <a16:creationId xmlns:a16="http://schemas.microsoft.com/office/drawing/2014/main" id="{91637763-1EC0-4A10-ABFE-35D79FBBBB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68000" y="5302800"/>
              <a:ext cx="936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硬件控制</a:t>
              </a:r>
            </a:p>
          </p:txBody>
        </p:sp>
        <p:cxnSp>
          <p:nvCxnSpPr>
            <p:cNvPr id="83" name="直接箭头连接符 82">
              <a:extLst>
                <a:ext uri="{FF2B5EF4-FFF2-40B4-BE49-F238E27FC236}">
                  <a16:creationId xmlns:a16="http://schemas.microsoft.com/office/drawing/2014/main" id="{AFFD8DA9-6D24-4D18-B497-901727099E5D}"/>
                </a:ext>
              </a:extLst>
            </p:cNvPr>
            <p:cNvCxnSpPr/>
            <p:nvPr/>
          </p:nvCxnSpPr>
          <p:spPr bwMode="auto">
            <a:xfrm>
              <a:off x="5508000" y="5410800"/>
              <a:ext cx="367425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4" name="直接箭头连接符 83">
              <a:extLst>
                <a:ext uri="{FF2B5EF4-FFF2-40B4-BE49-F238E27FC236}">
                  <a16:creationId xmlns:a16="http://schemas.microsoft.com/office/drawing/2014/main" id="{4976C62A-04D9-4BC5-93D3-BC1BF11EAA3D}"/>
                </a:ext>
              </a:extLst>
            </p:cNvPr>
            <p:cNvCxnSpPr/>
            <p:nvPr/>
          </p:nvCxnSpPr>
          <p:spPr bwMode="auto">
            <a:xfrm flipV="1">
              <a:off x="6120000" y="4438800"/>
              <a:ext cx="0" cy="86400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85" name="直接箭头连接符 84">
              <a:extLst>
                <a:ext uri="{FF2B5EF4-FFF2-40B4-BE49-F238E27FC236}">
                  <a16:creationId xmlns:a16="http://schemas.microsoft.com/office/drawing/2014/main" id="{7718CC9F-1761-48B7-B987-9E3533DE599B}"/>
                </a:ext>
              </a:extLst>
            </p:cNvPr>
            <p:cNvCxnSpPr/>
            <p:nvPr/>
          </p:nvCxnSpPr>
          <p:spPr bwMode="auto">
            <a:xfrm flipH="1">
              <a:off x="6804000" y="5482800"/>
              <a:ext cx="154800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6" name="直接箭头连接符 27">
              <a:extLst>
                <a:ext uri="{FF2B5EF4-FFF2-40B4-BE49-F238E27FC236}">
                  <a16:creationId xmlns:a16="http://schemas.microsoft.com/office/drawing/2014/main" id="{0B397108-ABC4-44BD-9A86-F6DD299D4E95}"/>
                </a:ext>
              </a:extLst>
            </p:cNvPr>
            <p:cNvCxnSpPr/>
            <p:nvPr/>
          </p:nvCxnSpPr>
          <p:spPr bwMode="auto">
            <a:xfrm>
              <a:off x="8071465" y="4330800"/>
              <a:ext cx="288128" cy="1152000"/>
            </a:xfrm>
            <a:prstGeom prst="bentConnector2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87" name="直接箭头连接符 86">
              <a:extLst>
                <a:ext uri="{FF2B5EF4-FFF2-40B4-BE49-F238E27FC236}">
                  <a16:creationId xmlns:a16="http://schemas.microsoft.com/office/drawing/2014/main" id="{1FD96728-E007-40BC-89AB-70BD1908EB63}"/>
                </a:ext>
              </a:extLst>
            </p:cNvPr>
            <p:cNvCxnSpPr/>
            <p:nvPr/>
          </p:nvCxnSpPr>
          <p:spPr bwMode="auto">
            <a:xfrm flipV="1">
              <a:off x="6452592" y="5194800"/>
              <a:ext cx="0" cy="10800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88" name="直接箭头连接符 87">
              <a:extLst>
                <a:ext uri="{FF2B5EF4-FFF2-40B4-BE49-F238E27FC236}">
                  <a16:creationId xmlns:a16="http://schemas.microsoft.com/office/drawing/2014/main" id="{B5B8BDDA-68E6-4EFB-A954-B483D9A5EC1B}"/>
                </a:ext>
              </a:extLst>
            </p:cNvPr>
            <p:cNvCxnSpPr/>
            <p:nvPr/>
          </p:nvCxnSpPr>
          <p:spPr bwMode="auto">
            <a:xfrm flipH="1">
              <a:off x="6804248" y="5338800"/>
              <a:ext cx="140400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9" name="直接箭头连接符 27">
              <a:extLst>
                <a:ext uri="{FF2B5EF4-FFF2-40B4-BE49-F238E27FC236}">
                  <a16:creationId xmlns:a16="http://schemas.microsoft.com/office/drawing/2014/main" id="{7E73D3B4-01AB-4FD0-B12C-E38D992BAE82}"/>
                </a:ext>
              </a:extLst>
            </p:cNvPr>
            <p:cNvCxnSpPr/>
            <p:nvPr/>
          </p:nvCxnSpPr>
          <p:spPr bwMode="auto">
            <a:xfrm>
              <a:off x="8064000" y="5086800"/>
              <a:ext cx="143824" cy="252000"/>
            </a:xfrm>
            <a:prstGeom prst="bentConnector2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110" name="组合 109">
            <a:extLst>
              <a:ext uri="{FF2B5EF4-FFF2-40B4-BE49-F238E27FC236}">
                <a16:creationId xmlns:a16="http://schemas.microsoft.com/office/drawing/2014/main" id="{6850E03E-AD50-4097-86EE-B507379960C2}"/>
              </a:ext>
            </a:extLst>
          </p:cNvPr>
          <p:cNvGrpSpPr/>
          <p:nvPr/>
        </p:nvGrpSpPr>
        <p:grpSpPr>
          <a:xfrm>
            <a:off x="1547664" y="4078800"/>
            <a:ext cx="2664336" cy="1404000"/>
            <a:chOff x="1547664" y="4078800"/>
            <a:chExt cx="2664336" cy="1404000"/>
          </a:xfrm>
        </p:grpSpPr>
        <p:sp>
          <p:nvSpPr>
            <p:cNvPr id="91" name="Text Box 311">
              <a:extLst>
                <a:ext uri="{FF2B5EF4-FFF2-40B4-BE49-F238E27FC236}">
                  <a16:creationId xmlns:a16="http://schemas.microsoft.com/office/drawing/2014/main" id="{3602A45D-82D0-4CA4-B56B-C41342895A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7664" y="4149080"/>
              <a:ext cx="288000" cy="133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计算机系统</a:t>
              </a:r>
            </a:p>
          </p:txBody>
        </p:sp>
        <p:cxnSp>
          <p:nvCxnSpPr>
            <p:cNvPr id="92" name="直接箭头连接符 91">
              <a:extLst>
                <a:ext uri="{FF2B5EF4-FFF2-40B4-BE49-F238E27FC236}">
                  <a16:creationId xmlns:a16="http://schemas.microsoft.com/office/drawing/2014/main" id="{74F1BAEF-D542-46FD-97DF-25F99A66C01B}"/>
                </a:ext>
              </a:extLst>
            </p:cNvPr>
            <p:cNvCxnSpPr/>
            <p:nvPr/>
          </p:nvCxnSpPr>
          <p:spPr bwMode="auto">
            <a:xfrm>
              <a:off x="3059832" y="4636800"/>
              <a:ext cx="864000" cy="4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93" name="Text Box 311">
              <a:extLst>
                <a:ext uri="{FF2B5EF4-FFF2-40B4-BE49-F238E27FC236}">
                  <a16:creationId xmlns:a16="http://schemas.microsoft.com/office/drawing/2014/main" id="{059EEF1D-6BC6-4F97-9A66-492F39F84C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3727" y="4510800"/>
              <a:ext cx="936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硬件结构</a:t>
              </a:r>
            </a:p>
          </p:txBody>
        </p:sp>
        <p:sp>
          <p:nvSpPr>
            <p:cNvPr id="94" name="Text Box 311">
              <a:extLst>
                <a:ext uri="{FF2B5EF4-FFF2-40B4-BE49-F238E27FC236}">
                  <a16:creationId xmlns:a16="http://schemas.microsoft.com/office/drawing/2014/main" id="{256EC87A-5C7B-4191-AE46-DFD94FFAEA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3727" y="4149080"/>
              <a:ext cx="936000" cy="252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工作方式</a:t>
              </a:r>
            </a:p>
          </p:txBody>
        </p:sp>
        <p:cxnSp>
          <p:nvCxnSpPr>
            <p:cNvPr id="95" name="直接箭头连接符 94">
              <a:extLst>
                <a:ext uri="{FF2B5EF4-FFF2-40B4-BE49-F238E27FC236}">
                  <a16:creationId xmlns:a16="http://schemas.microsoft.com/office/drawing/2014/main" id="{6A5FC3D8-0E78-4699-A05E-7222FCEB0B2F}"/>
                </a:ext>
              </a:extLst>
            </p:cNvPr>
            <p:cNvCxnSpPr/>
            <p:nvPr/>
          </p:nvCxnSpPr>
          <p:spPr bwMode="auto">
            <a:xfrm>
              <a:off x="1835696" y="4636800"/>
              <a:ext cx="286963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6" name="直接箭头连接符 95">
              <a:extLst>
                <a:ext uri="{FF2B5EF4-FFF2-40B4-BE49-F238E27FC236}">
                  <a16:creationId xmlns:a16="http://schemas.microsoft.com/office/drawing/2014/main" id="{24670AC3-812A-4359-84F6-25971C2DA0D8}"/>
                </a:ext>
              </a:extLst>
            </p:cNvPr>
            <p:cNvCxnSpPr/>
            <p:nvPr/>
          </p:nvCxnSpPr>
          <p:spPr bwMode="auto">
            <a:xfrm>
              <a:off x="1836733" y="4293096"/>
              <a:ext cx="286963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97" name="Text Box 311">
              <a:extLst>
                <a:ext uri="{FF2B5EF4-FFF2-40B4-BE49-F238E27FC236}">
                  <a16:creationId xmlns:a16="http://schemas.microsoft.com/office/drawing/2014/main" id="{6DA1FB61-57C5-4340-A5CF-98A84AD346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3727" y="5230800"/>
              <a:ext cx="936000" cy="216000"/>
            </a:xfrm>
            <a:prstGeom prst="rect">
              <a:avLst/>
            </a:prstGeom>
            <a:solidFill>
              <a:srgbClr val="CCE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软件组成</a:t>
              </a:r>
            </a:p>
          </p:txBody>
        </p:sp>
        <p:cxnSp>
          <p:nvCxnSpPr>
            <p:cNvPr id="98" name="直接箭头连接符 97">
              <a:extLst>
                <a:ext uri="{FF2B5EF4-FFF2-40B4-BE49-F238E27FC236}">
                  <a16:creationId xmlns:a16="http://schemas.microsoft.com/office/drawing/2014/main" id="{252DDD79-EB0B-4E4A-B8AB-40D06EC8EDB1}"/>
                </a:ext>
              </a:extLst>
            </p:cNvPr>
            <p:cNvCxnSpPr/>
            <p:nvPr/>
          </p:nvCxnSpPr>
          <p:spPr bwMode="auto">
            <a:xfrm>
              <a:off x="1835664" y="5338800"/>
              <a:ext cx="286963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9" name="直接箭头连接符 98">
              <a:extLst>
                <a:ext uri="{FF2B5EF4-FFF2-40B4-BE49-F238E27FC236}">
                  <a16:creationId xmlns:a16="http://schemas.microsoft.com/office/drawing/2014/main" id="{668EC0F6-DEB2-47A8-96EC-FBA505211786}"/>
                </a:ext>
              </a:extLst>
            </p:cNvPr>
            <p:cNvCxnSpPr/>
            <p:nvPr/>
          </p:nvCxnSpPr>
          <p:spPr bwMode="auto">
            <a:xfrm>
              <a:off x="3059832" y="4293096"/>
              <a:ext cx="864000" cy="4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0" name="直接箭头连接符 99">
              <a:extLst>
                <a:ext uri="{FF2B5EF4-FFF2-40B4-BE49-F238E27FC236}">
                  <a16:creationId xmlns:a16="http://schemas.microsoft.com/office/drawing/2014/main" id="{D29294F3-7327-4F31-9B3C-B653E7AACE30}"/>
                </a:ext>
              </a:extLst>
            </p:cNvPr>
            <p:cNvCxnSpPr/>
            <p:nvPr/>
          </p:nvCxnSpPr>
          <p:spPr bwMode="auto">
            <a:xfrm>
              <a:off x="3059832" y="5338800"/>
              <a:ext cx="864000" cy="4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1" name="直接箭头连接符 100">
              <a:extLst>
                <a:ext uri="{FF2B5EF4-FFF2-40B4-BE49-F238E27FC236}">
                  <a16:creationId xmlns:a16="http://schemas.microsoft.com/office/drawing/2014/main" id="{4F648D10-A974-4E3E-BE33-042A2D83FBA5}"/>
                </a:ext>
              </a:extLst>
            </p:cNvPr>
            <p:cNvCxnSpPr/>
            <p:nvPr/>
          </p:nvCxnSpPr>
          <p:spPr bwMode="auto">
            <a:xfrm flipV="1">
              <a:off x="3419896" y="4978800"/>
              <a:ext cx="504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02" name="Text Box 311">
              <a:extLst>
                <a:ext uri="{FF2B5EF4-FFF2-40B4-BE49-F238E27FC236}">
                  <a16:creationId xmlns:a16="http://schemas.microsoft.com/office/drawing/2014/main" id="{F5ECFB9A-0076-4844-ADE0-23857B41A9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55896" y="4870800"/>
              <a:ext cx="864000" cy="25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rgbClr val="FF0000"/>
              </a:solidFill>
              <a:prstDash val="solid"/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ISA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约定</a:t>
              </a:r>
            </a:p>
          </p:txBody>
        </p:sp>
        <p:cxnSp>
          <p:nvCxnSpPr>
            <p:cNvPr id="103" name="直接箭头连接符 102">
              <a:extLst>
                <a:ext uri="{FF2B5EF4-FFF2-40B4-BE49-F238E27FC236}">
                  <a16:creationId xmlns:a16="http://schemas.microsoft.com/office/drawing/2014/main" id="{C33A0AC0-FA77-42A1-BE22-5F2400CCAF4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339800" y="4978800"/>
              <a:ext cx="0" cy="252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4" name="直接箭头连接符 103">
              <a:extLst>
                <a:ext uri="{FF2B5EF4-FFF2-40B4-BE49-F238E27FC236}">
                  <a16:creationId xmlns:a16="http://schemas.microsoft.com/office/drawing/2014/main" id="{759B1C3A-373E-4524-9C74-F2A50E23521D}"/>
                </a:ext>
              </a:extLst>
            </p:cNvPr>
            <p:cNvCxnSpPr/>
            <p:nvPr/>
          </p:nvCxnSpPr>
          <p:spPr bwMode="auto">
            <a:xfrm flipH="1">
              <a:off x="2339800" y="4978800"/>
              <a:ext cx="216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  <p:sp>
          <p:nvSpPr>
            <p:cNvPr id="105" name="Text Box 316">
              <a:extLst>
                <a:ext uri="{FF2B5EF4-FFF2-40B4-BE49-F238E27FC236}">
                  <a16:creationId xmlns:a16="http://schemas.microsoft.com/office/drawing/2014/main" id="{AC76A800-9A80-4B2B-BF6C-82F1657314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4000" y="4150800"/>
              <a:ext cx="288000" cy="1332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rgbClr val="C00000"/>
              </a:solidFill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硬件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&amp;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控制需求</a:t>
              </a:r>
            </a:p>
          </p:txBody>
        </p:sp>
        <p:sp>
          <p:nvSpPr>
            <p:cNvPr id="106" name="Text Box 316">
              <a:extLst>
                <a:ext uri="{FF2B5EF4-FFF2-40B4-BE49-F238E27FC236}">
                  <a16:creationId xmlns:a16="http://schemas.microsoft.com/office/drawing/2014/main" id="{319DD6A5-C189-4A2C-B222-D65F6F723F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0000" y="4780800"/>
              <a:ext cx="432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400" b="1" dirty="0">
                  <a:latin typeface="宋体" panose="02010600030101010101" pitchFamily="2" charset="-122"/>
                </a:rPr>
                <a:t>功能</a:t>
              </a:r>
            </a:p>
          </p:txBody>
        </p:sp>
        <p:sp>
          <p:nvSpPr>
            <p:cNvPr id="107" name="Text Box 316">
              <a:extLst>
                <a:ext uri="{FF2B5EF4-FFF2-40B4-BE49-F238E27FC236}">
                  <a16:creationId xmlns:a16="http://schemas.microsoft.com/office/drawing/2014/main" id="{E9DB0855-2BA9-4CDA-AA85-1F44B97FE1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9872" y="4420800"/>
              <a:ext cx="432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400" b="1" dirty="0">
                  <a:latin typeface="宋体" panose="02010600030101010101" pitchFamily="2" charset="-122"/>
                </a:rPr>
                <a:t>结构</a:t>
              </a:r>
            </a:p>
          </p:txBody>
        </p:sp>
        <p:sp>
          <p:nvSpPr>
            <p:cNvPr id="108" name="Text Box 316">
              <a:extLst>
                <a:ext uri="{FF2B5EF4-FFF2-40B4-BE49-F238E27FC236}">
                  <a16:creationId xmlns:a16="http://schemas.microsoft.com/office/drawing/2014/main" id="{8539934A-62B2-4F8A-B880-167DC3BE94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9872" y="4078800"/>
              <a:ext cx="432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4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控制</a:t>
              </a:r>
            </a:p>
          </p:txBody>
        </p:sp>
        <p:sp>
          <p:nvSpPr>
            <p:cNvPr id="109" name="Text Box 316">
              <a:extLst>
                <a:ext uri="{FF2B5EF4-FFF2-40B4-BE49-F238E27FC236}">
                  <a16:creationId xmlns:a16="http://schemas.microsoft.com/office/drawing/2014/main" id="{6F42BBDF-F365-46F7-8B7A-05B2F717C5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9872" y="5140800"/>
              <a:ext cx="432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4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控制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69308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76DD8-8223-495E-BB24-1835C3AAC9EE}" type="slidenum">
              <a:rPr lang="en-US" altLang="zh-CN" smtClean="0"/>
              <a:t>4</a:t>
            </a:fld>
            <a:endParaRPr lang="en-US" altLang="zh-CN"/>
          </a:p>
        </p:txBody>
      </p:sp>
      <p:sp>
        <p:nvSpPr>
          <p:cNvPr id="6147" name="Text Box 4"/>
          <p:cNvSpPr txBox="1">
            <a:spLocks noChangeArrowheads="1"/>
          </p:cNvSpPr>
          <p:nvPr/>
        </p:nvSpPr>
        <p:spPr bwMode="auto">
          <a:xfrm>
            <a:off x="838200" y="287338"/>
            <a:ext cx="7467600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/>
            <a:r>
              <a:rPr lang="zh-CN" altLang="en-US" sz="2800" b="1" dirty="0">
                <a:latin typeface="宋体" panose="02010600030101010101" pitchFamily="2" charset="-122"/>
              </a:rPr>
              <a:t>第</a:t>
            </a:r>
            <a:r>
              <a:rPr lang="en-US" altLang="zh-CN" sz="2800" b="1" dirty="0">
                <a:latin typeface="宋体" panose="02010600030101010101" pitchFamily="2" charset="-122"/>
              </a:rPr>
              <a:t>1</a:t>
            </a:r>
            <a:r>
              <a:rPr lang="zh-CN" altLang="en-US" sz="2800" b="1" dirty="0">
                <a:latin typeface="宋体" panose="02010600030101010101" pitchFamily="2" charset="-122"/>
              </a:rPr>
              <a:t>章 </a:t>
            </a:r>
            <a:r>
              <a:rPr lang="zh-CN" altLang="en-US" sz="2800" b="1" dirty="0"/>
              <a:t>计算机系统概述</a:t>
            </a:r>
          </a:p>
        </p:txBody>
      </p:sp>
      <p:sp>
        <p:nvSpPr>
          <p:cNvPr id="220165" name="Text Box 5"/>
          <p:cNvSpPr txBox="1">
            <a:spLocks noChangeArrowheads="1"/>
          </p:cNvSpPr>
          <p:nvPr/>
        </p:nvSpPr>
        <p:spPr bwMode="auto">
          <a:xfrm>
            <a:off x="179388" y="1253485"/>
            <a:ext cx="8812212" cy="3673121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一、计算机硬件组成</a:t>
            </a:r>
            <a:endParaRPr lang="en-US" altLang="zh-CN" sz="2200" b="1" dirty="0">
              <a:solidFill>
                <a:srgbClr val="FF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1.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冯</a:t>
            </a:r>
            <a:r>
              <a:rPr lang="en-US" altLang="zh-CN" sz="2200" b="1" dirty="0">
                <a:solidFill>
                  <a:srgbClr val="FF3399"/>
                </a:solidFill>
              </a:rPr>
              <a:t>·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诺依曼计算机        </a:t>
            </a:r>
            <a:r>
              <a:rPr lang="zh-CN" altLang="en-US" sz="1800" b="1" dirty="0">
                <a:latin typeface="宋体" panose="02010600030101010101" pitchFamily="2" charset="-122"/>
              </a:rPr>
              <a:t>☆建立整机概念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solidFill>
                  <a:srgbClr val="C00000"/>
                </a:solidFill>
                <a:latin typeface="宋体" panose="02010600030101010101" pitchFamily="2" charset="-122"/>
              </a:rPr>
              <a:t>软硬件模型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25000"/>
              </a:lnSpc>
              <a:spcBef>
                <a:spcPts val="300"/>
              </a:spcBef>
              <a:defRPr/>
            </a:pPr>
            <a:r>
              <a:rPr lang="en-US" altLang="zh-CN" sz="2200" b="1" dirty="0"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latin typeface="宋体" panose="02010600030101010101" pitchFamily="2" charset="-122"/>
              </a:rPr>
              <a:t>硬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件结构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(</a:t>
            </a:r>
            <a:r>
              <a:rPr lang="zh-CN" altLang="en-US" sz="1800" b="1" spc="-100" dirty="0">
                <a:latin typeface="宋体" panose="02010600030101010101" pitchFamily="2" charset="-122"/>
              </a:rPr>
              <a:t>含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MEM</a:t>
            </a:r>
            <a:r>
              <a:rPr lang="zh-CN" altLang="en-US" sz="1800" b="1" spc="-100" dirty="0">
                <a:latin typeface="宋体" panose="02010600030101010101" pitchFamily="2" charset="-122"/>
              </a:rPr>
              <a:t>结构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)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，软件组成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(</a:t>
            </a:r>
            <a:r>
              <a:rPr lang="zh-CN" altLang="en-US" sz="1800" b="1" spc="-100" dirty="0">
                <a:latin typeface="宋体" panose="02010600030101010101" pitchFamily="2" charset="-122"/>
              </a:rPr>
              <a:t>含指令组成、执行顺序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[</a:t>
            </a:r>
            <a:r>
              <a:rPr lang="zh-CN" altLang="en-US" sz="1800" b="1" spc="-100" dirty="0">
                <a:latin typeface="宋体" panose="02010600030101010101" pitchFamily="2" charset="-122"/>
              </a:rPr>
              <a:t>～指令类型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])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defRPr/>
            </a:pPr>
            <a:r>
              <a:rPr lang="en-US" altLang="zh-CN" sz="2200" b="1" dirty="0"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latin typeface="宋体" panose="02010600030101010101" pitchFamily="2" charset="-122"/>
              </a:rPr>
              <a:t>工作方式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预先存放到</a:t>
            </a:r>
            <a:r>
              <a:rPr lang="en-US" altLang="zh-CN" sz="1800" b="1" dirty="0">
                <a:latin typeface="宋体" panose="02010600030101010101" pitchFamily="2" charset="-122"/>
              </a:rPr>
              <a:t>MEM</a:t>
            </a:r>
            <a:r>
              <a:rPr lang="zh-CN" altLang="en-US" sz="1800" b="1" dirty="0">
                <a:latin typeface="宋体" panose="02010600030101010101" pitchFamily="2" charset="-122"/>
              </a:rPr>
              <a:t>中、自动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逐条取指令并执行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18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18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1800"/>
              </a:spcBef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2.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硬件的结构与组成       </a:t>
            </a:r>
            <a:r>
              <a:rPr lang="zh-CN" altLang="en-US" sz="1800" b="1" dirty="0">
                <a:latin typeface="宋体" panose="02010600030101010101" pitchFamily="2" charset="-122"/>
              </a:rPr>
              <a:t>☆理解硬件结构、掌握基本概念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latin typeface="宋体" panose="02010600030101010101" pitchFamily="2" charset="-122"/>
              </a:rPr>
              <a:t>基本结构</a:t>
            </a:r>
            <a:r>
              <a:rPr lang="en-US" altLang="zh-CN" sz="1800" b="1" dirty="0">
                <a:latin typeface="宋体" panose="02010600030101010101" pitchFamily="2" charset="-122"/>
              </a:rPr>
              <a:t>(2</a:t>
            </a:r>
            <a:r>
              <a:rPr lang="zh-CN" altLang="en-US" sz="1800" b="1" dirty="0">
                <a:latin typeface="宋体" panose="02010600030101010101" pitchFamily="2" charset="-122"/>
              </a:rPr>
              <a:t>点改进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，部件组成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功能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组成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，部件互连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连接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传输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1800" b="1" dirty="0">
              <a:solidFill>
                <a:srgbClr val="FF3300"/>
              </a:solidFill>
              <a:latin typeface="+mn-ea"/>
              <a:ea typeface="+mn-ea"/>
            </a:endParaRPr>
          </a:p>
        </p:txBody>
      </p:sp>
      <p:sp>
        <p:nvSpPr>
          <p:cNvPr id="6151" name="AutoShape 50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15816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" name="Text Box 6"/>
          <p:cNvSpPr txBox="1">
            <a:spLocks noChangeArrowheads="1"/>
          </p:cNvSpPr>
          <p:nvPr/>
        </p:nvSpPr>
        <p:spPr bwMode="auto">
          <a:xfrm>
            <a:off x="179512" y="836712"/>
            <a:ext cx="8785101" cy="424155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  主要内容：</a:t>
            </a:r>
            <a:r>
              <a:rPr lang="zh-CN" altLang="en-US" sz="2000" b="1" dirty="0">
                <a:latin typeface="宋体" panose="02010600030101010101" pitchFamily="2" charset="-122"/>
              </a:rPr>
              <a:t>计算机硬件组成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含模型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</a:rPr>
              <a:t>，工作过程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软件执行过程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</a:rPr>
              <a:t>，性能指标</a:t>
            </a:r>
          </a:p>
        </p:txBody>
      </p:sp>
      <p:sp>
        <p:nvSpPr>
          <p:cNvPr id="66" name="AutoShape 50">
            <a:hlinkClick r:id="rId8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5076057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" name="AutoShape 50">
            <a:hlinkClick r:id="rId9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3995937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4" name="AutoShape 50">
            <a:hlinkClick r:id="rId10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6156870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9CF6B2B4-3A91-4CA7-A669-19D64C023CD9}"/>
              </a:ext>
            </a:extLst>
          </p:cNvPr>
          <p:cNvGrpSpPr/>
          <p:nvPr/>
        </p:nvGrpSpPr>
        <p:grpSpPr>
          <a:xfrm>
            <a:off x="1260015" y="4969520"/>
            <a:ext cx="6984393" cy="828000"/>
            <a:chOff x="1043607" y="1296000"/>
            <a:chExt cx="6984393" cy="828000"/>
          </a:xfrm>
        </p:grpSpPr>
        <p:sp>
          <p:nvSpPr>
            <p:cNvPr id="72" name="Text Box 136">
              <a:extLst>
                <a:ext uri="{FF2B5EF4-FFF2-40B4-BE49-F238E27FC236}">
                  <a16:creationId xmlns:a16="http://schemas.microsoft.com/office/drawing/2014/main" id="{1A79BB2A-E115-4F9D-8CB3-5154CB51A3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6000" y="1728000"/>
              <a:ext cx="936000" cy="39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73" name="Line 8">
              <a:extLst>
                <a:ext uri="{FF2B5EF4-FFF2-40B4-BE49-F238E27FC236}">
                  <a16:creationId xmlns:a16="http://schemas.microsoft.com/office/drawing/2014/main" id="{D59A7F80-859E-4A7D-9846-F059A0697B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000" y="1296000"/>
              <a:ext cx="0" cy="18000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Text Box 9">
              <a:extLst>
                <a:ext uri="{FF2B5EF4-FFF2-40B4-BE49-F238E27FC236}">
                  <a16:creationId xmlns:a16="http://schemas.microsoft.com/office/drawing/2014/main" id="{E0719D8F-8C06-48BB-B748-AF6D0F08A6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5587" y="1872000"/>
              <a:ext cx="1296000" cy="252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rgbClr val="990099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主存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内存条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77" name="Text Box 10">
              <a:extLst>
                <a:ext uri="{FF2B5EF4-FFF2-40B4-BE49-F238E27FC236}">
                  <a16:creationId xmlns:a16="http://schemas.microsoft.com/office/drawing/2014/main" id="{1CC5F2EF-5D72-4508-A44B-4385025E7C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04000" y="1476000"/>
              <a:ext cx="1008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I/O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接口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78" name="Line 11">
              <a:extLst>
                <a:ext uri="{FF2B5EF4-FFF2-40B4-BE49-F238E27FC236}">
                  <a16:creationId xmlns:a16="http://schemas.microsoft.com/office/drawing/2014/main" id="{278DF4BD-BBAD-4D46-A2CD-A15AC9CA71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3607" y="1296000"/>
              <a:ext cx="6984000" cy="2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Line 12">
              <a:extLst>
                <a:ext uri="{FF2B5EF4-FFF2-40B4-BE49-F238E27FC236}">
                  <a16:creationId xmlns:a16="http://schemas.microsoft.com/office/drawing/2014/main" id="{FFEE564A-52DF-416E-8FBA-03A0B3D118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4000" y="1296000"/>
              <a:ext cx="0" cy="18000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Line 13">
              <a:extLst>
                <a:ext uri="{FF2B5EF4-FFF2-40B4-BE49-F238E27FC236}">
                  <a16:creationId xmlns:a16="http://schemas.microsoft.com/office/drawing/2014/main" id="{C6F432ED-EE74-478A-B8C8-A71485F306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08000" y="1296000"/>
              <a:ext cx="0" cy="18000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Text Box 14">
              <a:extLst>
                <a:ext uri="{FF2B5EF4-FFF2-40B4-BE49-F238E27FC236}">
                  <a16:creationId xmlns:a16="http://schemas.microsoft.com/office/drawing/2014/main" id="{2C1931FC-D444-46B1-A9E9-9FA9AF160F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84000" y="1476000"/>
              <a:ext cx="360000" cy="252000"/>
            </a:xfrm>
            <a:prstGeom prst="rect">
              <a:avLst/>
            </a:prstGeom>
            <a:noFill/>
            <a:ln w="22225">
              <a:noFill/>
              <a:miter lim="800000"/>
            </a:ln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…</a:t>
              </a:r>
            </a:p>
          </p:txBody>
        </p:sp>
        <p:sp>
          <p:nvSpPr>
            <p:cNvPr id="82" name="Text Box 16">
              <a:extLst>
                <a:ext uri="{FF2B5EF4-FFF2-40B4-BE49-F238E27FC236}">
                  <a16:creationId xmlns:a16="http://schemas.microsoft.com/office/drawing/2014/main" id="{0804A4C3-D02C-42BC-9C87-5070C8A680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04000" y="1872000"/>
              <a:ext cx="1008000" cy="25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I/O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设备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83" name="Line 17">
              <a:extLst>
                <a:ext uri="{FF2B5EF4-FFF2-40B4-BE49-F238E27FC236}">
                  <a16:creationId xmlns:a16="http://schemas.microsoft.com/office/drawing/2014/main" id="{D4108A4E-ECFE-4876-AAFB-5A20EA8030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08000" y="1728000"/>
              <a:ext cx="0" cy="1444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Line 19">
              <a:extLst>
                <a:ext uri="{FF2B5EF4-FFF2-40B4-BE49-F238E27FC236}">
                  <a16:creationId xmlns:a16="http://schemas.microsoft.com/office/drawing/2014/main" id="{634FD1AF-6EB6-4852-A62C-E6989AF00C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36000" y="1296000"/>
              <a:ext cx="0" cy="18000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Text Box 127">
              <a:extLst>
                <a:ext uri="{FF2B5EF4-FFF2-40B4-BE49-F238E27FC236}">
                  <a16:creationId xmlns:a16="http://schemas.microsoft.com/office/drawing/2014/main" id="{DB93F56E-7FB2-44C4-95CB-97E6DCE918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16000" y="1476000"/>
              <a:ext cx="1512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rgbClr val="FF3399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I/O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接口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n(DMA)</a:t>
              </a:r>
            </a:p>
          </p:txBody>
        </p:sp>
        <p:sp>
          <p:nvSpPr>
            <p:cNvPr id="86" name="Text Box 128">
              <a:extLst>
                <a:ext uri="{FF2B5EF4-FFF2-40B4-BE49-F238E27FC236}">
                  <a16:creationId xmlns:a16="http://schemas.microsoft.com/office/drawing/2014/main" id="{3D7459FB-E9DB-4C27-8501-0DB1000531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2000" y="1872000"/>
              <a:ext cx="1008000" cy="25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I/O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设备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n</a:t>
              </a:r>
            </a:p>
          </p:txBody>
        </p:sp>
        <p:sp>
          <p:nvSpPr>
            <p:cNvPr id="87" name="Line 129">
              <a:extLst>
                <a:ext uri="{FF2B5EF4-FFF2-40B4-BE49-F238E27FC236}">
                  <a16:creationId xmlns:a16="http://schemas.microsoft.com/office/drawing/2014/main" id="{775A8A01-12FF-4750-B4F2-22B8FC0901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36000" y="1728000"/>
              <a:ext cx="0" cy="1444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Text Box 136">
              <a:extLst>
                <a:ext uri="{FF2B5EF4-FFF2-40B4-BE49-F238E27FC236}">
                  <a16:creationId xmlns:a16="http://schemas.microsoft.com/office/drawing/2014/main" id="{B6D90268-7319-498F-95B7-652917E385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6000" y="1476000"/>
              <a:ext cx="1224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磁盘适配器</a:t>
              </a:r>
            </a:p>
          </p:txBody>
        </p:sp>
        <p:sp>
          <p:nvSpPr>
            <p:cNvPr id="89" name="Line 137">
              <a:extLst>
                <a:ext uri="{FF2B5EF4-FFF2-40B4-BE49-F238E27FC236}">
                  <a16:creationId xmlns:a16="http://schemas.microsoft.com/office/drawing/2014/main" id="{0780D2BF-26AC-4FC6-B0D3-91B56395E9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8000" y="1296000"/>
              <a:ext cx="0" cy="18000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Text Box 138">
              <a:extLst>
                <a:ext uri="{FF2B5EF4-FFF2-40B4-BE49-F238E27FC236}">
                  <a16:creationId xmlns:a16="http://schemas.microsoft.com/office/drawing/2014/main" id="{A326A2E4-6674-4AF2-987D-072C6C380A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6000" y="1872000"/>
              <a:ext cx="1224000" cy="25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rgbClr val="990099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磁盘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辅存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91" name="Line 139">
              <a:extLst>
                <a:ext uri="{FF2B5EF4-FFF2-40B4-BE49-F238E27FC236}">
                  <a16:creationId xmlns:a16="http://schemas.microsoft.com/office/drawing/2014/main" id="{CDE1FD3E-6F5B-41E3-9B16-EF6D10FD88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8000" y="1728000"/>
              <a:ext cx="0" cy="1444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Text Box 136">
              <a:extLst>
                <a:ext uri="{FF2B5EF4-FFF2-40B4-BE49-F238E27FC236}">
                  <a16:creationId xmlns:a16="http://schemas.microsoft.com/office/drawing/2014/main" id="{827239BE-24A0-4F1A-A06D-7AA9B04860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8000" y="1476000"/>
              <a:ext cx="1152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主存控制器</a:t>
              </a:r>
            </a:p>
          </p:txBody>
        </p:sp>
        <p:sp>
          <p:nvSpPr>
            <p:cNvPr id="93" name="Text Box 136">
              <a:extLst>
                <a:ext uri="{FF2B5EF4-FFF2-40B4-BE49-F238E27FC236}">
                  <a16:creationId xmlns:a16="http://schemas.microsoft.com/office/drawing/2014/main" id="{DF1FCFBC-5004-400A-842F-F7959D7810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6000" y="1476000"/>
              <a:ext cx="936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BIU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94" name="Line 139">
              <a:extLst>
                <a:ext uri="{FF2B5EF4-FFF2-40B4-BE49-F238E27FC236}">
                  <a16:creationId xmlns:a16="http://schemas.microsoft.com/office/drawing/2014/main" id="{D1A05E18-B83A-45C0-AF1C-FD7F8656A4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4000" y="1728000"/>
              <a:ext cx="0" cy="144463"/>
            </a:xfrm>
            <a:prstGeom prst="line">
              <a:avLst/>
            </a:prstGeom>
            <a:noFill/>
            <a:ln w="25400" cmpd="dbl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Text Box 7">
              <a:extLst>
                <a:ext uri="{FF2B5EF4-FFF2-40B4-BE49-F238E27FC236}">
                  <a16:creationId xmlns:a16="http://schemas.microsoft.com/office/drawing/2014/main" id="{76570C7A-BE7A-473F-9308-F48351005D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5953" y="1476000"/>
              <a:ext cx="936000" cy="648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/>
              <a:endParaRPr lang="en-US" altLang="zh-CN" sz="2000" b="1" dirty="0">
                <a:latin typeface="宋体" panose="02010600030101010101" pitchFamily="2" charset="-122"/>
              </a:endParaRPr>
            </a:p>
            <a:p>
              <a:pPr algn="ctr"/>
              <a:r>
                <a:rPr lang="en-US" altLang="zh-CN" sz="2000" b="1" dirty="0">
                  <a:latin typeface="宋体" panose="02010600030101010101" pitchFamily="2" charset="-122"/>
                </a:rPr>
                <a:t>CPU</a:t>
              </a:r>
            </a:p>
          </p:txBody>
        </p: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31FBE39F-B853-4EF6-9A9C-B5F8417EEE06}"/>
                </a:ext>
              </a:extLst>
            </p:cNvPr>
            <p:cNvCxnSpPr/>
            <p:nvPr/>
          </p:nvCxnSpPr>
          <p:spPr bwMode="auto">
            <a:xfrm>
              <a:off x="1116000" y="1728000"/>
              <a:ext cx="936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5A067F79-89BC-466D-9C4D-78ED4177CAC1}"/>
              </a:ext>
            </a:extLst>
          </p:cNvPr>
          <p:cNvGrpSpPr/>
          <p:nvPr/>
        </p:nvGrpSpPr>
        <p:grpSpPr>
          <a:xfrm>
            <a:off x="1476000" y="3068960"/>
            <a:ext cx="5868000" cy="792000"/>
            <a:chOff x="1476000" y="2484000"/>
            <a:chExt cx="5868000" cy="792000"/>
          </a:xfrm>
        </p:grpSpPr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FA341303-6D99-4FF0-AA45-843EEA521DC7}"/>
                </a:ext>
              </a:extLst>
            </p:cNvPr>
            <p:cNvSpPr/>
            <p:nvPr/>
          </p:nvSpPr>
          <p:spPr bwMode="auto">
            <a:xfrm>
              <a:off x="1583968" y="2592000"/>
              <a:ext cx="3420000" cy="396000"/>
            </a:xfrm>
            <a:prstGeom prst="rect">
              <a:avLst/>
            </a:prstGeom>
            <a:solidFill>
              <a:srgbClr val="CCFFFF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4" name="Text Box 311">
              <a:extLst>
                <a:ext uri="{FF2B5EF4-FFF2-40B4-BE49-F238E27FC236}">
                  <a16:creationId xmlns:a16="http://schemas.microsoft.com/office/drawing/2014/main" id="{41B4C74F-BDFF-47C9-AE4B-74826A5B5B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3046" y="2663059"/>
              <a:ext cx="756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取指令</a:t>
              </a:r>
            </a:p>
          </p:txBody>
        </p:sp>
        <p:sp>
          <p:nvSpPr>
            <p:cNvPr id="55" name="Text Box 314">
              <a:extLst>
                <a:ext uri="{FF2B5EF4-FFF2-40B4-BE49-F238E27FC236}">
                  <a16:creationId xmlns:a16="http://schemas.microsoft.com/office/drawing/2014/main" id="{656732A2-6939-42E5-A69E-168E05B17F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000" y="2663059"/>
              <a:ext cx="936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分析指令</a:t>
              </a:r>
            </a:p>
          </p:txBody>
        </p:sp>
        <p:sp>
          <p:nvSpPr>
            <p:cNvPr id="56" name="Text Box 316">
              <a:extLst>
                <a:ext uri="{FF2B5EF4-FFF2-40B4-BE49-F238E27FC236}">
                  <a16:creationId xmlns:a16="http://schemas.microsoft.com/office/drawing/2014/main" id="{C8AEBA1E-8FAD-4B4B-BE41-248E2B6CF5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0000" y="2663059"/>
              <a:ext cx="936000" cy="252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执行指令</a:t>
              </a:r>
            </a:p>
          </p:txBody>
        </p:sp>
        <p:cxnSp>
          <p:nvCxnSpPr>
            <p:cNvPr id="57" name="直接箭头连接符 56">
              <a:extLst>
                <a:ext uri="{FF2B5EF4-FFF2-40B4-BE49-F238E27FC236}">
                  <a16:creationId xmlns:a16="http://schemas.microsoft.com/office/drawing/2014/main" id="{EAED380F-7DDA-4925-A310-2067DF67E43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449046" y="2772000"/>
              <a:ext cx="286954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8" name="直接箭头连接符 57">
              <a:extLst>
                <a:ext uri="{FF2B5EF4-FFF2-40B4-BE49-F238E27FC236}">
                  <a16:creationId xmlns:a16="http://schemas.microsoft.com/office/drawing/2014/main" id="{4515EE5E-1033-4423-8717-A2F7AED7757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672000" y="2772000"/>
              <a:ext cx="28800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9" name="Text Box 316">
              <a:extLst>
                <a:ext uri="{FF2B5EF4-FFF2-40B4-BE49-F238E27FC236}">
                  <a16:creationId xmlns:a16="http://schemas.microsoft.com/office/drawing/2014/main" id="{AE4054BB-61F0-49E2-BD9B-DEB2850137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4000" y="2664644"/>
              <a:ext cx="2016000" cy="252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计算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下条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指令地址</a:t>
              </a:r>
            </a:p>
          </p:txBody>
        </p:sp>
        <p:cxnSp>
          <p:nvCxnSpPr>
            <p:cNvPr id="60" name="直接箭头连接符 59">
              <a:extLst>
                <a:ext uri="{FF2B5EF4-FFF2-40B4-BE49-F238E27FC236}">
                  <a16:creationId xmlns:a16="http://schemas.microsoft.com/office/drawing/2014/main" id="{7760879C-3B5C-43CA-BEE2-5752340BCE5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896000" y="2772000"/>
              <a:ext cx="288000" cy="1585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61" name="Text Box 316">
              <a:extLst>
                <a:ext uri="{FF2B5EF4-FFF2-40B4-BE49-F238E27FC236}">
                  <a16:creationId xmlns:a16="http://schemas.microsoft.com/office/drawing/2014/main" id="{26EB14B8-5B50-479A-898A-EEEE045DF7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264" y="3060000"/>
              <a:ext cx="93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>
                  <a:highlight>
                    <a:srgbClr val="CCCCFF"/>
                  </a:highlight>
                  <a:latin typeface="宋体" panose="02010600030101010101" pitchFamily="2" charset="-122"/>
                </a:rPr>
                <a:t>指令地址</a:t>
              </a:r>
            </a:p>
          </p:txBody>
        </p:sp>
        <p:sp>
          <p:nvSpPr>
            <p:cNvPr id="62" name="Line 97">
              <a:extLst>
                <a:ext uri="{FF2B5EF4-FFF2-40B4-BE49-F238E27FC236}">
                  <a16:creationId xmlns:a16="http://schemas.microsoft.com/office/drawing/2014/main" id="{844115D8-7A19-4A52-A78A-37EFEA1B63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088000" y="2914288"/>
              <a:ext cx="0" cy="16200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prstDash val="solid"/>
              <a:round/>
              <a:headEnd w="med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63" name="直接箭头连接符 62">
              <a:extLst>
                <a:ext uri="{FF2B5EF4-FFF2-40B4-BE49-F238E27FC236}">
                  <a16:creationId xmlns:a16="http://schemas.microsoft.com/office/drawing/2014/main" id="{0387D835-0643-4949-AC41-19945D5C2DE7}"/>
                </a:ext>
              </a:extLst>
            </p:cNvPr>
            <p:cNvCxnSpPr/>
            <p:nvPr>
              <p:custDataLst>
                <p:tags r:id="rId1"/>
              </p:custDataLst>
            </p:nvPr>
          </p:nvCxnSpPr>
          <p:spPr bwMode="auto">
            <a:xfrm flipH="1">
              <a:off x="1476000" y="2484000"/>
              <a:ext cx="0" cy="28800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4" name="直接箭头连接符 63">
              <a:extLst>
                <a:ext uri="{FF2B5EF4-FFF2-40B4-BE49-F238E27FC236}">
                  <a16:creationId xmlns:a16="http://schemas.microsoft.com/office/drawing/2014/main" id="{DC2A0F98-5B75-401F-92C1-62A43FDF5FF9}"/>
                </a:ext>
              </a:extLst>
            </p:cNvPr>
            <p:cNvCxnSpPr>
              <a:cxnSpLocks/>
            </p:cNvCxnSpPr>
            <p:nvPr>
              <p:custDataLst>
                <p:tags r:id="rId2"/>
              </p:custDataLst>
            </p:nvPr>
          </p:nvCxnSpPr>
          <p:spPr bwMode="auto">
            <a:xfrm flipH="1" flipV="1">
              <a:off x="1476000" y="2484000"/>
              <a:ext cx="586800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5" name="直接箭头连接符 64">
              <a:extLst>
                <a:ext uri="{FF2B5EF4-FFF2-40B4-BE49-F238E27FC236}">
                  <a16:creationId xmlns:a16="http://schemas.microsoft.com/office/drawing/2014/main" id="{0608184F-149A-4ACB-AAD2-52C392ACE0EA}"/>
                </a:ext>
              </a:extLst>
            </p:cNvPr>
            <p:cNvCxnSpPr/>
            <p:nvPr/>
          </p:nvCxnSpPr>
          <p:spPr bwMode="auto">
            <a:xfrm>
              <a:off x="1476000" y="2772953"/>
              <a:ext cx="21600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8" name="直接箭头连接符 67">
              <a:extLst>
                <a:ext uri="{FF2B5EF4-FFF2-40B4-BE49-F238E27FC236}">
                  <a16:creationId xmlns:a16="http://schemas.microsoft.com/office/drawing/2014/main" id="{AF0013C0-2D60-4B2B-B74B-53E7E0153318}"/>
                </a:ext>
              </a:extLst>
            </p:cNvPr>
            <p:cNvCxnSpPr>
              <a:cxnSpLocks/>
            </p:cNvCxnSpPr>
            <p:nvPr>
              <p:custDataLst>
                <p:tags r:id="rId3"/>
              </p:custDataLst>
            </p:nvPr>
          </p:nvCxnSpPr>
          <p:spPr bwMode="auto">
            <a:xfrm>
              <a:off x="7200000" y="2772000"/>
              <a:ext cx="14400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9" name="直接箭头连接符 68">
              <a:extLst>
                <a:ext uri="{FF2B5EF4-FFF2-40B4-BE49-F238E27FC236}">
                  <a16:creationId xmlns:a16="http://schemas.microsoft.com/office/drawing/2014/main" id="{07A02F0F-13E6-4885-9063-9B11A87374E6}"/>
                </a:ext>
              </a:extLst>
            </p:cNvPr>
            <p:cNvCxnSpPr>
              <a:cxnSpLocks/>
            </p:cNvCxnSpPr>
            <p:nvPr>
              <p:custDataLst>
                <p:tags r:id="rId4"/>
              </p:custDataLst>
            </p:nvPr>
          </p:nvCxnSpPr>
          <p:spPr bwMode="auto">
            <a:xfrm flipV="1">
              <a:off x="7344000" y="2484000"/>
              <a:ext cx="0" cy="28800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75" name="直接箭头连接符 74">
              <a:extLst>
                <a:ext uri="{FF2B5EF4-FFF2-40B4-BE49-F238E27FC236}">
                  <a16:creationId xmlns:a16="http://schemas.microsoft.com/office/drawing/2014/main" id="{B336789B-B027-4A29-893F-1247024AD959}"/>
                </a:ext>
              </a:extLst>
            </p:cNvPr>
            <p:cNvCxnSpPr>
              <a:cxnSpLocks/>
            </p:cNvCxnSpPr>
            <p:nvPr>
              <p:custDataLst>
                <p:tags r:id="rId5"/>
              </p:custDataLst>
            </p:nvPr>
          </p:nvCxnSpPr>
          <p:spPr bwMode="auto">
            <a:xfrm>
              <a:off x="6228184" y="2917904"/>
              <a:ext cx="0" cy="288000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97" name="Line 97">
              <a:extLst>
                <a:ext uri="{FF2B5EF4-FFF2-40B4-BE49-F238E27FC236}">
                  <a16:creationId xmlns:a16="http://schemas.microsoft.com/office/drawing/2014/main" id="{80AD9D2F-0C12-4F00-91DB-C294325F3B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28000" y="3204000"/>
              <a:ext cx="3600000" cy="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prstDash val="solid"/>
              <a:round/>
              <a:headEnd w="med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cxnSp>
        <p:nvCxnSpPr>
          <p:cNvPr id="3" name="直接箭头连接符 2"/>
          <p:cNvCxnSpPr/>
          <p:nvPr/>
        </p:nvCxnSpPr>
        <p:spPr bwMode="auto">
          <a:xfrm flipH="1">
            <a:off x="2520000" y="2925956"/>
            <a:ext cx="648147" cy="165600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accent2"/>
            </a:solidFill>
            <a:prstDash val="sysDash"/>
            <a:round/>
            <a:headEnd type="none" w="med" len="sm"/>
            <a:tailEnd type="arrow" w="med" len="sm"/>
          </a:ln>
          <a:effectLst/>
        </p:spPr>
      </p:cxnSp>
      <p:sp>
        <p:nvSpPr>
          <p:cNvPr id="98" name="Text Box 132">
            <a:extLst>
              <a:ext uri="{FF2B5EF4-FFF2-40B4-BE49-F238E27FC236}">
                <a16:creationId xmlns:a16="http://schemas.microsoft.com/office/drawing/2014/main" id="{F3B62011-C931-443A-AFAA-49103D53A0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736856"/>
            <a:ext cx="8785225" cy="3960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</a:ln>
        </p:spPr>
        <p:txBody>
          <a:bodyPr>
            <a:noAutofit/>
          </a:bodyPr>
          <a:lstStyle/>
          <a:p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 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  <p:sp>
        <p:nvSpPr>
          <p:cNvPr id="99" name="Text Box 132">
            <a:extLst>
              <a:ext uri="{FF2B5EF4-FFF2-40B4-BE49-F238E27FC236}">
                <a16:creationId xmlns:a16="http://schemas.microsoft.com/office/drawing/2014/main" id="{B3ED4753-5019-42D6-8C79-CAF1264556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005064"/>
            <a:ext cx="8785225" cy="3960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</a:ln>
        </p:spPr>
        <p:txBody>
          <a:bodyPr>
            <a:noAutofit/>
          </a:bodyPr>
          <a:lstStyle/>
          <a:p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 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01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201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201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201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201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201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 animBg="1"/>
      <p:bldP spid="9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t>5</a:t>
            </a:fld>
            <a:endParaRPr lang="en-US" altLang="zh-CN" dirty="0"/>
          </a:p>
        </p:txBody>
      </p:sp>
      <p:sp>
        <p:nvSpPr>
          <p:cNvPr id="3" name="Text Box 56"/>
          <p:cNvSpPr txBox="1">
            <a:spLocks noChangeArrowheads="1"/>
          </p:cNvSpPr>
          <p:nvPr/>
        </p:nvSpPr>
        <p:spPr bwMode="auto">
          <a:xfrm>
            <a:off x="179705" y="332740"/>
            <a:ext cx="8811895" cy="5988050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 tIns="0" bIns="0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  <a:defRPr/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 ※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知识点融合：   </a:t>
            </a:r>
            <a:r>
              <a:rPr lang="en-US" altLang="zh-CN" sz="2000" b="1" dirty="0">
                <a:latin typeface="宋体" panose="02010600030101010101" pitchFamily="2" charset="-122"/>
              </a:rPr>
              <a:t>(</a:t>
            </a:r>
            <a:r>
              <a:rPr lang="zh-CN" altLang="en-US" sz="2000" b="1" dirty="0">
                <a:latin typeface="宋体" panose="02010600030101010101" pitchFamily="2" charset="-122"/>
              </a:rPr>
              <a:t>复习时应能回答</a:t>
            </a:r>
            <a:r>
              <a:rPr lang="en-US" altLang="zh-CN" sz="2000" b="1" dirty="0">
                <a:latin typeface="宋体" panose="02010600030101010101" pitchFamily="2" charset="-122"/>
              </a:rPr>
              <a:t>)</a:t>
            </a:r>
          </a:p>
          <a:p>
            <a:pPr>
              <a:spcBef>
                <a:spcPts val="0"/>
              </a:spcBef>
              <a:defRPr/>
            </a:pPr>
            <a:r>
              <a:rPr lang="en-US" altLang="zh-CN" sz="2000" b="1" dirty="0">
                <a:latin typeface="宋体" panose="02010600030101010101" pitchFamily="2" charset="-122"/>
              </a:rPr>
              <a:t>     </a:t>
            </a:r>
            <a:r>
              <a:rPr lang="zh-CN" altLang="en-US" sz="2000" b="1" dirty="0">
                <a:latin typeface="宋体" panose="02010600030101010101" pitchFamily="2" charset="-122"/>
              </a:rPr>
              <a:t>①为什么存储器≥主存</a:t>
            </a:r>
            <a:r>
              <a:rPr lang="en-US" altLang="zh-CN" sz="2000" b="1" dirty="0">
                <a:latin typeface="宋体" panose="02010600030101010101" pitchFamily="2" charset="-122"/>
              </a:rPr>
              <a:t>+</a:t>
            </a:r>
            <a:r>
              <a:rPr lang="zh-CN" altLang="en-US" sz="2000" b="1" dirty="0">
                <a:latin typeface="宋体" panose="02010600030101010101" pitchFamily="2" charset="-122"/>
              </a:rPr>
              <a:t>辅存？主存</a:t>
            </a:r>
            <a:r>
              <a:rPr lang="en-US" altLang="zh-CN" sz="2000" b="1" dirty="0">
                <a:latin typeface="宋体" panose="02010600030101010101" pitchFamily="2" charset="-122"/>
              </a:rPr>
              <a:t>-</a:t>
            </a:r>
            <a:r>
              <a:rPr lang="zh-CN" altLang="en-US" sz="2000" b="1" dirty="0">
                <a:latin typeface="宋体" panose="02010600030101010101" pitchFamily="2" charset="-122"/>
              </a:rPr>
              <a:t>辅存间关系及其原因？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             (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提高性能、降低成本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                 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层次结构，局部性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)   </a:t>
            </a:r>
          </a:p>
          <a:p>
            <a:pPr>
              <a:defRPr/>
            </a:pPr>
            <a:r>
              <a:rPr lang="zh-CN" altLang="en-US" sz="2000" b="1" dirty="0">
                <a:latin typeface="宋体" panose="02010600030101010101" pitchFamily="2" charset="-122"/>
              </a:rPr>
              <a:t>     ②硬件结构以存储器为中心的目标？基本实现技术？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1600" b="1" dirty="0">
                <a:latin typeface="宋体" panose="02010600030101010101" pitchFamily="2" charset="-122"/>
              </a:rPr>
              <a:t>  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        (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运算与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I/O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并行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)                  (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缓冲技术＋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DMA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技术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)</a:t>
            </a:r>
          </a:p>
          <a:p>
            <a:pPr>
              <a:defRPr/>
            </a:pPr>
            <a:r>
              <a:rPr lang="en-US" altLang="zh-CN" sz="2000" b="1" dirty="0">
                <a:latin typeface="宋体" panose="02010600030101010101" pitchFamily="2" charset="-122"/>
              </a:rPr>
              <a:t>     </a:t>
            </a:r>
            <a:r>
              <a:rPr lang="zh-CN" altLang="en-US" sz="2000" b="1" dirty="0">
                <a:latin typeface="宋体" panose="02010600030101010101" pitchFamily="2" charset="-122"/>
              </a:rPr>
              <a:t>③运算器的功能取决于什么？为什么要设置</a:t>
            </a:r>
            <a:r>
              <a:rPr lang="en-US" altLang="zh-CN" sz="2000" b="1" dirty="0">
                <a:latin typeface="宋体" panose="02010600030101010101" pitchFamily="2" charset="-122"/>
              </a:rPr>
              <a:t>GPRs</a:t>
            </a:r>
            <a:r>
              <a:rPr lang="zh-CN" altLang="en-US" sz="2000" b="1" dirty="0">
                <a:latin typeface="宋体" panose="02010600030101010101" pitchFamily="2" charset="-122"/>
              </a:rPr>
              <a:t>？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             (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指令系统的功能需求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)          (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避免频繁访问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MEM)</a:t>
            </a:r>
          </a:p>
          <a:p>
            <a:pPr>
              <a:defRPr/>
            </a:pPr>
            <a:r>
              <a:rPr lang="en-US" altLang="zh-CN" sz="2000" b="1" dirty="0">
                <a:latin typeface="宋体" panose="02010600030101010101" pitchFamily="2" charset="-122"/>
              </a:rPr>
              <a:t>     </a:t>
            </a:r>
            <a:r>
              <a:rPr lang="zh-CN" altLang="en-US" sz="2000" b="1" dirty="0">
                <a:latin typeface="宋体" panose="02010600030101010101" pitchFamily="2" charset="-122"/>
              </a:rPr>
              <a:t>④主存容量能否改变？对主存引脚、</a:t>
            </a:r>
            <a:r>
              <a:rPr lang="en-US" altLang="zh-CN" sz="2000" b="1" dirty="0">
                <a:latin typeface="宋体" panose="02010600030101010101" pitchFamily="2" charset="-122"/>
              </a:rPr>
              <a:t>CPU</a:t>
            </a:r>
            <a:r>
              <a:rPr lang="zh-CN" altLang="en-US" sz="2000" b="1" dirty="0">
                <a:latin typeface="宋体" panose="02010600030101010101" pitchFamily="2" charset="-122"/>
              </a:rPr>
              <a:t>地址引脚有什么要求？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             (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能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)               (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增加片选引脚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)     (=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最大容量地址位数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)</a:t>
            </a:r>
          </a:p>
          <a:p>
            <a:pPr>
              <a:defRPr/>
            </a:pPr>
            <a:r>
              <a:rPr lang="zh-CN" altLang="en-US" sz="2000" b="1" dirty="0">
                <a:latin typeface="宋体" panose="02010600030101010101" pitchFamily="2" charset="-122"/>
              </a:rPr>
              <a:t>     ⑤控制器由哪些基本部件组成？设置原因各是什么？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           (ID/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时序信号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控制信号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)   (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二进制表示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,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循环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+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多个步骤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,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600" b="1" dirty="0" err="1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uOP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控制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)</a:t>
            </a:r>
          </a:p>
          <a:p>
            <a:pPr>
              <a:defRPr/>
            </a:pPr>
            <a:r>
              <a:rPr lang="en-US" altLang="zh-CN" sz="2000" b="1" dirty="0">
                <a:latin typeface="宋体" panose="02010600030101010101" pitchFamily="2" charset="-122"/>
              </a:rPr>
              <a:t>     </a:t>
            </a:r>
            <a:r>
              <a:rPr lang="zh-CN" altLang="en-US" sz="2000" b="1" dirty="0">
                <a:latin typeface="宋体" panose="02010600030101010101" pitchFamily="2" charset="-122"/>
              </a:rPr>
              <a:t>⑥部件为什么采用总线方式互连？为什么要设置</a:t>
            </a:r>
            <a:r>
              <a:rPr lang="en-US" altLang="zh-CN" sz="2000" b="1" dirty="0">
                <a:latin typeface="宋体" panose="02010600030101010101" pitchFamily="2" charset="-122"/>
              </a:rPr>
              <a:t>I/O</a:t>
            </a:r>
            <a:r>
              <a:rPr lang="zh-CN" altLang="en-US" sz="2000" b="1" dirty="0">
                <a:latin typeface="宋体" panose="02010600030101010101" pitchFamily="2" charset="-122"/>
              </a:rPr>
              <a:t>接口？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             (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可提高可扩展性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)              (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总线互连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外设的多样性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)</a:t>
            </a:r>
          </a:p>
          <a:p>
            <a:pPr>
              <a:defRPr/>
            </a:pPr>
            <a:r>
              <a:rPr lang="zh-CN" altLang="en-US" sz="2000" b="1" dirty="0">
                <a:latin typeface="宋体" panose="02010600030101010101" pitchFamily="2" charset="-122"/>
              </a:rPr>
              <a:t>     ⑦总线上的从设备如何标识？</a:t>
            </a:r>
            <a:r>
              <a:rPr lang="en-US" altLang="zh-CN" sz="2000" b="1" dirty="0">
                <a:latin typeface="宋体" panose="02010600030101010101" pitchFamily="2" charset="-122"/>
              </a:rPr>
              <a:t>CPU</a:t>
            </a:r>
            <a:r>
              <a:rPr lang="zh-CN" altLang="en-US" sz="2000" b="1" dirty="0">
                <a:latin typeface="宋体" panose="02010600030101010101" pitchFamily="2" charset="-122"/>
              </a:rPr>
              <a:t>对外部的操作有哪些基本类型？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             (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按地址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)                  (4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种，通过地址或命令区分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)</a:t>
            </a:r>
          </a:p>
          <a:p>
            <a:pPr>
              <a:defRPr/>
            </a:pPr>
            <a:r>
              <a:rPr lang="en-US" altLang="zh-CN" sz="2000" b="1" dirty="0">
                <a:latin typeface="宋体" panose="02010600030101010101" pitchFamily="2" charset="-122"/>
              </a:rPr>
              <a:t>     </a:t>
            </a:r>
            <a:r>
              <a:rPr lang="zh-CN" altLang="en-US" sz="2000" b="1" dirty="0">
                <a:latin typeface="宋体" panose="02010600030101010101" pitchFamily="2" charset="-122"/>
              </a:rPr>
              <a:t>⑧</a:t>
            </a:r>
            <a:r>
              <a:rPr lang="en-US" altLang="zh-CN" sz="2000" b="1" dirty="0">
                <a:latin typeface="宋体" panose="02010600030101010101" pitchFamily="2" charset="-122"/>
              </a:rPr>
              <a:t>MEM</a:t>
            </a:r>
            <a:r>
              <a:rPr lang="zh-CN" altLang="en-US" sz="2000" b="1" dirty="0">
                <a:latin typeface="宋体" panose="02010600030101010101" pitchFamily="2" charset="-122"/>
              </a:rPr>
              <a:t>与外设如何区分？对总线信号的要求？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             (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统一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独立编址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)       (≥2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种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/4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种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OP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信号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)</a:t>
            </a:r>
            <a:endParaRPr lang="zh-CN" altLang="en-US" sz="1600" b="1" dirty="0">
              <a:solidFill>
                <a:schemeClr val="bg1">
                  <a:lumMod val="85000"/>
                </a:schemeClr>
              </a:solidFill>
              <a:latin typeface="宋体" panose="02010600030101010101" pitchFamily="2" charset="-122"/>
            </a:endParaRPr>
          </a:p>
          <a:p>
            <a:pPr>
              <a:defRPr/>
            </a:pPr>
            <a:r>
              <a:rPr lang="zh-CN" altLang="en-US" sz="2000" b="1" dirty="0">
                <a:latin typeface="宋体" panose="02010600030101010101" pitchFamily="2" charset="-122"/>
              </a:rPr>
              <a:t>     ⑨总线操作有哪些基本步骤？为什么？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             (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仲裁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寻址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数据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结束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)     (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多主设备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按地址标识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传送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资源共用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)</a:t>
            </a:r>
            <a:r>
              <a:rPr lang="en-US" altLang="zh-CN" sz="1600" b="1" dirty="0">
                <a:latin typeface="宋体" panose="02010600030101010101" pitchFamily="2" charset="-122"/>
              </a:rPr>
              <a:t> </a:t>
            </a:r>
          </a:p>
          <a:p>
            <a:pPr>
              <a:defRPr/>
            </a:pPr>
            <a:r>
              <a:rPr lang="zh-CN" altLang="en-US" sz="2000" b="1" dirty="0">
                <a:latin typeface="宋体" panose="02010600030101010101" pitchFamily="2" charset="-122"/>
              </a:rPr>
              <a:t>     ⑩程序</a:t>
            </a:r>
            <a:r>
              <a:rPr lang="en-US" altLang="zh-CN" sz="2000" b="1" dirty="0">
                <a:latin typeface="宋体" panose="02010600030101010101" pitchFamily="2" charset="-122"/>
              </a:rPr>
              <a:t>MEM</a:t>
            </a:r>
            <a:r>
              <a:rPr lang="zh-CN" altLang="en-US" sz="2000" b="1" dirty="0">
                <a:latin typeface="宋体" panose="02010600030101010101" pitchFamily="2" charset="-122"/>
              </a:rPr>
              <a:t>与主存的关系？程序执行时如何访问主存？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         (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编址单位相同、地址空间不同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  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按程序地址访问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=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地址变换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+</a:t>
            </a:r>
            <a:r>
              <a:rPr lang="zh-CN" altLang="en-US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按主存地址访问</a:t>
            </a:r>
            <a:r>
              <a:rPr lang="en-US" altLang="zh-CN" sz="16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)   </a:t>
            </a:r>
          </a:p>
        </p:txBody>
      </p:sp>
      <p:sp>
        <p:nvSpPr>
          <p:cNvPr id="4" name="AutoShape 301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7824" y="6453336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C1B93-8483-479B-9518-A9279CF2AAB5}" type="slidenum">
              <a:rPr lang="en-US" altLang="zh-CN" smtClean="0"/>
              <a:t>6</a:t>
            </a:fld>
            <a:endParaRPr lang="en-US" altLang="zh-CN"/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179388" y="332656"/>
            <a:ext cx="8812212" cy="5276894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二、计算机的层次结构     </a:t>
            </a:r>
            <a:r>
              <a:rPr lang="zh-CN" altLang="en-US" sz="1800" b="1" dirty="0">
                <a:latin typeface="+mn-ea"/>
                <a:ea typeface="+mn-ea"/>
              </a:rPr>
              <a:t>△了解组成的任务</a:t>
            </a:r>
            <a:endParaRPr lang="en-US" altLang="zh-CN" sz="20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latin typeface="宋体" panose="02010600030101010101" pitchFamily="2" charset="-122"/>
              </a:rPr>
              <a:t>层次结构，软件与硬件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性能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成本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，结构与组成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设计与</a:t>
            </a:r>
            <a:r>
              <a:rPr lang="zh-CN" altLang="en-US" sz="1800" b="1" u="sng" dirty="0">
                <a:latin typeface="宋体" panose="02010600030101010101" pitchFamily="2" charset="-122"/>
              </a:rPr>
              <a:t>逻辑实现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三、计算机的工作过程     </a:t>
            </a: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1.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计算机的工作方式       </a:t>
            </a:r>
            <a:r>
              <a:rPr lang="zh-CN" altLang="en-US" sz="1800" b="1" dirty="0">
                <a:latin typeface="宋体" panose="02010600030101010101" pitchFamily="2" charset="-122"/>
              </a:rPr>
              <a:t>☆理解工作方式的实现方案</a:t>
            </a:r>
            <a:endParaRPr lang="zh-CN" altLang="en-US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defRPr/>
            </a:pPr>
            <a:r>
              <a:rPr lang="en-US" altLang="zh-CN" sz="2200" b="1" dirty="0"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latin typeface="宋体" panose="02010600030101010101" pitchFamily="2" charset="-122"/>
              </a:rPr>
              <a:t>程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序执行顺序的表示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(</a:t>
            </a:r>
            <a:r>
              <a:rPr lang="zh-CN" altLang="en-US" sz="1800" b="1" u="sng" spc="-100" dirty="0">
                <a:latin typeface="宋体" panose="02010600030101010101" pitchFamily="2" charset="-122"/>
              </a:rPr>
              <a:t>指令地址</a:t>
            </a:r>
            <a:r>
              <a:rPr lang="zh-CN" altLang="en-US" sz="1800" b="1" spc="-100" dirty="0">
                <a:latin typeface="宋体" panose="02010600030101010101" pitchFamily="2" charset="-122"/>
              </a:rPr>
              <a:t>序列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)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，下条指令地址的形成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(2</a:t>
            </a:r>
            <a:r>
              <a:rPr lang="zh-CN" altLang="en-US" sz="1800" b="1" spc="-100" dirty="0">
                <a:latin typeface="宋体" panose="02010600030101010101" pitchFamily="2" charset="-122"/>
              </a:rPr>
              <a:t>种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)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，</a:t>
            </a:r>
            <a:endParaRPr lang="en-US" altLang="zh-CN" sz="2200" b="1" spc="-100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defRPr/>
            </a:pPr>
            <a:r>
              <a:rPr lang="zh-CN" altLang="en-US" sz="2200" b="1" dirty="0">
                <a:latin typeface="宋体" panose="02010600030101010101" pitchFamily="2" charset="-122"/>
              </a:rPr>
              <a:t>   程序的执行机制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循环的指令执行过程、循环处理与执行过程重叠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25000"/>
              </a:lnSpc>
              <a:defRPr/>
            </a:pPr>
            <a:endParaRPr lang="en-US" altLang="zh-CN" sz="22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defRPr/>
            </a:pPr>
            <a:endParaRPr lang="en-US" altLang="zh-CN" sz="22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1200"/>
              </a:spcBef>
              <a:defRPr/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2.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程序执行的实现      </a:t>
            </a:r>
            <a:r>
              <a:rPr lang="zh-CN" altLang="en-US" sz="2200" b="1" dirty="0">
                <a:latin typeface="宋体" panose="02010600030101010101" pitchFamily="2" charset="-122"/>
              </a:rPr>
              <a:t> 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执行的准备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装入主存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置</a:t>
            </a:r>
            <a:r>
              <a:rPr lang="en-US" altLang="zh-CN" sz="1800" b="1" dirty="0">
                <a:latin typeface="宋体" panose="02010600030101010101" pitchFamily="2" charset="-122"/>
              </a:rPr>
              <a:t>PC)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latin typeface="宋体" panose="02010600030101010101" pitchFamily="2" charset="-122"/>
              </a:rPr>
              <a:t>执行的实现</a:t>
            </a:r>
            <a:r>
              <a:rPr lang="en-US" altLang="zh-CN" sz="1800" b="1" dirty="0">
                <a:latin typeface="宋体" panose="02010600030101010101" pitchFamily="2" charset="-122"/>
              </a:rPr>
              <a:t>(3</a:t>
            </a:r>
            <a:r>
              <a:rPr lang="zh-CN" altLang="en-US" sz="1800" b="1" dirty="0">
                <a:latin typeface="宋体" panose="02010600030101010101" pitchFamily="2" charset="-122"/>
              </a:rPr>
              <a:t>个阶段</a:t>
            </a:r>
            <a:r>
              <a:rPr lang="en-US" altLang="zh-CN" sz="1800" b="1" dirty="0">
                <a:latin typeface="宋体" panose="02010600030101010101" pitchFamily="2" charset="-122"/>
              </a:rPr>
              <a:t>[</a:t>
            </a:r>
            <a:r>
              <a:rPr lang="zh-CN" altLang="en-US" sz="1800" b="1" dirty="0">
                <a:latin typeface="宋体" panose="02010600030101010101" pitchFamily="2" charset="-122"/>
              </a:rPr>
              <a:t>操作</a:t>
            </a:r>
            <a:r>
              <a:rPr lang="en-US" altLang="zh-CN" sz="1800" b="1" dirty="0">
                <a:latin typeface="宋体" panose="02010600030101010101" pitchFamily="2" charset="-122"/>
              </a:rPr>
              <a:t>])</a:t>
            </a:r>
          </a:p>
          <a:p>
            <a:pPr>
              <a:lnSpc>
                <a:spcPct val="125000"/>
              </a:lnSpc>
            </a:pPr>
            <a:r>
              <a:rPr lang="en-US" altLang="zh-CN" sz="1800" b="1" dirty="0">
                <a:latin typeface="宋体" panose="02010600030101010101" pitchFamily="2" charset="-122"/>
              </a:rPr>
              <a:t>    (</a:t>
            </a:r>
            <a:r>
              <a:rPr lang="zh-CN" altLang="en-US" sz="1800" b="1" dirty="0">
                <a:latin typeface="宋体" panose="02010600030101010101" pitchFamily="2" charset="-122"/>
              </a:rPr>
              <a:t>需求：按</a:t>
            </a:r>
            <a:r>
              <a:rPr lang="zh-CN" altLang="en-US" sz="1800" b="1" u="sng" dirty="0">
                <a:latin typeface="宋体" panose="02010600030101010101" pitchFamily="2" charset="-122"/>
              </a:rPr>
              <a:t>逻辑地址</a:t>
            </a:r>
            <a:r>
              <a:rPr lang="zh-CN" altLang="en-US" sz="1800" b="1" dirty="0">
                <a:latin typeface="宋体" panose="02010600030101010101" pitchFamily="2" charset="-122"/>
              </a:rPr>
              <a:t>访问主存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1800" b="1" dirty="0">
              <a:latin typeface="+mn-ea"/>
              <a:ea typeface="+mn-ea"/>
            </a:endParaRPr>
          </a:p>
        </p:txBody>
      </p:sp>
      <p:sp>
        <p:nvSpPr>
          <p:cNvPr id="56" name="AutoShape 50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6156177" y="6380063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" name="AutoShape 62">
            <a:hlinkClick r:id="rId3" action="ppaction://hlinksldjump"/>
          </p:cNvPr>
          <p:cNvSpPr>
            <a:spLocks noChangeArrowheads="1"/>
          </p:cNvSpPr>
          <p:nvPr/>
        </p:nvSpPr>
        <p:spPr bwMode="auto">
          <a:xfrm rot="16200000">
            <a:off x="4068292" y="6379715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4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pSp>
        <p:nvGrpSpPr>
          <p:cNvPr id="70" name="组合 69"/>
          <p:cNvGrpSpPr/>
          <p:nvPr/>
        </p:nvGrpSpPr>
        <p:grpSpPr>
          <a:xfrm>
            <a:off x="3996189" y="4220329"/>
            <a:ext cx="4752528" cy="1870942"/>
            <a:chOff x="4067944" y="4437112"/>
            <a:chExt cx="4752528" cy="1870942"/>
          </a:xfrm>
        </p:grpSpPr>
        <p:sp>
          <p:nvSpPr>
            <p:cNvPr id="59" name="矩形 58"/>
            <p:cNvSpPr/>
            <p:nvPr/>
          </p:nvSpPr>
          <p:spPr bwMode="auto">
            <a:xfrm>
              <a:off x="7740352" y="5949280"/>
              <a:ext cx="576064" cy="357533"/>
            </a:xfrm>
            <a:prstGeom prst="rect">
              <a:avLst/>
            </a:prstGeom>
            <a:solidFill>
              <a:srgbClr val="CCCCFF"/>
            </a:solidFill>
            <a:ln w="12700" cap="flat" cmpd="sng" algn="ctr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" name="矩形 28"/>
            <p:cNvSpPr/>
            <p:nvPr/>
          </p:nvSpPr>
          <p:spPr bwMode="auto">
            <a:xfrm>
              <a:off x="7092280" y="5949280"/>
              <a:ext cx="648072" cy="357533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 cap="flat" cmpd="sng" algn="ctr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" name="Text Box 352"/>
            <p:cNvSpPr txBox="1">
              <a:spLocks noChangeArrowheads="1"/>
            </p:cNvSpPr>
            <p:nvPr/>
          </p:nvSpPr>
          <p:spPr bwMode="auto">
            <a:xfrm>
              <a:off x="4067944" y="5181127"/>
              <a:ext cx="576064" cy="336105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dirty="0">
                  <a:latin typeface="宋体" panose="02010600030101010101" pitchFamily="2" charset="-122"/>
                </a:rPr>
                <a:t>PC</a:t>
              </a:r>
            </a:p>
          </p:txBody>
        </p:sp>
        <p:sp>
          <p:nvSpPr>
            <p:cNvPr id="31" name="Text Box 354"/>
            <p:cNvSpPr txBox="1">
              <a:spLocks noChangeArrowheads="1"/>
            </p:cNvSpPr>
            <p:nvPr/>
          </p:nvSpPr>
          <p:spPr bwMode="auto">
            <a:xfrm>
              <a:off x="4067944" y="5949280"/>
              <a:ext cx="1440160" cy="358774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>
                  <a:latin typeface="宋体" panose="02010600030101010101" pitchFamily="2" charset="-122"/>
                </a:rPr>
                <a:t>主存</a:t>
              </a:r>
            </a:p>
          </p:txBody>
        </p:sp>
        <p:sp>
          <p:nvSpPr>
            <p:cNvPr id="32" name="Text Box 408"/>
            <p:cNvSpPr txBox="1">
              <a:spLocks noChangeArrowheads="1"/>
            </p:cNvSpPr>
            <p:nvPr/>
          </p:nvSpPr>
          <p:spPr bwMode="auto">
            <a:xfrm>
              <a:off x="6084168" y="5057697"/>
              <a:ext cx="648072" cy="604183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dirty="0">
                  <a:latin typeface="宋体" panose="02010600030101010101" pitchFamily="2" charset="-122"/>
                </a:rPr>
                <a:t>ID</a:t>
              </a:r>
            </a:p>
          </p:txBody>
        </p:sp>
        <p:sp>
          <p:nvSpPr>
            <p:cNvPr id="33" name="Text Box 439"/>
            <p:cNvSpPr txBox="1">
              <a:spLocks noChangeArrowheads="1"/>
            </p:cNvSpPr>
            <p:nvPr/>
          </p:nvSpPr>
          <p:spPr bwMode="auto">
            <a:xfrm>
              <a:off x="4932040" y="4581127"/>
              <a:ext cx="648072" cy="360041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/>
                <a:t>＋</a:t>
              </a:r>
              <a:r>
                <a:rPr lang="en-US" altLang="zh-CN" sz="1800" dirty="0"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“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1</a:t>
              </a:r>
              <a:r>
                <a:rPr lang="en-US" altLang="zh-CN" sz="1800" dirty="0"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”</a:t>
              </a:r>
            </a:p>
          </p:txBody>
        </p:sp>
        <p:sp>
          <p:nvSpPr>
            <p:cNvPr id="34" name="Text Box 460"/>
            <p:cNvSpPr txBox="1">
              <a:spLocks noChangeArrowheads="1"/>
            </p:cNvSpPr>
            <p:nvPr/>
          </p:nvSpPr>
          <p:spPr bwMode="auto">
            <a:xfrm>
              <a:off x="7380312" y="4509440"/>
              <a:ext cx="1440160" cy="359720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>
                  <a:latin typeface="宋体" panose="02010600030101010101" pitchFamily="2" charset="-122"/>
                </a:rPr>
                <a:t>地址计算部件</a:t>
              </a:r>
            </a:p>
          </p:txBody>
        </p:sp>
        <p:sp>
          <p:nvSpPr>
            <p:cNvPr id="35" name="Text Box 460"/>
            <p:cNvSpPr txBox="1">
              <a:spLocks noChangeArrowheads="1"/>
            </p:cNvSpPr>
            <p:nvPr/>
          </p:nvSpPr>
          <p:spPr bwMode="auto">
            <a:xfrm>
              <a:off x="7380312" y="4941168"/>
              <a:ext cx="1440160" cy="360039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>
                  <a:latin typeface="宋体" panose="02010600030101010101" pitchFamily="2" charset="-122"/>
                </a:rPr>
                <a:t>功能部件</a:t>
              </a:r>
            </a:p>
          </p:txBody>
        </p:sp>
        <p:cxnSp>
          <p:nvCxnSpPr>
            <p:cNvPr id="36" name="直接箭头连接符 35"/>
            <p:cNvCxnSpPr>
              <a:endCxn id="51" idx="2"/>
            </p:cNvCxnSpPr>
            <p:nvPr/>
          </p:nvCxnSpPr>
          <p:spPr bwMode="auto">
            <a:xfrm flipV="1">
              <a:off x="5220072" y="5517232"/>
              <a:ext cx="0" cy="289298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7" name="直接箭头连接符 36"/>
            <p:cNvCxnSpPr>
              <a:stCxn id="30" idx="2"/>
            </p:cNvCxnSpPr>
            <p:nvPr/>
          </p:nvCxnSpPr>
          <p:spPr bwMode="auto">
            <a:xfrm>
              <a:off x="4355976" y="5517232"/>
              <a:ext cx="4" cy="289298"/>
            </a:xfrm>
            <a:prstGeom prst="straightConnector1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8" name="直接箭头连接符 37"/>
            <p:cNvCxnSpPr/>
            <p:nvPr/>
          </p:nvCxnSpPr>
          <p:spPr bwMode="auto">
            <a:xfrm>
              <a:off x="5508104" y="5373216"/>
              <a:ext cx="576064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9" name="直接连接符 141"/>
            <p:cNvCxnSpPr/>
            <p:nvPr/>
          </p:nvCxnSpPr>
          <p:spPr bwMode="auto">
            <a:xfrm>
              <a:off x="6732240" y="5517232"/>
              <a:ext cx="1008112" cy="289298"/>
            </a:xfrm>
            <a:prstGeom prst="bentConnector3">
              <a:avLst>
                <a:gd name="adj1" fmla="val 99887"/>
              </a:avLst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0" name="直接连接符 141"/>
            <p:cNvCxnSpPr/>
            <p:nvPr/>
          </p:nvCxnSpPr>
          <p:spPr bwMode="auto">
            <a:xfrm>
              <a:off x="6732240" y="5587974"/>
              <a:ext cx="702078" cy="218556"/>
            </a:xfrm>
            <a:prstGeom prst="bentConnector3">
              <a:avLst>
                <a:gd name="adj1" fmla="val 99927"/>
              </a:avLst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1" name="直接箭头连接符 40"/>
            <p:cNvCxnSpPr/>
            <p:nvPr/>
          </p:nvCxnSpPr>
          <p:spPr bwMode="auto">
            <a:xfrm flipV="1">
              <a:off x="7524328" y="5301207"/>
              <a:ext cx="0" cy="506563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2" name="直接连接符 41"/>
            <p:cNvCxnSpPr/>
            <p:nvPr/>
          </p:nvCxnSpPr>
          <p:spPr bwMode="auto">
            <a:xfrm>
              <a:off x="6732240" y="5157192"/>
              <a:ext cx="648072" cy="0"/>
            </a:xfrm>
            <a:prstGeom prst="line">
              <a:avLst/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3" name="直接连接符 141"/>
            <p:cNvCxnSpPr/>
            <p:nvPr/>
          </p:nvCxnSpPr>
          <p:spPr bwMode="auto">
            <a:xfrm>
              <a:off x="6732240" y="5445224"/>
              <a:ext cx="1440160" cy="360040"/>
            </a:xfrm>
            <a:prstGeom prst="bentConnector3">
              <a:avLst>
                <a:gd name="adj1" fmla="val 100265"/>
              </a:avLst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4" name="直接箭头连接符 160"/>
            <p:cNvCxnSpPr/>
            <p:nvPr/>
          </p:nvCxnSpPr>
          <p:spPr bwMode="auto">
            <a:xfrm>
              <a:off x="8244408" y="5301208"/>
              <a:ext cx="0" cy="504056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5" name="直接箭头连接符 222"/>
            <p:cNvCxnSpPr/>
            <p:nvPr/>
          </p:nvCxnSpPr>
          <p:spPr bwMode="auto">
            <a:xfrm rot="5400000" flipH="1" flipV="1">
              <a:off x="6841999" y="4906911"/>
              <a:ext cx="754658" cy="321968"/>
            </a:xfrm>
            <a:prstGeom prst="bentConnector2">
              <a:avLst/>
            </a:prstGeom>
            <a:noFill/>
            <a:ln w="19050" cap="flat" cmpd="sng" algn="ctr">
              <a:solidFill>
                <a:srgbClr val="CC3300"/>
              </a:solidFill>
              <a:prstDash val="sysDash"/>
              <a:round/>
              <a:headEnd type="oval" w="sm" len="sm"/>
              <a:tailEnd type="triangle"/>
            </a:ln>
            <a:effectLst/>
          </p:spPr>
        </p:cxnSp>
        <p:sp>
          <p:nvSpPr>
            <p:cNvPr id="46" name="Text Box 479"/>
            <p:cNvSpPr txBox="1">
              <a:spLocks noChangeArrowheads="1"/>
            </p:cNvSpPr>
            <p:nvPr/>
          </p:nvSpPr>
          <p:spPr bwMode="auto">
            <a:xfrm>
              <a:off x="6012160" y="4437112"/>
              <a:ext cx="796224" cy="28575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>
                  <a:latin typeface="宋体" panose="02010600030101010101" pitchFamily="2" charset="-122"/>
                </a:rPr>
                <a:t>转移时</a:t>
              </a:r>
            </a:p>
          </p:txBody>
        </p:sp>
        <p:cxnSp>
          <p:nvCxnSpPr>
            <p:cNvPr id="47" name="直接箭头连接符 222"/>
            <p:cNvCxnSpPr>
              <a:stCxn id="34" idx="3"/>
            </p:cNvCxnSpPr>
            <p:nvPr/>
          </p:nvCxnSpPr>
          <p:spPr bwMode="auto">
            <a:xfrm flipH="1" flipV="1">
              <a:off x="5724128" y="4437112"/>
              <a:ext cx="3096344" cy="252188"/>
            </a:xfrm>
            <a:prstGeom prst="bentConnector3">
              <a:avLst>
                <a:gd name="adj1" fmla="val -4733"/>
              </a:avLst>
            </a:prstGeom>
            <a:noFill/>
            <a:ln w="19050" cap="flat" cmpd="sng" algn="ctr">
              <a:solidFill>
                <a:srgbClr val="CC3300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8" name="直接箭头连接符 222"/>
            <p:cNvCxnSpPr/>
            <p:nvPr/>
          </p:nvCxnSpPr>
          <p:spPr bwMode="auto">
            <a:xfrm>
              <a:off x="4788024" y="4797152"/>
              <a:ext cx="144016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9" name="直接箭头连接符 222"/>
            <p:cNvCxnSpPr>
              <a:stCxn id="33" idx="3"/>
              <a:endCxn id="30" idx="0"/>
            </p:cNvCxnSpPr>
            <p:nvPr/>
          </p:nvCxnSpPr>
          <p:spPr bwMode="auto">
            <a:xfrm flipH="1">
              <a:off x="4355976" y="4761148"/>
              <a:ext cx="1224136" cy="419979"/>
            </a:xfrm>
            <a:prstGeom prst="bentConnector4">
              <a:avLst>
                <a:gd name="adj1" fmla="val -11492"/>
                <a:gd name="adj2" fmla="val -77347"/>
              </a:avLst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0" name="直接箭头连接符 222"/>
            <p:cNvCxnSpPr/>
            <p:nvPr/>
          </p:nvCxnSpPr>
          <p:spPr bwMode="auto">
            <a:xfrm rot="5400000" flipH="1" flipV="1">
              <a:off x="4157855" y="4995242"/>
              <a:ext cx="828260" cy="432081"/>
            </a:xfrm>
            <a:prstGeom prst="bentConnector3">
              <a:avLst>
                <a:gd name="adj1" fmla="val 320"/>
              </a:avLst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oval" w="med" len="med"/>
              <a:tailEnd type="none"/>
            </a:ln>
            <a:effectLst/>
          </p:spPr>
        </p:cxnSp>
        <p:sp>
          <p:nvSpPr>
            <p:cNvPr id="51" name="Text Box 352"/>
            <p:cNvSpPr txBox="1">
              <a:spLocks noChangeArrowheads="1"/>
            </p:cNvSpPr>
            <p:nvPr/>
          </p:nvSpPr>
          <p:spPr bwMode="auto">
            <a:xfrm>
              <a:off x="4932040" y="5181127"/>
              <a:ext cx="576064" cy="336105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dirty="0">
                  <a:latin typeface="宋体" panose="02010600030101010101" pitchFamily="2" charset="-122"/>
                </a:rPr>
                <a:t>IR</a:t>
              </a:r>
            </a:p>
          </p:txBody>
        </p:sp>
        <p:cxnSp>
          <p:nvCxnSpPr>
            <p:cNvPr id="52" name="直接箭头连接符 51"/>
            <p:cNvCxnSpPr/>
            <p:nvPr/>
          </p:nvCxnSpPr>
          <p:spPr bwMode="auto">
            <a:xfrm flipV="1">
              <a:off x="7812360" y="5301208"/>
              <a:ext cx="0" cy="506563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3" name="矩形 52"/>
            <p:cNvSpPr/>
            <p:nvPr/>
          </p:nvSpPr>
          <p:spPr bwMode="auto">
            <a:xfrm>
              <a:off x="8316416" y="5949280"/>
              <a:ext cx="504056" cy="357533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 cap="flat" cmpd="sng" algn="ctr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4" name="Text Box 354"/>
            <p:cNvSpPr txBox="1">
              <a:spLocks noChangeArrowheads="1"/>
            </p:cNvSpPr>
            <p:nvPr/>
          </p:nvSpPr>
          <p:spPr bwMode="auto">
            <a:xfrm>
              <a:off x="7092280" y="5949280"/>
              <a:ext cx="1728192" cy="35877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>
                  <a:latin typeface="宋体" panose="02010600030101010101" pitchFamily="2" charset="-122"/>
                </a:rPr>
                <a:t>主存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/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外设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/GPRs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55" name="直接连接符 54"/>
            <p:cNvCxnSpPr/>
            <p:nvPr/>
          </p:nvCxnSpPr>
          <p:spPr bwMode="auto">
            <a:xfrm>
              <a:off x="5868144" y="4564093"/>
              <a:ext cx="0" cy="159870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0" name="直接连接符 59"/>
            <p:cNvCxnSpPr/>
            <p:nvPr/>
          </p:nvCxnSpPr>
          <p:spPr bwMode="auto">
            <a:xfrm>
              <a:off x="6876256" y="4581128"/>
              <a:ext cx="0" cy="159870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7" name="Text Box 316"/>
            <p:cNvSpPr txBox="1">
              <a:spLocks noChangeArrowheads="1"/>
            </p:cNvSpPr>
            <p:nvPr/>
          </p:nvSpPr>
          <p:spPr bwMode="auto">
            <a:xfrm>
              <a:off x="4067992" y="5805264"/>
              <a:ext cx="4248424" cy="144016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400" b="1" dirty="0">
                  <a:latin typeface="宋体" panose="02010600030101010101" pitchFamily="2" charset="-122"/>
                </a:rPr>
                <a:t>MMU</a:t>
              </a:r>
              <a:endParaRPr lang="zh-CN" altLang="en-US" sz="1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</p:txBody>
        </p:sp>
        <p:cxnSp>
          <p:nvCxnSpPr>
            <p:cNvPr id="61" name="直接连接符 141"/>
            <p:cNvCxnSpPr/>
            <p:nvPr/>
          </p:nvCxnSpPr>
          <p:spPr bwMode="auto">
            <a:xfrm rot="16200000" flipH="1">
              <a:off x="8064388" y="5553236"/>
              <a:ext cx="504056" cy="288032"/>
            </a:xfrm>
            <a:prstGeom prst="bentConnector3">
              <a:avLst>
                <a:gd name="adj1" fmla="val -391"/>
              </a:avLst>
            </a:prstGeom>
            <a:noFill/>
            <a:ln w="19050" cap="flat" cmpd="sng" algn="ctr">
              <a:solidFill>
                <a:srgbClr val="CC3300"/>
              </a:solidFill>
              <a:prstDash val="sysDash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67" name="直接箭头连接符 160"/>
            <p:cNvCxnSpPr/>
            <p:nvPr/>
          </p:nvCxnSpPr>
          <p:spPr bwMode="auto">
            <a:xfrm rot="16200000" flipH="1">
              <a:off x="8190402" y="5607242"/>
              <a:ext cx="396044" cy="288032"/>
            </a:xfrm>
            <a:prstGeom prst="bentConnector3">
              <a:avLst>
                <a:gd name="adj1" fmla="val -2911"/>
              </a:avLst>
            </a:prstGeom>
            <a:noFill/>
            <a:ln w="19050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63" name="AutoShape 338"/>
          <p:cNvSpPr/>
          <p:nvPr/>
        </p:nvSpPr>
        <p:spPr bwMode="auto">
          <a:xfrm>
            <a:off x="4814008" y="1284339"/>
            <a:ext cx="1774216" cy="284682"/>
          </a:xfrm>
          <a:prstGeom prst="borderCallout2">
            <a:avLst>
              <a:gd name="adj1" fmla="val 46428"/>
              <a:gd name="adj2" fmla="val -480"/>
              <a:gd name="adj3" fmla="val 46015"/>
              <a:gd name="adj4" fmla="val -11303"/>
              <a:gd name="adj5" fmla="val 327093"/>
              <a:gd name="adj6" fmla="val -52687"/>
            </a:avLst>
          </a:prstGeom>
          <a:noFill/>
          <a:ln w="15875">
            <a:solidFill>
              <a:srgbClr val="990099"/>
            </a:solidFill>
            <a:prstDash val="sysDash"/>
            <a:miter lim="800000"/>
            <a:tailEnd type="triangle" w="med" len="med"/>
          </a:ln>
          <a:effectLst/>
        </p:spPr>
        <p:txBody>
          <a:bodyPr lIns="18000" tIns="10800" rIns="18000" bIns="10800"/>
          <a:lstStyle/>
          <a:p>
            <a:pPr algn="ctr"/>
            <a:r>
              <a:rPr lang="zh-CN" altLang="en-US" sz="1600" b="1" dirty="0">
                <a:latin typeface="宋体" panose="02010600030101010101" pitchFamily="2" charset="-122"/>
              </a:rPr>
              <a:t>用什么地址表示？</a:t>
            </a:r>
          </a:p>
        </p:txBody>
      </p: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B02A0828-5A55-45C4-9873-580FD20EDEEB}"/>
              </a:ext>
            </a:extLst>
          </p:cNvPr>
          <p:cNvGrpSpPr/>
          <p:nvPr/>
        </p:nvGrpSpPr>
        <p:grpSpPr>
          <a:xfrm>
            <a:off x="1835696" y="2996952"/>
            <a:ext cx="5040000" cy="792000"/>
            <a:chOff x="2195735" y="3434700"/>
            <a:chExt cx="5040000" cy="792000"/>
          </a:xfrm>
        </p:grpSpPr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30BA89D0-E0BE-4D26-AEE3-EB8F23F859AE}"/>
                </a:ext>
              </a:extLst>
            </p:cNvPr>
            <p:cNvSpPr/>
            <p:nvPr/>
          </p:nvSpPr>
          <p:spPr bwMode="auto">
            <a:xfrm>
              <a:off x="2195735" y="3434700"/>
              <a:ext cx="5040000" cy="792000"/>
            </a:xfrm>
            <a:prstGeom prst="rect">
              <a:avLst/>
            </a:prstGeom>
            <a:solidFill>
              <a:srgbClr val="CCFFFF"/>
            </a:solidFill>
            <a:ln w="127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" name="Text Box 311">
              <a:extLst>
                <a:ext uri="{FF2B5EF4-FFF2-40B4-BE49-F238E27FC236}">
                  <a16:creationId xmlns:a16="http://schemas.microsoft.com/office/drawing/2014/main" id="{594AA78E-B222-41C8-BCCE-6FCA6375E4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9751" y="3501008"/>
              <a:ext cx="1296000" cy="288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取指令</a:t>
              </a:r>
            </a:p>
          </p:txBody>
        </p:sp>
        <p:sp>
          <p:nvSpPr>
            <p:cNvPr id="68" name="Text Box 314">
              <a:extLst>
                <a:ext uri="{FF2B5EF4-FFF2-40B4-BE49-F238E27FC236}">
                  <a16:creationId xmlns:a16="http://schemas.microsoft.com/office/drawing/2014/main" id="{5EA473F4-61C4-4F85-808A-F971771D3A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7944" y="3501008"/>
              <a:ext cx="1080000" cy="288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分析指令</a:t>
              </a:r>
            </a:p>
          </p:txBody>
        </p:sp>
        <p:sp>
          <p:nvSpPr>
            <p:cNvPr id="69" name="Text Box 316">
              <a:extLst>
                <a:ext uri="{FF2B5EF4-FFF2-40B4-BE49-F238E27FC236}">
                  <a16:creationId xmlns:a16="http://schemas.microsoft.com/office/drawing/2014/main" id="{3A487A3E-26AF-4DB6-80D0-6B518B5020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8104" y="3501008"/>
              <a:ext cx="1656000" cy="288000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执行指令</a:t>
              </a:r>
            </a:p>
          </p:txBody>
        </p:sp>
        <p:cxnSp>
          <p:nvCxnSpPr>
            <p:cNvPr id="71" name="直接箭头连接符 70">
              <a:extLst>
                <a:ext uri="{FF2B5EF4-FFF2-40B4-BE49-F238E27FC236}">
                  <a16:creationId xmlns:a16="http://schemas.microsoft.com/office/drawing/2014/main" id="{12DC5499-840B-48A4-ACDD-8439797C83E4}"/>
                </a:ext>
              </a:extLst>
            </p:cNvPr>
            <p:cNvCxnSpPr>
              <a:stCxn id="66" idx="3"/>
              <a:endCxn id="68" idx="1"/>
            </p:cNvCxnSpPr>
            <p:nvPr/>
          </p:nvCxnSpPr>
          <p:spPr bwMode="auto">
            <a:xfrm>
              <a:off x="3635751" y="3645008"/>
              <a:ext cx="432193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2" name="直接箭头连接符 71">
              <a:extLst>
                <a:ext uri="{FF2B5EF4-FFF2-40B4-BE49-F238E27FC236}">
                  <a16:creationId xmlns:a16="http://schemas.microsoft.com/office/drawing/2014/main" id="{1ECB22C6-AB45-4E4D-A1C0-E24251678894}"/>
                </a:ext>
              </a:extLst>
            </p:cNvPr>
            <p:cNvCxnSpPr>
              <a:stCxn id="68" idx="3"/>
              <a:endCxn id="69" idx="1"/>
            </p:cNvCxnSpPr>
            <p:nvPr/>
          </p:nvCxnSpPr>
          <p:spPr bwMode="auto">
            <a:xfrm>
              <a:off x="5147944" y="3645008"/>
              <a:ext cx="36016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73" name="Text Box 316">
              <a:extLst>
                <a:ext uri="{FF2B5EF4-FFF2-40B4-BE49-F238E27FC236}">
                  <a16:creationId xmlns:a16="http://schemas.microsoft.com/office/drawing/2014/main" id="{3A3E66DD-4D1E-443B-B008-AF42EC7CBE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1844" y="3866748"/>
              <a:ext cx="2196000" cy="288000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rgbClr val="FF3399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PC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←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(PC)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＋</a:t>
              </a:r>
              <a:r>
                <a:rPr lang="zh-CN" altLang="en-US" sz="1800" b="1" dirty="0">
                  <a:uFillTx/>
                  <a:latin typeface="宋体" panose="02010600030101010101" pitchFamily="2" charset="-122"/>
                  <a:cs typeface="宋体" panose="02010600030101010101" pitchFamily="2" charset="-122"/>
                  <a:sym typeface="Symbol" panose="05050102010706020507"/>
                </a:rPr>
                <a:t></a:t>
              </a:r>
              <a:r>
                <a:rPr lang="en-US" altLang="zh-CN" sz="1800" b="1" dirty="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1</a:t>
              </a:r>
              <a:r>
                <a:rPr lang="zh-CN" altLang="en-US" sz="1800" b="1" dirty="0">
                  <a:uFillTx/>
                  <a:latin typeface="宋体" panose="02010600030101010101" pitchFamily="2" charset="-122"/>
                  <a:cs typeface="宋体" panose="02010600030101010101" pitchFamily="2" charset="-122"/>
                  <a:sym typeface="Symbol" panose="05050102010706020507"/>
                </a:rPr>
                <a:t></a:t>
              </a:r>
              <a:endParaRPr lang="zh-CN" altLang="en-US" sz="1800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endParaRPr>
            </a:p>
          </p:txBody>
        </p:sp>
        <p:cxnSp>
          <p:nvCxnSpPr>
            <p:cNvPr id="74" name="直接箭头连接符 27">
              <a:extLst>
                <a:ext uri="{FF2B5EF4-FFF2-40B4-BE49-F238E27FC236}">
                  <a16:creationId xmlns:a16="http://schemas.microsoft.com/office/drawing/2014/main" id="{AF1415D3-4250-4D42-B176-1D2B360BBCFA}"/>
                </a:ext>
              </a:extLst>
            </p:cNvPr>
            <p:cNvCxnSpPr>
              <a:stCxn id="69" idx="3"/>
              <a:endCxn id="66" idx="1"/>
            </p:cNvCxnSpPr>
            <p:nvPr/>
          </p:nvCxnSpPr>
          <p:spPr bwMode="auto">
            <a:xfrm flipH="1">
              <a:off x="2339751" y="3645008"/>
              <a:ext cx="4824353" cy="12700"/>
            </a:xfrm>
            <a:prstGeom prst="bentConnector5">
              <a:avLst>
                <a:gd name="adj1" fmla="val -4738"/>
                <a:gd name="adj2" fmla="val -2123283"/>
                <a:gd name="adj3" fmla="val 104738"/>
              </a:avLst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75" name="Text Box 316">
              <a:extLst>
                <a:ext uri="{FF2B5EF4-FFF2-40B4-BE49-F238E27FC236}">
                  <a16:creationId xmlns:a16="http://schemas.microsoft.com/office/drawing/2014/main" id="{2B195B95-60A0-41A5-9940-B0EF47885E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08288" y="3866748"/>
              <a:ext cx="1656000" cy="288000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rgbClr val="FF3399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PC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←计算结果</a:t>
              </a:r>
            </a:p>
          </p:txBody>
        </p:sp>
      </p:grpSp>
      <p:sp>
        <p:nvSpPr>
          <p:cNvPr id="76" name="Text Box 132">
            <a:extLst>
              <a:ext uri="{FF2B5EF4-FFF2-40B4-BE49-F238E27FC236}">
                <a16:creationId xmlns:a16="http://schemas.microsoft.com/office/drawing/2014/main" id="{FA03D648-4411-4ED5-AC45-5F83617848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628800"/>
            <a:ext cx="8785225" cy="3960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</a:ln>
        </p:spPr>
        <p:txBody>
          <a:bodyPr>
            <a:noAutofit/>
          </a:bodyPr>
          <a:lstStyle/>
          <a:p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 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bldLvl="0" animBg="1"/>
      <p:bldP spid="7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C1B93-8483-479B-9518-A9279CF2AAB5}" type="slidenum">
              <a:rPr lang="en-US" altLang="zh-CN" smtClean="0"/>
              <a:t>7</a:t>
            </a:fld>
            <a:endParaRPr lang="en-US" altLang="zh-CN"/>
          </a:p>
        </p:txBody>
      </p:sp>
      <p:sp>
        <p:nvSpPr>
          <p:cNvPr id="117" name="Text Box 5"/>
          <p:cNvSpPr txBox="1">
            <a:spLocks noChangeArrowheads="1"/>
          </p:cNvSpPr>
          <p:nvPr/>
        </p:nvSpPr>
        <p:spPr bwMode="auto">
          <a:xfrm>
            <a:off x="179388" y="332656"/>
            <a:ext cx="8929116" cy="4399666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四、计算机的性能指标</a:t>
            </a:r>
            <a:endParaRPr lang="en-US" altLang="zh-CN" sz="2200" b="1" dirty="0">
              <a:solidFill>
                <a:srgbClr val="FF33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1.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硬件的技术指标        </a:t>
            </a:r>
            <a:r>
              <a:rPr lang="zh-CN" altLang="en-US" sz="1800" b="1" dirty="0">
                <a:latin typeface="+mn-ea"/>
              </a:rPr>
              <a:t>☆掌握概念、关联知识点</a:t>
            </a:r>
            <a:endParaRPr lang="zh-CN" altLang="en-US" sz="1800" b="1" dirty="0">
              <a:solidFill>
                <a:srgbClr val="FF3399"/>
              </a:solidFill>
              <a:latin typeface="+mn-ea"/>
            </a:endParaRPr>
          </a:p>
          <a:p>
            <a:pPr>
              <a:lnSpc>
                <a:spcPct val="125000"/>
              </a:lnSpc>
              <a:defRPr/>
            </a:pPr>
            <a:r>
              <a:rPr lang="zh-CN" altLang="en-US" sz="2200" b="1" dirty="0">
                <a:latin typeface="宋体" panose="02010600030101010101" pitchFamily="2" charset="-122"/>
              </a:rPr>
              <a:t>   机器字长、</a:t>
            </a:r>
            <a:r>
              <a:rPr lang="en-US" altLang="zh-CN" sz="2200" b="1" dirty="0">
                <a:latin typeface="宋体" panose="02010600030101010101" pitchFamily="2" charset="-122"/>
              </a:rPr>
              <a:t>CPU</a:t>
            </a:r>
            <a:r>
              <a:rPr lang="zh-CN" altLang="en-US" sz="2200" b="1" dirty="0">
                <a:latin typeface="宋体" panose="02010600030101010101" pitchFamily="2" charset="-122"/>
              </a:rPr>
              <a:t>主频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en-US" altLang="zh-CN" sz="1800" b="1" dirty="0"/>
              <a:t>~</a:t>
            </a:r>
            <a:r>
              <a:rPr lang="en-US" altLang="zh-CN" sz="1800" dirty="0" err="1"/>
              <a:t>μ</a:t>
            </a:r>
            <a:r>
              <a:rPr lang="en-US" altLang="zh-CN" sz="1800" b="1" dirty="0" err="1">
                <a:latin typeface="宋体" panose="02010600030101010101" pitchFamily="2" charset="-122"/>
              </a:rPr>
              <a:t>OP</a:t>
            </a:r>
            <a:r>
              <a:rPr lang="zh-CN" altLang="en-US" sz="1800" b="1" dirty="0">
                <a:latin typeface="宋体" panose="02010600030101010101" pitchFamily="2" charset="-122"/>
              </a:rPr>
              <a:t>定时方式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、存储容量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  <a:defRPr/>
            </a:pPr>
            <a:r>
              <a:rPr lang="en-US" altLang="zh-CN" sz="1800" b="1" dirty="0">
                <a:latin typeface="宋体" panose="02010600030101010101" pitchFamily="2" charset="-122"/>
              </a:rPr>
              <a:t>      </a:t>
            </a:r>
            <a:r>
              <a:rPr lang="en-US" altLang="zh-CN" sz="1800" dirty="0">
                <a:latin typeface="宋体" panose="02010600030101010101" pitchFamily="2" charset="-122"/>
              </a:rPr>
              <a:t>└</a:t>
            </a:r>
            <a:r>
              <a:rPr lang="en-US" altLang="zh-CN" sz="1800" b="1" dirty="0">
                <a:latin typeface="宋体" panose="02010600030101010101" pitchFamily="2" charset="-122"/>
              </a:rPr>
              <a:t>←</a:t>
            </a:r>
            <a:r>
              <a:rPr lang="en-US" altLang="zh-CN" sz="1800" b="1" dirty="0"/>
              <a:t>~</a:t>
            </a:r>
            <a:r>
              <a:rPr lang="en-US" altLang="zh-CN" sz="1800" b="1" dirty="0">
                <a:latin typeface="宋体" panose="02010600030101010101" pitchFamily="2" charset="-122"/>
              </a:rPr>
              <a:t>ALU/GPR</a:t>
            </a:r>
            <a:r>
              <a:rPr lang="zh-CN" altLang="en-US" sz="1800" b="1" dirty="0">
                <a:latin typeface="宋体" panose="02010600030101010101" pitchFamily="2" charset="-122"/>
              </a:rPr>
              <a:t>宽度                     </a:t>
            </a:r>
            <a:r>
              <a:rPr lang="en-US" altLang="zh-CN" sz="1800" dirty="0">
                <a:latin typeface="宋体" panose="02010600030101010101" pitchFamily="2" charset="-122"/>
              </a:rPr>
              <a:t>└</a:t>
            </a:r>
            <a:r>
              <a:rPr lang="en-US" altLang="zh-CN" sz="1800" b="1" dirty="0">
                <a:latin typeface="宋体" panose="02010600030101010101" pitchFamily="2" charset="-122"/>
              </a:rPr>
              <a:t>←</a:t>
            </a:r>
            <a:r>
              <a:rPr lang="en-US" altLang="zh-CN" sz="1800" b="1" dirty="0"/>
              <a:t>~</a:t>
            </a:r>
            <a:r>
              <a:rPr lang="en-US" altLang="zh-CN" sz="1800" b="1" dirty="0">
                <a:latin typeface="宋体" panose="02010600030101010101" pitchFamily="2" charset="-122"/>
              </a:rPr>
              <a:t>CPU</a:t>
            </a:r>
            <a:r>
              <a:rPr lang="zh-CN" altLang="en-US" sz="1800" b="1" dirty="0">
                <a:latin typeface="宋体" panose="02010600030101010101" pitchFamily="2" charset="-122"/>
              </a:rPr>
              <a:t>可寻址空间、主存地址位数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defRPr/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2.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系统的性能指标        </a:t>
            </a:r>
            <a:r>
              <a:rPr lang="zh-CN" altLang="en-US" sz="1800" b="1" dirty="0">
                <a:latin typeface="+mn-ea"/>
              </a:rPr>
              <a:t>☆熟练运用</a:t>
            </a:r>
            <a:endParaRPr lang="zh-CN" altLang="en-US" sz="1800" b="1" dirty="0">
              <a:solidFill>
                <a:srgbClr val="FF3399"/>
              </a:solidFill>
              <a:latin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latin typeface="宋体" panose="02010600030101010101" pitchFamily="2" charset="-122"/>
              </a:rPr>
              <a:t>响应时间</a:t>
            </a:r>
            <a:r>
              <a:rPr lang="en-US" altLang="zh-CN" sz="2200" b="1" i="1" dirty="0">
                <a:latin typeface="宋体" panose="02010600030101010101" pitchFamily="2" charset="-122"/>
              </a:rPr>
              <a:t>T</a:t>
            </a:r>
            <a:r>
              <a:rPr lang="zh-CN" altLang="en-US" sz="2200" b="1" baseline="-14000" dirty="0">
                <a:latin typeface="宋体" panose="02010600030101010101" pitchFamily="2" charset="-122"/>
              </a:rPr>
              <a:t>响应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r>
              <a:rPr lang="en-US" altLang="zh-CN" sz="2200" b="1" i="1" dirty="0">
                <a:latin typeface="宋体" panose="02010600030101010101" pitchFamily="2" charset="-122"/>
              </a:rPr>
              <a:t>T</a:t>
            </a:r>
            <a:r>
              <a:rPr lang="en-US" altLang="zh-CN" sz="2200" b="1" baseline="-14000" dirty="0">
                <a:latin typeface="宋体" panose="02010600030101010101" pitchFamily="2" charset="-122"/>
              </a:rPr>
              <a:t>CPU</a:t>
            </a:r>
            <a:r>
              <a:rPr lang="zh-CN" altLang="en-US" sz="2200" b="1" dirty="0">
                <a:latin typeface="宋体" panose="02010600030101010101" pitchFamily="2" charset="-122"/>
              </a:rPr>
              <a:t>＋</a:t>
            </a:r>
            <a:r>
              <a:rPr lang="en-US" altLang="zh-CN" sz="2200" b="1" i="1" dirty="0">
                <a:latin typeface="宋体" panose="02010600030101010101" pitchFamily="2" charset="-122"/>
              </a:rPr>
              <a:t>T</a:t>
            </a:r>
            <a:r>
              <a:rPr lang="zh-CN" altLang="en-US" sz="2200" b="1" baseline="-14000" dirty="0">
                <a:latin typeface="宋体" panose="02010600030101010101" pitchFamily="2" charset="-122"/>
              </a:rPr>
              <a:t>等待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r>
              <a:rPr lang="en-US" altLang="zh-CN" sz="2200" b="1" i="1" dirty="0">
                <a:latin typeface="宋体" panose="02010600030101010101" pitchFamily="2" charset="-122"/>
              </a:rPr>
              <a:t>T</a:t>
            </a:r>
            <a:r>
              <a:rPr lang="en-US" altLang="zh-CN" sz="2200" b="1" baseline="-14000" dirty="0">
                <a:latin typeface="宋体" panose="02010600030101010101" pitchFamily="2" charset="-122"/>
              </a:rPr>
              <a:t>CPU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r>
              <a:rPr lang="en-US" altLang="zh-CN" sz="2200" b="1" i="1" dirty="0">
                <a:latin typeface="宋体" panose="02010600030101010101" pitchFamily="2" charset="-122"/>
              </a:rPr>
              <a:t>I</a:t>
            </a:r>
            <a:r>
              <a:rPr lang="en-US" altLang="zh-CN" sz="2200" b="1" i="1" baseline="-14000" dirty="0">
                <a:latin typeface="宋体" panose="02010600030101010101" pitchFamily="2" charset="-122"/>
              </a:rPr>
              <a:t>N</a:t>
            </a:r>
            <a:r>
              <a:rPr lang="en-US" altLang="zh-CN" sz="2200" b="1" dirty="0">
                <a:latin typeface="宋体" panose="02010600030101010101" pitchFamily="2" charset="-122"/>
              </a:rPr>
              <a:t>×CPI×</a:t>
            </a:r>
            <a:r>
              <a:rPr lang="en-US" altLang="zh-CN" sz="2200" b="1" i="1" dirty="0">
                <a:latin typeface="宋体" panose="02010600030101010101" pitchFamily="2" charset="-122"/>
              </a:rPr>
              <a:t>T</a:t>
            </a:r>
            <a:r>
              <a:rPr lang="en-US" altLang="zh-CN" sz="2200" b="1" baseline="-14000" dirty="0">
                <a:latin typeface="宋体" panose="02010600030101010101" pitchFamily="2" charset="-122"/>
              </a:rPr>
              <a:t>C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latin typeface="宋体" panose="02010600030101010101" pitchFamily="2" charset="-122"/>
              </a:rPr>
              <a:t>吞 吐 率</a:t>
            </a:r>
            <a:r>
              <a:rPr lang="en-US" altLang="zh-CN" sz="2200" b="1" i="1" dirty="0">
                <a:latin typeface="宋体" panose="02010600030101010101" pitchFamily="2" charset="-122"/>
              </a:rPr>
              <a:t>T</a:t>
            </a:r>
            <a:r>
              <a:rPr lang="en-US" altLang="zh-CN" sz="2200" b="1" baseline="-14000" dirty="0">
                <a:latin typeface="宋体" panose="02010600030101010101" pitchFamily="2" charset="-122"/>
              </a:rPr>
              <a:t>P</a:t>
            </a:r>
            <a:r>
              <a:rPr lang="zh-CN" altLang="en-US" sz="2200" b="1" dirty="0">
                <a:latin typeface="宋体" panose="02010600030101010101" pitchFamily="2" charset="-122"/>
              </a:rPr>
              <a:t>＝∑</a:t>
            </a:r>
            <a:r>
              <a:rPr lang="en-US" altLang="zh-CN" sz="2200" b="1" i="1" dirty="0">
                <a:latin typeface="+mn-ea"/>
              </a:rPr>
              <a:t>I</a:t>
            </a:r>
            <a:r>
              <a:rPr lang="en-US" altLang="zh-CN" sz="2200" b="1" i="1" baseline="-14000" dirty="0">
                <a:latin typeface="+mn-ea"/>
              </a:rPr>
              <a:t>N</a:t>
            </a:r>
            <a:r>
              <a:rPr lang="en-US" altLang="zh-CN" sz="2200" b="1" baseline="-14000" dirty="0">
                <a:latin typeface="+mn-ea"/>
              </a:rPr>
              <a:t>(</a:t>
            </a:r>
            <a:r>
              <a:rPr lang="zh-CN" altLang="en-US" sz="2200" b="1" baseline="-14000" dirty="0">
                <a:latin typeface="+mn-ea"/>
              </a:rPr>
              <a:t>任务</a:t>
            </a:r>
            <a:r>
              <a:rPr lang="en-US" altLang="zh-CN" sz="2200" b="1" i="1" baseline="-14000" dirty="0" err="1"/>
              <a:t>i</a:t>
            </a:r>
            <a:r>
              <a:rPr lang="en-US" altLang="zh-CN" sz="2200" b="1" baseline="-14000" dirty="0">
                <a:latin typeface="+mn-ea"/>
              </a:rPr>
              <a:t>)</a:t>
            </a:r>
            <a:r>
              <a:rPr lang="en-US" altLang="zh-CN" sz="2200" b="1" dirty="0">
                <a:latin typeface="+mn-ea"/>
              </a:rPr>
              <a:t>÷</a:t>
            </a:r>
            <a:r>
              <a:rPr lang="en-US" altLang="zh-CN" sz="2200" b="1" i="1" dirty="0">
                <a:latin typeface="+mn-ea"/>
              </a:rPr>
              <a:t>T</a:t>
            </a:r>
            <a:r>
              <a:rPr lang="en-US" altLang="zh-CN" sz="2200" b="1" baseline="-14000" dirty="0">
                <a:latin typeface="+mn-ea"/>
              </a:rPr>
              <a:t>CPU(</a:t>
            </a:r>
            <a:r>
              <a:rPr lang="zh-CN" altLang="en-US" sz="2200" b="1" baseline="-14000" dirty="0">
                <a:latin typeface="+mn-ea"/>
              </a:rPr>
              <a:t>所有</a:t>
            </a:r>
            <a:r>
              <a:rPr lang="zh-CN" altLang="en-US" sz="2200" b="1" baseline="-14000" dirty="0">
                <a:latin typeface="宋体" panose="02010600030101010101" pitchFamily="2" charset="-122"/>
              </a:rPr>
              <a:t>任务</a:t>
            </a:r>
            <a:r>
              <a:rPr lang="en-US" altLang="zh-CN" sz="2200" b="1" baseline="-14000" dirty="0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latin typeface="宋体" panose="02010600030101010101" pitchFamily="2" charset="-122"/>
              </a:rPr>
              <a:t>     〖</a:t>
            </a:r>
            <a:r>
              <a:rPr lang="zh-CN" altLang="en-US" sz="2000" b="1" dirty="0">
                <a:latin typeface="宋体" panose="02010600030101010101" pitchFamily="2" charset="-122"/>
              </a:rPr>
              <a:t>例</a:t>
            </a:r>
            <a:r>
              <a:rPr lang="en-US" altLang="zh-CN" sz="2000" b="1" dirty="0">
                <a:latin typeface="宋体" panose="02010600030101010101" pitchFamily="2" charset="-122"/>
              </a:rPr>
              <a:t>〗PPT1-P39</a:t>
            </a:r>
            <a:r>
              <a:rPr lang="zh-CN" altLang="en-US" sz="2000" b="1" dirty="0">
                <a:latin typeface="宋体" panose="02010600030101010101" pitchFamily="2" charset="-122"/>
              </a:rPr>
              <a:t>例</a:t>
            </a:r>
            <a:r>
              <a:rPr lang="en-US" altLang="zh-CN" sz="2000" b="1" dirty="0">
                <a:latin typeface="宋体" panose="02010600030101010101" pitchFamily="2" charset="-122"/>
              </a:rPr>
              <a:t>2</a:t>
            </a:r>
          </a:p>
          <a:p>
            <a:pPr>
              <a:lnSpc>
                <a:spcPct val="125000"/>
              </a:lnSpc>
              <a:defRPr/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※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知识点融合：</a:t>
            </a:r>
            <a:r>
              <a:rPr lang="zh-CN" altLang="en-US" sz="2000" b="1" dirty="0">
                <a:latin typeface="宋体" panose="02010600030101010101" pitchFamily="2" charset="-122"/>
              </a:rPr>
              <a:t>机器字长与哪些部件有关？</a:t>
            </a:r>
            <a:r>
              <a:rPr lang="en-US" altLang="zh-CN" sz="2000" b="1" dirty="0">
                <a:latin typeface="宋体" panose="02010600030101010101" pitchFamily="2" charset="-122"/>
              </a:rPr>
              <a:t>     </a:t>
            </a:r>
            <a:r>
              <a:rPr lang="en-US" altLang="zh-CN" sz="1600" b="1" dirty="0">
                <a:solidFill>
                  <a:schemeClr val="bg1">
                    <a:lumMod val="75000"/>
                  </a:schemeClr>
                </a:solidFill>
                <a:latin typeface="宋体" panose="02010600030101010101" pitchFamily="2" charset="-122"/>
                <a:sym typeface="+mn-ea"/>
              </a:rPr>
              <a:t>(ALU/GPRs</a:t>
            </a:r>
            <a:r>
              <a:rPr lang="zh-CN" altLang="en-US" sz="1600" b="1" dirty="0">
                <a:solidFill>
                  <a:schemeClr val="bg1">
                    <a:lumMod val="75000"/>
                  </a:schemeClr>
                </a:solidFill>
                <a:latin typeface="宋体" panose="02010600030101010101" pitchFamily="2" charset="-122"/>
                <a:sym typeface="+mn-ea"/>
              </a:rPr>
              <a:t>等</a:t>
            </a:r>
            <a:r>
              <a:rPr lang="en-US" altLang="zh-CN" sz="1600" b="1" dirty="0">
                <a:solidFill>
                  <a:schemeClr val="bg1">
                    <a:lumMod val="75000"/>
                  </a:schemeClr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1600" b="1" dirty="0">
                <a:solidFill>
                  <a:schemeClr val="bg1">
                    <a:lumMod val="75000"/>
                  </a:schemeClr>
                </a:solidFill>
                <a:latin typeface="宋体" panose="02010600030101010101" pitchFamily="2" charset="-122"/>
                <a:sym typeface="+mn-ea"/>
              </a:rPr>
              <a:t> 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defRPr/>
            </a:pPr>
            <a:r>
              <a:rPr lang="en-US" altLang="zh-CN" sz="2000" b="1" dirty="0">
                <a:latin typeface="宋体" panose="02010600030101010101" pitchFamily="2" charset="-122"/>
              </a:rPr>
              <a:t>                 CPU</a:t>
            </a:r>
            <a:r>
              <a:rPr lang="zh-CN" altLang="en-US" sz="2000" b="1" dirty="0">
                <a:latin typeface="宋体" panose="02010600030101010101" pitchFamily="2" charset="-122"/>
              </a:rPr>
              <a:t>主频、</a:t>
            </a:r>
            <a:r>
              <a:rPr lang="en-US" altLang="zh-CN" sz="2000" b="1" dirty="0">
                <a:latin typeface="宋体" panose="02010600030101010101" pitchFamily="2" charset="-122"/>
              </a:rPr>
              <a:t>CPI</a:t>
            </a:r>
            <a:r>
              <a:rPr lang="zh-CN" altLang="en-US" sz="2000" b="1" dirty="0">
                <a:latin typeface="宋体" panose="02010600030101010101" pitchFamily="2" charset="-122"/>
              </a:rPr>
              <a:t>与指令周期</a:t>
            </a:r>
            <a:r>
              <a:rPr lang="en-US" altLang="zh-CN" sz="2000" dirty="0" err="1"/>
              <a:t>μ</a:t>
            </a:r>
            <a:r>
              <a:rPr lang="en-US" altLang="zh-CN" sz="2000" b="1" dirty="0" err="1">
                <a:latin typeface="宋体" panose="02010600030101010101" pitchFamily="2" charset="-122"/>
              </a:rPr>
              <a:t>OP</a:t>
            </a:r>
            <a:r>
              <a:rPr lang="zh-CN" altLang="en-US" sz="2000" b="1" dirty="0">
                <a:latin typeface="宋体" panose="02010600030101010101" pitchFamily="2" charset="-122"/>
              </a:rPr>
              <a:t>序列组成的关联？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1600" b="1" dirty="0">
                <a:solidFill>
                  <a:schemeClr val="bg1">
                    <a:lumMod val="75000"/>
                  </a:schemeClr>
                </a:solidFill>
                <a:latin typeface="宋体" panose="02010600030101010101" pitchFamily="2" charset="-122"/>
              </a:rPr>
              <a:t>                  </a:t>
            </a:r>
            <a:r>
              <a:rPr lang="zh-CN" altLang="en-US" sz="1600" b="1" dirty="0">
                <a:solidFill>
                  <a:schemeClr val="bg1">
                    <a:lumMod val="75000"/>
                  </a:schemeClr>
                </a:solidFill>
                <a:latin typeface="宋体" panose="02010600030101010101" pitchFamily="2" charset="-122"/>
              </a:rPr>
              <a:t>    </a:t>
            </a:r>
            <a:r>
              <a:rPr lang="en-US" altLang="zh-CN" sz="1600" b="1" dirty="0">
                <a:solidFill>
                  <a:schemeClr val="bg1">
                    <a:lumMod val="75000"/>
                  </a:schemeClr>
                </a:solidFill>
                <a:latin typeface="宋体" panose="02010600030101010101" pitchFamily="2" charset="-122"/>
              </a:rPr>
              <a:t>(T</a:t>
            </a:r>
            <a:r>
              <a:rPr lang="en-US" altLang="zh-CN" sz="1600" b="1" baseline="-18000" dirty="0">
                <a:solidFill>
                  <a:schemeClr val="bg1">
                    <a:lumMod val="75000"/>
                  </a:schemeClr>
                </a:solidFill>
                <a:latin typeface="宋体" panose="02010600030101010101" pitchFamily="2" charset="-122"/>
              </a:rPr>
              <a:t>C</a:t>
            </a:r>
            <a:r>
              <a:rPr lang="en-US" altLang="zh-CN" sz="1600" b="1" dirty="0">
                <a:solidFill>
                  <a:schemeClr val="bg1">
                    <a:lumMod val="75000"/>
                  </a:schemeClr>
                </a:solidFill>
                <a:latin typeface="宋体" panose="02010600030101010101" pitchFamily="2" charset="-122"/>
              </a:rPr>
              <a:t>=max{T</a:t>
            </a:r>
            <a:r>
              <a:rPr lang="zh-CN" altLang="en-US" sz="1600" b="1" baseline="-18000" dirty="0">
                <a:solidFill>
                  <a:schemeClr val="bg1">
                    <a:lumMod val="75000"/>
                  </a:schemeClr>
                </a:solidFill>
                <a:latin typeface="宋体" panose="02010600030101010101" pitchFamily="2" charset="-122"/>
              </a:rPr>
              <a:t>基本</a:t>
            </a:r>
            <a:r>
              <a:rPr lang="en-US" altLang="zh-CN" sz="1600" baseline="-18000" dirty="0" err="1">
                <a:solidFill>
                  <a:schemeClr val="bg1">
                    <a:lumMod val="75000"/>
                  </a:schemeClr>
                </a:solidFill>
              </a:rPr>
              <a:t>μ</a:t>
            </a:r>
            <a:r>
              <a:rPr lang="en-US" altLang="zh-CN" sz="1600" b="1" baseline="-18000" dirty="0" err="1">
                <a:solidFill>
                  <a:schemeClr val="bg1">
                    <a:lumMod val="75000"/>
                  </a:schemeClr>
                </a:solidFill>
                <a:latin typeface="宋体" panose="02010600030101010101" pitchFamily="2" charset="-122"/>
              </a:rPr>
              <a:t>OP</a:t>
            </a:r>
            <a:r>
              <a:rPr lang="en-US" altLang="zh-CN" sz="1600" b="1" dirty="0">
                <a:solidFill>
                  <a:schemeClr val="bg1">
                    <a:lumMod val="75000"/>
                  </a:schemeClr>
                </a:solidFill>
                <a:latin typeface="宋体" panose="02010600030101010101" pitchFamily="2" charset="-122"/>
              </a:rPr>
              <a:t>}</a:t>
            </a:r>
            <a:r>
              <a:rPr lang="zh-CN" altLang="en-US" sz="1600" b="1" dirty="0">
                <a:solidFill>
                  <a:schemeClr val="bg1">
                    <a:lumMod val="75000"/>
                  </a:schemeClr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1600" b="1" dirty="0">
                <a:solidFill>
                  <a:schemeClr val="bg1">
                    <a:lumMod val="75000"/>
                  </a:schemeClr>
                </a:solidFill>
                <a:latin typeface="宋体" panose="02010600030101010101" pitchFamily="2" charset="-122"/>
              </a:rPr>
              <a:t>CPI=</a:t>
            </a:r>
            <a:r>
              <a:rPr lang="en-US" altLang="zh-CN" sz="1600" dirty="0" err="1">
                <a:solidFill>
                  <a:schemeClr val="bg1">
                    <a:lumMod val="75000"/>
                  </a:schemeClr>
                </a:solidFill>
              </a:rPr>
              <a:t>μ</a:t>
            </a:r>
            <a:r>
              <a:rPr lang="en-US" altLang="zh-CN" sz="1600" b="1" dirty="0" err="1">
                <a:solidFill>
                  <a:schemeClr val="bg1">
                    <a:lumMod val="75000"/>
                  </a:schemeClr>
                </a:solidFill>
                <a:latin typeface="宋体" panose="02010600030101010101" pitchFamily="2" charset="-122"/>
              </a:rPr>
              <a:t>OP</a:t>
            </a:r>
            <a:r>
              <a:rPr lang="zh-CN" altLang="en-US" sz="1600" b="1" dirty="0">
                <a:solidFill>
                  <a:schemeClr val="bg1">
                    <a:lumMod val="75000"/>
                  </a:schemeClr>
                </a:solidFill>
                <a:latin typeface="宋体" panose="02010600030101010101" pitchFamily="2" charset="-122"/>
              </a:rPr>
              <a:t>序列步数</a:t>
            </a:r>
            <a:r>
              <a:rPr lang="en-US" altLang="zh-CN" sz="1600" b="1" dirty="0">
                <a:solidFill>
                  <a:schemeClr val="bg1">
                    <a:lumMod val="75000"/>
                  </a:schemeClr>
                </a:solidFill>
                <a:latin typeface="宋体" panose="02010600030101010101" pitchFamily="2" charset="-122"/>
              </a:rPr>
              <a:t>*T</a:t>
            </a:r>
            <a:r>
              <a:rPr lang="en-US" altLang="zh-CN" sz="1600" b="1" baseline="-18000" dirty="0">
                <a:solidFill>
                  <a:schemeClr val="bg1">
                    <a:lumMod val="75000"/>
                  </a:schemeClr>
                </a:solidFill>
                <a:latin typeface="宋体" panose="02010600030101010101" pitchFamily="2" charset="-122"/>
              </a:rPr>
              <a:t>C</a:t>
            </a:r>
            <a:r>
              <a:rPr lang="zh-CN" altLang="en-US" sz="1600" b="1" dirty="0">
                <a:solidFill>
                  <a:schemeClr val="bg1">
                    <a:lumMod val="75000"/>
                  </a:schemeClr>
                </a:solidFill>
                <a:latin typeface="宋体" panose="02010600030101010101" pitchFamily="2" charset="-122"/>
              </a:rPr>
              <a:t>数</a:t>
            </a:r>
            <a:r>
              <a:rPr lang="en-US" altLang="zh-CN" sz="1600" b="1" dirty="0">
                <a:solidFill>
                  <a:schemeClr val="bg1">
                    <a:lumMod val="75000"/>
                  </a:schemeClr>
                </a:solidFill>
                <a:latin typeface="宋体" panose="02010600030101010101" pitchFamily="2" charset="-122"/>
              </a:rPr>
              <a:t>/</a:t>
            </a:r>
            <a:r>
              <a:rPr lang="en-US" altLang="zh-CN" sz="1600" baseline="-180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zh-CN" sz="1600" dirty="0" err="1">
                <a:solidFill>
                  <a:schemeClr val="bg1">
                    <a:lumMod val="75000"/>
                  </a:schemeClr>
                </a:solidFill>
              </a:rPr>
              <a:t>μ</a:t>
            </a:r>
            <a:r>
              <a:rPr lang="en-US" altLang="zh-CN" sz="1600" b="1" dirty="0" err="1">
                <a:solidFill>
                  <a:schemeClr val="bg1">
                    <a:lumMod val="75000"/>
                  </a:schemeClr>
                </a:solidFill>
                <a:latin typeface="宋体" panose="02010600030101010101" pitchFamily="2" charset="-122"/>
              </a:rPr>
              <a:t>OP</a:t>
            </a:r>
            <a:r>
              <a:rPr lang="en-US" altLang="zh-CN" sz="1600" b="1" dirty="0">
                <a:solidFill>
                  <a:schemeClr val="bg1">
                    <a:lumMod val="75000"/>
                  </a:schemeClr>
                </a:solidFill>
                <a:latin typeface="宋体" panose="02010600030101010101" pitchFamily="2" charset="-122"/>
              </a:rPr>
              <a:t>)   </a:t>
            </a:r>
            <a:endParaRPr lang="zh-CN" altLang="en-US" sz="2200" b="1" dirty="0">
              <a:solidFill>
                <a:srgbClr val="FF33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9" name="Text Box 43"/>
          <p:cNvSpPr txBox="1">
            <a:spLocks noChangeArrowheads="1"/>
          </p:cNvSpPr>
          <p:nvPr/>
        </p:nvSpPr>
        <p:spPr bwMode="auto">
          <a:xfrm>
            <a:off x="179512" y="4509120"/>
            <a:ext cx="8785225" cy="17837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*总体要求：</a:t>
            </a: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latin typeface="宋体" panose="02010600030101010101" pitchFamily="2" charset="-122"/>
              </a:rPr>
              <a:t>①理解</a:t>
            </a:r>
            <a:r>
              <a:rPr lang="zh-CN" altLang="en-US" sz="2200" b="1" u="sng" dirty="0">
                <a:latin typeface="宋体" panose="02010600030101010101" pitchFamily="2" charset="-122"/>
              </a:rPr>
              <a:t>硬件组成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结构、部件、互连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 ②理解</a:t>
            </a:r>
            <a:r>
              <a:rPr lang="zh-CN" altLang="en-US" sz="2200" b="1" u="sng" dirty="0">
                <a:latin typeface="宋体" panose="02010600030101010101" pitchFamily="2" charset="-122"/>
              </a:rPr>
              <a:t>工作过程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执行机制、准备及执行过程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latin typeface="宋体" panose="02010600030101010101" pitchFamily="2" charset="-122"/>
              </a:rPr>
              <a:t>③理解</a:t>
            </a:r>
            <a:r>
              <a:rPr lang="zh-CN" altLang="en-US" sz="2200" b="1" u="sng" dirty="0">
                <a:latin typeface="宋体" panose="02010600030101010101" pitchFamily="2" charset="-122"/>
              </a:rPr>
              <a:t>性能组成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关联软硬件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</a:p>
        </p:txBody>
      </p:sp>
      <p:sp>
        <p:nvSpPr>
          <p:cNvPr id="11" name="AutoShape 62">
            <a:hlinkClick r:id="rId2" action="ppaction://hlinksldjump"/>
          </p:cNvPr>
          <p:cNvSpPr>
            <a:spLocks noChangeArrowheads="1"/>
          </p:cNvSpPr>
          <p:nvPr/>
        </p:nvSpPr>
        <p:spPr bwMode="auto">
          <a:xfrm rot="16200000">
            <a:off x="5148411" y="6452988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4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2" name="AutoShape 301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6228184" y="6453336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AutoShape 62">
            <a:hlinkClick r:id="rId3" action="ppaction://hlinkpres?slideindex=39&amp;slidetitle=PowerPoint%20演示文稿"/>
          </p:cNvPr>
          <p:cNvSpPr>
            <a:spLocks noChangeArrowheads="1"/>
          </p:cNvSpPr>
          <p:nvPr/>
        </p:nvSpPr>
        <p:spPr bwMode="auto">
          <a:xfrm>
            <a:off x="8244408" y="3212976"/>
            <a:ext cx="593718" cy="270031"/>
          </a:xfrm>
          <a:prstGeom prst="homePlate">
            <a:avLst>
              <a:gd name="adj" fmla="val 25000"/>
            </a:avLst>
          </a:prstGeom>
          <a:noFill/>
          <a:ln w="19050">
            <a:solidFill>
              <a:schemeClr val="bg1">
                <a:lumMod val="75000"/>
              </a:schemeClr>
            </a:solidFill>
            <a:miter lim="800000"/>
          </a:ln>
          <a:effectLst/>
        </p:spPr>
        <p:txBody>
          <a:bodyPr vert="horz" wrap="none" lIns="0" tIns="0" rIns="0" bIns="0" anchor="ctr"/>
          <a:lstStyle/>
          <a:p>
            <a:pPr algn="ctr"/>
            <a:r>
              <a:rPr lang="en-US" altLang="zh-CN" sz="1600" dirty="0">
                <a:solidFill>
                  <a:schemeClr val="bg2"/>
                </a:solidFill>
                <a:latin typeface="+mn-ea"/>
                <a:ea typeface="+mn-ea"/>
              </a:rPr>
              <a:t>1</a:t>
            </a:r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-39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3" name="Text Box 132">
            <a:extLst>
              <a:ext uri="{FF2B5EF4-FFF2-40B4-BE49-F238E27FC236}">
                <a16:creationId xmlns:a16="http://schemas.microsoft.com/office/drawing/2014/main" id="{32424831-3477-406A-9371-5A72D6638B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916832"/>
            <a:ext cx="8785225" cy="3960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</a:ln>
        </p:spPr>
        <p:txBody>
          <a:bodyPr>
            <a:noAutofit/>
          </a:bodyPr>
          <a:lstStyle/>
          <a:p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 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132"/>
          <p:cNvSpPr txBox="1">
            <a:spLocks noChangeArrowheads="1"/>
          </p:cNvSpPr>
          <p:nvPr/>
        </p:nvSpPr>
        <p:spPr bwMode="auto">
          <a:xfrm>
            <a:off x="179388" y="2247508"/>
            <a:ext cx="8785225" cy="3960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</a:ln>
        </p:spPr>
        <p:txBody>
          <a:bodyPr>
            <a:noAutofit/>
          </a:bodyPr>
          <a:lstStyle/>
          <a:p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 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t>8</a:t>
            </a:fld>
            <a:endParaRPr lang="en-US" altLang="zh-CN" dirty="0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838200" y="323945"/>
            <a:ext cx="7467600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/>
            <a:r>
              <a:rPr lang="zh-CN" altLang="en-US" sz="3200" b="1" dirty="0">
                <a:latin typeface="宋体" panose="02010600030101010101" pitchFamily="2" charset="-122"/>
              </a:rPr>
              <a:t>第</a:t>
            </a:r>
            <a:r>
              <a:rPr lang="en-US" altLang="zh-CN" sz="3200" b="1" dirty="0">
                <a:latin typeface="宋体" panose="02010600030101010101" pitchFamily="2" charset="-122"/>
              </a:rPr>
              <a:t>2</a:t>
            </a:r>
            <a:r>
              <a:rPr lang="zh-CN" altLang="en-US" sz="3200" b="1" dirty="0">
                <a:latin typeface="宋体" panose="02010600030101010101" pitchFamily="2" charset="-122"/>
              </a:rPr>
              <a:t>章 </a:t>
            </a:r>
            <a:r>
              <a:rPr lang="zh-CN" altLang="en-US" sz="3200" b="1" dirty="0"/>
              <a:t>数据的表示与运算</a:t>
            </a: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179388" y="1375608"/>
            <a:ext cx="8812212" cy="514350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一、数据的编码</a:t>
            </a:r>
            <a:endParaRPr lang="en-US" altLang="zh-CN" sz="2200" b="1" dirty="0">
              <a:solidFill>
                <a:srgbClr val="FF33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179388" y="1762690"/>
            <a:ext cx="8713787" cy="2663825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1.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数制转换               </a:t>
            </a:r>
            <a:r>
              <a:rPr lang="zh-CN" altLang="en-US" sz="1800" b="1" dirty="0">
                <a:latin typeface="+mn-ea"/>
              </a:rPr>
              <a:t>☆熟练运用</a:t>
            </a:r>
            <a:endParaRPr lang="en-US" altLang="zh-CN" sz="2200" b="1" dirty="0">
              <a:latin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2.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机器数编码             </a:t>
            </a:r>
            <a:r>
              <a:rPr lang="zh-CN" altLang="en-US" sz="1800" b="1" dirty="0">
                <a:latin typeface="+mn-ea"/>
              </a:rPr>
              <a:t>☆熟练运用</a:t>
            </a:r>
            <a:endParaRPr lang="en-US" altLang="zh-CN" sz="2200" b="1" dirty="0">
              <a:latin typeface="+mn-ea"/>
            </a:endParaRPr>
          </a:p>
          <a:p>
            <a:pPr>
              <a:lnSpc>
                <a:spcPct val="13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latin typeface="宋体" panose="02010600030101010101" pitchFamily="2" charset="-122"/>
              </a:rPr>
              <a:t>原码、补码、移码的定义、特性、相互转换</a:t>
            </a:r>
            <a:endParaRPr lang="en-US" altLang="zh-CN" sz="2200" b="1" dirty="0">
              <a:solidFill>
                <a:srgbClr val="FF3399"/>
              </a:solidFill>
              <a:latin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3.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十进制数编码   </a:t>
            </a:r>
            <a:r>
              <a:rPr lang="zh-CN" altLang="en-US" sz="2200" b="1" dirty="0">
                <a:latin typeface="+mn-ea"/>
              </a:rPr>
              <a:t>        </a:t>
            </a:r>
            <a:r>
              <a:rPr lang="zh-CN" altLang="en-US" sz="1800" b="1" dirty="0">
                <a:latin typeface="+mn-ea"/>
              </a:rPr>
              <a:t>△了解</a:t>
            </a:r>
            <a:r>
              <a:rPr lang="en-US" altLang="zh-CN" sz="1800" b="1" dirty="0">
                <a:latin typeface="+mn-ea"/>
              </a:rPr>
              <a:t>8421</a:t>
            </a:r>
            <a:r>
              <a:rPr lang="zh-CN" altLang="en-US" sz="1800" b="1" dirty="0">
                <a:latin typeface="+mn-ea"/>
              </a:rPr>
              <a:t>码</a:t>
            </a:r>
            <a:endParaRPr lang="en-US" altLang="zh-CN" sz="2200" b="1" dirty="0">
              <a:latin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4.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字符及字符串编码       </a:t>
            </a:r>
            <a:r>
              <a:rPr lang="zh-CN" altLang="en-US" sz="1800" b="1" dirty="0">
                <a:latin typeface="+mn-ea"/>
              </a:rPr>
              <a:t>△了解交换码</a:t>
            </a:r>
            <a:r>
              <a:rPr lang="en-US" altLang="zh-CN" sz="1800" b="1" dirty="0">
                <a:latin typeface="+mn-ea"/>
              </a:rPr>
              <a:t>&amp;</a:t>
            </a:r>
            <a:r>
              <a:rPr lang="zh-CN" altLang="en-US" sz="1800" b="1" dirty="0">
                <a:latin typeface="+mn-ea"/>
              </a:rPr>
              <a:t>内码</a:t>
            </a:r>
            <a:endParaRPr lang="en-US" altLang="zh-CN" sz="2200" b="1" dirty="0">
              <a:latin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+mn-ea"/>
              </a:rPr>
              <a:t>5.</a:t>
            </a:r>
            <a:r>
              <a:rPr lang="zh-CN" altLang="en-US" sz="2200" b="1" dirty="0">
                <a:solidFill>
                  <a:srgbClr val="FF3399"/>
                </a:solidFill>
                <a:latin typeface="+mn-ea"/>
              </a:rPr>
              <a:t>校验码                 </a:t>
            </a:r>
            <a:r>
              <a:rPr lang="en-US" altLang="zh-CN" sz="1800" b="1" dirty="0">
                <a:latin typeface="+mn-ea"/>
              </a:rPr>
              <a:t>×</a:t>
            </a:r>
            <a:r>
              <a:rPr lang="zh-CN" altLang="en-US" sz="1800" b="1" dirty="0">
                <a:latin typeface="+mn-ea"/>
              </a:rPr>
              <a:t>不考</a:t>
            </a:r>
          </a:p>
        </p:txBody>
      </p:sp>
      <p:sp>
        <p:nvSpPr>
          <p:cNvPr id="31" name="Text Box 6"/>
          <p:cNvSpPr txBox="1">
            <a:spLocks noChangeArrowheads="1"/>
          </p:cNvSpPr>
          <p:nvPr/>
        </p:nvSpPr>
        <p:spPr bwMode="auto">
          <a:xfrm>
            <a:off x="179512" y="908720"/>
            <a:ext cx="8713787" cy="475615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  主要内容：</a:t>
            </a:r>
            <a:r>
              <a:rPr lang="zh-CN" altLang="en-US" sz="2000" b="1" dirty="0">
                <a:latin typeface="宋体" panose="02010600030101010101" pitchFamily="2" charset="-122"/>
              </a:rPr>
              <a:t>数据编码，数据表示，定点运算组织，运算器组成</a:t>
            </a:r>
          </a:p>
        </p:txBody>
      </p:sp>
      <p:sp>
        <p:nvSpPr>
          <p:cNvPr id="11" name="AutoShape 50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2988518" y="6453336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t>9</a:t>
            </a:fld>
            <a:endParaRPr lang="en-US" altLang="zh-CN" dirty="0"/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179388" y="332656"/>
            <a:ext cx="8812212" cy="514350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二、数据的表示</a:t>
            </a: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179388" y="792163"/>
            <a:ext cx="8812088" cy="5006050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1.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数据的表示方法         </a:t>
            </a:r>
            <a:r>
              <a:rPr lang="zh-CN" altLang="en-US" sz="1800" b="1" dirty="0">
                <a:latin typeface="+mn-ea"/>
              </a:rPr>
              <a:t>△理解相互关系</a:t>
            </a:r>
            <a:r>
              <a:rPr lang="zh-CN" altLang="en-US" sz="2200" b="1" dirty="0">
                <a:latin typeface="+mn-ea"/>
              </a:rPr>
              <a:t> </a:t>
            </a:r>
            <a:endParaRPr lang="en-US" altLang="zh-CN" sz="2200" b="1" dirty="0">
              <a:latin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表示方法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(</a:t>
            </a:r>
            <a:r>
              <a:rPr lang="zh-CN" altLang="en-US" sz="1800" b="1" spc="-100" dirty="0">
                <a:latin typeface="宋体" panose="02010600030101010101" pitchFamily="2" charset="-122"/>
              </a:rPr>
              <a:t>进制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/</a:t>
            </a:r>
            <a:r>
              <a:rPr lang="zh-CN" altLang="en-US" sz="1800" b="1" spc="-100" dirty="0">
                <a:latin typeface="宋体" panose="02010600030101010101" pitchFamily="2" charset="-122"/>
              </a:rPr>
              <a:t>格式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/</a:t>
            </a:r>
            <a:r>
              <a:rPr lang="zh-CN" altLang="en-US" sz="1800" b="1" spc="-100" dirty="0">
                <a:latin typeface="宋体" panose="02010600030101010101" pitchFamily="2" charset="-122"/>
              </a:rPr>
              <a:t>编码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)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，数据的表示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(</a:t>
            </a:r>
            <a:r>
              <a:rPr lang="zh-CN" altLang="en-US" sz="1800" b="1" spc="-100" dirty="0">
                <a:latin typeface="宋体" panose="02010600030101010101" pitchFamily="2" charset="-122"/>
              </a:rPr>
              <a:t>表示方法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+</a:t>
            </a:r>
            <a:r>
              <a:rPr lang="zh-CN" altLang="en-US" sz="1800" b="1" spc="-100" dirty="0">
                <a:latin typeface="宋体" panose="02010600030101010101" pitchFamily="2" charset="-122"/>
              </a:rPr>
              <a:t>数据长度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,</a:t>
            </a:r>
            <a:r>
              <a:rPr lang="zh-CN" altLang="en-US" sz="1800" b="1" spc="-100" dirty="0">
                <a:latin typeface="宋体" panose="02010600030101010101" pitchFamily="2" charset="-122"/>
              </a:rPr>
              <a:t>结构确定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)</a:t>
            </a:r>
            <a:endParaRPr lang="en-US" altLang="zh-CN" sz="2200" b="1" spc="-100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                    </a:t>
            </a:r>
            <a:r>
              <a:rPr lang="zh-CN" altLang="en-US" sz="1800" b="1" dirty="0">
                <a:latin typeface="宋体" panose="02010600030101010101" pitchFamily="2" charset="-122"/>
              </a:rPr>
              <a:t>  </a:t>
            </a:r>
            <a:r>
              <a:rPr lang="zh-CN" altLang="en-US" sz="2200" b="1" dirty="0">
                <a:latin typeface="宋体" panose="02010600030101010101" pitchFamily="2" charset="-122"/>
              </a:rPr>
              <a:t>数据的运算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运算规则</a:t>
            </a:r>
            <a:r>
              <a:rPr lang="en-US" altLang="zh-CN" sz="1800" b="1" dirty="0">
                <a:latin typeface="宋体" panose="02010600030101010101" pitchFamily="2" charset="-122"/>
              </a:rPr>
              <a:t>+</a:t>
            </a:r>
            <a:r>
              <a:rPr lang="zh-CN" altLang="en-US" sz="1800" b="1" dirty="0">
                <a:latin typeface="宋体" panose="02010600030101010101" pitchFamily="2" charset="-122"/>
              </a:rPr>
              <a:t>溢出处理</a:t>
            </a:r>
            <a:r>
              <a:rPr lang="en-US" altLang="zh-CN" sz="1800" b="1" dirty="0">
                <a:latin typeface="宋体" panose="02010600030101010101" pitchFamily="2" charset="-122"/>
              </a:rPr>
              <a:t>,</a:t>
            </a:r>
            <a:r>
              <a:rPr lang="zh-CN" altLang="en-US" sz="1800" b="1" dirty="0">
                <a:latin typeface="宋体" panose="02010600030101010101" pitchFamily="2" charset="-122"/>
              </a:rPr>
              <a:t>组成实现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latin typeface="+mn-ea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rgbClr val="FF3399"/>
                </a:solidFill>
                <a:latin typeface="+mn-ea"/>
              </a:rPr>
              <a:t>2.</a:t>
            </a:r>
            <a:r>
              <a:rPr lang="zh-CN" altLang="en-US" sz="2200" b="1" dirty="0">
                <a:solidFill>
                  <a:srgbClr val="FF3399"/>
                </a:solidFill>
                <a:latin typeface="+mn-ea"/>
              </a:rPr>
              <a:t>整数的表示             </a:t>
            </a:r>
            <a:r>
              <a:rPr lang="zh-CN" altLang="en-US" sz="1800" b="1" dirty="0">
                <a:latin typeface="+mn-ea"/>
              </a:rPr>
              <a:t>☆深入理解、熟练运用</a:t>
            </a:r>
            <a:endParaRPr lang="en-US" altLang="zh-CN" sz="2200" b="1" dirty="0">
              <a:latin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定点表示法，整数的表示，整数的类型转换</a:t>
            </a:r>
            <a:r>
              <a:rPr lang="en-US" altLang="zh-CN" sz="2000" b="1" dirty="0">
                <a:latin typeface="宋体" panose="02010600030101010101" pitchFamily="2" charset="-122"/>
              </a:rPr>
              <a:t>(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位扩展</a:t>
            </a:r>
            <a:r>
              <a:rPr lang="en-US" altLang="zh-CN" sz="2000" b="1" dirty="0">
                <a:latin typeface="宋体" panose="02010600030101010101" pitchFamily="2" charset="-122"/>
              </a:rPr>
              <a:t>/</a:t>
            </a:r>
            <a:r>
              <a:rPr lang="zh-CN" altLang="en-US" sz="2000" b="1" dirty="0">
                <a:latin typeface="宋体" panose="02010600030101010101" pitchFamily="2" charset="-122"/>
              </a:rPr>
              <a:t>截断</a:t>
            </a:r>
            <a:r>
              <a:rPr lang="en-US" altLang="zh-CN" sz="2000" b="1" dirty="0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dirty="0">
                <a:latin typeface="宋体" panose="02010600030101010101" pitchFamily="2" charset="-122"/>
              </a:rPr>
              <a:t>            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多种长度、有符号数用补码表示</a:t>
            </a:r>
            <a:r>
              <a:rPr lang="en-US" altLang="zh-CN" sz="1800" b="1" dirty="0">
                <a:latin typeface="宋体" panose="02010600030101010101" pitchFamily="2" charset="-122"/>
              </a:rPr>
              <a:t>)  </a:t>
            </a:r>
            <a:r>
              <a:rPr lang="zh-CN" altLang="en-US" sz="1800" dirty="0">
                <a:latin typeface="宋体" panose="02010600030101010101" pitchFamily="2" charset="-122"/>
              </a:rPr>
              <a:t>          └</a:t>
            </a:r>
            <a:r>
              <a:rPr lang="zh-CN" altLang="en-US" sz="1800" b="1" dirty="0">
                <a:latin typeface="宋体" panose="02010600030101010101" pitchFamily="2" charset="-122"/>
              </a:rPr>
              <a:t>→逻辑实现？</a:t>
            </a:r>
            <a:endParaRPr lang="en-US" altLang="zh-CN" sz="1800" b="1" dirty="0">
              <a:latin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+mn-ea"/>
              </a:rPr>
              <a:t>3.</a:t>
            </a:r>
            <a:r>
              <a:rPr lang="zh-CN" altLang="en-US" sz="2200" b="1" dirty="0">
                <a:solidFill>
                  <a:srgbClr val="FF3399"/>
                </a:solidFill>
                <a:latin typeface="+mn-ea"/>
              </a:rPr>
              <a:t>实数的表示             </a:t>
            </a:r>
            <a:r>
              <a:rPr lang="zh-CN" altLang="en-US" sz="1800" b="1" dirty="0">
                <a:latin typeface="+mn-ea"/>
              </a:rPr>
              <a:t>☆深入理解、熟练运用</a:t>
            </a:r>
            <a:endParaRPr lang="en-US" altLang="zh-CN" sz="2200" b="1" dirty="0">
              <a:latin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浮点表示法，浮点数的规格化，实数的表示</a:t>
            </a:r>
            <a:r>
              <a:rPr lang="en-US" altLang="zh-CN" sz="1800" b="1" dirty="0">
                <a:latin typeface="宋体" panose="02010600030101010101" pitchFamily="2" charset="-122"/>
              </a:rPr>
              <a:t>(IEEE 754</a:t>
            </a:r>
            <a:r>
              <a:rPr lang="zh-CN" altLang="en-US" sz="1800" b="1" dirty="0">
                <a:latin typeface="宋体" panose="02010600030101010101" pitchFamily="2" charset="-122"/>
              </a:rPr>
              <a:t>标准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latin typeface="+mn-ea"/>
            </a:endParaRPr>
          </a:p>
          <a:p>
            <a:pPr>
              <a:lnSpc>
                <a:spcPct val="14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+mn-ea"/>
              </a:rPr>
              <a:t>4.</a:t>
            </a:r>
            <a:r>
              <a:rPr lang="zh-CN" altLang="en-US" sz="2200" b="1" dirty="0">
                <a:solidFill>
                  <a:srgbClr val="FF3399"/>
                </a:solidFill>
                <a:latin typeface="+mn-ea"/>
              </a:rPr>
              <a:t>非数值数据的表示       </a:t>
            </a:r>
            <a:r>
              <a:rPr lang="zh-CN" altLang="en-US" sz="1800" b="1" dirty="0">
                <a:latin typeface="宋体" panose="02010600030101010101" pitchFamily="2" charset="-122"/>
              </a:rPr>
              <a:t>◇掌握运算实现方法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逻辑数的表示方法，运算规则、实现方法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  </a:t>
            </a:r>
            <a:r>
              <a:rPr lang="zh-CN" altLang="en-US" sz="2200" b="1" dirty="0">
                <a:latin typeface="宋体" panose="02010600030101010101" pitchFamily="2" charset="-122"/>
              </a:rPr>
              <a:t>字符的表示方法，运算规则、实现方法   </a:t>
            </a:r>
            <a:r>
              <a:rPr lang="zh-CN" altLang="en-US" sz="1600" b="1" dirty="0">
                <a:latin typeface="宋体" panose="02010600030101010101" pitchFamily="2" charset="-122"/>
              </a:rPr>
              <a:t>←</a:t>
            </a:r>
            <a:r>
              <a:rPr lang="zh-CN" altLang="en-US" sz="1800" b="1" dirty="0">
                <a:latin typeface="宋体" panose="02010600030101010101" pitchFamily="2" charset="-122"/>
              </a:rPr>
              <a:t>设置</a:t>
            </a:r>
            <a:r>
              <a:rPr lang="en-US" altLang="zh-CN" sz="1800" b="1" dirty="0">
                <a:latin typeface="宋体" panose="02010600030101010101" pitchFamily="2" charset="-122"/>
              </a:rPr>
              <a:t>ZF/CF</a:t>
            </a:r>
            <a:r>
              <a:rPr lang="zh-CN" altLang="en-US" sz="1800" b="1" dirty="0">
                <a:latin typeface="宋体" panose="02010600030101010101" pitchFamily="2" charset="-122"/>
              </a:rPr>
              <a:t>等的原因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</a:rPr>
              <a:t>                       (</a:t>
            </a:r>
            <a:r>
              <a:rPr lang="zh-CN" altLang="en-US" sz="1800" b="1" dirty="0">
                <a:latin typeface="宋体" panose="02010600030101010101" pitchFamily="2" charset="-122"/>
              </a:rPr>
              <a:t>扩展至有符号数的关系运算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zh-CN" altLang="en-US" sz="1800" b="1" dirty="0">
              <a:latin typeface="宋体" panose="02010600030101010101" pitchFamily="2" charset="-122"/>
            </a:endParaRPr>
          </a:p>
        </p:txBody>
      </p:sp>
      <p:sp>
        <p:nvSpPr>
          <p:cNvPr id="11" name="Rectangle 14"/>
          <p:cNvSpPr>
            <a:spLocks noChangeArrowheads="1"/>
          </p:cNvSpPr>
          <p:nvPr/>
        </p:nvSpPr>
        <p:spPr bwMode="auto">
          <a:xfrm>
            <a:off x="2303912" y="2556000"/>
            <a:ext cx="1476000" cy="3960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Rectangle 14"/>
          <p:cNvSpPr>
            <a:spLocks noChangeArrowheads="1"/>
          </p:cNvSpPr>
          <p:nvPr/>
        </p:nvSpPr>
        <p:spPr bwMode="auto">
          <a:xfrm>
            <a:off x="683568" y="3696226"/>
            <a:ext cx="1440000" cy="396000"/>
          </a:xfrm>
          <a:prstGeom prst="rect">
            <a:avLst/>
          </a:prstGeom>
          <a:noFill/>
          <a:ln w="19050">
            <a:solidFill>
              <a:srgbClr val="0000CC"/>
            </a:solidFill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3204860" y="4968926"/>
            <a:ext cx="2592000" cy="396000"/>
          </a:xfrm>
          <a:prstGeom prst="rect">
            <a:avLst/>
          </a:prstGeom>
          <a:noFill/>
          <a:ln w="19050">
            <a:solidFill>
              <a:srgbClr val="0000CC"/>
            </a:solidFill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AutoShape 50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4067945" y="6453336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2C37862-48D6-4FE0-99F3-252CF397C014}"/>
              </a:ext>
            </a:extLst>
          </p:cNvPr>
          <p:cNvGrpSpPr/>
          <p:nvPr/>
        </p:nvGrpSpPr>
        <p:grpSpPr>
          <a:xfrm>
            <a:off x="5652120" y="1628800"/>
            <a:ext cx="1116112" cy="207200"/>
            <a:chOff x="5652120" y="1628800"/>
            <a:chExt cx="1116112" cy="207200"/>
          </a:xfrm>
        </p:grpSpPr>
        <p:cxnSp>
          <p:nvCxnSpPr>
            <p:cNvPr id="18" name="直接箭头连接符 17"/>
            <p:cNvCxnSpPr>
              <a:cxnSpLocks/>
            </p:cNvCxnSpPr>
            <p:nvPr/>
          </p:nvCxnSpPr>
          <p:spPr bwMode="auto">
            <a:xfrm>
              <a:off x="6660232" y="1656000"/>
              <a:ext cx="108000" cy="180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sm"/>
              <a:tailEnd type="arrow" w="med" len="sm"/>
            </a:ln>
            <a:effectLst/>
          </p:spPr>
        </p:cxnSp>
        <p:cxnSp>
          <p:nvCxnSpPr>
            <p:cNvPr id="19" name="直接箭头连接符 18"/>
            <p:cNvCxnSpPr>
              <a:cxnSpLocks/>
            </p:cNvCxnSpPr>
            <p:nvPr/>
          </p:nvCxnSpPr>
          <p:spPr bwMode="auto">
            <a:xfrm>
              <a:off x="5652120" y="1656000"/>
              <a:ext cx="0" cy="180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sm"/>
              <a:tailEnd type="arrow" w="med" len="sm"/>
            </a:ln>
            <a:effectLst/>
          </p:spPr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8827C233-0749-40B0-BAD2-E4F779E4F61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52120" y="1628800"/>
              <a:ext cx="1008112" cy="2072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sm"/>
              <a:tailEnd type="arrow" w="med" len="sm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3" grpId="0" bldLvl="0" animBg="1"/>
      <p:bldP spid="15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132"/>
          <p:cNvSpPr txBox="1">
            <a:spLocks noChangeArrowheads="1"/>
          </p:cNvSpPr>
          <p:nvPr/>
        </p:nvSpPr>
        <p:spPr bwMode="auto">
          <a:xfrm>
            <a:off x="179388" y="900000"/>
            <a:ext cx="8785225" cy="3960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</a:ln>
        </p:spPr>
        <p:txBody>
          <a:bodyPr>
            <a:noAutofit/>
          </a:bodyPr>
          <a:lstStyle/>
          <a:p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 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t>10</a:t>
            </a:fld>
            <a:endParaRPr lang="en-US" altLang="zh-CN" dirty="0"/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179388" y="332656"/>
            <a:ext cx="8812212" cy="514350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三、定点数的运算</a:t>
            </a:r>
            <a:endParaRPr lang="en-US" altLang="zh-CN" sz="2200" b="1" dirty="0">
              <a:latin typeface="+mn-ea"/>
              <a:ea typeface="+mn-ea"/>
            </a:endParaRPr>
          </a:p>
        </p:txBody>
      </p:sp>
      <p:sp>
        <p:nvSpPr>
          <p:cNvPr id="5" name="Text Box 132"/>
          <p:cNvSpPr txBox="1">
            <a:spLocks noChangeArrowheads="1"/>
          </p:cNvSpPr>
          <p:nvPr/>
        </p:nvSpPr>
        <p:spPr bwMode="auto">
          <a:xfrm>
            <a:off x="179512" y="836712"/>
            <a:ext cx="8856984" cy="457695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1.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加减运算               </a:t>
            </a:r>
            <a:r>
              <a:rPr lang="zh-CN" altLang="en-US" sz="1800" b="1" dirty="0">
                <a:latin typeface="宋体" panose="02010600030101010101" pitchFamily="2" charset="-122"/>
              </a:rPr>
              <a:t>☆熟练运用、掌握实现方法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补码</a:t>
            </a:r>
            <a:r>
              <a:rPr lang="en-US" altLang="zh-CN" sz="2200" b="1" dirty="0">
                <a:latin typeface="宋体" panose="02010600030101010101" pitchFamily="2" charset="-122"/>
              </a:rPr>
              <a:t>/</a:t>
            </a:r>
            <a:r>
              <a:rPr lang="zh-CN" altLang="en-US" sz="2200" b="1" dirty="0">
                <a:latin typeface="宋体" panose="02010600030101010101" pitchFamily="2" charset="-122"/>
              </a:rPr>
              <a:t>无符号加减的运算规则、逻辑实现、溢出判断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</a:rPr>
              <a:t>     (</a:t>
            </a:r>
            <a:r>
              <a:rPr lang="zh-CN" altLang="en-US" sz="1800" b="1" dirty="0">
                <a:latin typeface="宋体" panose="02010600030101010101" pitchFamily="2" charset="-122"/>
              </a:rPr>
              <a:t>原码运算不考</a:t>
            </a:r>
            <a:r>
              <a:rPr lang="en-US" altLang="zh-CN" sz="1800" b="1" dirty="0">
                <a:latin typeface="宋体" panose="02010600030101010101" pitchFamily="2" charset="-122"/>
              </a:rPr>
              <a:t>)                               </a:t>
            </a:r>
            <a:r>
              <a:rPr lang="zh-CN" altLang="en-US" sz="1800" dirty="0">
                <a:latin typeface="宋体" panose="02010600030101010101" pitchFamily="2" charset="-122"/>
              </a:rPr>
              <a:t>└</a:t>
            </a:r>
            <a:r>
              <a:rPr lang="zh-CN" altLang="en-US" sz="1800" b="1" dirty="0">
                <a:latin typeface="宋体" panose="02010600030101010101" pitchFamily="2" charset="-122"/>
              </a:rPr>
              <a:t>→</a:t>
            </a:r>
            <a:r>
              <a:rPr lang="en-US" altLang="zh-CN" sz="1800" b="1" dirty="0">
                <a:latin typeface="宋体" panose="02010600030101010101" pitchFamily="2" charset="-122"/>
              </a:rPr>
              <a:t>CF/OF</a:t>
            </a:r>
            <a:r>
              <a:rPr lang="zh-CN" altLang="en-US" sz="1800" b="1" dirty="0">
                <a:latin typeface="宋体" panose="02010600030101010101" pitchFamily="2" charset="-122"/>
              </a:rPr>
              <a:t>的形成</a:t>
            </a:r>
            <a:r>
              <a:rPr lang="en-US" altLang="zh-CN" sz="1800" b="1" dirty="0">
                <a:latin typeface="宋体" panose="02010600030101010101" pitchFamily="2" charset="-122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latin typeface="宋体" panose="02010600030101010101" pitchFamily="2" charset="-122"/>
              </a:rPr>
              <a:t>     〖</a:t>
            </a:r>
            <a:r>
              <a:rPr lang="zh-CN" altLang="en-US" sz="2000" b="1" dirty="0">
                <a:latin typeface="宋体" panose="02010600030101010101" pitchFamily="2" charset="-122"/>
              </a:rPr>
              <a:t>例</a:t>
            </a:r>
            <a:r>
              <a:rPr lang="en-US" altLang="zh-CN" sz="2000" b="1" dirty="0">
                <a:latin typeface="宋体" panose="02010600030101010101" pitchFamily="2" charset="-122"/>
              </a:rPr>
              <a:t>〗PPT2-P44</a:t>
            </a:r>
            <a:r>
              <a:rPr lang="zh-CN" altLang="en-US" sz="2000" b="1" dirty="0">
                <a:latin typeface="宋体" panose="02010600030101010101" pitchFamily="2" charset="-122"/>
              </a:rPr>
              <a:t>例</a:t>
            </a:r>
            <a:r>
              <a:rPr lang="en-US" altLang="zh-CN" sz="2000" b="1" dirty="0">
                <a:latin typeface="宋体" panose="02010600030101010101" pitchFamily="2" charset="-122"/>
              </a:rPr>
              <a:t>4</a:t>
            </a:r>
            <a:endParaRPr lang="en-US" altLang="zh-CN" sz="20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2.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移位运算               </a:t>
            </a:r>
            <a:r>
              <a:rPr lang="zh-CN" altLang="en-US" sz="1800" b="1" dirty="0">
                <a:latin typeface="宋体" panose="02010600030101010101" pitchFamily="2" charset="-122"/>
              </a:rPr>
              <a:t>◇熟练运用</a:t>
            </a:r>
            <a:endParaRPr lang="en-US" altLang="zh-CN" sz="22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逻辑移位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算术移位</a:t>
            </a:r>
            <a:r>
              <a:rPr lang="zh-CN" altLang="en-US" sz="2200" b="1" dirty="0">
                <a:latin typeface="宋体" panose="02010600030101010101" pitchFamily="2" charset="-122"/>
              </a:rPr>
              <a:t>的运算规则、溢出判断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仅方法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en-US" altLang="zh-CN" sz="2200" b="1" dirty="0">
                <a:latin typeface="宋体" panose="02010600030101010101" pitchFamily="2" charset="-122"/>
              </a:rPr>
              <a:t>    </a:t>
            </a:r>
          </a:p>
          <a:p>
            <a:pPr>
              <a:lnSpc>
                <a:spcPct val="13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3.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乘法运算               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◇</a:t>
            </a:r>
            <a:r>
              <a:rPr lang="zh-CN" altLang="en-US" sz="1800" b="1" dirty="0">
                <a:latin typeface="宋体" panose="02010600030101010101" pitchFamily="2" charset="-122"/>
              </a:rPr>
              <a:t>理解方法、不考计算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易错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机器乘法的实现思路，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无符号</a:t>
            </a:r>
            <a:r>
              <a:rPr lang="en-US" altLang="zh-CN" sz="2200" b="1" spc="-100" dirty="0">
                <a:latin typeface="宋体" panose="02010600030101010101" pitchFamily="2" charset="-122"/>
              </a:rPr>
              <a:t>/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原码乘法的运算规则、溢出判断  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不考逻辑实现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四、浮点数的运算         </a:t>
            </a:r>
            <a:r>
              <a:rPr lang="zh-CN" altLang="en-US" sz="1800" b="1" dirty="0">
                <a:latin typeface="宋体" panose="02010600030101010101" pitchFamily="2" charset="-122"/>
              </a:rPr>
              <a:t>△理解方法、不考计算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latin typeface="宋体" panose="02010600030101010101" pitchFamily="2" charset="-122"/>
              </a:rPr>
              <a:t>浮点加减运算的运算步骤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11" name="AutoShape 50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5148758" y="6453336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AutoShape 62">
            <a:hlinkClick r:id="rId2" action="ppaction://hlinkpres?slideindex=44&amp;slidetitle=PowerPoint%20演示文稿"/>
          </p:cNvPr>
          <p:cNvSpPr>
            <a:spLocks noChangeArrowheads="1"/>
          </p:cNvSpPr>
          <p:nvPr/>
        </p:nvSpPr>
        <p:spPr bwMode="auto">
          <a:xfrm>
            <a:off x="6733758" y="2133362"/>
            <a:ext cx="593718" cy="270031"/>
          </a:xfrm>
          <a:prstGeom prst="homePlate">
            <a:avLst>
              <a:gd name="adj" fmla="val 25000"/>
            </a:avLst>
          </a:prstGeom>
          <a:noFill/>
          <a:ln w="19050">
            <a:solidFill>
              <a:schemeClr val="bg1">
                <a:lumMod val="75000"/>
              </a:schemeClr>
            </a:solidFill>
            <a:miter lim="800000"/>
          </a:ln>
          <a:effectLst/>
        </p:spPr>
        <p:txBody>
          <a:bodyPr vert="horz" wrap="none" lIns="0" tIns="0" rIns="0" bIns="0" anchor="ctr"/>
          <a:lstStyle/>
          <a:p>
            <a:pPr algn="ctr"/>
            <a:r>
              <a:rPr lang="en-US" altLang="zh-CN" sz="1600" dirty="0">
                <a:solidFill>
                  <a:schemeClr val="bg2"/>
                </a:solidFill>
                <a:latin typeface="+mn-ea"/>
                <a:ea typeface="+mn-ea"/>
              </a:rPr>
              <a:t>2</a:t>
            </a:r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-44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6" name="AutoShape 62">
            <a:hlinkClick r:id="rId3" action="ppaction://hlinkpres?slideindex=42&amp;slidetitle=PowerPoint%20演示文稿"/>
          </p:cNvPr>
          <p:cNvSpPr>
            <a:spLocks noChangeArrowheads="1"/>
          </p:cNvSpPr>
          <p:nvPr/>
        </p:nvSpPr>
        <p:spPr bwMode="auto">
          <a:xfrm>
            <a:off x="4861550" y="1728000"/>
            <a:ext cx="593718" cy="270031"/>
          </a:xfrm>
          <a:prstGeom prst="homePlate">
            <a:avLst>
              <a:gd name="adj" fmla="val 25000"/>
            </a:avLst>
          </a:prstGeom>
          <a:noFill/>
          <a:ln w="19050">
            <a:solidFill>
              <a:schemeClr val="bg1">
                <a:lumMod val="75000"/>
              </a:schemeClr>
            </a:solidFill>
            <a:miter lim="800000"/>
          </a:ln>
          <a:effectLst/>
        </p:spPr>
        <p:txBody>
          <a:bodyPr vert="horz" wrap="none" lIns="0" tIns="0" rIns="0" bIns="0" anchor="ctr"/>
          <a:lstStyle/>
          <a:p>
            <a:pPr algn="ctr"/>
            <a:r>
              <a:rPr lang="en-US" altLang="zh-CN" sz="1600" dirty="0">
                <a:solidFill>
                  <a:schemeClr val="bg2"/>
                </a:solidFill>
                <a:latin typeface="+mn-ea"/>
                <a:ea typeface="+mn-ea"/>
              </a:rPr>
              <a:t>2</a:t>
            </a:r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-42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ldLvl="0" animBg="1"/>
      <p:bldP spid="16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t>11</a:t>
            </a:fld>
            <a:endParaRPr lang="en-US" altLang="zh-CN" dirty="0"/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179388" y="332656"/>
            <a:ext cx="8812212" cy="514350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五、运算器的组成</a:t>
            </a:r>
          </a:p>
        </p:txBody>
      </p:sp>
      <p:sp>
        <p:nvSpPr>
          <p:cNvPr id="4" name="Text Box 43"/>
          <p:cNvSpPr txBox="1">
            <a:spLocks noChangeArrowheads="1"/>
          </p:cNvSpPr>
          <p:nvPr/>
        </p:nvSpPr>
        <p:spPr bwMode="auto">
          <a:xfrm>
            <a:off x="179388" y="836712"/>
            <a:ext cx="8928992" cy="260648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1.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功能与组成    </a:t>
            </a:r>
            <a:r>
              <a:rPr lang="zh-CN" altLang="en-US" sz="1800" b="1" dirty="0">
                <a:latin typeface="宋体" panose="02010600030101010101" pitchFamily="2" charset="-122"/>
              </a:rPr>
              <a:t>◇基于指令系统理解需求</a:t>
            </a:r>
            <a:endParaRPr lang="en-US" altLang="zh-CN" sz="3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功能</a:t>
            </a:r>
            <a:r>
              <a:rPr lang="en-US" altLang="zh-CN" sz="1800" b="1" dirty="0">
                <a:latin typeface="宋体" panose="02010600030101010101" pitchFamily="2" charset="-122"/>
              </a:rPr>
              <a:t>(ISA</a:t>
            </a:r>
            <a:r>
              <a:rPr lang="zh-CN" altLang="en-US" sz="1800" b="1" dirty="0">
                <a:latin typeface="宋体" panose="02010600030101010101" pitchFamily="2" charset="-122"/>
              </a:rPr>
              <a:t>的各指令操作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、部件组成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运算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存放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、部件互连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结构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其余引脚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16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2.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部件设计      </a:t>
            </a:r>
            <a:r>
              <a:rPr lang="zh-CN" altLang="en-US" sz="1800" b="1" dirty="0">
                <a:latin typeface="宋体" panose="02010600030101010101" pitchFamily="2" charset="-122"/>
              </a:rPr>
              <a:t>△理解方法、简单设计</a:t>
            </a:r>
            <a:endParaRPr lang="zh-CN" altLang="en-US" sz="22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功能组织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汇总需求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分类合并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、具体设计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基础为数电课程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en-US" altLang="zh-CN" sz="2200" b="1" dirty="0">
                <a:latin typeface="宋体" panose="02010600030101010101" pitchFamily="2" charset="-122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3.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部件互连      </a:t>
            </a:r>
            <a:r>
              <a:rPr lang="zh-CN" altLang="en-US" sz="1800" b="1" dirty="0">
                <a:latin typeface="宋体" panose="02010600030101010101" pitchFamily="2" charset="-122"/>
              </a:rPr>
              <a:t>◇理解原理、关联数据通路</a:t>
            </a:r>
            <a:endParaRPr lang="en-US" altLang="zh-CN" sz="22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latin typeface="宋体" panose="02010600030101010101" pitchFamily="2" charset="-122"/>
              </a:rPr>
              <a:t>总线结构、专用结构的互连需求、应用  </a:t>
            </a:r>
            <a:r>
              <a:rPr lang="zh-CN" altLang="en-US" b="1" dirty="0"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7" name="Text Box 43"/>
          <p:cNvSpPr txBox="1">
            <a:spLocks noChangeArrowheads="1"/>
          </p:cNvSpPr>
          <p:nvPr/>
        </p:nvSpPr>
        <p:spPr bwMode="auto">
          <a:xfrm>
            <a:off x="179263" y="3501767"/>
            <a:ext cx="8785225" cy="22072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*总体要求：   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latin typeface="宋体" panose="02010600030101010101" pitchFamily="2" charset="-122"/>
              </a:rPr>
              <a:t>①掌握数据的</a:t>
            </a:r>
            <a:r>
              <a:rPr lang="zh-CN" altLang="en-US" sz="2200" b="1" u="sng" dirty="0">
                <a:latin typeface="宋体" panose="02010600030101010101" pitchFamily="2" charset="-122"/>
              </a:rPr>
              <a:t>编码方法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数值数据、逻辑数及字符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 ②理解数据</a:t>
            </a:r>
            <a:r>
              <a:rPr lang="zh-CN" altLang="en-US" sz="2200" b="1" u="sng" dirty="0">
                <a:latin typeface="宋体" panose="02010600030101010101" pitchFamily="2" charset="-122"/>
              </a:rPr>
              <a:t>如何表示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表示方法、不同数据类型的表示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 ③掌握数据</a:t>
            </a:r>
            <a:r>
              <a:rPr lang="zh-CN" altLang="en-US" sz="2200" b="1" u="sng" dirty="0">
                <a:latin typeface="宋体" panose="02010600030101010101" pitchFamily="2" charset="-122"/>
              </a:rPr>
              <a:t>如何运算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运算规则、溢出判断、逻辑实现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latin typeface="宋体" panose="02010600030101010101" pitchFamily="2" charset="-122"/>
              </a:rPr>
              <a:t>④理解运算器</a:t>
            </a:r>
            <a:r>
              <a:rPr lang="zh-CN" altLang="en-US" sz="2200" b="1" u="sng" dirty="0">
                <a:latin typeface="宋体" panose="02010600030101010101" pitchFamily="2" charset="-122"/>
              </a:rPr>
              <a:t>如何组织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需求、部件组成、互连方法、操作控制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</a:p>
        </p:txBody>
      </p:sp>
      <p:sp>
        <p:nvSpPr>
          <p:cNvPr id="8" name="AutoShape 62">
            <a:hlinkClick r:id="rId2" action="ppaction://hlinksldjump"/>
          </p:cNvPr>
          <p:cNvSpPr>
            <a:spLocks noChangeArrowheads="1"/>
          </p:cNvSpPr>
          <p:nvPr/>
        </p:nvSpPr>
        <p:spPr bwMode="auto">
          <a:xfrm rot="16200000">
            <a:off x="2988172" y="6452989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8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9" name="AutoShape 62">
            <a:hlinkClick r:id="rId3" action="ppaction://hlinksldjump"/>
          </p:cNvPr>
          <p:cNvSpPr>
            <a:spLocks noChangeArrowheads="1"/>
          </p:cNvSpPr>
          <p:nvPr/>
        </p:nvSpPr>
        <p:spPr bwMode="auto">
          <a:xfrm rot="16200000">
            <a:off x="4068292" y="6452989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9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0" name="AutoShape 301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5148759" y="6453336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t>12</a:t>
            </a:fld>
            <a:endParaRPr lang="en-US" altLang="zh-CN" dirty="0"/>
          </a:p>
        </p:txBody>
      </p:sp>
      <p:sp>
        <p:nvSpPr>
          <p:cNvPr id="3" name="Text Box 56"/>
          <p:cNvSpPr txBox="1">
            <a:spLocks noChangeArrowheads="1"/>
          </p:cNvSpPr>
          <p:nvPr/>
        </p:nvSpPr>
        <p:spPr bwMode="auto">
          <a:xfrm>
            <a:off x="838200" y="339378"/>
            <a:ext cx="7467600" cy="5835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/>
            <a:r>
              <a:rPr lang="zh-CN" altLang="en-US" sz="3200" b="1" dirty="0">
                <a:latin typeface="宋体" panose="02010600030101010101" pitchFamily="2" charset="-122"/>
              </a:rPr>
              <a:t>第</a:t>
            </a:r>
            <a:r>
              <a:rPr lang="en-US" altLang="zh-CN" sz="3200" b="1" dirty="0">
                <a:latin typeface="宋体" panose="02010600030101010101" pitchFamily="2" charset="-122"/>
              </a:rPr>
              <a:t>3</a:t>
            </a:r>
            <a:r>
              <a:rPr lang="zh-CN" altLang="en-US" sz="3200" b="1" dirty="0">
                <a:latin typeface="宋体" panose="02010600030101010101" pitchFamily="2" charset="-122"/>
              </a:rPr>
              <a:t>章 </a:t>
            </a:r>
            <a:r>
              <a:rPr lang="zh-CN" altLang="en-US" sz="3200" b="1" dirty="0"/>
              <a:t>存储系统</a:t>
            </a: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179705" y="1393825"/>
            <a:ext cx="8811260" cy="1303755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一、存储系统概述        </a:t>
            </a:r>
            <a:r>
              <a:rPr lang="zh-CN" altLang="en-US" sz="1800" b="1" dirty="0">
                <a:latin typeface="宋体" panose="02010600030101010101" pitchFamily="2" charset="-122"/>
              </a:rPr>
              <a:t>◇理解原理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latin typeface="宋体" panose="02010600030101010101" pitchFamily="2" charset="-122"/>
              </a:rPr>
              <a:t>技术指标，访问局部性，层次结构组织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配置需求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内部协调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访问过程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地址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变换</a:t>
            </a:r>
            <a:r>
              <a:rPr lang="en-US" altLang="zh-CN" sz="1800" b="1" dirty="0">
                <a:latin typeface="宋体" panose="02010600030101010101" pitchFamily="2" charset="-122"/>
              </a:rPr>
              <a:t>+</a:t>
            </a:r>
            <a:r>
              <a:rPr lang="zh-CN" altLang="en-US" sz="1800" b="1" dirty="0">
                <a:latin typeface="宋体" panose="02010600030101010101" pitchFamily="2" charset="-122"/>
              </a:rPr>
              <a:t>访问</a:t>
            </a:r>
            <a:r>
              <a:rPr lang="en-US" altLang="zh-CN" sz="1800" b="1" dirty="0">
                <a:latin typeface="宋体" panose="02010600030101010101" pitchFamily="2" charset="-122"/>
              </a:rPr>
              <a:t>[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+</a:t>
            </a:r>
            <a:r>
              <a:rPr lang="zh-CN" altLang="en-US" sz="1800" b="1" dirty="0">
                <a:latin typeface="宋体" panose="02010600030101010101" pitchFamily="2" charset="-122"/>
              </a:rPr>
              <a:t>层次管理</a:t>
            </a:r>
            <a:r>
              <a:rPr lang="en-US" altLang="zh-CN" sz="1800" b="1" dirty="0">
                <a:latin typeface="宋体" panose="02010600030101010101" pitchFamily="2" charset="-122"/>
              </a:rPr>
              <a:t>])</a:t>
            </a:r>
            <a:endParaRPr lang="en-US" altLang="zh-CN" sz="1800" b="1" dirty="0">
              <a:latin typeface="宋体" panose="02010600030101010101" pitchFamily="2" charset="-122"/>
              <a:ea typeface="+mn-ea"/>
            </a:endParaRP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179512" y="908973"/>
            <a:ext cx="8812212" cy="475615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  主要内容：</a:t>
            </a:r>
            <a:r>
              <a:rPr lang="zh-CN" altLang="en-US" sz="2000" b="1" dirty="0">
                <a:latin typeface="宋体" panose="02010600030101010101" pitchFamily="2" charset="-122"/>
              </a:rPr>
              <a:t>层次结构，</a:t>
            </a:r>
            <a:r>
              <a:rPr lang="en-US" altLang="zh-CN" sz="2000" b="1" dirty="0">
                <a:latin typeface="宋体" panose="02010600030101010101" pitchFamily="2" charset="-122"/>
              </a:rPr>
              <a:t>RAM</a:t>
            </a:r>
            <a:r>
              <a:rPr lang="zh-CN" altLang="en-US" sz="2000" b="1" dirty="0">
                <a:latin typeface="宋体" panose="02010600030101010101" pitchFamily="2" charset="-122"/>
              </a:rPr>
              <a:t>基础，主存设计，</a:t>
            </a:r>
            <a:r>
              <a:rPr lang="en-US" altLang="zh-CN" sz="2000" b="1" dirty="0">
                <a:latin typeface="宋体" panose="02010600030101010101" pitchFamily="2" charset="-122"/>
              </a:rPr>
              <a:t>Cache</a:t>
            </a:r>
            <a:r>
              <a:rPr lang="zh-CN" altLang="en-US" sz="2000" b="1" dirty="0">
                <a:latin typeface="宋体" panose="02010600030101010101" pitchFamily="2" charset="-122"/>
              </a:rPr>
              <a:t>原理，虚存概念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79512" y="4077072"/>
            <a:ext cx="8812212" cy="2494280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二、</a:t>
            </a:r>
            <a:r>
              <a:rPr lang="en-US" altLang="zh-CN" sz="2200" b="1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RAM</a:t>
            </a:r>
            <a:r>
              <a:rPr lang="zh-CN" altLang="en-US" sz="2200" b="1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基础</a:t>
            </a:r>
            <a:endParaRPr lang="en-US" altLang="zh-CN" sz="2200" b="1" dirty="0">
              <a:solidFill>
                <a:srgbClr val="FF33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+mn-ea"/>
                <a:ea typeface="+mn-ea"/>
              </a:rPr>
              <a:t>1.SRAM                  </a:t>
            </a:r>
            <a:r>
              <a:rPr lang="zh-CN" altLang="en-US" sz="1800" b="1" dirty="0">
                <a:latin typeface="+mn-ea"/>
                <a:ea typeface="+mn-ea"/>
              </a:rPr>
              <a:t>☆掌握</a:t>
            </a:r>
            <a:r>
              <a:rPr lang="zh-CN" altLang="en-US" sz="1800" b="1" dirty="0">
                <a:latin typeface="宋体" panose="02010600030101010101" pitchFamily="2" charset="-122"/>
              </a:rPr>
              <a:t>原理、熟练运用</a:t>
            </a:r>
            <a:endParaRPr lang="zh-CN" altLang="en-US" sz="22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存储元组成与操作，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芯片的组成、引脚组织、读写时序</a:t>
            </a:r>
            <a:endParaRPr lang="en-US" altLang="zh-CN" sz="2200" b="1" dirty="0">
              <a:solidFill>
                <a:srgbClr val="FF3399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+mn-ea"/>
                <a:ea typeface="+mn-ea"/>
              </a:rPr>
              <a:t>2.DRAM                  </a:t>
            </a:r>
            <a:r>
              <a:rPr lang="zh-CN" altLang="en-US" sz="1800" b="1" dirty="0">
                <a:latin typeface="宋体" panose="02010600030101010101" pitchFamily="2" charset="-122"/>
              </a:rPr>
              <a:t>◇理解原理</a:t>
            </a:r>
            <a:endParaRPr lang="en-US" altLang="zh-CN" sz="2200" b="1" dirty="0">
              <a:solidFill>
                <a:srgbClr val="FF3399"/>
              </a:solidFill>
              <a:latin typeface="+mn-ea"/>
              <a:ea typeface="+mn-ea"/>
            </a:endParaRPr>
          </a:p>
          <a:p>
            <a:pPr>
              <a:lnSpc>
                <a:spcPct val="10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存储元组成与操作，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芯片的引脚组织、组成、读写时序、刷新</a:t>
            </a:r>
            <a:endParaRPr lang="en-US" altLang="zh-CN" sz="2200" b="1" dirty="0">
              <a:solidFill>
                <a:srgbClr val="FF3399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+mn-ea"/>
                <a:ea typeface="+mn-ea"/>
              </a:rPr>
              <a:t>3.ROM                   </a:t>
            </a:r>
            <a:r>
              <a:rPr lang="en-US" altLang="zh-CN" sz="1800" b="1" dirty="0">
                <a:latin typeface="+mn-ea"/>
                <a:ea typeface="+mn-ea"/>
              </a:rPr>
              <a:t>×</a:t>
            </a:r>
            <a:r>
              <a:rPr lang="zh-CN" altLang="en-US" sz="1800" b="1" dirty="0">
                <a:latin typeface="+mn-ea"/>
                <a:ea typeface="+mn-ea"/>
              </a:rPr>
              <a:t>不考</a:t>
            </a:r>
          </a:p>
        </p:txBody>
      </p:sp>
      <p:sp>
        <p:nvSpPr>
          <p:cNvPr id="12" name="Rectangle 14"/>
          <p:cNvSpPr>
            <a:spLocks noChangeArrowheads="1"/>
          </p:cNvSpPr>
          <p:nvPr/>
        </p:nvSpPr>
        <p:spPr bwMode="auto">
          <a:xfrm>
            <a:off x="3204860" y="4946072"/>
            <a:ext cx="2736000" cy="3960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AutoShape 50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2988518" y="6453336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Rectangle 14"/>
          <p:cNvSpPr>
            <a:spLocks noChangeArrowheads="1"/>
          </p:cNvSpPr>
          <p:nvPr/>
        </p:nvSpPr>
        <p:spPr bwMode="auto">
          <a:xfrm>
            <a:off x="3204860" y="5712047"/>
            <a:ext cx="2772000" cy="3960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AutoShape 62">
            <a:hlinkClick r:id="rId4" action="ppaction://hlinkpres?slideindex=8&amp;slidetitle=PowerPoint 演示文稿"/>
          </p:cNvPr>
          <p:cNvSpPr>
            <a:spLocks noChangeArrowheads="1"/>
          </p:cNvSpPr>
          <p:nvPr/>
        </p:nvSpPr>
        <p:spPr bwMode="auto">
          <a:xfrm>
            <a:off x="8521824" y="2348880"/>
            <a:ext cx="442664" cy="270031"/>
          </a:xfrm>
          <a:prstGeom prst="homePlate">
            <a:avLst>
              <a:gd name="adj" fmla="val 25000"/>
            </a:avLst>
          </a:prstGeom>
          <a:noFill/>
          <a:ln w="19050">
            <a:solidFill>
              <a:schemeClr val="bg1">
                <a:lumMod val="75000"/>
              </a:schemeClr>
            </a:solidFill>
            <a:miter lim="800000"/>
          </a:ln>
          <a:effectLst/>
        </p:spPr>
        <p:txBody>
          <a:bodyPr vert="horz" wrap="none" lIns="0" tIns="0" rIns="0" bIns="0" anchor="ctr"/>
          <a:lstStyle/>
          <a:p>
            <a:pPr algn="ctr"/>
            <a:r>
              <a:rPr lang="en-US" altLang="zh-CN" sz="1600" dirty="0">
                <a:solidFill>
                  <a:schemeClr val="bg2"/>
                </a:solidFill>
                <a:latin typeface="+mn-ea"/>
                <a:ea typeface="+mn-ea"/>
              </a:rPr>
              <a:t>3</a:t>
            </a:r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-8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5" name="AutoShape 62">
            <a:hlinkClick r:id="rId5" action="ppaction://hlinkpres?slideindex=12&amp;slidetitle=PowerPoint 演示文稿"/>
          </p:cNvPr>
          <p:cNvSpPr>
            <a:spLocks noChangeArrowheads="1"/>
          </p:cNvSpPr>
          <p:nvPr/>
        </p:nvSpPr>
        <p:spPr bwMode="auto">
          <a:xfrm>
            <a:off x="8388424" y="4937201"/>
            <a:ext cx="586680" cy="270031"/>
          </a:xfrm>
          <a:prstGeom prst="homePlate">
            <a:avLst>
              <a:gd name="adj" fmla="val 25000"/>
            </a:avLst>
          </a:prstGeom>
          <a:noFill/>
          <a:ln w="19050">
            <a:solidFill>
              <a:schemeClr val="bg1">
                <a:lumMod val="75000"/>
              </a:schemeClr>
            </a:solidFill>
            <a:miter lim="800000"/>
          </a:ln>
          <a:effectLst/>
        </p:spPr>
        <p:txBody>
          <a:bodyPr vert="horz" wrap="none" lIns="0" tIns="0" rIns="0" bIns="0" anchor="ctr"/>
          <a:lstStyle/>
          <a:p>
            <a:pPr algn="ctr"/>
            <a:r>
              <a:rPr lang="en-US" altLang="zh-CN" sz="1600" dirty="0">
                <a:solidFill>
                  <a:schemeClr val="bg2"/>
                </a:solidFill>
                <a:latin typeface="+mn-ea"/>
                <a:ea typeface="+mn-ea"/>
              </a:rPr>
              <a:t>3</a:t>
            </a:r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-12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899592" y="2708920"/>
            <a:ext cx="7704857" cy="1297484"/>
            <a:chOff x="899592" y="1699468"/>
            <a:chExt cx="7704857" cy="1297484"/>
          </a:xfrm>
        </p:grpSpPr>
        <p:sp>
          <p:nvSpPr>
            <p:cNvPr id="43" name="Text Box 7"/>
            <p:cNvSpPr txBox="1">
              <a:spLocks noChangeArrowheads="1"/>
            </p:cNvSpPr>
            <p:nvPr/>
          </p:nvSpPr>
          <p:spPr bwMode="auto">
            <a:xfrm>
              <a:off x="899592" y="2276872"/>
              <a:ext cx="1008189" cy="72008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/>
              <a:endParaRPr lang="en-US" altLang="zh-CN" sz="20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70000"/>
                </a:lnSpc>
              </a:pP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ctr"/>
              <a:r>
                <a:rPr lang="en-US" altLang="zh-CN" sz="2000" b="1" dirty="0">
                  <a:latin typeface="宋体" panose="02010600030101010101" pitchFamily="2" charset="-122"/>
                </a:rPr>
                <a:t>CPU</a:t>
              </a:r>
            </a:p>
          </p:txBody>
        </p:sp>
        <p:sp>
          <p:nvSpPr>
            <p:cNvPr id="44" name="Line 8"/>
            <p:cNvSpPr>
              <a:spLocks noChangeShapeType="1"/>
            </p:cNvSpPr>
            <p:nvPr/>
          </p:nvSpPr>
          <p:spPr bwMode="auto">
            <a:xfrm>
              <a:off x="1475657" y="1699468"/>
              <a:ext cx="0" cy="217488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Text Box 9"/>
            <p:cNvSpPr txBox="1">
              <a:spLocks noChangeArrowheads="1"/>
            </p:cNvSpPr>
            <p:nvPr/>
          </p:nvSpPr>
          <p:spPr bwMode="auto">
            <a:xfrm>
              <a:off x="2051572" y="2347168"/>
              <a:ext cx="1296293" cy="288155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2000" b="1" dirty="0">
                  <a:latin typeface="宋体" panose="02010600030101010101" pitchFamily="2" charset="-122"/>
                </a:rPr>
                <a:t>主存</a:t>
              </a:r>
            </a:p>
          </p:txBody>
        </p:sp>
        <p:sp>
          <p:nvSpPr>
            <p:cNvPr id="46" name="Text Box 10"/>
            <p:cNvSpPr txBox="1">
              <a:spLocks noChangeArrowheads="1"/>
            </p:cNvSpPr>
            <p:nvPr/>
          </p:nvSpPr>
          <p:spPr bwMode="auto">
            <a:xfrm>
              <a:off x="5219255" y="1916956"/>
              <a:ext cx="1152525" cy="28733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>
                  <a:latin typeface="宋体" panose="02010600030101010101" pitchFamily="2" charset="-122"/>
                </a:rPr>
                <a:t>I/O</a:t>
              </a:r>
              <a:r>
                <a:rPr lang="zh-CN" altLang="en-US" sz="1800" b="1">
                  <a:latin typeface="宋体" panose="02010600030101010101" pitchFamily="2" charset="-122"/>
                </a:rPr>
                <a:t>接口</a:t>
              </a:r>
              <a:r>
                <a:rPr lang="en-US" altLang="zh-CN" sz="1800" b="1"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47" name="Line 11"/>
            <p:cNvSpPr>
              <a:spLocks noChangeShapeType="1"/>
            </p:cNvSpPr>
            <p:nvPr/>
          </p:nvSpPr>
          <p:spPr bwMode="auto">
            <a:xfrm>
              <a:off x="899592" y="1702641"/>
              <a:ext cx="7704857" cy="2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Line 12"/>
            <p:cNvSpPr>
              <a:spLocks noChangeShapeType="1"/>
            </p:cNvSpPr>
            <p:nvPr/>
          </p:nvSpPr>
          <p:spPr bwMode="auto">
            <a:xfrm>
              <a:off x="2699793" y="1699468"/>
              <a:ext cx="0" cy="217488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Line 13"/>
            <p:cNvSpPr>
              <a:spLocks noChangeShapeType="1"/>
            </p:cNvSpPr>
            <p:nvPr/>
          </p:nvSpPr>
          <p:spPr bwMode="auto">
            <a:xfrm>
              <a:off x="5795517" y="1702643"/>
              <a:ext cx="0" cy="21590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Text Box 14"/>
            <p:cNvSpPr txBox="1">
              <a:spLocks noChangeArrowheads="1"/>
            </p:cNvSpPr>
            <p:nvPr/>
          </p:nvSpPr>
          <p:spPr bwMode="auto">
            <a:xfrm>
              <a:off x="6371780" y="1916956"/>
              <a:ext cx="577850" cy="431800"/>
            </a:xfrm>
            <a:prstGeom prst="rect">
              <a:avLst/>
            </a:prstGeom>
            <a:noFill/>
            <a:ln w="22225">
              <a:noFill/>
              <a:miter lim="800000"/>
            </a:ln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2000" b="1"/>
                <a:t>…</a:t>
              </a:r>
            </a:p>
          </p:txBody>
        </p:sp>
        <p:sp>
          <p:nvSpPr>
            <p:cNvPr id="51" name="Text Box 16"/>
            <p:cNvSpPr txBox="1">
              <a:spLocks noChangeArrowheads="1"/>
            </p:cNvSpPr>
            <p:nvPr/>
          </p:nvSpPr>
          <p:spPr bwMode="auto">
            <a:xfrm>
              <a:off x="5219255" y="2350343"/>
              <a:ext cx="1152525" cy="28575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I/O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设备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52" name="Line 17"/>
            <p:cNvSpPr>
              <a:spLocks noChangeShapeType="1"/>
            </p:cNvSpPr>
            <p:nvPr/>
          </p:nvSpPr>
          <p:spPr bwMode="auto">
            <a:xfrm>
              <a:off x="5795517" y="2204293"/>
              <a:ext cx="0" cy="1444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Line 19"/>
            <p:cNvSpPr>
              <a:spLocks noChangeShapeType="1"/>
            </p:cNvSpPr>
            <p:nvPr/>
          </p:nvSpPr>
          <p:spPr bwMode="auto">
            <a:xfrm>
              <a:off x="7597330" y="1701056"/>
              <a:ext cx="0" cy="21590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Text Box 127"/>
            <p:cNvSpPr txBox="1">
              <a:spLocks noChangeArrowheads="1"/>
            </p:cNvSpPr>
            <p:nvPr/>
          </p:nvSpPr>
          <p:spPr bwMode="auto">
            <a:xfrm>
              <a:off x="7021067" y="1916956"/>
              <a:ext cx="1583382" cy="28733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I/O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接口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n(DMA)</a:t>
              </a:r>
            </a:p>
          </p:txBody>
        </p:sp>
        <p:sp>
          <p:nvSpPr>
            <p:cNvPr id="55" name="Text Box 128"/>
            <p:cNvSpPr txBox="1">
              <a:spLocks noChangeArrowheads="1"/>
            </p:cNvSpPr>
            <p:nvPr/>
          </p:nvSpPr>
          <p:spPr bwMode="auto">
            <a:xfrm>
              <a:off x="7021067" y="2350343"/>
              <a:ext cx="1152525" cy="28575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I/O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设备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n</a:t>
              </a:r>
            </a:p>
          </p:txBody>
        </p:sp>
        <p:sp>
          <p:nvSpPr>
            <p:cNvPr id="56" name="Line 129"/>
            <p:cNvSpPr>
              <a:spLocks noChangeShapeType="1"/>
            </p:cNvSpPr>
            <p:nvPr/>
          </p:nvSpPr>
          <p:spPr bwMode="auto">
            <a:xfrm>
              <a:off x="7597330" y="2204293"/>
              <a:ext cx="0" cy="1444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Text Box 136"/>
            <p:cNvSpPr txBox="1">
              <a:spLocks noChangeArrowheads="1"/>
            </p:cNvSpPr>
            <p:nvPr/>
          </p:nvSpPr>
          <p:spPr bwMode="auto">
            <a:xfrm>
              <a:off x="3492055" y="1916956"/>
              <a:ext cx="1439863" cy="28733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磁盘适配器</a:t>
              </a:r>
            </a:p>
          </p:txBody>
        </p:sp>
        <p:sp>
          <p:nvSpPr>
            <p:cNvPr id="58" name="Line 137"/>
            <p:cNvSpPr>
              <a:spLocks noChangeShapeType="1"/>
            </p:cNvSpPr>
            <p:nvPr/>
          </p:nvSpPr>
          <p:spPr bwMode="auto">
            <a:xfrm>
              <a:off x="4211192" y="1701056"/>
              <a:ext cx="0" cy="21590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Text Box 138"/>
            <p:cNvSpPr txBox="1">
              <a:spLocks noChangeArrowheads="1"/>
            </p:cNvSpPr>
            <p:nvPr/>
          </p:nvSpPr>
          <p:spPr bwMode="auto">
            <a:xfrm>
              <a:off x="3492055" y="2348756"/>
              <a:ext cx="1439863" cy="287338"/>
            </a:xfrm>
            <a:prstGeom prst="rect">
              <a:avLst/>
            </a:prstGeom>
            <a:solidFill>
              <a:srgbClr val="CCE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辅存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如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HD)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60" name="Line 139"/>
            <p:cNvSpPr>
              <a:spLocks noChangeShapeType="1"/>
            </p:cNvSpPr>
            <p:nvPr/>
          </p:nvSpPr>
          <p:spPr bwMode="auto">
            <a:xfrm>
              <a:off x="4211192" y="2202706"/>
              <a:ext cx="0" cy="1444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Text Box 136"/>
            <p:cNvSpPr txBox="1">
              <a:spLocks noChangeArrowheads="1"/>
            </p:cNvSpPr>
            <p:nvPr/>
          </p:nvSpPr>
          <p:spPr bwMode="auto">
            <a:xfrm>
              <a:off x="2051572" y="1925612"/>
              <a:ext cx="1296293" cy="277094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主存控制器</a:t>
              </a:r>
            </a:p>
          </p:txBody>
        </p:sp>
        <p:sp>
          <p:nvSpPr>
            <p:cNvPr id="62" name="Text Box 136"/>
            <p:cNvSpPr txBox="1">
              <a:spLocks noChangeArrowheads="1"/>
            </p:cNvSpPr>
            <p:nvPr/>
          </p:nvSpPr>
          <p:spPr bwMode="auto">
            <a:xfrm>
              <a:off x="921288" y="2287464"/>
              <a:ext cx="967140" cy="256144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BIU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63" name="直接连接符 62"/>
            <p:cNvCxnSpPr/>
            <p:nvPr/>
          </p:nvCxnSpPr>
          <p:spPr bwMode="auto">
            <a:xfrm>
              <a:off x="910479" y="2564904"/>
              <a:ext cx="997225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4" name="Line 139"/>
            <p:cNvSpPr>
              <a:spLocks noChangeShapeType="1"/>
            </p:cNvSpPr>
            <p:nvPr/>
          </p:nvSpPr>
          <p:spPr bwMode="auto">
            <a:xfrm>
              <a:off x="2699793" y="2203524"/>
              <a:ext cx="0" cy="144463"/>
            </a:xfrm>
            <a:prstGeom prst="line">
              <a:avLst/>
            </a:prstGeom>
            <a:noFill/>
            <a:ln w="25400" cmpd="dbl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Text Box 136"/>
            <p:cNvSpPr txBox="1">
              <a:spLocks noChangeArrowheads="1"/>
            </p:cNvSpPr>
            <p:nvPr/>
          </p:nvSpPr>
          <p:spPr bwMode="auto">
            <a:xfrm>
              <a:off x="899592" y="1923486"/>
              <a:ext cx="1020209" cy="279220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Cache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66" name="Line 8"/>
            <p:cNvSpPr>
              <a:spLocks noChangeShapeType="1"/>
            </p:cNvSpPr>
            <p:nvPr/>
          </p:nvSpPr>
          <p:spPr bwMode="auto">
            <a:xfrm>
              <a:off x="1459400" y="2203524"/>
              <a:ext cx="0" cy="7200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Text Box 136"/>
            <p:cNvSpPr txBox="1">
              <a:spLocks noChangeArrowheads="1"/>
            </p:cNvSpPr>
            <p:nvPr/>
          </p:nvSpPr>
          <p:spPr bwMode="auto">
            <a:xfrm>
              <a:off x="1165773" y="2563564"/>
              <a:ext cx="486636" cy="216024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MMU</a:t>
              </a:r>
              <a:endParaRPr lang="zh-CN" altLang="en-US" sz="14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68" name="Text Box 36"/>
          <p:cNvSpPr txBox="1">
            <a:spLocks noChangeArrowheads="1"/>
          </p:cNvSpPr>
          <p:nvPr/>
        </p:nvSpPr>
        <p:spPr bwMode="auto">
          <a:xfrm>
            <a:off x="2195988" y="3754746"/>
            <a:ext cx="6624737" cy="322326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>
            <a:noAutofit/>
          </a:bodyPr>
          <a:lstStyle/>
          <a:p>
            <a:r>
              <a:rPr lang="en-US" altLang="zh-CN" sz="1800" b="1" dirty="0" err="1">
                <a:latin typeface="宋体" panose="02010600030101010101" pitchFamily="2" charset="-122"/>
              </a:rPr>
              <a:t>Addr</a:t>
            </a:r>
            <a:r>
              <a:rPr lang="zh-CN" altLang="en-US" sz="1800" b="1" baseline="-18000" dirty="0">
                <a:latin typeface="宋体" panose="02010600030101010101" pitchFamily="2" charset="-122"/>
              </a:rPr>
              <a:t>程序</a:t>
            </a:r>
            <a:r>
              <a:rPr lang="en-US" altLang="zh-CN" sz="1800" b="1" baseline="-18000" dirty="0">
                <a:latin typeface="宋体" panose="02010600030101010101" pitchFamily="2" charset="-122"/>
              </a:rPr>
              <a:t>MEM</a:t>
            </a:r>
            <a:r>
              <a:rPr lang="zh-CN" altLang="en-US" sz="1800" b="1" dirty="0">
                <a:latin typeface="宋体" panose="02010600030101010101" pitchFamily="2" charset="-122"/>
              </a:rPr>
              <a:t>→</a:t>
            </a:r>
            <a:r>
              <a:rPr lang="en-US" altLang="zh-CN" sz="1800" b="1" dirty="0">
                <a:latin typeface="宋体" panose="02010600030101010101" pitchFamily="2" charset="-122"/>
              </a:rPr>
              <a:t>MMU</a:t>
            </a:r>
            <a:r>
              <a:rPr lang="zh-CN" altLang="en-US" sz="1800" b="1" dirty="0">
                <a:latin typeface="宋体" panose="02010600030101010101" pitchFamily="2" charset="-122"/>
              </a:rPr>
              <a:t>→</a:t>
            </a:r>
            <a:r>
              <a:rPr lang="en-US" altLang="zh-CN" sz="1800" b="1" dirty="0" err="1">
                <a:latin typeface="宋体" panose="02010600030101010101" pitchFamily="2" charset="-122"/>
              </a:rPr>
              <a:t>Addr</a:t>
            </a:r>
            <a:r>
              <a:rPr lang="zh-CN" altLang="en-US" sz="1800" b="1" baseline="-18000" dirty="0">
                <a:latin typeface="宋体" panose="02010600030101010101" pitchFamily="2" charset="-122"/>
              </a:rPr>
              <a:t>主存</a:t>
            </a:r>
            <a:r>
              <a:rPr lang="zh-CN" altLang="en-US" sz="1800" b="1" dirty="0">
                <a:latin typeface="宋体" panose="02010600030101010101" pitchFamily="2" charset="-122"/>
              </a:rPr>
              <a:t>或异常，程序</a:t>
            </a:r>
            <a:r>
              <a:rPr lang="en-US" altLang="zh-CN" sz="1800" b="1" dirty="0">
                <a:latin typeface="宋体" panose="02010600030101010101" pitchFamily="2" charset="-122"/>
              </a:rPr>
              <a:t>MEM</a:t>
            </a:r>
            <a:r>
              <a:rPr lang="zh-CN" altLang="en-US" sz="1800" b="1" dirty="0">
                <a:latin typeface="宋体" panose="02010600030101010101" pitchFamily="2" charset="-122"/>
              </a:rPr>
              <a:t>→</a:t>
            </a:r>
            <a:r>
              <a:rPr lang="en-US" altLang="zh-CN" sz="1800" b="1" dirty="0">
                <a:latin typeface="宋体" panose="02010600030101010101" pitchFamily="2" charset="-122"/>
              </a:rPr>
              <a:t>Cache</a:t>
            </a:r>
            <a:r>
              <a:rPr lang="zh-CN" altLang="en-US" sz="1800" b="1" dirty="0">
                <a:latin typeface="宋体" panose="02010600030101010101" pitchFamily="2" charset="-122"/>
              </a:rPr>
              <a:t>→主存→辅存</a:t>
            </a:r>
          </a:p>
        </p:txBody>
      </p:sp>
      <p:sp>
        <p:nvSpPr>
          <p:cNvPr id="69" name="AutoShape 62">
            <a:hlinkClick r:id="rId6" action="ppaction://hlinksldjump"/>
          </p:cNvPr>
          <p:cNvSpPr>
            <a:spLocks noChangeArrowheads="1"/>
          </p:cNvSpPr>
          <p:nvPr/>
        </p:nvSpPr>
        <p:spPr bwMode="auto">
          <a:xfrm rot="16200000">
            <a:off x="6156524" y="6452989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4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70" name="AutoShape 50">
            <a:hlinkClick r:id="rId7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4067945" y="6453336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2" grpId="0" bldLvl="0" animBg="1"/>
      <p:bldP spid="11" grpId="0" bldLvl="0" animBg="1"/>
      <p:bldP spid="13" grpId="0" bldLvl="0" animBg="1"/>
      <p:bldP spid="15" grpId="0" animBg="1"/>
      <p:bldP spid="68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t>13</a:t>
            </a:fld>
            <a:endParaRPr lang="en-US" altLang="zh-CN" dirty="0"/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179388" y="332656"/>
            <a:ext cx="8812212" cy="514350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三、主存</a:t>
            </a:r>
          </a:p>
        </p:txBody>
      </p:sp>
      <p:sp>
        <p:nvSpPr>
          <p:cNvPr id="4" name="Text Box 85"/>
          <p:cNvSpPr txBox="1">
            <a:spLocks noChangeArrowheads="1"/>
          </p:cNvSpPr>
          <p:nvPr/>
        </p:nvSpPr>
        <p:spPr bwMode="auto">
          <a:xfrm>
            <a:off x="179388" y="785813"/>
            <a:ext cx="8785225" cy="5156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1.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主存的组成             </a:t>
            </a:r>
            <a:r>
              <a:rPr lang="zh-CN" altLang="en-US" sz="1800" b="1" dirty="0">
                <a:latin typeface="宋体" panose="02010600030101010101" pitchFamily="2" charset="-122"/>
              </a:rPr>
              <a:t>△理解概念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tabLst>
                <a:tab pos="1790700" algn="l"/>
              </a:tabLst>
            </a:pPr>
            <a:r>
              <a:rPr lang="zh-CN" altLang="en-US" sz="2200" b="1" dirty="0">
                <a:latin typeface="宋体" panose="02010600030101010101" pitchFamily="2" charset="-122"/>
              </a:rPr>
              <a:t>   组成</a:t>
            </a:r>
            <a:r>
              <a:rPr lang="en-US" altLang="zh-CN" sz="1800" b="1" dirty="0">
                <a:latin typeface="宋体" panose="02010600030101010101" pitchFamily="2" charset="-122"/>
              </a:rPr>
              <a:t>(ROM+RAM)</a:t>
            </a:r>
            <a:r>
              <a:rPr lang="zh-CN" altLang="en-US" sz="2200" b="1" dirty="0">
                <a:latin typeface="宋体" panose="02010600030101010101" pitchFamily="2" charset="-122"/>
              </a:rPr>
              <a:t>、参数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值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来源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     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主存单元长度＝</a:t>
            </a:r>
            <a:r>
              <a:rPr lang="en-US" altLang="zh-CN" sz="1800" b="1" dirty="0">
                <a:latin typeface="宋体" panose="02010600030101010101" pitchFamily="2" charset="-122"/>
              </a:rPr>
              <a:t>min{</a:t>
            </a:r>
            <a:r>
              <a:rPr lang="zh-CN" altLang="en-US" sz="1800" b="1" dirty="0">
                <a:latin typeface="宋体" panose="02010600030101010101" pitchFamily="2" charset="-122"/>
              </a:rPr>
              <a:t>数据表示长度</a:t>
            </a:r>
            <a:r>
              <a:rPr lang="en-US" altLang="zh-CN" sz="1800" b="1" dirty="0">
                <a:latin typeface="宋体" panose="02010600030101010101" pitchFamily="2" charset="-122"/>
              </a:rPr>
              <a:t>})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2.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主存的逻辑设计         </a:t>
            </a:r>
            <a:r>
              <a:rPr lang="zh-CN" altLang="en-US" sz="1800" b="1" dirty="0">
                <a:latin typeface="宋体" panose="02010600030101010101" pitchFamily="2" charset="-122"/>
              </a:rPr>
              <a:t>☆综合应用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基于</a:t>
            </a:r>
            <a:r>
              <a:rPr lang="en-US" altLang="zh-CN" sz="2200" b="1" dirty="0">
                <a:latin typeface="宋体" panose="02010600030101010101" pitchFamily="2" charset="-122"/>
              </a:rPr>
              <a:t>RAM</a:t>
            </a:r>
            <a:r>
              <a:rPr lang="zh-CN" altLang="en-US" sz="2200" b="1" dirty="0">
                <a:latin typeface="宋体" panose="02010600030101010101" pitchFamily="2" charset="-122"/>
              </a:rPr>
              <a:t>芯片的容量扩展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位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字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字位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3.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主存与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CPU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的连接        </a:t>
            </a:r>
            <a:r>
              <a:rPr lang="zh-CN" altLang="en-US" sz="1800" b="1" dirty="0">
                <a:latin typeface="宋体" panose="02010600030101010101" pitchFamily="2" charset="-122"/>
              </a:rPr>
              <a:t>☆综合应用</a:t>
            </a:r>
            <a:endParaRPr lang="zh-CN" altLang="en-US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CPU</a:t>
            </a:r>
            <a:r>
              <a:rPr lang="zh-CN" altLang="en-US" sz="2200" b="1" dirty="0">
                <a:latin typeface="宋体" panose="02010600030101010101" pitchFamily="2" charset="-122"/>
              </a:rPr>
              <a:t>的</a:t>
            </a:r>
            <a:r>
              <a:rPr lang="en-US" altLang="zh-CN" sz="2200" b="1" dirty="0">
                <a:latin typeface="宋体" panose="02010600030101010101" pitchFamily="2" charset="-122"/>
              </a:rPr>
              <a:t>MEM</a:t>
            </a:r>
            <a:r>
              <a:rPr lang="zh-CN" altLang="en-US" sz="2200" b="1" dirty="0">
                <a:latin typeface="宋体" panose="02010600030101010101" pitchFamily="2" charset="-122"/>
              </a:rPr>
              <a:t>接口，主存信号线与</a:t>
            </a:r>
            <a:r>
              <a:rPr lang="en-US" altLang="zh-CN" sz="2200" b="1" dirty="0">
                <a:latin typeface="宋体" panose="02010600030101010101" pitchFamily="2" charset="-122"/>
              </a:rPr>
              <a:t>CPU</a:t>
            </a:r>
            <a:r>
              <a:rPr lang="zh-CN" altLang="en-US" sz="2200" b="1" dirty="0">
                <a:latin typeface="宋体" panose="02010600030101010101" pitchFamily="2" charset="-122"/>
              </a:rPr>
              <a:t>引脚的连接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latin typeface="宋体" panose="02010600030101010101" pitchFamily="2" charset="-122"/>
              </a:rPr>
              <a:t>    〖</a:t>
            </a:r>
            <a:r>
              <a:rPr lang="zh-CN" altLang="en-US" sz="2000" b="1" dirty="0">
                <a:latin typeface="宋体" panose="02010600030101010101" pitchFamily="2" charset="-122"/>
              </a:rPr>
              <a:t>例</a:t>
            </a:r>
            <a:r>
              <a:rPr lang="en-US" altLang="zh-CN" sz="2000" b="1" dirty="0">
                <a:latin typeface="宋体" panose="02010600030101010101" pitchFamily="2" charset="-122"/>
              </a:rPr>
              <a:t>〗PPT3-P36</a:t>
            </a:r>
            <a:r>
              <a:rPr lang="zh-CN" altLang="en-US" sz="2000" b="1" dirty="0">
                <a:latin typeface="宋体" panose="02010600030101010101" pitchFamily="2" charset="-122"/>
              </a:rPr>
              <a:t>例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主存设计与连接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※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知识点融合：</a:t>
            </a:r>
            <a:r>
              <a:rPr lang="zh-CN" altLang="en-US" sz="2000" b="1" dirty="0">
                <a:latin typeface="宋体" panose="02010600030101010101" pitchFamily="2" charset="-122"/>
              </a:rPr>
              <a:t>主存如何与总线连接？</a:t>
            </a:r>
            <a:endParaRPr lang="en-US" altLang="zh-CN" sz="20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4.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提高访存速度的技术     </a:t>
            </a:r>
            <a:r>
              <a:rPr lang="zh-CN" altLang="en-US" sz="1800" b="1" dirty="0">
                <a:latin typeface="宋体" panose="02010600030101010101" pitchFamily="2" charset="-122"/>
              </a:rPr>
              <a:t>◇掌握概念、理解原理</a:t>
            </a:r>
            <a:r>
              <a:rPr lang="en-US" altLang="zh-CN" sz="1800" b="1" dirty="0">
                <a:latin typeface="宋体" panose="02010600030101010101" pitchFamily="2" charset="-122"/>
              </a:rPr>
              <a:t>[</a:t>
            </a:r>
            <a:r>
              <a:rPr lang="zh-CN" altLang="en-US" sz="1800" b="1" dirty="0">
                <a:latin typeface="宋体" panose="02010600030101010101" pitchFamily="2" charset="-122"/>
              </a:rPr>
              <a:t>分析性能</a:t>
            </a:r>
            <a:r>
              <a:rPr lang="en-US" altLang="zh-CN" sz="1800" b="1" dirty="0">
                <a:latin typeface="宋体" panose="02010600030101010101" pitchFamily="2" charset="-122"/>
              </a:rPr>
              <a:t>]</a:t>
            </a: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增强型</a:t>
            </a:r>
            <a:r>
              <a:rPr lang="en-US" altLang="zh-CN" sz="2200" b="1" dirty="0">
                <a:latin typeface="宋体" panose="02010600030101010101" pitchFamily="2" charset="-122"/>
              </a:rPr>
              <a:t>MEM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en-US" altLang="zh-CN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SDRAM</a:t>
            </a:r>
            <a:r>
              <a:rPr lang="zh-CN" altLang="en-US" sz="1800" b="1" dirty="0">
                <a:latin typeface="宋体" panose="02010600030101010101" pitchFamily="2" charset="-122"/>
              </a:rPr>
              <a:t>、</a:t>
            </a:r>
            <a:r>
              <a:rPr lang="en-US" altLang="zh-CN" sz="1800" b="1" dirty="0">
                <a:latin typeface="宋体" panose="02010600030101010101" pitchFamily="2" charset="-122"/>
              </a:rPr>
              <a:t>DDR SDRAM)</a:t>
            </a:r>
            <a:r>
              <a:rPr lang="zh-CN" altLang="en-US" sz="2200" b="1" dirty="0">
                <a:latin typeface="宋体" panose="02010600030101010101" pitchFamily="2" charset="-122"/>
              </a:rPr>
              <a:t>的工作原理，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突发传送</a:t>
            </a:r>
            <a:r>
              <a:rPr lang="zh-CN" altLang="en-US" sz="2200" b="1" dirty="0">
                <a:latin typeface="宋体" panose="02010600030101010101" pitchFamily="2" charset="-122"/>
              </a:rPr>
              <a:t>模式；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latin typeface="宋体" panose="02010600030101010101" pitchFamily="2" charset="-122"/>
              </a:rPr>
              <a:t>多体交叉</a:t>
            </a:r>
            <a:r>
              <a:rPr lang="en-US" altLang="zh-CN" sz="2200" b="1" dirty="0">
                <a:latin typeface="宋体" panose="02010600030101010101" pitchFamily="2" charset="-122"/>
              </a:rPr>
              <a:t>MEM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交叉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并行访问方式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的结构、工作原理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1800" b="1" dirty="0">
                <a:latin typeface="宋体" panose="02010600030101010101" pitchFamily="2" charset="-122"/>
              </a:rPr>
              <a:t>     (</a:t>
            </a:r>
            <a:r>
              <a:rPr lang="zh-CN" altLang="en-US" sz="1800" b="1" dirty="0">
                <a:latin typeface="宋体" panose="02010600030101010101" pitchFamily="2" charset="-122"/>
              </a:rPr>
              <a:t>双端口</a:t>
            </a:r>
            <a:r>
              <a:rPr lang="en-US" altLang="zh-CN" sz="1800" b="1" dirty="0">
                <a:latin typeface="宋体" panose="02010600030101010101" pitchFamily="2" charset="-122"/>
              </a:rPr>
              <a:t>MEM</a:t>
            </a:r>
            <a:r>
              <a:rPr lang="zh-CN" altLang="en-US" sz="1800" b="1" dirty="0">
                <a:latin typeface="宋体" panose="02010600030101010101" pitchFamily="2" charset="-122"/>
              </a:rPr>
              <a:t>不考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zh-CN" altLang="en-US" sz="1800" b="1" dirty="0">
              <a:solidFill>
                <a:srgbClr val="FF3399"/>
              </a:solidFill>
              <a:latin typeface="宋体" panose="02010600030101010101" pitchFamily="2" charset="-122"/>
            </a:endParaRPr>
          </a:p>
        </p:txBody>
      </p:sp>
      <p:sp>
        <p:nvSpPr>
          <p:cNvPr id="9" name="Text Box 132"/>
          <p:cNvSpPr txBox="1">
            <a:spLocks noChangeArrowheads="1"/>
          </p:cNvSpPr>
          <p:nvPr/>
        </p:nvSpPr>
        <p:spPr bwMode="auto">
          <a:xfrm>
            <a:off x="179388" y="1692000"/>
            <a:ext cx="8785225" cy="3960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</a:ln>
        </p:spPr>
        <p:txBody>
          <a:bodyPr>
            <a:noAutofit/>
          </a:bodyPr>
          <a:lstStyle/>
          <a:p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 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  <p:sp>
        <p:nvSpPr>
          <p:cNvPr id="10" name="Rectangle 14"/>
          <p:cNvSpPr>
            <a:spLocks noChangeArrowheads="1"/>
          </p:cNvSpPr>
          <p:nvPr/>
        </p:nvSpPr>
        <p:spPr bwMode="auto">
          <a:xfrm>
            <a:off x="2628543" y="2952000"/>
            <a:ext cx="3636000" cy="3960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AutoShape 50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7945" y="6453336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AutoShape 62">
            <a:hlinkClick r:id="rId2" action="ppaction://hlinkpres?slideindex=36&amp;slidetitle=PowerPoint%20演示文稿"/>
          </p:cNvPr>
          <p:cNvSpPr>
            <a:spLocks noChangeArrowheads="1"/>
          </p:cNvSpPr>
          <p:nvPr/>
        </p:nvSpPr>
        <p:spPr bwMode="auto">
          <a:xfrm>
            <a:off x="8388424" y="3501514"/>
            <a:ext cx="586680" cy="270031"/>
          </a:xfrm>
          <a:prstGeom prst="homePlate">
            <a:avLst>
              <a:gd name="adj" fmla="val 25000"/>
            </a:avLst>
          </a:prstGeom>
          <a:noFill/>
          <a:ln w="19050">
            <a:solidFill>
              <a:schemeClr val="bg1">
                <a:lumMod val="75000"/>
              </a:schemeClr>
            </a:solidFill>
            <a:miter lim="800000"/>
          </a:ln>
          <a:effectLst/>
        </p:spPr>
        <p:txBody>
          <a:bodyPr vert="horz" wrap="none" lIns="0" tIns="0" rIns="0" bIns="0" anchor="ctr"/>
          <a:lstStyle/>
          <a:p>
            <a:pPr algn="ctr"/>
            <a:r>
              <a:rPr lang="en-US" altLang="zh-CN" sz="1600" dirty="0">
                <a:solidFill>
                  <a:schemeClr val="bg2"/>
                </a:solidFill>
                <a:latin typeface="+mn-ea"/>
                <a:ea typeface="+mn-ea"/>
              </a:rPr>
              <a:t>3</a:t>
            </a:r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-36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8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32"/>
          <p:cNvSpPr txBox="1">
            <a:spLocks noChangeArrowheads="1"/>
          </p:cNvSpPr>
          <p:nvPr/>
        </p:nvSpPr>
        <p:spPr bwMode="auto">
          <a:xfrm>
            <a:off x="179388" y="826725"/>
            <a:ext cx="8785225" cy="3960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</a:ln>
        </p:spPr>
        <p:txBody>
          <a:bodyPr tIns="28800" bIns="28800">
            <a:noAutofit/>
          </a:bodyPr>
          <a:lstStyle/>
          <a:p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 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t>14</a:t>
            </a:fld>
            <a:endParaRPr lang="en-US" altLang="zh-CN" dirty="0"/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179388" y="332656"/>
            <a:ext cx="8812212" cy="514350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四、</a:t>
            </a:r>
            <a:r>
              <a:rPr lang="en-US" altLang="zh-CN" sz="2200" b="1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Cache               </a:t>
            </a:r>
            <a:endParaRPr lang="en-US" altLang="zh-CN" sz="2200" b="1" dirty="0">
              <a:latin typeface="+mn-ea"/>
              <a:ea typeface="+mn-ea"/>
            </a:endParaRPr>
          </a:p>
        </p:txBody>
      </p:sp>
      <p:sp>
        <p:nvSpPr>
          <p:cNvPr id="5" name="Text Box 85"/>
          <p:cNvSpPr txBox="1">
            <a:spLocks noChangeArrowheads="1"/>
          </p:cNvSpPr>
          <p:nvPr/>
        </p:nvSpPr>
        <p:spPr bwMode="auto">
          <a:xfrm>
            <a:off x="179388" y="764704"/>
            <a:ext cx="8569076" cy="464742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1.Cache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的基本原理        </a:t>
            </a:r>
            <a:r>
              <a:rPr lang="zh-CN" altLang="en-US" sz="1800" b="1" dirty="0">
                <a:latin typeface="宋体" panose="02010600030101010101" pitchFamily="2" charset="-122"/>
              </a:rPr>
              <a:t>☆深入理解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latin typeface="宋体" panose="02010600030101010101" pitchFamily="2" charset="-122"/>
              </a:rPr>
              <a:t>性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能，存储空间管理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(</a:t>
            </a:r>
            <a:r>
              <a:rPr lang="zh-CN" altLang="en-US" sz="1800" b="1" spc="-100" dirty="0">
                <a:latin typeface="宋体" panose="02010600030101010101" pitchFamily="2" charset="-122"/>
              </a:rPr>
              <a:t>交换单位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/</a:t>
            </a:r>
            <a:r>
              <a:rPr lang="zh-CN" altLang="en-US" sz="1800" b="1" spc="-100" dirty="0">
                <a:latin typeface="宋体" panose="02010600030101010101" pitchFamily="2" charset="-122"/>
              </a:rPr>
              <a:t>交换管理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/</a:t>
            </a:r>
            <a:r>
              <a:rPr lang="zh-CN" altLang="en-US" sz="1800" b="1" spc="-100" dirty="0">
                <a:latin typeface="宋体" panose="02010600030101010101" pitchFamily="2" charset="-122"/>
              </a:rPr>
              <a:t>硬件组织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)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，工作流程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3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2.Cache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的地址映射方式    </a:t>
            </a:r>
            <a:r>
              <a:rPr lang="zh-CN" altLang="en-US" sz="1800" b="1" dirty="0">
                <a:latin typeface="宋体" panose="02010600030101010101" pitchFamily="2" charset="-122"/>
              </a:rPr>
              <a:t>☆掌握原理、可分析性能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latin typeface="宋体" panose="02010600030101010101" pitchFamily="2" charset="-122"/>
              </a:rPr>
              <a:t>直接、全相联、组相联的映射规则、地址划分、地址变换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latin typeface="宋体" panose="02010600030101010101" pitchFamily="2" charset="-122"/>
              </a:rPr>
              <a:t>    〖</a:t>
            </a:r>
            <a:r>
              <a:rPr lang="zh-CN" altLang="en-US" sz="2000" b="1" dirty="0">
                <a:latin typeface="宋体" panose="02010600030101010101" pitchFamily="2" charset="-122"/>
              </a:rPr>
              <a:t>例</a:t>
            </a:r>
            <a:r>
              <a:rPr lang="en-US" altLang="zh-CN" sz="2000" b="1" dirty="0">
                <a:latin typeface="宋体" panose="02010600030101010101" pitchFamily="2" charset="-122"/>
              </a:rPr>
              <a:t>〗PPT3-P54</a:t>
            </a:r>
            <a:r>
              <a:rPr lang="en-US" altLang="zh-CN" sz="2000" b="1" dirty="0"/>
              <a:t>~</a:t>
            </a:r>
            <a:r>
              <a:rPr lang="en-US" altLang="zh-CN" sz="2000" b="1" dirty="0">
                <a:latin typeface="宋体" panose="02010600030101010101" pitchFamily="2" charset="-122"/>
              </a:rPr>
              <a:t>60</a:t>
            </a:r>
            <a:r>
              <a:rPr lang="zh-CN" altLang="en-US" sz="2000" b="1" dirty="0">
                <a:latin typeface="宋体" panose="02010600030101010101" pitchFamily="2" charset="-122"/>
              </a:rPr>
              <a:t>例</a:t>
            </a:r>
            <a:r>
              <a:rPr lang="en-US" altLang="zh-CN" sz="2000" b="1" dirty="0">
                <a:latin typeface="宋体" panose="02010600030101010101" pitchFamily="2" charset="-122"/>
              </a:rPr>
              <a:t>1</a:t>
            </a:r>
            <a:r>
              <a:rPr lang="en-US" altLang="zh-CN" sz="2000" b="1" dirty="0"/>
              <a:t>~</a:t>
            </a:r>
            <a:r>
              <a:rPr lang="zh-CN" altLang="en-US" sz="2000" b="1" dirty="0">
                <a:latin typeface="宋体" panose="02010600030101010101" pitchFamily="2" charset="-122"/>
              </a:rPr>
              <a:t>例</a:t>
            </a:r>
            <a:r>
              <a:rPr lang="en-US" altLang="zh-CN" sz="2000" b="1" dirty="0">
                <a:latin typeface="宋体" panose="02010600030101010101" pitchFamily="2" charset="-122"/>
              </a:rPr>
              <a:t>4</a:t>
            </a:r>
            <a:r>
              <a:rPr lang="zh-CN" altLang="en-US" sz="2000" b="1" dirty="0">
                <a:latin typeface="宋体" panose="02010600030101010101" pitchFamily="2" charset="-122"/>
              </a:rPr>
              <a:t>，自行比较、汇总</a:t>
            </a:r>
            <a:endParaRPr lang="en-US" altLang="zh-CN" sz="20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14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3.Cache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的替换算法        </a:t>
            </a:r>
            <a:r>
              <a:rPr lang="zh-CN" altLang="en-US" sz="1800" b="1" dirty="0">
                <a:latin typeface="宋体" panose="02010600030101010101" pitchFamily="2" charset="-122"/>
              </a:rPr>
              <a:t>△理解原理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C3300"/>
                </a:solidFill>
                <a:latin typeface="宋体" panose="02010600030101010101" pitchFamily="2" charset="-122"/>
              </a:rPr>
              <a:t>   </a:t>
            </a:r>
            <a:r>
              <a:rPr lang="en-US" altLang="zh-CN" sz="2200" b="1" dirty="0">
                <a:latin typeface="宋体" panose="02010600030101010101" pitchFamily="2" charset="-122"/>
              </a:rPr>
              <a:t>RAND</a:t>
            </a:r>
            <a:r>
              <a:rPr lang="zh-CN" altLang="en-US" sz="2200" b="1" dirty="0">
                <a:latin typeface="宋体" panose="02010600030101010101" pitchFamily="2" charset="-122"/>
              </a:rPr>
              <a:t>、</a:t>
            </a:r>
            <a:r>
              <a:rPr lang="en-US" altLang="zh-CN" sz="2200" b="1" dirty="0">
                <a:latin typeface="宋体" panose="02010600030101010101" pitchFamily="2" charset="-122"/>
              </a:rPr>
              <a:t>FIFO</a:t>
            </a:r>
            <a:r>
              <a:rPr lang="zh-CN" altLang="en-US" sz="2200" b="1" dirty="0">
                <a:latin typeface="宋体" panose="02010600030101010101" pitchFamily="2" charset="-122"/>
              </a:rPr>
              <a:t>、</a:t>
            </a:r>
            <a:r>
              <a:rPr lang="en-US" altLang="zh-CN" sz="2200" b="1" dirty="0">
                <a:latin typeface="宋体" panose="02010600030101010101" pitchFamily="2" charset="-122"/>
              </a:rPr>
              <a:t>LRU</a:t>
            </a:r>
            <a:r>
              <a:rPr lang="zh-CN" altLang="en-US" sz="2200" b="1" dirty="0">
                <a:latin typeface="宋体" panose="02010600030101010101" pitchFamily="2" charset="-122"/>
              </a:rPr>
              <a:t>算法的思想、实现方法、硬件需求</a:t>
            </a:r>
            <a:endParaRPr lang="en-US" altLang="zh-CN" sz="22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4.Cache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的写策略          </a:t>
            </a:r>
            <a:r>
              <a:rPr lang="zh-CN" altLang="en-US" sz="1800" b="1" dirty="0">
                <a:latin typeface="宋体" panose="02010600030101010101" pitchFamily="2" charset="-122"/>
              </a:rPr>
              <a:t>△理解原理</a:t>
            </a:r>
            <a:endParaRPr lang="zh-CN" altLang="en-US" sz="22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全写法、写回法的思想、性能分析、工作流程、硬件需求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五、虚拟存储器           </a:t>
            </a:r>
            <a:r>
              <a:rPr lang="zh-CN" altLang="en-US" sz="1800" b="1" dirty="0">
                <a:latin typeface="+mn-ea"/>
              </a:rPr>
              <a:t>△了解概念</a:t>
            </a:r>
            <a:r>
              <a:rPr lang="zh-CN" altLang="en-US" sz="2200" b="1" dirty="0">
                <a:latin typeface="+mn-ea"/>
              </a:rPr>
              <a:t> </a:t>
            </a:r>
            <a:endParaRPr lang="en-US" altLang="zh-CN" sz="2200" b="1" dirty="0">
              <a:latin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+mn-ea"/>
              </a:rPr>
              <a:t>  </a:t>
            </a:r>
            <a:r>
              <a:rPr lang="en-US" altLang="zh-CN" sz="2200" b="1" dirty="0">
                <a:latin typeface="+mn-ea"/>
              </a:rPr>
              <a:t> </a:t>
            </a:r>
            <a:r>
              <a:rPr lang="zh-CN" altLang="en-US" sz="2200" b="1" dirty="0">
                <a:latin typeface="+mn-ea"/>
              </a:rPr>
              <a:t>存储管理概念，</a:t>
            </a:r>
            <a:r>
              <a:rPr lang="en-US" altLang="zh-CN" sz="2200" b="1" dirty="0">
                <a:latin typeface="+mn-ea"/>
              </a:rPr>
              <a:t>VM</a:t>
            </a:r>
            <a:r>
              <a:rPr lang="zh-CN" altLang="en-US" sz="2200" b="1" dirty="0">
                <a:latin typeface="+mn-ea"/>
              </a:rPr>
              <a:t>的组成、工作过程，地址变换步骤</a:t>
            </a:r>
            <a:endParaRPr lang="zh-CN" altLang="en-US" sz="2200" b="1" dirty="0">
              <a:solidFill>
                <a:srgbClr val="FF3399"/>
              </a:solidFill>
              <a:latin typeface="宋体" panose="02010600030101010101" pitchFamily="2" charset="-122"/>
            </a:endParaRPr>
          </a:p>
        </p:txBody>
      </p:sp>
      <p:sp>
        <p:nvSpPr>
          <p:cNvPr id="13" name="Text Box 132"/>
          <p:cNvSpPr txBox="1">
            <a:spLocks noChangeArrowheads="1"/>
          </p:cNvSpPr>
          <p:nvPr/>
        </p:nvSpPr>
        <p:spPr bwMode="auto">
          <a:xfrm>
            <a:off x="2340512" y="3322800"/>
            <a:ext cx="504000" cy="3600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</a:ln>
        </p:spPr>
        <p:txBody>
          <a:bodyPr wrap="square">
            <a:spAutoFit/>
          </a:bodyPr>
          <a:lstStyle/>
          <a:p>
            <a:endParaRPr lang="en-US" altLang="zh-CN" sz="2000" b="1" dirty="0">
              <a:latin typeface="宋体" panose="02010600030101010101" pitchFamily="2" charset="-122"/>
            </a:endParaRPr>
          </a:p>
        </p:txBody>
      </p:sp>
      <p:sp>
        <p:nvSpPr>
          <p:cNvPr id="16" name="Text Box 132"/>
          <p:cNvSpPr txBox="1">
            <a:spLocks noChangeArrowheads="1"/>
          </p:cNvSpPr>
          <p:nvPr/>
        </p:nvSpPr>
        <p:spPr bwMode="auto">
          <a:xfrm>
            <a:off x="2628543" y="2138666"/>
            <a:ext cx="900000" cy="3600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</a:ln>
        </p:spPr>
        <p:txBody>
          <a:bodyPr wrap="square">
            <a:spAutoFit/>
          </a:bodyPr>
          <a:lstStyle/>
          <a:p>
            <a:endParaRPr lang="en-US" altLang="zh-CN" b="1" dirty="0">
              <a:latin typeface="宋体" panose="02010600030101010101" pitchFamily="2" charset="-122"/>
            </a:endParaRPr>
          </a:p>
        </p:txBody>
      </p:sp>
      <p:sp>
        <p:nvSpPr>
          <p:cNvPr id="18" name="Text Box 43"/>
          <p:cNvSpPr txBox="1">
            <a:spLocks noChangeArrowheads="1"/>
          </p:cNvSpPr>
          <p:nvPr/>
        </p:nvSpPr>
        <p:spPr bwMode="auto">
          <a:xfrm>
            <a:off x="179512" y="5445224"/>
            <a:ext cx="8856984" cy="83439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bIns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*总体要求：</a:t>
            </a:r>
            <a:r>
              <a:rPr lang="zh-CN" altLang="en-US" sz="2200" b="1" dirty="0">
                <a:latin typeface="宋体" panose="02010600030101010101" pitchFamily="2" charset="-122"/>
              </a:rPr>
              <a:t>①可</a:t>
            </a:r>
            <a:r>
              <a:rPr lang="zh-CN" altLang="en-US" sz="2200" b="1" u="sng" dirty="0">
                <a:latin typeface="宋体" panose="02010600030101010101" pitchFamily="2" charset="-122"/>
              </a:rPr>
              <a:t>设计</a:t>
            </a:r>
            <a:r>
              <a:rPr lang="zh-CN" altLang="en-US" sz="2200" b="1" dirty="0">
                <a:latin typeface="宋体" panose="02010600030101010101" pitchFamily="2" charset="-122"/>
              </a:rPr>
              <a:t>主存、</a:t>
            </a:r>
            <a:r>
              <a:rPr lang="zh-CN" altLang="en-US" sz="2200" b="1" u="sng" dirty="0">
                <a:latin typeface="宋体" panose="02010600030101010101" pitchFamily="2" charset="-122"/>
              </a:rPr>
              <a:t>连接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主存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与</a:t>
            </a:r>
            <a:r>
              <a:rPr lang="en-US" altLang="zh-CN" sz="1800" b="1" dirty="0">
                <a:latin typeface="宋体" panose="02010600030101010101" pitchFamily="2" charset="-122"/>
              </a:rPr>
              <a:t>CPU/</a:t>
            </a:r>
            <a:r>
              <a:rPr lang="zh-CN" altLang="en-US" sz="1800" b="1" dirty="0">
                <a:latin typeface="宋体" panose="02010600030101010101" pitchFamily="2" charset="-122"/>
              </a:rPr>
              <a:t>总线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         </a:t>
            </a:r>
            <a:r>
              <a:rPr lang="zh-CN" altLang="en-US" sz="2200" b="1" dirty="0">
                <a:latin typeface="宋体" panose="02010600030101010101" pitchFamily="2" charset="-122"/>
              </a:rPr>
              <a:t>②掌握</a:t>
            </a:r>
            <a:r>
              <a:rPr lang="en-US" altLang="zh-CN" sz="2200" b="1" dirty="0">
                <a:latin typeface="宋体" panose="02010600030101010101" pitchFamily="2" charset="-122"/>
              </a:rPr>
              <a:t>Cache</a:t>
            </a:r>
            <a:r>
              <a:rPr lang="zh-CN" altLang="en-US" sz="2200" b="1" dirty="0">
                <a:latin typeface="宋体" panose="02010600030101010101" pitchFamily="2" charset="-122"/>
              </a:rPr>
              <a:t>的组成与</a:t>
            </a:r>
            <a:r>
              <a:rPr lang="zh-CN" altLang="en-US" sz="2200" b="1" u="sng" dirty="0">
                <a:latin typeface="宋体" panose="02010600030101010101" pitchFamily="2" charset="-122"/>
              </a:rPr>
              <a:t>工作原理</a:t>
            </a:r>
            <a:r>
              <a:rPr lang="zh-CN" altLang="en-US" sz="2200" b="1" dirty="0">
                <a:latin typeface="宋体" panose="02010600030101010101" pitchFamily="2" charset="-122"/>
              </a:rPr>
              <a:t>     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缓冲机制的原理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</a:p>
        </p:txBody>
      </p:sp>
      <p:sp>
        <p:nvSpPr>
          <p:cNvPr id="19" name="AutoShape 62">
            <a:hlinkClick r:id="rId2" action="ppaction://hlinksldjump"/>
          </p:cNvPr>
          <p:cNvSpPr>
            <a:spLocks noChangeArrowheads="1"/>
          </p:cNvSpPr>
          <p:nvPr/>
        </p:nvSpPr>
        <p:spPr bwMode="auto">
          <a:xfrm rot="16200000">
            <a:off x="2988172" y="6452988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12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20" name="AutoShape 301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4067945" y="6453336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AutoShape 62">
            <a:hlinkClick r:id="rId3" action="ppaction://hlinkpres?slideindex=50&amp;slidetitle=PowerPoint%20演示文稿"/>
          </p:cNvPr>
          <p:cNvSpPr>
            <a:spLocks noChangeArrowheads="1"/>
          </p:cNvSpPr>
          <p:nvPr/>
        </p:nvSpPr>
        <p:spPr bwMode="auto">
          <a:xfrm>
            <a:off x="8316416" y="926721"/>
            <a:ext cx="586680" cy="270031"/>
          </a:xfrm>
          <a:prstGeom prst="homePlate">
            <a:avLst>
              <a:gd name="adj" fmla="val 25000"/>
            </a:avLst>
          </a:prstGeom>
          <a:noFill/>
          <a:ln w="19050">
            <a:solidFill>
              <a:schemeClr val="bg1">
                <a:lumMod val="75000"/>
              </a:schemeClr>
            </a:solidFill>
            <a:miter lim="800000"/>
          </a:ln>
          <a:effectLst/>
        </p:spPr>
        <p:txBody>
          <a:bodyPr vert="horz" wrap="none" lIns="0" tIns="0" rIns="0" bIns="0" anchor="ctr"/>
          <a:lstStyle/>
          <a:p>
            <a:pPr algn="ctr"/>
            <a:r>
              <a:rPr lang="en-US" altLang="zh-CN" sz="1600" dirty="0">
                <a:solidFill>
                  <a:schemeClr val="bg2"/>
                </a:solidFill>
                <a:latin typeface="+mn-ea"/>
                <a:ea typeface="+mn-ea"/>
              </a:rPr>
              <a:t>3</a:t>
            </a:r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-50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21" name="AutoShape 62">
            <a:hlinkClick r:id="rId4" action="ppaction://hlinkpres?slideindex=61&amp;slidetitle=PowerPoint%20演示文稿"/>
          </p:cNvPr>
          <p:cNvSpPr>
            <a:spLocks noChangeArrowheads="1"/>
          </p:cNvSpPr>
          <p:nvPr/>
        </p:nvSpPr>
        <p:spPr bwMode="auto">
          <a:xfrm>
            <a:off x="8316416" y="2582905"/>
            <a:ext cx="586680" cy="270031"/>
          </a:xfrm>
          <a:prstGeom prst="homePlate">
            <a:avLst>
              <a:gd name="adj" fmla="val 25000"/>
            </a:avLst>
          </a:prstGeom>
          <a:noFill/>
          <a:ln w="19050">
            <a:solidFill>
              <a:schemeClr val="bg1">
                <a:lumMod val="75000"/>
              </a:schemeClr>
            </a:solidFill>
            <a:miter lim="800000"/>
          </a:ln>
          <a:effectLst/>
        </p:spPr>
        <p:txBody>
          <a:bodyPr vert="horz" wrap="none" lIns="0" tIns="0" rIns="0" bIns="0" anchor="ctr"/>
          <a:lstStyle/>
          <a:p>
            <a:pPr algn="ctr"/>
            <a:r>
              <a:rPr lang="en-US" altLang="zh-CN" sz="1600" dirty="0">
                <a:solidFill>
                  <a:schemeClr val="bg2"/>
                </a:solidFill>
                <a:latin typeface="+mn-ea"/>
                <a:ea typeface="+mn-ea"/>
              </a:rPr>
              <a:t>3</a:t>
            </a:r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-61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  <p:bldP spid="16" grpId="0" bldLvl="0" animBg="1"/>
      <p:bldP spid="18" grpId="0"/>
      <p:bldP spid="22" grpId="0" animBg="1"/>
      <p:bldP spid="2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t>15</a:t>
            </a:fld>
            <a:endParaRPr lang="en-US" altLang="zh-CN" dirty="0"/>
          </a:p>
        </p:txBody>
      </p:sp>
      <p:sp>
        <p:nvSpPr>
          <p:cNvPr id="5" name="Text Box 132"/>
          <p:cNvSpPr txBox="1">
            <a:spLocks noChangeArrowheads="1"/>
          </p:cNvSpPr>
          <p:nvPr/>
        </p:nvSpPr>
        <p:spPr bwMode="auto">
          <a:xfrm>
            <a:off x="838200" y="323945"/>
            <a:ext cx="7467600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/>
            <a:r>
              <a:rPr lang="zh-CN" altLang="en-US" sz="3200" b="1" dirty="0">
                <a:latin typeface="宋体" panose="02010600030101010101" pitchFamily="2" charset="-122"/>
              </a:rPr>
              <a:t>第</a:t>
            </a:r>
            <a:r>
              <a:rPr lang="en-US" altLang="zh-CN" sz="3200" b="1" dirty="0">
                <a:latin typeface="宋体" panose="02010600030101010101" pitchFamily="2" charset="-122"/>
              </a:rPr>
              <a:t>4</a:t>
            </a:r>
            <a:r>
              <a:rPr lang="zh-CN" altLang="en-US" sz="3200" b="1" dirty="0">
                <a:latin typeface="宋体" panose="02010600030101010101" pitchFamily="2" charset="-122"/>
              </a:rPr>
              <a:t>章 </a:t>
            </a:r>
            <a:r>
              <a:rPr lang="zh-CN" altLang="en-US" sz="3200" b="1" dirty="0"/>
              <a:t>指令系统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70815" y="1346835"/>
            <a:ext cx="8820785" cy="2376170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>
            <a:no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一、指令系统组成          </a:t>
            </a:r>
            <a:r>
              <a:rPr lang="zh-CN" altLang="en-US" sz="1800" b="1" dirty="0">
                <a:latin typeface="+mn-ea"/>
                <a:ea typeface="+mn-ea"/>
              </a:rPr>
              <a:t>☆掌握</a:t>
            </a:r>
            <a:r>
              <a:rPr lang="zh-CN" altLang="en-US" sz="1800" b="1" dirty="0">
                <a:latin typeface="宋体" panose="02010600030101010101" pitchFamily="2" charset="-122"/>
              </a:rPr>
              <a:t>信息约定方法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指令功能</a:t>
            </a:r>
            <a:r>
              <a:rPr lang="en-US" altLang="zh-CN" sz="2200" b="1" dirty="0">
                <a:latin typeface="宋体" panose="02010600030101010101" pitchFamily="2" charset="-122"/>
              </a:rPr>
              <a:t>—</a:t>
            </a:r>
            <a:r>
              <a:rPr lang="zh-CN" altLang="en-US" sz="2200" b="1" dirty="0">
                <a:latin typeface="宋体" panose="02010600030101010101" pitchFamily="2" charset="-122"/>
              </a:rPr>
              <a:t>数据操作</a:t>
            </a:r>
            <a:r>
              <a:rPr lang="en-US" altLang="zh-CN" sz="1800" b="1" dirty="0">
                <a:latin typeface="宋体" panose="02010600030101010101" pitchFamily="2" charset="-122"/>
              </a:rPr>
              <a:t>(OP/</a:t>
            </a:r>
            <a:r>
              <a:rPr lang="zh-CN" altLang="en-US" sz="1800" b="1" dirty="0">
                <a:latin typeface="宋体" panose="02010600030101010101" pitchFamily="2" charset="-122"/>
              </a:rPr>
              <a:t>存结果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＋指令地址计算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顺序型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转移型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latin typeface="宋体" panose="02010600030101010101" pitchFamily="2" charset="-122"/>
              </a:rPr>
              <a:t>指令格式</a:t>
            </a:r>
            <a:r>
              <a:rPr lang="en-US" altLang="zh-CN" sz="2200" b="1" dirty="0">
                <a:latin typeface="宋体" panose="02010600030101010101" pitchFamily="2" charset="-122"/>
              </a:rPr>
              <a:t>—</a:t>
            </a:r>
            <a:r>
              <a:rPr lang="zh-CN" altLang="en-US" sz="2200" b="1" dirty="0">
                <a:latin typeface="宋体" panose="02010600030101010101" pitchFamily="2" charset="-122"/>
              </a:rPr>
              <a:t>组成</a:t>
            </a:r>
            <a:r>
              <a:rPr lang="en-US" altLang="zh-CN" sz="1800" b="1" dirty="0">
                <a:latin typeface="宋体" panose="02010600030101010101" pitchFamily="2" charset="-122"/>
              </a:rPr>
              <a:t>(OP+ADDR)</a:t>
            </a:r>
            <a:r>
              <a:rPr lang="zh-CN" altLang="en-US" sz="2200" b="1" dirty="0">
                <a:latin typeface="宋体" panose="02010600030101010101" pitchFamily="2" charset="-122"/>
              </a:rPr>
              <a:t>→需约定信息</a:t>
            </a:r>
            <a:r>
              <a:rPr lang="en-US" altLang="zh-CN" sz="1800" b="1" dirty="0">
                <a:latin typeface="宋体" panose="02010600030101010101" pitchFamily="2" charset="-122"/>
              </a:rPr>
              <a:t>(OP/</a:t>
            </a:r>
            <a:r>
              <a:rPr lang="zh-CN" altLang="en-US" sz="1800" b="1" dirty="0">
                <a:latin typeface="宋体" panose="02010600030101010101" pitchFamily="2" charset="-122"/>
              </a:rPr>
              <a:t>格式、源</a:t>
            </a:r>
            <a:r>
              <a:rPr lang="en-US" altLang="zh-CN" sz="1800" b="1" dirty="0">
                <a:latin typeface="宋体" panose="02010600030101010101" pitchFamily="2" charset="-122"/>
              </a:rPr>
              <a:t>&amp;</a:t>
            </a:r>
            <a:r>
              <a:rPr lang="zh-CN" altLang="en-US" sz="1800" b="1" dirty="0">
                <a:latin typeface="宋体" panose="02010600030101010101" pitchFamily="2" charset="-122"/>
              </a:rPr>
              <a:t>目</a:t>
            </a:r>
            <a:r>
              <a:rPr lang="en-US" altLang="zh-CN" sz="1800" b="1" dirty="0">
                <a:latin typeface="宋体" panose="02010600030101010101" pitchFamily="2" charset="-122"/>
              </a:rPr>
              <a:t>OPD/</a:t>
            </a:r>
            <a:r>
              <a:rPr lang="zh-CN" altLang="en-US" sz="1800" b="1" dirty="0">
                <a:latin typeface="宋体" panose="02010600030101010101" pitchFamily="2" charset="-122"/>
              </a:rPr>
              <a:t>指令地址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zh-CN" altLang="en-US" sz="1800" b="1" dirty="0">
                <a:latin typeface="宋体" panose="02010600030101010101" pitchFamily="2" charset="-122"/>
              </a:rPr>
              <a:t>                                               存放→地址→</a:t>
            </a:r>
            <a:r>
              <a:rPr lang="zh-CN" altLang="en-US" sz="1800" dirty="0">
                <a:latin typeface="宋体" panose="02010600030101010101" pitchFamily="2" charset="-122"/>
              </a:rPr>
              <a:t>┘</a:t>
            </a:r>
            <a:endParaRPr lang="en-US" altLang="zh-CN" sz="1800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          性能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码长</a:t>
            </a:r>
            <a:r>
              <a:rPr lang="en-US" altLang="zh-CN" sz="1800" b="1" dirty="0">
                <a:latin typeface="宋体" panose="02010600030101010101" pitchFamily="2" charset="-122"/>
              </a:rPr>
              <a:t>+</a:t>
            </a:r>
            <a:r>
              <a:rPr lang="zh-CN" altLang="en-US" sz="1800" b="1" dirty="0">
                <a:latin typeface="宋体" panose="02010600030101010101" pitchFamily="2" charset="-122"/>
              </a:rPr>
              <a:t>规整性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→信息的表示方法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显式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隐式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          编码→</a:t>
            </a:r>
            <a:r>
              <a:rPr lang="en-US" altLang="zh-CN" sz="2200" b="1" dirty="0">
                <a:latin typeface="宋体" panose="02010600030101010101" pitchFamily="2" charset="-122"/>
              </a:rPr>
              <a:t>OP</a:t>
            </a:r>
            <a:r>
              <a:rPr lang="zh-CN" altLang="en-US" sz="2200" b="1" dirty="0">
                <a:latin typeface="宋体" panose="02010600030101010101" pitchFamily="2" charset="-122"/>
              </a:rPr>
              <a:t>编码、地址编码，指令字长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179512" y="897503"/>
            <a:ext cx="8812088" cy="475615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  主要内容：</a:t>
            </a:r>
            <a:r>
              <a:rPr lang="zh-CN" altLang="en-US" sz="2000" b="1" dirty="0">
                <a:latin typeface="宋体" panose="02010600030101010101" pitchFamily="2" charset="-122"/>
              </a:rPr>
              <a:t>指令功能、指令格式，</a:t>
            </a:r>
            <a:r>
              <a:rPr lang="en-US" altLang="zh-CN" sz="2000" b="1" dirty="0">
                <a:latin typeface="宋体" panose="02010600030101010101" pitchFamily="2" charset="-122"/>
              </a:rPr>
              <a:t>OPD</a:t>
            </a:r>
            <a:r>
              <a:rPr lang="zh-CN" altLang="en-US" sz="2000" b="1" dirty="0">
                <a:latin typeface="宋体" panose="02010600030101010101" pitchFamily="2" charset="-122"/>
              </a:rPr>
              <a:t>存放方式，寻址方式</a:t>
            </a: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179512" y="3827842"/>
            <a:ext cx="8812212" cy="514350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二、</a:t>
            </a:r>
            <a:r>
              <a:rPr lang="en-US" altLang="zh-CN" sz="2200" b="1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OPD</a:t>
            </a:r>
            <a:r>
              <a:rPr lang="zh-CN" altLang="en-US" sz="2200" b="1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的存放方式         </a:t>
            </a:r>
            <a:r>
              <a:rPr lang="zh-CN" altLang="en-US" sz="1800" b="1" dirty="0">
                <a:latin typeface="宋体" panose="02010600030101010101" pitchFamily="2" charset="-122"/>
              </a:rPr>
              <a:t>◇理解概念</a:t>
            </a:r>
          </a:p>
        </p:txBody>
      </p:sp>
      <p:sp>
        <p:nvSpPr>
          <p:cNvPr id="13" name="Text Box 132"/>
          <p:cNvSpPr txBox="1">
            <a:spLocks noChangeArrowheads="1"/>
          </p:cNvSpPr>
          <p:nvPr/>
        </p:nvSpPr>
        <p:spPr bwMode="auto">
          <a:xfrm>
            <a:off x="683568" y="2277378"/>
            <a:ext cx="1188000" cy="3960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</a:ln>
        </p:spPr>
        <p:txBody>
          <a:bodyPr wrap="square">
            <a:noAutofit/>
          </a:bodyPr>
          <a:lstStyle/>
          <a:p>
            <a:endParaRPr lang="en-US" altLang="zh-CN" b="1" dirty="0">
              <a:latin typeface="宋体" panose="02010600030101010101" pitchFamily="2" charset="-122"/>
            </a:endParaRPr>
          </a:p>
        </p:txBody>
      </p:sp>
      <p:sp>
        <p:nvSpPr>
          <p:cNvPr id="15" name="AutoShape 50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8518" y="6453336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7" name="表格 16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14910938"/>
              </p:ext>
            </p:extLst>
          </p:nvPr>
        </p:nvGraphicFramePr>
        <p:xfrm>
          <a:off x="909955" y="4333466"/>
          <a:ext cx="6695440" cy="118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8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5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3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55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14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591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存放部件</a:t>
                      </a:r>
                    </a:p>
                  </a:txBody>
                  <a:tcPr marL="36000" marR="36000" marT="10800" marB="1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存放方法</a:t>
                      </a: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FF3399"/>
                          </a:solidFill>
                          <a:latin typeface="+mn-ea"/>
                          <a:ea typeface="+mn-ea"/>
                        </a:rPr>
                        <a:t>数据地址</a:t>
                      </a:r>
                    </a:p>
                  </a:txBody>
                  <a:tcPr marL="36000" marR="36000" marT="10800" marB="1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solidFill>
                            <a:srgbClr val="FF3399"/>
                          </a:solidFill>
                          <a:latin typeface="+mn-ea"/>
                          <a:ea typeface="+mn-ea"/>
                        </a:rPr>
                        <a:t>长度表示</a:t>
                      </a: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91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REG</a:t>
                      </a:r>
                    </a:p>
                  </a:txBody>
                  <a:tcPr marL="36000" marR="36000" marT="10800" marB="1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REG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全部、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REG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低端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部分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REG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REG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编号</a:t>
                      </a:r>
                    </a:p>
                  </a:txBody>
                  <a:tcPr marL="36000" marR="36000" marT="10800" marB="1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OP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码指明</a:t>
                      </a:r>
                      <a:endParaRPr lang="en-US" altLang="zh-CN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91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MEM</a:t>
                      </a:r>
                    </a:p>
                  </a:txBody>
                  <a:tcPr marL="36000" marR="36000" marT="10800" marB="1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端序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大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小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对齐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是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否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最小单元地址</a:t>
                      </a:r>
                      <a:endParaRPr lang="zh-CN" altLang="en-US" sz="18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91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指令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REG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端序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同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MEM)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对齐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否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36000" marR="36000" marT="10800" marB="1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AutoShape 62">
            <a:hlinkClick r:id="rId4" action="ppaction://hlinkpres?slideindex=17&amp;slidetitle=PowerPoint 演示文稿"/>
          </p:cNvPr>
          <p:cNvSpPr>
            <a:spLocks noChangeArrowheads="1"/>
          </p:cNvSpPr>
          <p:nvPr/>
        </p:nvSpPr>
        <p:spPr bwMode="auto">
          <a:xfrm>
            <a:off x="8244408" y="1628800"/>
            <a:ext cx="593718" cy="270031"/>
          </a:xfrm>
          <a:prstGeom prst="homePlate">
            <a:avLst>
              <a:gd name="adj" fmla="val 25000"/>
            </a:avLst>
          </a:prstGeom>
          <a:noFill/>
          <a:ln w="19050">
            <a:solidFill>
              <a:schemeClr val="bg1">
                <a:lumMod val="75000"/>
              </a:schemeClr>
            </a:solidFill>
            <a:miter lim="800000"/>
          </a:ln>
          <a:effectLst/>
        </p:spPr>
        <p:txBody>
          <a:bodyPr vert="horz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4-17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4" name="AutoShape 62">
            <a:hlinkClick r:id="rId5" action="ppaction://hlinkpres?slideindex=39&amp;slidetitle=PowerPoint%20演示文稿"/>
          </p:cNvPr>
          <p:cNvSpPr>
            <a:spLocks noChangeArrowheads="1"/>
          </p:cNvSpPr>
          <p:nvPr/>
        </p:nvSpPr>
        <p:spPr bwMode="auto">
          <a:xfrm>
            <a:off x="4123563" y="5607241"/>
            <a:ext cx="593718" cy="270031"/>
          </a:xfrm>
          <a:prstGeom prst="homePlate">
            <a:avLst>
              <a:gd name="adj" fmla="val 25000"/>
            </a:avLst>
          </a:prstGeom>
          <a:noFill/>
          <a:ln w="19050">
            <a:solidFill>
              <a:schemeClr val="bg1">
                <a:lumMod val="75000"/>
              </a:schemeClr>
            </a:solidFill>
            <a:miter lim="800000"/>
          </a:ln>
          <a:effectLst/>
        </p:spPr>
        <p:txBody>
          <a:bodyPr vert="horz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2-39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13" grpId="0" bldLvl="0" animBg="1"/>
      <p:bldP spid="16" grpId="0" animBg="1"/>
      <p:bldP spid="14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132"/>
          <p:cNvSpPr txBox="1">
            <a:spLocks noChangeArrowheads="1"/>
          </p:cNvSpPr>
          <p:nvPr/>
        </p:nvSpPr>
        <p:spPr bwMode="auto">
          <a:xfrm>
            <a:off x="683568" y="2844000"/>
            <a:ext cx="1116000" cy="3960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</a:ln>
        </p:spPr>
        <p:txBody>
          <a:bodyPr wrap="square">
            <a:noAutofit/>
          </a:bodyPr>
          <a:lstStyle/>
          <a:p>
            <a:endParaRPr lang="en-US" altLang="zh-CN" b="1" dirty="0">
              <a:latin typeface="宋体" panose="02010600030101010101" pitchFamily="2" charset="-122"/>
            </a:endParaRPr>
          </a:p>
        </p:txBody>
      </p:sp>
      <p:sp>
        <p:nvSpPr>
          <p:cNvPr id="14" name="Text Box 132"/>
          <p:cNvSpPr txBox="1">
            <a:spLocks noChangeArrowheads="1"/>
          </p:cNvSpPr>
          <p:nvPr/>
        </p:nvSpPr>
        <p:spPr bwMode="auto">
          <a:xfrm>
            <a:off x="3204000" y="3240000"/>
            <a:ext cx="3240000" cy="3960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</a:ln>
        </p:spPr>
        <p:txBody>
          <a:bodyPr wrap="square">
            <a:noAutofit/>
          </a:bodyPr>
          <a:lstStyle/>
          <a:p>
            <a:endParaRPr lang="en-US" altLang="zh-CN" b="1" dirty="0"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t>16</a:t>
            </a:fld>
            <a:endParaRPr lang="en-US" altLang="zh-CN" dirty="0"/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179388" y="332656"/>
            <a:ext cx="8812212" cy="514350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三、寻址方式</a:t>
            </a:r>
          </a:p>
        </p:txBody>
      </p:sp>
      <p:sp>
        <p:nvSpPr>
          <p:cNvPr id="6" name="Text Box 85"/>
          <p:cNvSpPr txBox="1">
            <a:spLocks noChangeArrowheads="1"/>
          </p:cNvSpPr>
          <p:nvPr/>
        </p:nvSpPr>
        <p:spPr bwMode="auto">
          <a:xfrm>
            <a:off x="179388" y="817777"/>
            <a:ext cx="8065020" cy="323505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1.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指令寻址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           </a:t>
            </a:r>
            <a:r>
              <a:rPr lang="zh-CN" altLang="en-US" sz="1800" b="1" dirty="0">
                <a:latin typeface="宋体" panose="02010600030101010101" pitchFamily="2" charset="-122"/>
              </a:rPr>
              <a:t>☆掌握概念、理解原理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latin typeface="宋体" panose="02010600030101010101" pitchFamily="2" charset="-122"/>
              </a:rPr>
              <a:t>寻址类型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顺序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跳跃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，寻址方式，寻址方式的识别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译码时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zh-CN" altLang="en-US" sz="2200" b="1" dirty="0"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                      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隐含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直接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相对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等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2.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数据寻址</a:t>
            </a: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           </a:t>
            </a:r>
            <a:r>
              <a:rPr lang="zh-CN" altLang="en-US" sz="1800" b="1" dirty="0">
                <a:latin typeface="宋体" panose="02010600030101010101" pitchFamily="2" charset="-122"/>
              </a:rPr>
              <a:t>☆掌握概念、理解原理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latin typeface="宋体" panose="02010600030101010101" pitchFamily="2" charset="-122"/>
              </a:rPr>
              <a:t>地址码组成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方式位</a:t>
            </a:r>
            <a:r>
              <a:rPr lang="en-US" altLang="zh-CN" sz="1800" b="1" dirty="0">
                <a:latin typeface="宋体" panose="02010600030101010101" pitchFamily="2" charset="-122"/>
              </a:rPr>
              <a:t>+</a:t>
            </a:r>
            <a:r>
              <a:rPr lang="zh-CN" altLang="en-US" sz="1800" b="1" dirty="0">
                <a:latin typeface="宋体" panose="02010600030101010101" pitchFamily="2" charset="-122"/>
              </a:rPr>
              <a:t>地址参数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，寻址方式的识别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译码时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寻址方式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(</a:t>
            </a:r>
            <a:r>
              <a:rPr lang="zh-CN" altLang="en-US" sz="1800" b="1" spc="-100" dirty="0">
                <a:latin typeface="宋体" panose="02010600030101010101" pitchFamily="2" charset="-122"/>
              </a:rPr>
              <a:t>立即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/REG/</a:t>
            </a:r>
            <a:r>
              <a:rPr lang="zh-CN" altLang="en-US" sz="1800" b="1" spc="-100" dirty="0">
                <a:latin typeface="宋体" panose="02010600030101010101" pitchFamily="2" charset="-122"/>
              </a:rPr>
              <a:t>直接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/REG</a:t>
            </a:r>
            <a:r>
              <a:rPr lang="zh-CN" altLang="en-US" sz="1800" b="1" spc="-100" dirty="0">
                <a:latin typeface="宋体" panose="02010600030101010101" pitchFamily="2" charset="-122"/>
              </a:rPr>
              <a:t>间接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/</a:t>
            </a:r>
            <a:r>
              <a:rPr lang="zh-CN" altLang="en-US" sz="1800" b="1" spc="-100" dirty="0">
                <a:latin typeface="宋体" panose="02010600030101010101" pitchFamily="2" charset="-122"/>
              </a:rPr>
              <a:t>基址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/</a:t>
            </a:r>
            <a:r>
              <a:rPr lang="zh-CN" altLang="en-US" sz="1800" b="1" spc="-100" dirty="0">
                <a:latin typeface="宋体" panose="02010600030101010101" pitchFamily="2" charset="-122"/>
              </a:rPr>
              <a:t>变址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/</a:t>
            </a:r>
            <a:r>
              <a:rPr lang="zh-CN" altLang="en-US" sz="1800" b="1" spc="-100" dirty="0">
                <a:latin typeface="宋体" panose="02010600030101010101" pitchFamily="2" charset="-122"/>
              </a:rPr>
              <a:t>隐含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)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的地址形成</a:t>
            </a: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    〖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例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〗PPT4-P29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例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2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P32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例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3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理解指令系统组成</a:t>
            </a:r>
            <a:r>
              <a:rPr lang="en-US" altLang="zh-CN" sz="16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&amp;</a:t>
            </a:r>
            <a:r>
              <a: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应用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6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四、指令系统发展         </a:t>
            </a:r>
            <a:r>
              <a:rPr lang="zh-CN" altLang="en-US" sz="1800" b="1" dirty="0">
                <a:latin typeface="+mn-ea"/>
              </a:rPr>
              <a:t>△了解概念</a:t>
            </a:r>
          </a:p>
        </p:txBody>
      </p:sp>
      <p:sp>
        <p:nvSpPr>
          <p:cNvPr id="11" name="Text Box 43"/>
          <p:cNvSpPr txBox="1">
            <a:spLocks noChangeArrowheads="1"/>
          </p:cNvSpPr>
          <p:nvPr/>
        </p:nvSpPr>
        <p:spPr bwMode="auto">
          <a:xfrm>
            <a:off x="179512" y="4149080"/>
            <a:ext cx="8785225" cy="17374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*总体要求：</a:t>
            </a:r>
            <a:r>
              <a:rPr lang="zh-CN" altLang="en-US" sz="2200" b="1" dirty="0">
                <a:latin typeface="宋体" panose="02010600030101010101" pitchFamily="2" charset="-122"/>
              </a:rPr>
              <a:t>①理解指令中信息的</a:t>
            </a:r>
            <a:r>
              <a:rPr lang="zh-CN" altLang="en-US" sz="2200" b="1" u="sng" dirty="0">
                <a:latin typeface="宋体" panose="02010600030101010101" pitchFamily="2" charset="-122"/>
              </a:rPr>
              <a:t>约定方法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信息→格式及编码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         ②理解数据在部件中的</a:t>
            </a:r>
            <a:r>
              <a:rPr lang="zh-CN" altLang="en-US" sz="2200" b="1" u="sng" dirty="0">
                <a:latin typeface="宋体" panose="02010600030101010101" pitchFamily="2" charset="-122"/>
              </a:rPr>
              <a:t>存放方法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值→地址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         ③理解寻址方式的</a:t>
            </a:r>
            <a:r>
              <a:rPr lang="zh-CN" altLang="en-US" sz="2200" b="1" u="sng" dirty="0">
                <a:latin typeface="宋体" panose="02010600030101010101" pitchFamily="2" charset="-122"/>
              </a:rPr>
              <a:t>地址形成方法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地址→地址码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en-US" altLang="zh-CN" sz="1800" b="1" dirty="0">
                <a:latin typeface="宋体" panose="02010600030101010101" pitchFamily="2" charset="-122"/>
              </a:rPr>
              <a:t>       (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说明：</a:t>
            </a:r>
            <a:r>
              <a:rPr lang="zh-CN" altLang="en-US" sz="1800" b="1" dirty="0">
                <a:latin typeface="宋体" panose="02010600030101010101" pitchFamily="2" charset="-122"/>
              </a:rPr>
              <a:t>指令系统不需要背，考试时会给出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</a:p>
        </p:txBody>
      </p:sp>
      <p:sp>
        <p:nvSpPr>
          <p:cNvPr id="13" name="AutoShape 301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7824" y="6453336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AutoShape 62">
            <a:hlinkClick r:id="rId3" action="ppaction://hlinkfile"/>
          </p:cNvPr>
          <p:cNvSpPr>
            <a:spLocks noChangeArrowheads="1"/>
          </p:cNvSpPr>
          <p:nvPr/>
        </p:nvSpPr>
        <p:spPr bwMode="auto">
          <a:xfrm>
            <a:off x="8244408" y="3326316"/>
            <a:ext cx="593718" cy="270031"/>
          </a:xfrm>
          <a:prstGeom prst="homePlate">
            <a:avLst>
              <a:gd name="adj" fmla="val 25000"/>
            </a:avLst>
          </a:prstGeom>
          <a:noFill/>
          <a:ln w="19050">
            <a:solidFill>
              <a:schemeClr val="bg1">
                <a:lumMod val="75000"/>
              </a:schemeClr>
            </a:solidFill>
            <a:miter lim="800000"/>
          </a:ln>
          <a:effectLst/>
        </p:spPr>
        <p:txBody>
          <a:bodyPr vert="horz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4-32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14" grpId="0" bldLvl="0" animBg="1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32"/>
          <p:cNvSpPr txBox="1">
            <a:spLocks noChangeArrowheads="1"/>
          </p:cNvSpPr>
          <p:nvPr/>
        </p:nvSpPr>
        <p:spPr bwMode="auto">
          <a:xfrm>
            <a:off x="179388" y="1872000"/>
            <a:ext cx="8785225" cy="3960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</a:ln>
        </p:spPr>
        <p:txBody>
          <a:bodyPr>
            <a:noAutofit/>
          </a:bodyPr>
          <a:lstStyle/>
          <a:p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 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t>17</a:t>
            </a:fld>
            <a:endParaRPr lang="en-US" altLang="zh-CN" dirty="0"/>
          </a:p>
        </p:txBody>
      </p:sp>
      <p:sp>
        <p:nvSpPr>
          <p:cNvPr id="3" name="Text Box 76"/>
          <p:cNvSpPr txBox="1">
            <a:spLocks noChangeArrowheads="1"/>
          </p:cNvSpPr>
          <p:nvPr/>
        </p:nvSpPr>
        <p:spPr bwMode="auto">
          <a:xfrm>
            <a:off x="838200" y="332656"/>
            <a:ext cx="7467600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/>
            <a:r>
              <a:rPr lang="zh-CN" altLang="en-US" sz="3200" b="1" dirty="0">
                <a:latin typeface="宋体" panose="02010600030101010101" pitchFamily="2" charset="-122"/>
              </a:rPr>
              <a:t>第</a:t>
            </a:r>
            <a:r>
              <a:rPr lang="en-US" altLang="zh-CN" sz="3200" b="1" dirty="0">
                <a:latin typeface="宋体" panose="02010600030101010101" pitchFamily="2" charset="-122"/>
              </a:rPr>
              <a:t>5</a:t>
            </a:r>
            <a:r>
              <a:rPr lang="zh-CN" altLang="en-US" sz="3200" b="1" dirty="0">
                <a:latin typeface="宋体" panose="02010600030101010101" pitchFamily="2" charset="-122"/>
              </a:rPr>
              <a:t>章 </a:t>
            </a:r>
            <a:r>
              <a:rPr lang="zh-CN" altLang="en-US" sz="3200" b="1" dirty="0"/>
              <a:t>中央处理器</a:t>
            </a: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179512" y="908720"/>
            <a:ext cx="8812088" cy="860425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  主要内容：</a:t>
            </a:r>
            <a:r>
              <a:rPr lang="en-US" altLang="zh-CN" sz="2000" b="1" dirty="0">
                <a:latin typeface="宋体" panose="02010600030101010101" pitchFamily="2" charset="-122"/>
              </a:rPr>
              <a:t>CPU</a:t>
            </a:r>
            <a:r>
              <a:rPr lang="zh-CN" altLang="en-US" sz="2000" b="1" dirty="0">
                <a:latin typeface="宋体" panose="02010600030101010101" pitchFamily="2" charset="-122"/>
              </a:rPr>
              <a:t>组成与工作流程，数据通路组织，控制单元组成，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latin typeface="宋体" panose="02010600030101010101" pitchFamily="2" charset="-122"/>
              </a:rPr>
              <a:t>            </a:t>
            </a:r>
            <a:r>
              <a:rPr lang="zh-CN" altLang="en-US" sz="2000" b="1" dirty="0">
                <a:latin typeface="宋体" panose="02010600030101010101" pitchFamily="2" charset="-122"/>
              </a:rPr>
              <a:t>异常及中断处理，指令流水线概念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79388" y="1791699"/>
            <a:ext cx="8785225" cy="4361815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一、</a:t>
            </a:r>
            <a:r>
              <a:rPr lang="en-US" altLang="zh-CN" sz="2200" b="1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CPU</a:t>
            </a:r>
            <a:r>
              <a:rPr lang="zh-CN" altLang="en-US" sz="2200" b="1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组成与工作流程    </a:t>
            </a:r>
            <a:r>
              <a:rPr lang="zh-CN" altLang="en-US" sz="2000" b="1" dirty="0">
                <a:latin typeface="+mn-ea"/>
                <a:ea typeface="+mn-ea"/>
              </a:rPr>
              <a:t>☆深入理解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1800" b="1" dirty="0">
                <a:latin typeface="宋体" panose="02010600030101010101" pitchFamily="2" charset="-122"/>
              </a:rPr>
              <a:t>    </a:t>
            </a:r>
            <a:r>
              <a:rPr lang="zh-CN" altLang="en-US" sz="1800" b="1" dirty="0">
                <a:latin typeface="宋体" panose="02010600030101010101" pitchFamily="2" charset="-122"/>
              </a:rPr>
              <a:t>（需求：按存储程序工作方式执行程序</a:t>
            </a:r>
            <a:r>
              <a:rPr lang="en-US" altLang="zh-CN" sz="1800" b="1" dirty="0">
                <a:latin typeface="宋体" panose="02010600030101010101" pitchFamily="2" charset="-122"/>
              </a:rPr>
              <a:t>[</a:t>
            </a:r>
            <a:r>
              <a:rPr lang="zh-CN" altLang="en-US" sz="1800" b="1" dirty="0">
                <a:latin typeface="宋体" panose="02010600030101010101" pitchFamily="2" charset="-122"/>
              </a:rPr>
              <a:t>指令∈指令系统</a:t>
            </a:r>
            <a:r>
              <a:rPr lang="en-US" altLang="zh-CN" sz="1800" b="1" dirty="0">
                <a:latin typeface="宋体" panose="02010600030101010101" pitchFamily="2" charset="-122"/>
              </a:rPr>
              <a:t>]</a:t>
            </a:r>
            <a:r>
              <a:rPr lang="zh-CN" altLang="en-US" sz="1800" b="1" dirty="0">
                <a:latin typeface="宋体" panose="02010600030101010101" pitchFamily="2" charset="-122"/>
              </a:rPr>
              <a:t>、处理异常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中断）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latin typeface="宋体" panose="02010600030101010101" pitchFamily="2" charset="-122"/>
              </a:rPr>
              <a:t>功能、组成，工作流程，工作原理</a:t>
            </a:r>
            <a:r>
              <a:rPr lang="en-US" altLang="zh-CN" sz="1800" b="1" dirty="0">
                <a:latin typeface="宋体" panose="02010600030101010101" pitchFamily="2" charset="-122"/>
              </a:rPr>
              <a:t>(CU</a:t>
            </a:r>
            <a:r>
              <a:rPr lang="zh-CN" altLang="en-US" sz="1800" b="1" dirty="0">
                <a:latin typeface="宋体" panose="02010600030101010101" pitchFamily="2" charset="-122"/>
              </a:rPr>
              <a:t>控制</a:t>
            </a:r>
            <a:r>
              <a:rPr lang="en-US" altLang="zh-CN" sz="1800" b="1" dirty="0">
                <a:latin typeface="宋体" panose="02010600030101010101" pitchFamily="2" charset="-122"/>
              </a:rPr>
              <a:t>/DP</a:t>
            </a:r>
            <a:r>
              <a:rPr lang="zh-CN" altLang="en-US" sz="1800" b="1" dirty="0">
                <a:latin typeface="宋体" panose="02010600030101010101" pitchFamily="2" charset="-122"/>
              </a:rPr>
              <a:t>实现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</a:pPr>
            <a:r>
              <a:rPr lang="en-US" altLang="zh-CN" sz="2200" b="1" dirty="0"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latin typeface="宋体" panose="02010600030101010101" pitchFamily="2" charset="-122"/>
              </a:rPr>
              <a:t>指令的执行过程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u="sng" dirty="0">
                <a:latin typeface="宋体" panose="02010600030101010101" pitchFamily="2" charset="-122"/>
              </a:rPr>
              <a:t>步骤</a:t>
            </a:r>
            <a:r>
              <a:rPr lang="zh-CN" altLang="en-US" sz="1800" b="1" dirty="0">
                <a:latin typeface="宋体" panose="02010600030101010101" pitchFamily="2" charset="-122"/>
              </a:rPr>
              <a:t>及操作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，指令周期的组织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单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多、串行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流水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zh-CN" altLang="en-US" sz="2200" b="1" dirty="0">
              <a:latin typeface="宋体" panose="02010600030101010101" pitchFamily="2" charset="-122"/>
            </a:endParaRPr>
          </a:p>
        </p:txBody>
      </p:sp>
      <p:sp>
        <p:nvSpPr>
          <p:cNvPr id="14" name="AutoShape 62">
            <a:hlinkClick r:id="rId3" action="ppaction://hlinkfile"/>
          </p:cNvPr>
          <p:cNvSpPr>
            <a:spLocks noChangeArrowheads="1"/>
          </p:cNvSpPr>
          <p:nvPr/>
        </p:nvSpPr>
        <p:spPr bwMode="auto">
          <a:xfrm>
            <a:off x="8316416" y="1916832"/>
            <a:ext cx="593718" cy="270031"/>
          </a:xfrm>
          <a:prstGeom prst="homePlate">
            <a:avLst>
              <a:gd name="adj" fmla="val 25000"/>
            </a:avLst>
          </a:prstGeom>
          <a:noFill/>
          <a:ln w="19050">
            <a:solidFill>
              <a:schemeClr val="bg1">
                <a:lumMod val="75000"/>
              </a:schemeClr>
            </a:solidFill>
            <a:miter lim="800000"/>
          </a:ln>
          <a:effectLst/>
        </p:spPr>
        <p:txBody>
          <a:bodyPr vert="horz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5-15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123C426C-8707-4D52-9423-EE80EDF38F15}"/>
              </a:ext>
            </a:extLst>
          </p:cNvPr>
          <p:cNvGrpSpPr/>
          <p:nvPr/>
        </p:nvGrpSpPr>
        <p:grpSpPr>
          <a:xfrm>
            <a:off x="395536" y="3096000"/>
            <a:ext cx="8640960" cy="2520379"/>
            <a:chOff x="107504" y="3096000"/>
            <a:chExt cx="8640960" cy="2520379"/>
          </a:xfrm>
        </p:grpSpPr>
        <p:sp>
          <p:nvSpPr>
            <p:cNvPr id="87" name="Text Box 392"/>
            <p:cNvSpPr txBox="1">
              <a:spLocks noChangeArrowheads="1"/>
            </p:cNvSpPr>
            <p:nvPr/>
          </p:nvSpPr>
          <p:spPr bwMode="auto">
            <a:xfrm>
              <a:off x="6660232" y="4365104"/>
              <a:ext cx="513892" cy="64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请求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600"/>
                </a:spcBef>
              </a:pPr>
              <a:r>
                <a:rPr lang="zh-CN" altLang="en-US" sz="1600" b="1" dirty="0">
                  <a:latin typeface="宋体" panose="02010600030101010101" pitchFamily="2" charset="-122"/>
                </a:rPr>
                <a:t>响应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8" name="Rectangle 274"/>
            <p:cNvSpPr>
              <a:spLocks noChangeArrowheads="1"/>
            </p:cNvSpPr>
            <p:nvPr/>
          </p:nvSpPr>
          <p:spPr bwMode="auto">
            <a:xfrm>
              <a:off x="5292080" y="3168008"/>
              <a:ext cx="1368152" cy="720972"/>
            </a:xfrm>
            <a:prstGeom prst="rect">
              <a:avLst/>
            </a:prstGeom>
            <a:solidFill>
              <a:srgbClr val="CCCCFF"/>
            </a:solidFill>
            <a:ln w="12700">
              <a:noFill/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Rectangle 274"/>
            <p:cNvSpPr>
              <a:spLocks noChangeArrowheads="1"/>
            </p:cNvSpPr>
            <p:nvPr/>
          </p:nvSpPr>
          <p:spPr bwMode="auto">
            <a:xfrm>
              <a:off x="3707904" y="3168008"/>
              <a:ext cx="1584176" cy="360933"/>
            </a:xfrm>
            <a:prstGeom prst="rect">
              <a:avLst/>
            </a:prstGeom>
            <a:solidFill>
              <a:srgbClr val="CCCCFF"/>
            </a:solidFill>
            <a:ln w="12700">
              <a:noFill/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Rectangle 274"/>
            <p:cNvSpPr>
              <a:spLocks noChangeArrowheads="1"/>
            </p:cNvSpPr>
            <p:nvPr/>
          </p:nvSpPr>
          <p:spPr bwMode="auto">
            <a:xfrm>
              <a:off x="2496058" y="3168633"/>
              <a:ext cx="1212714" cy="791909"/>
            </a:xfrm>
            <a:prstGeom prst="rect">
              <a:avLst/>
            </a:prstGeom>
            <a:solidFill>
              <a:srgbClr val="CCCCFF"/>
            </a:solidFill>
            <a:ln w="12700">
              <a:noFill/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Rectangle 274"/>
            <p:cNvSpPr>
              <a:spLocks noChangeArrowheads="1"/>
            </p:cNvSpPr>
            <p:nvPr/>
          </p:nvSpPr>
          <p:spPr bwMode="auto">
            <a:xfrm>
              <a:off x="3851920" y="4248128"/>
              <a:ext cx="2337172" cy="1223751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Rectangle 274"/>
            <p:cNvSpPr>
              <a:spLocks noChangeArrowheads="1"/>
            </p:cNvSpPr>
            <p:nvPr/>
          </p:nvSpPr>
          <p:spPr bwMode="auto">
            <a:xfrm>
              <a:off x="2480828" y="4249033"/>
              <a:ext cx="1155068" cy="1006859"/>
            </a:xfrm>
            <a:prstGeom prst="rect">
              <a:avLst/>
            </a:prstGeom>
            <a:solidFill>
              <a:srgbClr val="CCECFF">
                <a:alpha val="80000"/>
              </a:srgbClr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Text Box 227"/>
            <p:cNvSpPr txBox="1">
              <a:spLocks noChangeArrowheads="1"/>
            </p:cNvSpPr>
            <p:nvPr/>
          </p:nvSpPr>
          <p:spPr bwMode="auto">
            <a:xfrm>
              <a:off x="6371680" y="4032104"/>
              <a:ext cx="288552" cy="1082005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中断机构</a:t>
              </a:r>
            </a:p>
          </p:txBody>
        </p:sp>
        <p:sp>
          <p:nvSpPr>
            <p:cNvPr id="24" name="Text Box 254"/>
            <p:cNvSpPr txBox="1">
              <a:spLocks noChangeArrowheads="1"/>
            </p:cNvSpPr>
            <p:nvPr/>
          </p:nvSpPr>
          <p:spPr bwMode="auto">
            <a:xfrm>
              <a:off x="2627784" y="4320136"/>
              <a:ext cx="866576" cy="288925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PC</a:t>
              </a:r>
            </a:p>
          </p:txBody>
        </p:sp>
        <p:sp>
          <p:nvSpPr>
            <p:cNvPr id="25" name="Text Box 255"/>
            <p:cNvSpPr txBox="1">
              <a:spLocks noChangeArrowheads="1"/>
            </p:cNvSpPr>
            <p:nvPr/>
          </p:nvSpPr>
          <p:spPr bwMode="auto">
            <a:xfrm>
              <a:off x="2629370" y="4896895"/>
              <a:ext cx="864989" cy="28733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IR</a:t>
              </a:r>
            </a:p>
          </p:txBody>
        </p:sp>
        <p:sp>
          <p:nvSpPr>
            <p:cNvPr id="26" name="Text Box 256"/>
            <p:cNvSpPr txBox="1">
              <a:spLocks noChangeArrowheads="1"/>
            </p:cNvSpPr>
            <p:nvPr/>
          </p:nvSpPr>
          <p:spPr bwMode="auto">
            <a:xfrm>
              <a:off x="4100116" y="4825383"/>
              <a:ext cx="286519" cy="43239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ID</a:t>
              </a:r>
            </a:p>
          </p:txBody>
        </p:sp>
        <p:sp>
          <p:nvSpPr>
            <p:cNvPr id="27" name="Text Box 257"/>
            <p:cNvSpPr txBox="1">
              <a:spLocks noChangeArrowheads="1"/>
            </p:cNvSpPr>
            <p:nvPr/>
          </p:nvSpPr>
          <p:spPr bwMode="auto">
            <a:xfrm>
              <a:off x="4100116" y="4320136"/>
              <a:ext cx="1944440" cy="28892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时序信号形成电路</a:t>
              </a:r>
            </a:p>
          </p:txBody>
        </p:sp>
        <p:sp>
          <p:nvSpPr>
            <p:cNvPr id="28" name="Text Box 258"/>
            <p:cNvSpPr txBox="1">
              <a:spLocks noChangeArrowheads="1"/>
            </p:cNvSpPr>
            <p:nvPr/>
          </p:nvSpPr>
          <p:spPr bwMode="auto">
            <a:xfrm>
              <a:off x="4676180" y="4826772"/>
              <a:ext cx="1368896" cy="57467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dirty="0" err="1">
                  <a:latin typeface="+mn-lt"/>
                </a:rPr>
                <a:t>μ</a:t>
              </a:r>
              <a:r>
                <a:rPr lang="en-US" altLang="zh-CN" sz="1800" b="1" dirty="0" err="1">
                  <a:latin typeface="宋体" panose="02010600030101010101" pitchFamily="2" charset="-122"/>
                </a:rPr>
                <a:t>OP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控制信号形成电路</a:t>
              </a:r>
            </a:p>
          </p:txBody>
        </p:sp>
        <p:sp>
          <p:nvSpPr>
            <p:cNvPr id="29" name="Text Box 271"/>
            <p:cNvSpPr txBox="1">
              <a:spLocks noChangeArrowheads="1"/>
            </p:cNvSpPr>
            <p:nvPr/>
          </p:nvSpPr>
          <p:spPr bwMode="auto">
            <a:xfrm>
              <a:off x="5108973" y="5438455"/>
              <a:ext cx="576064" cy="14463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dirty="0">
                  <a:solidFill>
                    <a:srgbClr val="FF3399"/>
                  </a:solidFill>
                </a:rPr>
                <a:t>……</a:t>
              </a:r>
            </a:p>
          </p:txBody>
        </p:sp>
        <p:sp>
          <p:nvSpPr>
            <p:cNvPr id="30" name="Rectangle 274"/>
            <p:cNvSpPr>
              <a:spLocks noChangeArrowheads="1"/>
            </p:cNvSpPr>
            <p:nvPr/>
          </p:nvSpPr>
          <p:spPr bwMode="auto">
            <a:xfrm>
              <a:off x="251520" y="3168802"/>
              <a:ext cx="1368152" cy="2087437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Text Box 291"/>
            <p:cNvSpPr txBox="1">
              <a:spLocks noChangeArrowheads="1"/>
            </p:cNvSpPr>
            <p:nvPr/>
          </p:nvSpPr>
          <p:spPr bwMode="auto">
            <a:xfrm>
              <a:off x="2629370" y="3240016"/>
              <a:ext cx="864989" cy="288925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MDR</a:t>
              </a:r>
            </a:p>
          </p:txBody>
        </p:sp>
        <p:sp>
          <p:nvSpPr>
            <p:cNvPr id="32" name="Text Box 292"/>
            <p:cNvSpPr txBox="1">
              <a:spLocks noChangeArrowheads="1"/>
            </p:cNvSpPr>
            <p:nvPr/>
          </p:nvSpPr>
          <p:spPr bwMode="auto">
            <a:xfrm>
              <a:off x="2629370" y="3600056"/>
              <a:ext cx="864989" cy="288925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MAR</a:t>
              </a:r>
            </a:p>
          </p:txBody>
        </p:sp>
        <p:sp>
          <p:nvSpPr>
            <p:cNvPr id="33" name="Text Box 293"/>
            <p:cNvSpPr txBox="1">
              <a:spLocks noChangeArrowheads="1"/>
            </p:cNvSpPr>
            <p:nvPr/>
          </p:nvSpPr>
          <p:spPr bwMode="auto">
            <a:xfrm>
              <a:off x="5973069" y="3239892"/>
              <a:ext cx="687164" cy="57626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总线逻辑</a:t>
              </a:r>
            </a:p>
          </p:txBody>
        </p:sp>
        <p:sp>
          <p:nvSpPr>
            <p:cNvPr id="34" name="Rectangle 299"/>
            <p:cNvSpPr>
              <a:spLocks noChangeArrowheads="1"/>
            </p:cNvSpPr>
            <p:nvPr/>
          </p:nvSpPr>
          <p:spPr bwMode="auto">
            <a:xfrm>
              <a:off x="107504" y="3096000"/>
              <a:ext cx="6552728" cy="2520379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Text Box 333"/>
            <p:cNvSpPr txBox="1">
              <a:spLocks noChangeArrowheads="1"/>
            </p:cNvSpPr>
            <p:nvPr/>
          </p:nvSpPr>
          <p:spPr bwMode="auto">
            <a:xfrm>
              <a:off x="1906861" y="3168802"/>
              <a:ext cx="288875" cy="2016622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数据通路结构</a:t>
              </a:r>
            </a:p>
          </p:txBody>
        </p:sp>
        <p:sp>
          <p:nvSpPr>
            <p:cNvPr id="36" name="Text Box 391"/>
            <p:cNvSpPr txBox="1">
              <a:spLocks noChangeArrowheads="1"/>
            </p:cNvSpPr>
            <p:nvPr/>
          </p:nvSpPr>
          <p:spPr bwMode="auto">
            <a:xfrm>
              <a:off x="5364907" y="3456040"/>
              <a:ext cx="503237" cy="25247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BIU</a:t>
              </a:r>
            </a:p>
          </p:txBody>
        </p:sp>
        <p:sp>
          <p:nvSpPr>
            <p:cNvPr id="37" name="Text Box 392"/>
            <p:cNvSpPr txBox="1">
              <a:spLocks noChangeArrowheads="1"/>
            </p:cNvSpPr>
            <p:nvPr/>
          </p:nvSpPr>
          <p:spPr bwMode="auto">
            <a:xfrm>
              <a:off x="3851920" y="4608864"/>
              <a:ext cx="288032" cy="209352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CU</a:t>
              </a:r>
            </a:p>
          </p:txBody>
        </p:sp>
        <p:cxnSp>
          <p:nvCxnSpPr>
            <p:cNvPr id="38" name="直接箭头连接符 37"/>
            <p:cNvCxnSpPr/>
            <p:nvPr/>
          </p:nvCxnSpPr>
          <p:spPr bwMode="auto">
            <a:xfrm>
              <a:off x="6660232" y="3384478"/>
              <a:ext cx="576000" cy="0"/>
            </a:xfrm>
            <a:prstGeom prst="straightConnector1">
              <a:avLst/>
            </a:prstGeom>
            <a:solidFill>
              <a:schemeClr val="accent1"/>
            </a:solidFill>
            <a:ln w="28575" cap="flat" cmpd="dbl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  <p:cxnSp>
          <p:nvCxnSpPr>
            <p:cNvPr id="39" name="直接箭头连接符 38"/>
            <p:cNvCxnSpPr/>
            <p:nvPr/>
          </p:nvCxnSpPr>
          <p:spPr bwMode="auto">
            <a:xfrm flipV="1">
              <a:off x="3491620" y="3454969"/>
              <a:ext cx="2481448" cy="1071"/>
            </a:xfrm>
            <a:prstGeom prst="straightConnector1">
              <a:avLst/>
            </a:prstGeom>
            <a:solidFill>
              <a:schemeClr val="accent1"/>
            </a:solidFill>
            <a:ln w="28575" cap="flat" cmpd="dbl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0" name="直接箭头连接符 39"/>
            <p:cNvCxnSpPr/>
            <p:nvPr/>
          </p:nvCxnSpPr>
          <p:spPr bwMode="auto">
            <a:xfrm flipH="1">
              <a:off x="3491620" y="3311329"/>
              <a:ext cx="2481448" cy="695"/>
            </a:xfrm>
            <a:prstGeom prst="straightConnector1">
              <a:avLst/>
            </a:prstGeom>
            <a:solidFill>
              <a:schemeClr val="accent1"/>
            </a:solidFill>
            <a:ln w="28575" cap="flat" cmpd="dbl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1" name="直接箭头连接符 40"/>
            <p:cNvCxnSpPr/>
            <p:nvPr/>
          </p:nvCxnSpPr>
          <p:spPr bwMode="auto">
            <a:xfrm>
              <a:off x="2195736" y="3311329"/>
              <a:ext cx="431155" cy="695"/>
            </a:xfrm>
            <a:prstGeom prst="straightConnector1">
              <a:avLst/>
            </a:prstGeom>
            <a:solidFill>
              <a:schemeClr val="accent1"/>
            </a:solidFill>
            <a:ln w="28575" cap="flat" cmpd="dbl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2" name="直接箭头连接符 41"/>
            <p:cNvCxnSpPr/>
            <p:nvPr/>
          </p:nvCxnSpPr>
          <p:spPr bwMode="auto">
            <a:xfrm flipH="1" flipV="1">
              <a:off x="2195736" y="3455793"/>
              <a:ext cx="429568" cy="1"/>
            </a:xfrm>
            <a:prstGeom prst="straightConnector1">
              <a:avLst/>
            </a:prstGeom>
            <a:solidFill>
              <a:schemeClr val="accent1"/>
            </a:solidFill>
            <a:ln w="28575" cap="flat" cmpd="dbl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3" name="直接箭头连接符 42"/>
            <p:cNvCxnSpPr/>
            <p:nvPr/>
          </p:nvCxnSpPr>
          <p:spPr bwMode="auto">
            <a:xfrm>
              <a:off x="2195736" y="3815261"/>
              <a:ext cx="431155" cy="819"/>
            </a:xfrm>
            <a:prstGeom prst="straightConnector1">
              <a:avLst/>
            </a:prstGeom>
            <a:solidFill>
              <a:schemeClr val="accent1"/>
            </a:solidFill>
            <a:ln w="28575" cap="flat" cmpd="dbl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44" name="Text Box 292"/>
            <p:cNvSpPr txBox="1">
              <a:spLocks noChangeArrowheads="1"/>
            </p:cNvSpPr>
            <p:nvPr/>
          </p:nvSpPr>
          <p:spPr bwMode="auto">
            <a:xfrm>
              <a:off x="4139952" y="3600056"/>
              <a:ext cx="792324" cy="288925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MMU</a:t>
              </a:r>
            </a:p>
          </p:txBody>
        </p:sp>
        <p:cxnSp>
          <p:nvCxnSpPr>
            <p:cNvPr id="45" name="直接箭头连接符 44"/>
            <p:cNvCxnSpPr/>
            <p:nvPr/>
          </p:nvCxnSpPr>
          <p:spPr bwMode="auto">
            <a:xfrm>
              <a:off x="2195736" y="4393335"/>
              <a:ext cx="431155" cy="695"/>
            </a:xfrm>
            <a:prstGeom prst="straightConnector1">
              <a:avLst/>
            </a:prstGeom>
            <a:solidFill>
              <a:schemeClr val="accent1"/>
            </a:solidFill>
            <a:ln w="28575" cap="flat" cmpd="dbl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6" name="直接箭头连接符 45"/>
            <p:cNvCxnSpPr/>
            <p:nvPr/>
          </p:nvCxnSpPr>
          <p:spPr bwMode="auto">
            <a:xfrm flipH="1" flipV="1">
              <a:off x="2195736" y="4537799"/>
              <a:ext cx="429568" cy="1"/>
            </a:xfrm>
            <a:prstGeom prst="straightConnector1">
              <a:avLst/>
            </a:prstGeom>
            <a:solidFill>
              <a:schemeClr val="accent1"/>
            </a:solidFill>
            <a:ln w="28575" cap="flat" cmpd="dbl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7" name="直接箭头连接符 46"/>
            <p:cNvCxnSpPr/>
            <p:nvPr/>
          </p:nvCxnSpPr>
          <p:spPr bwMode="auto">
            <a:xfrm flipV="1">
              <a:off x="2195736" y="5041010"/>
              <a:ext cx="431155" cy="570"/>
            </a:xfrm>
            <a:prstGeom prst="straightConnector1">
              <a:avLst/>
            </a:prstGeom>
            <a:solidFill>
              <a:schemeClr val="accent1"/>
            </a:solidFill>
            <a:ln w="28575" cap="flat" cmpd="dbl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8" name="直接箭头连接符 47"/>
            <p:cNvCxnSpPr/>
            <p:nvPr/>
          </p:nvCxnSpPr>
          <p:spPr bwMode="auto">
            <a:xfrm>
              <a:off x="1476549" y="3312024"/>
              <a:ext cx="431155" cy="695"/>
            </a:xfrm>
            <a:prstGeom prst="straightConnector1">
              <a:avLst/>
            </a:prstGeom>
            <a:solidFill>
              <a:schemeClr val="accent1"/>
            </a:solidFill>
            <a:ln w="28575" cap="flat" cmpd="dbl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9" name="直接箭头连接符 48"/>
            <p:cNvCxnSpPr/>
            <p:nvPr/>
          </p:nvCxnSpPr>
          <p:spPr bwMode="auto">
            <a:xfrm flipH="1" flipV="1">
              <a:off x="1476549" y="3672063"/>
              <a:ext cx="429568" cy="1"/>
            </a:xfrm>
            <a:prstGeom prst="straightConnector1">
              <a:avLst/>
            </a:prstGeom>
            <a:solidFill>
              <a:schemeClr val="accent1"/>
            </a:solidFill>
            <a:ln w="28575" cap="flat" cmpd="dbl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0" name="直接箭头连接符 49"/>
            <p:cNvCxnSpPr/>
            <p:nvPr/>
          </p:nvCxnSpPr>
          <p:spPr bwMode="auto">
            <a:xfrm>
              <a:off x="1476549" y="3455345"/>
              <a:ext cx="431155" cy="695"/>
            </a:xfrm>
            <a:prstGeom prst="straightConnector1">
              <a:avLst/>
            </a:prstGeom>
            <a:solidFill>
              <a:schemeClr val="accent1"/>
            </a:solidFill>
            <a:ln w="28575" cap="flat" cmpd="dbl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1" name="AutoShape 189"/>
            <p:cNvSpPr>
              <a:spLocks noChangeArrowheads="1"/>
            </p:cNvSpPr>
            <p:nvPr/>
          </p:nvSpPr>
          <p:spPr bwMode="auto">
            <a:xfrm>
              <a:off x="395536" y="4249033"/>
              <a:ext cx="1077368" cy="359135"/>
            </a:xfrm>
            <a:custGeom>
              <a:avLst/>
              <a:gdLst>
                <a:gd name="G0" fmla="+- 4060 0 0"/>
                <a:gd name="G1" fmla="+- 21600 0 4060"/>
                <a:gd name="G2" fmla="*/ 4060 1 2"/>
                <a:gd name="G3" fmla="+- 21600 0 G2"/>
                <a:gd name="G4" fmla="+/ 4060 21600 2"/>
                <a:gd name="G5" fmla="+/ G1 0 2"/>
                <a:gd name="G6" fmla="*/ 21600 21600 4060"/>
                <a:gd name="G7" fmla="*/ G6 1 2"/>
                <a:gd name="G8" fmla="+- 21600 0 G7"/>
                <a:gd name="G9" fmla="*/ 21600 1 2"/>
                <a:gd name="G10" fmla="+- 4060 0 G9"/>
                <a:gd name="G11" fmla="?: G10 G8 0"/>
                <a:gd name="G12" fmla="?: G10 G7 21600"/>
                <a:gd name="T0" fmla="*/ 19570 w 21600"/>
                <a:gd name="T1" fmla="*/ 10800 h 21600"/>
                <a:gd name="T2" fmla="*/ 10800 w 21600"/>
                <a:gd name="T3" fmla="*/ 21600 h 21600"/>
                <a:gd name="T4" fmla="*/ 2030 w 21600"/>
                <a:gd name="T5" fmla="*/ 10800 h 21600"/>
                <a:gd name="T6" fmla="*/ 10800 w 21600"/>
                <a:gd name="T7" fmla="*/ 0 h 21600"/>
                <a:gd name="T8" fmla="*/ 3830 w 21600"/>
                <a:gd name="T9" fmla="*/ 3830 h 21600"/>
                <a:gd name="T10" fmla="*/ 17770 w 21600"/>
                <a:gd name="T11" fmla="*/ 1777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4060" y="21600"/>
                  </a:lnTo>
                  <a:lnTo>
                    <a:pt x="1754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36000" tIns="18000" rIns="36000" bIns="180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2000" b="1" dirty="0">
                  <a:latin typeface="+mn-ea"/>
                  <a:ea typeface="+mn-ea"/>
                </a:rPr>
                <a:t>ALU</a:t>
              </a:r>
              <a:endParaRPr lang="zh-CN" altLang="en-US" sz="2000" b="1" dirty="0">
                <a:latin typeface="+mn-ea"/>
                <a:ea typeface="+mn-ea"/>
              </a:endParaRPr>
            </a:p>
          </p:txBody>
        </p:sp>
        <p:cxnSp>
          <p:nvCxnSpPr>
            <p:cNvPr id="52" name="直接箭头连接符 97"/>
            <p:cNvCxnSpPr/>
            <p:nvPr/>
          </p:nvCxnSpPr>
          <p:spPr bwMode="auto">
            <a:xfrm rot="10800000" flipV="1">
              <a:off x="611560" y="3958902"/>
              <a:ext cx="1290913" cy="289225"/>
            </a:xfrm>
            <a:prstGeom prst="bentConnector3">
              <a:avLst>
                <a:gd name="adj1" fmla="val 100000"/>
              </a:avLst>
            </a:prstGeom>
            <a:solidFill>
              <a:schemeClr val="accent1"/>
            </a:solidFill>
            <a:ln w="28575" cap="flat" cmpd="dbl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3" name="直接箭头连接符 98"/>
            <p:cNvCxnSpPr/>
            <p:nvPr/>
          </p:nvCxnSpPr>
          <p:spPr bwMode="auto">
            <a:xfrm rot="10800000" flipV="1">
              <a:off x="1257016" y="4103417"/>
              <a:ext cx="650689" cy="144710"/>
            </a:xfrm>
            <a:prstGeom prst="bentConnector3">
              <a:avLst>
                <a:gd name="adj1" fmla="val 99598"/>
              </a:avLst>
            </a:prstGeom>
            <a:solidFill>
              <a:schemeClr val="accent1"/>
            </a:solidFill>
            <a:ln w="28575" cap="flat" cmpd="dbl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4" name="直接箭头连接符 98"/>
            <p:cNvCxnSpPr/>
            <p:nvPr/>
          </p:nvCxnSpPr>
          <p:spPr bwMode="auto">
            <a:xfrm>
              <a:off x="934220" y="4607921"/>
              <a:ext cx="968252" cy="144263"/>
            </a:xfrm>
            <a:prstGeom prst="bentConnector3">
              <a:avLst>
                <a:gd name="adj1" fmla="val -460"/>
              </a:avLst>
            </a:prstGeom>
            <a:solidFill>
              <a:schemeClr val="accent1"/>
            </a:solidFill>
            <a:ln w="28575" cap="flat" cmpd="dbl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5" name="直接箭头连接符 54"/>
            <p:cNvCxnSpPr/>
            <p:nvPr/>
          </p:nvCxnSpPr>
          <p:spPr bwMode="auto">
            <a:xfrm flipH="1">
              <a:off x="1475657" y="5111530"/>
              <a:ext cx="426815" cy="1"/>
            </a:xfrm>
            <a:prstGeom prst="straightConnector1">
              <a:avLst/>
            </a:prstGeom>
            <a:solidFill>
              <a:schemeClr val="accent1"/>
            </a:solidFill>
            <a:ln w="28575" cap="flat" cmpd="dbl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6" name="直接箭头连接符 55"/>
            <p:cNvCxnSpPr/>
            <p:nvPr/>
          </p:nvCxnSpPr>
          <p:spPr bwMode="auto">
            <a:xfrm>
              <a:off x="1476549" y="4968208"/>
              <a:ext cx="430262" cy="0"/>
            </a:xfrm>
            <a:prstGeom prst="straightConnector1">
              <a:avLst/>
            </a:prstGeom>
            <a:solidFill>
              <a:schemeClr val="accent1"/>
            </a:solidFill>
            <a:ln w="28575" cap="flat" cmpd="dbl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7" name="直接箭头连接符 56"/>
            <p:cNvCxnSpPr/>
            <p:nvPr/>
          </p:nvCxnSpPr>
          <p:spPr bwMode="auto">
            <a:xfrm>
              <a:off x="4386635" y="4888525"/>
              <a:ext cx="289545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8" name="直接箭头连接符 57"/>
            <p:cNvCxnSpPr/>
            <p:nvPr/>
          </p:nvCxnSpPr>
          <p:spPr bwMode="auto">
            <a:xfrm>
              <a:off x="4388148" y="5185423"/>
              <a:ext cx="289545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9" name="Text Box 271"/>
            <p:cNvSpPr txBox="1">
              <a:spLocks noChangeArrowheads="1"/>
            </p:cNvSpPr>
            <p:nvPr/>
          </p:nvSpPr>
          <p:spPr bwMode="auto">
            <a:xfrm rot="16200000">
              <a:off x="4312085" y="4964587"/>
              <a:ext cx="296898" cy="144772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dirty="0"/>
                <a:t>…</a:t>
              </a:r>
            </a:p>
          </p:txBody>
        </p:sp>
        <p:cxnSp>
          <p:nvCxnSpPr>
            <p:cNvPr id="60" name="直接箭头连接符 117"/>
            <p:cNvCxnSpPr>
              <a:stCxn id="88" idx="2"/>
            </p:cNvCxnSpPr>
            <p:nvPr/>
          </p:nvCxnSpPr>
          <p:spPr bwMode="auto">
            <a:xfrm rot="16200000" flipH="1">
              <a:off x="2716510" y="3367066"/>
              <a:ext cx="144710" cy="3777652"/>
            </a:xfrm>
            <a:prstGeom prst="bentConnector2">
              <a:avLst/>
            </a:prstGeom>
            <a:solidFill>
              <a:schemeClr val="accent1"/>
            </a:solidFill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1" name="直接箭头连接符 60"/>
            <p:cNvCxnSpPr/>
            <p:nvPr/>
          </p:nvCxnSpPr>
          <p:spPr bwMode="auto">
            <a:xfrm>
              <a:off x="5613028" y="4617916"/>
              <a:ext cx="0" cy="208856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2" name="直接箭头连接符 61"/>
            <p:cNvCxnSpPr/>
            <p:nvPr/>
          </p:nvCxnSpPr>
          <p:spPr bwMode="auto">
            <a:xfrm>
              <a:off x="5180980" y="4609359"/>
              <a:ext cx="0" cy="208856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63" name="Text Box 271"/>
            <p:cNvSpPr txBox="1">
              <a:spLocks noChangeArrowheads="1"/>
            </p:cNvSpPr>
            <p:nvPr/>
          </p:nvSpPr>
          <p:spPr bwMode="auto">
            <a:xfrm>
              <a:off x="5252988" y="4616213"/>
              <a:ext cx="296898" cy="144772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dirty="0"/>
                <a:t>…</a:t>
              </a:r>
            </a:p>
          </p:txBody>
        </p:sp>
        <p:cxnSp>
          <p:nvCxnSpPr>
            <p:cNvPr id="64" name="直接箭头连接符 63"/>
            <p:cNvCxnSpPr/>
            <p:nvPr/>
          </p:nvCxnSpPr>
          <p:spPr bwMode="auto">
            <a:xfrm flipH="1">
              <a:off x="6044556" y="5040216"/>
              <a:ext cx="327124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5" name="直接箭头连接符 64"/>
            <p:cNvCxnSpPr/>
            <p:nvPr/>
          </p:nvCxnSpPr>
          <p:spPr bwMode="auto">
            <a:xfrm>
              <a:off x="2195736" y="4176120"/>
              <a:ext cx="4175944" cy="993"/>
            </a:xfrm>
            <a:prstGeom prst="straightConnector1">
              <a:avLst/>
            </a:prstGeom>
            <a:solidFill>
              <a:schemeClr val="accent1"/>
            </a:solidFill>
            <a:ln w="28575" cap="flat" cmpd="dbl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6" name="直接箭头连接符 65"/>
            <p:cNvCxnSpPr/>
            <p:nvPr/>
          </p:nvCxnSpPr>
          <p:spPr bwMode="auto">
            <a:xfrm flipH="1">
              <a:off x="2195736" y="4104112"/>
              <a:ext cx="4175944" cy="0"/>
            </a:xfrm>
            <a:prstGeom prst="straightConnector1">
              <a:avLst/>
            </a:prstGeom>
            <a:solidFill>
              <a:schemeClr val="accent1"/>
            </a:solidFill>
            <a:ln w="28575" cap="flat" cmpd="dbl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7" name="直接箭头连接符 66"/>
            <p:cNvCxnSpPr/>
            <p:nvPr/>
          </p:nvCxnSpPr>
          <p:spPr bwMode="auto">
            <a:xfrm>
              <a:off x="3494360" y="5036972"/>
              <a:ext cx="605756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8" name="直接箭头连接符 67"/>
            <p:cNvCxnSpPr/>
            <p:nvPr/>
          </p:nvCxnSpPr>
          <p:spPr bwMode="auto">
            <a:xfrm flipH="1">
              <a:off x="5756722" y="5401447"/>
              <a:ext cx="322" cy="186255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9" name="直接箭头连接符 68"/>
            <p:cNvCxnSpPr/>
            <p:nvPr/>
          </p:nvCxnSpPr>
          <p:spPr bwMode="auto">
            <a:xfrm>
              <a:off x="5036964" y="5400256"/>
              <a:ext cx="0" cy="187446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70" name="Text Box 392"/>
            <p:cNvSpPr txBox="1">
              <a:spLocks noChangeArrowheads="1"/>
            </p:cNvSpPr>
            <p:nvPr/>
          </p:nvSpPr>
          <p:spPr bwMode="auto">
            <a:xfrm>
              <a:off x="2555776" y="4608167"/>
              <a:ext cx="1006526" cy="28035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指令部件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71" name="直接箭头连接符 70"/>
            <p:cNvCxnSpPr/>
            <p:nvPr/>
          </p:nvCxnSpPr>
          <p:spPr bwMode="auto">
            <a:xfrm>
              <a:off x="2493764" y="3168801"/>
              <a:ext cx="4166468" cy="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72" name="直接箭头连接符 71"/>
            <p:cNvCxnSpPr/>
            <p:nvPr/>
          </p:nvCxnSpPr>
          <p:spPr bwMode="auto">
            <a:xfrm>
              <a:off x="2493764" y="3168802"/>
              <a:ext cx="0" cy="791296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73" name="直接箭头连接符 72"/>
            <p:cNvCxnSpPr/>
            <p:nvPr/>
          </p:nvCxnSpPr>
          <p:spPr bwMode="auto">
            <a:xfrm>
              <a:off x="2493764" y="3960098"/>
              <a:ext cx="1215008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74" name="直接箭头连接符 73"/>
            <p:cNvCxnSpPr/>
            <p:nvPr/>
          </p:nvCxnSpPr>
          <p:spPr bwMode="auto">
            <a:xfrm flipH="1">
              <a:off x="3707904" y="3528048"/>
              <a:ext cx="868" cy="431652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75" name="直接箭头连接符 74"/>
            <p:cNvCxnSpPr/>
            <p:nvPr/>
          </p:nvCxnSpPr>
          <p:spPr bwMode="auto">
            <a:xfrm>
              <a:off x="3708772" y="3528023"/>
              <a:ext cx="1583308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76" name="直接箭头连接符 75"/>
            <p:cNvCxnSpPr/>
            <p:nvPr/>
          </p:nvCxnSpPr>
          <p:spPr bwMode="auto">
            <a:xfrm>
              <a:off x="5292080" y="3888981"/>
              <a:ext cx="1368152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77" name="直接箭头连接符 76"/>
            <p:cNvCxnSpPr/>
            <p:nvPr/>
          </p:nvCxnSpPr>
          <p:spPr bwMode="auto">
            <a:xfrm flipH="1">
              <a:off x="5291212" y="3528048"/>
              <a:ext cx="868" cy="360933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  <p:cxnSp>
          <p:nvCxnSpPr>
            <p:cNvPr id="78" name="直接箭头连接符 77"/>
            <p:cNvCxnSpPr>
              <a:endCxn id="44" idx="1"/>
            </p:cNvCxnSpPr>
            <p:nvPr/>
          </p:nvCxnSpPr>
          <p:spPr bwMode="auto">
            <a:xfrm>
              <a:off x="3491880" y="3744072"/>
              <a:ext cx="648072" cy="447"/>
            </a:xfrm>
            <a:prstGeom prst="straightConnector1">
              <a:avLst/>
            </a:prstGeom>
            <a:solidFill>
              <a:schemeClr val="accent1"/>
            </a:solidFill>
            <a:ln w="28575" cap="flat" cmpd="dbl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9" name="直接箭头连接符 78"/>
            <p:cNvCxnSpPr>
              <a:stCxn id="44" idx="3"/>
            </p:cNvCxnSpPr>
            <p:nvPr/>
          </p:nvCxnSpPr>
          <p:spPr bwMode="auto">
            <a:xfrm>
              <a:off x="4932276" y="3744519"/>
              <a:ext cx="1040792" cy="0"/>
            </a:xfrm>
            <a:prstGeom prst="straightConnector1">
              <a:avLst/>
            </a:prstGeom>
            <a:solidFill>
              <a:schemeClr val="accent1"/>
            </a:solidFill>
            <a:ln w="28575" cap="flat" cmpd="dbl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0" name="直接箭头连接符 173"/>
            <p:cNvCxnSpPr>
              <a:stCxn id="44" idx="2"/>
              <a:endCxn id="23" idx="0"/>
            </p:cNvCxnSpPr>
            <p:nvPr/>
          </p:nvCxnSpPr>
          <p:spPr bwMode="auto">
            <a:xfrm rot="16200000" flipH="1">
              <a:off x="5454474" y="2970621"/>
              <a:ext cx="143123" cy="1979842"/>
            </a:xfrm>
            <a:prstGeom prst="bentConnector3">
              <a:avLst>
                <a:gd name="adj1" fmla="val 33361"/>
              </a:avLst>
            </a:prstGeom>
            <a:solidFill>
              <a:schemeClr val="accent1"/>
            </a:solidFill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1" name="直接箭头连接符 80"/>
            <p:cNvCxnSpPr/>
            <p:nvPr/>
          </p:nvCxnSpPr>
          <p:spPr bwMode="auto">
            <a:xfrm flipH="1">
              <a:off x="6660232" y="4608168"/>
              <a:ext cx="43200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2" name="直接箭头连接符 81"/>
            <p:cNvCxnSpPr/>
            <p:nvPr/>
          </p:nvCxnSpPr>
          <p:spPr bwMode="auto">
            <a:xfrm>
              <a:off x="6660232" y="4896000"/>
              <a:ext cx="43200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3" name="直接箭头连接符 82"/>
            <p:cNvCxnSpPr/>
            <p:nvPr/>
          </p:nvCxnSpPr>
          <p:spPr bwMode="auto">
            <a:xfrm>
              <a:off x="6660232" y="3556626"/>
              <a:ext cx="57600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4" name="直接箭头连接符 83"/>
            <p:cNvCxnSpPr/>
            <p:nvPr/>
          </p:nvCxnSpPr>
          <p:spPr bwMode="auto">
            <a:xfrm>
              <a:off x="6663927" y="3744519"/>
              <a:ext cx="576000" cy="0"/>
            </a:xfrm>
            <a:prstGeom prst="straightConnector1">
              <a:avLst/>
            </a:prstGeom>
            <a:solidFill>
              <a:schemeClr val="accent1"/>
            </a:solidFill>
            <a:ln w="28575" cap="flat" cmpd="dbl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5" name="直接箭头连接符 84"/>
            <p:cNvCxnSpPr/>
            <p:nvPr/>
          </p:nvCxnSpPr>
          <p:spPr bwMode="auto">
            <a:xfrm>
              <a:off x="754336" y="4617916"/>
              <a:ext cx="1240" cy="278979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88" name="Text Box 276"/>
            <p:cNvSpPr txBox="1">
              <a:spLocks noChangeArrowheads="1"/>
            </p:cNvSpPr>
            <p:nvPr/>
          </p:nvSpPr>
          <p:spPr bwMode="auto">
            <a:xfrm>
              <a:off x="323528" y="4896200"/>
              <a:ext cx="1153021" cy="28733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spc="-100" dirty="0">
                  <a:latin typeface="宋体" panose="02010600030101010101" pitchFamily="2" charset="-122"/>
                </a:rPr>
                <a:t>状态寄存器</a:t>
              </a:r>
              <a:endParaRPr lang="en-US" altLang="zh-CN" sz="1800" b="1" spc="-100" dirty="0">
                <a:latin typeface="宋体" panose="02010600030101010101" pitchFamily="2" charset="-122"/>
              </a:endParaRPr>
            </a:p>
          </p:txBody>
        </p:sp>
        <p:sp>
          <p:nvSpPr>
            <p:cNvPr id="89" name="Text Box 314"/>
            <p:cNvSpPr txBox="1">
              <a:spLocks noChangeArrowheads="1"/>
            </p:cNvSpPr>
            <p:nvPr/>
          </p:nvSpPr>
          <p:spPr bwMode="auto">
            <a:xfrm>
              <a:off x="396156" y="3240016"/>
              <a:ext cx="1079500" cy="503113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寄存器组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16" name="Line 19"/>
            <p:cNvSpPr>
              <a:spLocks noChangeShapeType="1"/>
            </p:cNvSpPr>
            <p:nvPr/>
          </p:nvSpPr>
          <p:spPr bwMode="auto">
            <a:xfrm>
              <a:off x="7236295" y="3096001"/>
              <a:ext cx="1" cy="2520378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</a:ln>
          </p:spPr>
          <p:txBody>
            <a:bodyPr/>
            <a:lstStyle/>
            <a:p>
              <a:pPr algn="ctr"/>
              <a:endParaRPr lang="zh-CN" altLang="en-US"/>
            </a:p>
          </p:txBody>
        </p:sp>
        <p:cxnSp>
          <p:nvCxnSpPr>
            <p:cNvPr id="121" name="直接箭头连接符 120"/>
            <p:cNvCxnSpPr/>
            <p:nvPr/>
          </p:nvCxnSpPr>
          <p:spPr bwMode="auto">
            <a:xfrm flipH="1" flipV="1">
              <a:off x="6663928" y="3600155"/>
              <a:ext cx="576000" cy="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24" name="Text Box 9"/>
            <p:cNvSpPr txBox="1">
              <a:spLocks noChangeArrowheads="1"/>
            </p:cNvSpPr>
            <p:nvPr/>
          </p:nvSpPr>
          <p:spPr bwMode="auto">
            <a:xfrm>
              <a:off x="7740352" y="3528248"/>
              <a:ext cx="792237" cy="288155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2000" b="1" dirty="0">
                  <a:latin typeface="宋体" panose="02010600030101010101" pitchFamily="2" charset="-122"/>
                </a:rPr>
                <a:t>主存</a:t>
              </a:r>
            </a:p>
          </p:txBody>
        </p:sp>
        <p:sp>
          <p:nvSpPr>
            <p:cNvPr id="125" name="Text Box 136"/>
            <p:cNvSpPr txBox="1">
              <a:spLocks noChangeArrowheads="1"/>
            </p:cNvSpPr>
            <p:nvPr/>
          </p:nvSpPr>
          <p:spPr bwMode="auto">
            <a:xfrm>
              <a:off x="7524328" y="3106468"/>
              <a:ext cx="1224136" cy="28279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主存控制器</a:t>
              </a:r>
            </a:p>
          </p:txBody>
        </p:sp>
        <p:sp>
          <p:nvSpPr>
            <p:cNvPr id="126" name="Line 19"/>
            <p:cNvSpPr>
              <a:spLocks noChangeShapeType="1"/>
            </p:cNvSpPr>
            <p:nvPr/>
          </p:nvSpPr>
          <p:spPr bwMode="auto">
            <a:xfrm>
              <a:off x="7236295" y="3240115"/>
              <a:ext cx="288033" cy="1389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</a:ln>
          </p:spPr>
          <p:txBody>
            <a:bodyPr/>
            <a:lstStyle/>
            <a:p>
              <a:pPr algn="ctr"/>
              <a:endParaRPr lang="zh-CN" altLang="en-US"/>
            </a:p>
          </p:txBody>
        </p:sp>
        <p:sp>
          <p:nvSpPr>
            <p:cNvPr id="127" name="Line 19"/>
            <p:cNvSpPr>
              <a:spLocks noChangeShapeType="1"/>
            </p:cNvSpPr>
            <p:nvPr/>
          </p:nvSpPr>
          <p:spPr bwMode="auto">
            <a:xfrm>
              <a:off x="8136906" y="3384131"/>
              <a:ext cx="0" cy="144091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</a:ln>
          </p:spPr>
          <p:txBody>
            <a:bodyPr/>
            <a:lstStyle/>
            <a:p>
              <a:pPr algn="ctr"/>
              <a:endParaRPr lang="zh-CN" altLang="en-US"/>
            </a:p>
          </p:txBody>
        </p:sp>
        <p:sp>
          <p:nvSpPr>
            <p:cNvPr id="128" name="Text Box 10"/>
            <p:cNvSpPr txBox="1">
              <a:spLocks noChangeArrowheads="1"/>
            </p:cNvSpPr>
            <p:nvPr/>
          </p:nvSpPr>
          <p:spPr bwMode="auto">
            <a:xfrm>
              <a:off x="7524328" y="3961138"/>
              <a:ext cx="1152525" cy="28733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I/O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接口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129" name="Text Box 16"/>
            <p:cNvSpPr txBox="1">
              <a:spLocks noChangeArrowheads="1"/>
            </p:cNvSpPr>
            <p:nvPr/>
          </p:nvSpPr>
          <p:spPr bwMode="auto">
            <a:xfrm>
              <a:off x="7524328" y="4394525"/>
              <a:ext cx="1152525" cy="28575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I/O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设备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130" name="Line 17"/>
            <p:cNvSpPr>
              <a:spLocks noChangeShapeType="1"/>
            </p:cNvSpPr>
            <p:nvPr/>
          </p:nvSpPr>
          <p:spPr bwMode="auto">
            <a:xfrm>
              <a:off x="8100590" y="4248475"/>
              <a:ext cx="0" cy="1444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</p:spPr>
          <p:txBody>
            <a:bodyPr/>
            <a:lstStyle/>
            <a:p>
              <a:pPr algn="ctr"/>
              <a:endParaRPr lang="zh-CN" altLang="en-US"/>
            </a:p>
          </p:txBody>
        </p:sp>
        <p:sp>
          <p:nvSpPr>
            <p:cNvPr id="131" name="Line 19"/>
            <p:cNvSpPr>
              <a:spLocks noChangeShapeType="1"/>
            </p:cNvSpPr>
            <p:nvPr/>
          </p:nvSpPr>
          <p:spPr bwMode="auto">
            <a:xfrm>
              <a:off x="7236296" y="4102822"/>
              <a:ext cx="288033" cy="1389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</a:ln>
          </p:spPr>
          <p:txBody>
            <a:bodyPr/>
            <a:lstStyle/>
            <a:p>
              <a:pPr algn="ctr"/>
              <a:endParaRPr lang="zh-CN" altLang="en-US"/>
            </a:p>
          </p:txBody>
        </p:sp>
        <p:sp>
          <p:nvSpPr>
            <p:cNvPr id="132" name="Text Box 10"/>
            <p:cNvSpPr txBox="1">
              <a:spLocks noChangeArrowheads="1"/>
            </p:cNvSpPr>
            <p:nvPr/>
          </p:nvSpPr>
          <p:spPr bwMode="auto">
            <a:xfrm>
              <a:off x="7524328" y="4897242"/>
              <a:ext cx="1152525" cy="28733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I/O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接口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n</a:t>
              </a:r>
            </a:p>
          </p:txBody>
        </p:sp>
        <p:sp>
          <p:nvSpPr>
            <p:cNvPr id="133" name="Text Box 16"/>
            <p:cNvSpPr txBox="1">
              <a:spLocks noChangeArrowheads="1"/>
            </p:cNvSpPr>
            <p:nvPr/>
          </p:nvSpPr>
          <p:spPr bwMode="auto">
            <a:xfrm>
              <a:off x="7524328" y="5330629"/>
              <a:ext cx="1152525" cy="28575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I/O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设备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n</a:t>
              </a:r>
            </a:p>
          </p:txBody>
        </p:sp>
        <p:sp>
          <p:nvSpPr>
            <p:cNvPr id="134" name="Line 17"/>
            <p:cNvSpPr>
              <a:spLocks noChangeShapeType="1"/>
            </p:cNvSpPr>
            <p:nvPr/>
          </p:nvSpPr>
          <p:spPr bwMode="auto">
            <a:xfrm>
              <a:off x="8100590" y="5184579"/>
              <a:ext cx="0" cy="1444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</p:spPr>
          <p:txBody>
            <a:bodyPr/>
            <a:lstStyle/>
            <a:p>
              <a:pPr algn="ctr"/>
              <a:endParaRPr lang="zh-CN" altLang="en-US"/>
            </a:p>
          </p:txBody>
        </p:sp>
        <p:sp>
          <p:nvSpPr>
            <p:cNvPr id="135" name="Line 19"/>
            <p:cNvSpPr>
              <a:spLocks noChangeShapeType="1"/>
            </p:cNvSpPr>
            <p:nvPr/>
          </p:nvSpPr>
          <p:spPr bwMode="auto">
            <a:xfrm>
              <a:off x="7236296" y="5038926"/>
              <a:ext cx="288033" cy="1389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</a:ln>
          </p:spPr>
          <p:txBody>
            <a:bodyPr/>
            <a:lstStyle/>
            <a:p>
              <a:pPr algn="ctr"/>
              <a:endParaRPr lang="zh-CN" altLang="en-US"/>
            </a:p>
          </p:txBody>
        </p:sp>
        <p:sp>
          <p:nvSpPr>
            <p:cNvPr id="136" name="Text Box 14"/>
            <p:cNvSpPr txBox="1">
              <a:spLocks noChangeArrowheads="1"/>
            </p:cNvSpPr>
            <p:nvPr/>
          </p:nvSpPr>
          <p:spPr bwMode="auto">
            <a:xfrm>
              <a:off x="7955483" y="4608267"/>
              <a:ext cx="288925" cy="218257"/>
            </a:xfrm>
            <a:prstGeom prst="rect">
              <a:avLst/>
            </a:prstGeom>
            <a:noFill/>
            <a:ln w="22225">
              <a:noFill/>
              <a:miter lim="800000"/>
            </a:ln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/>
                <a:t>…</a:t>
              </a:r>
            </a:p>
          </p:txBody>
        </p:sp>
      </p:grpSp>
      <p:sp>
        <p:nvSpPr>
          <p:cNvPr id="141" name="AutoShape 62">
            <a:hlinkClick r:id="rId4" action="ppaction://hlinksldjump"/>
          </p:cNvPr>
          <p:cNvSpPr>
            <a:spLocks noChangeArrowheads="1"/>
          </p:cNvSpPr>
          <p:nvPr/>
        </p:nvSpPr>
        <p:spPr bwMode="auto">
          <a:xfrm rot="16200000">
            <a:off x="4068292" y="6452988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12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1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t>18</a:t>
            </a:fld>
            <a:endParaRPr lang="en-US" altLang="zh-CN" dirty="0"/>
          </a:p>
        </p:txBody>
      </p:sp>
      <p:sp>
        <p:nvSpPr>
          <p:cNvPr id="3" name="Text Box 132"/>
          <p:cNvSpPr txBox="1">
            <a:spLocks noChangeArrowheads="1"/>
          </p:cNvSpPr>
          <p:nvPr/>
        </p:nvSpPr>
        <p:spPr bwMode="auto">
          <a:xfrm>
            <a:off x="179512" y="800752"/>
            <a:ext cx="8785225" cy="3960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</a:ln>
        </p:spPr>
        <p:txBody>
          <a:bodyPr>
            <a:noAutofit/>
          </a:bodyPr>
          <a:lstStyle/>
          <a:p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 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179512" y="332656"/>
            <a:ext cx="8812212" cy="4158382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二、数据通路的组织       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1.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数据通路的组成         </a:t>
            </a:r>
            <a:r>
              <a:rPr lang="zh-CN" altLang="en-US" sz="1800" b="1" dirty="0">
                <a:latin typeface="宋体" panose="02010600030101010101" pitchFamily="2" charset="-122"/>
              </a:rPr>
              <a:t>☆深入理解、熟练运用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spc="-30" dirty="0">
                <a:latin typeface="宋体" panose="02010600030101010101" pitchFamily="2" charset="-122"/>
              </a:rPr>
              <a:t>   通路组成</a:t>
            </a:r>
            <a:r>
              <a:rPr lang="en-US" altLang="zh-CN" sz="1800" b="1" spc="-30" dirty="0">
                <a:latin typeface="宋体" panose="02010600030101010101" pitchFamily="2" charset="-122"/>
              </a:rPr>
              <a:t>(</a:t>
            </a:r>
            <a:r>
              <a:rPr lang="zh-CN" altLang="en-US" sz="1800" b="1" spc="-30" dirty="0">
                <a:latin typeface="宋体" panose="02010600030101010101" pitchFamily="2" charset="-122"/>
              </a:rPr>
              <a:t>部件</a:t>
            </a:r>
            <a:r>
              <a:rPr lang="en-US" altLang="zh-CN" sz="1800" b="1" spc="-30" dirty="0">
                <a:latin typeface="宋体" panose="02010600030101010101" pitchFamily="2" charset="-122"/>
              </a:rPr>
              <a:t>+</a:t>
            </a:r>
            <a:r>
              <a:rPr lang="zh-CN" altLang="en-US" sz="1800" b="1" spc="-30" dirty="0">
                <a:latin typeface="宋体" panose="02010600030101010101" pitchFamily="2" charset="-122"/>
              </a:rPr>
              <a:t>互连</a:t>
            </a:r>
            <a:r>
              <a:rPr lang="en-US" altLang="zh-CN" sz="1800" b="1" spc="-30" dirty="0">
                <a:latin typeface="宋体" panose="02010600030101010101" pitchFamily="2" charset="-122"/>
              </a:rPr>
              <a:t>)</a:t>
            </a:r>
            <a:r>
              <a:rPr lang="zh-CN" altLang="en-US" sz="2200" b="1" spc="-30" dirty="0">
                <a:latin typeface="宋体" panose="02010600030101010101" pitchFamily="2" charset="-122"/>
              </a:rPr>
              <a:t>，</a:t>
            </a:r>
            <a:r>
              <a:rPr lang="zh-CN" altLang="en-US" sz="2200" b="1" dirty="0">
                <a:latin typeface="宋体" panose="02010600030101010101" pitchFamily="2" charset="-122"/>
              </a:rPr>
              <a:t>部件组成，部件互连</a:t>
            </a:r>
            <a:r>
              <a:rPr lang="en-US" altLang="zh-CN" sz="2200" b="1" dirty="0">
                <a:latin typeface="宋体" panose="02010600030101010101" pitchFamily="2" charset="-122"/>
              </a:rPr>
              <a:t>      </a:t>
            </a:r>
            <a:r>
              <a:rPr lang="en-US" altLang="zh-CN" sz="1800" b="1" dirty="0">
                <a:latin typeface="宋体" panose="02010600030101010101" pitchFamily="2" charset="-122"/>
              </a:rPr>
              <a:t>  </a:t>
            </a:r>
            <a:r>
              <a:rPr lang="zh-CN" altLang="en-US" sz="1800" b="1" spc="-30" dirty="0">
                <a:latin typeface="宋体" panose="02010600030101010101" pitchFamily="2" charset="-122"/>
                <a:sym typeface="+mn-ea"/>
              </a:rPr>
              <a:t>←电路的组成要求</a:t>
            </a:r>
            <a:endParaRPr lang="zh-CN" altLang="en-US" sz="1800" b="1" dirty="0">
              <a:latin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                    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取指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+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执行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[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～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ISA])  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结构需求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指令需求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latin typeface="宋体" panose="02010600030101010101" pitchFamily="2" charset="-122"/>
              </a:rPr>
              <a:t>   </a:t>
            </a:r>
            <a:r>
              <a:rPr lang="en-US" altLang="zh-CN" sz="2200" dirty="0" err="1"/>
              <a:t>μ</a:t>
            </a:r>
            <a:r>
              <a:rPr lang="en-US" altLang="zh-CN" sz="2200" b="1" dirty="0" err="1">
                <a:latin typeface="宋体" panose="02010600030101010101" pitchFamily="2" charset="-122"/>
              </a:rPr>
              <a:t>OP</a:t>
            </a:r>
            <a:r>
              <a:rPr lang="zh-CN" altLang="en-US" sz="2200" b="1" dirty="0">
                <a:latin typeface="宋体" panose="02010600030101010101" pitchFamily="2" charset="-122"/>
              </a:rPr>
              <a:t>及其控制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组成要求</a:t>
            </a:r>
            <a:r>
              <a:rPr lang="zh-CN" altLang="en-US" sz="1800" b="1" dirty="0">
                <a:latin typeface="宋体" panose="02010600030101010101" pitchFamily="2" charset="-122"/>
              </a:rPr>
              <a:t>、</a:t>
            </a:r>
            <a:r>
              <a:rPr lang="en-US" altLang="zh-CN" sz="1800" dirty="0" err="1"/>
              <a:t>μ</a:t>
            </a:r>
            <a:r>
              <a:rPr lang="en-US" altLang="zh-CN" sz="1800" b="1" dirty="0" err="1">
                <a:latin typeface="宋体" panose="02010600030101010101" pitchFamily="2" charset="-122"/>
              </a:rPr>
              <a:t>OPCmd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en-US" altLang="zh-CN" sz="2200" b="1" dirty="0">
                <a:latin typeface="宋体" panose="02010600030101010101" pitchFamily="2" charset="-122"/>
              </a:rPr>
              <a:t>                  </a:t>
            </a:r>
            <a:r>
              <a:rPr lang="zh-CN" altLang="en-US" sz="1800" b="1" spc="-30" dirty="0">
                <a:latin typeface="宋体" panose="02010600030101010101" pitchFamily="2" charset="-122"/>
                <a:sym typeface="+mn-ea"/>
              </a:rPr>
              <a:t>←操作的实现</a:t>
            </a:r>
            <a:endParaRPr lang="en-US" altLang="zh-CN" b="1" spc="-30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spc="-30" dirty="0">
                <a:latin typeface="宋体" panose="02010600030101010101" pitchFamily="2" charset="-122"/>
              </a:rPr>
              <a:t>   指令执行过程的</a:t>
            </a:r>
            <a:r>
              <a:rPr lang="zh-CN" altLang="en-US" sz="2200" b="1" u="sng" spc="-30" dirty="0">
                <a:latin typeface="宋体" panose="02010600030101010101" pitchFamily="2" charset="-122"/>
              </a:rPr>
              <a:t>组织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功能需求</a:t>
            </a:r>
            <a:r>
              <a:rPr lang="en-US" altLang="zh-CN" sz="1800" b="1" dirty="0">
                <a:latin typeface="宋体" panose="02010600030101010101" pitchFamily="2" charset="-122"/>
              </a:rPr>
              <a:t>+</a:t>
            </a:r>
            <a:r>
              <a:rPr lang="zh-CN" altLang="en-US" sz="1800" b="1" dirty="0">
                <a:latin typeface="宋体" panose="02010600030101010101" pitchFamily="2" charset="-122"/>
              </a:rPr>
              <a:t>通路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→</a:t>
            </a:r>
            <a:r>
              <a:rPr lang="en-US" altLang="zh-CN" sz="1800" dirty="0" err="1"/>
              <a:t>μ</a:t>
            </a:r>
            <a:r>
              <a:rPr lang="en-US" altLang="zh-CN" sz="1800" b="1" dirty="0" err="1">
                <a:latin typeface="宋体" panose="02010600030101010101" pitchFamily="2" charset="-122"/>
              </a:rPr>
              <a:t>OPCmd</a:t>
            </a:r>
            <a:r>
              <a:rPr lang="zh-CN" altLang="en-US" sz="1800" b="1" dirty="0">
                <a:latin typeface="宋体" panose="02010600030101010101" pitchFamily="2" charset="-122"/>
              </a:rPr>
              <a:t>序列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en-US" altLang="zh-CN" b="1" dirty="0">
                <a:latin typeface="宋体" panose="02010600030101010101" pitchFamily="2" charset="-122"/>
              </a:rPr>
              <a:t>    </a:t>
            </a:r>
            <a:r>
              <a:rPr lang="zh-CN" altLang="en-US" sz="1800" b="1" dirty="0">
                <a:latin typeface="宋体" panose="02010600030101010101" pitchFamily="2" charset="-122"/>
              </a:rPr>
              <a:t>←电路</a:t>
            </a:r>
            <a:r>
              <a:rPr lang="zh-CN" altLang="en-US" sz="1800" b="1" spc="-30" dirty="0">
                <a:latin typeface="宋体" panose="02010600030101010101" pitchFamily="2" charset="-122"/>
              </a:rPr>
              <a:t>的控制要求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latin typeface="宋体" panose="02010600030101010101" pitchFamily="2" charset="-122"/>
              </a:rPr>
              <a:t>     〖</a:t>
            </a:r>
            <a:r>
              <a:rPr lang="zh-CN" altLang="en-US" sz="2000" b="1" dirty="0">
                <a:latin typeface="宋体" panose="02010600030101010101" pitchFamily="2" charset="-122"/>
              </a:rPr>
              <a:t>例</a:t>
            </a:r>
            <a:r>
              <a:rPr lang="en-US" altLang="zh-CN" sz="2000" b="1" dirty="0">
                <a:latin typeface="宋体" panose="02010600030101010101" pitchFamily="2" charset="-122"/>
              </a:rPr>
              <a:t>〗</a:t>
            </a:r>
            <a:r>
              <a:rPr lang="zh-CN" altLang="en-US" sz="2000" b="1" dirty="0">
                <a:latin typeface="宋体" panose="02010600030101010101" pitchFamily="2" charset="-122"/>
              </a:rPr>
              <a:t>教材</a:t>
            </a:r>
            <a:r>
              <a:rPr lang="en-US" altLang="zh-CN" sz="2000" b="1" dirty="0">
                <a:latin typeface="宋体" panose="02010600030101010101" pitchFamily="2" charset="-122"/>
              </a:rPr>
              <a:t>P180</a:t>
            </a:r>
            <a:r>
              <a:rPr lang="zh-CN" altLang="en-US" sz="2000" b="1" dirty="0">
                <a:latin typeface="宋体" panose="02010600030101010101" pitchFamily="2" charset="-122"/>
              </a:rPr>
              <a:t>例</a:t>
            </a:r>
            <a:r>
              <a:rPr lang="en-US" altLang="zh-CN" sz="2000" b="1" dirty="0">
                <a:latin typeface="宋体" panose="02010600030101010101" pitchFamily="2" charset="-122"/>
              </a:rPr>
              <a:t>5.1</a:t>
            </a:r>
            <a:r>
              <a:rPr lang="zh-CN" altLang="en-US" sz="2000" b="1" dirty="0">
                <a:latin typeface="宋体" panose="02010600030101010101" pitchFamily="2" charset="-122"/>
              </a:rPr>
              <a:t>及例</a:t>
            </a:r>
            <a:r>
              <a:rPr lang="en-US" altLang="zh-CN" sz="2000" b="1" dirty="0">
                <a:latin typeface="宋体" panose="02010600030101010101" pitchFamily="2" charset="-122"/>
              </a:rPr>
              <a:t>5.2</a:t>
            </a:r>
            <a:r>
              <a:rPr lang="zh-CN" altLang="en-US" sz="2000" b="1" dirty="0">
                <a:latin typeface="宋体" panose="02010600030101010101" pitchFamily="2" charset="-122"/>
              </a:rPr>
              <a:t>，注意各种寻址方式的实现</a:t>
            </a:r>
            <a:r>
              <a:rPr lang="en-US" altLang="zh-CN" sz="2000" b="1" dirty="0">
                <a:latin typeface="宋体" panose="02010600030101010101" pitchFamily="2" charset="-122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2.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数据通路的设计         </a:t>
            </a:r>
            <a:r>
              <a:rPr lang="zh-CN" altLang="en-US" sz="1800" b="1" dirty="0">
                <a:latin typeface="宋体" panose="02010600030101010101" pitchFamily="2" charset="-122"/>
              </a:rPr>
              <a:t>△理解概念、了解设计流程</a:t>
            </a: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单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多周期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DP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特征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r>
              <a:rPr lang="en-US" altLang="zh-CN" sz="2200" b="1" dirty="0">
                <a:latin typeface="宋体" panose="02010600030101010101" pitchFamily="2" charset="-122"/>
              </a:rPr>
              <a:t>DP</a:t>
            </a:r>
            <a:r>
              <a:rPr lang="zh-CN" altLang="en-US" sz="2200" b="1" dirty="0">
                <a:latin typeface="宋体" panose="02010600030101010101" pitchFamily="2" charset="-122"/>
              </a:rPr>
              <a:t>设计方法，单</a:t>
            </a:r>
            <a:r>
              <a:rPr lang="en-US" altLang="zh-CN" sz="2200" b="1" dirty="0">
                <a:latin typeface="宋体" panose="02010600030101010101" pitchFamily="2" charset="-122"/>
              </a:rPr>
              <a:t>/</a:t>
            </a:r>
            <a:r>
              <a:rPr lang="zh-CN" altLang="en-US" sz="2200" b="1" dirty="0">
                <a:latin typeface="宋体" panose="02010600030101010101" pitchFamily="2" charset="-122"/>
              </a:rPr>
              <a:t>多周期</a:t>
            </a:r>
            <a:r>
              <a:rPr lang="en-US" altLang="zh-CN" sz="2200" b="1" dirty="0">
                <a:latin typeface="宋体" panose="02010600030101010101" pitchFamily="2" charset="-122"/>
              </a:rPr>
              <a:t>DP</a:t>
            </a:r>
            <a:r>
              <a:rPr lang="zh-CN" altLang="en-US" sz="2200" b="1" dirty="0">
                <a:latin typeface="宋体" panose="02010600030101010101" pitchFamily="2" charset="-122"/>
              </a:rPr>
              <a:t>的设计</a:t>
            </a:r>
            <a:r>
              <a:rPr lang="en-US" altLang="zh-CN" sz="1800" b="1" dirty="0">
                <a:latin typeface="宋体" panose="02010600030101010101" pitchFamily="2" charset="-122"/>
              </a:rPr>
              <a:t>(×)</a:t>
            </a: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     〖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例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〗PPT5-P33</a:t>
            </a:r>
            <a:r>
              <a:rPr lang="zh-CN" altLang="zh-CN" sz="2000" b="1" dirty="0">
                <a:latin typeface="宋体" panose="02010600030101010101" pitchFamily="2" charset="-122"/>
                <a:sym typeface="+mn-ea"/>
              </a:rPr>
              <a:t>的</a:t>
            </a:r>
            <a:r>
              <a:rPr lang="zh-CN" altLang="zh-CN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功能部件设计</a:t>
            </a:r>
            <a:r>
              <a:rPr lang="en-US" altLang="zh-CN" sz="2200" b="1" dirty="0">
                <a:latin typeface="宋体" panose="02010600030101010101" pitchFamily="2" charset="-122"/>
              </a:rPr>
              <a:t>  </a:t>
            </a:r>
          </a:p>
        </p:txBody>
      </p:sp>
      <p:sp>
        <p:nvSpPr>
          <p:cNvPr id="7" name="AutoShape 62">
            <a:hlinkClick r:id="rId2" action="ppaction://hlinkfile"/>
          </p:cNvPr>
          <p:cNvSpPr>
            <a:spLocks noChangeArrowheads="1"/>
          </p:cNvSpPr>
          <p:nvPr/>
        </p:nvSpPr>
        <p:spPr bwMode="auto">
          <a:xfrm>
            <a:off x="8172400" y="877984"/>
            <a:ext cx="593718" cy="270031"/>
          </a:xfrm>
          <a:prstGeom prst="homePlate">
            <a:avLst>
              <a:gd name="adj" fmla="val 25000"/>
            </a:avLst>
          </a:prstGeom>
          <a:noFill/>
          <a:ln w="19050">
            <a:solidFill>
              <a:schemeClr val="bg1">
                <a:lumMod val="75000"/>
              </a:schemeClr>
            </a:solidFill>
            <a:miter lim="800000"/>
          </a:ln>
          <a:effectLst/>
        </p:spPr>
        <p:txBody>
          <a:bodyPr vert="horz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5-48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3" name="AutoShape 50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8518" y="6453336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132"/>
          <p:cNvSpPr txBox="1">
            <a:spLocks noChangeArrowheads="1"/>
          </p:cNvSpPr>
          <p:nvPr/>
        </p:nvSpPr>
        <p:spPr bwMode="auto">
          <a:xfrm>
            <a:off x="179388" y="1988840"/>
            <a:ext cx="8785225" cy="3960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</a:ln>
        </p:spPr>
        <p:txBody>
          <a:bodyPr>
            <a:noAutofit/>
          </a:bodyPr>
          <a:lstStyle/>
          <a:p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 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179387" y="332656"/>
            <a:ext cx="8785225" cy="5767705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三、控制器的组成</a:t>
            </a:r>
            <a:endParaRPr lang="en-US" altLang="zh-CN" sz="2200" b="1" dirty="0">
              <a:solidFill>
                <a:srgbClr val="FF33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+mn-ea"/>
                <a:ea typeface="+mn-ea"/>
              </a:rPr>
              <a:t>1.</a:t>
            </a:r>
            <a:r>
              <a:rPr lang="zh-CN" altLang="en-US" sz="2200" b="1" dirty="0">
                <a:solidFill>
                  <a:srgbClr val="FF3399"/>
                </a:solidFill>
                <a:latin typeface="+mn-ea"/>
                <a:ea typeface="+mn-ea"/>
              </a:rPr>
              <a:t>控制器的基本结构       </a:t>
            </a:r>
            <a:r>
              <a:rPr lang="zh-CN" altLang="en-US" sz="1800" b="1" dirty="0">
                <a:latin typeface="+mn-ea"/>
                <a:ea typeface="+mn-ea"/>
              </a:rPr>
              <a:t>◇理解原理</a:t>
            </a:r>
            <a:endParaRPr lang="en-US" altLang="zh-CN" sz="22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1800" b="1" dirty="0">
                <a:latin typeface="宋体" panose="02010600030101010101" pitchFamily="2" charset="-122"/>
              </a:rPr>
              <a:t>    (</a:t>
            </a:r>
            <a:r>
              <a:rPr lang="zh-CN" altLang="en-US" sz="1800" b="1" dirty="0">
                <a:latin typeface="宋体" panose="02010600030101010101" pitchFamily="2" charset="-122"/>
              </a:rPr>
              <a:t>需求：实现</a:t>
            </a:r>
            <a:r>
              <a:rPr lang="en-US" altLang="zh-CN" sz="1800" b="1" dirty="0">
                <a:latin typeface="宋体" panose="02010600030101010101" pitchFamily="2" charset="-122"/>
              </a:rPr>
              <a:t>CPU</a:t>
            </a:r>
            <a:r>
              <a:rPr lang="zh-CN" altLang="en-US" sz="1800" b="1" dirty="0">
                <a:latin typeface="宋体" panose="02010600030101010101" pitchFamily="2" charset="-122"/>
              </a:rPr>
              <a:t>工作流程的状态转换图</a:t>
            </a:r>
            <a:r>
              <a:rPr lang="en-US" altLang="zh-CN" sz="1800" b="1" dirty="0">
                <a:latin typeface="宋体" panose="02010600030101010101" pitchFamily="2" charset="-122"/>
              </a:rPr>
              <a:t>[</a:t>
            </a:r>
            <a:r>
              <a:rPr lang="zh-CN" altLang="en-US" sz="1800" b="1" dirty="0">
                <a:latin typeface="宋体" panose="02010600030101010101" pitchFamily="2" charset="-122"/>
              </a:rPr>
              <a:t>指令周期</a:t>
            </a:r>
            <a:r>
              <a:rPr lang="en-US" altLang="zh-CN" sz="1800" b="1" dirty="0">
                <a:latin typeface="宋体" panose="02010600030101010101" pitchFamily="2" charset="-122"/>
              </a:rPr>
              <a:t>+</a:t>
            </a:r>
            <a:r>
              <a:rPr lang="zh-CN" altLang="en-US" sz="1800" b="1" dirty="0">
                <a:latin typeface="宋体" panose="02010600030101010101" pitchFamily="2" charset="-122"/>
              </a:rPr>
              <a:t>中断响应周期</a:t>
            </a:r>
            <a:r>
              <a:rPr lang="en-US" altLang="zh-CN" sz="1800" b="1" dirty="0">
                <a:latin typeface="宋体" panose="02010600030101010101" pitchFamily="2" charset="-122"/>
              </a:rPr>
              <a:t>])</a:t>
            </a: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latin typeface="宋体" panose="02010600030101010101" pitchFamily="2" charset="-122"/>
              </a:rPr>
              <a:t>组成</a:t>
            </a:r>
            <a:r>
              <a:rPr lang="en-US" altLang="zh-CN" sz="1800" b="1" dirty="0">
                <a:latin typeface="宋体" panose="02010600030101010101" pitchFamily="2" charset="-122"/>
              </a:rPr>
              <a:t>(3</a:t>
            </a:r>
            <a:r>
              <a:rPr lang="zh-CN" altLang="en-US" sz="1800" b="1" dirty="0">
                <a:latin typeface="宋体" panose="02010600030101010101" pitchFamily="2" charset="-122"/>
              </a:rPr>
              <a:t>个部件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，工作原理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循环有序产生</a:t>
            </a:r>
            <a:r>
              <a:rPr lang="en-US" altLang="zh-CN" sz="1800" dirty="0" err="1"/>
              <a:t>μ</a:t>
            </a:r>
            <a:r>
              <a:rPr lang="en-US" altLang="zh-CN" sz="1800" b="1" dirty="0" err="1">
                <a:latin typeface="宋体" panose="02010600030101010101" pitchFamily="2" charset="-122"/>
              </a:rPr>
              <a:t>OPCmd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，类型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硬布线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微程序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+mn-ea"/>
                <a:ea typeface="+mn-ea"/>
              </a:rPr>
              <a:t>2.</a:t>
            </a:r>
            <a:r>
              <a:rPr lang="zh-CN" altLang="en-US" sz="2200" b="1" dirty="0">
                <a:solidFill>
                  <a:srgbClr val="FF3399"/>
                </a:solidFill>
                <a:latin typeface="+mn-ea"/>
                <a:ea typeface="+mn-ea"/>
              </a:rPr>
              <a:t>时序信号的形成         </a:t>
            </a:r>
            <a:r>
              <a:rPr lang="zh-CN" altLang="en-US" sz="1800" b="1" dirty="0">
                <a:latin typeface="+mn-ea"/>
              </a:rPr>
              <a:t>◇理解原理</a:t>
            </a:r>
            <a:endParaRPr lang="en-US" altLang="zh-CN" sz="2200" b="1" dirty="0">
              <a:solidFill>
                <a:srgbClr val="FF3399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latin typeface="宋体" panose="02010600030101010101" pitchFamily="2" charset="-122"/>
              </a:rPr>
              <a:t>时序系统组织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信号个数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功能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定时、序列组成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latin typeface="宋体" panose="02010600030101010101" pitchFamily="2" charset="-122"/>
              </a:rPr>
              <a:t>时序电路组成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定时逻辑＋定序逻辑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，定时方式</a:t>
            </a:r>
            <a:r>
              <a:rPr lang="en-US" altLang="zh-CN" sz="1800" b="1" dirty="0">
                <a:latin typeface="宋体" panose="02010600030101010101" pitchFamily="2" charset="-122"/>
              </a:rPr>
              <a:t>(3</a:t>
            </a:r>
            <a:r>
              <a:rPr lang="zh-CN" altLang="en-US" sz="1800" b="1" dirty="0">
                <a:latin typeface="宋体" panose="02010600030101010101" pitchFamily="2" charset="-122"/>
              </a:rPr>
              <a:t>种、基于</a:t>
            </a:r>
            <a:r>
              <a:rPr lang="en-US" altLang="zh-CN" sz="1800" dirty="0" err="1"/>
              <a:t>μ</a:t>
            </a:r>
            <a:r>
              <a:rPr lang="en-US" altLang="zh-CN" sz="1800" b="1" dirty="0" err="1">
                <a:latin typeface="宋体" panose="02010600030101010101" pitchFamily="2" charset="-122"/>
              </a:rPr>
              <a:t>OP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1800" b="1" dirty="0">
                <a:latin typeface="宋体" panose="02010600030101010101" pitchFamily="2" charset="-122"/>
              </a:rPr>
              <a:t>                     [</a:t>
            </a:r>
            <a:r>
              <a:rPr lang="en-US" altLang="zh-CN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CLK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→</a:t>
            </a:r>
            <a:r>
              <a:rPr lang="en-US" altLang="zh-CN" sz="1800" b="1" dirty="0">
                <a:latin typeface="宋体" panose="02010600030101010101" pitchFamily="2" charset="-122"/>
              </a:rPr>
              <a:t>CP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→节拍及工作脉冲序列</a:t>
            </a:r>
            <a:r>
              <a:rPr lang="en-US" altLang="zh-CN" sz="1800" b="1" dirty="0">
                <a:latin typeface="宋体" panose="02010600030101010101" pitchFamily="2" charset="-122"/>
              </a:rPr>
              <a:t>]</a:t>
            </a:r>
            <a:endParaRPr lang="en-US" altLang="zh-CN" sz="1800" b="1" dirty="0">
              <a:solidFill>
                <a:srgbClr val="FF3399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+mn-ea"/>
                <a:ea typeface="+mn-ea"/>
              </a:rPr>
              <a:t>3.</a:t>
            </a:r>
            <a:r>
              <a:rPr lang="en-US" altLang="zh-CN" sz="2200" dirty="0">
                <a:solidFill>
                  <a:srgbClr val="FF3399"/>
                </a:solidFill>
              </a:rPr>
              <a:t> </a:t>
            </a:r>
            <a:r>
              <a:rPr lang="en-US" altLang="zh-CN" sz="2200" dirty="0" err="1">
                <a:solidFill>
                  <a:srgbClr val="FF3399"/>
                </a:solidFill>
              </a:rPr>
              <a:t>μ</a:t>
            </a:r>
            <a:r>
              <a:rPr lang="en-US" altLang="zh-CN" sz="2200" b="1" dirty="0" err="1">
                <a:solidFill>
                  <a:srgbClr val="FF3399"/>
                </a:solidFill>
                <a:latin typeface="宋体" panose="02010600030101010101" pitchFamily="2" charset="-122"/>
              </a:rPr>
              <a:t>OP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控制信号的形成      </a:t>
            </a:r>
            <a:r>
              <a:rPr lang="zh-CN" altLang="en-US" sz="1800" b="1" dirty="0">
                <a:latin typeface="宋体" panose="02010600030101010101" pitchFamily="2" charset="-122"/>
              </a:rPr>
              <a:t>△了解功能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latin typeface="宋体" panose="02010600030101010101" pitchFamily="2" charset="-122"/>
              </a:rPr>
              <a:t>引脚信号</a:t>
            </a:r>
            <a:r>
              <a:rPr lang="en-US" altLang="zh-CN" sz="1800" b="1" dirty="0">
                <a:latin typeface="宋体" panose="02010600030101010101" pitchFamily="2" charset="-122"/>
              </a:rPr>
              <a:t>(4</a:t>
            </a:r>
            <a:r>
              <a:rPr lang="zh-CN" altLang="en-US" sz="1800" b="1" dirty="0">
                <a:latin typeface="宋体" panose="02010600030101010101" pitchFamily="2" charset="-122"/>
              </a:rPr>
              <a:t>种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、内部逻辑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状态转换图的状态实现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latin typeface="宋体" panose="02010600030101010101" pitchFamily="2" charset="-122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※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知识点融合：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数据通路与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CU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的连接信号？</a:t>
            </a:r>
            <a:endParaRPr lang="en-US" altLang="zh-CN" sz="2000" b="1" dirty="0">
              <a:solidFill>
                <a:srgbClr val="FF3399"/>
              </a:solidFill>
              <a:latin typeface="宋体" panose="02010600030101010101" pitchFamily="2" charset="-122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  <a:ea typeface="+mn-ea"/>
              </a:rPr>
              <a:t>4.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  <a:ea typeface="+mn-ea"/>
              </a:rPr>
              <a:t>硬布线控制器的设计     </a:t>
            </a:r>
            <a:r>
              <a:rPr lang="zh-CN" altLang="en-US" sz="1800" b="1" dirty="0">
                <a:latin typeface="宋体" panose="02010600030101010101" pitchFamily="2" charset="-122"/>
              </a:rPr>
              <a:t>△了解设计流程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视作例题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solidFill>
                <a:srgbClr val="FF3399"/>
              </a:solidFill>
              <a:latin typeface="宋体" panose="02010600030101010101" pitchFamily="2" charset="-122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+mn-ea"/>
                <a:ea typeface="+mn-ea"/>
              </a:rPr>
              <a:t>5.</a:t>
            </a:r>
            <a:r>
              <a:rPr lang="zh-CN" altLang="en-US" sz="2200" b="1" dirty="0">
                <a:solidFill>
                  <a:srgbClr val="FF3399"/>
                </a:solidFill>
                <a:latin typeface="+mn-ea"/>
                <a:ea typeface="+mn-ea"/>
              </a:rPr>
              <a:t>微程序控制器的原理     </a:t>
            </a:r>
            <a:r>
              <a:rPr lang="zh-CN" altLang="en-US" sz="1800" b="1" dirty="0">
                <a:latin typeface="宋体" panose="02010600030101010101" pitchFamily="2" charset="-122"/>
              </a:rPr>
              <a:t>△了</a:t>
            </a:r>
            <a:r>
              <a:rPr lang="zh-CN" altLang="en-US" sz="1800" b="1" dirty="0">
                <a:latin typeface="+mn-ea"/>
              </a:rPr>
              <a:t>解原理</a:t>
            </a:r>
            <a:endParaRPr lang="en-US" altLang="zh-CN" sz="2200" b="1" dirty="0">
              <a:latin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</a:t>
            </a:r>
            <a:r>
              <a:rPr lang="en-US" altLang="zh-CN" sz="2200" dirty="0" err="1"/>
              <a:t>μ</a:t>
            </a:r>
            <a:r>
              <a:rPr lang="en-US" altLang="zh-CN" sz="2200" b="1" dirty="0" err="1">
                <a:latin typeface="宋体" panose="02010600030101010101" pitchFamily="2" charset="-122"/>
              </a:rPr>
              <a:t>OPCmd</a:t>
            </a:r>
            <a:r>
              <a:rPr lang="zh-CN" altLang="en-US" sz="2200" b="1" dirty="0">
                <a:latin typeface="宋体" panose="02010600030101010101" pitchFamily="2" charset="-122"/>
              </a:rPr>
              <a:t>的产生方法，</a:t>
            </a:r>
            <a:r>
              <a:rPr lang="en-US" altLang="zh-CN" sz="2200" b="1" dirty="0">
                <a:latin typeface="宋体" panose="02010600030101010101" pitchFamily="2" charset="-122"/>
              </a:rPr>
              <a:t>CU</a:t>
            </a:r>
            <a:r>
              <a:rPr lang="zh-CN" altLang="en-US" sz="2200" b="1" dirty="0">
                <a:latin typeface="宋体" panose="02010600030101010101" pitchFamily="2" charset="-122"/>
              </a:rPr>
              <a:t>组成、工作原理  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共理解</a:t>
            </a:r>
            <a:r>
              <a:rPr lang="en-US" altLang="zh-CN" sz="1800" b="1" dirty="0">
                <a:latin typeface="宋体" panose="02010600030101010101" pitchFamily="2" charset="-122"/>
              </a:rPr>
              <a:t>3</a:t>
            </a:r>
            <a:r>
              <a:rPr lang="zh-CN" altLang="en-US" sz="1800" b="1" dirty="0">
                <a:latin typeface="宋体" panose="02010600030101010101" pitchFamily="2" charset="-122"/>
              </a:rPr>
              <a:t>张图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1800" b="1" dirty="0">
              <a:solidFill>
                <a:srgbClr val="FF3399"/>
              </a:solidFill>
              <a:latin typeface="宋体" panose="02010600030101010101" pitchFamily="2" charset="-122"/>
              <a:ea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t>19</a:t>
            </a:fld>
            <a:endParaRPr lang="en-US" altLang="zh-CN" dirty="0"/>
          </a:p>
        </p:txBody>
      </p:sp>
      <p:sp>
        <p:nvSpPr>
          <p:cNvPr id="9" name="AutoShape 301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7824" y="6453336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AutoShape 62">
            <a:hlinkClick r:id="rId3" action="ppaction://hlinkpres?slideindex=68&amp;slidetitle=PowerPoint%20演示文稿"/>
          </p:cNvPr>
          <p:cNvSpPr>
            <a:spLocks noChangeArrowheads="1"/>
          </p:cNvSpPr>
          <p:nvPr/>
        </p:nvSpPr>
        <p:spPr bwMode="auto">
          <a:xfrm>
            <a:off x="8226754" y="5301461"/>
            <a:ext cx="593718" cy="270031"/>
          </a:xfrm>
          <a:prstGeom prst="homePlate">
            <a:avLst>
              <a:gd name="adj" fmla="val 25000"/>
            </a:avLst>
          </a:prstGeom>
          <a:noFill/>
          <a:ln w="19050">
            <a:solidFill>
              <a:schemeClr val="bg1">
                <a:lumMod val="75000"/>
              </a:schemeClr>
            </a:solidFill>
            <a:miter lim="800000"/>
          </a:ln>
          <a:effectLst/>
        </p:spPr>
        <p:txBody>
          <a:bodyPr vert="horz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5-68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3" name="AutoShape 62">
            <a:hlinkClick r:id="rId4" action="ppaction://hlinkpres?slideindex=53&amp;slidetitle=PowerPoint%20演示文稿"/>
          </p:cNvPr>
          <p:cNvSpPr>
            <a:spLocks noChangeArrowheads="1"/>
          </p:cNvSpPr>
          <p:nvPr/>
        </p:nvSpPr>
        <p:spPr bwMode="auto">
          <a:xfrm>
            <a:off x="8235138" y="2780928"/>
            <a:ext cx="593718" cy="270031"/>
          </a:xfrm>
          <a:prstGeom prst="homePlate">
            <a:avLst>
              <a:gd name="adj" fmla="val 25000"/>
            </a:avLst>
          </a:prstGeom>
          <a:noFill/>
          <a:ln w="19050">
            <a:solidFill>
              <a:schemeClr val="bg1">
                <a:lumMod val="75000"/>
              </a:schemeClr>
            </a:solidFill>
            <a:miter lim="800000"/>
          </a:ln>
          <a:effectLst/>
        </p:spPr>
        <p:txBody>
          <a:bodyPr vert="horz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5-53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cxnSp>
        <p:nvCxnSpPr>
          <p:cNvPr id="14" name="直接箭头连接符 13"/>
          <p:cNvCxnSpPr/>
          <p:nvPr/>
        </p:nvCxnSpPr>
        <p:spPr bwMode="auto">
          <a:xfrm flipH="1">
            <a:off x="3744000" y="1908000"/>
            <a:ext cx="2880000" cy="61200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70C0"/>
            </a:solidFill>
            <a:prstDash val="sysDash"/>
            <a:round/>
            <a:headEnd type="none" w="med" len="sm"/>
            <a:tailEnd type="arrow" w="med" len="sm"/>
          </a:ln>
          <a:effectLst/>
        </p:spPr>
      </p:cxnSp>
      <p:sp>
        <p:nvSpPr>
          <p:cNvPr id="15" name="AutoShape 62">
            <a:hlinkClick r:id="rId5" action="ppaction://hlinkpres?slideindex=57&amp;slidetitle=PowerPoint%20演示文稿"/>
          </p:cNvPr>
          <p:cNvSpPr>
            <a:spLocks noChangeArrowheads="1"/>
          </p:cNvSpPr>
          <p:nvPr/>
        </p:nvSpPr>
        <p:spPr bwMode="auto">
          <a:xfrm>
            <a:off x="8244408" y="4096338"/>
            <a:ext cx="593718" cy="270031"/>
          </a:xfrm>
          <a:prstGeom prst="homePlate">
            <a:avLst>
              <a:gd name="adj" fmla="val 25000"/>
            </a:avLst>
          </a:prstGeom>
          <a:noFill/>
          <a:ln w="19050">
            <a:solidFill>
              <a:schemeClr val="bg1">
                <a:lumMod val="75000"/>
              </a:schemeClr>
            </a:solidFill>
            <a:miter lim="800000"/>
          </a:ln>
          <a:effectLst/>
        </p:spPr>
        <p:txBody>
          <a:bodyPr vert="horz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5-57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2" name="AutoShape 62">
            <a:hlinkClick r:id="rId6" action="ppaction://hlinkfile"/>
          </p:cNvPr>
          <p:cNvSpPr>
            <a:spLocks noChangeArrowheads="1"/>
          </p:cNvSpPr>
          <p:nvPr/>
        </p:nvSpPr>
        <p:spPr bwMode="auto">
          <a:xfrm>
            <a:off x="8244408" y="908720"/>
            <a:ext cx="593718" cy="270031"/>
          </a:xfrm>
          <a:prstGeom prst="homePlate">
            <a:avLst>
              <a:gd name="adj" fmla="val 25000"/>
            </a:avLst>
          </a:prstGeom>
          <a:noFill/>
          <a:ln w="19050">
            <a:solidFill>
              <a:schemeClr val="bg1">
                <a:lumMod val="75000"/>
              </a:schemeClr>
            </a:solidFill>
            <a:miter lim="800000"/>
          </a:ln>
          <a:effectLst/>
        </p:spPr>
        <p:txBody>
          <a:bodyPr vert="horz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5-49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4" name="Text Box 132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62878" y="828000"/>
            <a:ext cx="8785225" cy="3960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</a:ln>
        </p:spPr>
        <p:txBody>
          <a:bodyPr>
            <a:noAutofit/>
          </a:bodyPr>
          <a:lstStyle/>
          <a:p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 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3" grpId="0" animBg="1"/>
      <p:bldP spid="15" grpId="0" bldLvl="0" animBg="1"/>
      <p:bldP spid="1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t>20</a:t>
            </a:fld>
            <a:endParaRPr lang="en-US" altLang="zh-CN" dirty="0"/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179388" y="332656"/>
            <a:ext cx="8713092" cy="2630170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四、异常及中断的处理</a:t>
            </a:r>
            <a:endParaRPr lang="en-US" altLang="zh-CN" sz="2200" b="1" dirty="0">
              <a:solidFill>
                <a:srgbClr val="FF33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  <a:ea typeface="+mn-ea"/>
              </a:rPr>
              <a:t>1.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  <a:ea typeface="+mn-ea"/>
              </a:rPr>
              <a:t>基本概念               </a:t>
            </a:r>
            <a:r>
              <a:rPr lang="zh-CN" altLang="en-US" sz="1800" b="1" dirty="0">
                <a:latin typeface="宋体" panose="02010600030101010101" pitchFamily="2" charset="-122"/>
              </a:rPr>
              <a:t>◇掌握概念</a:t>
            </a:r>
            <a:endParaRPr lang="en-US" altLang="zh-CN" sz="2200" b="1" dirty="0">
              <a:solidFill>
                <a:srgbClr val="FF3399"/>
              </a:solidFill>
              <a:latin typeface="宋体" panose="02010600030101010101" pitchFamily="2" charset="-122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异常及中断的分类、处理时机、返回方式</a:t>
            </a:r>
            <a:endParaRPr lang="en-US" altLang="zh-CN" sz="2200" b="1" dirty="0">
              <a:solidFill>
                <a:srgbClr val="FF3399"/>
              </a:solidFill>
              <a:latin typeface="宋体" panose="02010600030101010101" pitchFamily="2" charset="-122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  <a:ea typeface="+mn-ea"/>
              </a:rPr>
              <a:t>2.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  <a:ea typeface="+mn-ea"/>
              </a:rPr>
              <a:t>处理过程               </a:t>
            </a:r>
            <a:r>
              <a:rPr lang="zh-CN" altLang="en-US" sz="1800" b="1" dirty="0">
                <a:latin typeface="宋体" panose="02010600030101010101" pitchFamily="2" charset="-122"/>
                <a:ea typeface="+mn-ea"/>
              </a:rPr>
              <a:t>◇理解原理</a:t>
            </a:r>
            <a:endParaRPr lang="en-US" altLang="zh-CN" sz="2200" b="1" dirty="0">
              <a:latin typeface="宋体" panose="02010600030101010101" pitchFamily="2" charset="-122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  <a:ea typeface="+mn-ea"/>
              </a:rPr>
              <a:t>   </a:t>
            </a:r>
            <a:r>
              <a:rPr lang="zh-CN" altLang="en-US" sz="2200" b="1" dirty="0">
                <a:latin typeface="宋体" panose="02010600030101010101" pitchFamily="2" charset="-122"/>
                <a:ea typeface="+mn-ea"/>
              </a:rPr>
              <a:t>处理过程</a:t>
            </a:r>
            <a:r>
              <a:rPr lang="en-US" altLang="zh-CN" sz="1800" b="1" dirty="0">
                <a:latin typeface="宋体" panose="02010600030101010101" pitchFamily="2" charset="-122"/>
                <a:ea typeface="+mn-ea"/>
              </a:rPr>
              <a:t>(3</a:t>
            </a:r>
            <a:r>
              <a:rPr lang="zh-CN" altLang="en-US" sz="1800" b="1" dirty="0">
                <a:latin typeface="宋体" panose="02010600030101010101" pitchFamily="2" charset="-122"/>
                <a:ea typeface="+mn-ea"/>
              </a:rPr>
              <a:t>段</a:t>
            </a:r>
            <a:r>
              <a:rPr lang="en-US" altLang="zh-CN" sz="1800" b="1" dirty="0">
                <a:latin typeface="宋体" panose="02010600030101010101" pitchFamily="2" charset="-122"/>
                <a:ea typeface="+mn-ea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  <a:ea typeface="+mn-ea"/>
              </a:rPr>
              <a:t>，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  <a:ea typeface="+mn-ea"/>
              </a:rPr>
              <a:t>响应的任务</a:t>
            </a:r>
            <a:r>
              <a:rPr lang="en-US" altLang="zh-CN" sz="1800" b="1" dirty="0">
                <a:latin typeface="宋体" panose="02010600030101010101" pitchFamily="2" charset="-122"/>
              </a:rPr>
              <a:t>(3</a:t>
            </a:r>
            <a:r>
              <a:rPr lang="zh-CN" altLang="en-US" sz="1800" b="1" dirty="0">
                <a:latin typeface="宋体" panose="02010600030101010101" pitchFamily="2" charset="-122"/>
              </a:rPr>
              <a:t>点→</a:t>
            </a:r>
            <a:r>
              <a:rPr lang="en-US" altLang="zh-CN" sz="1800" b="1" dirty="0">
                <a:latin typeface="宋体" panose="02010600030101010101" pitchFamily="2" charset="-122"/>
              </a:rPr>
              <a:t>5</a:t>
            </a:r>
            <a:r>
              <a:rPr lang="zh-CN" altLang="en-US" sz="1800" b="1" dirty="0">
                <a:latin typeface="宋体" panose="02010600030101010101" pitchFamily="2" charset="-122"/>
              </a:rPr>
              <a:t>点</a:t>
            </a:r>
            <a:r>
              <a:rPr lang="en-US" altLang="zh-CN" sz="1800" b="1" dirty="0">
                <a:latin typeface="宋体" panose="02010600030101010101" pitchFamily="2" charset="-122"/>
              </a:rPr>
              <a:t>[</a:t>
            </a:r>
            <a:r>
              <a:rPr lang="zh-CN" altLang="en-US" sz="1800" b="1" dirty="0">
                <a:latin typeface="宋体" panose="02010600030101010101" pitchFamily="2" charset="-122"/>
              </a:rPr>
              <a:t>向量方式</a:t>
            </a:r>
            <a:r>
              <a:rPr lang="en-US" altLang="zh-CN" sz="1800" b="1" dirty="0">
                <a:latin typeface="宋体" panose="02010600030101010101" pitchFamily="2" charset="-122"/>
              </a:rPr>
              <a:t>])</a:t>
            </a:r>
            <a:r>
              <a:rPr lang="zh-CN" altLang="en-US" sz="2200" b="1" dirty="0">
                <a:latin typeface="宋体" panose="02010600030101010101" pitchFamily="2" charset="-122"/>
                <a:ea typeface="+mn-ea"/>
              </a:rPr>
              <a:t>及实现方法</a:t>
            </a:r>
            <a:endParaRPr lang="en-US" altLang="zh-CN" sz="2200" b="1" dirty="0">
              <a:latin typeface="宋体" panose="02010600030101010101" pitchFamily="2" charset="-122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  <a:ea typeface="+mn-ea"/>
              </a:rPr>
              <a:t>3.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  <a:ea typeface="+mn-ea"/>
              </a:rPr>
              <a:t>中断机构的组成         </a:t>
            </a:r>
            <a:r>
              <a:rPr lang="zh-CN" altLang="en-US" sz="1800" b="1" dirty="0">
                <a:latin typeface="宋体" panose="02010600030101010101" pitchFamily="2" charset="-122"/>
                <a:ea typeface="+mn-ea"/>
              </a:rPr>
              <a:t>△了解基本结构及功能实现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79512" y="2918152"/>
            <a:ext cx="8713092" cy="937260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五、指令流水线技术       </a:t>
            </a:r>
            <a:r>
              <a:rPr lang="en-US" altLang="zh-CN" sz="1800" b="1" dirty="0">
                <a:latin typeface="+mn-ea"/>
                <a:ea typeface="+mn-ea"/>
              </a:rPr>
              <a:t>×</a:t>
            </a:r>
            <a:r>
              <a:rPr lang="zh-CN" altLang="en-US" sz="1800" b="1" dirty="0">
                <a:latin typeface="+mn-ea"/>
                <a:ea typeface="+mn-ea"/>
              </a:rPr>
              <a:t>不考  </a:t>
            </a:r>
            <a:r>
              <a:rPr lang="en-US" altLang="zh-CN" sz="1800" b="1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(</a:t>
            </a:r>
            <a:r>
              <a:rPr lang="zh-CN" altLang="en-US" sz="1800" b="1" dirty="0">
                <a:solidFill>
                  <a:schemeClr val="bg1">
                    <a:lumMod val="95000"/>
                  </a:schemeClr>
                </a:solidFill>
                <a:latin typeface="宋体" panose="02010600030101010101" pitchFamily="2" charset="-122"/>
              </a:rPr>
              <a:t>掌握概念、理解原理</a:t>
            </a:r>
            <a:r>
              <a:rPr lang="en-US" altLang="zh-CN" sz="1800" b="1" dirty="0">
                <a:solidFill>
                  <a:schemeClr val="bg1">
                    <a:lumMod val="95000"/>
                  </a:schemeClr>
                </a:solidFill>
                <a:latin typeface="宋体" panose="02010600030101010101" pitchFamily="2" charset="-122"/>
              </a:rPr>
              <a:t>)</a:t>
            </a:r>
            <a:endParaRPr lang="en-US" altLang="zh-CN" sz="2200" b="1" dirty="0">
              <a:solidFill>
                <a:schemeClr val="bg1">
                  <a:lumMod val="95000"/>
                </a:schemeClr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工作原理、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组成要求</a:t>
            </a:r>
            <a:r>
              <a:rPr lang="zh-CN" altLang="en-US" sz="2200" b="1" dirty="0">
                <a:latin typeface="宋体" panose="02010600030101010101" pitchFamily="2" charset="-122"/>
              </a:rPr>
              <a:t>、性能、分类  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不考冒险处理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</a:p>
        </p:txBody>
      </p:sp>
      <p:sp>
        <p:nvSpPr>
          <p:cNvPr id="8" name="Text Box 43"/>
          <p:cNvSpPr txBox="1">
            <a:spLocks noChangeArrowheads="1"/>
          </p:cNvSpPr>
          <p:nvPr/>
        </p:nvSpPr>
        <p:spPr bwMode="auto">
          <a:xfrm>
            <a:off x="179705" y="3790315"/>
            <a:ext cx="8573770" cy="26301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*总体要求：</a:t>
            </a: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latin typeface="宋体" panose="02010600030101010101" pitchFamily="2" charset="-122"/>
              </a:rPr>
              <a:t>①理解</a:t>
            </a:r>
            <a:r>
              <a:rPr lang="en-US" altLang="zh-CN" sz="2200" b="1" dirty="0">
                <a:latin typeface="宋体" panose="02010600030101010101" pitchFamily="2" charset="-122"/>
              </a:rPr>
              <a:t>CPU</a:t>
            </a:r>
            <a:r>
              <a:rPr lang="zh-CN" altLang="en-US" sz="2200" b="1" dirty="0">
                <a:latin typeface="宋体" panose="02010600030101010101" pitchFamily="2" charset="-122"/>
              </a:rPr>
              <a:t>的</a:t>
            </a:r>
            <a:r>
              <a:rPr lang="zh-CN" altLang="en-US" sz="2200" b="1" u="sng" dirty="0">
                <a:latin typeface="宋体" panose="02010600030101010101" pitchFamily="2" charset="-122"/>
              </a:rPr>
              <a:t>组成、工作流程及工作原理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基于</a:t>
            </a:r>
            <a:r>
              <a:rPr lang="en-US" altLang="zh-CN" sz="1800" b="1" dirty="0">
                <a:latin typeface="宋体" panose="02010600030101010101" pitchFamily="2" charset="-122"/>
              </a:rPr>
              <a:t>CPU</a:t>
            </a:r>
            <a:r>
              <a:rPr lang="zh-CN" altLang="en-US" sz="1800" b="1" dirty="0">
                <a:latin typeface="宋体" panose="02010600030101010101" pitchFamily="2" charset="-122"/>
              </a:rPr>
              <a:t>功能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 ②组织指令的</a:t>
            </a:r>
            <a:r>
              <a:rPr lang="zh-CN" altLang="en-US" sz="2200" b="1" u="sng" dirty="0">
                <a:latin typeface="宋体" panose="02010600030101010101" pitchFamily="2" charset="-122"/>
              </a:rPr>
              <a:t>执行过程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基于</a:t>
            </a:r>
            <a:r>
              <a:rPr lang="en-US" altLang="zh-CN" sz="1800" b="1" dirty="0">
                <a:latin typeface="宋体" panose="02010600030101010101" pitchFamily="2" charset="-122"/>
              </a:rPr>
              <a:t>DP</a:t>
            </a:r>
            <a:r>
              <a:rPr lang="zh-CN" altLang="en-US" sz="1800" b="1" dirty="0">
                <a:latin typeface="宋体" panose="02010600030101010101" pitchFamily="2" charset="-122"/>
              </a:rPr>
              <a:t>及</a:t>
            </a:r>
            <a:r>
              <a:rPr lang="en-US" altLang="zh-CN" sz="1800" b="1" dirty="0">
                <a:latin typeface="宋体" panose="02010600030101010101" pitchFamily="2" charset="-122"/>
              </a:rPr>
              <a:t>ISA)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 ③理解</a:t>
            </a:r>
            <a:r>
              <a:rPr lang="en-US" altLang="zh-CN" sz="2200" b="1" spc="-100" dirty="0">
                <a:latin typeface="宋体" panose="02010600030101010101" pitchFamily="2" charset="-122"/>
              </a:rPr>
              <a:t>CU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的</a:t>
            </a:r>
            <a:r>
              <a:rPr lang="zh-CN" altLang="en-US" sz="2200" b="1" u="sng" spc="-100" dirty="0">
                <a:latin typeface="宋体" panose="02010600030101010101" pitchFamily="2" charset="-122"/>
              </a:rPr>
              <a:t>组成</a:t>
            </a:r>
            <a:r>
              <a:rPr lang="zh-CN" altLang="en-US" sz="2200" b="1" u="sng" dirty="0">
                <a:latin typeface="宋体" panose="02010600030101010101" pitchFamily="2" charset="-122"/>
              </a:rPr>
              <a:t>及类型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基于状态转换图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latin typeface="宋体" panose="02010600030101010101" pitchFamily="2" charset="-122"/>
              </a:rPr>
              <a:t>④理解异常</a:t>
            </a:r>
            <a:r>
              <a:rPr lang="en-US" altLang="zh-CN" sz="2200" b="1" dirty="0">
                <a:latin typeface="宋体" panose="02010600030101010101" pitchFamily="2" charset="-122"/>
              </a:rPr>
              <a:t>/</a:t>
            </a:r>
            <a:r>
              <a:rPr lang="zh-CN" altLang="en-US" sz="2200" b="1" dirty="0">
                <a:latin typeface="宋体" panose="02010600030101010101" pitchFamily="2" charset="-122"/>
              </a:rPr>
              <a:t>中断的</a:t>
            </a:r>
            <a:r>
              <a:rPr lang="zh-CN" altLang="en-US" sz="2200" b="1" u="sng" dirty="0">
                <a:latin typeface="宋体" panose="02010600030101010101" pitchFamily="2" charset="-122"/>
              </a:rPr>
              <a:t>概念</a:t>
            </a:r>
            <a:r>
              <a:rPr lang="zh-CN" altLang="en-US" sz="2200" b="1" dirty="0">
                <a:latin typeface="宋体" panose="02010600030101010101" pitchFamily="2" charset="-122"/>
              </a:rPr>
              <a:t>及</a:t>
            </a:r>
            <a:r>
              <a:rPr lang="zh-CN" altLang="en-US" sz="2200" b="1" u="sng" dirty="0">
                <a:latin typeface="宋体" panose="02010600030101010101" pitchFamily="2" charset="-122"/>
              </a:rPr>
              <a:t>响应过程</a:t>
            </a:r>
            <a:r>
              <a:rPr lang="en-US" altLang="zh-CN" sz="2200" b="1" u="sng" dirty="0">
                <a:latin typeface="宋体" panose="02010600030101010101" pitchFamily="2" charset="-122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 ⑤了解指令流水线的</a:t>
            </a:r>
            <a:r>
              <a:rPr lang="zh-CN" altLang="en-US" sz="2200" b="1" u="sng" dirty="0">
                <a:latin typeface="宋体" panose="02010600030101010101" pitchFamily="2" charset="-122"/>
              </a:rPr>
              <a:t>工作原理</a:t>
            </a:r>
            <a:r>
              <a:rPr lang="zh-CN" altLang="en-US" sz="2200" b="1" dirty="0">
                <a:latin typeface="宋体" panose="02010600030101010101" pitchFamily="2" charset="-122"/>
              </a:rPr>
              <a:t>及</a:t>
            </a:r>
            <a:r>
              <a:rPr lang="zh-CN" altLang="en-US" sz="2200" b="1" u="sng" dirty="0">
                <a:latin typeface="宋体" panose="02010600030101010101" pitchFamily="2" charset="-122"/>
              </a:rPr>
              <a:t>组成要求</a:t>
            </a:r>
            <a:endParaRPr lang="en-US" altLang="zh-CN" sz="2200" b="1" u="sng" dirty="0">
              <a:latin typeface="宋体" panose="02010600030101010101" pitchFamily="2" charset="-122"/>
            </a:endParaRPr>
          </a:p>
        </p:txBody>
      </p:sp>
      <p:sp>
        <p:nvSpPr>
          <p:cNvPr id="6" name="AutoShape 62">
            <a:hlinkClick r:id="rId2" action="ppaction://hlinkfile"/>
          </p:cNvPr>
          <p:cNvSpPr>
            <a:spLocks noChangeArrowheads="1"/>
          </p:cNvSpPr>
          <p:nvPr/>
        </p:nvSpPr>
        <p:spPr bwMode="auto">
          <a:xfrm>
            <a:off x="8371023" y="2583664"/>
            <a:ext cx="593718" cy="270031"/>
          </a:xfrm>
          <a:prstGeom prst="homePlate">
            <a:avLst>
              <a:gd name="adj" fmla="val 25000"/>
            </a:avLst>
          </a:prstGeom>
          <a:noFill/>
          <a:ln w="19050">
            <a:solidFill>
              <a:schemeClr val="bg1">
                <a:lumMod val="75000"/>
              </a:schemeClr>
            </a:solidFill>
            <a:miter lim="800000"/>
          </a:ln>
          <a:effectLst/>
        </p:spPr>
        <p:txBody>
          <a:bodyPr vert="horz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5-78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t>21</a:t>
            </a:fld>
            <a:endParaRPr lang="en-US" altLang="zh-CN" dirty="0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838200" y="332656"/>
            <a:ext cx="7467600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/>
            <a:r>
              <a:rPr lang="zh-CN" altLang="en-US" sz="3200" b="1" dirty="0">
                <a:latin typeface="宋体" panose="02010600030101010101" pitchFamily="2" charset="-122"/>
              </a:rPr>
              <a:t>第</a:t>
            </a:r>
            <a:r>
              <a:rPr lang="en-US" altLang="zh-CN" sz="3200" b="1" dirty="0">
                <a:latin typeface="宋体" panose="02010600030101010101" pitchFamily="2" charset="-122"/>
              </a:rPr>
              <a:t>6</a:t>
            </a:r>
            <a:r>
              <a:rPr lang="zh-CN" altLang="en-US" sz="3200" b="1" dirty="0">
                <a:latin typeface="宋体" panose="02010600030101010101" pitchFamily="2" charset="-122"/>
              </a:rPr>
              <a:t>章 </a:t>
            </a:r>
            <a:r>
              <a:rPr lang="zh-CN" altLang="en-US" sz="3200" b="1" dirty="0"/>
              <a:t>总线及互连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79388" y="908720"/>
            <a:ext cx="8812212" cy="4284980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+mn-ea"/>
                <a:ea typeface="+mn-ea"/>
              </a:rPr>
              <a:t>1.</a:t>
            </a:r>
            <a:r>
              <a:rPr lang="zh-CN" altLang="en-US" sz="2200" b="1" dirty="0">
                <a:solidFill>
                  <a:srgbClr val="FF3399"/>
                </a:solidFill>
                <a:latin typeface="+mn-ea"/>
                <a:ea typeface="+mn-ea"/>
              </a:rPr>
              <a:t>基本概念               </a:t>
            </a:r>
            <a:r>
              <a:rPr lang="zh-CN" altLang="en-US" sz="1800" b="1" dirty="0">
                <a:latin typeface="+mn-ea"/>
                <a:ea typeface="+mn-ea"/>
              </a:rPr>
              <a:t>☆掌握概念</a:t>
            </a:r>
            <a:endParaRPr lang="en-US" altLang="zh-CN" sz="22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latin typeface="宋体" panose="02010600030101010101" pitchFamily="2" charset="-122"/>
              </a:rPr>
              <a:t>  分类、特性</a:t>
            </a:r>
            <a:r>
              <a:rPr lang="en-US" altLang="zh-CN" sz="1800" b="1" dirty="0">
                <a:latin typeface="宋体" panose="02010600030101010101" pitchFamily="2" charset="-122"/>
              </a:rPr>
              <a:t>(4</a:t>
            </a:r>
            <a:r>
              <a:rPr lang="zh-CN" altLang="en-US" sz="1800" b="1" dirty="0">
                <a:latin typeface="宋体" panose="02010600030101010101" pitchFamily="2" charset="-122"/>
              </a:rPr>
              <a:t>点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、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性能指标</a:t>
            </a:r>
            <a:r>
              <a:rPr lang="zh-CN" altLang="en-US" sz="2200" b="1" dirty="0">
                <a:latin typeface="宋体" panose="02010600030101010101" pitchFamily="2" charset="-122"/>
              </a:rPr>
              <a:t>，操作过程 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连接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步骤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en-US" altLang="zh-CN" sz="2200" b="1" dirty="0">
                <a:latin typeface="宋体" panose="02010600030101010101" pitchFamily="2" charset="-122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2.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总线仲裁               </a:t>
            </a:r>
            <a:r>
              <a:rPr lang="zh-CN" altLang="en-US" sz="1800" b="1" dirty="0">
                <a:latin typeface="+mn-ea"/>
              </a:rPr>
              <a:t>◇理解原理       </a:t>
            </a:r>
            <a:r>
              <a:rPr lang="en-US" altLang="zh-CN" sz="1800" b="1" dirty="0">
                <a:latin typeface="+mn-ea"/>
              </a:rPr>
              <a:t>(</a:t>
            </a:r>
            <a:r>
              <a:rPr lang="zh-CN" altLang="en-US" sz="1800" b="1" dirty="0">
                <a:latin typeface="+mn-ea"/>
              </a:rPr>
              <a:t>第</a:t>
            </a:r>
            <a:r>
              <a:rPr lang="en-US" altLang="zh-CN" sz="1800" b="1" dirty="0">
                <a:latin typeface="+mn-ea"/>
              </a:rPr>
              <a:t>1</a:t>
            </a:r>
            <a:r>
              <a:rPr lang="zh-CN" altLang="en-US" sz="1800" b="1" dirty="0">
                <a:latin typeface="+mn-ea"/>
              </a:rPr>
              <a:t>步的组织</a:t>
            </a:r>
            <a:r>
              <a:rPr lang="en-US" altLang="zh-CN" sz="1800" b="1" dirty="0">
                <a:latin typeface="+mn-ea"/>
              </a:rPr>
              <a:t>)</a:t>
            </a:r>
            <a:endParaRPr lang="en-US" altLang="zh-CN" sz="18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集中式仲裁</a:t>
            </a:r>
            <a:r>
              <a:rPr lang="en-US" altLang="zh-CN" sz="1800" b="1" dirty="0">
                <a:latin typeface="宋体" panose="02010600030101010101" pitchFamily="2" charset="-122"/>
              </a:rPr>
              <a:t>(3</a:t>
            </a:r>
            <a:r>
              <a:rPr lang="zh-CN" altLang="en-US" sz="1800" b="1" dirty="0">
                <a:latin typeface="宋体" panose="02010600030101010101" pitchFamily="2" charset="-122"/>
              </a:rPr>
              <a:t>种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的仲裁线连接、仲裁时机、仲裁方法、特点</a:t>
            </a:r>
            <a:endParaRPr lang="en-US" altLang="zh-CN" sz="22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3.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总线传输与定时         </a:t>
            </a:r>
            <a:r>
              <a:rPr lang="zh-CN" altLang="en-US" sz="1800" b="1" dirty="0">
                <a:latin typeface="宋体" panose="02010600030101010101" pitchFamily="2" charset="-122"/>
              </a:rPr>
              <a:t>△理解           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后</a:t>
            </a:r>
            <a:r>
              <a:rPr lang="en-US" altLang="zh-CN" sz="1800" b="1" dirty="0">
                <a:latin typeface="宋体" panose="02010600030101010101" pitchFamily="2" charset="-122"/>
              </a:rPr>
              <a:t>3</a:t>
            </a:r>
            <a:r>
              <a:rPr lang="zh-CN" altLang="en-US" sz="1800" b="1" dirty="0">
                <a:latin typeface="宋体" panose="02010600030101010101" pitchFamily="2" charset="-122"/>
              </a:rPr>
              <a:t>步的组织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总线事务的类型、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传输过程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传输协议组成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总线定时方式</a:t>
            </a:r>
            <a:r>
              <a:rPr lang="en-US" altLang="zh-CN" sz="1800" b="1" dirty="0">
                <a:latin typeface="宋体" panose="02010600030101010101" pitchFamily="2" charset="-122"/>
              </a:rPr>
              <a:t>(3</a:t>
            </a:r>
            <a:r>
              <a:rPr lang="zh-CN" altLang="en-US" sz="1800" b="1" dirty="0">
                <a:latin typeface="宋体" panose="02010600030101010101" pitchFamily="2" charset="-122"/>
              </a:rPr>
              <a:t>种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的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定时原理</a:t>
            </a:r>
            <a:r>
              <a:rPr lang="zh-CN" altLang="en-US" sz="2200" b="1" dirty="0">
                <a:latin typeface="宋体" panose="02010600030101010101" pitchFamily="2" charset="-122"/>
              </a:rPr>
              <a:t>、联络方式、特点</a:t>
            </a: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     〖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例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〗PPT6-P14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例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1</a:t>
            </a:r>
            <a:endParaRPr lang="en-US" altLang="zh-CN" sz="20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4.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总线结构               </a:t>
            </a:r>
            <a:r>
              <a:rPr lang="zh-CN" altLang="en-US" sz="1800" b="1" dirty="0">
                <a:latin typeface="宋体" panose="02010600030101010101" pitchFamily="2" charset="-122"/>
              </a:rPr>
              <a:t>△了解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总线标准</a:t>
            </a:r>
            <a:r>
              <a:rPr lang="en-US" altLang="zh-CN" sz="1800" b="1" dirty="0">
                <a:latin typeface="宋体" panose="02010600030101010101" pitchFamily="2" charset="-122"/>
              </a:rPr>
              <a:t>(×)</a:t>
            </a:r>
            <a:r>
              <a:rPr lang="zh-CN" altLang="en-US" sz="2200" b="1" dirty="0">
                <a:latin typeface="宋体" panose="02010600030101010101" pitchFamily="2" charset="-122"/>
              </a:rPr>
              <a:t>，总线结构，总线接口单元的类型、功能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6" name="Text Box 132"/>
          <p:cNvSpPr txBox="1">
            <a:spLocks noChangeArrowheads="1"/>
          </p:cNvSpPr>
          <p:nvPr/>
        </p:nvSpPr>
        <p:spPr bwMode="auto">
          <a:xfrm>
            <a:off x="4320000" y="1440000"/>
            <a:ext cx="1224000" cy="36004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</a:ln>
        </p:spPr>
        <p:txBody>
          <a:bodyPr wrap="square">
            <a:noAutofit/>
          </a:bodyPr>
          <a:lstStyle/>
          <a:p>
            <a:endParaRPr lang="en-US" altLang="zh-CN" b="1" dirty="0">
              <a:latin typeface="宋体" panose="02010600030101010101" pitchFamily="2" charset="-122"/>
            </a:endParaRPr>
          </a:p>
        </p:txBody>
      </p:sp>
      <p:sp>
        <p:nvSpPr>
          <p:cNvPr id="17" name="Text Box 43"/>
          <p:cNvSpPr txBox="1">
            <a:spLocks noChangeArrowheads="1"/>
          </p:cNvSpPr>
          <p:nvPr/>
        </p:nvSpPr>
        <p:spPr bwMode="auto">
          <a:xfrm>
            <a:off x="179512" y="5157698"/>
            <a:ext cx="8785225" cy="5143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*总体要求：</a:t>
            </a:r>
            <a:r>
              <a:rPr lang="zh-CN" altLang="en-US" sz="2200" b="1" dirty="0">
                <a:latin typeface="宋体" panose="02010600030101010101" pitchFamily="2" charset="-122"/>
              </a:rPr>
              <a:t>掌握基本概念，理解总线操作的</a:t>
            </a:r>
            <a:r>
              <a:rPr lang="zh-CN" altLang="en-US" sz="2200" b="1" u="sng" dirty="0">
                <a:latin typeface="宋体" panose="02010600030101010101" pitchFamily="2" charset="-122"/>
              </a:rPr>
              <a:t>组织方法</a:t>
            </a:r>
            <a:endParaRPr lang="en-US" altLang="zh-CN" sz="2200" b="1" u="sng" dirty="0">
              <a:latin typeface="宋体" panose="02010600030101010101" pitchFamily="2" charset="-122"/>
            </a:endParaRPr>
          </a:p>
        </p:txBody>
      </p:sp>
      <p:sp>
        <p:nvSpPr>
          <p:cNvPr id="11" name="AutoShape 62">
            <a:hlinkClick r:id="rId2" action="ppaction://hlinkpres?slideindex=6&amp;slidetitle=PowerPoint%20演示文稿"/>
          </p:cNvPr>
          <p:cNvSpPr>
            <a:spLocks noChangeArrowheads="1"/>
          </p:cNvSpPr>
          <p:nvPr/>
        </p:nvSpPr>
        <p:spPr bwMode="auto">
          <a:xfrm>
            <a:off x="8235138" y="1556792"/>
            <a:ext cx="593718" cy="270031"/>
          </a:xfrm>
          <a:prstGeom prst="homePlate">
            <a:avLst>
              <a:gd name="adj" fmla="val 25000"/>
            </a:avLst>
          </a:prstGeom>
          <a:noFill/>
          <a:ln w="19050">
            <a:solidFill>
              <a:schemeClr val="bg1">
                <a:lumMod val="75000"/>
              </a:schemeClr>
            </a:solidFill>
            <a:miter lim="800000"/>
          </a:ln>
          <a:effectLst/>
        </p:spPr>
        <p:txBody>
          <a:bodyPr vert="horz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6-6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132"/>
          <p:cNvSpPr txBox="1">
            <a:spLocks noChangeArrowheads="1"/>
          </p:cNvSpPr>
          <p:nvPr/>
        </p:nvSpPr>
        <p:spPr bwMode="auto">
          <a:xfrm>
            <a:off x="179511" y="3861048"/>
            <a:ext cx="8785225" cy="3960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</a:ln>
        </p:spPr>
        <p:txBody>
          <a:bodyPr wrap="square">
            <a:noAutofit/>
          </a:bodyPr>
          <a:lstStyle/>
          <a:p>
            <a:endParaRPr lang="en-US" altLang="zh-CN" b="1" dirty="0">
              <a:latin typeface="宋体" panose="02010600030101010101" pitchFamily="2" charset="-122"/>
            </a:endParaRPr>
          </a:p>
        </p:txBody>
      </p:sp>
      <p:sp>
        <p:nvSpPr>
          <p:cNvPr id="9" name="Text Box 132"/>
          <p:cNvSpPr txBox="1">
            <a:spLocks noChangeArrowheads="1"/>
          </p:cNvSpPr>
          <p:nvPr/>
        </p:nvSpPr>
        <p:spPr bwMode="auto">
          <a:xfrm>
            <a:off x="179512" y="2627992"/>
            <a:ext cx="8785225" cy="3960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</a:ln>
        </p:spPr>
        <p:txBody>
          <a:bodyPr>
            <a:noAutofit/>
          </a:bodyPr>
          <a:lstStyle/>
          <a:p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 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t>22</a:t>
            </a:fld>
            <a:endParaRPr lang="en-US" altLang="zh-CN" dirty="0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838200" y="332656"/>
            <a:ext cx="7467600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/>
            <a:r>
              <a:rPr lang="zh-CN" altLang="en-US" sz="3200" b="1" dirty="0">
                <a:latin typeface="宋体" panose="02010600030101010101" pitchFamily="2" charset="-122"/>
              </a:rPr>
              <a:t>第</a:t>
            </a:r>
            <a:r>
              <a:rPr lang="en-US" altLang="zh-CN" sz="3200" b="1" dirty="0">
                <a:latin typeface="宋体" panose="02010600030101010101" pitchFamily="2" charset="-122"/>
              </a:rPr>
              <a:t>7</a:t>
            </a:r>
            <a:r>
              <a:rPr lang="zh-CN" altLang="en-US" sz="3200" b="1" dirty="0">
                <a:latin typeface="宋体" panose="02010600030101010101" pitchFamily="2" charset="-122"/>
              </a:rPr>
              <a:t>章 输入输出系统</a:t>
            </a:r>
            <a:endParaRPr lang="zh-CN" altLang="en-US" sz="3200" b="1" dirty="0"/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179512" y="836712"/>
            <a:ext cx="8812088" cy="475615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  主要内容：</a:t>
            </a:r>
            <a:r>
              <a:rPr lang="en-US" altLang="zh-CN" sz="2000" b="1" dirty="0">
                <a:latin typeface="宋体" panose="02010600030101010101" pitchFamily="2" charset="-122"/>
              </a:rPr>
              <a:t>I/O</a:t>
            </a:r>
            <a:r>
              <a:rPr lang="zh-CN" altLang="en-US" sz="2000" b="1" dirty="0">
                <a:latin typeface="宋体" panose="02010600030101010101" pitchFamily="2" charset="-122"/>
              </a:rPr>
              <a:t>系统组成，磁盘组成，</a:t>
            </a:r>
            <a:r>
              <a:rPr lang="en-US" altLang="zh-CN" sz="2000" b="1" dirty="0">
                <a:latin typeface="宋体" panose="02010600030101010101" pitchFamily="2" charset="-122"/>
              </a:rPr>
              <a:t>I/O</a:t>
            </a:r>
            <a:r>
              <a:rPr lang="zh-CN" altLang="en-US" sz="2000" b="1" dirty="0">
                <a:latin typeface="宋体" panose="02010600030101010101" pitchFamily="2" charset="-122"/>
              </a:rPr>
              <a:t>接口，传送控制方式组织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79388" y="1268760"/>
            <a:ext cx="8812212" cy="5184111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一、</a:t>
            </a:r>
            <a:r>
              <a:rPr lang="en-US" altLang="zh-CN" sz="2200" b="1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I/O</a:t>
            </a:r>
            <a:r>
              <a:rPr lang="zh-CN" altLang="en-US" sz="2200" b="1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系统组成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1.I/O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系统组成            </a:t>
            </a:r>
            <a:r>
              <a:rPr lang="zh-CN" altLang="en-US" sz="1800" b="1" dirty="0">
                <a:latin typeface="宋体" panose="02010600030101010101" pitchFamily="2" charset="-122"/>
              </a:rPr>
              <a:t>△了解软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硬件关系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硬件组成，软件组成，</a:t>
            </a:r>
            <a:r>
              <a:rPr lang="en-US" altLang="zh-CN" sz="2200" b="1" dirty="0">
                <a:latin typeface="宋体" panose="02010600030101010101" pitchFamily="2" charset="-122"/>
              </a:rPr>
              <a:t>I/O</a:t>
            </a:r>
            <a:r>
              <a:rPr lang="zh-CN" altLang="en-US" sz="2200" b="1" dirty="0">
                <a:latin typeface="宋体" panose="02010600030101010101" pitchFamily="2" charset="-122"/>
              </a:rPr>
              <a:t>的性能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含</a:t>
            </a:r>
            <a:r>
              <a:rPr lang="en-US" altLang="zh-CN" sz="1800" b="1" dirty="0">
                <a:latin typeface="宋体" panose="02010600030101010101" pitchFamily="2" charset="-122"/>
              </a:rPr>
              <a:t>I/O</a:t>
            </a:r>
            <a:r>
              <a:rPr lang="zh-CN" altLang="en-US" sz="1800" b="1" dirty="0">
                <a:latin typeface="宋体" panose="02010600030101010101" pitchFamily="2" charset="-122"/>
              </a:rPr>
              <a:t>所占</a:t>
            </a:r>
            <a:r>
              <a:rPr lang="en-US" altLang="zh-CN" sz="1800" b="1" dirty="0">
                <a:latin typeface="宋体" panose="02010600030101010101" pitchFamily="2" charset="-122"/>
              </a:rPr>
              <a:t>CPU</a:t>
            </a:r>
            <a:r>
              <a:rPr lang="zh-CN" altLang="en-US" sz="1800" b="1" dirty="0">
                <a:latin typeface="宋体" panose="02010600030101010101" pitchFamily="2" charset="-122"/>
              </a:rPr>
              <a:t>时间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2.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外设与主机的联系       </a:t>
            </a:r>
            <a:r>
              <a:rPr lang="zh-CN" altLang="en-US" sz="1800" b="1" dirty="0">
                <a:latin typeface="宋体" panose="02010600030101010101" pitchFamily="2" charset="-122"/>
              </a:rPr>
              <a:t>☆理解</a:t>
            </a:r>
            <a:r>
              <a:rPr lang="en-US" altLang="zh-CN" sz="1800" b="1" dirty="0">
                <a:latin typeface="宋体" panose="02010600030101010101" pitchFamily="2" charset="-122"/>
              </a:rPr>
              <a:t>I/O</a:t>
            </a:r>
            <a:r>
              <a:rPr lang="zh-CN" altLang="en-US" sz="1800" b="1" dirty="0">
                <a:latin typeface="宋体" panose="02010600030101010101" pitchFamily="2" charset="-122"/>
              </a:rPr>
              <a:t>的硬件组织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latin typeface="宋体" panose="02010600030101010101" pitchFamily="2" charset="-122"/>
              </a:rPr>
              <a:t>  连接方式</a:t>
            </a:r>
            <a:r>
              <a:rPr lang="en-US" altLang="zh-CN" sz="1800" b="1" dirty="0">
                <a:latin typeface="宋体" panose="02010600030101010101" pitchFamily="2" charset="-122"/>
              </a:rPr>
              <a:t>(I/O</a:t>
            </a:r>
            <a:r>
              <a:rPr lang="zh-CN" altLang="en-US" sz="1800" b="1" dirty="0">
                <a:latin typeface="宋体" panose="02010600030101010101" pitchFamily="2" charset="-122"/>
              </a:rPr>
              <a:t>过程、</a:t>
            </a:r>
            <a:r>
              <a:rPr lang="en-US" altLang="zh-CN" sz="1800" b="1" dirty="0">
                <a:latin typeface="宋体" panose="02010600030101010101" pitchFamily="2" charset="-122"/>
              </a:rPr>
              <a:t>I/O</a:t>
            </a:r>
            <a:r>
              <a:rPr lang="zh-CN" altLang="en-US" sz="1800" b="1" dirty="0">
                <a:latin typeface="宋体" panose="02010600030101010101" pitchFamily="2" charset="-122"/>
              </a:rPr>
              <a:t>指令功能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，编址方式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总线需求、特点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latin typeface="宋体" panose="02010600030101010101" pitchFamily="2" charset="-122"/>
              </a:rPr>
              <a:t>目标设备识别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判断方法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，联络方式</a:t>
            </a:r>
            <a:r>
              <a:rPr lang="en-US" altLang="zh-CN" sz="1800" b="1" dirty="0">
                <a:latin typeface="宋体" panose="02010600030101010101" pitchFamily="2" charset="-122"/>
              </a:rPr>
              <a:t>(3</a:t>
            </a:r>
            <a:r>
              <a:rPr lang="zh-CN" altLang="en-US" sz="1800" b="1" dirty="0">
                <a:latin typeface="宋体" panose="02010600030101010101" pitchFamily="2" charset="-122"/>
              </a:rPr>
              <a:t>种</a:t>
            </a:r>
            <a:r>
              <a:rPr lang="en-US" altLang="zh-CN" sz="1800" b="1" dirty="0">
                <a:latin typeface="宋体" panose="02010600030101010101" pitchFamily="2" charset="-122"/>
              </a:rPr>
              <a:t>[</a:t>
            </a:r>
            <a:r>
              <a:rPr lang="zh-CN" altLang="en-US" sz="1800" b="1" dirty="0">
                <a:latin typeface="宋体" panose="02010600030101010101" pitchFamily="2" charset="-122"/>
              </a:rPr>
              <a:t>基于数据传送方式</a:t>
            </a:r>
            <a:r>
              <a:rPr lang="en-US" altLang="zh-CN" sz="1800" b="1" dirty="0">
                <a:latin typeface="宋体" panose="02010600030101010101" pitchFamily="2" charset="-122"/>
              </a:rPr>
              <a:t>])</a:t>
            </a: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3.I/O</a:t>
            </a:r>
            <a:r>
              <a:rPr lang="zh-CN" altLang="en-US" sz="2200" b="1" dirty="0">
                <a:solidFill>
                  <a:srgbClr val="FF3399"/>
                </a:solidFill>
                <a:latin typeface="宋体" panose="02010600030101010101" pitchFamily="2" charset="-122"/>
              </a:rPr>
              <a:t>的传送控制方式      </a:t>
            </a:r>
            <a:r>
              <a:rPr lang="zh-CN" altLang="en-US" sz="1800" b="1" dirty="0">
                <a:latin typeface="宋体" panose="02010600030101010101" pitchFamily="2" charset="-122"/>
              </a:rPr>
              <a:t>☆理解</a:t>
            </a:r>
            <a:r>
              <a:rPr lang="en-US" altLang="zh-CN" sz="1800" b="1" dirty="0">
                <a:latin typeface="宋体" panose="02010600030101010101" pitchFamily="2" charset="-122"/>
              </a:rPr>
              <a:t>I/O</a:t>
            </a:r>
            <a:r>
              <a:rPr lang="zh-CN" altLang="en-US" sz="1800" b="1" dirty="0">
                <a:latin typeface="宋体" panose="02010600030101010101" pitchFamily="2" charset="-122"/>
              </a:rPr>
              <a:t>的软件组织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</a:t>
            </a:r>
            <a:r>
              <a:rPr lang="en-US" altLang="zh-CN" sz="2200" b="1" dirty="0">
                <a:latin typeface="宋体" panose="02010600030101010101" pitchFamily="2" charset="-122"/>
              </a:rPr>
              <a:t>4</a:t>
            </a:r>
            <a:r>
              <a:rPr lang="zh-CN" altLang="en-US" sz="2200" b="1" dirty="0">
                <a:latin typeface="宋体" panose="02010600030101010101" pitchFamily="2" charset="-122"/>
              </a:rPr>
              <a:t>种方式的</a:t>
            </a:r>
            <a:r>
              <a:rPr lang="en-US" altLang="zh-CN" sz="2200" b="1" dirty="0">
                <a:latin typeface="宋体" panose="02010600030101010101" pitchFamily="2" charset="-122"/>
              </a:rPr>
              <a:t>I/O</a:t>
            </a:r>
            <a:r>
              <a:rPr lang="zh-CN" altLang="en-US" sz="2200" b="1" dirty="0">
                <a:latin typeface="宋体" panose="02010600030101010101" pitchFamily="2" charset="-122"/>
              </a:rPr>
              <a:t>功能、传送控制原理、</a:t>
            </a:r>
            <a:r>
              <a:rPr lang="en-US" altLang="zh-CN" sz="2200" b="1" dirty="0">
                <a:latin typeface="宋体" panose="02010600030101010101" pitchFamily="2" charset="-122"/>
              </a:rPr>
              <a:t>I/O</a:t>
            </a:r>
            <a:r>
              <a:rPr lang="zh-CN" altLang="en-US" sz="2200" b="1" dirty="0">
                <a:latin typeface="宋体" panose="02010600030101010101" pitchFamily="2" charset="-122"/>
              </a:rPr>
              <a:t>所占</a:t>
            </a:r>
            <a:r>
              <a:rPr lang="en-US" altLang="zh-CN" sz="2200" b="1" dirty="0">
                <a:latin typeface="宋体" panose="02010600030101010101" pitchFamily="2" charset="-122"/>
              </a:rPr>
              <a:t>CPU</a:t>
            </a:r>
            <a:r>
              <a:rPr lang="zh-CN" altLang="en-US" sz="2200" b="1" dirty="0">
                <a:latin typeface="宋体" panose="02010600030101010101" pitchFamily="2" charset="-122"/>
              </a:rPr>
              <a:t>时间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latin typeface="宋体" panose="02010600030101010101" pitchFamily="2" charset="-122"/>
              </a:rPr>
              <a:t>     〖</a:t>
            </a:r>
            <a:r>
              <a:rPr lang="zh-CN" altLang="en-US" sz="2000" b="1" dirty="0">
                <a:latin typeface="宋体" panose="02010600030101010101" pitchFamily="2" charset="-122"/>
              </a:rPr>
              <a:t>例</a:t>
            </a:r>
            <a:r>
              <a:rPr lang="en-US" altLang="zh-CN" sz="2000" b="1" dirty="0">
                <a:latin typeface="宋体" panose="02010600030101010101" pitchFamily="2" charset="-122"/>
              </a:rPr>
              <a:t>〗PPT7-P26</a:t>
            </a:r>
            <a:r>
              <a:rPr lang="zh-CN" altLang="en-US" sz="2000" b="1" dirty="0">
                <a:latin typeface="宋体" panose="02010600030101010101" pitchFamily="2" charset="-122"/>
              </a:rPr>
              <a:t>、</a:t>
            </a:r>
            <a:r>
              <a:rPr lang="en-US" altLang="zh-CN" sz="2000" b="1" dirty="0">
                <a:latin typeface="宋体" panose="02010600030101010101" pitchFamily="2" charset="-122"/>
              </a:rPr>
              <a:t>P29</a:t>
            </a:r>
            <a:r>
              <a:rPr lang="zh-CN" altLang="en-US" sz="2000" b="1" dirty="0">
                <a:latin typeface="宋体" panose="02010600030101010101" pitchFamily="2" charset="-122"/>
              </a:rPr>
              <a:t>程序，</a:t>
            </a:r>
            <a:r>
              <a:rPr lang="en-US" altLang="zh-CN" sz="2000" b="1" dirty="0">
                <a:latin typeface="宋体" panose="02010600030101010101" pitchFamily="2" charset="-122"/>
              </a:rPr>
              <a:t>P45</a:t>
            </a:r>
            <a:r>
              <a:rPr lang="zh-CN" altLang="en-US" sz="2000" b="1" dirty="0">
                <a:latin typeface="宋体" panose="02010600030101010101" pitchFamily="2" charset="-122"/>
              </a:rPr>
              <a:t>例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二、外部设备             </a:t>
            </a:r>
            <a:r>
              <a:rPr lang="en-US" altLang="zh-CN" sz="1800" b="1" dirty="0">
                <a:latin typeface="+mn-ea"/>
              </a:rPr>
              <a:t>×</a:t>
            </a:r>
            <a:r>
              <a:rPr lang="zh-CN" altLang="en-US" sz="1800" b="1" dirty="0">
                <a:latin typeface="+mn-ea"/>
              </a:rPr>
              <a:t>不考  </a:t>
            </a:r>
            <a:r>
              <a:rPr lang="en-US" altLang="zh-CN" sz="1800" b="1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(</a:t>
            </a:r>
            <a:r>
              <a:rPr lang="zh-CN" altLang="en-US" sz="1800" b="1" dirty="0">
                <a:solidFill>
                  <a:schemeClr val="bg1">
                    <a:lumMod val="85000"/>
                  </a:schemeClr>
                </a:solidFill>
                <a:latin typeface="宋体" panose="02010600030101010101" pitchFamily="2" charset="-122"/>
              </a:rPr>
              <a:t>了解</a:t>
            </a:r>
            <a:r>
              <a:rPr lang="zh-CN" altLang="en-US" sz="1800" b="1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磁盘组成、可分析性能</a:t>
            </a:r>
            <a:r>
              <a:rPr lang="en-US" altLang="zh-CN" sz="1800" b="1" dirty="0">
                <a:solidFill>
                  <a:schemeClr val="bg1">
                    <a:lumMod val="85000"/>
                  </a:schemeClr>
                </a:solidFill>
                <a:latin typeface="+mn-ea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latin typeface="宋体" panose="02010600030101010101" pitchFamily="2" charset="-122"/>
              </a:rPr>
              <a:t>输入</a:t>
            </a:r>
            <a:r>
              <a:rPr lang="en-US" altLang="zh-CN" sz="2200" b="1" dirty="0">
                <a:latin typeface="宋体" panose="02010600030101010101" pitchFamily="2" charset="-122"/>
              </a:rPr>
              <a:t>/</a:t>
            </a:r>
            <a:r>
              <a:rPr lang="zh-CN" altLang="en-US" sz="2200" b="1" dirty="0">
                <a:latin typeface="宋体" panose="02010600030101010101" pitchFamily="2" charset="-122"/>
              </a:rPr>
              <a:t>出设备的组成、工作原理</a:t>
            </a:r>
            <a:r>
              <a:rPr lang="en-US" altLang="zh-CN" sz="2200" b="1" dirty="0">
                <a:latin typeface="宋体" panose="02010600030101010101" pitchFamily="2" charset="-122"/>
              </a:rPr>
              <a:t>(×)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latin typeface="宋体" panose="02010600030101010101" pitchFamily="2" charset="-122"/>
              </a:rPr>
              <a:t>磁盘的结构、工作原理、性能指标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11" name="AutoShape 62">
            <a:hlinkClick r:id="rId3" action="ppaction://hlinkfile"/>
          </p:cNvPr>
          <p:cNvSpPr>
            <a:spLocks noChangeArrowheads="1"/>
          </p:cNvSpPr>
          <p:nvPr/>
        </p:nvSpPr>
        <p:spPr bwMode="auto">
          <a:xfrm>
            <a:off x="8298762" y="2699992"/>
            <a:ext cx="593718" cy="270031"/>
          </a:xfrm>
          <a:prstGeom prst="homePlate">
            <a:avLst>
              <a:gd name="adj" fmla="val 25000"/>
            </a:avLst>
          </a:prstGeom>
          <a:noFill/>
          <a:ln w="19050">
            <a:solidFill>
              <a:schemeClr val="bg1">
                <a:lumMod val="75000"/>
              </a:schemeClr>
            </a:solidFill>
            <a:miter lim="800000"/>
          </a:ln>
          <a:effectLst/>
        </p:spPr>
        <p:txBody>
          <a:bodyPr vert="horz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7-9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4" name="AutoShape 62">
            <a:hlinkClick r:id="rId4" action="ppaction://hlinkpres?slideindex=26&amp;slidetitle=PowerPoint%20演示文稿"/>
          </p:cNvPr>
          <p:cNvSpPr>
            <a:spLocks noChangeArrowheads="1"/>
          </p:cNvSpPr>
          <p:nvPr/>
        </p:nvSpPr>
        <p:spPr bwMode="auto">
          <a:xfrm>
            <a:off x="6372200" y="4725144"/>
            <a:ext cx="593718" cy="270031"/>
          </a:xfrm>
          <a:prstGeom prst="homePlate">
            <a:avLst>
              <a:gd name="adj" fmla="val 25000"/>
            </a:avLst>
          </a:prstGeom>
          <a:noFill/>
          <a:ln w="19050">
            <a:solidFill>
              <a:schemeClr val="bg1">
                <a:lumMod val="75000"/>
              </a:schemeClr>
            </a:solidFill>
            <a:miter lim="800000"/>
          </a:ln>
          <a:effectLst/>
        </p:spPr>
        <p:txBody>
          <a:bodyPr vert="horz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7-26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5" name="AutoShape 62">
            <a:hlinkClick r:id="rId5" action="ppaction://hlinkpres?slideindex=45&amp;slidetitle=PowerPoint%20演示文稿"/>
          </p:cNvPr>
          <p:cNvSpPr>
            <a:spLocks noChangeArrowheads="1"/>
          </p:cNvSpPr>
          <p:nvPr/>
        </p:nvSpPr>
        <p:spPr bwMode="auto">
          <a:xfrm>
            <a:off x="8028384" y="4725144"/>
            <a:ext cx="593718" cy="270031"/>
          </a:xfrm>
          <a:prstGeom prst="homePlate">
            <a:avLst>
              <a:gd name="adj" fmla="val 25000"/>
            </a:avLst>
          </a:prstGeom>
          <a:noFill/>
          <a:ln w="19050">
            <a:solidFill>
              <a:schemeClr val="bg1">
                <a:lumMod val="75000"/>
              </a:schemeClr>
            </a:solidFill>
            <a:miter lim="800000"/>
          </a:ln>
          <a:effectLst/>
        </p:spPr>
        <p:txBody>
          <a:bodyPr vert="horz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7-45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13" name="AutoShape 62">
            <a:hlinkClick r:id="rId6" action="ppaction://hlinkpres?slideindex=29&amp;slidetitle=PowerPoint%20演示文稿"/>
            <a:extLst>
              <a:ext uri="{FF2B5EF4-FFF2-40B4-BE49-F238E27FC236}">
                <a16:creationId xmlns:a16="http://schemas.microsoft.com/office/drawing/2014/main" id="{2254121C-6860-48B1-B6D7-9DD57245FD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6634" y="4725144"/>
            <a:ext cx="593718" cy="270031"/>
          </a:xfrm>
          <a:prstGeom prst="homePlate">
            <a:avLst>
              <a:gd name="adj" fmla="val 25000"/>
            </a:avLst>
          </a:prstGeom>
          <a:noFill/>
          <a:ln w="19050">
            <a:solidFill>
              <a:schemeClr val="bg1">
                <a:lumMod val="75000"/>
              </a:schemeClr>
            </a:solidFill>
            <a:miter lim="800000"/>
          </a:ln>
          <a:effectLst/>
        </p:spPr>
        <p:txBody>
          <a:bodyPr vert="horz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7-29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9" grpId="0" bldLvl="0" animBg="1"/>
      <p:bldP spid="11" grpId="0" bldLvl="0" animBg="1"/>
      <p:bldP spid="14" grpId="0" bldLvl="0" animBg="1"/>
      <p:bldP spid="15" grpId="0" bldLvl="0" animBg="1"/>
      <p:bldP spid="13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179512" y="1197005"/>
            <a:ext cx="8812212" cy="4266104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四、</a:t>
            </a:r>
            <a:r>
              <a:rPr lang="en-US" altLang="zh-CN" sz="2200" b="1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I/O</a:t>
            </a:r>
            <a:r>
              <a:rPr lang="zh-CN" altLang="en-US" sz="2200" b="1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控制方式</a:t>
            </a:r>
            <a:endParaRPr lang="en-US" altLang="zh-CN" sz="2200" b="1" dirty="0">
              <a:solidFill>
                <a:srgbClr val="FF33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+mn-ea"/>
                <a:ea typeface="+mn-ea"/>
              </a:rPr>
              <a:t>1.</a:t>
            </a:r>
            <a:r>
              <a:rPr lang="zh-CN" altLang="en-US" sz="2200" b="1" dirty="0">
                <a:solidFill>
                  <a:srgbClr val="FF3399"/>
                </a:solidFill>
                <a:latin typeface="+mn-ea"/>
                <a:ea typeface="+mn-ea"/>
              </a:rPr>
              <a:t>程序直接控制</a:t>
            </a:r>
            <a:r>
              <a:rPr lang="en-US" altLang="zh-CN" sz="2200" b="1" dirty="0">
                <a:solidFill>
                  <a:srgbClr val="FF3399"/>
                </a:solidFill>
                <a:latin typeface="+mn-ea"/>
                <a:ea typeface="+mn-ea"/>
              </a:rPr>
              <a:t>I/O</a:t>
            </a:r>
            <a:r>
              <a:rPr lang="zh-CN" altLang="en-US" sz="2200" b="1" dirty="0">
                <a:solidFill>
                  <a:srgbClr val="FF3399"/>
                </a:solidFill>
                <a:latin typeface="+mn-ea"/>
                <a:ea typeface="+mn-ea"/>
              </a:rPr>
              <a:t>方式    </a:t>
            </a:r>
            <a:r>
              <a:rPr lang="zh-CN" altLang="en-US" sz="1800" b="1" dirty="0">
                <a:latin typeface="+mn-ea"/>
                <a:ea typeface="+mn-ea"/>
              </a:rPr>
              <a:t>◇理解控制流程→硬件组</a:t>
            </a:r>
            <a:r>
              <a:rPr lang="zh-CN" altLang="en-US" sz="2200" b="1" dirty="0">
                <a:latin typeface="+mn-ea"/>
                <a:ea typeface="+mn-ea"/>
              </a:rPr>
              <a:t>织</a:t>
            </a:r>
            <a:endParaRPr lang="en-US" altLang="zh-CN" sz="2200" b="1" dirty="0">
              <a:solidFill>
                <a:srgbClr val="FF3300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程序查询方式</a:t>
            </a:r>
            <a:r>
              <a:rPr lang="en-US" altLang="zh-CN" sz="2200" b="1" dirty="0">
                <a:latin typeface="宋体" panose="02010600030101010101" pitchFamily="2" charset="-122"/>
              </a:rPr>
              <a:t>—I/O</a:t>
            </a:r>
            <a:r>
              <a:rPr lang="zh-CN" altLang="en-US" sz="2200" b="1" dirty="0">
                <a:latin typeface="宋体" panose="02010600030101010101" pitchFamily="2" charset="-122"/>
              </a:rPr>
              <a:t>控制流程，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接口组织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端口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支持操作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  <a:ea typeface="+mn-ea"/>
              </a:rPr>
              <a:t>   直接传送方式</a:t>
            </a:r>
            <a:r>
              <a:rPr lang="en-US" altLang="zh-CN" sz="2200" b="1" dirty="0">
                <a:latin typeface="宋体" panose="02010600030101010101" pitchFamily="2" charset="-122"/>
                <a:ea typeface="+mn-ea"/>
              </a:rPr>
              <a:t>—</a:t>
            </a:r>
            <a:r>
              <a:rPr lang="en-US" altLang="zh-CN" sz="2200" b="1" dirty="0">
                <a:latin typeface="宋体" panose="02010600030101010101" pitchFamily="2" charset="-122"/>
              </a:rPr>
              <a:t>I/O</a:t>
            </a:r>
            <a:r>
              <a:rPr lang="zh-CN" altLang="en-US" sz="2200" b="1" dirty="0">
                <a:latin typeface="宋体" panose="02010600030101010101" pitchFamily="2" charset="-122"/>
              </a:rPr>
              <a:t>控制流程，</a:t>
            </a:r>
            <a:r>
              <a:rPr lang="en-US" altLang="zh-CN" sz="2200" b="1" dirty="0">
                <a:latin typeface="宋体" panose="02010600030101010101" pitchFamily="2" charset="-122"/>
              </a:rPr>
              <a:t>I/O</a:t>
            </a:r>
            <a:r>
              <a:rPr lang="zh-CN" altLang="en-US" sz="2200" b="1" dirty="0">
                <a:latin typeface="宋体" panose="02010600030101010101" pitchFamily="2" charset="-122"/>
              </a:rPr>
              <a:t>接口组织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端口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支持操作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+mn-ea"/>
                <a:ea typeface="+mn-ea"/>
              </a:rPr>
              <a:t>2.</a:t>
            </a:r>
            <a:r>
              <a:rPr lang="zh-CN" altLang="en-US" sz="2200" b="1" dirty="0">
                <a:solidFill>
                  <a:srgbClr val="FF3399"/>
                </a:solidFill>
                <a:latin typeface="+mn-ea"/>
                <a:ea typeface="+mn-ea"/>
              </a:rPr>
              <a:t>程序中断</a:t>
            </a:r>
            <a:r>
              <a:rPr lang="en-US" altLang="zh-CN" sz="2200" b="1" dirty="0">
                <a:solidFill>
                  <a:srgbClr val="FF3399"/>
                </a:solidFill>
                <a:latin typeface="+mn-ea"/>
                <a:ea typeface="+mn-ea"/>
              </a:rPr>
              <a:t>I/O</a:t>
            </a:r>
            <a:r>
              <a:rPr lang="zh-CN" altLang="en-US" sz="2200" b="1" dirty="0">
                <a:solidFill>
                  <a:srgbClr val="FF3399"/>
                </a:solidFill>
                <a:latin typeface="+mn-ea"/>
                <a:ea typeface="+mn-ea"/>
              </a:rPr>
              <a:t>方式        </a:t>
            </a:r>
            <a:r>
              <a:rPr lang="zh-CN" altLang="en-US" sz="1800" b="1" dirty="0">
                <a:latin typeface="+mn-ea"/>
              </a:rPr>
              <a:t>◇理解中断过程→软</a:t>
            </a:r>
            <a:r>
              <a:rPr lang="en-US" altLang="zh-CN" sz="1800" b="1" dirty="0">
                <a:latin typeface="+mn-ea"/>
              </a:rPr>
              <a:t>/</a:t>
            </a:r>
            <a:r>
              <a:rPr lang="zh-CN" altLang="en-US" sz="1800" b="1" dirty="0">
                <a:latin typeface="+mn-ea"/>
              </a:rPr>
              <a:t>硬件组织</a:t>
            </a:r>
            <a:endParaRPr lang="en-US" altLang="zh-CN" sz="1800" b="1" dirty="0">
              <a:latin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I/O</a:t>
            </a:r>
            <a:r>
              <a:rPr lang="zh-CN" altLang="en-US" sz="2200" b="1" dirty="0">
                <a:latin typeface="宋体" panose="02010600030101010101" pitchFamily="2" charset="-122"/>
              </a:rPr>
              <a:t>控制流程，中断的类型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请求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响应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处理过程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  I/O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接口组织</a:t>
            </a:r>
            <a:r>
              <a:rPr lang="zh-CN" altLang="en-US" sz="2200" b="1" dirty="0">
                <a:latin typeface="宋体" panose="02010600030101010101" pitchFamily="2" charset="-122"/>
              </a:rPr>
              <a:t>，中断源识别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连接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判优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，中断控制器</a:t>
            </a:r>
            <a:r>
              <a:rPr lang="en-US" altLang="zh-CN" sz="1800" b="1" dirty="0">
                <a:latin typeface="宋体" panose="02010600030101010101" pitchFamily="2" charset="-122"/>
              </a:rPr>
              <a:t>(×)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latin typeface="宋体" panose="02010600030101010101" pitchFamily="2" charset="-122"/>
              </a:rPr>
              <a:t>中断系统举例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理解相关部件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连接</a:t>
            </a:r>
            <a:r>
              <a:rPr lang="zh-CN" altLang="en-US" sz="1800" b="1" dirty="0">
                <a:latin typeface="宋体" panose="02010600030101010101" pitchFamily="2" charset="-122"/>
              </a:rPr>
              <a:t>、软件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硬件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协同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</a:t>
            </a:r>
            <a:r>
              <a:rPr lang="en-US" altLang="zh-CN" sz="2200" b="1" dirty="0">
                <a:latin typeface="宋体" panose="02010600030101010101" pitchFamily="2" charset="-122"/>
              </a:rPr>
              <a:t>  </a:t>
            </a:r>
            <a:r>
              <a:rPr lang="zh-CN" altLang="en-US" sz="2200" b="1" dirty="0">
                <a:latin typeface="宋体" panose="02010600030101010101" pitchFamily="2" charset="-122"/>
              </a:rPr>
              <a:t>多重中断及中断屏蔽</a:t>
            </a:r>
            <a:r>
              <a:rPr lang="en-US" altLang="zh-CN" sz="1800" b="1" dirty="0">
                <a:latin typeface="宋体" panose="02010600030101010101" pitchFamily="2" charset="-122"/>
              </a:rPr>
              <a:t>(×)</a:t>
            </a: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+mn-ea"/>
              </a:rPr>
              <a:t>3.DMA I/O</a:t>
            </a:r>
            <a:r>
              <a:rPr lang="zh-CN" altLang="en-US" sz="2200" b="1" dirty="0">
                <a:solidFill>
                  <a:srgbClr val="FF3399"/>
                </a:solidFill>
                <a:latin typeface="+mn-ea"/>
              </a:rPr>
              <a:t>方式             </a:t>
            </a:r>
            <a:r>
              <a:rPr lang="zh-CN" altLang="en-US" sz="1800" b="1" dirty="0">
                <a:latin typeface="宋体" panose="02010600030101010101" pitchFamily="2" charset="-122"/>
              </a:rPr>
              <a:t>△了解</a:t>
            </a:r>
            <a:r>
              <a:rPr lang="en-US" altLang="zh-CN" sz="1800" b="1" dirty="0">
                <a:latin typeface="宋体" panose="02010600030101010101" pitchFamily="2" charset="-122"/>
              </a:rPr>
              <a:t>DMA</a:t>
            </a:r>
            <a:r>
              <a:rPr lang="zh-CN" altLang="en-US" sz="1800" b="1" dirty="0">
                <a:latin typeface="宋体" panose="02010600030101010101" pitchFamily="2" charset="-122"/>
              </a:rPr>
              <a:t>的传送过程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t>23</a:t>
            </a:fld>
            <a:endParaRPr lang="en-US" altLang="zh-CN" dirty="0"/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179388" y="332656"/>
            <a:ext cx="8713092" cy="937260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三、</a:t>
            </a:r>
            <a:r>
              <a:rPr lang="en-US" altLang="zh-CN" sz="2200" b="1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I/O</a:t>
            </a:r>
            <a:r>
              <a:rPr lang="zh-CN" altLang="en-US" sz="2200" b="1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接口              </a:t>
            </a:r>
            <a:r>
              <a:rPr lang="zh-CN" altLang="en-US" sz="1800" b="1" dirty="0">
                <a:latin typeface="宋体" panose="02010600030101010101" pitchFamily="2" charset="-122"/>
              </a:rPr>
              <a:t>△了解概念</a:t>
            </a:r>
            <a:endParaRPr lang="en-US" altLang="zh-CN" sz="2200" b="1" dirty="0">
              <a:solidFill>
                <a:srgbClr val="FF33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功能、</a:t>
            </a:r>
            <a:r>
              <a:rPr lang="en-US" altLang="zh-CN" sz="2200" b="1" dirty="0">
                <a:latin typeface="宋体" panose="02010600030101010101" pitchFamily="2" charset="-122"/>
              </a:rPr>
              <a:t>I/O</a:t>
            </a:r>
            <a:r>
              <a:rPr lang="zh-CN" altLang="en-US" sz="2200" b="1" dirty="0">
                <a:latin typeface="宋体" panose="02010600030101010101" pitchFamily="2" charset="-122"/>
              </a:rPr>
              <a:t>端口类型，组成、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工作原理</a:t>
            </a:r>
            <a:r>
              <a:rPr lang="zh-CN" altLang="en-US" sz="2200" b="1" dirty="0">
                <a:latin typeface="宋体" panose="02010600030101010101" pitchFamily="2" charset="-122"/>
              </a:rPr>
              <a:t>，访问方法</a:t>
            </a:r>
            <a:endParaRPr lang="en-US" altLang="zh-CN" sz="2200" b="1" dirty="0">
              <a:latin typeface="宋体" panose="02010600030101010101" pitchFamily="2" charset="-122"/>
              <a:ea typeface="+mn-ea"/>
            </a:endParaRPr>
          </a:p>
        </p:txBody>
      </p:sp>
      <p:sp>
        <p:nvSpPr>
          <p:cNvPr id="16" name="AutoShape 62">
            <a:hlinkClick r:id="rId2" action="ppaction://hlinkfile"/>
          </p:cNvPr>
          <p:cNvSpPr>
            <a:spLocks noChangeArrowheads="1"/>
          </p:cNvSpPr>
          <p:nvPr/>
        </p:nvSpPr>
        <p:spPr bwMode="auto">
          <a:xfrm>
            <a:off x="8370770" y="3428494"/>
            <a:ext cx="593718" cy="270031"/>
          </a:xfrm>
          <a:prstGeom prst="homePlate">
            <a:avLst>
              <a:gd name="adj" fmla="val 25000"/>
            </a:avLst>
          </a:prstGeom>
          <a:noFill/>
          <a:ln w="19050">
            <a:solidFill>
              <a:schemeClr val="bg1">
                <a:lumMod val="75000"/>
              </a:schemeClr>
            </a:solidFill>
            <a:miter lim="800000"/>
          </a:ln>
          <a:effectLst/>
        </p:spPr>
        <p:txBody>
          <a:bodyPr vert="horz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7-46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2700551" y="1197005"/>
            <a:ext cx="2689705" cy="1404000"/>
            <a:chOff x="2915816" y="2708920"/>
            <a:chExt cx="2689705" cy="1404000"/>
          </a:xfrm>
        </p:grpSpPr>
        <p:cxnSp>
          <p:nvCxnSpPr>
            <p:cNvPr id="11" name="直接箭头连接符 10"/>
            <p:cNvCxnSpPr/>
            <p:nvPr/>
          </p:nvCxnSpPr>
          <p:spPr bwMode="auto">
            <a:xfrm>
              <a:off x="2915816" y="2708920"/>
              <a:ext cx="2689705" cy="972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4" name="直接箭头连接符 13"/>
            <p:cNvCxnSpPr/>
            <p:nvPr/>
          </p:nvCxnSpPr>
          <p:spPr bwMode="auto">
            <a:xfrm>
              <a:off x="2915816" y="2708920"/>
              <a:ext cx="2592288" cy="1404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arrow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t>24</a:t>
            </a:fld>
            <a:endParaRPr lang="en-US" altLang="zh-CN" dirty="0"/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179512" y="404664"/>
            <a:ext cx="8784976" cy="2074545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FF3399"/>
                </a:solidFill>
                <a:latin typeface="+mn-ea"/>
              </a:rPr>
              <a:t>3.DMA I/O</a:t>
            </a:r>
            <a:r>
              <a:rPr lang="zh-CN" altLang="en-US" sz="2200" b="1" dirty="0">
                <a:solidFill>
                  <a:srgbClr val="FF3399"/>
                </a:solidFill>
                <a:latin typeface="+mn-ea"/>
              </a:rPr>
              <a:t>方式             </a:t>
            </a:r>
            <a:r>
              <a:rPr lang="zh-CN" altLang="en-US" sz="1800" b="1" dirty="0">
                <a:latin typeface="宋体" panose="02010600030101010101" pitchFamily="2" charset="-122"/>
              </a:rPr>
              <a:t>△了解</a:t>
            </a:r>
            <a:r>
              <a:rPr lang="en-US" altLang="zh-CN" sz="1800" b="1" dirty="0">
                <a:latin typeface="宋体" panose="02010600030101010101" pitchFamily="2" charset="-122"/>
              </a:rPr>
              <a:t>DMA</a:t>
            </a:r>
            <a:r>
              <a:rPr lang="zh-CN" altLang="en-US" sz="1800" b="1" dirty="0">
                <a:latin typeface="宋体" panose="02010600030101010101" pitchFamily="2" charset="-122"/>
              </a:rPr>
              <a:t>的传送过程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I/O</a:t>
            </a:r>
            <a:r>
              <a:rPr lang="zh-CN" altLang="en-US" sz="2200" b="1" dirty="0">
                <a:latin typeface="宋体" panose="02010600030101010101" pitchFamily="2" charset="-122"/>
              </a:rPr>
              <a:t>功能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→对</a:t>
            </a:r>
            <a:r>
              <a:rPr lang="en-US" altLang="zh-CN" sz="1800" b="1" dirty="0">
                <a:latin typeface="宋体" panose="02010600030101010101" pitchFamily="2" charset="-122"/>
              </a:rPr>
              <a:t>CPU</a:t>
            </a:r>
            <a:r>
              <a:rPr lang="zh-CN" altLang="en-US" sz="1800" b="1" dirty="0">
                <a:latin typeface="宋体" panose="02010600030101010101" pitchFamily="2" charset="-122"/>
              </a:rPr>
              <a:t>的要求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r>
              <a:rPr lang="en-US" altLang="zh-CN" sz="2200" b="1" dirty="0">
                <a:latin typeface="宋体" panose="02010600030101010101" pitchFamily="2" charset="-122"/>
              </a:rPr>
              <a:t>I/O</a:t>
            </a:r>
            <a:r>
              <a:rPr lang="zh-CN" altLang="en-US" sz="2200" b="1" dirty="0">
                <a:latin typeface="宋体" panose="02010600030101010101" pitchFamily="2" charset="-122"/>
              </a:rPr>
              <a:t>控制流程，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</a:t>
            </a:r>
            <a:r>
              <a:rPr lang="zh-CN" altLang="en-US" sz="2200" b="1" dirty="0">
                <a:latin typeface="宋体" panose="02010600030101010101" pitchFamily="2" charset="-122"/>
              </a:rPr>
              <a:t>传送方式</a:t>
            </a:r>
            <a:r>
              <a:rPr lang="en-US" altLang="zh-CN" sz="1800" b="1" dirty="0">
                <a:latin typeface="宋体" panose="02010600030101010101" pitchFamily="2" charset="-122"/>
              </a:rPr>
              <a:t>([</a:t>
            </a:r>
            <a:r>
              <a:rPr lang="zh-CN" altLang="en-US" sz="1800" b="1" dirty="0">
                <a:latin typeface="宋体" panose="02010600030101010101" pitchFamily="2" charset="-122"/>
              </a:rPr>
              <a:t>总线使用权的请求方式</a:t>
            </a:r>
            <a:r>
              <a:rPr lang="en-US" altLang="zh-CN" sz="1800" b="1" dirty="0">
                <a:latin typeface="宋体" panose="02010600030101010101" pitchFamily="2" charset="-122"/>
              </a:rPr>
              <a:t>]3</a:t>
            </a:r>
            <a:r>
              <a:rPr lang="zh-CN" altLang="en-US" sz="1800" b="1" dirty="0">
                <a:latin typeface="宋体" panose="02010600030101010101" pitchFamily="2" charset="-122"/>
              </a:rPr>
              <a:t>种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DMA</a:t>
            </a:r>
            <a:r>
              <a:rPr lang="zh-CN" altLang="en-US" sz="2200" b="1" dirty="0">
                <a:latin typeface="宋体" panose="02010600030101010101" pitchFamily="2" charset="-122"/>
              </a:rPr>
              <a:t>接口基本结构→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传送过程，</a:t>
            </a:r>
            <a:r>
              <a:rPr lang="en-US" altLang="zh-CN" sz="2200" b="1" dirty="0">
                <a:latin typeface="宋体" panose="02010600030101010101" pitchFamily="2" charset="-122"/>
              </a:rPr>
              <a:t>I/O</a:t>
            </a:r>
            <a:r>
              <a:rPr lang="zh-CN" altLang="en-US" sz="2200" b="1" dirty="0">
                <a:latin typeface="宋体" panose="02010600030101010101" pitchFamily="2" charset="-122"/>
              </a:rPr>
              <a:t>接口组织</a:t>
            </a:r>
            <a:r>
              <a:rPr lang="en-US" altLang="zh-CN" sz="1800" b="1" dirty="0">
                <a:latin typeface="宋体" panose="02010600030101010101" pitchFamily="2" charset="-122"/>
              </a:rPr>
              <a:t>(×)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1800" b="1" dirty="0">
                <a:latin typeface="宋体" panose="02010600030101010101" pitchFamily="2" charset="-122"/>
              </a:rPr>
              <a:t>   (</a:t>
            </a:r>
            <a:r>
              <a:rPr lang="zh-CN" altLang="en-US" sz="1800" b="1" dirty="0">
                <a:latin typeface="宋体" panose="02010600030101010101" pitchFamily="2" charset="-122"/>
              </a:rPr>
              <a:t>中断接口</a:t>
            </a:r>
            <a:r>
              <a:rPr lang="en-US" altLang="zh-CN" sz="1800" b="1" dirty="0">
                <a:latin typeface="宋体" panose="02010600030101010101" pitchFamily="2" charset="-122"/>
              </a:rPr>
              <a:t>+DMA</a:t>
            </a:r>
            <a:r>
              <a:rPr lang="zh-CN" altLang="en-US" sz="1800" b="1" dirty="0">
                <a:latin typeface="宋体" panose="02010600030101010101" pitchFamily="2" charset="-122"/>
              </a:rPr>
              <a:t>传送控制</a:t>
            </a:r>
            <a:r>
              <a:rPr lang="en-US" altLang="zh-CN" sz="1800" b="1" dirty="0">
                <a:latin typeface="宋体" panose="02010600030101010101" pitchFamily="2" charset="-122"/>
              </a:rPr>
              <a:t>)  (3</a:t>
            </a:r>
            <a:r>
              <a:rPr lang="zh-CN" altLang="en-US" sz="1800" b="1" dirty="0">
                <a:latin typeface="宋体" panose="02010600030101010101" pitchFamily="2" charset="-122"/>
              </a:rPr>
              <a:t>段式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2000" b="1" dirty="0">
              <a:latin typeface="宋体" panose="02010600030101010101" pitchFamily="2" charset="-122"/>
            </a:endParaRPr>
          </a:p>
        </p:txBody>
      </p:sp>
      <p:sp>
        <p:nvSpPr>
          <p:cNvPr id="4" name="Text Box 43"/>
          <p:cNvSpPr txBox="1">
            <a:spLocks noChangeArrowheads="1"/>
          </p:cNvSpPr>
          <p:nvPr/>
        </p:nvSpPr>
        <p:spPr bwMode="auto">
          <a:xfrm>
            <a:off x="179512" y="2485851"/>
            <a:ext cx="8784976" cy="13037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*总体要求：</a:t>
            </a:r>
          </a:p>
          <a:p>
            <a:pPr>
              <a:lnSpc>
                <a:spcPct val="125000"/>
              </a:lnSpc>
            </a:pP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spc="-150" dirty="0">
                <a:latin typeface="宋体" panose="02010600030101010101" pitchFamily="2" charset="-122"/>
              </a:rPr>
              <a:t>掌握</a:t>
            </a:r>
            <a:r>
              <a:rPr lang="en-US" altLang="zh-CN" sz="2200" b="1" spc="-150" dirty="0">
                <a:latin typeface="宋体" panose="02010600030101010101" pitchFamily="2" charset="-122"/>
              </a:rPr>
              <a:t>I/O</a:t>
            </a:r>
            <a:r>
              <a:rPr lang="zh-CN" altLang="en-US" sz="2200" b="1" spc="-150" dirty="0">
                <a:latin typeface="宋体" panose="02010600030101010101" pitchFamily="2" charset="-122"/>
              </a:rPr>
              <a:t>过程的</a:t>
            </a:r>
            <a:r>
              <a:rPr lang="zh-CN" altLang="en-US" sz="2200" b="1" u="sng" spc="-150" dirty="0">
                <a:latin typeface="宋体" panose="02010600030101010101" pitchFamily="2" charset="-122"/>
              </a:rPr>
              <a:t>软硬件协同</a:t>
            </a:r>
            <a:r>
              <a:rPr lang="en-US" altLang="zh-CN" sz="1800" b="1" spc="-150" dirty="0">
                <a:latin typeface="宋体" panose="02010600030101010101" pitchFamily="2" charset="-122"/>
              </a:rPr>
              <a:t>(</a:t>
            </a:r>
            <a:r>
              <a:rPr lang="zh-CN" altLang="en-US" sz="1800" b="1" spc="-150" dirty="0">
                <a:latin typeface="宋体" panose="02010600030101010101" pitchFamily="2" charset="-122"/>
              </a:rPr>
              <a:t>连接</a:t>
            </a:r>
            <a:r>
              <a:rPr lang="en-US" altLang="zh-CN" sz="1800" b="1" spc="-150" dirty="0">
                <a:latin typeface="宋体" panose="02010600030101010101" pitchFamily="2" charset="-122"/>
              </a:rPr>
              <a:t>/IO</a:t>
            </a:r>
            <a:r>
              <a:rPr lang="zh-CN" altLang="en-US" sz="1800" b="1" spc="-150" dirty="0">
                <a:latin typeface="宋体" panose="02010600030101010101" pitchFamily="2" charset="-122"/>
              </a:rPr>
              <a:t>过程</a:t>
            </a:r>
            <a:r>
              <a:rPr lang="en-US" altLang="zh-CN" sz="1800" b="1" spc="-150" dirty="0">
                <a:latin typeface="宋体" panose="02010600030101010101" pitchFamily="2" charset="-122"/>
              </a:rPr>
              <a:t>/</a:t>
            </a:r>
            <a:r>
              <a:rPr lang="zh-CN" altLang="en-US" sz="1800" b="1" spc="-150" dirty="0">
                <a:latin typeface="宋体" panose="02010600030101010101" pitchFamily="2" charset="-122"/>
              </a:rPr>
              <a:t>指令格式</a:t>
            </a:r>
            <a:r>
              <a:rPr lang="en-US" altLang="zh-CN" sz="1800" b="1" spc="-150" dirty="0">
                <a:latin typeface="宋体" panose="02010600030101010101" pitchFamily="2" charset="-122"/>
              </a:rPr>
              <a:t>/</a:t>
            </a:r>
            <a:r>
              <a:rPr lang="zh-CN" altLang="en-US" sz="1800" b="1" spc="-150">
                <a:latin typeface="宋体" panose="02010600030101010101" pitchFamily="2" charset="-122"/>
              </a:rPr>
              <a:t>软件如何配合设备</a:t>
            </a:r>
            <a:r>
              <a:rPr lang="en-US" altLang="zh-CN" sz="1800" b="1" spc="-150" dirty="0">
                <a:latin typeface="宋体" panose="02010600030101010101" pitchFamily="2" charset="-122"/>
              </a:rPr>
              <a:t>)</a:t>
            </a:r>
            <a:r>
              <a:rPr lang="zh-CN" altLang="en-US" sz="2200" b="1" spc="-150" dirty="0">
                <a:latin typeface="宋体" panose="02010600030101010101" pitchFamily="2" charset="-122"/>
              </a:rPr>
              <a:t>，</a:t>
            </a:r>
            <a:endParaRPr lang="en-US" altLang="zh-CN" b="1" spc="-150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spc="-150" dirty="0">
                <a:latin typeface="宋体" panose="02010600030101010101" pitchFamily="2" charset="-122"/>
              </a:rPr>
              <a:t>     </a:t>
            </a:r>
            <a:r>
              <a:rPr lang="zh-CN" altLang="en-US" sz="2200" b="1" spc="-150" dirty="0">
                <a:latin typeface="宋体" panose="02010600030101010101" pitchFamily="2" charset="-122"/>
              </a:rPr>
              <a:t>理解各</a:t>
            </a:r>
            <a:r>
              <a:rPr lang="en-US" altLang="zh-CN" sz="2200" b="1" spc="-150" dirty="0">
                <a:latin typeface="宋体" panose="02010600030101010101" pitchFamily="2" charset="-122"/>
              </a:rPr>
              <a:t>I/O</a:t>
            </a:r>
            <a:r>
              <a:rPr lang="zh-CN" altLang="en-US" sz="2200" b="1" spc="-150" dirty="0">
                <a:latin typeface="宋体" panose="02010600030101010101" pitchFamily="2" charset="-122"/>
              </a:rPr>
              <a:t>方式的</a:t>
            </a:r>
            <a:r>
              <a:rPr lang="zh-CN" altLang="en-US" sz="2200" b="1" u="sng" spc="-150" dirty="0">
                <a:latin typeface="宋体" panose="02010600030101010101" pitchFamily="2" charset="-122"/>
              </a:rPr>
              <a:t>接口组成</a:t>
            </a:r>
            <a:r>
              <a:rPr lang="en-US" altLang="zh-CN" sz="1800" b="1" spc="-150" dirty="0">
                <a:latin typeface="宋体" panose="02010600030101010101" pitchFamily="2" charset="-122"/>
              </a:rPr>
              <a:t>(</a:t>
            </a:r>
            <a:r>
              <a:rPr lang="zh-CN" altLang="en-US" sz="1800" b="1" spc="-150" dirty="0">
                <a:latin typeface="宋体" panose="02010600030101010101" pitchFamily="2" charset="-122"/>
              </a:rPr>
              <a:t>功能、</a:t>
            </a:r>
            <a:r>
              <a:rPr lang="en-US" altLang="zh-CN" sz="1800" b="1" spc="-150" dirty="0">
                <a:latin typeface="宋体" panose="02010600030101010101" pitchFamily="2" charset="-122"/>
              </a:rPr>
              <a:t>I/O</a:t>
            </a:r>
            <a:r>
              <a:rPr lang="zh-CN" altLang="en-US" sz="1800" b="1" spc="-150" dirty="0">
                <a:latin typeface="宋体" panose="02010600030101010101" pitchFamily="2" charset="-122"/>
              </a:rPr>
              <a:t>端口类型</a:t>
            </a:r>
            <a:r>
              <a:rPr lang="en-US" altLang="zh-CN" sz="1800" b="1" spc="-150" dirty="0">
                <a:latin typeface="宋体" panose="02010600030101010101" pitchFamily="2" charset="-122"/>
              </a:rPr>
              <a:t>)</a:t>
            </a:r>
          </a:p>
        </p:txBody>
      </p:sp>
      <p:cxnSp>
        <p:nvCxnSpPr>
          <p:cNvPr id="5" name="直接箭头连接符 4"/>
          <p:cNvCxnSpPr/>
          <p:nvPr/>
        </p:nvCxnSpPr>
        <p:spPr bwMode="auto">
          <a:xfrm>
            <a:off x="1259632" y="1268760"/>
            <a:ext cx="1008112" cy="504056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t>25</a:t>
            </a:fld>
            <a:endParaRPr lang="en-US" altLang="zh-CN" dirty="0"/>
          </a:p>
        </p:txBody>
      </p:sp>
      <p:sp>
        <p:nvSpPr>
          <p:cNvPr id="88" name="AutoShape 50">
            <a:hlinkClick r:id="rId15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5076057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5" name="Text Box 5">
            <a:extLst>
              <a:ext uri="{FF2B5EF4-FFF2-40B4-BE49-F238E27FC236}">
                <a16:creationId xmlns:a16="http://schemas.microsoft.com/office/drawing/2014/main" id="{7240CF3D-D0B4-43DE-A2A6-74F1E2AE88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705" y="332656"/>
            <a:ext cx="5038867" cy="4452950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000" b="1" dirty="0">
                <a:solidFill>
                  <a:srgbClr val="FF3399"/>
                </a:solidFill>
                <a:latin typeface="宋体" panose="02010600030101010101" pitchFamily="2" charset="-122"/>
              </a:rPr>
              <a:t>※</a:t>
            </a:r>
            <a:r>
              <a:rPr lang="zh-CN" altLang="en-US" sz="2000" b="1" dirty="0">
                <a:solidFill>
                  <a:srgbClr val="FF3399"/>
                </a:solidFill>
                <a:latin typeface="宋体" panose="02010600030101010101" pitchFamily="2" charset="-122"/>
              </a:rPr>
              <a:t>图解计算机组成：</a:t>
            </a:r>
            <a:endParaRPr lang="en-US" altLang="zh-CN" sz="2000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硬件组成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16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16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软件组成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指令表示：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程序空间：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1600" b="1" dirty="0">
                <a:latin typeface="宋体" panose="02010600030101010101" pitchFamily="2" charset="-122"/>
              </a:rPr>
              <a:t>           </a:t>
            </a:r>
            <a:r>
              <a:rPr lang="en-US" altLang="zh-CN" sz="1600" dirty="0">
                <a:latin typeface="宋体" panose="02010600030101010101" pitchFamily="2" charset="-122"/>
              </a:rPr>
              <a:t>└</a:t>
            </a:r>
            <a:r>
              <a:rPr lang="en-US" altLang="zh-CN" sz="1600" b="1" dirty="0">
                <a:latin typeface="宋体" panose="02010600030101010101" pitchFamily="2" charset="-122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</a:rPr>
              <a:t>从</a:t>
            </a:r>
            <a:r>
              <a:rPr lang="en-US" altLang="zh-CN" sz="1600" b="1" dirty="0">
                <a:latin typeface="宋体" panose="02010600030101010101" pitchFamily="2" charset="-122"/>
              </a:rPr>
              <a:t>0</a:t>
            </a:r>
            <a:r>
              <a:rPr lang="zh-CN" altLang="en-US" sz="1600" b="1" dirty="0">
                <a:latin typeface="宋体" panose="02010600030101010101" pitchFamily="2" charset="-122"/>
              </a:rPr>
              <a:t>编址</a:t>
            </a:r>
            <a:endParaRPr lang="en-US" altLang="zh-CN" sz="16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工作方式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软件执行方式</a:t>
            </a:r>
            <a:r>
              <a:rPr lang="zh-CN" altLang="en-US" sz="1600" b="1" baseline="-18000" dirty="0">
                <a:latin typeface="宋体" panose="02010600030101010101" pitchFamily="2" charset="-122"/>
              </a:rPr>
              <a:t> </a:t>
            </a:r>
            <a:r>
              <a:rPr lang="zh-CN" altLang="en-US" sz="1600" b="1" dirty="0">
                <a:latin typeface="宋体" panose="02010600030101010101" pitchFamily="2" charset="-122"/>
              </a:rPr>
              <a:t>              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程序存放：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程序执行：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sp>
        <p:nvSpPr>
          <p:cNvPr id="176" name="Text Box 5">
            <a:extLst>
              <a:ext uri="{FF2B5EF4-FFF2-40B4-BE49-F238E27FC236}">
                <a16:creationId xmlns:a16="http://schemas.microsoft.com/office/drawing/2014/main" id="{31E1546F-C40E-4629-9269-5022289FAF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712" y="692696"/>
            <a:ext cx="7056782" cy="5358165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 wrap="square" tIns="64800" bIns="4680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000" b="1" dirty="0">
                <a:latin typeface="宋体" panose="02010600030101010101" pitchFamily="2" charset="-122"/>
              </a:rPr>
              <a:t>5</a:t>
            </a:r>
            <a:r>
              <a:rPr lang="zh-CN" altLang="en-US" sz="2000" b="1" dirty="0">
                <a:latin typeface="宋体" panose="02010600030101010101" pitchFamily="2" charset="-122"/>
              </a:rPr>
              <a:t>大部件＋总线互连，存储器≥主存＋辅存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层次结构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25000"/>
              </a:lnSpc>
            </a:pP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16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sz="16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000" b="1" dirty="0">
                <a:latin typeface="宋体" panose="02010600030101010101" pitchFamily="2" charset="-122"/>
              </a:rPr>
              <a:t>指令序列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指令∈</a:t>
            </a:r>
            <a:r>
              <a:rPr lang="en-US" altLang="zh-CN" sz="1600" b="1" dirty="0">
                <a:solidFill>
                  <a:srgbClr val="FF3399"/>
                </a:solidFill>
                <a:latin typeface="宋体" panose="02010600030101010101" pitchFamily="2" charset="-122"/>
              </a:rPr>
              <a:t>ISA</a:t>
            </a:r>
            <a:r>
              <a:rPr lang="zh-CN" altLang="en-US" sz="1600" b="1" dirty="0">
                <a:latin typeface="宋体" panose="02010600030101010101" pitchFamily="2" charset="-122"/>
              </a:rPr>
              <a:t>、有顺序</a:t>
            </a:r>
            <a:r>
              <a:rPr lang="en-US" altLang="zh-CN" sz="1600" b="1" dirty="0"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</a:rPr>
              <a:t>转移型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16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000" b="1" dirty="0">
                <a:latin typeface="宋体" panose="02010600030101010101" pitchFamily="2" charset="-122"/>
              </a:rPr>
              <a:t>操作码＋地址码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二进制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000" b="1" dirty="0">
                <a:latin typeface="宋体" panose="02010600030101010101" pitchFamily="2" charset="-122"/>
              </a:rPr>
              <a:t>  ＝存储器空间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便于执行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1600" b="1" dirty="0">
                <a:latin typeface="宋体" panose="02010600030101010101" pitchFamily="2" charset="-122"/>
              </a:rPr>
              <a:t>        </a:t>
            </a:r>
            <a:r>
              <a:rPr lang="en-US" altLang="zh-CN" sz="1600" dirty="0">
                <a:latin typeface="宋体" panose="02010600030101010101" pitchFamily="2" charset="-122"/>
              </a:rPr>
              <a:t>└</a:t>
            </a:r>
            <a:r>
              <a:rPr lang="en-US" altLang="zh-CN" sz="1600" b="1" dirty="0">
                <a:latin typeface="宋体" panose="02010600030101010101" pitchFamily="2" charset="-122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</a:rPr>
              <a:t>单元长度同主存</a:t>
            </a:r>
            <a:endParaRPr lang="en-US" altLang="zh-CN" sz="16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</a:rPr>
              <a:t> </a:t>
            </a:r>
            <a:r>
              <a:rPr lang="en-US" altLang="zh-CN" sz="1600" b="1" dirty="0">
                <a:latin typeface="宋体" panose="02010600030101010101" pitchFamily="2" charset="-122"/>
              </a:rPr>
              <a:t>            [</a:t>
            </a:r>
            <a:r>
              <a: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</a:rPr>
              <a:t>存储程序方式</a:t>
            </a:r>
            <a:r>
              <a:rPr lang="en-US" altLang="zh-CN" sz="1600" b="1" dirty="0">
                <a:latin typeface="宋体" panose="02010600030101010101" pitchFamily="2" charset="-122"/>
              </a:rPr>
              <a:t>]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latin typeface="宋体" panose="02010600030101010101" pitchFamily="2" charset="-122"/>
              </a:rPr>
              <a:t>  执行时</a:t>
            </a:r>
            <a:r>
              <a:rPr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预先</a:t>
            </a:r>
            <a:r>
              <a:rPr lang="zh-CN" altLang="en-US" sz="2000" b="1" u="sng" dirty="0">
                <a:latin typeface="宋体" panose="02010600030101010101" pitchFamily="2" charset="-122"/>
              </a:rPr>
              <a:t>装入</a:t>
            </a:r>
            <a:r>
              <a:rPr lang="zh-CN" altLang="en-US" sz="2000" b="1" dirty="0">
                <a:latin typeface="宋体" panose="02010600030101010101" pitchFamily="2" charset="-122"/>
              </a:rPr>
              <a:t>主存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装入位置</a:t>
            </a:r>
            <a:r>
              <a:rPr lang="zh-CN" altLang="en-US" sz="1600" b="1" u="sng" dirty="0">
                <a:latin typeface="宋体" panose="02010600030101010101" pitchFamily="2" charset="-122"/>
              </a:rPr>
              <a:t>可变</a:t>
            </a:r>
            <a:r>
              <a:rPr lang="en-US" altLang="zh-CN" sz="1600" b="1" dirty="0">
                <a:latin typeface="宋体" panose="02010600030101010101" pitchFamily="2" charset="-122"/>
              </a:rPr>
              <a:t>[</a:t>
            </a:r>
            <a:r>
              <a:rPr lang="zh-CN" altLang="en-US" sz="1600" b="1" dirty="0">
                <a:latin typeface="宋体" panose="02010600030101010101" pitchFamily="2" charset="-122"/>
              </a:rPr>
              <a:t>各程序共用主存</a:t>
            </a:r>
            <a:r>
              <a:rPr lang="en-US" altLang="zh-CN" sz="1600" b="1" dirty="0">
                <a:latin typeface="宋体" panose="02010600030101010101" pitchFamily="2" charset="-122"/>
              </a:rPr>
              <a:t>])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latin typeface="宋体" panose="02010600030101010101" pitchFamily="2" charset="-122"/>
              </a:rPr>
              <a:t>  </a:t>
            </a:r>
            <a:r>
              <a:rPr lang="zh-CN" altLang="en-US" sz="2000" b="1" dirty="0">
                <a:latin typeface="宋体" panose="02010600030101010101" pitchFamily="2" charset="-122"/>
              </a:rPr>
              <a:t>①是</a:t>
            </a:r>
            <a:r>
              <a:rPr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循环的</a:t>
            </a:r>
            <a:r>
              <a:rPr lang="zh-CN" altLang="en-US" sz="2000" b="1" dirty="0">
                <a:latin typeface="宋体" panose="02010600030101010101" pitchFamily="2" charset="-122"/>
              </a:rPr>
              <a:t>指令执行过程 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指令</a:t>
            </a:r>
            <a:r>
              <a:rPr lang="zh-CN" altLang="en-US" sz="1600" b="1" u="sng" dirty="0">
                <a:latin typeface="宋体" panose="02010600030101010101" pitchFamily="2" charset="-122"/>
              </a:rPr>
              <a:t>串行执行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lang="zh-CN" altLang="en-US" sz="2000" b="1" dirty="0">
                <a:latin typeface="宋体" panose="02010600030101010101" pitchFamily="2" charset="-122"/>
              </a:rPr>
              <a:t>  ②按</a:t>
            </a:r>
            <a:r>
              <a:rPr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逻辑地址</a:t>
            </a:r>
            <a:r>
              <a:rPr lang="zh-CN" altLang="en-US" sz="2000" b="1" dirty="0">
                <a:latin typeface="宋体" panose="02010600030101010101" pitchFamily="2" charset="-122"/>
              </a:rPr>
              <a:t>访问</a:t>
            </a:r>
            <a:r>
              <a:rPr lang="en-US" altLang="zh-CN" sz="2000" b="1" dirty="0">
                <a:latin typeface="宋体" panose="02010600030101010101" pitchFamily="2" charset="-122"/>
              </a:rPr>
              <a:t>MEM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先进行</a:t>
            </a:r>
            <a:r>
              <a:rPr lang="zh-CN" altLang="en-US" sz="1600" b="1" u="sng" dirty="0">
                <a:latin typeface="宋体" panose="02010600030101010101" pitchFamily="2" charset="-122"/>
              </a:rPr>
              <a:t>地址变换</a:t>
            </a:r>
            <a:r>
              <a:rPr lang="en-US" altLang="zh-CN" sz="1600" b="1" u="sng" dirty="0">
                <a:latin typeface="宋体" panose="02010600030101010101" pitchFamily="2" charset="-122"/>
              </a:rPr>
              <a:t>[</a:t>
            </a:r>
            <a:r>
              <a:rPr lang="zh-CN" altLang="en-US" sz="1600" b="1" dirty="0">
                <a:latin typeface="宋体" panose="02010600030101010101" pitchFamily="2" charset="-122"/>
              </a:rPr>
              <a:t>逻辑地址→物理地址</a:t>
            </a:r>
            <a:r>
              <a:rPr lang="en-US" altLang="zh-CN" sz="1600" b="1" dirty="0">
                <a:latin typeface="宋体" panose="02010600030101010101" pitchFamily="2" charset="-122"/>
              </a:rPr>
              <a:t>])</a:t>
            </a:r>
          </a:p>
        </p:txBody>
      </p:sp>
      <p:cxnSp>
        <p:nvCxnSpPr>
          <p:cNvPr id="177" name="直接箭头连接符 176">
            <a:extLst>
              <a:ext uri="{FF2B5EF4-FFF2-40B4-BE49-F238E27FC236}">
                <a16:creationId xmlns:a16="http://schemas.microsoft.com/office/drawing/2014/main" id="{41ED0D92-4B1A-487E-A99C-CDE27F097D78}"/>
              </a:ext>
            </a:extLst>
          </p:cNvPr>
          <p:cNvCxnSpPr/>
          <p:nvPr/>
        </p:nvCxnSpPr>
        <p:spPr bwMode="auto">
          <a:xfrm flipH="1" flipV="1">
            <a:off x="3131840" y="3212976"/>
            <a:ext cx="1224000" cy="79200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med" len="sm"/>
          </a:ln>
          <a:effectLst/>
        </p:spPr>
      </p:cxnSp>
      <p:grpSp>
        <p:nvGrpSpPr>
          <p:cNvPr id="178" name="组合 177">
            <a:extLst>
              <a:ext uri="{FF2B5EF4-FFF2-40B4-BE49-F238E27FC236}">
                <a16:creationId xmlns:a16="http://schemas.microsoft.com/office/drawing/2014/main" id="{C7C3A6C1-FF13-4830-B9A3-021542C0FBE1}"/>
              </a:ext>
            </a:extLst>
          </p:cNvPr>
          <p:cNvGrpSpPr/>
          <p:nvPr/>
        </p:nvGrpSpPr>
        <p:grpSpPr>
          <a:xfrm>
            <a:off x="1836417" y="1196752"/>
            <a:ext cx="6912055" cy="828000"/>
            <a:chOff x="1115953" y="1296000"/>
            <a:chExt cx="6912055" cy="828000"/>
          </a:xfrm>
        </p:grpSpPr>
        <p:sp>
          <p:nvSpPr>
            <p:cNvPr id="179" name="Text Box 136">
              <a:extLst>
                <a:ext uri="{FF2B5EF4-FFF2-40B4-BE49-F238E27FC236}">
                  <a16:creationId xmlns:a16="http://schemas.microsoft.com/office/drawing/2014/main" id="{315DF31A-9E12-45BB-95D2-7CEF742C22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6000" y="1728000"/>
              <a:ext cx="936000" cy="39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80" name="Line 8">
              <a:extLst>
                <a:ext uri="{FF2B5EF4-FFF2-40B4-BE49-F238E27FC236}">
                  <a16:creationId xmlns:a16="http://schemas.microsoft.com/office/drawing/2014/main" id="{1A3F1811-D993-44CF-B4DC-C9BF146289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000" y="1296000"/>
              <a:ext cx="0" cy="18000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1" name="Text Box 9">
              <a:extLst>
                <a:ext uri="{FF2B5EF4-FFF2-40B4-BE49-F238E27FC236}">
                  <a16:creationId xmlns:a16="http://schemas.microsoft.com/office/drawing/2014/main" id="{AC6700F3-F7C3-4A74-8121-058AF182AD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5587" y="1872000"/>
              <a:ext cx="1296000" cy="252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主存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内存条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82" name="Text Box 10">
              <a:extLst>
                <a:ext uri="{FF2B5EF4-FFF2-40B4-BE49-F238E27FC236}">
                  <a16:creationId xmlns:a16="http://schemas.microsoft.com/office/drawing/2014/main" id="{307C2B57-E7AE-4B51-9421-AC32E44641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04000" y="1476000"/>
              <a:ext cx="1008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I/O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接口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183" name="Line 11">
              <a:extLst>
                <a:ext uri="{FF2B5EF4-FFF2-40B4-BE49-F238E27FC236}">
                  <a16:creationId xmlns:a16="http://schemas.microsoft.com/office/drawing/2014/main" id="{1E8A4A1D-32C5-4C9D-B16B-AD7E829DE5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6008" y="1296000"/>
              <a:ext cx="6912000" cy="2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" name="Line 12">
              <a:extLst>
                <a:ext uri="{FF2B5EF4-FFF2-40B4-BE49-F238E27FC236}">
                  <a16:creationId xmlns:a16="http://schemas.microsoft.com/office/drawing/2014/main" id="{2458433F-3ACB-4C04-A2F0-CD2F49458B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4000" y="1296000"/>
              <a:ext cx="0" cy="18000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" name="Line 13">
              <a:extLst>
                <a:ext uri="{FF2B5EF4-FFF2-40B4-BE49-F238E27FC236}">
                  <a16:creationId xmlns:a16="http://schemas.microsoft.com/office/drawing/2014/main" id="{F216769E-439C-460D-A0CB-85E43ECC1E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08000" y="1296000"/>
              <a:ext cx="0" cy="18000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6" name="Text Box 14">
              <a:extLst>
                <a:ext uri="{FF2B5EF4-FFF2-40B4-BE49-F238E27FC236}">
                  <a16:creationId xmlns:a16="http://schemas.microsoft.com/office/drawing/2014/main" id="{C7BF1527-B8BA-43E3-B1A4-D02810BBBF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84000" y="1476000"/>
              <a:ext cx="360000" cy="252000"/>
            </a:xfrm>
            <a:prstGeom prst="rect">
              <a:avLst/>
            </a:prstGeom>
            <a:noFill/>
            <a:ln w="22225">
              <a:noFill/>
              <a:miter lim="800000"/>
            </a:ln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…</a:t>
              </a:r>
            </a:p>
          </p:txBody>
        </p:sp>
        <p:sp>
          <p:nvSpPr>
            <p:cNvPr id="187" name="Text Box 16">
              <a:extLst>
                <a:ext uri="{FF2B5EF4-FFF2-40B4-BE49-F238E27FC236}">
                  <a16:creationId xmlns:a16="http://schemas.microsoft.com/office/drawing/2014/main" id="{B422513A-A3A0-489C-A3C2-511C9D103C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04000" y="1872000"/>
              <a:ext cx="1008000" cy="25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I/O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设备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188" name="Line 17">
              <a:extLst>
                <a:ext uri="{FF2B5EF4-FFF2-40B4-BE49-F238E27FC236}">
                  <a16:creationId xmlns:a16="http://schemas.microsoft.com/office/drawing/2014/main" id="{74B2BB36-E909-4102-868C-B221EF0FC3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08000" y="1728000"/>
              <a:ext cx="0" cy="1444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9" name="Line 19">
              <a:extLst>
                <a:ext uri="{FF2B5EF4-FFF2-40B4-BE49-F238E27FC236}">
                  <a16:creationId xmlns:a16="http://schemas.microsoft.com/office/drawing/2014/main" id="{A7BD0957-6496-49FB-9F1E-D451DCBB3C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36000" y="1296000"/>
              <a:ext cx="0" cy="18000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0" name="Text Box 127">
              <a:extLst>
                <a:ext uri="{FF2B5EF4-FFF2-40B4-BE49-F238E27FC236}">
                  <a16:creationId xmlns:a16="http://schemas.microsoft.com/office/drawing/2014/main" id="{DE80C021-F801-49DD-BB88-EA9E37942C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16000" y="1476000"/>
              <a:ext cx="1512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I/O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接口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n(DMA)</a:t>
              </a:r>
            </a:p>
          </p:txBody>
        </p:sp>
        <p:sp>
          <p:nvSpPr>
            <p:cNvPr id="191" name="Text Box 128">
              <a:extLst>
                <a:ext uri="{FF2B5EF4-FFF2-40B4-BE49-F238E27FC236}">
                  <a16:creationId xmlns:a16="http://schemas.microsoft.com/office/drawing/2014/main" id="{F3DC2431-6247-4137-8227-9B72C14964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2000" y="1872000"/>
              <a:ext cx="1008000" cy="25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I/O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设备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n</a:t>
              </a:r>
            </a:p>
          </p:txBody>
        </p:sp>
        <p:sp>
          <p:nvSpPr>
            <p:cNvPr id="192" name="Line 129">
              <a:extLst>
                <a:ext uri="{FF2B5EF4-FFF2-40B4-BE49-F238E27FC236}">
                  <a16:creationId xmlns:a16="http://schemas.microsoft.com/office/drawing/2014/main" id="{878CBD3B-8A13-43F1-B7D3-34F0C2A1AD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36000" y="1728000"/>
              <a:ext cx="0" cy="1444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3" name="Text Box 136">
              <a:extLst>
                <a:ext uri="{FF2B5EF4-FFF2-40B4-BE49-F238E27FC236}">
                  <a16:creationId xmlns:a16="http://schemas.microsoft.com/office/drawing/2014/main" id="{929AE888-93E0-4DB8-B21A-7D65EEDD83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6000" y="1476000"/>
              <a:ext cx="1224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磁盘适配器</a:t>
              </a:r>
            </a:p>
          </p:txBody>
        </p:sp>
        <p:sp>
          <p:nvSpPr>
            <p:cNvPr id="194" name="Line 137">
              <a:extLst>
                <a:ext uri="{FF2B5EF4-FFF2-40B4-BE49-F238E27FC236}">
                  <a16:creationId xmlns:a16="http://schemas.microsoft.com/office/drawing/2014/main" id="{58631CDA-55EC-4407-A145-B0E5FE235A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8000" y="1296000"/>
              <a:ext cx="0" cy="18000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" name="Text Box 138">
              <a:extLst>
                <a:ext uri="{FF2B5EF4-FFF2-40B4-BE49-F238E27FC236}">
                  <a16:creationId xmlns:a16="http://schemas.microsoft.com/office/drawing/2014/main" id="{E134EDAA-0383-49F8-8835-C86D0433D8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6000" y="1872000"/>
              <a:ext cx="1224000" cy="25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磁盘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辅存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96" name="Line 139">
              <a:extLst>
                <a:ext uri="{FF2B5EF4-FFF2-40B4-BE49-F238E27FC236}">
                  <a16:creationId xmlns:a16="http://schemas.microsoft.com/office/drawing/2014/main" id="{1CE04018-F5D7-444A-BE14-CF942712AD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8000" y="1728000"/>
              <a:ext cx="0" cy="1444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" name="Text Box 136">
              <a:extLst>
                <a:ext uri="{FF2B5EF4-FFF2-40B4-BE49-F238E27FC236}">
                  <a16:creationId xmlns:a16="http://schemas.microsoft.com/office/drawing/2014/main" id="{9CAC8C2C-5DF0-40F6-857B-2E576CB09D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8000" y="1476000"/>
              <a:ext cx="1152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主存控制器</a:t>
              </a:r>
            </a:p>
          </p:txBody>
        </p:sp>
        <p:sp>
          <p:nvSpPr>
            <p:cNvPr id="198" name="Text Box 136">
              <a:extLst>
                <a:ext uri="{FF2B5EF4-FFF2-40B4-BE49-F238E27FC236}">
                  <a16:creationId xmlns:a16="http://schemas.microsoft.com/office/drawing/2014/main" id="{53FA9961-BBE5-4B60-A0A1-D1A7927F7B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6000" y="1476000"/>
              <a:ext cx="936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BIU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99" name="Line 139">
              <a:extLst>
                <a:ext uri="{FF2B5EF4-FFF2-40B4-BE49-F238E27FC236}">
                  <a16:creationId xmlns:a16="http://schemas.microsoft.com/office/drawing/2014/main" id="{FDF43610-B723-4799-844F-3BE9C7770B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4000" y="1728000"/>
              <a:ext cx="0" cy="144463"/>
            </a:xfrm>
            <a:prstGeom prst="line">
              <a:avLst/>
            </a:prstGeom>
            <a:noFill/>
            <a:ln w="25400" cmpd="dbl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" name="Text Box 7">
              <a:extLst>
                <a:ext uri="{FF2B5EF4-FFF2-40B4-BE49-F238E27FC236}">
                  <a16:creationId xmlns:a16="http://schemas.microsoft.com/office/drawing/2014/main" id="{EB564881-02B6-447C-984D-C1B6524F95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5953" y="1476000"/>
              <a:ext cx="936000" cy="648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</p:spPr>
          <p:txBody>
            <a:bodyPr lIns="18000" tIns="10800" rIns="18000" bIns="10800" anchor="ctr"/>
            <a:lstStyle/>
            <a:p>
              <a:pPr algn="ctr"/>
              <a:endParaRPr lang="en-US" altLang="zh-CN" sz="2000" b="1" dirty="0">
                <a:latin typeface="宋体" panose="02010600030101010101" pitchFamily="2" charset="-122"/>
              </a:endParaRPr>
            </a:p>
            <a:p>
              <a:pPr algn="ctr"/>
              <a:r>
                <a:rPr lang="en-US" altLang="zh-CN" sz="2000" b="1" dirty="0">
                  <a:latin typeface="宋体" panose="02010600030101010101" pitchFamily="2" charset="-122"/>
                </a:rPr>
                <a:t>CPU</a:t>
              </a:r>
            </a:p>
          </p:txBody>
        </p:sp>
        <p:cxnSp>
          <p:nvCxnSpPr>
            <p:cNvPr id="201" name="直接连接符 200">
              <a:extLst>
                <a:ext uri="{FF2B5EF4-FFF2-40B4-BE49-F238E27FC236}">
                  <a16:creationId xmlns:a16="http://schemas.microsoft.com/office/drawing/2014/main" id="{C6B44B87-59DE-4DA6-A3DA-0F813925E524}"/>
                </a:ext>
              </a:extLst>
            </p:cNvPr>
            <p:cNvCxnSpPr/>
            <p:nvPr/>
          </p:nvCxnSpPr>
          <p:spPr bwMode="auto">
            <a:xfrm>
              <a:off x="1116000" y="1728000"/>
              <a:ext cx="936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02" name="Text Box 36">
            <a:extLst>
              <a:ext uri="{FF2B5EF4-FFF2-40B4-BE49-F238E27FC236}">
                <a16:creationId xmlns:a16="http://schemas.microsoft.com/office/drawing/2014/main" id="{0012FFC4-CCAE-40E5-A377-338987534F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696" y="2564904"/>
            <a:ext cx="2880000" cy="252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1600" b="1" dirty="0">
                <a:solidFill>
                  <a:srgbClr val="990099"/>
                </a:solidFill>
                <a:latin typeface="+mn-ea"/>
              </a:rPr>
              <a:t>逻辑</a:t>
            </a:r>
            <a:r>
              <a:rPr lang="zh-CN" altLang="en-US" sz="1600" b="1" dirty="0">
                <a:latin typeface="+mn-ea"/>
              </a:rPr>
              <a:t>         </a:t>
            </a:r>
            <a:r>
              <a:rPr lang="en-US" altLang="zh-CN" sz="1600" b="1" dirty="0">
                <a:solidFill>
                  <a:srgbClr val="990099"/>
                </a:solidFill>
                <a:latin typeface="+mn-ea"/>
              </a:rPr>
              <a:t>MEM  </a:t>
            </a:r>
            <a:r>
              <a:rPr lang="en-US" altLang="zh-CN" sz="1600" b="1" baseline="-18000" dirty="0">
                <a:solidFill>
                  <a:srgbClr val="990099"/>
                </a:solidFill>
                <a:latin typeface="+mn-ea"/>
              </a:rPr>
              <a:t> </a:t>
            </a:r>
            <a:r>
              <a:rPr lang="en-US" altLang="zh-CN" sz="1600" b="1" spc="200" baseline="-18000" dirty="0">
                <a:solidFill>
                  <a:srgbClr val="990099"/>
                </a:solidFill>
                <a:latin typeface="+mn-ea"/>
              </a:rPr>
              <a:t> </a:t>
            </a:r>
            <a:r>
              <a:rPr lang="zh-CN" altLang="en-US" sz="1600" b="1" dirty="0">
                <a:solidFill>
                  <a:srgbClr val="C00000"/>
                </a:solidFill>
                <a:latin typeface="+mn-ea"/>
              </a:rPr>
              <a:t>物理</a:t>
            </a:r>
            <a:endParaRPr lang="en-US" altLang="zh-CN" sz="1600" b="1" dirty="0">
              <a:solidFill>
                <a:srgbClr val="C00000"/>
              </a:solidFill>
              <a:latin typeface="+mn-ea"/>
            </a:endParaRPr>
          </a:p>
        </p:txBody>
      </p:sp>
      <p:grpSp>
        <p:nvGrpSpPr>
          <p:cNvPr id="203" name="组合 202">
            <a:extLst>
              <a:ext uri="{FF2B5EF4-FFF2-40B4-BE49-F238E27FC236}">
                <a16:creationId xmlns:a16="http://schemas.microsoft.com/office/drawing/2014/main" id="{F26C850E-6DCC-4211-997F-AF0CEA08F909}"/>
              </a:ext>
            </a:extLst>
          </p:cNvPr>
          <p:cNvGrpSpPr/>
          <p:nvPr/>
        </p:nvGrpSpPr>
        <p:grpSpPr>
          <a:xfrm>
            <a:off x="5076696" y="2564904"/>
            <a:ext cx="1872000" cy="1333856"/>
            <a:chOff x="4345863" y="2855951"/>
            <a:chExt cx="1872000" cy="1333856"/>
          </a:xfrm>
        </p:grpSpPr>
        <p:sp>
          <p:nvSpPr>
            <p:cNvPr id="204" name="Text Box 36">
              <a:extLst>
                <a:ext uri="{FF2B5EF4-FFF2-40B4-BE49-F238E27FC236}">
                  <a16:creationId xmlns:a16="http://schemas.microsoft.com/office/drawing/2014/main" id="{520A2380-38D3-4976-8ADB-9071F31178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1863" y="3217807"/>
              <a:ext cx="864000" cy="972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02H</a:t>
              </a:r>
            </a:p>
            <a:p>
              <a:pPr algn="ctr">
                <a:lnSpc>
                  <a:spcPct val="85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55H</a:t>
              </a:r>
            </a:p>
            <a:p>
              <a:pPr algn="ctr">
                <a:lnSpc>
                  <a:spcPct val="85000"/>
                </a:lnSpc>
                <a:spcBef>
                  <a:spcPts val="600"/>
                </a:spcBef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</a:p>
          </p:txBody>
        </p:sp>
        <p:cxnSp>
          <p:nvCxnSpPr>
            <p:cNvPr id="205" name="直接连接符 204">
              <a:extLst>
                <a:ext uri="{FF2B5EF4-FFF2-40B4-BE49-F238E27FC236}">
                  <a16:creationId xmlns:a16="http://schemas.microsoft.com/office/drawing/2014/main" id="{16A18354-EC28-4B89-BFFB-29ACA1FE8F13}"/>
                </a:ext>
              </a:extLst>
            </p:cNvPr>
            <p:cNvCxnSpPr/>
            <p:nvPr/>
          </p:nvCxnSpPr>
          <p:spPr bwMode="auto">
            <a:xfrm>
              <a:off x="5281863" y="3433807"/>
              <a:ext cx="864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6" name="直接连接符 205">
              <a:extLst>
                <a:ext uri="{FF2B5EF4-FFF2-40B4-BE49-F238E27FC236}">
                  <a16:creationId xmlns:a16="http://schemas.microsoft.com/office/drawing/2014/main" id="{2474AD14-6C57-4169-AEC5-5A078F36B6F8}"/>
                </a:ext>
              </a:extLst>
            </p:cNvPr>
            <p:cNvCxnSpPr/>
            <p:nvPr/>
          </p:nvCxnSpPr>
          <p:spPr bwMode="auto">
            <a:xfrm>
              <a:off x="5281863" y="3865807"/>
              <a:ext cx="864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07" name="Text Box 36">
              <a:extLst>
                <a:ext uri="{FF2B5EF4-FFF2-40B4-BE49-F238E27FC236}">
                  <a16:creationId xmlns:a16="http://schemas.microsoft.com/office/drawing/2014/main" id="{E8265C66-78D0-4822-938A-1C004401C2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5863" y="3217807"/>
              <a:ext cx="900000" cy="97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dirty="0">
                  <a:highlight>
                    <a:srgbClr val="CCCCFF"/>
                  </a:highlight>
                  <a:latin typeface="+mn-ea"/>
                </a:rPr>
                <a:t>00000000</a:t>
              </a:r>
            </a:p>
            <a:p>
              <a:pPr algn="ctr">
                <a:lnSpc>
                  <a:spcPct val="85000"/>
                </a:lnSpc>
              </a:pPr>
              <a:r>
                <a:rPr lang="en-US" altLang="zh-CN" sz="1600" b="1" dirty="0">
                  <a:latin typeface="+mn-ea"/>
                </a:rPr>
                <a:t>…</a:t>
              </a:r>
              <a:endParaRPr lang="en-US" altLang="zh-CN" sz="1600" b="1" dirty="0">
                <a:latin typeface="+mn-ea"/>
                <a:ea typeface="+mn-ea"/>
              </a:endParaRPr>
            </a:p>
            <a:p>
              <a:pPr algn="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00001020</a:t>
              </a:r>
              <a:endParaRPr lang="en-US" altLang="zh-CN" sz="1600" b="1" dirty="0">
                <a:latin typeface="+mn-ea"/>
              </a:endParaRPr>
            </a:p>
            <a:p>
              <a:pPr algn="ctr">
                <a:lnSpc>
                  <a:spcPct val="90000"/>
                </a:lnSpc>
                <a:spcBef>
                  <a:spcPts val="600"/>
                </a:spcBef>
              </a:pPr>
              <a:r>
                <a:rPr lang="en-US" altLang="zh-CN" sz="1600" b="1" dirty="0">
                  <a:latin typeface="+mn-ea"/>
                </a:rPr>
                <a:t>…</a:t>
              </a:r>
            </a:p>
            <a:p>
              <a:pPr algn="r">
                <a:lnSpc>
                  <a:spcPct val="90000"/>
                </a:lnSpc>
              </a:pPr>
              <a:endParaRPr lang="en-US" altLang="zh-CN" sz="1600" b="1" dirty="0">
                <a:latin typeface="+mn-ea"/>
              </a:endParaRPr>
            </a:p>
          </p:txBody>
        </p:sp>
        <p:cxnSp>
          <p:nvCxnSpPr>
            <p:cNvPr id="208" name="直接连接符 207">
              <a:extLst>
                <a:ext uri="{FF2B5EF4-FFF2-40B4-BE49-F238E27FC236}">
                  <a16:creationId xmlns:a16="http://schemas.microsoft.com/office/drawing/2014/main" id="{6D4BD38E-4268-40EC-BD79-499EBDD5469D}"/>
                </a:ext>
              </a:extLst>
            </p:cNvPr>
            <p:cNvCxnSpPr/>
            <p:nvPr/>
          </p:nvCxnSpPr>
          <p:spPr bwMode="auto">
            <a:xfrm>
              <a:off x="5281863" y="3649807"/>
              <a:ext cx="864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09" name="Text Box 36">
              <a:extLst>
                <a:ext uri="{FF2B5EF4-FFF2-40B4-BE49-F238E27FC236}">
                  <a16:creationId xmlns:a16="http://schemas.microsoft.com/office/drawing/2014/main" id="{7F606401-A42B-4BFD-BF6C-7549868011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7863" y="2855951"/>
              <a:ext cx="1800000" cy="25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</a:rPr>
                <a:t>    地址 </a:t>
              </a:r>
              <a:r>
                <a:rPr lang="zh-CN" altLang="en-US" sz="1600" b="1" dirty="0">
                  <a:solidFill>
                    <a:srgbClr val="990099"/>
                  </a:solidFill>
                  <a:latin typeface="+mn-ea"/>
                </a:rPr>
                <a:t>程序</a:t>
              </a:r>
              <a:endParaRPr lang="en-US" altLang="zh-CN" sz="1600" b="1" dirty="0">
                <a:solidFill>
                  <a:srgbClr val="990099"/>
                </a:solidFill>
                <a:latin typeface="+mn-ea"/>
              </a:endParaRPr>
            </a:p>
          </p:txBody>
        </p:sp>
      </p:grpSp>
      <p:sp>
        <p:nvSpPr>
          <p:cNvPr id="210" name="箭头: 右 209">
            <a:extLst>
              <a:ext uri="{FF2B5EF4-FFF2-40B4-BE49-F238E27FC236}">
                <a16:creationId xmlns:a16="http://schemas.microsoft.com/office/drawing/2014/main" id="{BDF1E8B7-2278-4641-B5E0-5B825EAA2562}"/>
              </a:ext>
            </a:extLst>
          </p:cNvPr>
          <p:cNvSpPr/>
          <p:nvPr/>
        </p:nvSpPr>
        <p:spPr bwMode="auto">
          <a:xfrm>
            <a:off x="6948192" y="3068960"/>
            <a:ext cx="324000" cy="648000"/>
          </a:xfrm>
          <a:prstGeom prst="rightArrow">
            <a:avLst>
              <a:gd name="adj1" fmla="val 64987"/>
              <a:gd name="adj2" fmla="val 54640"/>
            </a:avLst>
          </a:prstGeom>
          <a:noFill/>
          <a:ln w="12700" cap="flat" cmpd="sng" algn="ctr">
            <a:solidFill>
              <a:srgbClr val="FF3399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rtlCol="0" anchor="b" anchorCtr="0" compatLnSpc="1"/>
          <a:lstStyle/>
          <a:p>
            <a:pPr marL="0" marR="0" indent="0" algn="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装</a:t>
            </a:r>
            <a:endParaRPr kumimoji="1" lang="en-US" altLang="zh-CN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indent="0" algn="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入</a:t>
            </a:r>
          </a:p>
        </p:txBody>
      </p:sp>
      <p:grpSp>
        <p:nvGrpSpPr>
          <p:cNvPr id="211" name="组合 210">
            <a:extLst>
              <a:ext uri="{FF2B5EF4-FFF2-40B4-BE49-F238E27FC236}">
                <a16:creationId xmlns:a16="http://schemas.microsoft.com/office/drawing/2014/main" id="{C942C4B0-1CB6-43FD-BB06-7BAA44E1B4EF}"/>
              </a:ext>
            </a:extLst>
          </p:cNvPr>
          <p:cNvGrpSpPr/>
          <p:nvPr/>
        </p:nvGrpSpPr>
        <p:grpSpPr>
          <a:xfrm>
            <a:off x="7164288" y="2564904"/>
            <a:ext cx="1692000" cy="1440000"/>
            <a:chOff x="7056000" y="2412000"/>
            <a:chExt cx="1692000" cy="1440000"/>
          </a:xfrm>
        </p:grpSpPr>
        <p:sp>
          <p:nvSpPr>
            <p:cNvPr id="212" name="Text Box 36">
              <a:extLst>
                <a:ext uri="{FF2B5EF4-FFF2-40B4-BE49-F238E27FC236}">
                  <a16:creationId xmlns:a16="http://schemas.microsoft.com/office/drawing/2014/main" id="{538B3216-3E5F-4217-A42E-EF3CBBAD01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82164" y="2772000"/>
              <a:ext cx="864000" cy="972000"/>
            </a:xfrm>
            <a:prstGeom prst="rect">
              <a:avLst/>
            </a:prstGeom>
            <a:solidFill>
              <a:srgbClr val="99CCFF"/>
            </a:solidFill>
            <a:ln w="19050">
              <a:noFill/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02H</a:t>
              </a:r>
            </a:p>
            <a:p>
              <a:pPr algn="ctr">
                <a:lnSpc>
                  <a:spcPct val="85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55H</a:t>
              </a:r>
            </a:p>
            <a:p>
              <a:pPr algn="ctr">
                <a:lnSpc>
                  <a:spcPct val="90000"/>
                </a:lnSpc>
                <a:spcBef>
                  <a:spcPts val="600"/>
                </a:spcBef>
              </a:pPr>
              <a:r>
                <a:rPr lang="en-US" altLang="zh-CN" sz="1600" b="1" dirty="0">
                  <a:latin typeface="+mn-ea"/>
                </a:rPr>
                <a:t>…</a:t>
              </a:r>
            </a:p>
          </p:txBody>
        </p:sp>
        <p:cxnSp>
          <p:nvCxnSpPr>
            <p:cNvPr id="213" name="直接连接符 212">
              <a:extLst>
                <a:ext uri="{FF2B5EF4-FFF2-40B4-BE49-F238E27FC236}">
                  <a16:creationId xmlns:a16="http://schemas.microsoft.com/office/drawing/2014/main" id="{CE4F94C1-57ED-46BB-85B1-19C5AB2712CC}"/>
                </a:ext>
              </a:extLst>
            </p:cNvPr>
            <p:cNvCxnSpPr/>
            <p:nvPr/>
          </p:nvCxnSpPr>
          <p:spPr bwMode="auto">
            <a:xfrm>
              <a:off x="7882164" y="2988000"/>
              <a:ext cx="864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4" name="直接连接符 213">
              <a:extLst>
                <a:ext uri="{FF2B5EF4-FFF2-40B4-BE49-F238E27FC236}">
                  <a16:creationId xmlns:a16="http://schemas.microsoft.com/office/drawing/2014/main" id="{D3C03979-37FA-4D8F-9352-4340AE0995F9}"/>
                </a:ext>
              </a:extLst>
            </p:cNvPr>
            <p:cNvCxnSpPr/>
            <p:nvPr/>
          </p:nvCxnSpPr>
          <p:spPr bwMode="auto">
            <a:xfrm>
              <a:off x="7882164" y="2700000"/>
              <a:ext cx="0" cy="115200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5" name="直接连接符 214">
              <a:extLst>
                <a:ext uri="{FF2B5EF4-FFF2-40B4-BE49-F238E27FC236}">
                  <a16:creationId xmlns:a16="http://schemas.microsoft.com/office/drawing/2014/main" id="{3F90A1BC-3C36-4689-8E72-E4D219FB059E}"/>
                </a:ext>
              </a:extLst>
            </p:cNvPr>
            <p:cNvCxnSpPr/>
            <p:nvPr/>
          </p:nvCxnSpPr>
          <p:spPr bwMode="auto">
            <a:xfrm flipH="1">
              <a:off x="8748000" y="2700000"/>
              <a:ext cx="0" cy="115200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6" name="直接连接符 215">
              <a:extLst>
                <a:ext uri="{FF2B5EF4-FFF2-40B4-BE49-F238E27FC236}">
                  <a16:creationId xmlns:a16="http://schemas.microsoft.com/office/drawing/2014/main" id="{A6177B37-F990-4BC0-8B71-8E5B73A52E07}"/>
                </a:ext>
              </a:extLst>
            </p:cNvPr>
            <p:cNvCxnSpPr/>
            <p:nvPr/>
          </p:nvCxnSpPr>
          <p:spPr bwMode="auto">
            <a:xfrm>
              <a:off x="7882164" y="2772000"/>
              <a:ext cx="864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7" name="直接连接符 216">
              <a:extLst>
                <a:ext uri="{FF2B5EF4-FFF2-40B4-BE49-F238E27FC236}">
                  <a16:creationId xmlns:a16="http://schemas.microsoft.com/office/drawing/2014/main" id="{44FFE1FC-DE57-4C2F-B835-85858E5A0ECE}"/>
                </a:ext>
              </a:extLst>
            </p:cNvPr>
            <p:cNvCxnSpPr/>
            <p:nvPr/>
          </p:nvCxnSpPr>
          <p:spPr bwMode="auto">
            <a:xfrm>
              <a:off x="7882164" y="3420000"/>
              <a:ext cx="864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18" name="Text Box 36">
              <a:extLst>
                <a:ext uri="{FF2B5EF4-FFF2-40B4-BE49-F238E27FC236}">
                  <a16:creationId xmlns:a16="http://schemas.microsoft.com/office/drawing/2014/main" id="{58D1E4C2-17C8-4CD7-8645-9310C0F4EF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70164" y="2772000"/>
              <a:ext cx="576000" cy="97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altLang="zh-CN" sz="1600" b="1" dirty="0">
                  <a:highlight>
                    <a:srgbClr val="FFCC99"/>
                  </a:highlight>
                  <a:latin typeface="+mn-ea"/>
                  <a:ea typeface="+mn-ea"/>
                </a:rPr>
                <a:t>20100</a:t>
              </a:r>
            </a:p>
            <a:p>
              <a:pPr algn="ctr">
                <a:lnSpc>
                  <a:spcPct val="85000"/>
                </a:lnSpc>
              </a:pPr>
              <a:r>
                <a:rPr lang="en-US" altLang="zh-CN" sz="1600" b="1" u="none" dirty="0">
                  <a:latin typeface="+mn-ea"/>
                  <a:ea typeface="+mn-ea"/>
                </a:rPr>
                <a:t>…</a:t>
              </a:r>
            </a:p>
            <a:p>
              <a:pPr algn="r">
                <a:lnSpc>
                  <a:spcPct val="90000"/>
                </a:lnSpc>
              </a:pPr>
              <a:r>
                <a:rPr lang="en-US" altLang="zh-CN" sz="1600" b="1" u="none" dirty="0">
                  <a:latin typeface="+mn-ea"/>
                  <a:ea typeface="+mn-ea"/>
                </a:rPr>
                <a:t>21120</a:t>
              </a:r>
              <a:endParaRPr lang="en-US" altLang="zh-CN" sz="1600" b="1" dirty="0">
                <a:latin typeface="+mn-ea"/>
              </a:endParaRPr>
            </a:p>
            <a:p>
              <a:pPr algn="ctr">
                <a:lnSpc>
                  <a:spcPct val="90000"/>
                </a:lnSpc>
                <a:spcBef>
                  <a:spcPts val="600"/>
                </a:spcBef>
              </a:pPr>
              <a:r>
                <a:rPr lang="en-US" altLang="zh-CN" sz="1600" b="1" dirty="0">
                  <a:latin typeface="+mn-ea"/>
                </a:rPr>
                <a:t>…</a:t>
              </a:r>
            </a:p>
          </p:txBody>
        </p:sp>
        <p:cxnSp>
          <p:nvCxnSpPr>
            <p:cNvPr id="219" name="直接连接符 218">
              <a:extLst>
                <a:ext uri="{FF2B5EF4-FFF2-40B4-BE49-F238E27FC236}">
                  <a16:creationId xmlns:a16="http://schemas.microsoft.com/office/drawing/2014/main" id="{757294D8-1C22-4C40-8D52-4B2A114F7046}"/>
                </a:ext>
              </a:extLst>
            </p:cNvPr>
            <p:cNvCxnSpPr/>
            <p:nvPr/>
          </p:nvCxnSpPr>
          <p:spPr bwMode="auto">
            <a:xfrm>
              <a:off x="7882164" y="3204000"/>
              <a:ext cx="864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0" name="直接连接符 219">
              <a:extLst>
                <a:ext uri="{FF2B5EF4-FFF2-40B4-BE49-F238E27FC236}">
                  <a16:creationId xmlns:a16="http://schemas.microsoft.com/office/drawing/2014/main" id="{8086E007-5CFA-42E4-A06B-A963E39E25D8}"/>
                </a:ext>
              </a:extLst>
            </p:cNvPr>
            <p:cNvCxnSpPr/>
            <p:nvPr/>
          </p:nvCxnSpPr>
          <p:spPr bwMode="auto">
            <a:xfrm>
              <a:off x="7882164" y="3745856"/>
              <a:ext cx="864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21" name="Text Box 36">
              <a:extLst>
                <a:ext uri="{FF2B5EF4-FFF2-40B4-BE49-F238E27FC236}">
                  <a16:creationId xmlns:a16="http://schemas.microsoft.com/office/drawing/2014/main" id="{6EA9E23E-4C87-432F-ADFD-251FADC23D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56000" y="2412000"/>
              <a:ext cx="1692000" cy="25197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</a:rPr>
                <a:t>    地址 </a:t>
              </a:r>
              <a:r>
                <a:rPr lang="zh-CN" altLang="en-US" sz="1600" b="1" spc="200" dirty="0">
                  <a:latin typeface="+mn-ea"/>
                </a:rPr>
                <a:t> </a:t>
              </a:r>
              <a:r>
                <a:rPr lang="zh-CN" altLang="en-US" sz="1600" b="1" dirty="0">
                  <a:solidFill>
                    <a:srgbClr val="C00000"/>
                  </a:solidFill>
                  <a:latin typeface="+mn-ea"/>
                </a:rPr>
                <a:t>主存</a:t>
              </a:r>
              <a:endParaRPr lang="en-US" altLang="zh-CN" sz="1600" b="1" dirty="0">
                <a:solidFill>
                  <a:srgbClr val="C00000"/>
                </a:solidFill>
                <a:latin typeface="+mn-ea"/>
              </a:endParaRPr>
            </a:p>
          </p:txBody>
        </p:sp>
      </p:grpSp>
      <p:grpSp>
        <p:nvGrpSpPr>
          <p:cNvPr id="222" name="组合 221">
            <a:extLst>
              <a:ext uri="{FF2B5EF4-FFF2-40B4-BE49-F238E27FC236}">
                <a16:creationId xmlns:a16="http://schemas.microsoft.com/office/drawing/2014/main" id="{E4F360F8-E042-4B4B-B039-A8154E7DE6C0}"/>
              </a:ext>
            </a:extLst>
          </p:cNvPr>
          <p:cNvGrpSpPr/>
          <p:nvPr/>
        </p:nvGrpSpPr>
        <p:grpSpPr>
          <a:xfrm>
            <a:off x="2987824" y="4797152"/>
            <a:ext cx="3996000" cy="756285"/>
            <a:chOff x="3005" y="5839"/>
            <a:chExt cx="6293" cy="1191"/>
          </a:xfrm>
        </p:grpSpPr>
        <p:sp>
          <p:nvSpPr>
            <p:cNvPr id="223" name="矩形 222">
              <a:extLst>
                <a:ext uri="{FF2B5EF4-FFF2-40B4-BE49-F238E27FC236}">
                  <a16:creationId xmlns:a16="http://schemas.microsoft.com/office/drawing/2014/main" id="{589EE62C-5C26-4F43-A682-F3F2EDE3683D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 bwMode="auto">
            <a:xfrm>
              <a:off x="3174" y="5839"/>
              <a:ext cx="5953" cy="1077"/>
            </a:xfrm>
            <a:prstGeom prst="rect">
              <a:avLst/>
            </a:prstGeom>
            <a:solidFill>
              <a:srgbClr val="CCFFFF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4" name="Text Box 311">
              <a:extLst>
                <a:ext uri="{FF2B5EF4-FFF2-40B4-BE49-F238E27FC236}">
                  <a16:creationId xmlns:a16="http://schemas.microsoft.com/office/drawing/2014/main" id="{1036346B-3FDD-46EC-B7CA-E58F4B25FC20}"/>
                </a:ext>
              </a:extLst>
            </p:cNvPr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3341" y="5953"/>
              <a:ext cx="1191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取指令</a:t>
              </a:r>
            </a:p>
          </p:txBody>
        </p:sp>
        <p:sp>
          <p:nvSpPr>
            <p:cNvPr id="225" name="Text Box 314">
              <a:extLst>
                <a:ext uri="{FF2B5EF4-FFF2-40B4-BE49-F238E27FC236}">
                  <a16:creationId xmlns:a16="http://schemas.microsoft.com/office/drawing/2014/main" id="{C98411B1-7143-4211-9380-FFA8BB94C764}"/>
                </a:ext>
              </a:extLst>
            </p:cNvPr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4984" y="5953"/>
              <a:ext cx="1474" cy="397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分析指令</a:t>
              </a:r>
            </a:p>
          </p:txBody>
        </p:sp>
        <p:sp>
          <p:nvSpPr>
            <p:cNvPr id="226" name="Text Box 316">
              <a:extLst>
                <a:ext uri="{FF2B5EF4-FFF2-40B4-BE49-F238E27FC236}">
                  <a16:creationId xmlns:a16="http://schemas.microsoft.com/office/drawing/2014/main" id="{6CBEB575-1CEC-4CCD-9CCC-3111ED499CCA}"/>
                </a:ext>
              </a:extLst>
            </p:cNvPr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6914" y="5953"/>
              <a:ext cx="2098" cy="397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执行指令</a:t>
              </a:r>
            </a:p>
          </p:txBody>
        </p:sp>
        <p:cxnSp>
          <p:nvCxnSpPr>
            <p:cNvPr id="227" name="直接箭头连接符 226">
              <a:extLst>
                <a:ext uri="{FF2B5EF4-FFF2-40B4-BE49-F238E27FC236}">
                  <a16:creationId xmlns:a16="http://schemas.microsoft.com/office/drawing/2014/main" id="{862D85A9-B04B-4F9B-A6ED-DD38200D868A}"/>
                </a:ext>
              </a:extLst>
            </p:cNvPr>
            <p:cNvCxnSpPr/>
            <p:nvPr>
              <p:custDataLst>
                <p:tags r:id="rId5"/>
              </p:custDataLst>
            </p:nvPr>
          </p:nvCxnSpPr>
          <p:spPr bwMode="auto">
            <a:xfrm>
              <a:off x="4534" y="6123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28" name="直接箭头连接符 227">
              <a:extLst>
                <a:ext uri="{FF2B5EF4-FFF2-40B4-BE49-F238E27FC236}">
                  <a16:creationId xmlns:a16="http://schemas.microsoft.com/office/drawing/2014/main" id="{42B12944-2718-41C1-A6C2-F9396360B716}"/>
                </a:ext>
              </a:extLst>
            </p:cNvPr>
            <p:cNvCxnSpPr/>
            <p:nvPr>
              <p:custDataLst>
                <p:tags r:id="rId6"/>
              </p:custDataLst>
            </p:nvPr>
          </p:nvCxnSpPr>
          <p:spPr bwMode="auto">
            <a:xfrm>
              <a:off x="6460" y="6123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29" name="直接箭头连接符 228">
              <a:extLst>
                <a:ext uri="{FF2B5EF4-FFF2-40B4-BE49-F238E27FC236}">
                  <a16:creationId xmlns:a16="http://schemas.microsoft.com/office/drawing/2014/main" id="{0ABBA472-D63A-493C-B22E-55E32520D351}"/>
                </a:ext>
              </a:extLst>
            </p:cNvPr>
            <p:cNvCxnSpPr/>
            <p:nvPr>
              <p:custDataLst>
                <p:tags r:id="rId7"/>
              </p:custDataLst>
            </p:nvPr>
          </p:nvCxnSpPr>
          <p:spPr bwMode="auto">
            <a:xfrm>
              <a:off x="9014" y="6123"/>
              <a:ext cx="283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30" name="直接箭头连接符 229">
              <a:extLst>
                <a:ext uri="{FF2B5EF4-FFF2-40B4-BE49-F238E27FC236}">
                  <a16:creationId xmlns:a16="http://schemas.microsoft.com/office/drawing/2014/main" id="{7EA39A33-3293-48BA-BE83-C4BD5DD98E3D}"/>
                </a:ext>
              </a:extLst>
            </p:cNvPr>
            <p:cNvCxnSpPr/>
            <p:nvPr>
              <p:custDataLst>
                <p:tags r:id="rId8"/>
              </p:custDataLst>
            </p:nvPr>
          </p:nvCxnSpPr>
          <p:spPr bwMode="auto">
            <a:xfrm flipH="1">
              <a:off x="9298" y="6123"/>
              <a:ext cx="0" cy="907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31" name="直接箭头连接符 230">
              <a:extLst>
                <a:ext uri="{FF2B5EF4-FFF2-40B4-BE49-F238E27FC236}">
                  <a16:creationId xmlns:a16="http://schemas.microsoft.com/office/drawing/2014/main" id="{2581A806-1C7C-471A-A142-A7AFCF156CED}"/>
                </a:ext>
              </a:extLst>
            </p:cNvPr>
            <p:cNvCxnSpPr/>
            <p:nvPr>
              <p:custDataLst>
                <p:tags r:id="rId9"/>
              </p:custDataLst>
            </p:nvPr>
          </p:nvCxnSpPr>
          <p:spPr bwMode="auto">
            <a:xfrm>
              <a:off x="3005" y="6123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32" name="直接箭头连接符 231">
              <a:extLst>
                <a:ext uri="{FF2B5EF4-FFF2-40B4-BE49-F238E27FC236}">
                  <a16:creationId xmlns:a16="http://schemas.microsoft.com/office/drawing/2014/main" id="{DD198E09-2812-46A4-AEB3-F7E6E6FA6124}"/>
                </a:ext>
              </a:extLst>
            </p:cNvPr>
            <p:cNvCxnSpPr/>
            <p:nvPr>
              <p:custDataLst>
                <p:tags r:id="rId10"/>
              </p:custDataLst>
            </p:nvPr>
          </p:nvCxnSpPr>
          <p:spPr bwMode="auto">
            <a:xfrm flipH="1">
              <a:off x="3005" y="6123"/>
              <a:ext cx="0" cy="907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33" name="直接箭头连接符 232">
              <a:extLst>
                <a:ext uri="{FF2B5EF4-FFF2-40B4-BE49-F238E27FC236}">
                  <a16:creationId xmlns:a16="http://schemas.microsoft.com/office/drawing/2014/main" id="{BCBB088D-F7C1-4F09-A4FF-550DD7BF275D}"/>
                </a:ext>
              </a:extLst>
            </p:cNvPr>
            <p:cNvCxnSpPr/>
            <p:nvPr>
              <p:custDataLst>
                <p:tags r:id="rId11"/>
              </p:custDataLst>
            </p:nvPr>
          </p:nvCxnSpPr>
          <p:spPr bwMode="auto">
            <a:xfrm>
              <a:off x="3005" y="7030"/>
              <a:ext cx="6293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34" name="Text Box 316">
              <a:extLst>
                <a:ext uri="{FF2B5EF4-FFF2-40B4-BE49-F238E27FC236}">
                  <a16:creationId xmlns:a16="http://schemas.microsoft.com/office/drawing/2014/main" id="{30B41403-45D5-4AA5-A826-2254A61D90E5}"/>
                </a:ext>
              </a:extLst>
            </p:cNvPr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3572" y="6406"/>
              <a:ext cx="2211" cy="397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rgbClr val="C00000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PC</a:t>
              </a: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←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(PC)</a:t>
              </a: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＋</a:t>
              </a:r>
              <a:r>
                <a:rPr lang="zh-CN" altLang="en-US" sz="1600" b="1" dirty="0">
                  <a:uFillTx/>
                  <a:latin typeface="宋体" panose="02010600030101010101" pitchFamily="2" charset="-122"/>
                  <a:cs typeface="宋体" panose="02010600030101010101" pitchFamily="2" charset="-122"/>
                  <a:sym typeface="Symbol" panose="05050102010706020507"/>
                </a:rPr>
                <a:t>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1</a:t>
              </a:r>
              <a:r>
                <a:rPr lang="zh-CN" altLang="en-US" sz="1600" b="1" dirty="0">
                  <a:uFillTx/>
                  <a:latin typeface="宋体" panose="02010600030101010101" pitchFamily="2" charset="-122"/>
                  <a:cs typeface="宋体" panose="02010600030101010101" pitchFamily="2" charset="-122"/>
                  <a:sym typeface="Symbol" panose="05050102010706020507"/>
                </a:rPr>
                <a:t></a:t>
              </a:r>
            </a:p>
          </p:txBody>
        </p:sp>
        <p:sp>
          <p:nvSpPr>
            <p:cNvPr id="235" name="Text Box 316">
              <a:extLst>
                <a:ext uri="{FF2B5EF4-FFF2-40B4-BE49-F238E27FC236}">
                  <a16:creationId xmlns:a16="http://schemas.microsoft.com/office/drawing/2014/main" id="{903367C7-43FE-4419-8EE3-86D82BFBDC5F}"/>
                </a:ext>
              </a:extLst>
            </p:cNvPr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6914" y="6406"/>
              <a:ext cx="2098" cy="397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rgbClr val="C00000"/>
              </a:solidFill>
              <a:prstDash val="sysDash"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PC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←计算结果</a:t>
              </a:r>
            </a:p>
          </p:txBody>
        </p:sp>
      </p:grpSp>
      <p:sp>
        <p:nvSpPr>
          <p:cNvPr id="236" name="Text Box 43">
            <a:extLst>
              <a:ext uri="{FF2B5EF4-FFF2-40B4-BE49-F238E27FC236}">
                <a16:creationId xmlns:a16="http://schemas.microsoft.com/office/drawing/2014/main" id="{8C326182-B1DE-4BA0-BFD3-12D9ED7A8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768" y="4991408"/>
            <a:ext cx="2268000" cy="324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</p:spPr>
        <p:txBody>
          <a:bodyPr wrap="square" lIns="90000" tIns="10800" rIns="90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1800" b="1" dirty="0">
                <a:solidFill>
                  <a:srgbClr val="FF3399"/>
                </a:solidFill>
                <a:highlight>
                  <a:srgbClr val="FFFF00"/>
                </a:highlight>
                <a:latin typeface="宋体" panose="02010600030101010101" pitchFamily="2" charset="-122"/>
              </a:rPr>
              <a:t>提示</a:t>
            </a: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sz="18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动画方式</a:t>
            </a:r>
            <a:r>
              <a:rPr lang="zh-CN" altLang="en-US" sz="1800" b="1" dirty="0">
                <a:latin typeface="宋体" panose="02010600030101010101" pitchFamily="2" charset="-122"/>
              </a:rPr>
              <a:t>观看</a:t>
            </a:r>
            <a:endParaRPr lang="en-US" altLang="zh-CN" sz="1800" b="1" spc="-150" dirty="0">
              <a:latin typeface="宋体" panose="02010600030101010101" pitchFamily="2" charset="-122"/>
            </a:endParaRPr>
          </a:p>
        </p:txBody>
      </p:sp>
      <p:cxnSp>
        <p:nvCxnSpPr>
          <p:cNvPr id="237" name="直接箭头连接符 236">
            <a:extLst>
              <a:ext uri="{FF2B5EF4-FFF2-40B4-BE49-F238E27FC236}">
                <a16:creationId xmlns:a16="http://schemas.microsoft.com/office/drawing/2014/main" id="{FCF1E307-0A78-482C-88D4-67D2A1D0D151}"/>
              </a:ext>
            </a:extLst>
          </p:cNvPr>
          <p:cNvCxnSpPr>
            <a:cxnSpLocks/>
          </p:cNvCxnSpPr>
          <p:nvPr/>
        </p:nvCxnSpPr>
        <p:spPr bwMode="auto">
          <a:xfrm>
            <a:off x="5294284" y="2492896"/>
            <a:ext cx="792000" cy="187200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med" len="sm"/>
          </a:ln>
          <a:effectLst/>
        </p:spPr>
      </p:cxnSp>
      <p:sp>
        <p:nvSpPr>
          <p:cNvPr id="238" name="Text Box 43">
            <a:extLst>
              <a:ext uri="{FF2B5EF4-FFF2-40B4-BE49-F238E27FC236}">
                <a16:creationId xmlns:a16="http://schemas.microsoft.com/office/drawing/2014/main" id="{E5800B61-14E6-400F-BF6D-1EC02AA810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9378" y="6075104"/>
            <a:ext cx="4932000" cy="324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</p:spPr>
        <p:txBody>
          <a:bodyPr wrap="square" lIns="90000" tIns="10800" rIns="90000" bIns="10800" anchor="ctr" anchorCtr="0">
            <a:noAutofit/>
          </a:bodyPr>
          <a:lstStyle/>
          <a:p>
            <a:pPr>
              <a:lnSpc>
                <a:spcPct val="110000"/>
              </a:lnSpc>
            </a:pPr>
            <a:r>
              <a:rPr lang="zh-CN" altLang="en-US" sz="1800" b="1" dirty="0">
                <a:solidFill>
                  <a:srgbClr val="FF3399"/>
                </a:solidFill>
                <a:highlight>
                  <a:srgbClr val="FFFF00"/>
                </a:highlight>
                <a:latin typeface="宋体" panose="02010600030101010101" pitchFamily="2" charset="-122"/>
              </a:rPr>
              <a:t>计算机组成的任务</a:t>
            </a: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sz="1800" b="1" dirty="0">
                <a:latin typeface="宋体" panose="02010600030101010101" pitchFamily="2" charset="-122"/>
              </a:rPr>
              <a:t>用硬件</a:t>
            </a:r>
            <a:r>
              <a:rPr lang="zh-CN" altLang="en-US" sz="18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实现</a:t>
            </a:r>
            <a:r>
              <a:rPr lang="zh-CN" altLang="en-US" sz="1800" b="1" dirty="0">
                <a:latin typeface="宋体" panose="02010600030101010101" pitchFamily="2" charset="-122"/>
              </a:rPr>
              <a:t>工作方式＋</a:t>
            </a:r>
            <a:r>
              <a:rPr lang="en-US" altLang="zh-CN" sz="1800" b="1" dirty="0">
                <a:latin typeface="宋体" panose="02010600030101010101" pitchFamily="2" charset="-122"/>
              </a:rPr>
              <a:t>ISA</a:t>
            </a:r>
            <a:endParaRPr lang="en-US" altLang="zh-CN" sz="1800" b="1" spc="-15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9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1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17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6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0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17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" grpId="0"/>
      <p:bldP spid="210" grpId="0" animBg="1"/>
      <p:bldP spid="23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t>26</a:t>
            </a:fld>
            <a:endParaRPr lang="en-US" altLang="zh-CN" dirty="0"/>
          </a:p>
        </p:txBody>
      </p:sp>
      <p:sp>
        <p:nvSpPr>
          <p:cNvPr id="104" name="Text Box 5">
            <a:extLst>
              <a:ext uri="{FF2B5EF4-FFF2-40B4-BE49-F238E27FC236}">
                <a16:creationId xmlns:a16="http://schemas.microsoft.com/office/drawing/2014/main" id="{BA01ABB7-2409-4C3E-AE24-356614DD56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332656"/>
            <a:ext cx="6371340" cy="6096477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 *指令系统的组成：</a:t>
            </a: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任务：</a:t>
            </a:r>
            <a:r>
              <a: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约定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所支持指令的功能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-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格式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6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组成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指令功能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endParaRPr lang="en-US" altLang="zh-CN" sz="16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指令格式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操作码编码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地址码编码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OPD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的存放：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</a:pPr>
            <a:endParaRPr lang="en-US" altLang="zh-CN" sz="16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寻址方式：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sp>
        <p:nvSpPr>
          <p:cNvPr id="105" name="Text Box 5">
            <a:extLst>
              <a:ext uri="{FF2B5EF4-FFF2-40B4-BE49-F238E27FC236}">
                <a16:creationId xmlns:a16="http://schemas.microsoft.com/office/drawing/2014/main" id="{50747476-7D9D-453E-8D5B-476E42212E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5656" y="691200"/>
            <a:ext cx="7668344" cy="5896581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 wrap="square" lIns="90000" tIns="64800" rIns="90000" bIns="4680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latin typeface="宋体" panose="02010600030101010101" pitchFamily="2" charset="-122"/>
              </a:rPr>
              <a:t>＝指令的</a:t>
            </a:r>
            <a:r>
              <a:rPr lang="zh-CN" altLang="en-US" sz="20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集合</a:t>
            </a:r>
            <a:r>
              <a:rPr lang="zh-CN" altLang="en-US" sz="2000" b="1" dirty="0">
                <a:latin typeface="宋体" panose="02010600030101010101" pitchFamily="2" charset="-122"/>
              </a:rPr>
              <a:t>，指令功能用指令格式</a:t>
            </a:r>
            <a:r>
              <a:rPr lang="zh-CN" altLang="en-US" sz="2000" b="1" u="sng" dirty="0">
                <a:latin typeface="宋体" panose="02010600030101010101" pitchFamily="2" charset="-122"/>
              </a:rPr>
              <a:t>表示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latin typeface="宋体" panose="02010600030101010101" pitchFamily="2" charset="-122"/>
              </a:rPr>
              <a:t>    ＝数据操作＋指令地址计算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altLang="zh-CN" sz="1600" b="1" dirty="0">
                <a:latin typeface="宋体" panose="02010600030101010101" pitchFamily="2" charset="-122"/>
              </a:rPr>
              <a:t>           </a:t>
            </a:r>
            <a:r>
              <a:rPr lang="en-US" altLang="zh-CN" sz="1600" dirty="0">
                <a:latin typeface="宋体" panose="02010600030101010101" pitchFamily="2" charset="-122"/>
              </a:rPr>
              <a:t>└</a:t>
            </a:r>
            <a:r>
              <a:rPr lang="en-US" altLang="zh-CN" sz="1600" b="1" dirty="0">
                <a:latin typeface="宋体" panose="02010600030101010101" pitchFamily="2" charset="-122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</a:rPr>
              <a:t>含取源</a:t>
            </a:r>
            <a:r>
              <a:rPr lang="en-US" altLang="zh-CN" sz="1600" b="1" dirty="0">
                <a:latin typeface="宋体" panose="02010600030101010101" pitchFamily="2" charset="-122"/>
              </a:rPr>
              <a:t>OPD+OP+</a:t>
            </a:r>
            <a:r>
              <a:rPr lang="zh-CN" altLang="en-US" sz="1600" b="1" dirty="0">
                <a:latin typeface="宋体" panose="02010600030101010101" pitchFamily="2" charset="-122"/>
              </a:rPr>
              <a:t>存目的</a:t>
            </a:r>
            <a:r>
              <a:rPr lang="en-US" altLang="zh-CN" sz="1600" b="1" dirty="0">
                <a:latin typeface="宋体" panose="02010600030101010101" pitchFamily="2" charset="-122"/>
              </a:rPr>
              <a:t>OPD</a:t>
            </a:r>
            <a:r>
              <a:rPr lang="zh-CN" altLang="en-US" sz="1600" b="1" dirty="0">
                <a:latin typeface="宋体" panose="02010600030101010101" pitchFamily="2" charset="-122"/>
              </a:rPr>
              <a:t>，</a:t>
            </a:r>
            <a:r>
              <a:rPr lang="en-US" altLang="zh-CN" sz="1600" b="1" dirty="0">
                <a:latin typeface="宋体" panose="02010600030101010101" pitchFamily="2" charset="-122"/>
              </a:rPr>
              <a:t>OP</a:t>
            </a:r>
            <a:r>
              <a:rPr lang="zh-CN" altLang="en-US" sz="1600" b="1" dirty="0">
                <a:latin typeface="宋体" panose="02010600030101010101" pitchFamily="2" charset="-122"/>
              </a:rPr>
              <a:t>有传送</a:t>
            </a:r>
            <a:r>
              <a:rPr lang="en-US" altLang="zh-CN" sz="1600" b="1" dirty="0"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</a:rPr>
              <a:t>计算</a:t>
            </a:r>
            <a:r>
              <a:rPr lang="en-US" altLang="zh-CN" sz="1600" b="1" dirty="0"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</a:rPr>
              <a:t>转移控制等，</a:t>
            </a:r>
            <a:r>
              <a:rPr lang="en-US" altLang="zh-CN" sz="1600" b="1" dirty="0">
                <a:latin typeface="宋体" panose="02010600030101010101" pitchFamily="2" charset="-122"/>
              </a:rPr>
              <a:t>OPD</a:t>
            </a:r>
            <a:r>
              <a:rPr lang="zh-CN" altLang="en-US" sz="1600" b="1" dirty="0">
                <a:latin typeface="宋体" panose="02010600030101010101" pitchFamily="2" charset="-122"/>
              </a:rPr>
              <a:t>有</a:t>
            </a:r>
            <a:r>
              <a:rPr lang="en-US" altLang="zh-CN" sz="1600" b="1" dirty="0">
                <a:latin typeface="宋体" panose="02010600030101010101" pitchFamily="2" charset="-122"/>
              </a:rPr>
              <a:t>…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000" b="1" u="sng" dirty="0">
                <a:latin typeface="宋体" panose="02010600030101010101" pitchFamily="2" charset="-122"/>
              </a:rPr>
              <a:t>定长</a:t>
            </a:r>
            <a:r>
              <a:rPr lang="en-US" altLang="zh-CN" sz="2000" b="1" u="sng" dirty="0">
                <a:latin typeface="宋体" panose="02010600030101010101" pitchFamily="2" charset="-122"/>
              </a:rPr>
              <a:t>/</a:t>
            </a:r>
            <a:r>
              <a:rPr lang="zh-CN" altLang="en-US" sz="2000" b="1" u="sng" dirty="0">
                <a:latin typeface="宋体" panose="02010600030101010101" pitchFamily="2" charset="-122"/>
              </a:rPr>
              <a:t>扩展</a:t>
            </a:r>
            <a:r>
              <a:rPr lang="zh-CN" altLang="en-US" sz="2000" b="1" dirty="0">
                <a:latin typeface="宋体" panose="02010600030101010101" pitchFamily="2" charset="-122"/>
              </a:rPr>
              <a:t>编码</a:t>
            </a:r>
            <a:r>
              <a:rPr lang="en-US" altLang="zh-CN" sz="1600" b="1" dirty="0">
                <a:latin typeface="+mn-ea"/>
                <a:ea typeface="+mn-ea"/>
              </a:rPr>
              <a:t>(</a:t>
            </a:r>
            <a:r>
              <a:rPr lang="zh-CN" altLang="en-US" sz="1600" b="1" dirty="0">
                <a:latin typeface="+mn-ea"/>
                <a:ea typeface="+mn-ea"/>
              </a:rPr>
              <a:t>面向</a:t>
            </a:r>
            <a:r>
              <a:rPr lang="zh-CN" altLang="en-US" sz="1600" b="1" u="sng" dirty="0">
                <a:solidFill>
                  <a:srgbClr val="0070C0"/>
                </a:solidFill>
                <a:latin typeface="+mn-ea"/>
                <a:ea typeface="+mn-ea"/>
              </a:rPr>
              <a:t>所有指令</a:t>
            </a:r>
            <a:r>
              <a:rPr lang="zh-CN" altLang="en-US" sz="1600" b="1" dirty="0">
                <a:latin typeface="+mn-ea"/>
                <a:ea typeface="+mn-ea"/>
              </a:rPr>
              <a:t>的</a:t>
            </a:r>
            <a:r>
              <a:rPr lang="zh-CN" altLang="en-US" sz="1600" b="1" dirty="0">
                <a:latin typeface="宋体" panose="02010600030101010101" pitchFamily="2" charset="-122"/>
              </a:rPr>
              <a:t>显式操作</a:t>
            </a:r>
            <a:r>
              <a:rPr lang="en-US" altLang="zh-CN" sz="1600" b="1" dirty="0"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</a:rPr>
              <a:t>格式信息</a:t>
            </a:r>
            <a:r>
              <a:rPr lang="en-US" altLang="zh-CN" sz="1600" b="1" dirty="0">
                <a:latin typeface="+mn-ea"/>
                <a:ea typeface="+mn-ea"/>
              </a:rPr>
              <a:t>)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latin typeface="宋体" panose="02010600030101010101" pitchFamily="2" charset="-122"/>
              </a:rPr>
              <a:t>      </a:t>
            </a:r>
            <a:r>
              <a:rPr lang="zh-CN" altLang="en-US" sz="2000" b="1" u="sng" dirty="0">
                <a:latin typeface="宋体" panose="02010600030101010101" pitchFamily="2" charset="-122"/>
              </a:rPr>
              <a:t>基于寻址方式</a:t>
            </a:r>
            <a:r>
              <a:rPr lang="zh-CN" altLang="en-US" sz="2000" b="1" dirty="0">
                <a:latin typeface="宋体" panose="02010600030101010101" pitchFamily="2" charset="-122"/>
              </a:rPr>
              <a:t>编码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+mn-ea"/>
              </a:rPr>
              <a:t>面向</a:t>
            </a:r>
            <a:r>
              <a:rPr lang="zh-CN" altLang="en-US" sz="1600" b="1" u="sng" dirty="0">
                <a:solidFill>
                  <a:srgbClr val="0070C0"/>
                </a:solidFill>
                <a:latin typeface="+mn-ea"/>
              </a:rPr>
              <a:t>当前指令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zh-CN" altLang="en-US" sz="1600" b="1" dirty="0">
                <a:latin typeface="宋体" panose="02010600030101010101" pitchFamily="2" charset="-122"/>
              </a:rPr>
              <a:t>各</a:t>
            </a:r>
            <a:r>
              <a:rPr lang="en-US" altLang="zh-CN" sz="1600" b="1" dirty="0">
                <a:latin typeface="宋体" panose="02010600030101010101" pitchFamily="2" charset="-122"/>
              </a:rPr>
              <a:t>OPD/</a:t>
            </a:r>
            <a:r>
              <a:rPr lang="zh-CN" altLang="en-US" sz="1600" b="1" dirty="0">
                <a:latin typeface="宋体" panose="02010600030101010101" pitchFamily="2" charset="-122"/>
              </a:rPr>
              <a:t>下条指令地址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latin typeface="宋体" panose="02010600030101010101" pitchFamily="2" charset="-122"/>
              </a:rPr>
              <a:t>       </a:t>
            </a:r>
            <a:r>
              <a:rPr lang="en-US" altLang="zh-CN" sz="2000" b="1" u="sng" dirty="0">
                <a:latin typeface="宋体" panose="02010600030101010101" pitchFamily="2" charset="-122"/>
              </a:rPr>
              <a:t>REGs/MEM/IO</a:t>
            </a:r>
            <a:r>
              <a:rPr lang="zh-CN" altLang="en-US" sz="2000" b="1" u="sng" dirty="0">
                <a:latin typeface="宋体" panose="02010600030101010101" pitchFamily="2" charset="-122"/>
              </a:rPr>
              <a:t>接口</a:t>
            </a:r>
            <a:r>
              <a:rPr lang="en-US" altLang="zh-CN" sz="2000" b="1" dirty="0">
                <a:latin typeface="宋体" panose="02010600030101010101" pitchFamily="2" charset="-122"/>
              </a:rPr>
              <a:t>/IR</a:t>
            </a:r>
            <a:r>
              <a:rPr lang="zh-CN" altLang="en-US" sz="2000" b="1" dirty="0">
                <a:latin typeface="宋体" panose="02010600030101010101" pitchFamily="2" charset="-122"/>
              </a:rPr>
              <a:t>中，表示为地址</a:t>
            </a:r>
            <a:r>
              <a:rPr lang="en-US" altLang="zh-CN" sz="2000" b="1" dirty="0">
                <a:latin typeface="宋体" panose="02010600030101010101" pitchFamily="2" charset="-122"/>
              </a:rPr>
              <a:t>&amp;</a:t>
            </a:r>
            <a:r>
              <a:rPr lang="zh-CN" altLang="en-US" sz="2000" b="1" dirty="0">
                <a:latin typeface="宋体" panose="02010600030101010101" pitchFamily="2" charset="-122"/>
              </a:rPr>
              <a:t>长度</a:t>
            </a:r>
            <a:endParaRPr lang="en-US" altLang="zh-CN" sz="1600" b="1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altLang="zh-CN" sz="1600" b="1" dirty="0">
                <a:latin typeface="宋体" panose="02010600030101010101" pitchFamily="2" charset="-122"/>
              </a:rPr>
              <a:t>            </a:t>
            </a:r>
            <a:r>
              <a:rPr lang="en-US" altLang="zh-CN" sz="1600" dirty="0">
                <a:latin typeface="宋体" panose="02010600030101010101" pitchFamily="2" charset="-122"/>
              </a:rPr>
              <a:t>└</a:t>
            </a:r>
            <a:r>
              <a:rPr lang="en-US" altLang="zh-CN" sz="1600" b="1" dirty="0">
                <a:latin typeface="宋体" panose="02010600030101010101" pitchFamily="2" charset="-122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</a:rPr>
              <a:t>占</a:t>
            </a:r>
            <a:r>
              <a:rPr lang="en-US" altLang="zh-CN" sz="1600" b="1" dirty="0">
                <a:latin typeface="宋体" panose="02010600030101010101" pitchFamily="2" charset="-122"/>
              </a:rPr>
              <a:t>1</a:t>
            </a:r>
            <a:r>
              <a:rPr lang="en-US" altLang="zh-CN" sz="1600" b="1" dirty="0">
                <a:latin typeface="+mn-lt"/>
              </a:rPr>
              <a:t>~</a:t>
            </a:r>
            <a:r>
              <a:rPr lang="en-US" altLang="zh-CN" sz="1600" b="1" dirty="0">
                <a:latin typeface="宋体" panose="02010600030101010101" pitchFamily="2" charset="-122"/>
              </a:rPr>
              <a:t>n</a:t>
            </a:r>
            <a:r>
              <a:rPr lang="zh-CN" altLang="en-US" sz="1600" b="1" dirty="0">
                <a:latin typeface="宋体" panose="02010600030101010101" pitchFamily="2" charset="-122"/>
              </a:rPr>
              <a:t>单元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存放方式～部件组织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1600" b="1" dirty="0">
                <a:latin typeface="宋体" panose="02010600030101010101" pitchFamily="2" charset="-122"/>
              </a:rPr>
              <a:t>      </a:t>
            </a:r>
            <a:r>
              <a:rPr lang="en-US" altLang="zh-CN" sz="1600" dirty="0">
                <a:latin typeface="宋体" panose="02010600030101010101" pitchFamily="2" charset="-122"/>
              </a:rPr>
              <a:t>└</a:t>
            </a:r>
            <a:r>
              <a:rPr lang="en-US" altLang="zh-CN" sz="1600" b="1" dirty="0">
                <a:latin typeface="宋体" panose="02010600030101010101" pitchFamily="2" charset="-122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</a:rPr>
              <a:t>操作码中表示</a:t>
            </a:r>
            <a:endParaRPr lang="en-US" altLang="zh-CN" sz="16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latin typeface="宋体" panose="02010600030101010101" pitchFamily="2" charset="-122"/>
              </a:rPr>
              <a:t>      </a:t>
            </a:r>
            <a:r>
              <a:rPr lang="zh-CN" altLang="en-US" sz="2000" b="1" dirty="0">
                <a:latin typeface="宋体" panose="02010600030101010101" pitchFamily="2" charset="-122"/>
              </a:rPr>
              <a:t>地址</a:t>
            </a:r>
            <a:r>
              <a:rPr lang="en-US" altLang="zh-CN" sz="2000" b="1" dirty="0">
                <a:latin typeface="宋体" panose="02010600030101010101" pitchFamily="2" charset="-122"/>
              </a:rPr>
              <a:t>＝</a:t>
            </a:r>
            <a:r>
              <a:rPr lang="en-US" altLang="zh-CN" sz="2000" b="1" dirty="0" err="1">
                <a:latin typeface="+mn-ea"/>
              </a:rPr>
              <a:t>func</a:t>
            </a:r>
            <a:r>
              <a:rPr lang="en-US" altLang="zh-CN" sz="2000" b="1" dirty="0">
                <a:latin typeface="宋体" panose="02010600030101010101" pitchFamily="2" charset="-122"/>
              </a:rPr>
              <a:t>(F,A)</a:t>
            </a:r>
            <a:r>
              <a:rPr lang="zh-CN" altLang="en-US" sz="2000" b="1" dirty="0">
                <a:latin typeface="宋体" panose="02010600030101010101" pitchFamily="2" charset="-122"/>
              </a:rPr>
              <a:t>，</a:t>
            </a:r>
            <a:r>
              <a:rPr lang="en-US" altLang="zh-CN" sz="2000" b="1" dirty="0" err="1">
                <a:latin typeface="宋体" panose="02010600030101010101" pitchFamily="2" charset="-122"/>
              </a:rPr>
              <a:t>func</a:t>
            </a:r>
            <a:r>
              <a:rPr lang="zh-CN" altLang="en-US" sz="2000" b="1" dirty="0">
                <a:latin typeface="宋体" panose="02010600030101010101" pitchFamily="2" charset="-122"/>
              </a:rPr>
              <a:t>有立即</a:t>
            </a:r>
            <a:r>
              <a:rPr lang="en-US" altLang="zh-CN" sz="2000" b="1" dirty="0">
                <a:latin typeface="宋体" panose="02010600030101010101" pitchFamily="2" charset="-122"/>
              </a:rPr>
              <a:t>/REG/</a:t>
            </a:r>
            <a:r>
              <a:rPr lang="zh-CN" altLang="en-US" sz="2000" b="1" dirty="0">
                <a:latin typeface="宋体" panose="02010600030101010101" pitchFamily="2" charset="-122"/>
              </a:rPr>
              <a:t>直接</a:t>
            </a:r>
            <a:r>
              <a:rPr lang="en-US" altLang="zh-CN" sz="2000" b="1" dirty="0">
                <a:latin typeface="宋体" panose="02010600030101010101" pitchFamily="2" charset="-122"/>
              </a:rPr>
              <a:t>/</a:t>
            </a:r>
            <a:r>
              <a:rPr lang="zh-CN" altLang="en-US" sz="2000" b="1" dirty="0">
                <a:latin typeface="宋体" panose="02010600030101010101" pitchFamily="2" charset="-122"/>
              </a:rPr>
              <a:t>相对</a:t>
            </a:r>
            <a:r>
              <a:rPr lang="en-US" altLang="zh-CN" sz="2000" b="1" dirty="0">
                <a:latin typeface="宋体" panose="02010600030101010101" pitchFamily="2" charset="-122"/>
              </a:rPr>
              <a:t>/…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1600" b="1" dirty="0">
                <a:latin typeface="宋体" panose="02010600030101010101" pitchFamily="2" charset="-122"/>
              </a:rPr>
              <a:t>                                      (F</a:t>
            </a:r>
            <a:r>
              <a:rPr lang="zh-CN" altLang="en-US" sz="1600" b="1" dirty="0">
                <a:latin typeface="宋体" panose="02010600030101010101" pitchFamily="2" charset="-122"/>
              </a:rPr>
              <a:t>面向当前指令，各指令的</a:t>
            </a:r>
            <a:r>
              <a:rPr lang="en-US" altLang="zh-CN" sz="1600" b="1" dirty="0">
                <a:latin typeface="宋体" panose="02010600030101010101" pitchFamily="2" charset="-122"/>
              </a:rPr>
              <a:t>A</a:t>
            </a:r>
            <a:r>
              <a:rPr lang="zh-CN" altLang="en-US" sz="1600" b="1" dirty="0">
                <a:latin typeface="宋体" panose="02010600030101010101" pitchFamily="2" charset="-122"/>
              </a:rPr>
              <a:t>尽量统一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</a:p>
        </p:txBody>
      </p:sp>
      <p:grpSp>
        <p:nvGrpSpPr>
          <p:cNvPr id="106" name="组合 105">
            <a:extLst>
              <a:ext uri="{FF2B5EF4-FFF2-40B4-BE49-F238E27FC236}">
                <a16:creationId xmlns:a16="http://schemas.microsoft.com/office/drawing/2014/main" id="{7D51E3A2-1146-4C36-A91C-2E31B3F22221}"/>
              </a:ext>
            </a:extLst>
          </p:cNvPr>
          <p:cNvGrpSpPr/>
          <p:nvPr/>
        </p:nvGrpSpPr>
        <p:grpSpPr>
          <a:xfrm>
            <a:off x="6372200" y="764704"/>
            <a:ext cx="2340000" cy="648000"/>
            <a:chOff x="3671896" y="1224000"/>
            <a:chExt cx="2340000" cy="648000"/>
          </a:xfrm>
        </p:grpSpPr>
        <p:sp>
          <p:nvSpPr>
            <p:cNvPr id="107" name="Text Box 46">
              <a:extLst>
                <a:ext uri="{FF2B5EF4-FFF2-40B4-BE49-F238E27FC236}">
                  <a16:creationId xmlns:a16="http://schemas.microsoft.com/office/drawing/2014/main" id="{4075213F-A68F-4B9F-B074-6E28CC235C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1896" y="1224000"/>
              <a:ext cx="1296000" cy="648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t" anchorCtr="0"/>
            <a:lstStyle/>
            <a:p>
              <a:pPr>
                <a:lnSpc>
                  <a:spcPct val="90000"/>
                </a:lnSpc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R[A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1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]←M[A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2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]</a:t>
              </a:r>
              <a:endParaRPr lang="zh-CN" altLang="en-US" sz="1600" b="1" baseline="-18000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     …</a:t>
              </a:r>
            </a:p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R[A]←R[A]+1</a:t>
              </a:r>
            </a:p>
          </p:txBody>
        </p:sp>
        <p:sp>
          <p:nvSpPr>
            <p:cNvPr id="108" name="Text Box 47">
              <a:extLst>
                <a:ext uri="{FF2B5EF4-FFF2-40B4-BE49-F238E27FC236}">
                  <a16:creationId xmlns:a16="http://schemas.microsoft.com/office/drawing/2014/main" id="{E8E494A0-23AD-4085-98DB-F59F1CB301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71896" y="1224000"/>
              <a:ext cx="540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000" tIns="0" rIns="0" bIns="0" anchor="ctr" anchorCtr="0"/>
            <a:lstStyle/>
            <a:p>
              <a:pPr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A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1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 A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2</a:t>
              </a:r>
            </a:p>
          </p:txBody>
        </p:sp>
        <p:sp>
          <p:nvSpPr>
            <p:cNvPr id="109" name="Line 48">
              <a:extLst>
                <a:ext uri="{FF2B5EF4-FFF2-40B4-BE49-F238E27FC236}">
                  <a16:creationId xmlns:a16="http://schemas.microsoft.com/office/drawing/2014/main" id="{D42F0215-6056-4A70-B086-47D6835A90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723896" y="1224000"/>
              <a:ext cx="794" cy="216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Text Box 50">
              <a:extLst>
                <a:ext uri="{FF2B5EF4-FFF2-40B4-BE49-F238E27FC236}">
                  <a16:creationId xmlns:a16="http://schemas.microsoft.com/office/drawing/2014/main" id="{55A9DE09-4C32-49B5-AC4A-B0C00A6687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9758" y="1224000"/>
              <a:ext cx="504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OP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MOV</a:t>
              </a:r>
            </a:p>
          </p:txBody>
        </p:sp>
        <p:sp>
          <p:nvSpPr>
            <p:cNvPr id="111" name="Text Box 51">
              <a:extLst>
                <a:ext uri="{FF2B5EF4-FFF2-40B4-BE49-F238E27FC236}">
                  <a16:creationId xmlns:a16="http://schemas.microsoft.com/office/drawing/2014/main" id="{4EC8EDDC-F855-4A3C-8FDD-8BE35773B3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71896" y="1654448"/>
              <a:ext cx="252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A</a:t>
              </a:r>
              <a:endParaRPr lang="en-US" altLang="zh-CN" sz="16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12" name="Text Box 52">
              <a:extLst>
                <a:ext uri="{FF2B5EF4-FFF2-40B4-BE49-F238E27FC236}">
                  <a16:creationId xmlns:a16="http://schemas.microsoft.com/office/drawing/2014/main" id="{511BA51C-730A-4926-B5A9-D939CBF0C7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8688" y="1654448"/>
              <a:ext cx="50400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OP</a:t>
              </a:r>
              <a:r>
                <a:rPr lang="en-US" altLang="zh-CN" sz="1600" b="1" baseline="-18000" dirty="0">
                  <a:latin typeface="宋体" panose="02010600030101010101" pitchFamily="2" charset="-122"/>
                </a:rPr>
                <a:t>INC</a:t>
              </a:r>
            </a:p>
          </p:txBody>
        </p:sp>
        <p:sp>
          <p:nvSpPr>
            <p:cNvPr id="113" name="Text Box 46">
              <a:extLst>
                <a:ext uri="{FF2B5EF4-FFF2-40B4-BE49-F238E27FC236}">
                  <a16:creationId xmlns:a16="http://schemas.microsoft.com/office/drawing/2014/main" id="{C79F2C5A-BF69-46AC-9616-7A17424682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7400" y="1438448"/>
              <a:ext cx="288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28800" rIns="18000" bIns="10800" anchor="ctr" anchorCtr="0"/>
            <a:lstStyle/>
            <a:p>
              <a:pPr algn="ctr">
                <a:lnSpc>
                  <a:spcPct val="105000"/>
                </a:lnSpc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</a:p>
          </p:txBody>
        </p:sp>
      </p:grpSp>
      <p:sp>
        <p:nvSpPr>
          <p:cNvPr id="114" name="Text Box 205">
            <a:extLst>
              <a:ext uri="{FF2B5EF4-FFF2-40B4-BE49-F238E27FC236}">
                <a16:creationId xmlns:a16="http://schemas.microsoft.com/office/drawing/2014/main" id="{6AC7D3FB-934A-40CB-BD06-AC0F64EFE7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000" y="3820089"/>
            <a:ext cx="7020200" cy="57938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36195" rIns="36195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注：</a:t>
            </a:r>
            <a:r>
              <a: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功能所含信息</a:t>
            </a:r>
            <a:r>
              <a:rPr lang="en-US" altLang="zh-CN" sz="16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操作类型、源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目的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OPD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、下条指令地址</a:t>
            </a:r>
            <a:endParaRPr lang="en-US" altLang="zh-CN" sz="16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5000"/>
              </a:lnSpc>
            </a:pP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操作码特征</a:t>
            </a:r>
            <a:r>
              <a:rPr lang="en-US" altLang="zh-CN" sz="16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—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无二义性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标识不同指令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，可表明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当前指令的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隐式信息</a:t>
            </a:r>
            <a:endParaRPr lang="en-US" altLang="zh-CN" sz="1600" b="1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115" name="组合 114">
            <a:extLst>
              <a:ext uri="{FF2B5EF4-FFF2-40B4-BE49-F238E27FC236}">
                <a16:creationId xmlns:a16="http://schemas.microsoft.com/office/drawing/2014/main" id="{075C22EC-E859-4505-AD77-A7E11FCDA3C8}"/>
              </a:ext>
            </a:extLst>
          </p:cNvPr>
          <p:cNvGrpSpPr/>
          <p:nvPr/>
        </p:nvGrpSpPr>
        <p:grpSpPr>
          <a:xfrm>
            <a:off x="6048000" y="1844824"/>
            <a:ext cx="2628000" cy="612040"/>
            <a:chOff x="6120514" y="4365104"/>
            <a:chExt cx="2628000" cy="612040"/>
          </a:xfrm>
        </p:grpSpPr>
        <p:sp>
          <p:nvSpPr>
            <p:cNvPr id="116" name="Text Box 22">
              <a:extLst>
                <a:ext uri="{FF2B5EF4-FFF2-40B4-BE49-F238E27FC236}">
                  <a16:creationId xmlns:a16="http://schemas.microsoft.com/office/drawing/2014/main" id="{9A3C69B7-7A2A-4E72-B501-F49C771DDA44}"/>
                </a:ext>
              </a:extLst>
            </p:cNvPr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6876256" y="4725144"/>
              <a:ext cx="1800000" cy="252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指令地址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/OPD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地址</a:t>
              </a:r>
            </a:p>
          </p:txBody>
        </p:sp>
        <p:cxnSp>
          <p:nvCxnSpPr>
            <p:cNvPr id="117" name="直接箭头连接符 116">
              <a:extLst>
                <a:ext uri="{FF2B5EF4-FFF2-40B4-BE49-F238E27FC236}">
                  <a16:creationId xmlns:a16="http://schemas.microsoft.com/office/drawing/2014/main" id="{98E3459B-DE59-4DCD-8C52-1C6F330FD948}"/>
                </a:ext>
              </a:extLst>
            </p:cNvPr>
            <p:cNvCxnSpPr/>
            <p:nvPr>
              <p:custDataLst>
                <p:tags r:id="rId38"/>
              </p:custDataLst>
            </p:nvPr>
          </p:nvCxnSpPr>
          <p:spPr>
            <a:xfrm>
              <a:off x="6300192" y="4869160"/>
              <a:ext cx="576000" cy="0"/>
            </a:xfrm>
            <a:prstGeom prst="straightConnector1">
              <a:avLst/>
            </a:prstGeom>
            <a:ln w="15875">
              <a:solidFill>
                <a:srgbClr val="80008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Text Box 22">
              <a:extLst>
                <a:ext uri="{FF2B5EF4-FFF2-40B4-BE49-F238E27FC236}">
                  <a16:creationId xmlns:a16="http://schemas.microsoft.com/office/drawing/2014/main" id="{5590CC35-55B0-461B-B869-217A3B22F179}"/>
                </a:ext>
              </a:extLst>
            </p:cNvPr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6120514" y="4365104"/>
              <a:ext cx="2628000" cy="288032"/>
            </a:xfrm>
            <a:prstGeom prst="rect">
              <a:avLst/>
            </a:prstGeom>
            <a:noFill/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990099"/>
                  </a:solidFill>
                  <a:highlight>
                    <a:srgbClr val="FFFF00"/>
                  </a:highlight>
                  <a:latin typeface="宋体" panose="02010600030101010101" pitchFamily="2" charset="-122"/>
                </a:rPr>
                <a:t>OPD</a:t>
              </a:r>
              <a:r>
                <a:rPr lang="zh-CN" altLang="en-US" sz="1600" b="1" dirty="0">
                  <a:solidFill>
                    <a:srgbClr val="990099"/>
                  </a:solidFill>
                  <a:highlight>
                    <a:srgbClr val="FFFF00"/>
                  </a:highlight>
                  <a:latin typeface="宋体" panose="02010600030101010101" pitchFamily="2" charset="-122"/>
                </a:rPr>
                <a:t>的存放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(GPRs/MEM/IR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等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19" name="直接箭头连接符 118">
              <a:extLst>
                <a:ext uri="{FF2B5EF4-FFF2-40B4-BE49-F238E27FC236}">
                  <a16:creationId xmlns:a16="http://schemas.microsoft.com/office/drawing/2014/main" id="{8B25A3CD-8C97-4A54-B185-7B8CC12B8FDB}"/>
                </a:ext>
              </a:extLst>
            </p:cNvPr>
            <p:cNvCxnSpPr/>
            <p:nvPr>
              <p:custDataLst>
                <p:tags r:id="rId40"/>
              </p:custDataLst>
            </p:nvPr>
          </p:nvCxnSpPr>
          <p:spPr>
            <a:xfrm>
              <a:off x="6516216" y="4622690"/>
              <a:ext cx="0" cy="252000"/>
            </a:xfrm>
            <a:prstGeom prst="straightConnector1">
              <a:avLst/>
            </a:prstGeom>
            <a:ln w="12700">
              <a:solidFill>
                <a:srgbClr val="FF3399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0" name="组合 119">
            <a:extLst>
              <a:ext uri="{FF2B5EF4-FFF2-40B4-BE49-F238E27FC236}">
                <a16:creationId xmlns:a16="http://schemas.microsoft.com/office/drawing/2014/main" id="{4288368A-014C-405B-B36C-EE6AFD3EDB3A}"/>
              </a:ext>
            </a:extLst>
          </p:cNvPr>
          <p:cNvGrpSpPr/>
          <p:nvPr/>
        </p:nvGrpSpPr>
        <p:grpSpPr>
          <a:xfrm>
            <a:off x="3420000" y="2204824"/>
            <a:ext cx="2807415" cy="864096"/>
            <a:chOff x="3276490" y="4653136"/>
            <a:chExt cx="2807415" cy="864096"/>
          </a:xfrm>
        </p:grpSpPr>
        <p:sp>
          <p:nvSpPr>
            <p:cNvPr id="121" name="Text Box 22">
              <a:extLst>
                <a:ext uri="{FF2B5EF4-FFF2-40B4-BE49-F238E27FC236}">
                  <a16:creationId xmlns:a16="http://schemas.microsoft.com/office/drawing/2014/main" id="{F1755268-CA81-492B-BB7E-A5F10C4AFA2D}"/>
                </a:ext>
              </a:extLst>
            </p:cNvPr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3707905" y="4653136"/>
              <a:ext cx="2376000" cy="25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显式的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指令地址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/OPD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信息</a:t>
              </a:r>
            </a:p>
          </p:txBody>
        </p:sp>
        <p:sp>
          <p:nvSpPr>
            <p:cNvPr id="122" name="Text Box 22">
              <a:extLst>
                <a:ext uri="{FF2B5EF4-FFF2-40B4-BE49-F238E27FC236}">
                  <a16:creationId xmlns:a16="http://schemas.microsoft.com/office/drawing/2014/main" id="{23B430ED-281C-41D8-9787-E88B74B23ACB}"/>
                </a:ext>
              </a:extLst>
            </p:cNvPr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3707905" y="4960218"/>
              <a:ext cx="2088000" cy="25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显式的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操作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/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格式信息</a:t>
              </a:r>
            </a:p>
          </p:txBody>
        </p:sp>
        <p:cxnSp>
          <p:nvCxnSpPr>
            <p:cNvPr id="123" name="直接箭头连接符 122">
              <a:extLst>
                <a:ext uri="{FF2B5EF4-FFF2-40B4-BE49-F238E27FC236}">
                  <a16:creationId xmlns:a16="http://schemas.microsoft.com/office/drawing/2014/main" id="{43F30118-0B3A-4E2C-B9EA-9FEBE3F40318}"/>
                </a:ext>
              </a:extLst>
            </p:cNvPr>
            <p:cNvCxnSpPr/>
            <p:nvPr>
              <p:custDataLst>
                <p:tags r:id="rId33"/>
              </p:custDataLst>
            </p:nvPr>
          </p:nvCxnSpPr>
          <p:spPr>
            <a:xfrm>
              <a:off x="3276490" y="4797152"/>
              <a:ext cx="432000" cy="0"/>
            </a:xfrm>
            <a:prstGeom prst="straightConnector1">
              <a:avLst/>
            </a:prstGeom>
            <a:ln w="15875">
              <a:solidFill>
                <a:srgbClr val="80008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箭头连接符 123">
              <a:extLst>
                <a:ext uri="{FF2B5EF4-FFF2-40B4-BE49-F238E27FC236}">
                  <a16:creationId xmlns:a16="http://schemas.microsoft.com/office/drawing/2014/main" id="{4C60E9DF-D497-4F33-A3E3-50CE2E13CA17}"/>
                </a:ext>
              </a:extLst>
            </p:cNvPr>
            <p:cNvCxnSpPr/>
            <p:nvPr>
              <p:custDataLst>
                <p:tags r:id="rId34"/>
              </p:custDataLst>
            </p:nvPr>
          </p:nvCxnSpPr>
          <p:spPr>
            <a:xfrm>
              <a:off x="3276490" y="5085184"/>
              <a:ext cx="432000" cy="0"/>
            </a:xfrm>
            <a:prstGeom prst="straightConnector1">
              <a:avLst/>
            </a:prstGeom>
            <a:ln w="15875">
              <a:solidFill>
                <a:srgbClr val="80008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Text Box 22">
              <a:extLst>
                <a:ext uri="{FF2B5EF4-FFF2-40B4-BE49-F238E27FC236}">
                  <a16:creationId xmlns:a16="http://schemas.microsoft.com/office/drawing/2014/main" id="{F44A77FF-E142-40E2-AB2A-4CB1B4B9790A}"/>
                </a:ext>
              </a:extLst>
            </p:cNvPr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3707904" y="5265232"/>
              <a:ext cx="2088000" cy="25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隐式的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信息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400" b="1" dirty="0">
                  <a:latin typeface="宋体" panose="02010600030101010101" pitchFamily="2" charset="-122"/>
                </a:rPr>
                <a:t>除显式外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)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26" name="直接箭头连接符 125">
              <a:extLst>
                <a:ext uri="{FF2B5EF4-FFF2-40B4-BE49-F238E27FC236}">
                  <a16:creationId xmlns:a16="http://schemas.microsoft.com/office/drawing/2014/main" id="{19040581-4BE1-4A39-87C1-1BA09FCD7C93}"/>
                </a:ext>
              </a:extLst>
            </p:cNvPr>
            <p:cNvCxnSpPr/>
            <p:nvPr>
              <p:custDataLst>
                <p:tags r:id="rId36"/>
              </p:custDataLst>
            </p:nvPr>
          </p:nvCxnSpPr>
          <p:spPr>
            <a:xfrm>
              <a:off x="3276490" y="5373216"/>
              <a:ext cx="432000" cy="0"/>
            </a:xfrm>
            <a:prstGeom prst="straightConnector1">
              <a:avLst/>
            </a:prstGeom>
            <a:ln w="15875">
              <a:solidFill>
                <a:srgbClr val="80008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89F0EA67-DC9A-4030-8F8C-21167979481D}"/>
              </a:ext>
            </a:extLst>
          </p:cNvPr>
          <p:cNvGrpSpPr/>
          <p:nvPr/>
        </p:nvGrpSpPr>
        <p:grpSpPr>
          <a:xfrm>
            <a:off x="3203345" y="1844824"/>
            <a:ext cx="2088000" cy="1080088"/>
            <a:chOff x="3059835" y="4293096"/>
            <a:chExt cx="2088000" cy="1080088"/>
          </a:xfrm>
        </p:grpSpPr>
        <p:cxnSp>
          <p:nvCxnSpPr>
            <p:cNvPr id="128" name="直接箭头连接符 127">
              <a:extLst>
                <a:ext uri="{FF2B5EF4-FFF2-40B4-BE49-F238E27FC236}">
                  <a16:creationId xmlns:a16="http://schemas.microsoft.com/office/drawing/2014/main" id="{D26B76D6-8DEB-4079-A18C-907E8B513451}"/>
                </a:ext>
              </a:extLst>
            </p:cNvPr>
            <p:cNvCxnSpPr/>
            <p:nvPr>
              <p:custDataLst>
                <p:tags r:id="rId27"/>
              </p:custDataLst>
            </p:nvPr>
          </p:nvCxnSpPr>
          <p:spPr>
            <a:xfrm>
              <a:off x="3491882" y="4581096"/>
              <a:ext cx="0" cy="216000"/>
            </a:xfrm>
            <a:prstGeom prst="straightConnector1">
              <a:avLst/>
            </a:prstGeom>
            <a:ln w="12700">
              <a:solidFill>
                <a:srgbClr val="FF3399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Text Box 22">
              <a:extLst>
                <a:ext uri="{FF2B5EF4-FFF2-40B4-BE49-F238E27FC236}">
                  <a16:creationId xmlns:a16="http://schemas.microsoft.com/office/drawing/2014/main" id="{C5F7EE0C-065A-4E77-B10E-677B13EE1747}"/>
                </a:ext>
              </a:extLst>
            </p:cNvPr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3059835" y="4293096"/>
              <a:ext cx="2088000" cy="288032"/>
            </a:xfrm>
            <a:prstGeom prst="rect">
              <a:avLst/>
            </a:prstGeom>
            <a:noFill/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990099"/>
                  </a:solidFill>
                  <a:highlight>
                    <a:srgbClr val="FFFF00"/>
                  </a:highlight>
                  <a:latin typeface="宋体" panose="02010600030101010101" pitchFamily="2" charset="-122"/>
                </a:rPr>
                <a:t>表示方式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显式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/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隐式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30" name="直接箭头连接符 129">
              <a:extLst>
                <a:ext uri="{FF2B5EF4-FFF2-40B4-BE49-F238E27FC236}">
                  <a16:creationId xmlns:a16="http://schemas.microsoft.com/office/drawing/2014/main" id="{74611A24-77B7-49EF-AB17-92D89A995F62}"/>
                </a:ext>
              </a:extLst>
            </p:cNvPr>
            <p:cNvCxnSpPr/>
            <p:nvPr>
              <p:custDataLst>
                <p:tags r:id="rId29"/>
              </p:custDataLst>
            </p:nvPr>
          </p:nvCxnSpPr>
          <p:spPr>
            <a:xfrm>
              <a:off x="3491880" y="4797152"/>
              <a:ext cx="0" cy="288000"/>
            </a:xfrm>
            <a:prstGeom prst="straightConnector1">
              <a:avLst/>
            </a:prstGeom>
            <a:ln w="12700">
              <a:solidFill>
                <a:srgbClr val="FF3399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箭头连接符 130">
              <a:extLst>
                <a:ext uri="{FF2B5EF4-FFF2-40B4-BE49-F238E27FC236}">
                  <a16:creationId xmlns:a16="http://schemas.microsoft.com/office/drawing/2014/main" id="{B95DAEF2-6188-4C67-9835-D7224A3A2B07}"/>
                </a:ext>
              </a:extLst>
            </p:cNvPr>
            <p:cNvCxnSpPr/>
            <p:nvPr>
              <p:custDataLst>
                <p:tags r:id="rId30"/>
              </p:custDataLst>
            </p:nvPr>
          </p:nvCxnSpPr>
          <p:spPr>
            <a:xfrm>
              <a:off x="3491880" y="5085184"/>
              <a:ext cx="0" cy="288000"/>
            </a:xfrm>
            <a:prstGeom prst="straightConnector1">
              <a:avLst/>
            </a:prstGeom>
            <a:ln w="12700">
              <a:solidFill>
                <a:srgbClr val="FF3399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2" name="组合 131">
            <a:extLst>
              <a:ext uri="{FF2B5EF4-FFF2-40B4-BE49-F238E27FC236}">
                <a16:creationId xmlns:a16="http://schemas.microsoft.com/office/drawing/2014/main" id="{D282970C-33A8-4CC2-9DF2-A1762716CF9E}"/>
              </a:ext>
            </a:extLst>
          </p:cNvPr>
          <p:cNvGrpSpPr/>
          <p:nvPr/>
        </p:nvGrpSpPr>
        <p:grpSpPr>
          <a:xfrm>
            <a:off x="7632125" y="2492824"/>
            <a:ext cx="1259875" cy="972000"/>
            <a:chOff x="7596336" y="4583096"/>
            <a:chExt cx="1259875" cy="972000"/>
          </a:xfrm>
        </p:grpSpPr>
        <p:cxnSp>
          <p:nvCxnSpPr>
            <p:cNvPr id="133" name="直接箭头连接符 132">
              <a:extLst>
                <a:ext uri="{FF2B5EF4-FFF2-40B4-BE49-F238E27FC236}">
                  <a16:creationId xmlns:a16="http://schemas.microsoft.com/office/drawing/2014/main" id="{EAC9D899-A3A0-4A3F-9307-9719DC727B74}"/>
                </a:ext>
              </a:extLst>
            </p:cNvPr>
            <p:cNvCxnSpPr/>
            <p:nvPr>
              <p:custDataLst>
                <p:tags r:id="rId25"/>
              </p:custDataLst>
            </p:nvPr>
          </p:nvCxnSpPr>
          <p:spPr>
            <a:xfrm>
              <a:off x="7596336" y="4583096"/>
              <a:ext cx="0" cy="972000"/>
            </a:xfrm>
            <a:prstGeom prst="straightConnector1">
              <a:avLst/>
            </a:prstGeom>
            <a:ln w="15875">
              <a:solidFill>
                <a:srgbClr val="C0000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Text Box 22">
              <a:extLst>
                <a:ext uri="{FF2B5EF4-FFF2-40B4-BE49-F238E27FC236}">
                  <a16:creationId xmlns:a16="http://schemas.microsoft.com/office/drawing/2014/main" id="{03447FC3-BA4F-4126-99A4-5D1E5EAF2F9C}"/>
                </a:ext>
              </a:extLst>
            </p:cNvPr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7632211" y="4797151"/>
              <a:ext cx="1224000" cy="54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solidFill>
                    <a:schemeClr val="accent2"/>
                  </a:solidFill>
                  <a:highlight>
                    <a:srgbClr val="FFFF00"/>
                  </a:highlight>
                  <a:latin typeface="宋体" panose="02010600030101010101" pitchFamily="2" charset="-122"/>
                </a:rPr>
                <a:t>地址编码</a:t>
              </a:r>
              <a:endParaRPr lang="en-US" altLang="zh-CN" sz="1600" b="1" dirty="0">
                <a:solidFill>
                  <a:schemeClr val="accent2"/>
                </a:solidFill>
                <a:highlight>
                  <a:srgbClr val="FFFF00"/>
                </a:highlight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ts val="600"/>
                </a:spcBef>
              </a:pP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en-US" altLang="zh-CN" sz="1600" b="1" dirty="0">
                  <a:cs typeface="Times New Roman" panose="02020603050405020304" pitchFamily="18" charset="0"/>
                </a:rPr>
                <a:t>~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寻址方式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135" name="组合 134">
            <a:extLst>
              <a:ext uri="{FF2B5EF4-FFF2-40B4-BE49-F238E27FC236}">
                <a16:creationId xmlns:a16="http://schemas.microsoft.com/office/drawing/2014/main" id="{FD372483-26BF-4E02-B07C-2F4C97EDA579}"/>
              </a:ext>
            </a:extLst>
          </p:cNvPr>
          <p:cNvGrpSpPr/>
          <p:nvPr/>
        </p:nvGrpSpPr>
        <p:grpSpPr>
          <a:xfrm>
            <a:off x="1116000" y="2274928"/>
            <a:ext cx="7487942" cy="1479832"/>
            <a:chOff x="972490" y="4257216"/>
            <a:chExt cx="7487942" cy="1479832"/>
          </a:xfrm>
        </p:grpSpPr>
        <p:sp>
          <p:nvSpPr>
            <p:cNvPr id="136" name="Text Box 22">
              <a:extLst>
                <a:ext uri="{FF2B5EF4-FFF2-40B4-BE49-F238E27FC236}">
                  <a16:creationId xmlns:a16="http://schemas.microsoft.com/office/drawing/2014/main" id="{4599871E-ABE9-4F59-A9F6-0810FB6C22CE}"/>
                </a:ext>
              </a:extLst>
            </p:cNvPr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384490" y="5157248"/>
              <a:ext cx="2736000" cy="252000"/>
            </a:xfrm>
            <a:prstGeom prst="rect">
              <a:avLst/>
            </a:prstGeom>
            <a:noFill/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地址码个数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/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目的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OPD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位置等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37" name="Text Box 22">
              <a:extLst>
                <a:ext uri="{FF2B5EF4-FFF2-40B4-BE49-F238E27FC236}">
                  <a16:creationId xmlns:a16="http://schemas.microsoft.com/office/drawing/2014/main" id="{F0E31723-266A-4FE2-A612-5FF0E31B9341}"/>
                </a:ext>
              </a:extLst>
            </p:cNvPr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763744" y="4259112"/>
              <a:ext cx="504000" cy="720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功能所含信息</a:t>
              </a:r>
            </a:p>
          </p:txBody>
        </p:sp>
        <p:sp>
          <p:nvSpPr>
            <p:cNvPr id="138" name="Text Box 23">
              <a:extLst>
                <a:ext uri="{FF2B5EF4-FFF2-40B4-BE49-F238E27FC236}">
                  <a16:creationId xmlns:a16="http://schemas.microsoft.com/office/drawing/2014/main" id="{B4503CD3-848A-4BB9-A66F-F157EBE1EEC8}"/>
                </a:ext>
              </a:extLst>
            </p:cNvPr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6948432" y="5485048"/>
              <a:ext cx="1512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地址码</a:t>
              </a:r>
            </a:p>
          </p:txBody>
        </p:sp>
        <p:cxnSp>
          <p:nvCxnSpPr>
            <p:cNvPr id="139" name="直接连接符 138">
              <a:extLst>
                <a:ext uri="{FF2B5EF4-FFF2-40B4-BE49-F238E27FC236}">
                  <a16:creationId xmlns:a16="http://schemas.microsoft.com/office/drawing/2014/main" id="{6B628975-0773-4370-82CF-59E4DA32D19C}"/>
                </a:ext>
              </a:extLst>
            </p:cNvPr>
            <p:cNvCxnSpPr/>
            <p:nvPr>
              <p:custDataLst>
                <p:tags r:id="rId12"/>
              </p:custDataLst>
            </p:nvPr>
          </p:nvCxnSpPr>
          <p:spPr bwMode="auto">
            <a:xfrm>
              <a:off x="7380480" y="5483112"/>
              <a:ext cx="0" cy="252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0" name="直接连接符 139">
              <a:extLst>
                <a:ext uri="{FF2B5EF4-FFF2-40B4-BE49-F238E27FC236}">
                  <a16:creationId xmlns:a16="http://schemas.microsoft.com/office/drawing/2014/main" id="{45FDA891-23C5-4151-8154-7293A6A61E8E}"/>
                </a:ext>
              </a:extLst>
            </p:cNvPr>
            <p:cNvCxnSpPr/>
            <p:nvPr>
              <p:custDataLst>
                <p:tags r:id="rId13"/>
              </p:custDataLst>
            </p:nvPr>
          </p:nvCxnSpPr>
          <p:spPr bwMode="auto">
            <a:xfrm>
              <a:off x="8100560" y="5483112"/>
              <a:ext cx="0" cy="252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41" name="Text Box 22">
              <a:extLst>
                <a:ext uri="{FF2B5EF4-FFF2-40B4-BE49-F238E27FC236}">
                  <a16:creationId xmlns:a16="http://schemas.microsoft.com/office/drawing/2014/main" id="{0BEB89DD-BB25-4C16-B034-75DBD0F490EA}"/>
                </a:ext>
              </a:extLst>
            </p:cNvPr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972490" y="5485048"/>
              <a:ext cx="1008112" cy="252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指令格式</a:t>
              </a:r>
            </a:p>
          </p:txBody>
        </p:sp>
        <p:sp>
          <p:nvSpPr>
            <p:cNvPr id="142" name="Text Box 22">
              <a:extLst>
                <a:ext uri="{FF2B5EF4-FFF2-40B4-BE49-F238E27FC236}">
                  <a16:creationId xmlns:a16="http://schemas.microsoft.com/office/drawing/2014/main" id="{C343E5E4-E693-489E-9978-EECBDB0CC923}"/>
                </a:ext>
              </a:extLst>
            </p:cNvPr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2556490" y="4257216"/>
              <a:ext cx="720000" cy="720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需表示</a:t>
              </a:r>
              <a:endParaRPr lang="en-US" altLang="zh-CN" sz="1600" b="1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600"/>
                </a:spcBef>
              </a:pPr>
              <a:r>
                <a:rPr lang="zh-CN" altLang="en-US" sz="1600" b="1" dirty="0">
                  <a:latin typeface="宋体" panose="02010600030101010101" pitchFamily="2" charset="-122"/>
                </a:rPr>
                <a:t>的信息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43" name="直接箭头连接符 142">
              <a:extLst>
                <a:ext uri="{FF2B5EF4-FFF2-40B4-BE49-F238E27FC236}">
                  <a16:creationId xmlns:a16="http://schemas.microsoft.com/office/drawing/2014/main" id="{F1B9D3E2-C721-482B-AE79-412DD7999C52}"/>
                </a:ext>
              </a:extLst>
            </p:cNvPr>
            <p:cNvCxnSpPr/>
            <p:nvPr>
              <p:custDataLst>
                <p:tags r:id="rId16"/>
              </p:custDataLst>
            </p:nvPr>
          </p:nvCxnSpPr>
          <p:spPr>
            <a:xfrm>
              <a:off x="2268490" y="4617160"/>
              <a:ext cx="288000" cy="0"/>
            </a:xfrm>
            <a:prstGeom prst="straightConnector1">
              <a:avLst/>
            </a:prstGeom>
            <a:ln w="15875">
              <a:solidFill>
                <a:srgbClr val="80008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直接箭头连接符 143">
              <a:extLst>
                <a:ext uri="{FF2B5EF4-FFF2-40B4-BE49-F238E27FC236}">
                  <a16:creationId xmlns:a16="http://schemas.microsoft.com/office/drawing/2014/main" id="{F22F98AE-F988-4A90-A892-0F8161E0066E}"/>
                </a:ext>
              </a:extLst>
            </p:cNvPr>
            <p:cNvCxnSpPr/>
            <p:nvPr>
              <p:custDataLst>
                <p:tags r:id="rId17"/>
              </p:custDataLst>
            </p:nvPr>
          </p:nvCxnSpPr>
          <p:spPr>
            <a:xfrm>
              <a:off x="1980490" y="5663112"/>
              <a:ext cx="4176000" cy="0"/>
            </a:xfrm>
            <a:prstGeom prst="straightConnector1">
              <a:avLst/>
            </a:prstGeom>
            <a:ln w="15875">
              <a:solidFill>
                <a:srgbClr val="80008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Text Box 22">
              <a:extLst>
                <a:ext uri="{FF2B5EF4-FFF2-40B4-BE49-F238E27FC236}">
                  <a16:creationId xmlns:a16="http://schemas.microsoft.com/office/drawing/2014/main" id="{32DA66EE-ACA3-4618-AEF2-7D92C61494C8}"/>
                </a:ext>
              </a:extLst>
            </p:cNvPr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6156432" y="5485048"/>
              <a:ext cx="792000" cy="252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操作码</a:t>
              </a:r>
            </a:p>
          </p:txBody>
        </p:sp>
        <p:sp>
          <p:nvSpPr>
            <p:cNvPr id="146" name="Text Box 22">
              <a:extLst>
                <a:ext uri="{FF2B5EF4-FFF2-40B4-BE49-F238E27FC236}">
                  <a16:creationId xmlns:a16="http://schemas.microsoft.com/office/drawing/2014/main" id="{2A6199D5-8DFA-4F1D-91CA-6413B17DB6C7}"/>
                </a:ext>
              </a:extLst>
            </p:cNvPr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2448490" y="5157248"/>
              <a:ext cx="936000" cy="25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格式参数</a:t>
              </a:r>
            </a:p>
          </p:txBody>
        </p:sp>
        <p:cxnSp>
          <p:nvCxnSpPr>
            <p:cNvPr id="147" name="直接箭头连接符 146">
              <a:extLst>
                <a:ext uri="{FF2B5EF4-FFF2-40B4-BE49-F238E27FC236}">
                  <a16:creationId xmlns:a16="http://schemas.microsoft.com/office/drawing/2014/main" id="{6996FCC0-9708-4FD6-A5E4-45E04A129AF4}"/>
                </a:ext>
              </a:extLst>
            </p:cNvPr>
            <p:cNvCxnSpPr/>
            <p:nvPr>
              <p:custDataLst>
                <p:tags r:id="rId20"/>
              </p:custDataLst>
            </p:nvPr>
          </p:nvCxnSpPr>
          <p:spPr>
            <a:xfrm flipV="1">
              <a:off x="2916490" y="4977200"/>
              <a:ext cx="0" cy="180000"/>
            </a:xfrm>
            <a:prstGeom prst="straightConnector1">
              <a:avLst/>
            </a:prstGeom>
            <a:ln w="15875">
              <a:solidFill>
                <a:srgbClr val="990099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8" name="Text Box 22">
              <a:extLst>
                <a:ext uri="{FF2B5EF4-FFF2-40B4-BE49-F238E27FC236}">
                  <a16:creationId xmlns:a16="http://schemas.microsoft.com/office/drawing/2014/main" id="{384FCCFA-D4B6-4165-AB93-1A872F94B519}"/>
                </a:ext>
              </a:extLst>
            </p:cNvPr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972490" y="4331112"/>
              <a:ext cx="504000" cy="57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指令功能</a:t>
              </a:r>
            </a:p>
          </p:txBody>
        </p:sp>
        <p:cxnSp>
          <p:nvCxnSpPr>
            <p:cNvPr id="149" name="直接箭头连接符 148">
              <a:extLst>
                <a:ext uri="{FF2B5EF4-FFF2-40B4-BE49-F238E27FC236}">
                  <a16:creationId xmlns:a16="http://schemas.microsoft.com/office/drawing/2014/main" id="{E99AD45F-68A9-498E-9ED9-0C66F3943944}"/>
                </a:ext>
              </a:extLst>
            </p:cNvPr>
            <p:cNvCxnSpPr/>
            <p:nvPr>
              <p:custDataLst>
                <p:tags r:id="rId22"/>
              </p:custDataLst>
            </p:nvPr>
          </p:nvCxnSpPr>
          <p:spPr>
            <a:xfrm>
              <a:off x="1476490" y="4619112"/>
              <a:ext cx="288000" cy="0"/>
            </a:xfrm>
            <a:prstGeom prst="straightConnector1">
              <a:avLst/>
            </a:prstGeom>
            <a:ln w="15875">
              <a:solidFill>
                <a:srgbClr val="80008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接箭头连接符 149">
              <a:extLst>
                <a:ext uri="{FF2B5EF4-FFF2-40B4-BE49-F238E27FC236}">
                  <a16:creationId xmlns:a16="http://schemas.microsoft.com/office/drawing/2014/main" id="{09C6428C-9C8C-4505-B04D-855CCCB16139}"/>
                </a:ext>
              </a:extLst>
            </p:cNvPr>
            <p:cNvCxnSpPr/>
            <p:nvPr>
              <p:custDataLst>
                <p:tags r:id="rId23"/>
              </p:custDataLst>
            </p:nvPr>
          </p:nvCxnSpPr>
          <p:spPr>
            <a:xfrm flipV="1">
              <a:off x="2916490" y="5411317"/>
              <a:ext cx="0" cy="144000"/>
            </a:xfrm>
            <a:prstGeom prst="straightConnector1">
              <a:avLst/>
            </a:prstGeom>
            <a:ln w="15875">
              <a:solidFill>
                <a:srgbClr val="990099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直接箭头连接符 150">
              <a:extLst>
                <a:ext uri="{FF2B5EF4-FFF2-40B4-BE49-F238E27FC236}">
                  <a16:creationId xmlns:a16="http://schemas.microsoft.com/office/drawing/2014/main" id="{27C3C74E-0C68-43CD-9A0B-A774E739014A}"/>
                </a:ext>
              </a:extLst>
            </p:cNvPr>
            <p:cNvCxnSpPr/>
            <p:nvPr>
              <p:custDataLst>
                <p:tags r:id="rId24"/>
              </p:custDataLst>
            </p:nvPr>
          </p:nvCxnSpPr>
          <p:spPr>
            <a:xfrm flipH="1">
              <a:off x="2916490" y="5555112"/>
              <a:ext cx="3240000" cy="1"/>
            </a:xfrm>
            <a:prstGeom prst="straightConnector1">
              <a:avLst/>
            </a:prstGeom>
            <a:ln w="15875">
              <a:solidFill>
                <a:srgbClr val="990099"/>
              </a:solidFill>
              <a:prstDash val="solid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2" name="组合 151">
            <a:extLst>
              <a:ext uri="{FF2B5EF4-FFF2-40B4-BE49-F238E27FC236}">
                <a16:creationId xmlns:a16="http://schemas.microsoft.com/office/drawing/2014/main" id="{5F8F4471-B938-4D96-B22F-99009E2CABCF}"/>
              </a:ext>
            </a:extLst>
          </p:cNvPr>
          <p:cNvGrpSpPr/>
          <p:nvPr/>
        </p:nvGrpSpPr>
        <p:grpSpPr>
          <a:xfrm>
            <a:off x="5939646" y="2634872"/>
            <a:ext cx="1368354" cy="864000"/>
            <a:chOff x="5939646" y="2060848"/>
            <a:chExt cx="1368354" cy="864000"/>
          </a:xfrm>
        </p:grpSpPr>
        <p:cxnSp>
          <p:nvCxnSpPr>
            <p:cNvPr id="153" name="直接箭头连接符 152">
              <a:extLst>
                <a:ext uri="{FF2B5EF4-FFF2-40B4-BE49-F238E27FC236}">
                  <a16:creationId xmlns:a16="http://schemas.microsoft.com/office/drawing/2014/main" id="{89A52167-5338-4083-AE00-F839B976605A}"/>
                </a:ext>
              </a:extLst>
            </p:cNvPr>
            <p:cNvCxnSpPr/>
            <p:nvPr>
              <p:custDataLst>
                <p:tags r:id="rId4"/>
              </p:custDataLst>
            </p:nvPr>
          </p:nvCxnSpPr>
          <p:spPr>
            <a:xfrm>
              <a:off x="6768000" y="2060848"/>
              <a:ext cx="1" cy="864000"/>
            </a:xfrm>
            <a:prstGeom prst="straightConnector1">
              <a:avLst/>
            </a:prstGeom>
            <a:ln w="15875">
              <a:solidFill>
                <a:srgbClr val="C0000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Text Box 22">
              <a:extLst>
                <a:ext uri="{FF2B5EF4-FFF2-40B4-BE49-F238E27FC236}">
                  <a16:creationId xmlns:a16="http://schemas.microsoft.com/office/drawing/2014/main" id="{B31A3BAA-0DF4-4E6F-B359-FF4FA5869A36}"/>
                </a:ext>
              </a:extLst>
            </p:cNvPr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6768000" y="2132904"/>
              <a:ext cx="540000" cy="43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chemeClr val="accent2"/>
                  </a:solidFill>
                  <a:highlight>
                    <a:srgbClr val="FFFF00"/>
                  </a:highlight>
                  <a:latin typeface="宋体" panose="02010600030101010101" pitchFamily="2" charset="-122"/>
                </a:rPr>
                <a:t>操作</a:t>
              </a:r>
              <a:endParaRPr lang="en-US" altLang="zh-CN" sz="1600" b="1" dirty="0">
                <a:solidFill>
                  <a:schemeClr val="accent2"/>
                </a:solidFill>
                <a:highlight>
                  <a:srgbClr val="FFFF00"/>
                </a:highlight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chemeClr val="accent2"/>
                  </a:solidFill>
                  <a:highlight>
                    <a:srgbClr val="FFFF00"/>
                  </a:highlight>
                  <a:latin typeface="宋体" panose="02010600030101010101" pitchFamily="2" charset="-122"/>
                </a:rPr>
                <a:t>编码</a:t>
              </a:r>
              <a:endParaRPr lang="zh-CN" altLang="en-US" sz="1400" b="1" dirty="0">
                <a:solidFill>
                  <a:schemeClr val="accent2"/>
                </a:solidFill>
                <a:highlight>
                  <a:srgbClr val="FFFF00"/>
                </a:highlight>
                <a:latin typeface="宋体" panose="02010600030101010101" pitchFamily="2" charset="-122"/>
              </a:endParaRPr>
            </a:p>
          </p:txBody>
        </p:sp>
        <p:cxnSp>
          <p:nvCxnSpPr>
            <p:cNvPr id="155" name="直接箭头连接符 154">
              <a:extLst>
                <a:ext uri="{FF2B5EF4-FFF2-40B4-BE49-F238E27FC236}">
                  <a16:creationId xmlns:a16="http://schemas.microsoft.com/office/drawing/2014/main" id="{26CBEDF5-C4E7-4CFC-AD8F-B9050BBB706A}"/>
                </a:ext>
              </a:extLst>
            </p:cNvPr>
            <p:cNvCxnSpPr/>
            <p:nvPr>
              <p:custDataLst>
                <p:tags r:id="rId6"/>
              </p:custDataLst>
            </p:nvPr>
          </p:nvCxnSpPr>
          <p:spPr>
            <a:xfrm>
              <a:off x="5939646" y="2060848"/>
              <a:ext cx="828000" cy="0"/>
            </a:xfrm>
            <a:prstGeom prst="straightConnector1">
              <a:avLst/>
            </a:prstGeom>
            <a:ln w="15875">
              <a:solidFill>
                <a:srgbClr val="C00000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接箭头连接符 155">
              <a:extLst>
                <a:ext uri="{FF2B5EF4-FFF2-40B4-BE49-F238E27FC236}">
                  <a16:creationId xmlns:a16="http://schemas.microsoft.com/office/drawing/2014/main" id="{61DA1F2E-6F66-4475-ADC5-7C8FB965D0C4}"/>
                </a:ext>
              </a:extLst>
            </p:cNvPr>
            <p:cNvCxnSpPr/>
            <p:nvPr>
              <p:custDataLst>
                <p:tags r:id="rId7"/>
              </p:custDataLst>
            </p:nvPr>
          </p:nvCxnSpPr>
          <p:spPr>
            <a:xfrm>
              <a:off x="5939646" y="2348880"/>
              <a:ext cx="612000" cy="575742"/>
            </a:xfrm>
            <a:prstGeom prst="straightConnector1">
              <a:avLst/>
            </a:prstGeom>
            <a:ln w="15875">
              <a:solidFill>
                <a:srgbClr val="C00000"/>
              </a:solidFill>
              <a:prstDash val="sysDash"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Text Box 22">
              <a:extLst>
                <a:ext uri="{FF2B5EF4-FFF2-40B4-BE49-F238E27FC236}">
                  <a16:creationId xmlns:a16="http://schemas.microsoft.com/office/drawing/2014/main" id="{1658E9FC-1F8A-4CD9-8381-9A0CEEC48611}"/>
                </a:ext>
              </a:extLst>
            </p:cNvPr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6192000" y="2422800"/>
              <a:ext cx="504000" cy="25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表明</a:t>
              </a:r>
              <a:endParaRPr lang="zh-CN" altLang="en-US" sz="1400" b="1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158" name="组合 157">
            <a:extLst>
              <a:ext uri="{FF2B5EF4-FFF2-40B4-BE49-F238E27FC236}">
                <a16:creationId xmlns:a16="http://schemas.microsoft.com/office/drawing/2014/main" id="{AABBFEAA-6BEE-4F50-8A5F-C5C4E135F039}"/>
              </a:ext>
            </a:extLst>
          </p:cNvPr>
          <p:cNvGrpSpPr/>
          <p:nvPr/>
        </p:nvGrpSpPr>
        <p:grpSpPr>
          <a:xfrm>
            <a:off x="2088112" y="6273249"/>
            <a:ext cx="3131960" cy="252095"/>
            <a:chOff x="1080000" y="1764000"/>
            <a:chExt cx="3131960" cy="252095"/>
          </a:xfrm>
        </p:grpSpPr>
        <p:sp>
          <p:nvSpPr>
            <p:cNvPr id="159" name="Text Box 9">
              <a:extLst>
                <a:ext uri="{FF2B5EF4-FFF2-40B4-BE49-F238E27FC236}">
                  <a16:creationId xmlns:a16="http://schemas.microsoft.com/office/drawing/2014/main" id="{95FB56C3-A197-41B9-8C35-E58C40C5D654}"/>
                </a:ext>
              </a:extLst>
            </p:cNvPr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871985" y="1764000"/>
              <a:ext cx="2339975" cy="252095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000" tIns="0" rIns="0" bIns="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寻址方式位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F</a:t>
              </a:r>
              <a:r>
                <a:rPr lang="en-US" altLang="zh-CN" sz="1200" b="1" dirty="0">
                  <a:latin typeface="宋体" panose="02010600030101010101" pitchFamily="2" charset="-122"/>
                </a:rPr>
                <a:t>  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地址参数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A</a:t>
              </a:r>
            </a:p>
          </p:txBody>
        </p:sp>
        <p:sp>
          <p:nvSpPr>
            <p:cNvPr id="160" name="Text Box 27">
              <a:extLst>
                <a:ext uri="{FF2B5EF4-FFF2-40B4-BE49-F238E27FC236}">
                  <a16:creationId xmlns:a16="http://schemas.microsoft.com/office/drawing/2014/main" id="{5CC2D225-51B2-4765-B09E-C54115F79079}"/>
                </a:ext>
              </a:extLst>
            </p:cNvPr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080000" y="1764000"/>
              <a:ext cx="2195856" cy="25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t" anchorCtr="0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地址码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:</a:t>
              </a:r>
            </a:p>
          </p:txBody>
        </p:sp>
        <p:cxnSp>
          <p:nvCxnSpPr>
            <p:cNvPr id="161" name="直接箭头连接符 160">
              <a:extLst>
                <a:ext uri="{FF2B5EF4-FFF2-40B4-BE49-F238E27FC236}">
                  <a16:creationId xmlns:a16="http://schemas.microsoft.com/office/drawing/2014/main" id="{D2ED9CFC-DC4A-437B-8611-0C4FD35C08B3}"/>
                </a:ext>
              </a:extLst>
            </p:cNvPr>
            <p:cNvCxnSpPr/>
            <p:nvPr>
              <p:custDataLst>
                <p:tags r:id="rId3"/>
              </p:custDataLst>
            </p:nvPr>
          </p:nvCxnSpPr>
          <p:spPr bwMode="auto">
            <a:xfrm flipH="1">
              <a:off x="3095630" y="1764000"/>
              <a:ext cx="0" cy="252095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5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0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0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0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10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10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0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10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10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10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9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10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t>27</a:t>
            </a:fld>
            <a:endParaRPr lang="en-US" altLang="zh-CN" dirty="0"/>
          </a:p>
        </p:txBody>
      </p:sp>
      <p:sp>
        <p:nvSpPr>
          <p:cNvPr id="181" name="Text Box 5">
            <a:extLst>
              <a:ext uri="{FF2B5EF4-FFF2-40B4-BE49-F238E27FC236}">
                <a16:creationId xmlns:a16="http://schemas.microsoft.com/office/drawing/2014/main" id="{20CAD667-6774-4C1A-9706-EAFBE9BDC0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332656"/>
            <a:ext cx="7128088" cy="6002605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 *运算器的组成： 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任务：</a:t>
            </a:r>
            <a:r>
              <a: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</a:rPr>
              <a:t>实现</a:t>
            </a:r>
            <a:r>
              <a:rPr lang="en-US" altLang="zh-CN" sz="1600" b="1" dirty="0">
                <a:latin typeface="宋体" panose="02010600030101010101" pitchFamily="2" charset="-122"/>
              </a:rPr>
              <a:t>ISA</a:t>
            </a:r>
            <a:r>
              <a:rPr lang="zh-CN" altLang="en-US" sz="1600" b="1" dirty="0">
                <a:latin typeface="宋体" panose="02010600030101010101" pitchFamily="2" charset="-122"/>
              </a:rPr>
              <a:t>中各指令的功能</a:t>
            </a:r>
            <a:r>
              <a:rPr lang="en-US" altLang="zh-CN" sz="1600" b="1" dirty="0">
                <a:latin typeface="宋体" panose="02010600030101010101" pitchFamily="2" charset="-122"/>
              </a:rPr>
              <a:t>[</a:t>
            </a:r>
            <a:r>
              <a:rPr lang="zh-CN" altLang="en-US" sz="1600" b="1" dirty="0">
                <a:latin typeface="宋体" panose="02010600030101010101" pitchFamily="2" charset="-122"/>
              </a:rPr>
              <a:t>运算</a:t>
            </a:r>
            <a:r>
              <a:rPr lang="en-US" altLang="zh-CN" sz="1600" b="1" dirty="0">
                <a:latin typeface="宋体" panose="02010600030101010101" pitchFamily="2" charset="-122"/>
              </a:rPr>
              <a:t>+</a:t>
            </a:r>
            <a:r>
              <a:rPr lang="zh-CN" altLang="en-US" sz="1600" b="1" dirty="0">
                <a:latin typeface="宋体" panose="02010600030101010101" pitchFamily="2" charset="-122"/>
              </a:rPr>
              <a:t>暂存结果</a:t>
            </a:r>
            <a:r>
              <a:rPr lang="en-US" altLang="zh-CN" sz="1600" b="1" dirty="0">
                <a:latin typeface="宋体" panose="02010600030101010101" pitchFamily="2" charset="-122"/>
              </a:rPr>
              <a:t>])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部件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互连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运算部件的组织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 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基于</a:t>
            </a:r>
            <a:r>
              <a:rPr lang="en-US" altLang="zh-CN" sz="1600" b="1" dirty="0">
                <a:latin typeface="宋体" panose="02010600030101010101" pitchFamily="2" charset="-122"/>
              </a:rPr>
              <a:t>ISA)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数据表示认知：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运算方法设计：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部件组织：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14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存放部件的组织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 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基于</a:t>
            </a:r>
            <a:r>
              <a:rPr lang="en-US" altLang="zh-CN" sz="1600" b="1" dirty="0">
                <a:latin typeface="宋体" panose="02010600030101010101" pitchFamily="2" charset="-122"/>
              </a:rPr>
              <a:t>ISA)</a:t>
            </a:r>
            <a:endParaRPr lang="en-US" altLang="zh-CN" sz="2000" b="1" dirty="0">
              <a:latin typeface="宋体" panose="02010600030101010101" pitchFamily="2" charset="-122"/>
            </a:endParaRPr>
          </a:p>
        </p:txBody>
      </p:sp>
      <p:sp>
        <p:nvSpPr>
          <p:cNvPr id="282" name="Text Box 5">
            <a:extLst>
              <a:ext uri="{FF2B5EF4-FFF2-40B4-BE49-F238E27FC236}">
                <a16:creationId xmlns:a16="http://schemas.microsoft.com/office/drawing/2014/main" id="{1153F522-6BCB-4B9D-9772-44334B26F2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5656" y="691200"/>
            <a:ext cx="7524328" cy="5869074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 wrap="square" tIns="64800" bIns="4680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latin typeface="宋体" panose="02010600030101010101" pitchFamily="2" charset="-122"/>
              </a:rPr>
              <a:t>有运算部件</a:t>
            </a:r>
            <a:r>
              <a:rPr lang="en-US" altLang="zh-CN" sz="1600" b="1" dirty="0">
                <a:latin typeface="宋体" panose="02010600030101010101" pitchFamily="2" charset="-122"/>
              </a:rPr>
              <a:t>(ALU/FPU</a:t>
            </a:r>
            <a:r>
              <a:rPr lang="zh-CN" altLang="en-US" sz="1600" b="1" dirty="0">
                <a:latin typeface="宋体" panose="02010600030101010101" pitchFamily="2" charset="-122"/>
              </a:rPr>
              <a:t>等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en-US" altLang="zh-CN" sz="2000" b="1" dirty="0">
                <a:latin typeface="宋体" panose="02010600030101010101" pitchFamily="2" charset="-122"/>
              </a:rPr>
              <a:t>＋</a:t>
            </a:r>
            <a:r>
              <a:rPr lang="zh-CN" altLang="en-US" sz="2000" b="1" dirty="0">
                <a:latin typeface="宋体" panose="02010600030101010101" pitchFamily="2" charset="-122"/>
              </a:rPr>
              <a:t>存放部件</a:t>
            </a:r>
            <a:r>
              <a:rPr lang="en-US" altLang="zh-CN" sz="1600" b="1" dirty="0">
                <a:latin typeface="宋体" panose="02010600030101010101" pitchFamily="2" charset="-122"/>
              </a:rPr>
              <a:t>(GPRs/PSR</a:t>
            </a:r>
            <a:r>
              <a:rPr lang="zh-CN" altLang="en-US" sz="1600" b="1" dirty="0">
                <a:latin typeface="宋体" panose="02010600030101010101" pitchFamily="2" charset="-122"/>
              </a:rPr>
              <a:t>等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1600" b="1" dirty="0">
                <a:latin typeface="宋体" panose="02010600030101010101" pitchFamily="2" charset="-122"/>
              </a:rPr>
              <a:t> 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latin typeface="宋体" panose="02010600030101010101" pitchFamily="2" charset="-122"/>
              </a:rPr>
              <a:t>有总线</a:t>
            </a:r>
            <a:r>
              <a:rPr lang="en-US" altLang="zh-CN" sz="2000" b="1" dirty="0">
                <a:latin typeface="宋体" panose="02010600030101010101" pitchFamily="2" charset="-122"/>
              </a:rPr>
              <a:t>/</a:t>
            </a:r>
            <a:r>
              <a:rPr lang="zh-CN" altLang="en-US" sz="2000" b="1" dirty="0">
                <a:latin typeface="宋体" panose="02010600030101010101" pitchFamily="2" charset="-122"/>
              </a:rPr>
              <a:t>专用结构，满足各指令的数据路径</a:t>
            </a:r>
            <a:r>
              <a:rPr lang="en-US" altLang="zh-CN" sz="2000" b="1" dirty="0">
                <a:latin typeface="宋体" panose="02010600030101010101" pitchFamily="2" charset="-122"/>
              </a:rPr>
              <a:t>   </a:t>
            </a:r>
            <a:r>
              <a:rPr lang="zh-CN" altLang="en-US" sz="1600" b="1" dirty="0">
                <a:latin typeface="宋体" panose="02010600030101010101" pitchFamily="2" charset="-122"/>
              </a:rPr>
              <a:t>←</a:t>
            </a:r>
            <a:r>
              <a:rPr lang="en-US" altLang="zh-CN" sz="1600" b="1" dirty="0">
                <a:latin typeface="宋体" panose="02010600030101010101" pitchFamily="2" charset="-122"/>
              </a:rPr>
              <a:t>CPU</a:t>
            </a:r>
            <a:r>
              <a:rPr lang="zh-CN" altLang="en-US" sz="1600" b="1" dirty="0">
                <a:latin typeface="宋体" panose="02010600030101010101" pitchFamily="2" charset="-122"/>
              </a:rPr>
              <a:t>数据通路的子集</a:t>
            </a:r>
            <a:endParaRPr lang="en-US" altLang="zh-CN" sz="16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1200"/>
              </a:spcBef>
            </a:pP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latin typeface="宋体" panose="02010600030101010101" pitchFamily="2" charset="-122"/>
              </a:rPr>
              <a:t>          约定进制</a:t>
            </a:r>
            <a:r>
              <a:rPr lang="en-US" altLang="zh-CN" sz="2000" b="1" dirty="0">
                <a:latin typeface="宋体" panose="02010600030101010101" pitchFamily="2" charset="-122"/>
              </a:rPr>
              <a:t>/</a:t>
            </a:r>
            <a:r>
              <a:rPr lang="zh-CN" altLang="en-US" sz="2000" b="1" dirty="0">
                <a:latin typeface="宋体" panose="02010600030101010101" pitchFamily="2" charset="-122"/>
              </a:rPr>
              <a:t>格式</a:t>
            </a:r>
            <a:r>
              <a:rPr lang="en-US" altLang="zh-CN" sz="2000" b="1" dirty="0">
                <a:latin typeface="宋体" panose="02010600030101010101" pitchFamily="2" charset="-122"/>
              </a:rPr>
              <a:t>/</a:t>
            </a:r>
            <a:r>
              <a:rPr lang="zh-CN" altLang="en-US" sz="2000" b="1" dirty="0">
                <a:latin typeface="宋体" panose="02010600030101010101" pitchFamily="2" charset="-122"/>
              </a:rPr>
              <a:t>编码，有整数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含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逻辑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字符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</a:rPr>
              <a:t>、浮点数等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latin typeface="宋体" panose="02010600030101010101" pitchFamily="2" charset="-122"/>
              </a:rPr>
              <a:t>          </a:t>
            </a:r>
            <a:r>
              <a:rPr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基于</a:t>
            </a:r>
            <a:r>
              <a:rPr lang="zh-CN" altLang="en-US" sz="2000" b="1" dirty="0">
                <a:latin typeface="宋体" panose="02010600030101010101" pitchFamily="2" charset="-122"/>
              </a:rPr>
              <a:t>数据表示，有定点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含移位</a:t>
            </a:r>
            <a:r>
              <a:rPr lang="en-US" altLang="zh-CN" sz="1600" b="1" dirty="0"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逻辑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</a:rPr>
              <a:t>关系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</a:rPr>
              <a:t>、浮点运算等</a:t>
            </a:r>
            <a:endParaRPr lang="en-US" altLang="zh-CN" sz="16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latin typeface="宋体" panose="02010600030101010101" pitchFamily="2" charset="-122"/>
              </a:rPr>
              <a:t>      </a:t>
            </a:r>
            <a:r>
              <a:rPr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满足</a:t>
            </a:r>
            <a:r>
              <a:rPr lang="zh-CN" altLang="en-US" sz="2000" b="1" dirty="0">
                <a:latin typeface="宋体" panose="02010600030101010101" pitchFamily="2" charset="-122"/>
              </a:rPr>
              <a:t>各指令操作需求，</a:t>
            </a:r>
            <a:r>
              <a:rPr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尽量复用</a:t>
            </a:r>
            <a:r>
              <a:rPr lang="zh-CN" altLang="en-US" sz="2000" b="1" dirty="0">
                <a:latin typeface="宋体" panose="02010600030101010101" pitchFamily="2" charset="-122"/>
              </a:rPr>
              <a:t>器件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如算逻</a:t>
            </a:r>
            <a:r>
              <a:rPr lang="en-US" altLang="zh-CN" sz="1600" b="1" dirty="0">
                <a:latin typeface="宋体" panose="02010600030101010101" pitchFamily="2" charset="-122"/>
              </a:rPr>
              <a:t>/±/</a:t>
            </a:r>
            <a:r>
              <a:rPr lang="zh-CN" altLang="en-US" sz="1600" b="1" dirty="0">
                <a:latin typeface="宋体" panose="02010600030101010101" pitchFamily="2" charset="-122"/>
              </a:rPr>
              <a:t>移位</a:t>
            </a:r>
            <a:r>
              <a:rPr lang="en-US" altLang="zh-CN" sz="1600" b="1" dirty="0"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</a:rPr>
              <a:t>乘法</a:t>
            </a:r>
            <a:r>
              <a:rPr lang="en-US" altLang="zh-CN" sz="1600" b="1" dirty="0">
                <a:latin typeface="宋体" panose="02010600030101010101" pitchFamily="2" charset="-122"/>
              </a:rPr>
              <a:t>) 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14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latin typeface="宋体" panose="02010600030101010101" pitchFamily="2" charset="-122"/>
              </a:rPr>
              <a:t>有寄存器组、状态寄存器等</a:t>
            </a:r>
            <a:endParaRPr lang="en-US" altLang="zh-CN" sz="2000" b="1" dirty="0">
              <a:latin typeface="宋体" panose="02010600030101010101" pitchFamily="2" charset="-122"/>
            </a:endParaRPr>
          </a:p>
        </p:txBody>
      </p:sp>
      <p:grpSp>
        <p:nvGrpSpPr>
          <p:cNvPr id="283" name="组合 282">
            <a:extLst>
              <a:ext uri="{FF2B5EF4-FFF2-40B4-BE49-F238E27FC236}">
                <a16:creationId xmlns:a16="http://schemas.microsoft.com/office/drawing/2014/main" id="{5FBBAA5E-63F2-4388-8305-CD38E31BE5AB}"/>
              </a:ext>
            </a:extLst>
          </p:cNvPr>
          <p:cNvGrpSpPr/>
          <p:nvPr/>
        </p:nvGrpSpPr>
        <p:grpSpPr>
          <a:xfrm>
            <a:off x="1512000" y="1808792"/>
            <a:ext cx="6156928" cy="1008000"/>
            <a:chOff x="-108520" y="1980000"/>
            <a:chExt cx="6156928" cy="1008000"/>
          </a:xfrm>
        </p:grpSpPr>
        <p:sp>
          <p:nvSpPr>
            <p:cNvPr id="284" name="Text Box 255">
              <a:extLst>
                <a:ext uri="{FF2B5EF4-FFF2-40B4-BE49-F238E27FC236}">
                  <a16:creationId xmlns:a16="http://schemas.microsoft.com/office/drawing/2014/main" id="{5BA22743-BA97-48C1-B368-D8B2F37D0F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2400" y="2376000"/>
              <a:ext cx="432000" cy="288000"/>
            </a:xfrm>
            <a:prstGeom prst="rect">
              <a:avLst/>
            </a:prstGeom>
            <a:solidFill>
              <a:srgbClr val="FFCC99">
                <a:alpha val="90000"/>
              </a:srgbClr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+mn-ea"/>
                  <a:ea typeface="+mn-ea"/>
                </a:rPr>
                <a:t>PSR</a:t>
              </a:r>
              <a:endParaRPr lang="zh-CN" altLang="en-US" sz="18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cxnSp>
          <p:nvCxnSpPr>
            <p:cNvPr id="285" name="直接箭头连接符 284">
              <a:extLst>
                <a:ext uri="{FF2B5EF4-FFF2-40B4-BE49-F238E27FC236}">
                  <a16:creationId xmlns:a16="http://schemas.microsoft.com/office/drawing/2014/main" id="{FCA2CFF3-4635-462E-B680-2540ADCFF750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1944400" y="2412000"/>
              <a:ext cx="180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286" name="Text Box 286">
              <a:extLst>
                <a:ext uri="{FF2B5EF4-FFF2-40B4-BE49-F238E27FC236}">
                  <a16:creationId xmlns:a16="http://schemas.microsoft.com/office/drawing/2014/main" id="{3A8E3A14-85DD-48D6-8A0E-205968CD4F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0400" y="2412000"/>
              <a:ext cx="144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>
                  <a:solidFill>
                    <a:schemeClr val="tx1"/>
                  </a:solidFill>
                  <a:latin typeface="+mn-ea"/>
                  <a:ea typeface="+mn-ea"/>
                </a:rPr>
                <a:t>…</a:t>
              </a:r>
              <a:endParaRPr lang="zh-CN" altLang="en-US" sz="14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cxnSp>
          <p:nvCxnSpPr>
            <p:cNvPr id="287" name="直接箭头连接符 286">
              <a:extLst>
                <a:ext uri="{FF2B5EF4-FFF2-40B4-BE49-F238E27FC236}">
                  <a16:creationId xmlns:a16="http://schemas.microsoft.com/office/drawing/2014/main" id="{3833774A-47FA-4409-B752-03E62098AF82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1944400" y="2628000"/>
              <a:ext cx="180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288" name="AutoShape 266">
              <a:extLst>
                <a:ext uri="{FF2B5EF4-FFF2-40B4-BE49-F238E27FC236}">
                  <a16:creationId xmlns:a16="http://schemas.microsoft.com/office/drawing/2014/main" id="{45C32295-856B-4886-B32C-F0683C349F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4400" y="2448072"/>
              <a:ext cx="1080000" cy="288000"/>
            </a:xfrm>
            <a:custGeom>
              <a:avLst/>
              <a:gdLst>
                <a:gd name="G0" fmla="+- 4232 0 0"/>
                <a:gd name="G1" fmla="+- 21600 0 4232"/>
                <a:gd name="G2" fmla="*/ 4232 1 2"/>
                <a:gd name="G3" fmla="+- 21600 0 G2"/>
                <a:gd name="G4" fmla="+/ 4232 21600 2"/>
                <a:gd name="G5" fmla="+/ G1 0 2"/>
                <a:gd name="G6" fmla="*/ 21600 21600 4232"/>
                <a:gd name="G7" fmla="*/ G6 1 2"/>
                <a:gd name="G8" fmla="+- 21600 0 G7"/>
                <a:gd name="G9" fmla="*/ 21600 1 2"/>
                <a:gd name="G10" fmla="+- 4232 0 G9"/>
                <a:gd name="G11" fmla="?: G10 G8 0"/>
                <a:gd name="G12" fmla="?: G10 G7 21600"/>
                <a:gd name="T0" fmla="*/ 19484 w 21600"/>
                <a:gd name="T1" fmla="*/ 10800 h 21600"/>
                <a:gd name="T2" fmla="*/ 10800 w 21600"/>
                <a:gd name="T3" fmla="*/ 21600 h 21600"/>
                <a:gd name="T4" fmla="*/ 2116 w 21600"/>
                <a:gd name="T5" fmla="*/ 10800 h 21600"/>
                <a:gd name="T6" fmla="*/ 10800 w 21600"/>
                <a:gd name="T7" fmla="*/ 0 h 21600"/>
                <a:gd name="T8" fmla="*/ 3916 w 21600"/>
                <a:gd name="T9" fmla="*/ 3916 h 21600"/>
                <a:gd name="T10" fmla="*/ 17684 w 21600"/>
                <a:gd name="T11" fmla="*/ 17684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4232" y="21600"/>
                  </a:lnTo>
                  <a:lnTo>
                    <a:pt x="17368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CCFF"/>
            </a:solidFill>
            <a:ln w="15875" algn="ctr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solidFill>
                    <a:schemeClr val="tx1"/>
                  </a:solidFill>
                  <a:latin typeface="+mn-ea"/>
                  <a:ea typeface="+mn-ea"/>
                </a:rPr>
                <a:t>ALU</a:t>
              </a:r>
              <a:endParaRPr lang="zh-CN" altLang="en-US" sz="18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cxnSp>
          <p:nvCxnSpPr>
            <p:cNvPr id="289" name="直接箭头连接符 12">
              <a:extLst>
                <a:ext uri="{FF2B5EF4-FFF2-40B4-BE49-F238E27FC236}">
                  <a16:creationId xmlns:a16="http://schemas.microsoft.com/office/drawing/2014/main" id="{2228C1B4-AD96-45CA-8AD8-DF1D08229A26}"/>
                </a:ext>
              </a:extLst>
            </p:cNvPr>
            <p:cNvCxnSpPr/>
            <p:nvPr/>
          </p:nvCxnSpPr>
          <p:spPr bwMode="auto">
            <a:xfrm>
              <a:off x="3204474" y="2844000"/>
              <a:ext cx="936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90" name="直接箭头连接符 289">
              <a:extLst>
                <a:ext uri="{FF2B5EF4-FFF2-40B4-BE49-F238E27FC236}">
                  <a16:creationId xmlns:a16="http://schemas.microsoft.com/office/drawing/2014/main" id="{38AC3C2D-BA8B-4524-86C4-C8D017DDBDBF}"/>
                </a:ext>
              </a:extLst>
            </p:cNvPr>
            <p:cNvCxnSpPr/>
            <p:nvPr/>
          </p:nvCxnSpPr>
          <p:spPr bwMode="auto">
            <a:xfrm>
              <a:off x="2844400" y="1980000"/>
              <a:ext cx="0" cy="468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91" name="直接箭头连接符 290">
              <a:extLst>
                <a:ext uri="{FF2B5EF4-FFF2-40B4-BE49-F238E27FC236}">
                  <a16:creationId xmlns:a16="http://schemas.microsoft.com/office/drawing/2014/main" id="{954AC06A-2F84-4BFD-B81B-8724FA34A9CF}"/>
                </a:ext>
              </a:extLst>
            </p:cNvPr>
            <p:cNvCxnSpPr/>
            <p:nvPr/>
          </p:nvCxnSpPr>
          <p:spPr bwMode="auto">
            <a:xfrm>
              <a:off x="3635824" y="1980000"/>
              <a:ext cx="0" cy="468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92" name="直接箭头连接符 291">
              <a:extLst>
                <a:ext uri="{FF2B5EF4-FFF2-40B4-BE49-F238E27FC236}">
                  <a16:creationId xmlns:a16="http://schemas.microsoft.com/office/drawing/2014/main" id="{F92F74A6-795C-44ED-BA55-563039FE8B17}"/>
                </a:ext>
              </a:extLst>
            </p:cNvPr>
            <p:cNvCxnSpPr/>
            <p:nvPr/>
          </p:nvCxnSpPr>
          <p:spPr bwMode="auto">
            <a:xfrm flipV="1">
              <a:off x="2664400" y="2664000"/>
              <a:ext cx="162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93" name="直接箭头连接符 292">
              <a:extLst>
                <a:ext uri="{FF2B5EF4-FFF2-40B4-BE49-F238E27FC236}">
                  <a16:creationId xmlns:a16="http://schemas.microsoft.com/office/drawing/2014/main" id="{03B2D3D7-8C4F-4AC5-8B48-3135A0C5D1E4}"/>
                </a:ext>
              </a:extLst>
            </p:cNvPr>
            <p:cNvCxnSpPr/>
            <p:nvPr/>
          </p:nvCxnSpPr>
          <p:spPr bwMode="auto">
            <a:xfrm flipV="1">
              <a:off x="2664400" y="2664000"/>
              <a:ext cx="0" cy="180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94" name="Text Box 286">
              <a:extLst>
                <a:ext uri="{FF2B5EF4-FFF2-40B4-BE49-F238E27FC236}">
                  <a16:creationId xmlns:a16="http://schemas.microsoft.com/office/drawing/2014/main" id="{EFAD8B33-364C-4571-8BE4-9EE8CF15BB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20400" y="2808000"/>
              <a:ext cx="396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0" dirty="0" err="1">
                  <a:solidFill>
                    <a:srgbClr val="FF3399"/>
                  </a:solidFill>
                  <a:latin typeface="+mn-ea"/>
                  <a:ea typeface="+mn-ea"/>
                </a:rPr>
                <a:t>opA</a:t>
              </a:r>
              <a:endParaRPr lang="zh-CN" altLang="en-US" sz="1600" b="0" dirty="0">
                <a:solidFill>
                  <a:srgbClr val="FF3399"/>
                </a:solidFill>
                <a:latin typeface="+mn-ea"/>
                <a:ea typeface="+mn-ea"/>
              </a:endParaRPr>
            </a:p>
          </p:txBody>
        </p:sp>
        <p:cxnSp>
          <p:nvCxnSpPr>
            <p:cNvPr id="295" name="直接箭头连接符 294">
              <a:extLst>
                <a:ext uri="{FF2B5EF4-FFF2-40B4-BE49-F238E27FC236}">
                  <a16:creationId xmlns:a16="http://schemas.microsoft.com/office/drawing/2014/main" id="{6B06EE0D-69C5-4432-996D-DA590647DE59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2592400" y="2592000"/>
              <a:ext cx="180000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96" name="直接箭头连接符 295">
              <a:extLst>
                <a:ext uri="{FF2B5EF4-FFF2-40B4-BE49-F238E27FC236}">
                  <a16:creationId xmlns:a16="http://schemas.microsoft.com/office/drawing/2014/main" id="{0E42B50C-4604-4DA0-A5FB-059AB40D7FBC}"/>
                </a:ext>
              </a:extLst>
            </p:cNvPr>
            <p:cNvCxnSpPr/>
            <p:nvPr/>
          </p:nvCxnSpPr>
          <p:spPr bwMode="auto">
            <a:xfrm flipH="1">
              <a:off x="3204400" y="2736000"/>
              <a:ext cx="0" cy="108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297" name="Text Box 286">
              <a:extLst>
                <a:ext uri="{FF2B5EF4-FFF2-40B4-BE49-F238E27FC236}">
                  <a16:creationId xmlns:a16="http://schemas.microsoft.com/office/drawing/2014/main" id="{AD81C359-A6C2-44CD-852F-6DB2EDB33E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6400" y="2484000"/>
              <a:ext cx="432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 err="1">
                  <a:solidFill>
                    <a:schemeClr val="tx1"/>
                  </a:solidFill>
                  <a:latin typeface="+mn-ea"/>
                  <a:ea typeface="+mn-ea"/>
                </a:rPr>
                <a:t>Cout</a:t>
              </a:r>
              <a:endParaRPr lang="zh-CN" altLang="en-US" sz="14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cxnSp>
          <p:nvCxnSpPr>
            <p:cNvPr id="298" name="直接箭头连接符 297">
              <a:extLst>
                <a:ext uri="{FF2B5EF4-FFF2-40B4-BE49-F238E27FC236}">
                  <a16:creationId xmlns:a16="http://schemas.microsoft.com/office/drawing/2014/main" id="{95E4DF6E-DE76-4AA9-A669-8D15BD9D5BF9}"/>
                </a:ext>
              </a:extLst>
            </p:cNvPr>
            <p:cNvCxnSpPr/>
            <p:nvPr/>
          </p:nvCxnSpPr>
          <p:spPr bwMode="auto">
            <a:xfrm flipV="1">
              <a:off x="4140000" y="1980000"/>
              <a:ext cx="0" cy="864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299" name="Text Box 286">
              <a:extLst>
                <a:ext uri="{FF2B5EF4-FFF2-40B4-BE49-F238E27FC236}">
                  <a16:creationId xmlns:a16="http://schemas.microsoft.com/office/drawing/2014/main" id="{CA885A3F-A167-4923-85CD-F97B47E2DC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8000" y="2484000"/>
              <a:ext cx="360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0" dirty="0" err="1">
                  <a:solidFill>
                    <a:srgbClr val="FF3399"/>
                  </a:solidFill>
                  <a:latin typeface="+mn-ea"/>
                  <a:ea typeface="+mn-ea"/>
                </a:rPr>
                <a:t>opS</a:t>
              </a:r>
              <a:endParaRPr lang="zh-CN" altLang="en-US" sz="1600" b="0" dirty="0">
                <a:solidFill>
                  <a:srgbClr val="FF3399"/>
                </a:solidFill>
                <a:latin typeface="+mn-ea"/>
                <a:ea typeface="+mn-ea"/>
              </a:endParaRPr>
            </a:p>
          </p:txBody>
        </p:sp>
        <p:sp>
          <p:nvSpPr>
            <p:cNvPr id="300" name="Text Box 255">
              <a:extLst>
                <a:ext uri="{FF2B5EF4-FFF2-40B4-BE49-F238E27FC236}">
                  <a16:creationId xmlns:a16="http://schemas.microsoft.com/office/drawing/2014/main" id="{F69079C9-D57F-4077-B3DA-CBEC71BD74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2400" y="2448072"/>
              <a:ext cx="792000" cy="288000"/>
            </a:xfrm>
            <a:prstGeom prst="rect">
              <a:avLst/>
            </a:prstGeom>
            <a:solidFill>
              <a:srgbClr val="FFCC99">
                <a:alpha val="90000"/>
              </a:srgbClr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solidFill>
                    <a:schemeClr val="tx1"/>
                  </a:solidFill>
                  <a:latin typeface="+mn-ea"/>
                  <a:ea typeface="+mn-ea"/>
                </a:rPr>
                <a:t>移位器</a:t>
              </a:r>
            </a:p>
          </p:txBody>
        </p:sp>
        <p:cxnSp>
          <p:nvCxnSpPr>
            <p:cNvPr id="301" name="直接箭头连接符 300">
              <a:extLst>
                <a:ext uri="{FF2B5EF4-FFF2-40B4-BE49-F238E27FC236}">
                  <a16:creationId xmlns:a16="http://schemas.microsoft.com/office/drawing/2014/main" id="{D1AFFAC3-502C-43DD-874D-37745190C1B6}"/>
                </a:ext>
              </a:extLst>
            </p:cNvPr>
            <p:cNvCxnSpPr/>
            <p:nvPr/>
          </p:nvCxnSpPr>
          <p:spPr bwMode="auto">
            <a:xfrm flipH="1">
              <a:off x="4932400" y="1980000"/>
              <a:ext cx="0" cy="468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02" name="直接箭头连接符 301">
              <a:extLst>
                <a:ext uri="{FF2B5EF4-FFF2-40B4-BE49-F238E27FC236}">
                  <a16:creationId xmlns:a16="http://schemas.microsoft.com/office/drawing/2014/main" id="{C7DC20DE-738C-4362-AABB-1854877A251B}"/>
                </a:ext>
              </a:extLst>
            </p:cNvPr>
            <p:cNvCxnSpPr/>
            <p:nvPr/>
          </p:nvCxnSpPr>
          <p:spPr bwMode="auto">
            <a:xfrm>
              <a:off x="5364352" y="1980000"/>
              <a:ext cx="0" cy="468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03" name="直接箭头连接符 302">
              <a:extLst>
                <a:ext uri="{FF2B5EF4-FFF2-40B4-BE49-F238E27FC236}">
                  <a16:creationId xmlns:a16="http://schemas.microsoft.com/office/drawing/2014/main" id="{8040D540-F855-4C72-B25F-D6118D338A1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608000" y="2592000"/>
              <a:ext cx="144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304" name="直接箭头连接符 303">
              <a:extLst>
                <a:ext uri="{FF2B5EF4-FFF2-40B4-BE49-F238E27FC236}">
                  <a16:creationId xmlns:a16="http://schemas.microsoft.com/office/drawing/2014/main" id="{85B4547F-886D-41DA-A98C-97A82C9DCD2A}"/>
                </a:ext>
              </a:extLst>
            </p:cNvPr>
            <p:cNvCxnSpPr/>
            <p:nvPr/>
          </p:nvCxnSpPr>
          <p:spPr bwMode="auto">
            <a:xfrm flipV="1">
              <a:off x="6048408" y="1980000"/>
              <a:ext cx="0" cy="864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05" name="直接箭头连接符 12">
              <a:extLst>
                <a:ext uri="{FF2B5EF4-FFF2-40B4-BE49-F238E27FC236}">
                  <a16:creationId xmlns:a16="http://schemas.microsoft.com/office/drawing/2014/main" id="{81716F77-2C00-4EB6-93C9-AB2B26A388E0}"/>
                </a:ext>
              </a:extLst>
            </p:cNvPr>
            <p:cNvCxnSpPr/>
            <p:nvPr/>
          </p:nvCxnSpPr>
          <p:spPr bwMode="auto">
            <a:xfrm>
              <a:off x="5184400" y="2844000"/>
              <a:ext cx="864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06" name="直接箭头连接符 305">
              <a:extLst>
                <a:ext uri="{FF2B5EF4-FFF2-40B4-BE49-F238E27FC236}">
                  <a16:creationId xmlns:a16="http://schemas.microsoft.com/office/drawing/2014/main" id="{FA0F4339-6410-4FD5-A68F-975E0B184BA0}"/>
                </a:ext>
              </a:extLst>
            </p:cNvPr>
            <p:cNvCxnSpPr/>
            <p:nvPr/>
          </p:nvCxnSpPr>
          <p:spPr bwMode="auto">
            <a:xfrm flipH="1">
              <a:off x="5184400" y="2736000"/>
              <a:ext cx="0" cy="108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307" name="Text Box 255">
              <a:extLst>
                <a:ext uri="{FF2B5EF4-FFF2-40B4-BE49-F238E27FC236}">
                  <a16:creationId xmlns:a16="http://schemas.microsoft.com/office/drawing/2014/main" id="{DA9F119A-FE22-4108-A9F3-DC4193D181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088" y="2124000"/>
              <a:ext cx="576000" cy="540000"/>
            </a:xfrm>
            <a:prstGeom prst="rect">
              <a:avLst/>
            </a:prstGeom>
            <a:solidFill>
              <a:srgbClr val="FFCC99">
                <a:alpha val="90000"/>
              </a:srgbClr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1800" b="1" dirty="0">
                  <a:solidFill>
                    <a:schemeClr val="tx1"/>
                  </a:solidFill>
                  <a:latin typeface="+mn-ea"/>
                  <a:ea typeface="+mn-ea"/>
                </a:rPr>
                <a:t>寄存</a:t>
              </a:r>
              <a:endParaRPr lang="en-US" altLang="zh-CN" sz="1800" b="1" dirty="0">
                <a:solidFill>
                  <a:schemeClr val="tx1"/>
                </a:solidFill>
                <a:latin typeface="+mn-ea"/>
                <a:ea typeface="+mn-ea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solidFill>
                    <a:schemeClr val="tx1"/>
                  </a:solidFill>
                  <a:latin typeface="+mn-ea"/>
                  <a:ea typeface="+mn-ea"/>
                </a:rPr>
                <a:t>器组</a:t>
              </a:r>
              <a:endParaRPr lang="en-US" altLang="zh-CN" sz="18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cxnSp>
          <p:nvCxnSpPr>
            <p:cNvPr id="308" name="直接箭头连接符 307">
              <a:extLst>
                <a:ext uri="{FF2B5EF4-FFF2-40B4-BE49-F238E27FC236}">
                  <a16:creationId xmlns:a16="http://schemas.microsoft.com/office/drawing/2014/main" id="{2170E696-7580-4B7C-9DC3-E21A75072B7F}"/>
                </a:ext>
              </a:extLst>
            </p:cNvPr>
            <p:cNvCxnSpPr/>
            <p:nvPr/>
          </p:nvCxnSpPr>
          <p:spPr bwMode="auto">
            <a:xfrm flipH="1">
              <a:off x="864152" y="1980000"/>
              <a:ext cx="0" cy="144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09" name="直接箭头连接符 308">
              <a:extLst>
                <a:ext uri="{FF2B5EF4-FFF2-40B4-BE49-F238E27FC236}">
                  <a16:creationId xmlns:a16="http://schemas.microsoft.com/office/drawing/2014/main" id="{6E897C21-E2CF-44D9-A7AA-248F538E5FE9}"/>
                </a:ext>
              </a:extLst>
            </p:cNvPr>
            <p:cNvCxnSpPr/>
            <p:nvPr/>
          </p:nvCxnSpPr>
          <p:spPr bwMode="auto">
            <a:xfrm>
              <a:off x="432024" y="2448009"/>
              <a:ext cx="144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10" name="直接箭头连接符 309">
              <a:extLst>
                <a:ext uri="{FF2B5EF4-FFF2-40B4-BE49-F238E27FC236}">
                  <a16:creationId xmlns:a16="http://schemas.microsoft.com/office/drawing/2014/main" id="{9889AC45-5DB2-4208-BDCB-DFCBDC76B29B}"/>
                </a:ext>
              </a:extLst>
            </p:cNvPr>
            <p:cNvCxnSpPr/>
            <p:nvPr/>
          </p:nvCxnSpPr>
          <p:spPr bwMode="auto">
            <a:xfrm>
              <a:off x="144128" y="2196000"/>
              <a:ext cx="432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11" name="直接箭头连接符 310">
              <a:extLst>
                <a:ext uri="{FF2B5EF4-FFF2-40B4-BE49-F238E27FC236}">
                  <a16:creationId xmlns:a16="http://schemas.microsoft.com/office/drawing/2014/main" id="{C2AFF889-5F2A-402B-B839-87547CD9CC26}"/>
                </a:ext>
              </a:extLst>
            </p:cNvPr>
            <p:cNvCxnSpPr/>
            <p:nvPr/>
          </p:nvCxnSpPr>
          <p:spPr bwMode="auto">
            <a:xfrm flipV="1">
              <a:off x="1331960" y="1980000"/>
              <a:ext cx="0" cy="792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12" name="直接箭头连接符 311">
              <a:extLst>
                <a:ext uri="{FF2B5EF4-FFF2-40B4-BE49-F238E27FC236}">
                  <a16:creationId xmlns:a16="http://schemas.microsoft.com/office/drawing/2014/main" id="{BF208624-D3A5-4E32-A51B-BADF4AFCA37F}"/>
                </a:ext>
              </a:extLst>
            </p:cNvPr>
            <p:cNvCxnSpPr/>
            <p:nvPr/>
          </p:nvCxnSpPr>
          <p:spPr bwMode="auto">
            <a:xfrm flipV="1">
              <a:off x="719480" y="2664000"/>
              <a:ext cx="0" cy="144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313" name="直接箭头连接符 312">
              <a:extLst>
                <a:ext uri="{FF2B5EF4-FFF2-40B4-BE49-F238E27FC236}">
                  <a16:creationId xmlns:a16="http://schemas.microsoft.com/office/drawing/2014/main" id="{7F9FE9D2-6FC7-4148-AF2F-61F36AD7B469}"/>
                </a:ext>
              </a:extLst>
            </p:cNvPr>
            <p:cNvCxnSpPr/>
            <p:nvPr/>
          </p:nvCxnSpPr>
          <p:spPr bwMode="auto">
            <a:xfrm>
              <a:off x="144080" y="2358000"/>
              <a:ext cx="144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14" name="直接箭头连接符 313">
              <a:extLst>
                <a:ext uri="{FF2B5EF4-FFF2-40B4-BE49-F238E27FC236}">
                  <a16:creationId xmlns:a16="http://schemas.microsoft.com/office/drawing/2014/main" id="{B282CEE3-1DE1-4DD9-987E-0ECC55B97E67}"/>
                </a:ext>
              </a:extLst>
            </p:cNvPr>
            <p:cNvCxnSpPr/>
            <p:nvPr/>
          </p:nvCxnSpPr>
          <p:spPr bwMode="auto">
            <a:xfrm>
              <a:off x="144080" y="2520000"/>
              <a:ext cx="144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15" name="直接箭头连接符 314">
              <a:extLst>
                <a:ext uri="{FF2B5EF4-FFF2-40B4-BE49-F238E27FC236}">
                  <a16:creationId xmlns:a16="http://schemas.microsoft.com/office/drawing/2014/main" id="{170ED576-29A0-4373-A9AB-36E0B3664D22}"/>
                </a:ext>
              </a:extLst>
            </p:cNvPr>
            <p:cNvCxnSpPr/>
            <p:nvPr/>
          </p:nvCxnSpPr>
          <p:spPr bwMode="auto">
            <a:xfrm flipV="1">
              <a:off x="360088" y="2592000"/>
              <a:ext cx="0" cy="216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grpSp>
          <p:nvGrpSpPr>
            <p:cNvPr id="316" name="组合 315">
              <a:extLst>
                <a:ext uri="{FF2B5EF4-FFF2-40B4-BE49-F238E27FC236}">
                  <a16:creationId xmlns:a16="http://schemas.microsoft.com/office/drawing/2014/main" id="{8C1CA6A8-0041-49C6-96C8-D87070887400}"/>
                </a:ext>
              </a:extLst>
            </p:cNvPr>
            <p:cNvGrpSpPr/>
            <p:nvPr/>
          </p:nvGrpSpPr>
          <p:grpSpPr>
            <a:xfrm>
              <a:off x="288231" y="2239340"/>
              <a:ext cx="144000" cy="396000"/>
              <a:chOff x="7074000" y="3924000"/>
              <a:chExt cx="144000" cy="396000"/>
            </a:xfrm>
          </p:grpSpPr>
          <p:sp>
            <p:nvSpPr>
              <p:cNvPr id="326" name="流程图: 手动操作 325">
                <a:extLst>
                  <a:ext uri="{FF2B5EF4-FFF2-40B4-BE49-F238E27FC236}">
                    <a16:creationId xmlns:a16="http://schemas.microsoft.com/office/drawing/2014/main" id="{C45445EF-C816-4240-A2C7-E97F30A85867}"/>
                  </a:ext>
                </a:extLst>
              </p:cNvPr>
              <p:cNvSpPr/>
              <p:nvPr/>
            </p:nvSpPr>
            <p:spPr bwMode="auto">
              <a:xfrm rot="16200000">
                <a:off x="6948000" y="4050000"/>
                <a:ext cx="396000" cy="144000"/>
              </a:xfrm>
              <a:prstGeom prst="flowChartManualOperation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2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endParaRPr>
              </a:p>
            </p:txBody>
          </p:sp>
          <p:sp>
            <p:nvSpPr>
              <p:cNvPr id="327" name="Text Box 235">
                <a:extLst>
                  <a:ext uri="{FF2B5EF4-FFF2-40B4-BE49-F238E27FC236}">
                    <a16:creationId xmlns:a16="http://schemas.microsoft.com/office/drawing/2014/main" id="{E71E9D2C-D729-44F5-A5A9-DFED744401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6200000">
                <a:off x="6984000" y="4050000"/>
                <a:ext cx="324000" cy="144000"/>
              </a:xfrm>
              <a:prstGeom prst="rect">
                <a:avLst/>
              </a:prstGeom>
              <a:noFill/>
              <a:ln w="12700">
                <a:noFill/>
                <a:prstDash val="sysDash"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200" dirty="0">
                    <a:solidFill>
                      <a:schemeClr val="tx1"/>
                    </a:solidFill>
                    <a:latin typeface="+mn-ea"/>
                    <a:ea typeface="+mn-ea"/>
                  </a:rPr>
                  <a:t>0 1</a:t>
                </a:r>
                <a:endParaRPr lang="en-US" altLang="zh-CN" sz="1200" baseline="-1600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</p:grpSp>
        <p:cxnSp>
          <p:nvCxnSpPr>
            <p:cNvPr id="317" name="直接箭头连接符 12">
              <a:extLst>
                <a:ext uri="{FF2B5EF4-FFF2-40B4-BE49-F238E27FC236}">
                  <a16:creationId xmlns:a16="http://schemas.microsoft.com/office/drawing/2014/main" id="{DD17D32B-8A89-4D40-BC39-CE12315FE57A}"/>
                </a:ext>
              </a:extLst>
            </p:cNvPr>
            <p:cNvCxnSpPr/>
            <p:nvPr/>
          </p:nvCxnSpPr>
          <p:spPr bwMode="auto">
            <a:xfrm>
              <a:off x="864256" y="2772000"/>
              <a:ext cx="468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18" name="直接箭头连接符 317">
              <a:extLst>
                <a:ext uri="{FF2B5EF4-FFF2-40B4-BE49-F238E27FC236}">
                  <a16:creationId xmlns:a16="http://schemas.microsoft.com/office/drawing/2014/main" id="{9918E03F-BAAF-4851-9743-662FD1394526}"/>
                </a:ext>
              </a:extLst>
            </p:cNvPr>
            <p:cNvCxnSpPr/>
            <p:nvPr/>
          </p:nvCxnSpPr>
          <p:spPr bwMode="auto">
            <a:xfrm flipH="1">
              <a:off x="864256" y="2664000"/>
              <a:ext cx="0" cy="108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319" name="Text Box 286">
              <a:extLst>
                <a:ext uri="{FF2B5EF4-FFF2-40B4-BE49-F238E27FC236}">
                  <a16:creationId xmlns:a16="http://schemas.microsoft.com/office/drawing/2014/main" id="{CE20667F-5F53-4137-9394-1EBC28AD05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5480" y="2808000"/>
              <a:ext cx="396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0" dirty="0" err="1">
                  <a:solidFill>
                    <a:srgbClr val="FF3399"/>
                  </a:solidFill>
                  <a:latin typeface="+mn-ea"/>
                  <a:ea typeface="+mn-ea"/>
                </a:rPr>
                <a:t>RWr</a:t>
              </a:r>
              <a:endParaRPr lang="zh-CN" altLang="en-US" sz="1600" b="0" dirty="0">
                <a:solidFill>
                  <a:srgbClr val="FF3399"/>
                </a:solidFill>
                <a:latin typeface="+mn-ea"/>
                <a:ea typeface="+mn-ea"/>
              </a:endParaRPr>
            </a:p>
          </p:txBody>
        </p:sp>
        <p:sp>
          <p:nvSpPr>
            <p:cNvPr id="320" name="Text Box 286">
              <a:extLst>
                <a:ext uri="{FF2B5EF4-FFF2-40B4-BE49-F238E27FC236}">
                  <a16:creationId xmlns:a16="http://schemas.microsoft.com/office/drawing/2014/main" id="{8D8D1169-55BE-49DE-A135-D665933E06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480" y="2808000"/>
              <a:ext cx="468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0" dirty="0" err="1">
                  <a:solidFill>
                    <a:srgbClr val="FF3399"/>
                  </a:solidFill>
                  <a:latin typeface="+mn-ea"/>
                  <a:ea typeface="+mn-ea"/>
                </a:rPr>
                <a:t>Rsel</a:t>
              </a:r>
              <a:endParaRPr lang="zh-CN" altLang="en-US" sz="1600" b="0" dirty="0">
                <a:solidFill>
                  <a:srgbClr val="FF3399"/>
                </a:solidFill>
                <a:latin typeface="+mn-ea"/>
                <a:ea typeface="+mn-ea"/>
              </a:endParaRPr>
            </a:p>
          </p:txBody>
        </p:sp>
        <p:sp>
          <p:nvSpPr>
            <p:cNvPr id="321" name="Text Box 286">
              <a:extLst>
                <a:ext uri="{FF2B5EF4-FFF2-40B4-BE49-F238E27FC236}">
                  <a16:creationId xmlns:a16="http://schemas.microsoft.com/office/drawing/2014/main" id="{A5ED8954-FAAF-4D80-8BD4-5DA7CCB0B2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08520" y="2124000"/>
              <a:ext cx="288000" cy="504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t" anchorCtr="0"/>
            <a:lstStyle/>
            <a:p>
              <a:pPr algn="ctr">
                <a:lnSpc>
                  <a:spcPct val="70000"/>
                </a:lnSpc>
              </a:pPr>
              <a:r>
                <a:rPr lang="en-US" altLang="zh-CN" sz="1600" dirty="0" err="1">
                  <a:latin typeface="+mn-ea"/>
                  <a:ea typeface="+mn-ea"/>
                </a:rPr>
                <a:t>rd</a:t>
              </a:r>
              <a:endParaRPr lang="en-US" altLang="zh-CN" sz="1600" dirty="0">
                <a:latin typeface="+mn-ea"/>
                <a:ea typeface="+mn-ea"/>
              </a:endParaRPr>
            </a:p>
            <a:p>
              <a:pPr algn="ctr">
                <a:lnSpc>
                  <a:spcPct val="70000"/>
                </a:lnSpc>
              </a:pPr>
              <a:r>
                <a:rPr lang="en-US" altLang="zh-CN" sz="1600" dirty="0" err="1">
                  <a:latin typeface="+mn-ea"/>
                  <a:ea typeface="+mn-ea"/>
                </a:rPr>
                <a:t>r</a:t>
              </a:r>
              <a:r>
                <a:rPr lang="en-US" altLang="zh-CN" sz="1600" b="0" dirty="0" err="1">
                  <a:latin typeface="+mn-ea"/>
                  <a:ea typeface="+mn-ea"/>
                </a:rPr>
                <a:t>s</a:t>
              </a:r>
              <a:endParaRPr lang="en-US" altLang="zh-CN" sz="1600" b="0" dirty="0">
                <a:latin typeface="+mn-ea"/>
                <a:ea typeface="+mn-ea"/>
              </a:endParaRPr>
            </a:p>
            <a:p>
              <a:pPr algn="ctr">
                <a:lnSpc>
                  <a:spcPct val="70000"/>
                </a:lnSpc>
              </a:pPr>
              <a:r>
                <a:rPr lang="en-US" altLang="zh-CN" sz="1600" dirty="0">
                  <a:latin typeface="+mn-ea"/>
                  <a:ea typeface="+mn-ea"/>
                </a:rPr>
                <a:t>rt</a:t>
              </a:r>
              <a:endParaRPr lang="zh-CN" altLang="en-US" sz="1600" b="0" dirty="0">
                <a:latin typeface="+mn-ea"/>
                <a:ea typeface="+mn-ea"/>
              </a:endParaRPr>
            </a:p>
          </p:txBody>
        </p:sp>
        <p:cxnSp>
          <p:nvCxnSpPr>
            <p:cNvPr id="322" name="直接箭头连接符 321">
              <a:extLst>
                <a:ext uri="{FF2B5EF4-FFF2-40B4-BE49-F238E27FC236}">
                  <a16:creationId xmlns:a16="http://schemas.microsoft.com/office/drawing/2014/main" id="{99059BF0-0E85-485A-8F86-1E7481BA9224}"/>
                </a:ext>
              </a:extLst>
            </p:cNvPr>
            <p:cNvCxnSpPr/>
            <p:nvPr/>
          </p:nvCxnSpPr>
          <p:spPr bwMode="auto">
            <a:xfrm flipV="1">
              <a:off x="1620000" y="1980000"/>
              <a:ext cx="0" cy="396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23" name="直接箭头连接符 322">
              <a:extLst>
                <a:ext uri="{FF2B5EF4-FFF2-40B4-BE49-F238E27FC236}">
                  <a16:creationId xmlns:a16="http://schemas.microsoft.com/office/drawing/2014/main" id="{3B3C589F-9C6C-47DC-BFC4-E658F3BAC328}"/>
                </a:ext>
              </a:extLst>
            </p:cNvPr>
            <p:cNvCxnSpPr/>
            <p:nvPr/>
          </p:nvCxnSpPr>
          <p:spPr bwMode="auto">
            <a:xfrm>
              <a:off x="1836000" y="1980000"/>
              <a:ext cx="0" cy="39600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24" name="直接箭头连接符 323">
              <a:extLst>
                <a:ext uri="{FF2B5EF4-FFF2-40B4-BE49-F238E27FC236}">
                  <a16:creationId xmlns:a16="http://schemas.microsoft.com/office/drawing/2014/main" id="{72EF8849-9E5F-44C7-8E4F-1244B1CE2EB3}"/>
                </a:ext>
              </a:extLst>
            </p:cNvPr>
            <p:cNvCxnSpPr/>
            <p:nvPr/>
          </p:nvCxnSpPr>
          <p:spPr bwMode="auto">
            <a:xfrm flipV="1">
              <a:off x="1800000" y="2664000"/>
              <a:ext cx="0" cy="144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325" name="Text Box 286">
              <a:extLst>
                <a:ext uri="{FF2B5EF4-FFF2-40B4-BE49-F238E27FC236}">
                  <a16:creationId xmlns:a16="http://schemas.microsoft.com/office/drawing/2014/main" id="{C31D8928-4A97-49AE-8722-A18067BD03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0000" y="2808000"/>
              <a:ext cx="396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0" dirty="0" err="1">
                  <a:solidFill>
                    <a:srgbClr val="FF3399"/>
                  </a:solidFill>
                  <a:latin typeface="+mn-ea"/>
                  <a:ea typeface="+mn-ea"/>
                </a:rPr>
                <a:t>PWr</a:t>
              </a:r>
              <a:endParaRPr lang="zh-CN" altLang="en-US" sz="1600" b="0" dirty="0">
                <a:solidFill>
                  <a:srgbClr val="FF3399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328" name="组合 327">
            <a:extLst>
              <a:ext uri="{FF2B5EF4-FFF2-40B4-BE49-F238E27FC236}">
                <a16:creationId xmlns:a16="http://schemas.microsoft.com/office/drawing/2014/main" id="{7D4C39B3-CBC9-4F88-BB36-5ED7C0F6E59E}"/>
              </a:ext>
            </a:extLst>
          </p:cNvPr>
          <p:cNvGrpSpPr/>
          <p:nvPr/>
        </p:nvGrpSpPr>
        <p:grpSpPr>
          <a:xfrm>
            <a:off x="1512000" y="1556792"/>
            <a:ext cx="6588000" cy="900072"/>
            <a:chOff x="-107600" y="1728000"/>
            <a:chExt cx="6588000" cy="900072"/>
          </a:xfrm>
        </p:grpSpPr>
        <p:sp>
          <p:nvSpPr>
            <p:cNvPr id="329" name="Text Box 256">
              <a:extLst>
                <a:ext uri="{FF2B5EF4-FFF2-40B4-BE49-F238E27FC236}">
                  <a16:creationId xmlns:a16="http://schemas.microsoft.com/office/drawing/2014/main" id="{F76F4587-4787-4D4F-AC50-E0C9118F1B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0" y="2088000"/>
              <a:ext cx="684000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暂存器</a:t>
              </a:r>
            </a:p>
          </p:txBody>
        </p:sp>
        <p:cxnSp>
          <p:nvCxnSpPr>
            <p:cNvPr id="330" name="直接箭头连接符 329">
              <a:extLst>
                <a:ext uri="{FF2B5EF4-FFF2-40B4-BE49-F238E27FC236}">
                  <a16:creationId xmlns:a16="http://schemas.microsoft.com/office/drawing/2014/main" id="{B1EE8DE9-F5D4-41EC-95B6-4BD2FCB0346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428000" y="2196000"/>
              <a:ext cx="144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331" name="等腰三角形 330">
              <a:extLst>
                <a:ext uri="{FF2B5EF4-FFF2-40B4-BE49-F238E27FC236}">
                  <a16:creationId xmlns:a16="http://schemas.microsoft.com/office/drawing/2014/main" id="{1E8B40FA-9CF0-472B-92DB-B564E1EEE786}"/>
                </a:ext>
              </a:extLst>
            </p:cNvPr>
            <p:cNvSpPr/>
            <p:nvPr/>
          </p:nvSpPr>
          <p:spPr bwMode="auto">
            <a:xfrm>
              <a:off x="5976000" y="2088000"/>
              <a:ext cx="144000" cy="14400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332" name="直接箭头连接符 331">
              <a:extLst>
                <a:ext uri="{FF2B5EF4-FFF2-40B4-BE49-F238E27FC236}">
                  <a16:creationId xmlns:a16="http://schemas.microsoft.com/office/drawing/2014/main" id="{81E129A6-A9CB-4A72-AFEF-037C50AFA468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6336000" y="2520000"/>
              <a:ext cx="144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333" name="直接箭头连接符 332">
              <a:extLst>
                <a:ext uri="{FF2B5EF4-FFF2-40B4-BE49-F238E27FC236}">
                  <a16:creationId xmlns:a16="http://schemas.microsoft.com/office/drawing/2014/main" id="{EC1F122F-6CC0-40E2-9F61-E9D4F4872BF5}"/>
                </a:ext>
              </a:extLst>
            </p:cNvPr>
            <p:cNvCxnSpPr/>
            <p:nvPr/>
          </p:nvCxnSpPr>
          <p:spPr bwMode="auto">
            <a:xfrm flipH="1" flipV="1">
              <a:off x="6084000" y="2160000"/>
              <a:ext cx="144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334" name="Text Box 256">
              <a:extLst>
                <a:ext uri="{FF2B5EF4-FFF2-40B4-BE49-F238E27FC236}">
                  <a16:creationId xmlns:a16="http://schemas.microsoft.com/office/drawing/2014/main" id="{9855FBB3-9BEB-4922-B100-CBA4F27132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52000" y="2412072"/>
              <a:ext cx="684000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暂存器</a:t>
              </a:r>
            </a:p>
          </p:txBody>
        </p:sp>
        <p:sp>
          <p:nvSpPr>
            <p:cNvPr id="335" name="等腰三角形 334">
              <a:extLst>
                <a:ext uri="{FF2B5EF4-FFF2-40B4-BE49-F238E27FC236}">
                  <a16:creationId xmlns:a16="http://schemas.microsoft.com/office/drawing/2014/main" id="{4FC8A917-DE16-4136-9CE5-93EA9CA23FA8}"/>
                </a:ext>
              </a:extLst>
            </p:cNvPr>
            <p:cNvSpPr/>
            <p:nvPr/>
          </p:nvSpPr>
          <p:spPr bwMode="auto">
            <a:xfrm>
              <a:off x="1260400" y="2088000"/>
              <a:ext cx="144000" cy="14400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336" name="直接箭头连接符 335">
              <a:extLst>
                <a:ext uri="{FF2B5EF4-FFF2-40B4-BE49-F238E27FC236}">
                  <a16:creationId xmlns:a16="http://schemas.microsoft.com/office/drawing/2014/main" id="{FD466E8C-5F46-4375-A485-6BCE8CCC27E0}"/>
                </a:ext>
              </a:extLst>
            </p:cNvPr>
            <p:cNvCxnSpPr/>
            <p:nvPr/>
          </p:nvCxnSpPr>
          <p:spPr bwMode="auto">
            <a:xfrm flipH="1" flipV="1">
              <a:off x="1368400" y="2160000"/>
              <a:ext cx="144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337" name="直接箭头连接符 336">
              <a:extLst>
                <a:ext uri="{FF2B5EF4-FFF2-40B4-BE49-F238E27FC236}">
                  <a16:creationId xmlns:a16="http://schemas.microsoft.com/office/drawing/2014/main" id="{18FE32D5-4918-432B-B01F-E7D3C3BDDC08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2592000" y="2304000"/>
              <a:ext cx="0" cy="144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338" name="直接箭头连接符 337">
              <a:extLst>
                <a:ext uri="{FF2B5EF4-FFF2-40B4-BE49-F238E27FC236}">
                  <a16:creationId xmlns:a16="http://schemas.microsoft.com/office/drawing/2014/main" id="{A7DC2CB0-D22A-438A-99B3-0F3F359A9D1C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888000" y="2304000"/>
              <a:ext cx="0" cy="144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339" name="等腰三角形 338">
              <a:extLst>
                <a:ext uri="{FF2B5EF4-FFF2-40B4-BE49-F238E27FC236}">
                  <a16:creationId xmlns:a16="http://schemas.microsoft.com/office/drawing/2014/main" id="{AD402409-AE63-44BC-AAE2-E91B5434E4D1}"/>
                </a:ext>
              </a:extLst>
            </p:cNvPr>
            <p:cNvSpPr/>
            <p:nvPr/>
          </p:nvSpPr>
          <p:spPr bwMode="auto">
            <a:xfrm>
              <a:off x="4068000" y="2124000"/>
              <a:ext cx="144000" cy="14400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sp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340" name="直接箭头连接符 339">
              <a:extLst>
                <a:ext uri="{FF2B5EF4-FFF2-40B4-BE49-F238E27FC236}">
                  <a16:creationId xmlns:a16="http://schemas.microsoft.com/office/drawing/2014/main" id="{01158355-FB86-4026-B800-659FE435A831}"/>
                </a:ext>
              </a:extLst>
            </p:cNvPr>
            <p:cNvCxnSpPr/>
            <p:nvPr/>
          </p:nvCxnSpPr>
          <p:spPr bwMode="auto">
            <a:xfrm flipH="1" flipV="1">
              <a:off x="4176000" y="2196000"/>
              <a:ext cx="144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400" name="Text Box 256">
              <a:extLst>
                <a:ext uri="{FF2B5EF4-FFF2-40B4-BE49-F238E27FC236}">
                  <a16:creationId xmlns:a16="http://schemas.microsoft.com/office/drawing/2014/main" id="{676AAB88-6580-4FEF-8DAF-2643862414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20000" y="2088000"/>
              <a:ext cx="684000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暂存器</a:t>
              </a:r>
            </a:p>
          </p:txBody>
        </p:sp>
        <p:sp>
          <p:nvSpPr>
            <p:cNvPr id="401" name="Text Box 256">
              <a:extLst>
                <a:ext uri="{FF2B5EF4-FFF2-40B4-BE49-F238E27FC236}">
                  <a16:creationId xmlns:a16="http://schemas.microsoft.com/office/drawing/2014/main" id="{95F45F42-39D2-45F3-B45A-26B233D776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5632" y="2088000"/>
              <a:ext cx="684000" cy="216000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暂存器</a:t>
              </a:r>
            </a:p>
          </p:txBody>
        </p:sp>
        <p:cxnSp>
          <p:nvCxnSpPr>
            <p:cNvPr id="402" name="直接箭头连接符 401">
              <a:extLst>
                <a:ext uri="{FF2B5EF4-FFF2-40B4-BE49-F238E27FC236}">
                  <a16:creationId xmlns:a16="http://schemas.microsoft.com/office/drawing/2014/main" id="{B57EAA43-46AE-413E-AE37-793C954D657C}"/>
                </a:ext>
              </a:extLst>
            </p:cNvPr>
            <p:cNvCxnSpPr/>
            <p:nvPr/>
          </p:nvCxnSpPr>
          <p:spPr bwMode="auto">
            <a:xfrm>
              <a:off x="-107600" y="1980000"/>
              <a:ext cx="6588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403" name="Text Box 286">
              <a:extLst>
                <a:ext uri="{FF2B5EF4-FFF2-40B4-BE49-F238E27FC236}">
                  <a16:creationId xmlns:a16="http://schemas.microsoft.com/office/drawing/2014/main" id="{C4706BC4-6A8D-4342-9A43-E84B7E0302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8400" y="1728000"/>
              <a:ext cx="234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105000"/>
                </a:lnSpc>
              </a:pPr>
              <a:r>
                <a:rPr lang="zh-CN" altLang="en-US" sz="1600" b="1" dirty="0">
                  <a:solidFill>
                    <a:schemeClr val="tx1"/>
                  </a:solidFill>
                  <a:latin typeface="+mn-ea"/>
                  <a:ea typeface="+mn-ea"/>
                </a:rPr>
                <a:t>内部数据通路</a:t>
              </a: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(</a:t>
              </a:r>
              <a:r>
                <a:rPr lang="zh-CN" altLang="en-US" sz="1600" b="1" dirty="0">
                  <a:solidFill>
                    <a:schemeClr val="tx1"/>
                  </a:solidFill>
                  <a:latin typeface="+mn-ea"/>
                  <a:ea typeface="+mn-ea"/>
                </a:rPr>
                <a:t>总线</a:t>
              </a:r>
              <a:r>
                <a:rPr lang="zh-CN" altLang="en-US" sz="1600" b="1" dirty="0">
                  <a:latin typeface="+mn-ea"/>
                  <a:ea typeface="+mn-ea"/>
                </a:rPr>
                <a:t>结构</a:t>
              </a: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)</a:t>
              </a:r>
              <a:endParaRPr lang="zh-CN" altLang="en-US" sz="1600" b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404" name="组合 403">
            <a:extLst>
              <a:ext uri="{FF2B5EF4-FFF2-40B4-BE49-F238E27FC236}">
                <a16:creationId xmlns:a16="http://schemas.microsoft.com/office/drawing/2014/main" id="{475AF4D7-2397-4605-9478-FD5322FCFB6A}"/>
              </a:ext>
            </a:extLst>
          </p:cNvPr>
          <p:cNvGrpSpPr/>
          <p:nvPr/>
        </p:nvGrpSpPr>
        <p:grpSpPr>
          <a:xfrm>
            <a:off x="6732496" y="5267024"/>
            <a:ext cx="2304000" cy="1186312"/>
            <a:chOff x="3780000" y="3709688"/>
            <a:chExt cx="2304000" cy="1186312"/>
          </a:xfrm>
        </p:grpSpPr>
        <p:sp>
          <p:nvSpPr>
            <p:cNvPr id="405" name="矩形 404">
              <a:extLst>
                <a:ext uri="{FF2B5EF4-FFF2-40B4-BE49-F238E27FC236}">
                  <a16:creationId xmlns:a16="http://schemas.microsoft.com/office/drawing/2014/main" id="{414E442A-FE4B-42C6-A4A2-332466686D03}"/>
                </a:ext>
              </a:extLst>
            </p:cNvPr>
            <p:cNvSpPr/>
            <p:nvPr/>
          </p:nvSpPr>
          <p:spPr>
            <a:xfrm>
              <a:off x="4103904" y="3780000"/>
              <a:ext cx="1728000" cy="1116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406" name="TextBox 7">
              <a:extLst>
                <a:ext uri="{FF2B5EF4-FFF2-40B4-BE49-F238E27FC236}">
                  <a16:creationId xmlns:a16="http://schemas.microsoft.com/office/drawing/2014/main" id="{27FF811E-DA6C-401C-AED7-0819168B0CB7}"/>
                </a:ext>
              </a:extLst>
            </p:cNvPr>
            <p:cNvSpPr txBox="1"/>
            <p:nvPr/>
          </p:nvSpPr>
          <p:spPr>
            <a:xfrm>
              <a:off x="3780000" y="4176000"/>
              <a:ext cx="252000" cy="180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altLang="zh-CN" sz="1600" dirty="0" err="1">
                  <a:solidFill>
                    <a:srgbClr val="C00000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rW</a:t>
              </a:r>
              <a:endParaRPr lang="zh-CN" altLang="en-US" sz="1600" dirty="0">
                <a:solidFill>
                  <a:srgbClr val="C00000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407" name="TextBox 8">
              <a:extLst>
                <a:ext uri="{FF2B5EF4-FFF2-40B4-BE49-F238E27FC236}">
                  <a16:creationId xmlns:a16="http://schemas.microsoft.com/office/drawing/2014/main" id="{9B967D08-101C-4750-827A-F0E030137005}"/>
                </a:ext>
              </a:extLst>
            </p:cNvPr>
            <p:cNvSpPr txBox="1"/>
            <p:nvPr/>
          </p:nvSpPr>
          <p:spPr>
            <a:xfrm>
              <a:off x="5940000" y="4104000"/>
              <a:ext cx="144000" cy="216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Q</a:t>
              </a:r>
              <a:endParaRPr lang="zh-CN" altLang="en-US" sz="16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408" name="直接连接符 407">
              <a:extLst>
                <a:ext uri="{FF2B5EF4-FFF2-40B4-BE49-F238E27FC236}">
                  <a16:creationId xmlns:a16="http://schemas.microsoft.com/office/drawing/2014/main" id="{EEC3FC2B-BA17-428F-AF12-89CD43BB74AF}"/>
                </a:ext>
              </a:extLst>
            </p:cNvPr>
            <p:cNvCxnSpPr/>
            <p:nvPr/>
          </p:nvCxnSpPr>
          <p:spPr bwMode="auto">
            <a:xfrm>
              <a:off x="5760000" y="4212000"/>
              <a:ext cx="180000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09" name="直接连接符 408">
              <a:extLst>
                <a:ext uri="{FF2B5EF4-FFF2-40B4-BE49-F238E27FC236}">
                  <a16:creationId xmlns:a16="http://schemas.microsoft.com/office/drawing/2014/main" id="{1FE46D89-E637-430C-8336-97228957F21F}"/>
                </a:ext>
              </a:extLst>
            </p:cNvPr>
            <p:cNvCxnSpPr/>
            <p:nvPr/>
          </p:nvCxnSpPr>
          <p:spPr bwMode="auto">
            <a:xfrm>
              <a:off x="4031904" y="3998568"/>
              <a:ext cx="180000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410" name="TextBox 13">
              <a:extLst>
                <a:ext uri="{FF2B5EF4-FFF2-40B4-BE49-F238E27FC236}">
                  <a16:creationId xmlns:a16="http://schemas.microsoft.com/office/drawing/2014/main" id="{6FC90B17-7613-4998-BD0F-A9A6965940E8}"/>
                </a:ext>
              </a:extLst>
            </p:cNvPr>
            <p:cNvSpPr txBox="1"/>
            <p:nvPr/>
          </p:nvSpPr>
          <p:spPr>
            <a:xfrm>
              <a:off x="3780000" y="4464000"/>
              <a:ext cx="252000" cy="180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altLang="zh-CN" sz="1600" dirty="0" err="1">
                  <a:solidFill>
                    <a:srgbClr val="FF3399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Wr</a:t>
              </a:r>
              <a:endParaRPr lang="zh-CN" altLang="en-US" sz="1600" dirty="0">
                <a:solidFill>
                  <a:srgbClr val="FF3399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411" name="TextBox 14">
              <a:extLst>
                <a:ext uri="{FF2B5EF4-FFF2-40B4-BE49-F238E27FC236}">
                  <a16:creationId xmlns:a16="http://schemas.microsoft.com/office/drawing/2014/main" id="{54BFD2C2-4E47-4F20-B9B2-4FA529E2F9F7}"/>
                </a:ext>
              </a:extLst>
            </p:cNvPr>
            <p:cNvSpPr txBox="1"/>
            <p:nvPr/>
          </p:nvSpPr>
          <p:spPr>
            <a:xfrm>
              <a:off x="3780000" y="4716000"/>
              <a:ext cx="252000" cy="180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CP</a:t>
              </a:r>
              <a:endParaRPr lang="zh-CN" altLang="en-US" sz="16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412" name="TextBox 15">
              <a:extLst>
                <a:ext uri="{FF2B5EF4-FFF2-40B4-BE49-F238E27FC236}">
                  <a16:creationId xmlns:a16="http://schemas.microsoft.com/office/drawing/2014/main" id="{D9CED55E-D4BB-4113-A787-0D08FEA05D5A}"/>
                </a:ext>
              </a:extLst>
            </p:cNvPr>
            <p:cNvSpPr txBox="1"/>
            <p:nvPr/>
          </p:nvSpPr>
          <p:spPr>
            <a:xfrm>
              <a:off x="3780000" y="3924000"/>
              <a:ext cx="252000" cy="180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D</a:t>
              </a:r>
              <a:endParaRPr lang="zh-CN" altLang="en-US" sz="16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413" name="TextBox 17">
              <a:extLst>
                <a:ext uri="{FF2B5EF4-FFF2-40B4-BE49-F238E27FC236}">
                  <a16:creationId xmlns:a16="http://schemas.microsoft.com/office/drawing/2014/main" id="{EED2EFE7-6DAA-4A39-BF78-DEFB74811A41}"/>
                </a:ext>
              </a:extLst>
            </p:cNvPr>
            <p:cNvSpPr txBox="1"/>
            <p:nvPr/>
          </p:nvSpPr>
          <p:spPr>
            <a:xfrm>
              <a:off x="3780000" y="3709688"/>
              <a:ext cx="252000" cy="180000"/>
            </a:xfrm>
            <a:prstGeom prst="rect">
              <a:avLst/>
            </a:prstGeom>
            <a:noFill/>
          </p:spPr>
          <p:txBody>
            <a:bodyPr wrap="square" lIns="18000" tIns="10800" rIns="18000" bIns="10800" rtlCol="0" anchor="ctr" anchorCtr="0">
              <a:noAutofit/>
            </a:bodyPr>
            <a:lstStyle/>
            <a:p>
              <a:pPr algn="r">
                <a:lnSpc>
                  <a:spcPct val="90000"/>
                </a:lnSpc>
              </a:pPr>
              <a:r>
                <a:rPr lang="en-US" altLang="zh-CN" sz="1600" dirty="0" err="1">
                  <a:solidFill>
                    <a:srgbClr val="C00000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rA</a:t>
              </a:r>
              <a:endParaRPr lang="zh-CN" altLang="en-US" sz="1600" dirty="0">
                <a:solidFill>
                  <a:srgbClr val="C00000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414" name="直接连接符 413">
              <a:extLst>
                <a:ext uri="{FF2B5EF4-FFF2-40B4-BE49-F238E27FC236}">
                  <a16:creationId xmlns:a16="http://schemas.microsoft.com/office/drawing/2014/main" id="{18AD971F-014D-4962-A6D0-A3306E701DF4}"/>
                </a:ext>
              </a:extLst>
            </p:cNvPr>
            <p:cNvCxnSpPr/>
            <p:nvPr/>
          </p:nvCxnSpPr>
          <p:spPr bwMode="auto">
            <a:xfrm>
              <a:off x="4031904" y="3852000"/>
              <a:ext cx="180000" cy="3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15" name="直接连接符 414">
              <a:extLst>
                <a:ext uri="{FF2B5EF4-FFF2-40B4-BE49-F238E27FC236}">
                  <a16:creationId xmlns:a16="http://schemas.microsoft.com/office/drawing/2014/main" id="{C0D2CAF3-702C-4864-8454-7DCC9F06F470}"/>
                </a:ext>
              </a:extLst>
            </p:cNvPr>
            <p:cNvCxnSpPr/>
            <p:nvPr/>
          </p:nvCxnSpPr>
          <p:spPr bwMode="auto">
            <a:xfrm>
              <a:off x="4031904" y="4284000"/>
              <a:ext cx="180000" cy="3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16" name="直接连接符 415">
              <a:extLst>
                <a:ext uri="{FF2B5EF4-FFF2-40B4-BE49-F238E27FC236}">
                  <a16:creationId xmlns:a16="http://schemas.microsoft.com/office/drawing/2014/main" id="{BE32D8F3-40F1-46D6-ABED-5957631B2F83}"/>
                </a:ext>
              </a:extLst>
            </p:cNvPr>
            <p:cNvCxnSpPr/>
            <p:nvPr/>
          </p:nvCxnSpPr>
          <p:spPr bwMode="auto">
            <a:xfrm>
              <a:off x="4031904" y="4572000"/>
              <a:ext cx="180000" cy="3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17" name="直接连接符 416">
              <a:extLst>
                <a:ext uri="{FF2B5EF4-FFF2-40B4-BE49-F238E27FC236}">
                  <a16:creationId xmlns:a16="http://schemas.microsoft.com/office/drawing/2014/main" id="{64E9A471-C287-45A5-97EB-40DDB4098F66}"/>
                </a:ext>
              </a:extLst>
            </p:cNvPr>
            <p:cNvCxnSpPr/>
            <p:nvPr/>
          </p:nvCxnSpPr>
          <p:spPr bwMode="auto">
            <a:xfrm>
              <a:off x="4031904" y="4824000"/>
              <a:ext cx="180000" cy="3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418" name="矩形 417">
              <a:extLst>
                <a:ext uri="{FF2B5EF4-FFF2-40B4-BE49-F238E27FC236}">
                  <a16:creationId xmlns:a16="http://schemas.microsoft.com/office/drawing/2014/main" id="{47319351-A0EA-4E6C-A140-8FD43FE737A4}"/>
                </a:ext>
              </a:extLst>
            </p:cNvPr>
            <p:cNvSpPr/>
            <p:nvPr/>
          </p:nvSpPr>
          <p:spPr>
            <a:xfrm>
              <a:off x="4896000" y="3960000"/>
              <a:ext cx="432000" cy="21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10800" rIns="18000" bIns="10800" rtlCol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+mn-ea"/>
                </a:rPr>
                <a:t>R7</a:t>
              </a:r>
              <a:endParaRPr lang="zh-CN" altLang="en-US" sz="16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19" name="矩形 418">
              <a:extLst>
                <a:ext uri="{FF2B5EF4-FFF2-40B4-BE49-F238E27FC236}">
                  <a16:creationId xmlns:a16="http://schemas.microsoft.com/office/drawing/2014/main" id="{F35CB88B-8C38-473B-AF6C-F05016F34A6A}"/>
                </a:ext>
              </a:extLst>
            </p:cNvPr>
            <p:cNvSpPr/>
            <p:nvPr/>
          </p:nvSpPr>
          <p:spPr>
            <a:xfrm>
              <a:off x="4896000" y="4500000"/>
              <a:ext cx="432000" cy="216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tIns="10800" rIns="18000" bIns="10800" rtlCol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+mn-ea"/>
                </a:rPr>
                <a:t>R0</a:t>
              </a:r>
              <a:endParaRPr lang="zh-CN" altLang="en-US" sz="1600" b="1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420" name="直接连接符 419">
              <a:extLst>
                <a:ext uri="{FF2B5EF4-FFF2-40B4-BE49-F238E27FC236}">
                  <a16:creationId xmlns:a16="http://schemas.microsoft.com/office/drawing/2014/main" id="{CDE148C9-706A-494F-A2C3-E77608FAC470}"/>
                </a:ext>
              </a:extLst>
            </p:cNvPr>
            <p:cNvCxnSpPr/>
            <p:nvPr/>
          </p:nvCxnSpPr>
          <p:spPr bwMode="auto">
            <a:xfrm flipV="1">
              <a:off x="4644000" y="4536000"/>
              <a:ext cx="252000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cxnSp>
          <p:nvCxnSpPr>
            <p:cNvPr id="421" name="直接连接符 420">
              <a:extLst>
                <a:ext uri="{FF2B5EF4-FFF2-40B4-BE49-F238E27FC236}">
                  <a16:creationId xmlns:a16="http://schemas.microsoft.com/office/drawing/2014/main" id="{57E16D1F-5526-43DE-B924-E07401D1D8CD}"/>
                </a:ext>
              </a:extLst>
            </p:cNvPr>
            <p:cNvCxnSpPr/>
            <p:nvPr/>
          </p:nvCxnSpPr>
          <p:spPr bwMode="auto">
            <a:xfrm flipV="1">
              <a:off x="4752000" y="4068088"/>
              <a:ext cx="144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422" name="直接连接符 421">
              <a:extLst>
                <a:ext uri="{FF2B5EF4-FFF2-40B4-BE49-F238E27FC236}">
                  <a16:creationId xmlns:a16="http://schemas.microsoft.com/office/drawing/2014/main" id="{87AAE01A-AABA-47B2-A454-44865E4E197D}"/>
                </a:ext>
              </a:extLst>
            </p:cNvPr>
            <p:cNvCxnSpPr/>
            <p:nvPr/>
          </p:nvCxnSpPr>
          <p:spPr bwMode="auto">
            <a:xfrm flipV="1">
              <a:off x="4752000" y="4608000"/>
              <a:ext cx="144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arrow" w="sm" len="sm"/>
            </a:ln>
            <a:effectLst/>
          </p:spPr>
        </p:cxnSp>
        <p:cxnSp>
          <p:nvCxnSpPr>
            <p:cNvPr id="423" name="直接连接符 422">
              <a:extLst>
                <a:ext uri="{FF2B5EF4-FFF2-40B4-BE49-F238E27FC236}">
                  <a16:creationId xmlns:a16="http://schemas.microsoft.com/office/drawing/2014/main" id="{11D522A1-9AEC-4823-AA07-7E405C634133}"/>
                </a:ext>
              </a:extLst>
            </p:cNvPr>
            <p:cNvCxnSpPr/>
            <p:nvPr/>
          </p:nvCxnSpPr>
          <p:spPr bwMode="auto">
            <a:xfrm flipV="1">
              <a:off x="4752000" y="4068088"/>
              <a:ext cx="24" cy="75600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24" name="直接连接符 423">
              <a:extLst>
                <a:ext uri="{FF2B5EF4-FFF2-40B4-BE49-F238E27FC236}">
                  <a16:creationId xmlns:a16="http://schemas.microsoft.com/office/drawing/2014/main" id="{082AC57B-A5A8-4EA5-8811-840891BC931A}"/>
                </a:ext>
              </a:extLst>
            </p:cNvPr>
            <p:cNvCxnSpPr/>
            <p:nvPr/>
          </p:nvCxnSpPr>
          <p:spPr bwMode="auto">
            <a:xfrm flipV="1">
              <a:off x="4428000" y="4140000"/>
              <a:ext cx="468000" cy="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425" name="直接连接符 424">
              <a:extLst>
                <a:ext uri="{FF2B5EF4-FFF2-40B4-BE49-F238E27FC236}">
                  <a16:creationId xmlns:a16="http://schemas.microsoft.com/office/drawing/2014/main" id="{59AB0CAD-6B64-4C1E-82A2-52D6F3BAFE54}"/>
                </a:ext>
              </a:extLst>
            </p:cNvPr>
            <p:cNvCxnSpPr/>
            <p:nvPr/>
          </p:nvCxnSpPr>
          <p:spPr bwMode="auto">
            <a:xfrm flipV="1">
              <a:off x="4428000" y="4680000"/>
              <a:ext cx="468000" cy="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426" name="直接连接符 425">
              <a:extLst>
                <a:ext uri="{FF2B5EF4-FFF2-40B4-BE49-F238E27FC236}">
                  <a16:creationId xmlns:a16="http://schemas.microsoft.com/office/drawing/2014/main" id="{9DD119C8-CFCD-4F73-BDBC-C1BB43798D9F}"/>
                </a:ext>
              </a:extLst>
            </p:cNvPr>
            <p:cNvCxnSpPr/>
            <p:nvPr/>
          </p:nvCxnSpPr>
          <p:spPr bwMode="auto">
            <a:xfrm>
              <a:off x="4644000" y="3996000"/>
              <a:ext cx="24" cy="540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427" name="直接连接符 426">
              <a:extLst>
                <a:ext uri="{FF2B5EF4-FFF2-40B4-BE49-F238E27FC236}">
                  <a16:creationId xmlns:a16="http://schemas.microsoft.com/office/drawing/2014/main" id="{62B98453-2A9F-429F-995A-D6130139E6FC}"/>
                </a:ext>
              </a:extLst>
            </p:cNvPr>
            <p:cNvCxnSpPr/>
            <p:nvPr/>
          </p:nvCxnSpPr>
          <p:spPr bwMode="auto">
            <a:xfrm>
              <a:off x="4176000" y="4824000"/>
              <a:ext cx="5760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28" name="矩形 427">
              <a:extLst>
                <a:ext uri="{FF2B5EF4-FFF2-40B4-BE49-F238E27FC236}">
                  <a16:creationId xmlns:a16="http://schemas.microsoft.com/office/drawing/2014/main" id="{C608FFCE-97D9-4B4B-93E0-4D2B2806A4FE}"/>
                </a:ext>
              </a:extLst>
            </p:cNvPr>
            <p:cNvSpPr/>
            <p:nvPr/>
          </p:nvSpPr>
          <p:spPr>
            <a:xfrm>
              <a:off x="4212000" y="4068088"/>
              <a:ext cx="216000" cy="684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lIns="0" tIns="0" rIns="0" bIns="0" rtlCol="0" anchor="ctr" anchorCtr="1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solidFill>
                    <a:schemeClr val="tx1"/>
                  </a:solidFill>
                  <a:latin typeface="+mn-ea"/>
                </a:rPr>
                <a:t>译码器</a:t>
              </a:r>
            </a:p>
          </p:txBody>
        </p:sp>
        <p:sp>
          <p:nvSpPr>
            <p:cNvPr id="429" name="Text Box 18">
              <a:extLst>
                <a:ext uri="{FF2B5EF4-FFF2-40B4-BE49-F238E27FC236}">
                  <a16:creationId xmlns:a16="http://schemas.microsoft.com/office/drawing/2014/main" id="{67D524EE-D1E5-4E19-A0A6-CE405D5DAD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8000" y="4248000"/>
              <a:ext cx="180000" cy="28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…</a:t>
              </a:r>
            </a:p>
          </p:txBody>
        </p:sp>
        <p:cxnSp>
          <p:nvCxnSpPr>
            <p:cNvPr id="430" name="直接连接符 429">
              <a:extLst>
                <a:ext uri="{FF2B5EF4-FFF2-40B4-BE49-F238E27FC236}">
                  <a16:creationId xmlns:a16="http://schemas.microsoft.com/office/drawing/2014/main" id="{392A9175-C2F4-42C7-A6BE-7BEAB061307E}"/>
                </a:ext>
              </a:extLst>
            </p:cNvPr>
            <p:cNvCxnSpPr/>
            <p:nvPr/>
          </p:nvCxnSpPr>
          <p:spPr bwMode="auto">
            <a:xfrm flipV="1">
              <a:off x="4176000" y="3996000"/>
              <a:ext cx="720000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triangle" w="med" len="med"/>
            </a:ln>
            <a:effectLst/>
          </p:spPr>
        </p:cxnSp>
        <p:cxnSp>
          <p:nvCxnSpPr>
            <p:cNvPr id="431" name="直接连接符 430">
              <a:extLst>
                <a:ext uri="{FF2B5EF4-FFF2-40B4-BE49-F238E27FC236}">
                  <a16:creationId xmlns:a16="http://schemas.microsoft.com/office/drawing/2014/main" id="{B90BFB5E-BBF0-43B1-839D-D1D1D6AB7D17}"/>
                </a:ext>
              </a:extLst>
            </p:cNvPr>
            <p:cNvCxnSpPr/>
            <p:nvPr/>
          </p:nvCxnSpPr>
          <p:spPr bwMode="auto">
            <a:xfrm flipV="1">
              <a:off x="5328000" y="4068000"/>
              <a:ext cx="252000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32" name="直接连接符 431">
              <a:extLst>
                <a:ext uri="{FF2B5EF4-FFF2-40B4-BE49-F238E27FC236}">
                  <a16:creationId xmlns:a16="http://schemas.microsoft.com/office/drawing/2014/main" id="{A6D03C58-86E9-47F8-A3A6-F7F26B0AF98A}"/>
                </a:ext>
              </a:extLst>
            </p:cNvPr>
            <p:cNvCxnSpPr/>
            <p:nvPr/>
          </p:nvCxnSpPr>
          <p:spPr bwMode="auto">
            <a:xfrm flipV="1">
              <a:off x="5328000" y="4608000"/>
              <a:ext cx="108000" cy="1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33" name="直接连接符 432">
              <a:extLst>
                <a:ext uri="{FF2B5EF4-FFF2-40B4-BE49-F238E27FC236}">
                  <a16:creationId xmlns:a16="http://schemas.microsoft.com/office/drawing/2014/main" id="{E7B85335-C320-4455-BAC3-BCDE9F30D5CA}"/>
                </a:ext>
              </a:extLst>
            </p:cNvPr>
            <p:cNvCxnSpPr/>
            <p:nvPr/>
          </p:nvCxnSpPr>
          <p:spPr bwMode="auto">
            <a:xfrm>
              <a:off x="5688000" y="3852000"/>
              <a:ext cx="0" cy="2088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34" name="直接连接符 433">
              <a:extLst>
                <a:ext uri="{FF2B5EF4-FFF2-40B4-BE49-F238E27FC236}">
                  <a16:creationId xmlns:a16="http://schemas.microsoft.com/office/drawing/2014/main" id="{12D69609-B345-41C3-997B-57C22E8AE861}"/>
                </a:ext>
              </a:extLst>
            </p:cNvPr>
            <p:cNvCxnSpPr/>
            <p:nvPr/>
          </p:nvCxnSpPr>
          <p:spPr bwMode="auto">
            <a:xfrm>
              <a:off x="4176000" y="3852000"/>
              <a:ext cx="1512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35" name="直接连接符 434">
              <a:extLst>
                <a:ext uri="{FF2B5EF4-FFF2-40B4-BE49-F238E27FC236}">
                  <a16:creationId xmlns:a16="http://schemas.microsoft.com/office/drawing/2014/main" id="{C55654F0-227B-453F-B87A-5261D258167B}"/>
                </a:ext>
              </a:extLst>
            </p:cNvPr>
            <p:cNvCxnSpPr/>
            <p:nvPr/>
          </p:nvCxnSpPr>
          <p:spPr bwMode="auto">
            <a:xfrm flipV="1">
              <a:off x="5436000" y="4356000"/>
              <a:ext cx="144000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36" name="直接连接符 435">
              <a:extLst>
                <a:ext uri="{FF2B5EF4-FFF2-40B4-BE49-F238E27FC236}">
                  <a16:creationId xmlns:a16="http://schemas.microsoft.com/office/drawing/2014/main" id="{26C1CFE4-C7C7-4835-839F-CCBF9AD0F3CF}"/>
                </a:ext>
              </a:extLst>
            </p:cNvPr>
            <p:cNvCxnSpPr/>
            <p:nvPr/>
          </p:nvCxnSpPr>
          <p:spPr bwMode="auto">
            <a:xfrm flipV="1">
              <a:off x="5436000" y="4356000"/>
              <a:ext cx="0" cy="25200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sm" len="sm"/>
              <a:tailEnd type="none" w="med" len="med"/>
            </a:ln>
            <a:effectLst/>
          </p:spPr>
        </p:cxnSp>
        <p:sp>
          <p:nvSpPr>
            <p:cNvPr id="437" name="TextBox 14">
              <a:extLst>
                <a:ext uri="{FF2B5EF4-FFF2-40B4-BE49-F238E27FC236}">
                  <a16:creationId xmlns:a16="http://schemas.microsoft.com/office/drawing/2014/main" id="{BCA2B7D1-50EC-4347-8635-97AB1B2AE671}"/>
                </a:ext>
              </a:extLst>
            </p:cNvPr>
            <p:cNvSpPr txBox="1"/>
            <p:nvPr/>
          </p:nvSpPr>
          <p:spPr>
            <a:xfrm>
              <a:off x="5580000" y="3996000"/>
              <a:ext cx="144000" cy="432000"/>
            </a:xfrm>
            <a:prstGeom prst="rect">
              <a:avLst/>
            </a:prstGeom>
            <a:noFill/>
          </p:spPr>
          <p:txBody>
            <a:bodyPr vert="vert270" wrap="square" lIns="18000" tIns="10800" rIns="18000" bIns="1080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0</a:t>
              </a:r>
              <a:r>
                <a:rPr lang="en-US" altLang="zh-CN" sz="1400" b="1" baseline="-18000" dirty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en-US" altLang="zh-CN" sz="1400" b="1" dirty="0">
                  <a:solidFill>
                    <a:schemeClr val="tx1"/>
                  </a:solidFill>
                  <a:latin typeface="+mn-ea"/>
                  <a:ea typeface="+mn-ea"/>
                  <a:cs typeface="Times New Roman" panose="02020603050405020304" pitchFamily="18" charset="0"/>
                </a:rPr>
                <a:t> 7</a:t>
              </a:r>
              <a:endParaRPr lang="zh-CN" altLang="en-US" sz="1400" b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438" name="梯形 437">
              <a:extLst>
                <a:ext uri="{FF2B5EF4-FFF2-40B4-BE49-F238E27FC236}">
                  <a16:creationId xmlns:a16="http://schemas.microsoft.com/office/drawing/2014/main" id="{205EF74D-C625-4C71-AEE3-C9ECF8B5D778}"/>
                </a:ext>
              </a:extLst>
            </p:cNvPr>
            <p:cNvSpPr/>
            <p:nvPr/>
          </p:nvSpPr>
          <p:spPr bwMode="auto">
            <a:xfrm rot="5400000">
              <a:off x="5454000" y="4131032"/>
              <a:ext cx="432000" cy="180000"/>
            </a:xfrm>
            <a:prstGeom prst="trapezoid">
              <a:avLst>
                <a:gd name="adj" fmla="val 55497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9" name="Text Box 18">
              <a:extLst>
                <a:ext uri="{FF2B5EF4-FFF2-40B4-BE49-F238E27FC236}">
                  <a16:creationId xmlns:a16="http://schemas.microsoft.com/office/drawing/2014/main" id="{1D5C2589-1A19-4917-B8EB-F8CF707830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8000" y="4176000"/>
              <a:ext cx="180000" cy="28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</a:p>
          </p:txBody>
        </p:sp>
      </p:grpSp>
      <p:grpSp>
        <p:nvGrpSpPr>
          <p:cNvPr id="440" name="组合 439">
            <a:extLst>
              <a:ext uri="{FF2B5EF4-FFF2-40B4-BE49-F238E27FC236}">
                <a16:creationId xmlns:a16="http://schemas.microsoft.com/office/drawing/2014/main" id="{4D4A791C-152C-4DC0-A6DA-68839BAD487D}"/>
              </a:ext>
            </a:extLst>
          </p:cNvPr>
          <p:cNvGrpSpPr/>
          <p:nvPr/>
        </p:nvGrpSpPr>
        <p:grpSpPr>
          <a:xfrm>
            <a:off x="683568" y="4365104"/>
            <a:ext cx="2268000" cy="1332000"/>
            <a:chOff x="3672000" y="3528000"/>
            <a:chExt cx="2268000" cy="1332000"/>
          </a:xfrm>
        </p:grpSpPr>
        <p:sp>
          <p:nvSpPr>
            <p:cNvPr id="441" name="Rectangle 183">
              <a:extLst>
                <a:ext uri="{FF2B5EF4-FFF2-40B4-BE49-F238E27FC236}">
                  <a16:creationId xmlns:a16="http://schemas.microsoft.com/office/drawing/2014/main" id="{69DE6258-24ED-41C0-91A0-8D640FA963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8000" y="3744000"/>
              <a:ext cx="1368000" cy="864000"/>
            </a:xfrm>
            <a:prstGeom prst="rect">
              <a:avLst/>
            </a:prstGeom>
            <a:solidFill>
              <a:srgbClr val="CCFFFF"/>
            </a:solidFill>
            <a:ln w="15875" algn="ctr">
              <a:solidFill>
                <a:schemeClr val="tx1"/>
              </a:solidFill>
              <a:miter lim="800000"/>
            </a:ln>
            <a:effectLst/>
          </p:spPr>
          <p:txBody>
            <a:bodyPr anchor="ctr">
              <a:noAutofit/>
            </a:bodyPr>
            <a:lstStyle/>
            <a:p>
              <a:endParaRPr lang="en-US" altLang="zh-CN" sz="1200" dirty="0">
                <a:solidFill>
                  <a:schemeClr val="tx1"/>
                </a:solidFill>
                <a:latin typeface="+mn-ea"/>
                <a:ea typeface="+mn-ea"/>
              </a:endParaRPr>
            </a:p>
            <a:p>
              <a:endParaRPr lang="zh-CN" altLang="en-US" sz="20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442" name="Text Box 184">
              <a:extLst>
                <a:ext uri="{FF2B5EF4-FFF2-40B4-BE49-F238E27FC236}">
                  <a16:creationId xmlns:a16="http://schemas.microsoft.com/office/drawing/2014/main" id="{D361FAFE-8A6C-46F1-A132-21DAC8F462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9560" y="4284000"/>
              <a:ext cx="1080000" cy="252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chemeClr val="tx1"/>
                  </a:solidFill>
                  <a:latin typeface="+mn-ea"/>
                  <a:ea typeface="+mn-ea"/>
                </a:rPr>
                <a:t>n</a:t>
              </a:r>
              <a:r>
                <a:rPr lang="zh-CN" altLang="en-US" sz="1600" b="1" dirty="0">
                  <a:solidFill>
                    <a:schemeClr val="tx1"/>
                  </a:solidFill>
                  <a:latin typeface="+mn-ea"/>
                  <a:ea typeface="+mn-ea"/>
                </a:rPr>
                <a:t>位加法器</a:t>
              </a:r>
            </a:p>
          </p:txBody>
        </p:sp>
        <p:sp>
          <p:nvSpPr>
            <p:cNvPr id="443" name="Line 186">
              <a:extLst>
                <a:ext uri="{FF2B5EF4-FFF2-40B4-BE49-F238E27FC236}">
                  <a16:creationId xmlns:a16="http://schemas.microsoft.com/office/drawing/2014/main" id="{4D3611C4-9969-460B-A45C-7658A271E5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75560" y="4140096"/>
              <a:ext cx="0" cy="144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4" name="Text Box 188">
              <a:extLst>
                <a:ext uri="{FF2B5EF4-FFF2-40B4-BE49-F238E27FC236}">
                  <a16:creationId xmlns:a16="http://schemas.microsoft.com/office/drawing/2014/main" id="{F538D0A7-DEB0-4DF1-9854-8E394C83E5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80000" y="3924024"/>
              <a:ext cx="720000" cy="216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solidFill>
                    <a:schemeClr val="tx1"/>
                  </a:solidFill>
                  <a:latin typeface="+mn-ea"/>
                  <a:ea typeface="+mn-ea"/>
                </a:rPr>
                <a:t>异或门</a:t>
              </a:r>
            </a:p>
          </p:txBody>
        </p:sp>
        <p:sp>
          <p:nvSpPr>
            <p:cNvPr id="445" name="Line 191">
              <a:extLst>
                <a:ext uri="{FF2B5EF4-FFF2-40B4-BE49-F238E27FC236}">
                  <a16:creationId xmlns:a16="http://schemas.microsoft.com/office/drawing/2014/main" id="{745BF4C1-DBE1-49BE-B664-1F8BF0BB74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00000" y="4428000"/>
              <a:ext cx="144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6" name="Line 192">
              <a:extLst>
                <a:ext uri="{FF2B5EF4-FFF2-40B4-BE49-F238E27FC236}">
                  <a16:creationId xmlns:a16="http://schemas.microsoft.com/office/drawing/2014/main" id="{886420DB-BA2B-42FA-8FFB-5824C6E283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56000" y="3816000"/>
              <a:ext cx="432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7" name="Line 199">
              <a:extLst>
                <a:ext uri="{FF2B5EF4-FFF2-40B4-BE49-F238E27FC236}">
                  <a16:creationId xmlns:a16="http://schemas.microsoft.com/office/drawing/2014/main" id="{095A7422-02F3-4962-B324-73B1394098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5560" y="3708000"/>
              <a:ext cx="0" cy="576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8" name="Line 208">
              <a:extLst>
                <a:ext uri="{FF2B5EF4-FFF2-40B4-BE49-F238E27FC236}">
                  <a16:creationId xmlns:a16="http://schemas.microsoft.com/office/drawing/2014/main" id="{F1646BB3-B01D-405C-8C0E-A72DAC016C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44000" y="3816000"/>
              <a:ext cx="0" cy="612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oval" w="sm" len="sm"/>
              <a:tailEnd type="none" w="sm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49" name="Text Box 213">
              <a:extLst>
                <a:ext uri="{FF2B5EF4-FFF2-40B4-BE49-F238E27FC236}">
                  <a16:creationId xmlns:a16="http://schemas.microsoft.com/office/drawing/2014/main" id="{8A1B4D85-A75E-40A8-A429-68C375D2CE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5560" y="4680000"/>
              <a:ext cx="216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+mn-ea"/>
                  <a:ea typeface="+mn-ea"/>
                </a:rPr>
                <a:t>F</a:t>
              </a:r>
            </a:p>
          </p:txBody>
        </p:sp>
        <p:sp>
          <p:nvSpPr>
            <p:cNvPr id="450" name="Text Box 213">
              <a:extLst>
                <a:ext uri="{FF2B5EF4-FFF2-40B4-BE49-F238E27FC236}">
                  <a16:creationId xmlns:a16="http://schemas.microsoft.com/office/drawing/2014/main" id="{3C35FB7B-33F8-4DC0-9114-A6CFAA25E8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0000" y="3528000"/>
              <a:ext cx="576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+mn-ea"/>
                  <a:ea typeface="+mn-ea"/>
                </a:rPr>
                <a:t>A   B</a:t>
              </a:r>
            </a:p>
          </p:txBody>
        </p:sp>
        <p:sp>
          <p:nvSpPr>
            <p:cNvPr id="451" name="Line 199">
              <a:extLst>
                <a:ext uri="{FF2B5EF4-FFF2-40B4-BE49-F238E27FC236}">
                  <a16:creationId xmlns:a16="http://schemas.microsoft.com/office/drawing/2014/main" id="{46FE180B-B5F3-49F5-A047-565BEB6F65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55560" y="3816000"/>
              <a:ext cx="0" cy="108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2" name="Line 186">
              <a:extLst>
                <a:ext uri="{FF2B5EF4-FFF2-40B4-BE49-F238E27FC236}">
                  <a16:creationId xmlns:a16="http://schemas.microsoft.com/office/drawing/2014/main" id="{AB496718-8D0C-45B6-A33B-8A595E6AFC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0488" y="3708000"/>
              <a:ext cx="0" cy="216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3" name="Line 186">
              <a:extLst>
                <a:ext uri="{FF2B5EF4-FFF2-40B4-BE49-F238E27FC236}">
                  <a16:creationId xmlns:a16="http://schemas.microsoft.com/office/drawing/2014/main" id="{099344F5-D0FF-4EEB-9C89-41A8158FA1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23608" y="4536000"/>
              <a:ext cx="0" cy="144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4" name="Text Box 213">
              <a:extLst>
                <a:ext uri="{FF2B5EF4-FFF2-40B4-BE49-F238E27FC236}">
                  <a16:creationId xmlns:a16="http://schemas.microsoft.com/office/drawing/2014/main" id="{23F8AE94-CDDA-40EF-9346-7BA700420B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88000" y="3708000"/>
              <a:ext cx="252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+mn-ea"/>
                  <a:ea typeface="+mn-ea"/>
                  <a:cs typeface="Arial Unicode MS" panose="020B0604020202020204" pitchFamily="34" charset="-122"/>
                </a:rPr>
                <a:t>op</a:t>
              </a:r>
              <a:endParaRPr lang="en-US" altLang="zh-CN" sz="16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455" name="Line 191">
              <a:extLst>
                <a:ext uri="{FF2B5EF4-FFF2-40B4-BE49-F238E27FC236}">
                  <a16:creationId xmlns:a16="http://schemas.microsoft.com/office/drawing/2014/main" id="{EBC2BDCD-E3CB-4608-BBA6-0AA9F19F00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40000" y="4428000"/>
              <a:ext cx="180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56" name="Text Box 213">
              <a:extLst>
                <a:ext uri="{FF2B5EF4-FFF2-40B4-BE49-F238E27FC236}">
                  <a16:creationId xmlns:a16="http://schemas.microsoft.com/office/drawing/2014/main" id="{63E82D86-7C41-4077-A2D6-14EB6BC1A8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2000" y="4320000"/>
              <a:ext cx="468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600" dirty="0" err="1">
                  <a:solidFill>
                    <a:schemeClr val="tx1"/>
                  </a:solidFill>
                  <a:latin typeface="+mn-ea"/>
                  <a:ea typeface="+mn-ea"/>
                  <a:cs typeface="Arial Unicode MS" panose="020B0604020202020204" pitchFamily="34" charset="-122"/>
                </a:rPr>
                <a:t>Cout</a:t>
              </a:r>
              <a:endParaRPr lang="en-US" altLang="zh-CN" sz="16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457" name="组合 456">
            <a:extLst>
              <a:ext uri="{FF2B5EF4-FFF2-40B4-BE49-F238E27FC236}">
                <a16:creationId xmlns:a16="http://schemas.microsoft.com/office/drawing/2014/main" id="{23D1A789-2E0B-4521-B6A7-63A7DE63974E}"/>
              </a:ext>
            </a:extLst>
          </p:cNvPr>
          <p:cNvGrpSpPr/>
          <p:nvPr/>
        </p:nvGrpSpPr>
        <p:grpSpPr>
          <a:xfrm>
            <a:off x="3060272" y="4365104"/>
            <a:ext cx="3960000" cy="1404000"/>
            <a:chOff x="2520000" y="3600000"/>
            <a:chExt cx="3960000" cy="1404000"/>
          </a:xfrm>
        </p:grpSpPr>
        <p:sp>
          <p:nvSpPr>
            <p:cNvPr id="458" name="Text Box 235">
              <a:extLst>
                <a:ext uri="{FF2B5EF4-FFF2-40B4-BE49-F238E27FC236}">
                  <a16:creationId xmlns:a16="http://schemas.microsoft.com/office/drawing/2014/main" id="{890754D6-4D01-4DFB-9666-C163786AEA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20000" y="3636000"/>
              <a:ext cx="3492000" cy="12960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endParaRPr lang="en-US" altLang="zh-CN" sz="2000" i="1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459" name="Text Box 235">
              <a:extLst>
                <a:ext uri="{FF2B5EF4-FFF2-40B4-BE49-F238E27FC236}">
                  <a16:creationId xmlns:a16="http://schemas.microsoft.com/office/drawing/2014/main" id="{17E63F5D-5147-4154-9960-8F01AB716C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4000" y="4572000"/>
              <a:ext cx="1116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72000" tIns="0" rIns="0" bIns="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  <a:latin typeface="+mn-ea"/>
                  <a:ea typeface="+mn-ea"/>
                </a:rPr>
                <a:t>乘数</a:t>
              </a:r>
              <a:r>
                <a:rPr lang="en-US" altLang="zh-CN" sz="1600" dirty="0" err="1">
                  <a:solidFill>
                    <a:schemeClr val="tx1"/>
                  </a:solidFill>
                  <a:latin typeface="+mn-ea"/>
                  <a:ea typeface="+mn-ea"/>
                </a:rPr>
                <a:t>RegB</a:t>
              </a:r>
              <a:endParaRPr lang="en-US" altLang="zh-CN" sz="16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460" name="Text Box 235">
              <a:extLst>
                <a:ext uri="{FF2B5EF4-FFF2-40B4-BE49-F238E27FC236}">
                  <a16:creationId xmlns:a16="http://schemas.microsoft.com/office/drawing/2014/main" id="{713CC025-250E-4CB2-9154-814CE5C23B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000" y="4572000"/>
              <a:ext cx="1116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  <a:latin typeface="+mn-ea"/>
                  <a:ea typeface="+mn-ea"/>
                </a:rPr>
                <a:t>部分积</a:t>
              </a:r>
              <a:r>
                <a:rPr lang="en-US" altLang="zh-CN" sz="1600" dirty="0" err="1">
                  <a:solidFill>
                    <a:schemeClr val="tx1"/>
                  </a:solidFill>
                  <a:latin typeface="+mn-ea"/>
                  <a:ea typeface="+mn-ea"/>
                </a:rPr>
                <a:t>RegP</a:t>
              </a:r>
              <a:endParaRPr lang="en-US" altLang="zh-CN" sz="16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461" name="Line 238">
              <a:extLst>
                <a:ext uri="{FF2B5EF4-FFF2-40B4-BE49-F238E27FC236}">
                  <a16:creationId xmlns:a16="http://schemas.microsoft.com/office/drawing/2014/main" id="{456E3EC6-99E2-4768-A687-F46B004E2A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8216" y="3924000"/>
              <a:ext cx="0" cy="108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62" name="Line 238">
              <a:extLst>
                <a:ext uri="{FF2B5EF4-FFF2-40B4-BE49-F238E27FC236}">
                  <a16:creationId xmlns:a16="http://schemas.microsoft.com/office/drawing/2014/main" id="{AFD8C232-D202-413A-B00C-0729307575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68216" y="3600000"/>
              <a:ext cx="0" cy="108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63" name="Text Box 230">
              <a:extLst>
                <a:ext uri="{FF2B5EF4-FFF2-40B4-BE49-F238E27FC236}">
                  <a16:creationId xmlns:a16="http://schemas.microsoft.com/office/drawing/2014/main" id="{270302F7-6588-483D-AFD5-5C26AECA2A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080" y="3708000"/>
              <a:ext cx="1224000" cy="216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  <a:latin typeface="+mn-ea"/>
                  <a:ea typeface="+mn-ea"/>
                </a:rPr>
                <a:t>控制门</a:t>
              </a:r>
              <a:r>
                <a:rPr lang="en-US" altLang="zh-CN" sz="1600" dirty="0">
                  <a:solidFill>
                    <a:schemeClr val="tx1"/>
                  </a:solidFill>
                  <a:latin typeface="+mn-ea"/>
                  <a:ea typeface="+mn-ea"/>
                </a:rPr>
                <a:t>(0/A)</a:t>
              </a:r>
              <a:endParaRPr lang="zh-CN" altLang="en-US" sz="1600" baseline="-180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464" name="Line 238">
              <a:extLst>
                <a:ext uri="{FF2B5EF4-FFF2-40B4-BE49-F238E27FC236}">
                  <a16:creationId xmlns:a16="http://schemas.microsoft.com/office/drawing/2014/main" id="{2AD821F7-4DFF-41D6-AFD6-0922D092AE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6080" y="3816000"/>
              <a:ext cx="0" cy="216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65" name="Line 238">
              <a:extLst>
                <a:ext uri="{FF2B5EF4-FFF2-40B4-BE49-F238E27FC236}">
                  <a16:creationId xmlns:a16="http://schemas.microsoft.com/office/drawing/2014/main" id="{4FDE036E-9015-4E2B-87AF-5921EE6DDA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72216" y="4284000"/>
              <a:ext cx="0" cy="288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66" name="Line 238">
              <a:extLst>
                <a:ext uri="{FF2B5EF4-FFF2-40B4-BE49-F238E27FC236}">
                  <a16:creationId xmlns:a16="http://schemas.microsoft.com/office/drawing/2014/main" id="{5998B9DD-6717-4803-9626-819F3DE0CA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72216" y="4824000"/>
              <a:ext cx="0" cy="180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67" name="Line 236">
              <a:extLst>
                <a:ext uri="{FF2B5EF4-FFF2-40B4-BE49-F238E27FC236}">
                  <a16:creationId xmlns:a16="http://schemas.microsoft.com/office/drawing/2014/main" id="{4470C74E-6BA3-41DA-AD12-A809485F98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6080" y="4392000"/>
              <a:ext cx="0" cy="180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68" name="Line 236">
              <a:extLst>
                <a:ext uri="{FF2B5EF4-FFF2-40B4-BE49-F238E27FC236}">
                  <a16:creationId xmlns:a16="http://schemas.microsoft.com/office/drawing/2014/main" id="{FB4310F0-7677-4AB8-B284-8624A5505E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12216" y="4356000"/>
              <a:ext cx="0" cy="216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headEnd type="none" w="sm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69" name="Rectangle 259">
              <a:extLst>
                <a:ext uri="{FF2B5EF4-FFF2-40B4-BE49-F238E27FC236}">
                  <a16:creationId xmlns:a16="http://schemas.microsoft.com/office/drawing/2014/main" id="{69430E4F-AFC0-4C0C-B241-313C28FCA8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0080" y="4582800"/>
              <a:ext cx="172800" cy="237600"/>
            </a:xfrm>
            <a:prstGeom prst="rect">
              <a:avLst/>
            </a:prstGeom>
            <a:solidFill>
              <a:srgbClr val="FFCCFF"/>
            </a:solidFill>
            <a:ln w="19050" algn="ctr">
              <a:noFill/>
              <a:miter lim="800000"/>
            </a:ln>
            <a:effectLst/>
          </p:spPr>
          <p:txBody>
            <a:bodyPr wrap="square" anchor="ctr">
              <a:noAutofit/>
            </a:bodyPr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70" name="Line 236">
              <a:extLst>
                <a:ext uri="{FF2B5EF4-FFF2-40B4-BE49-F238E27FC236}">
                  <a16:creationId xmlns:a16="http://schemas.microsoft.com/office/drawing/2014/main" id="{FBA9CD2D-ADF2-4E4C-8124-CD8D97E85B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20080" y="4572000"/>
              <a:ext cx="0" cy="2520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ash"/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71" name="Line 236">
              <a:extLst>
                <a:ext uri="{FF2B5EF4-FFF2-40B4-BE49-F238E27FC236}">
                  <a16:creationId xmlns:a16="http://schemas.microsoft.com/office/drawing/2014/main" id="{A24F2B17-C12A-433E-83E2-0CD13FC3CF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28000" y="4356000"/>
              <a:ext cx="0" cy="21600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cxnSp>
          <p:nvCxnSpPr>
            <p:cNvPr id="472" name="直接箭头连接符 61">
              <a:extLst>
                <a:ext uri="{FF2B5EF4-FFF2-40B4-BE49-F238E27FC236}">
                  <a16:creationId xmlns:a16="http://schemas.microsoft.com/office/drawing/2014/main" id="{73748856-C033-4EC6-B6C4-3099581652CF}"/>
                </a:ext>
              </a:extLst>
            </p:cNvPr>
            <p:cNvCxnSpPr/>
            <p:nvPr/>
          </p:nvCxnSpPr>
          <p:spPr bwMode="auto">
            <a:xfrm flipH="1" flipV="1">
              <a:off x="4680080" y="3816000"/>
              <a:ext cx="360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473" name="Text Box 242">
              <a:extLst>
                <a:ext uri="{FF2B5EF4-FFF2-40B4-BE49-F238E27FC236}">
                  <a16:creationId xmlns:a16="http://schemas.microsoft.com/office/drawing/2014/main" id="{77C6A98C-B69F-4048-BFFD-7467F40F95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0000" y="3708000"/>
              <a:ext cx="684000" cy="252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  <a:latin typeface="+mn-ea"/>
                  <a:ea typeface="+mn-ea"/>
                </a:rPr>
                <a:t>计数器</a:t>
              </a:r>
              <a:endParaRPr lang="en-US" altLang="zh-CN" sz="16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474" name="Text Box 247">
              <a:extLst>
                <a:ext uri="{FF2B5EF4-FFF2-40B4-BE49-F238E27FC236}">
                  <a16:creationId xmlns:a16="http://schemas.microsoft.com/office/drawing/2014/main" id="{325DC01E-4CEE-4B58-9435-215DE131C6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6000" y="4374000"/>
              <a:ext cx="360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+mn-ea"/>
                  <a:ea typeface="+mn-ea"/>
                </a:rPr>
                <a:t>&gt;&gt;1</a:t>
              </a:r>
              <a:endParaRPr lang="zh-CN" altLang="en-US" sz="16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cxnSp>
          <p:nvCxnSpPr>
            <p:cNvPr id="475" name="直接箭头连接符 61">
              <a:extLst>
                <a:ext uri="{FF2B5EF4-FFF2-40B4-BE49-F238E27FC236}">
                  <a16:creationId xmlns:a16="http://schemas.microsoft.com/office/drawing/2014/main" id="{DAF7E583-95F7-4BAA-8E46-22667D8B4690}"/>
                </a:ext>
              </a:extLst>
            </p:cNvPr>
            <p:cNvCxnSpPr/>
            <p:nvPr/>
          </p:nvCxnSpPr>
          <p:spPr bwMode="auto">
            <a:xfrm flipH="1">
              <a:off x="5904000" y="3816000"/>
              <a:ext cx="216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476" name="Line 236">
              <a:extLst>
                <a:ext uri="{FF2B5EF4-FFF2-40B4-BE49-F238E27FC236}">
                  <a16:creationId xmlns:a16="http://schemas.microsoft.com/office/drawing/2014/main" id="{BA4D4C98-DE77-4E4A-A3FF-20BB9F3F4D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40216" y="4464000"/>
              <a:ext cx="972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prstDash val="solid"/>
              <a:round/>
              <a:headEnd type="oval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77" name="Line 236">
              <a:extLst>
                <a:ext uri="{FF2B5EF4-FFF2-40B4-BE49-F238E27FC236}">
                  <a16:creationId xmlns:a16="http://schemas.microsoft.com/office/drawing/2014/main" id="{1C2E64BC-E679-4E3B-B359-3D42D2127B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16080" y="3960000"/>
              <a:ext cx="0" cy="14400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78" name="Line 238">
              <a:extLst>
                <a:ext uri="{FF2B5EF4-FFF2-40B4-BE49-F238E27FC236}">
                  <a16:creationId xmlns:a16="http://schemas.microsoft.com/office/drawing/2014/main" id="{B8A56C09-DDD6-494B-8740-A3039FEE65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000" y="3816000"/>
              <a:ext cx="684000" cy="0"/>
            </a:xfrm>
            <a:prstGeom prst="line">
              <a:avLst/>
            </a:prstGeom>
            <a:noFill/>
            <a:ln w="19050" cap="sq" cmpd="sng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79" name="Line 238">
              <a:extLst>
                <a:ext uri="{FF2B5EF4-FFF2-40B4-BE49-F238E27FC236}">
                  <a16:creationId xmlns:a16="http://schemas.microsoft.com/office/drawing/2014/main" id="{B056C434-F28C-4506-94F3-1B9F9F1F50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92080" y="3816000"/>
              <a:ext cx="0" cy="1062000"/>
            </a:xfrm>
            <a:prstGeom prst="line">
              <a:avLst/>
            </a:prstGeom>
            <a:noFill/>
            <a:ln w="19050" cap="sq" cmpd="sng">
              <a:solidFill>
                <a:schemeClr val="tx1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0" name="Line 238">
              <a:extLst>
                <a:ext uri="{FF2B5EF4-FFF2-40B4-BE49-F238E27FC236}">
                  <a16:creationId xmlns:a16="http://schemas.microsoft.com/office/drawing/2014/main" id="{286D3110-DF9B-4538-88CA-4E319785B8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592000" y="4878000"/>
              <a:ext cx="1080000" cy="0"/>
            </a:xfrm>
            <a:prstGeom prst="line">
              <a:avLst/>
            </a:prstGeom>
            <a:noFill/>
            <a:ln w="19050" cap="sq" cmpd="sng">
              <a:solidFill>
                <a:schemeClr val="tx1"/>
              </a:solidFill>
              <a:round/>
              <a:headEnd type="oval" w="sm" len="sm"/>
              <a:tailEnd type="none" w="med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1" name="Line 238">
              <a:extLst>
                <a:ext uri="{FF2B5EF4-FFF2-40B4-BE49-F238E27FC236}">
                  <a16:creationId xmlns:a16="http://schemas.microsoft.com/office/drawing/2014/main" id="{6CC2E3CD-093D-49AB-B883-FD73199CAD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60216" y="4824000"/>
              <a:ext cx="0" cy="18000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2" name="Line 236">
              <a:extLst>
                <a:ext uri="{FF2B5EF4-FFF2-40B4-BE49-F238E27FC236}">
                  <a16:creationId xmlns:a16="http://schemas.microsoft.com/office/drawing/2014/main" id="{71757F96-6BD5-446B-BA90-168E16AAC1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96080" y="4320000"/>
              <a:ext cx="972000" cy="72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sm" len="sm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3" name="Line 236">
              <a:extLst>
                <a:ext uri="{FF2B5EF4-FFF2-40B4-BE49-F238E27FC236}">
                  <a16:creationId xmlns:a16="http://schemas.microsoft.com/office/drawing/2014/main" id="{CE0583AD-558B-4436-935D-1C203985DE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0216" y="4464000"/>
              <a:ext cx="0" cy="108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prstDash val="solid"/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4" name="Text Box 247">
              <a:extLst>
                <a:ext uri="{FF2B5EF4-FFF2-40B4-BE49-F238E27FC236}">
                  <a16:creationId xmlns:a16="http://schemas.microsoft.com/office/drawing/2014/main" id="{37B9C64A-A6DE-46BE-BF7B-CA51800D42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6000" y="4248000"/>
              <a:ext cx="216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  <a:latin typeface="+mn-ea"/>
                  <a:ea typeface="+mn-ea"/>
                </a:rPr>
                <a:t>写</a:t>
              </a:r>
            </a:p>
          </p:txBody>
        </p:sp>
        <p:sp>
          <p:nvSpPr>
            <p:cNvPr id="485" name="Text Box 235">
              <a:extLst>
                <a:ext uri="{FF2B5EF4-FFF2-40B4-BE49-F238E27FC236}">
                  <a16:creationId xmlns:a16="http://schemas.microsoft.com/office/drawing/2014/main" id="{1A41E08A-046C-444B-8985-3466974071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2152" y="4356000"/>
              <a:ext cx="180000" cy="180000"/>
            </a:xfrm>
            <a:prstGeom prst="rect">
              <a:avLst/>
            </a:prstGeom>
            <a:noFill/>
            <a:ln w="12700">
              <a:noFill/>
              <a:prstDash val="sysDash"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+mn-ea"/>
                  <a:ea typeface="+mn-ea"/>
                </a:rPr>
                <a:t>Z</a:t>
              </a:r>
              <a:endParaRPr lang="en-US" altLang="zh-CN" sz="1600" baseline="-160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486" name="Text Box 235">
              <a:extLst>
                <a:ext uri="{FF2B5EF4-FFF2-40B4-BE49-F238E27FC236}">
                  <a16:creationId xmlns:a16="http://schemas.microsoft.com/office/drawing/2014/main" id="{3D439BD4-B14C-4588-91A0-1D553B8352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00368" y="4572000"/>
              <a:ext cx="288000" cy="2520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+mn-ea"/>
                  <a:ea typeface="+mn-ea"/>
                </a:rPr>
                <a:t>B</a:t>
              </a:r>
              <a:r>
                <a:rPr lang="zh-CN" altLang="en-US" sz="1600" baseline="-16000" dirty="0">
                  <a:solidFill>
                    <a:schemeClr val="tx1"/>
                  </a:solidFill>
                  <a:latin typeface="+mn-ea"/>
                  <a:ea typeface="+mn-ea"/>
                </a:rPr>
                <a:t>附</a:t>
              </a:r>
              <a:endParaRPr lang="en-US" altLang="zh-CN" sz="1600" baseline="-160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487" name="Line 236">
              <a:extLst>
                <a:ext uri="{FF2B5EF4-FFF2-40B4-BE49-F238E27FC236}">
                  <a16:creationId xmlns:a16="http://schemas.microsoft.com/office/drawing/2014/main" id="{D8794622-33F3-4497-ABB0-DF3BC4127E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79976" y="4356000"/>
              <a:ext cx="0" cy="216000"/>
            </a:xfrm>
            <a:prstGeom prst="line">
              <a:avLst/>
            </a:prstGeom>
            <a:noFill/>
            <a:ln w="12700">
              <a:solidFill>
                <a:srgbClr val="990099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8" name="Line 236">
              <a:extLst>
                <a:ext uri="{FF2B5EF4-FFF2-40B4-BE49-F238E27FC236}">
                  <a16:creationId xmlns:a16="http://schemas.microsoft.com/office/drawing/2014/main" id="{B9819339-E2C1-4D33-B4D7-C42195F430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40080" y="4140000"/>
              <a:ext cx="828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89" name="Text Box 232">
              <a:extLst>
                <a:ext uri="{FF2B5EF4-FFF2-40B4-BE49-F238E27FC236}">
                  <a16:creationId xmlns:a16="http://schemas.microsoft.com/office/drawing/2014/main" id="{2A47E16A-3816-4947-A742-5381810C9C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8080" y="4032000"/>
              <a:ext cx="288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+mn-ea"/>
                  <a:ea typeface="+mn-ea"/>
                </a:rPr>
                <a:t>±</a:t>
              </a:r>
              <a:endParaRPr lang="zh-CN" altLang="en-US" sz="16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490" name="Line 236">
              <a:extLst>
                <a:ext uri="{FF2B5EF4-FFF2-40B4-BE49-F238E27FC236}">
                  <a16:creationId xmlns:a16="http://schemas.microsoft.com/office/drawing/2014/main" id="{3282C412-83D5-48B5-9304-14733531F6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16080" y="4428000"/>
              <a:ext cx="756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91" name="Text Box 235">
              <a:extLst>
                <a:ext uri="{FF2B5EF4-FFF2-40B4-BE49-F238E27FC236}">
                  <a16:creationId xmlns:a16="http://schemas.microsoft.com/office/drawing/2014/main" id="{2A500470-E4C1-460F-BEFC-108B7E9EE1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4016" y="3960000"/>
              <a:ext cx="396000" cy="180000"/>
            </a:xfrm>
            <a:prstGeom prst="rect">
              <a:avLst/>
            </a:prstGeom>
            <a:noFill/>
            <a:ln w="12700">
              <a:noFill/>
              <a:prstDash val="sysDash"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+mn-ea"/>
                  <a:ea typeface="+mn-ea"/>
                </a:rPr>
                <a:t>C</a:t>
              </a:r>
              <a:r>
                <a:rPr lang="en-US" altLang="zh-CN" sz="1600" baseline="-16000" dirty="0">
                  <a:solidFill>
                    <a:schemeClr val="tx1"/>
                  </a:solidFill>
                  <a:latin typeface="+mn-ea"/>
                  <a:ea typeface="+mn-ea"/>
                </a:rPr>
                <a:t>n-1</a:t>
              </a:r>
            </a:p>
          </p:txBody>
        </p:sp>
        <p:sp>
          <p:nvSpPr>
            <p:cNvPr id="492" name="Line 236">
              <a:extLst>
                <a:ext uri="{FF2B5EF4-FFF2-40B4-BE49-F238E27FC236}">
                  <a16:creationId xmlns:a16="http://schemas.microsoft.com/office/drawing/2014/main" id="{A1D9E219-0A0E-4303-AE1C-8E2470F3A1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72080" y="4176000"/>
              <a:ext cx="342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93" name="梯形 492">
              <a:extLst>
                <a:ext uri="{FF2B5EF4-FFF2-40B4-BE49-F238E27FC236}">
                  <a16:creationId xmlns:a16="http://schemas.microsoft.com/office/drawing/2014/main" id="{3D8EC843-98DA-4F39-8E0D-9A01F7A77D72}"/>
                </a:ext>
              </a:extLst>
            </p:cNvPr>
            <p:cNvSpPr/>
            <p:nvPr/>
          </p:nvSpPr>
          <p:spPr bwMode="auto">
            <a:xfrm rot="10800000">
              <a:off x="3024216" y="4032000"/>
              <a:ext cx="1188000" cy="252000"/>
            </a:xfrm>
            <a:prstGeom prst="trapezoid">
              <a:avLst>
                <a:gd name="adj" fmla="val 61278"/>
              </a:avLst>
            </a:prstGeom>
            <a:solidFill>
              <a:schemeClr val="bg1"/>
            </a:solidFill>
            <a:ln w="15875">
              <a:solidFill>
                <a:schemeClr val="tx1"/>
              </a:solidFill>
              <a:round/>
            </a:ln>
          </p:spPr>
          <p:txBody>
            <a:bodyPr lIns="0" tIns="10800" rIns="0" rtlCol="0" anchor="ctr"/>
            <a:lstStyle/>
            <a:p>
              <a:pPr algn="ctr">
                <a:lnSpc>
                  <a:spcPct val="90000"/>
                </a:lnSpc>
              </a:pPr>
              <a:endParaRPr lang="zh-CN" altLang="en-US" sz="1800" dirty="0">
                <a:latin typeface="+mn-ea"/>
                <a:ea typeface="+mn-ea"/>
              </a:endParaRPr>
            </a:p>
          </p:txBody>
        </p:sp>
        <p:sp>
          <p:nvSpPr>
            <p:cNvPr id="494" name="Text Box 235">
              <a:extLst>
                <a:ext uri="{FF2B5EF4-FFF2-40B4-BE49-F238E27FC236}">
                  <a16:creationId xmlns:a16="http://schemas.microsoft.com/office/drawing/2014/main" id="{8BC8BDC6-C37B-47E1-A826-3EBB98A5F2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368" y="4032000"/>
              <a:ext cx="900000" cy="252000"/>
            </a:xfrm>
            <a:prstGeom prst="rect">
              <a:avLst/>
            </a:prstGeom>
            <a:noFill/>
            <a:ln w="12700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  <a:latin typeface="+mn-ea"/>
                  <a:ea typeface="+mn-ea"/>
                </a:rPr>
                <a:t>加减法器</a:t>
              </a:r>
              <a:endParaRPr lang="en-US" altLang="zh-CN" sz="1600" baseline="-160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495" name="Text Box 235">
              <a:extLst>
                <a:ext uri="{FF2B5EF4-FFF2-40B4-BE49-F238E27FC236}">
                  <a16:creationId xmlns:a16="http://schemas.microsoft.com/office/drawing/2014/main" id="{1247DAEB-CEEF-44FA-BECA-5753077217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4080" y="4212000"/>
              <a:ext cx="396000" cy="180000"/>
            </a:xfrm>
            <a:prstGeom prst="rect">
              <a:avLst/>
            </a:prstGeom>
            <a:noFill/>
            <a:ln w="12700">
              <a:noFill/>
              <a:prstDash val="sysDash"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+mn-ea"/>
                  <a:ea typeface="+mn-ea"/>
                </a:rPr>
                <a:t>Z</a:t>
              </a:r>
              <a:r>
                <a:rPr lang="en-US" altLang="zh-CN" sz="1600" baseline="-16000" dirty="0">
                  <a:solidFill>
                    <a:schemeClr val="tx1"/>
                  </a:solidFill>
                  <a:latin typeface="+mn-ea"/>
                  <a:ea typeface="+mn-ea"/>
                </a:rPr>
                <a:t>n-1</a:t>
              </a:r>
            </a:p>
          </p:txBody>
        </p:sp>
        <p:sp>
          <p:nvSpPr>
            <p:cNvPr id="496" name="Text Box 239">
              <a:extLst>
                <a:ext uri="{FF2B5EF4-FFF2-40B4-BE49-F238E27FC236}">
                  <a16:creationId xmlns:a16="http://schemas.microsoft.com/office/drawing/2014/main" id="{24EE4ECC-24AF-4E34-9BBA-81B61C2C62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8000" y="4104000"/>
              <a:ext cx="936000" cy="252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dirty="0">
                  <a:solidFill>
                    <a:schemeClr val="tx1"/>
                  </a:solidFill>
                  <a:latin typeface="+mn-ea"/>
                  <a:ea typeface="+mn-ea"/>
                </a:rPr>
                <a:t>控制逻辑</a:t>
              </a:r>
              <a:endParaRPr lang="zh-CN" altLang="en-US" sz="1600" baseline="-180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497" name="Line 236">
              <a:extLst>
                <a:ext uri="{FF2B5EF4-FFF2-40B4-BE49-F238E27FC236}">
                  <a16:creationId xmlns:a16="http://schemas.microsoft.com/office/drawing/2014/main" id="{7882A4DF-A36F-4845-85E5-16390F582F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040000" y="3816000"/>
              <a:ext cx="288000" cy="288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98" name="Line 236">
              <a:extLst>
                <a:ext uri="{FF2B5EF4-FFF2-40B4-BE49-F238E27FC236}">
                  <a16:creationId xmlns:a16="http://schemas.microsoft.com/office/drawing/2014/main" id="{A92CC23C-D5EB-4FC1-A5A1-1ABAC712D0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11976" y="4464000"/>
              <a:ext cx="360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499" name="Line 236">
              <a:extLst>
                <a:ext uri="{FF2B5EF4-FFF2-40B4-BE49-F238E27FC236}">
                  <a16:creationId xmlns:a16="http://schemas.microsoft.com/office/drawing/2014/main" id="{456E9882-0678-438F-8856-F68CC71B2C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1976" y="4464000"/>
              <a:ext cx="0" cy="108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prstDash val="solid"/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500" name="组合 499">
              <a:extLst>
                <a:ext uri="{FF2B5EF4-FFF2-40B4-BE49-F238E27FC236}">
                  <a16:creationId xmlns:a16="http://schemas.microsoft.com/office/drawing/2014/main" id="{9EE68CF2-EA8F-4119-B16D-018265F0C228}"/>
                </a:ext>
              </a:extLst>
            </p:cNvPr>
            <p:cNvGrpSpPr/>
            <p:nvPr/>
          </p:nvGrpSpPr>
          <p:grpSpPr>
            <a:xfrm>
              <a:off x="2664080" y="4500000"/>
              <a:ext cx="360000" cy="144000"/>
              <a:chOff x="6804000" y="4644000"/>
              <a:chExt cx="360000" cy="144000"/>
            </a:xfrm>
          </p:grpSpPr>
          <p:sp>
            <p:nvSpPr>
              <p:cNvPr id="513" name="梯形 512">
                <a:extLst>
                  <a:ext uri="{FF2B5EF4-FFF2-40B4-BE49-F238E27FC236}">
                    <a16:creationId xmlns:a16="http://schemas.microsoft.com/office/drawing/2014/main" id="{14DFF934-DE99-4ACD-BC3E-0D06427FE476}"/>
                  </a:ext>
                </a:extLst>
              </p:cNvPr>
              <p:cNvSpPr/>
              <p:nvPr/>
            </p:nvSpPr>
            <p:spPr bwMode="auto">
              <a:xfrm rot="10800000">
                <a:off x="6804000" y="4644000"/>
                <a:ext cx="360000" cy="144000"/>
              </a:xfrm>
              <a:prstGeom prst="trapezoid">
                <a:avLst>
                  <a:gd name="adj" fmla="val 44473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lIns="0" tIns="10800" rIns="0" rtlCol="0" anchor="ctr"/>
              <a:lstStyle/>
              <a:p>
                <a:pPr algn="ctr">
                  <a:lnSpc>
                    <a:spcPct val="90000"/>
                  </a:lnSpc>
                </a:pPr>
                <a:endParaRPr lang="zh-CN" altLang="en-US" sz="1800" dirty="0"/>
              </a:p>
            </p:txBody>
          </p:sp>
          <p:sp>
            <p:nvSpPr>
              <p:cNvPr id="514" name="Text Box 235">
                <a:extLst>
                  <a:ext uri="{FF2B5EF4-FFF2-40B4-BE49-F238E27FC236}">
                    <a16:creationId xmlns:a16="http://schemas.microsoft.com/office/drawing/2014/main" id="{055B8FB0-4E1D-4C55-A77C-AEFD30CECE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840000" y="4644000"/>
                <a:ext cx="288000" cy="144000"/>
              </a:xfrm>
              <a:prstGeom prst="rect">
                <a:avLst/>
              </a:prstGeom>
              <a:noFill/>
              <a:ln w="12700">
                <a:noFill/>
                <a:prstDash val="sysDash"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dirty="0">
                    <a:solidFill>
                      <a:schemeClr val="tx1"/>
                    </a:solidFill>
                    <a:latin typeface="+mn-ea"/>
                    <a:ea typeface="+mn-ea"/>
                  </a:rPr>
                  <a:t>0</a:t>
                </a:r>
                <a:r>
                  <a:rPr lang="en-US" altLang="zh-CN" sz="1400" baseline="-18000" dirty="0">
                    <a:solidFill>
                      <a:schemeClr val="tx1"/>
                    </a:solidFill>
                    <a:latin typeface="+mn-ea"/>
                    <a:ea typeface="+mn-ea"/>
                  </a:rPr>
                  <a:t> </a:t>
                </a:r>
                <a:r>
                  <a:rPr lang="en-US" altLang="zh-CN" sz="1400" dirty="0">
                    <a:solidFill>
                      <a:schemeClr val="tx1"/>
                    </a:solidFill>
                    <a:latin typeface="+mn-ea"/>
                    <a:ea typeface="+mn-ea"/>
                  </a:rPr>
                  <a:t>1</a:t>
                </a:r>
                <a:endParaRPr lang="en-US" altLang="zh-CN" sz="1400" baseline="-1600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</p:grpSp>
        <p:sp>
          <p:nvSpPr>
            <p:cNvPr id="501" name="Line 236">
              <a:extLst>
                <a:ext uri="{FF2B5EF4-FFF2-40B4-BE49-F238E27FC236}">
                  <a16:creationId xmlns:a16="http://schemas.microsoft.com/office/drawing/2014/main" id="{C5B25664-FED6-4AC8-A64F-0708C42943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88080" y="4572000"/>
              <a:ext cx="108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502" name="直接箭头连接符 61">
              <a:extLst>
                <a:ext uri="{FF2B5EF4-FFF2-40B4-BE49-F238E27FC236}">
                  <a16:creationId xmlns:a16="http://schemas.microsoft.com/office/drawing/2014/main" id="{B1F2D430-CB0C-4FE6-9055-D69EFCE2FD7C}"/>
                </a:ext>
              </a:extLst>
            </p:cNvPr>
            <p:cNvCxnSpPr/>
            <p:nvPr/>
          </p:nvCxnSpPr>
          <p:spPr bwMode="auto">
            <a:xfrm>
              <a:off x="2772080" y="4176000"/>
              <a:ext cx="0" cy="32400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503" name="直接箭头连接符 61">
              <a:extLst>
                <a:ext uri="{FF2B5EF4-FFF2-40B4-BE49-F238E27FC236}">
                  <a16:creationId xmlns:a16="http://schemas.microsoft.com/office/drawing/2014/main" id="{CB81AC9F-B042-436F-A12E-DB518E285DB6}"/>
                </a:ext>
              </a:extLst>
            </p:cNvPr>
            <p:cNvCxnSpPr/>
            <p:nvPr/>
          </p:nvCxnSpPr>
          <p:spPr bwMode="auto">
            <a:xfrm>
              <a:off x="2880080" y="4644000"/>
              <a:ext cx="0" cy="7200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504" name="Line 236">
              <a:extLst>
                <a:ext uri="{FF2B5EF4-FFF2-40B4-BE49-F238E27FC236}">
                  <a16:creationId xmlns:a16="http://schemas.microsoft.com/office/drawing/2014/main" id="{E5017A3A-72AB-4E2B-B963-8CED2FE52E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080" y="4716000"/>
              <a:ext cx="28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olid"/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505" name="直接箭头连接符 61">
              <a:extLst>
                <a:ext uri="{FF2B5EF4-FFF2-40B4-BE49-F238E27FC236}">
                  <a16:creationId xmlns:a16="http://schemas.microsoft.com/office/drawing/2014/main" id="{2F11358A-A620-4C53-8E58-3F34D940062A}"/>
                </a:ext>
              </a:extLst>
            </p:cNvPr>
            <p:cNvCxnSpPr/>
            <p:nvPr/>
          </p:nvCxnSpPr>
          <p:spPr bwMode="auto">
            <a:xfrm>
              <a:off x="2916080" y="4428000"/>
              <a:ext cx="0" cy="7200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506" name="Text Box 213">
              <a:extLst>
                <a:ext uri="{FF2B5EF4-FFF2-40B4-BE49-F238E27FC236}">
                  <a16:creationId xmlns:a16="http://schemas.microsoft.com/office/drawing/2014/main" id="{75657E64-209D-468A-A639-DFD71066079F}"/>
                </a:ext>
              </a:extLst>
            </p:cNvPr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6047864" y="4032000"/>
              <a:ext cx="144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>
                  <a:solidFill>
                    <a:schemeClr val="tx1"/>
                  </a:solidFill>
                  <a:highlight>
                    <a:srgbClr val="FFFF00"/>
                  </a:highlight>
                  <a:latin typeface="宋体" panose="02010600030101010101" pitchFamily="2" charset="-122"/>
                  <a:cs typeface="Arial Unicode MS" panose="020B0604020202020204" charset="-122"/>
                </a:rPr>
                <a:t>2</a:t>
              </a:r>
            </a:p>
          </p:txBody>
        </p:sp>
        <p:sp>
          <p:nvSpPr>
            <p:cNvPr id="507" name="Text Box 232">
              <a:extLst>
                <a:ext uri="{FF2B5EF4-FFF2-40B4-BE49-F238E27FC236}">
                  <a16:creationId xmlns:a16="http://schemas.microsoft.com/office/drawing/2014/main" id="{4A3C50CF-CFC7-4BF7-845D-6066304407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91864" y="4104000"/>
              <a:ext cx="252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+mn-ea"/>
                  <a:ea typeface="+mn-ea"/>
                </a:rPr>
                <a:t>op</a:t>
              </a:r>
            </a:p>
          </p:txBody>
        </p:sp>
        <p:cxnSp>
          <p:nvCxnSpPr>
            <p:cNvPr id="508" name="直接箭头连接符 61">
              <a:extLst>
                <a:ext uri="{FF2B5EF4-FFF2-40B4-BE49-F238E27FC236}">
                  <a16:creationId xmlns:a16="http://schemas.microsoft.com/office/drawing/2014/main" id="{7260C01B-FCA0-4E42-82A9-BCE041D33ECC}"/>
                </a:ext>
              </a:extLst>
            </p:cNvPr>
            <p:cNvCxnSpPr/>
            <p:nvPr/>
          </p:nvCxnSpPr>
          <p:spPr bwMode="auto">
            <a:xfrm flipH="1">
              <a:off x="5904000" y="4210360"/>
              <a:ext cx="288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509" name="Text Box 232">
              <a:extLst>
                <a:ext uri="{FF2B5EF4-FFF2-40B4-BE49-F238E27FC236}">
                  <a16:creationId xmlns:a16="http://schemas.microsoft.com/office/drawing/2014/main" id="{FDD50125-0A6B-4CA0-AC80-29C8BFC31E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0000" y="3708000"/>
              <a:ext cx="36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dirty="0">
                  <a:solidFill>
                    <a:schemeClr val="tx1"/>
                  </a:solidFill>
                  <a:latin typeface="+mn-ea"/>
                  <a:ea typeface="+mn-ea"/>
                </a:rPr>
                <a:t>CLK</a:t>
              </a:r>
            </a:p>
          </p:txBody>
        </p:sp>
        <p:cxnSp>
          <p:nvCxnSpPr>
            <p:cNvPr id="510" name="直接箭头连接符 509">
              <a:extLst>
                <a:ext uri="{FF2B5EF4-FFF2-40B4-BE49-F238E27FC236}">
                  <a16:creationId xmlns:a16="http://schemas.microsoft.com/office/drawing/2014/main" id="{70C78AFA-267B-4BD7-B04C-F1BEDD5C956A}"/>
                </a:ext>
              </a:extLst>
            </p:cNvPr>
            <p:cNvCxnSpPr/>
            <p:nvPr>
              <p:custDataLst>
                <p:tags r:id="rId2"/>
              </p:custDataLst>
            </p:nvPr>
          </p:nvCxnSpPr>
          <p:spPr bwMode="auto">
            <a:xfrm>
              <a:off x="6047864" y="4176000"/>
              <a:ext cx="72000" cy="71755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511" name="Line 236">
              <a:extLst>
                <a:ext uri="{FF2B5EF4-FFF2-40B4-BE49-F238E27FC236}">
                  <a16:creationId xmlns:a16="http://schemas.microsoft.com/office/drawing/2014/main" id="{008D2950-015E-4F3A-845D-B8D50426E8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96080" y="4212000"/>
              <a:ext cx="1872000" cy="252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sm" len="sm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512" name="Line 236">
              <a:extLst>
                <a:ext uri="{FF2B5EF4-FFF2-40B4-BE49-F238E27FC236}">
                  <a16:creationId xmlns:a16="http://schemas.microsoft.com/office/drawing/2014/main" id="{34C0B8AF-96DB-4CCF-91BF-40F1FF2EFF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96080" y="4464000"/>
              <a:ext cx="0" cy="10800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515" name="线形标注 2 300">
            <a:extLst>
              <a:ext uri="{FF2B5EF4-FFF2-40B4-BE49-F238E27FC236}">
                <a16:creationId xmlns:a16="http://schemas.microsoft.com/office/drawing/2014/main" id="{489A37DC-230A-4BFA-AF96-CDDC62005040}"/>
              </a:ext>
            </a:extLst>
          </p:cNvPr>
          <p:cNvSpPr/>
          <p:nvPr/>
        </p:nvSpPr>
        <p:spPr bwMode="auto">
          <a:xfrm>
            <a:off x="7380312" y="4437112"/>
            <a:ext cx="1548000" cy="504000"/>
          </a:xfrm>
          <a:prstGeom prst="borderCallout2">
            <a:avLst>
              <a:gd name="adj1" fmla="val 52485"/>
              <a:gd name="adj2" fmla="val 848"/>
              <a:gd name="adj3" fmla="val 51186"/>
              <a:gd name="adj4" fmla="val -11065"/>
              <a:gd name="adj5" fmla="val -103065"/>
              <a:gd name="adj6" fmla="val -56818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36000" tIns="18000" rIns="36000" bIns="18000" numCol="1" rtlCol="0" anchor="t" anchorCtr="0" compatLnSpc="1"/>
          <a:lstStyle/>
          <a:p>
            <a:pPr>
              <a:lnSpc>
                <a:spcPct val="90000"/>
              </a:lnSpc>
            </a:pPr>
            <a:r>
              <a:rPr lang="zh-CN" altLang="en-US" sz="1600" b="1" dirty="0">
                <a:latin typeface="宋体" panose="02010600030101010101" pitchFamily="2" charset="-122"/>
              </a:rPr>
              <a:t>＝减法</a:t>
            </a:r>
            <a:r>
              <a:rPr lang="en-US" altLang="zh-CN" sz="1600" b="1" dirty="0">
                <a:latin typeface="宋体" panose="02010600030101010101" pitchFamily="2" charset="-122"/>
              </a:rPr>
              <a:t>+</a:t>
            </a:r>
            <a:r>
              <a:rPr lang="zh-CN" altLang="en-US" sz="1600" b="1" dirty="0">
                <a:latin typeface="宋体" panose="02010600030101010101" pitchFamily="2" charset="-122"/>
              </a:rPr>
              <a:t>逻辑</a:t>
            </a:r>
            <a:endParaRPr lang="en-US" altLang="zh-CN" sz="1600" b="1" dirty="0">
              <a:latin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1600" b="1" dirty="0">
                <a:latin typeface="宋体" panose="02010600030101010101" pitchFamily="2" charset="-122"/>
              </a:rPr>
              <a:t>    (</a:t>
            </a:r>
            <a:r>
              <a:rPr lang="zh-CN" altLang="en-US" sz="1600" b="1" dirty="0">
                <a:latin typeface="宋体" panose="02010600030101010101" pitchFamily="2" charset="-122"/>
              </a:rPr>
              <a:t>常</a:t>
            </a:r>
            <a:r>
              <a:rPr lang="en-US" altLang="zh-CN" sz="1600" b="1" dirty="0">
                <a:latin typeface="宋体" panose="02010600030101010101" pitchFamily="2" charset="-122"/>
              </a:rPr>
              <a:t>CU</a:t>
            </a:r>
            <a:r>
              <a:rPr lang="zh-CN" altLang="en-US" sz="1600" b="1" dirty="0">
                <a:latin typeface="宋体" panose="02010600030101010101" pitchFamily="2" charset="-122"/>
              </a:rPr>
              <a:t>实现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8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8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8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8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8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6"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5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t>28</a:t>
            </a:fld>
            <a:endParaRPr lang="en-US" altLang="zh-CN" dirty="0"/>
          </a:p>
        </p:txBody>
      </p:sp>
      <p:sp>
        <p:nvSpPr>
          <p:cNvPr id="132" name="AutoShape 50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0DBE7C6B-0D7D-42E3-8347-276D7EBF17EC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2988518" y="652445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" name="Text Box 5">
            <a:extLst>
              <a:ext uri="{FF2B5EF4-FFF2-40B4-BE49-F238E27FC236}">
                <a16:creationId xmlns:a16="http://schemas.microsoft.com/office/drawing/2014/main" id="{85D94F43-1055-43D2-B37D-0911AE5824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000" y="332740"/>
            <a:ext cx="6491322" cy="6233438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CPU</a:t>
            </a: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的组成：     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任务：</a:t>
            </a:r>
            <a:r>
              <a: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</a:rPr>
              <a:t>实现</a:t>
            </a:r>
            <a:r>
              <a:rPr lang="zh-CN" altLang="en-US" sz="1600" b="1" dirty="0">
                <a:latin typeface="宋体" panose="02010600030101010101" pitchFamily="2" charset="-122"/>
              </a:rPr>
              <a:t>程序的执行</a:t>
            </a:r>
            <a:r>
              <a:rPr lang="en-US" altLang="zh-CN" sz="1600" b="1" dirty="0">
                <a:latin typeface="宋体" panose="02010600030101010101" pitchFamily="2" charset="-122"/>
              </a:rPr>
              <a:t>[</a:t>
            </a:r>
            <a:r>
              <a:rPr lang="zh-CN" altLang="en-US" sz="1600" b="1" dirty="0">
                <a:latin typeface="宋体" panose="02010600030101010101" pitchFamily="2" charset="-122"/>
              </a:rPr>
              <a:t>工作方式</a:t>
            </a:r>
            <a:r>
              <a:rPr lang="en-US" altLang="zh-CN" sz="1600" b="1" dirty="0">
                <a:latin typeface="宋体" panose="02010600030101010101" pitchFamily="2" charset="-122"/>
              </a:rPr>
              <a:t>+ISA])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基本功能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基本组成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900"/>
              </a:spcBef>
            </a:pP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工作流程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工作原理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指令周期的组织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 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需求细化</a:t>
            </a:r>
            <a:r>
              <a:rPr lang="en-US" altLang="zh-CN" sz="1600" b="1" dirty="0">
                <a:latin typeface="宋体" panose="02010600030101010101" pitchFamily="2" charset="-122"/>
              </a:rPr>
              <a:t>&amp;</a:t>
            </a:r>
            <a:r>
              <a:rPr lang="zh-CN" altLang="en-US" sz="1600" b="1" dirty="0">
                <a:latin typeface="宋体" panose="02010600030101010101" pitchFamily="2" charset="-122"/>
              </a:rPr>
              <a:t>设计组织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指令执行的过程：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微操作的定时：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指令周期的组织：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数据通路、控制器、中断机构的组成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 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下页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2000" b="1" dirty="0">
              <a:latin typeface="宋体" panose="02010600030101010101" pitchFamily="2" charset="-122"/>
            </a:endParaRPr>
          </a:p>
        </p:txBody>
      </p:sp>
      <p:sp>
        <p:nvSpPr>
          <p:cNvPr id="134" name="Text Box 5">
            <a:extLst>
              <a:ext uri="{FF2B5EF4-FFF2-40B4-BE49-F238E27FC236}">
                <a16:creationId xmlns:a16="http://schemas.microsoft.com/office/drawing/2014/main" id="{620EEA42-E108-4258-B4ED-E22ED16FE3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688" y="692696"/>
            <a:ext cx="7303453" cy="5514040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 wrap="square" tIns="6480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latin typeface="宋体" panose="02010600030101010101" pitchFamily="2" charset="-122"/>
              </a:rPr>
              <a:t>  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zh-CN" altLang="en-US" sz="2000" b="1" dirty="0">
                <a:latin typeface="宋体" panose="02010600030101010101" pitchFamily="2" charset="-122"/>
              </a:rPr>
              <a:t>操作类</a:t>
            </a:r>
            <a:r>
              <a:rPr lang="en-US" altLang="zh-CN" sz="2000" b="1" dirty="0">
                <a:latin typeface="宋体" panose="02010600030101010101" pitchFamily="2" charset="-122"/>
              </a:rPr>
              <a:t>4</a:t>
            </a:r>
            <a:r>
              <a:rPr lang="zh-CN" altLang="en-US" sz="2000" b="1" dirty="0">
                <a:latin typeface="宋体" panose="02010600030101010101" pitchFamily="2" charset="-122"/>
              </a:rPr>
              <a:t>个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过程</a:t>
            </a:r>
            <a:r>
              <a:rPr lang="en-US" altLang="zh-CN" sz="1600" b="1" dirty="0">
                <a:latin typeface="宋体" panose="02010600030101010101" pitchFamily="2" charset="-122"/>
              </a:rPr>
              <a:t>/ISA/</a:t>
            </a:r>
            <a:r>
              <a:rPr lang="zh-CN" altLang="en-US" sz="1600" b="1" dirty="0">
                <a:latin typeface="宋体" panose="02010600030101010101" pitchFamily="2" charset="-122"/>
              </a:rPr>
              <a:t>中断处理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</a:rPr>
              <a:t>＋控制类</a:t>
            </a:r>
            <a:r>
              <a:rPr lang="en-US" altLang="zh-CN" sz="2000" b="1" dirty="0">
                <a:latin typeface="宋体" panose="02010600030101010101" pitchFamily="2" charset="-122"/>
              </a:rPr>
              <a:t>2</a:t>
            </a:r>
            <a:r>
              <a:rPr lang="zh-CN" altLang="en-US" sz="2000" b="1" dirty="0">
                <a:latin typeface="宋体" panose="02010600030101010101" pitchFamily="2" charset="-122"/>
              </a:rPr>
              <a:t>个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操作</a:t>
            </a:r>
            <a:r>
              <a:rPr lang="en-US" altLang="zh-CN" sz="1600" b="1" dirty="0"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</a:rPr>
              <a:t>时间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latin typeface="宋体" panose="02010600030101010101" pitchFamily="2" charset="-122"/>
              </a:rPr>
              <a:t>  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zh-CN" altLang="en-US" sz="2000" b="1" dirty="0">
                <a:latin typeface="宋体" panose="02010600030101010101" pitchFamily="2" charset="-122"/>
              </a:rPr>
              <a:t>数据通路＋</a:t>
            </a:r>
            <a:r>
              <a:rPr lang="en-US" altLang="zh-CN" sz="2000" b="1" dirty="0">
                <a:latin typeface="宋体" panose="02010600030101010101" pitchFamily="2" charset="-122"/>
              </a:rPr>
              <a:t>CU</a:t>
            </a:r>
            <a:r>
              <a:rPr lang="zh-CN" altLang="en-US" sz="2000" b="1" dirty="0">
                <a:latin typeface="宋体" panose="02010600030101010101" pitchFamily="2" charset="-122"/>
              </a:rPr>
              <a:t> 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900"/>
              </a:spcBef>
            </a:pP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循环地</a:t>
            </a:r>
            <a:r>
              <a:rPr lang="zh-CN" altLang="en-US" sz="2000" b="1" dirty="0">
                <a:latin typeface="宋体" panose="02010600030101010101" pitchFamily="2" charset="-122"/>
              </a:rPr>
              <a:t>执行指令＋检测</a:t>
            </a:r>
            <a:r>
              <a:rPr lang="en-US" altLang="zh-CN" sz="2000" b="1" dirty="0">
                <a:latin typeface="宋体" panose="02010600030101010101" pitchFamily="2" charset="-122"/>
              </a:rPr>
              <a:t>&amp;</a:t>
            </a:r>
            <a:r>
              <a:rPr lang="zh-CN" altLang="en-US" sz="2000" b="1" dirty="0">
                <a:latin typeface="宋体" panose="02010600030101010101" pitchFamily="2" charset="-122"/>
              </a:rPr>
              <a:t>响应异常</a:t>
            </a:r>
            <a:r>
              <a:rPr lang="en-US" altLang="zh-CN" sz="2000" b="1" dirty="0">
                <a:latin typeface="宋体" panose="02010600030101010101" pitchFamily="2" charset="-122"/>
              </a:rPr>
              <a:t>/</a:t>
            </a:r>
            <a:r>
              <a:rPr lang="zh-CN" altLang="en-US" sz="2000" b="1" dirty="0">
                <a:latin typeface="宋体" panose="02010600030101010101" pitchFamily="2" charset="-122"/>
              </a:rPr>
              <a:t>中断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</a:rPr>
              <a:t>  CU</a:t>
            </a:r>
            <a:r>
              <a:rPr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产生</a:t>
            </a:r>
            <a:r>
              <a:rPr lang="zh-CN" altLang="en-US" sz="2000" b="1" dirty="0">
                <a:latin typeface="宋体" panose="02010600030101010101" pitchFamily="2" charset="-122"/>
              </a:rPr>
              <a:t>工作流程的</a:t>
            </a:r>
            <a:r>
              <a:rPr lang="zh-CN" altLang="en-US" sz="2000" b="1" u="sng" dirty="0">
                <a:latin typeface="宋体" panose="02010600030101010101" pitchFamily="2" charset="-122"/>
              </a:rPr>
              <a:t>操作控制信号</a:t>
            </a:r>
            <a:r>
              <a:rPr lang="zh-CN" altLang="en-US" sz="2000" b="1" dirty="0">
                <a:latin typeface="宋体" panose="02010600030101010101" pitchFamily="2" charset="-122"/>
              </a:rPr>
              <a:t>，</a:t>
            </a:r>
            <a:r>
              <a:rPr lang="en-US" altLang="zh-CN" sz="2000" b="1" dirty="0">
                <a:latin typeface="宋体" panose="02010600030101010101" pitchFamily="2" charset="-122"/>
              </a:rPr>
              <a:t>DP</a:t>
            </a:r>
            <a:r>
              <a:rPr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实现</a:t>
            </a:r>
            <a:r>
              <a:rPr lang="zh-CN" altLang="en-US" sz="2000" b="1" dirty="0">
                <a:latin typeface="宋体" panose="02010600030101010101" pitchFamily="2" charset="-122"/>
              </a:rPr>
              <a:t>相应的</a:t>
            </a:r>
            <a:r>
              <a:rPr lang="zh-CN" altLang="en-US" sz="2000" b="1" u="sng" dirty="0">
                <a:latin typeface="宋体" panose="02010600030101010101" pitchFamily="2" charset="-122"/>
              </a:rPr>
              <a:t>操作功能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rgbClr val="0070C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  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取指</a:t>
            </a:r>
            <a:r>
              <a:rPr lang="en-US" altLang="zh-CN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&amp;</a:t>
            </a:r>
            <a:r>
              <a:rPr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执行阶段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lang="en-US" altLang="zh-CN" sz="2000" u="sng" dirty="0" err="1">
                <a:sym typeface="+mn-ea"/>
              </a:rPr>
              <a:t>μ</a:t>
            </a:r>
            <a:r>
              <a:rPr lang="en-US" altLang="zh-CN" sz="2000" b="1" u="sng" dirty="0" err="1">
                <a:latin typeface="宋体" panose="02010600030101010101" pitchFamily="2" charset="-122"/>
                <a:sym typeface="+mn-ea"/>
              </a:rPr>
              <a:t>OP</a:t>
            </a:r>
            <a:r>
              <a:rPr lang="zh-CN" altLang="en-US" sz="2000" b="1" u="sng" dirty="0">
                <a:latin typeface="宋体" panose="02010600030101010101" pitchFamily="2" charset="-122"/>
                <a:cs typeface="宋体" panose="02010600030101010101" pitchFamily="2" charset="-122"/>
              </a:rPr>
              <a:t>序列</a:t>
            </a:r>
            <a:r>
              <a:rPr lang="en-US" altLang="zh-CN" sz="2000" b="1" dirty="0">
                <a:latin typeface="宋体" panose="02010600030101010101" pitchFamily="2" charset="-122"/>
              </a:rPr>
              <a:t>    </a:t>
            </a:r>
            <a:r>
              <a:rPr lang="en-US" altLang="zh-CN" sz="1600" b="1" dirty="0">
                <a:latin typeface="宋体" panose="02010600030101010101" pitchFamily="2" charset="-122"/>
              </a:rPr>
              <a:t>←</a:t>
            </a:r>
            <a:r>
              <a: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译码阶段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无操作</a:t>
            </a:r>
            <a:endParaRPr lang="en-US" altLang="zh-CN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        基于</a:t>
            </a:r>
            <a:r>
              <a:rPr lang="zh-CN" altLang="en-US" sz="2000" b="1" u="sng" dirty="0">
                <a:latin typeface="宋体" panose="02010600030101010101" pitchFamily="2" charset="-122"/>
                <a:cs typeface="宋体" panose="02010600030101010101" pitchFamily="2" charset="-122"/>
              </a:rPr>
              <a:t>主时钟脉冲信号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sz="2000" b="1" dirty="0" err="1">
                <a:latin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2000" baseline="-18000" dirty="0" err="1"/>
              <a:t>μ</a:t>
            </a:r>
            <a:r>
              <a:rPr lang="en-US" altLang="zh-CN" sz="2000" b="1" baseline="-18000" dirty="0" err="1">
                <a:latin typeface="宋体" panose="02010600030101010101" pitchFamily="2" charset="-122"/>
                <a:cs typeface="宋体" panose="02010600030101010101" pitchFamily="2" charset="-122"/>
              </a:rPr>
              <a:t>OP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2000" b="1" dirty="0" err="1">
                <a:latin typeface="宋体" panose="02010600030101010101" pitchFamily="2" charset="-122"/>
                <a:cs typeface="宋体" panose="02010600030101010101" pitchFamily="2" charset="-122"/>
              </a:rPr>
              <a:t>kT</a:t>
            </a:r>
            <a:r>
              <a:rPr lang="en-US" altLang="zh-CN" sz="2000" b="1" baseline="-25000" dirty="0" err="1">
                <a:latin typeface="宋体" panose="02010600030101010101" pitchFamily="2" charset="-122"/>
                <a:cs typeface="宋体" panose="02010600030101010101" pitchFamily="2" charset="-122"/>
              </a:rPr>
              <a:t>C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基本</a:t>
            </a:r>
            <a:r>
              <a:rPr lang="en-US" altLang="zh-CN" sz="1600" dirty="0" err="1"/>
              <a:t>μ</a:t>
            </a:r>
            <a:r>
              <a:rPr lang="en-US" altLang="zh-CN" sz="1600" b="1" dirty="0" err="1">
                <a:latin typeface="宋体" panose="02010600030101010101" pitchFamily="2" charset="-122"/>
                <a:cs typeface="宋体" panose="02010600030101010101" pitchFamily="2" charset="-122"/>
              </a:rPr>
              <a:t>OP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k=1)</a:t>
            </a:r>
            <a:endParaRPr lang="zh-CN" altLang="en-US" sz="16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          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可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为</a:t>
            </a:r>
            <a:r>
              <a:rPr lang="zh-CN" altLang="en-US" sz="20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单个</a:t>
            </a:r>
            <a:r>
              <a:rPr lang="en-US" altLang="zh-CN" sz="20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0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多个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en-US" altLang="zh-CN" sz="2000" b="1" baseline="-25000" dirty="0">
                <a:latin typeface="宋体" panose="02010600030101010101" pitchFamily="2" charset="-122"/>
                <a:cs typeface="宋体" panose="02010600030101010101" pitchFamily="2" charset="-122"/>
              </a:rPr>
              <a:t>C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，可采用</a:t>
            </a:r>
            <a:r>
              <a:rPr lang="zh-CN" altLang="en-US" sz="20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串行</a:t>
            </a:r>
            <a:r>
              <a:rPr lang="en-US" altLang="zh-CN" sz="20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sz="2000" b="1" u="sng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流水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执行方式</a:t>
            </a:r>
          </a:p>
        </p:txBody>
      </p:sp>
      <p:grpSp>
        <p:nvGrpSpPr>
          <p:cNvPr id="135" name="组合 134">
            <a:extLst>
              <a:ext uri="{FF2B5EF4-FFF2-40B4-BE49-F238E27FC236}">
                <a16:creationId xmlns:a16="http://schemas.microsoft.com/office/drawing/2014/main" id="{A2F4F3CF-FB92-4DEB-8A1E-59962AE1E865}"/>
              </a:ext>
            </a:extLst>
          </p:cNvPr>
          <p:cNvGrpSpPr/>
          <p:nvPr/>
        </p:nvGrpSpPr>
        <p:grpSpPr>
          <a:xfrm>
            <a:off x="1980137" y="1664792"/>
            <a:ext cx="2952000" cy="1296000"/>
            <a:chOff x="5256000" y="2556000"/>
            <a:chExt cx="2952000" cy="1296000"/>
          </a:xfrm>
        </p:grpSpPr>
        <p:cxnSp>
          <p:nvCxnSpPr>
            <p:cNvPr id="136" name="直接箭头连接符 135">
              <a:extLst>
                <a:ext uri="{FF2B5EF4-FFF2-40B4-BE49-F238E27FC236}">
                  <a16:creationId xmlns:a16="http://schemas.microsoft.com/office/drawing/2014/main" id="{6511C542-7CB8-40F5-A259-780D3D86207D}"/>
                </a:ext>
              </a:extLst>
            </p:cNvPr>
            <p:cNvCxnSpPr/>
            <p:nvPr>
              <p:custDataLst>
                <p:tags r:id="rId95"/>
              </p:custDataLst>
            </p:nvPr>
          </p:nvCxnSpPr>
          <p:spPr bwMode="auto">
            <a:xfrm flipV="1">
              <a:off x="5579999" y="3240000"/>
              <a:ext cx="432000" cy="6120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37" name="直接箭头连接符 136">
              <a:extLst>
                <a:ext uri="{FF2B5EF4-FFF2-40B4-BE49-F238E27FC236}">
                  <a16:creationId xmlns:a16="http://schemas.microsoft.com/office/drawing/2014/main" id="{CE6D87E7-33ED-4C9B-BF80-5697731098AF}"/>
                </a:ext>
              </a:extLst>
            </p:cNvPr>
            <p:cNvCxnSpPr>
              <a:cxnSpLocks/>
            </p:cNvCxnSpPr>
            <p:nvPr>
              <p:custDataLst>
                <p:tags r:id="rId96"/>
              </p:custDataLst>
            </p:nvPr>
          </p:nvCxnSpPr>
          <p:spPr bwMode="auto">
            <a:xfrm>
              <a:off x="5256000" y="3743561"/>
              <a:ext cx="0" cy="10800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38" name="直接箭头连接符 137">
              <a:extLst>
                <a:ext uri="{FF2B5EF4-FFF2-40B4-BE49-F238E27FC236}">
                  <a16:creationId xmlns:a16="http://schemas.microsoft.com/office/drawing/2014/main" id="{A0355811-A7BA-4F76-8390-AF49A552E43F}"/>
                </a:ext>
              </a:extLst>
            </p:cNvPr>
            <p:cNvCxnSpPr>
              <a:cxnSpLocks/>
            </p:cNvCxnSpPr>
            <p:nvPr>
              <p:custDataLst>
                <p:tags r:id="rId97"/>
              </p:custDataLst>
            </p:nvPr>
          </p:nvCxnSpPr>
          <p:spPr bwMode="auto">
            <a:xfrm flipV="1">
              <a:off x="5256000" y="3851561"/>
              <a:ext cx="324000" cy="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139" name="Rectangle 274">
              <a:extLst>
                <a:ext uri="{FF2B5EF4-FFF2-40B4-BE49-F238E27FC236}">
                  <a16:creationId xmlns:a16="http://schemas.microsoft.com/office/drawing/2014/main" id="{A7BE4230-8481-41BC-A4A3-8110562ACB9C}"/>
                </a:ext>
              </a:extLst>
            </p:cNvPr>
            <p:cNvSpPr>
              <a:spLocks noChangeArrowheads="1"/>
            </p:cNvSpPr>
            <p:nvPr>
              <p:custDataLst>
                <p:tags r:id="rId98"/>
              </p:custDataLst>
            </p:nvPr>
          </p:nvSpPr>
          <p:spPr bwMode="auto">
            <a:xfrm>
              <a:off x="6588000" y="2556000"/>
              <a:ext cx="1548000" cy="75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952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0" name="Text Box 256">
              <a:extLst>
                <a:ext uri="{FF2B5EF4-FFF2-40B4-BE49-F238E27FC236}">
                  <a16:creationId xmlns:a16="http://schemas.microsoft.com/office/drawing/2014/main" id="{18AC2323-B971-457A-9686-1A008DEDD225}"/>
                </a:ext>
              </a:extLst>
            </p:cNvPr>
            <p:cNvSpPr txBox="1">
              <a:spLocks noChangeArrowheads="1"/>
            </p:cNvSpPr>
            <p:nvPr>
              <p:custDataLst>
                <p:tags r:id="rId99"/>
              </p:custDataLst>
            </p:nvPr>
          </p:nvSpPr>
          <p:spPr bwMode="auto">
            <a:xfrm>
              <a:off x="6660000" y="2880000"/>
              <a:ext cx="216000" cy="288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ID</a:t>
              </a:r>
            </a:p>
          </p:txBody>
        </p:sp>
        <p:sp>
          <p:nvSpPr>
            <p:cNvPr id="141" name="Text Box 257">
              <a:extLst>
                <a:ext uri="{FF2B5EF4-FFF2-40B4-BE49-F238E27FC236}">
                  <a16:creationId xmlns:a16="http://schemas.microsoft.com/office/drawing/2014/main" id="{DB1849AB-E2CE-46D2-83E7-C827F53FDBD0}"/>
                </a:ext>
              </a:extLst>
            </p:cNvPr>
            <p:cNvSpPr txBox="1">
              <a:spLocks noChangeArrowheads="1"/>
            </p:cNvSpPr>
            <p:nvPr>
              <p:custDataLst>
                <p:tags r:id="rId100"/>
              </p:custDataLst>
            </p:nvPr>
          </p:nvSpPr>
          <p:spPr bwMode="auto">
            <a:xfrm>
              <a:off x="6624000" y="2592000"/>
              <a:ext cx="1476000" cy="180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时序信号形成电路</a:t>
              </a:r>
            </a:p>
          </p:txBody>
        </p:sp>
        <p:sp>
          <p:nvSpPr>
            <p:cNvPr id="142" name="Text Box 258">
              <a:extLst>
                <a:ext uri="{FF2B5EF4-FFF2-40B4-BE49-F238E27FC236}">
                  <a16:creationId xmlns:a16="http://schemas.microsoft.com/office/drawing/2014/main" id="{C2B203F3-FF64-4275-9A3B-F43F1E98E7F1}"/>
                </a:ext>
              </a:extLst>
            </p:cNvPr>
            <p:cNvSpPr txBox="1">
              <a:spLocks noChangeArrowheads="1"/>
            </p:cNvSpPr>
            <p:nvPr>
              <p:custDataLst>
                <p:tags r:id="rId101"/>
              </p:custDataLst>
            </p:nvPr>
          </p:nvSpPr>
          <p:spPr bwMode="auto">
            <a:xfrm>
              <a:off x="7020000" y="2879849"/>
              <a:ext cx="936000" cy="396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 err="1"/>
                <a:t>μ</a:t>
              </a:r>
              <a:r>
                <a:rPr lang="en-US" altLang="zh-CN" sz="1400" b="1" dirty="0" err="1">
                  <a:latin typeface="宋体" panose="02010600030101010101" pitchFamily="2" charset="-122"/>
                </a:rPr>
                <a:t>OP</a:t>
              </a:r>
              <a:r>
                <a:rPr lang="zh-CN" altLang="en-US" sz="1400" b="1" dirty="0">
                  <a:latin typeface="宋体" panose="02010600030101010101" pitchFamily="2" charset="-122"/>
                </a:rPr>
                <a:t>控制信号形成电路</a:t>
              </a:r>
            </a:p>
          </p:txBody>
        </p:sp>
        <p:sp>
          <p:nvSpPr>
            <p:cNvPr id="143" name="Text Box 271">
              <a:extLst>
                <a:ext uri="{FF2B5EF4-FFF2-40B4-BE49-F238E27FC236}">
                  <a16:creationId xmlns:a16="http://schemas.microsoft.com/office/drawing/2014/main" id="{F8D6CA92-DF30-42A3-8CC2-0D7A2ED7E54B}"/>
                </a:ext>
              </a:extLst>
            </p:cNvPr>
            <p:cNvSpPr txBox="1">
              <a:spLocks noChangeArrowheads="1"/>
            </p:cNvSpPr>
            <p:nvPr>
              <p:custDataLst>
                <p:tags r:id="rId102"/>
              </p:custDataLst>
            </p:nvPr>
          </p:nvSpPr>
          <p:spPr bwMode="auto">
            <a:xfrm>
              <a:off x="7308000" y="3312000"/>
              <a:ext cx="432000" cy="10795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solidFill>
                    <a:srgbClr val="FF3399"/>
                  </a:solidFill>
                  <a:latin typeface="+mn-ea"/>
                  <a:ea typeface="+mn-ea"/>
                </a:rPr>
                <a:t>……</a:t>
              </a:r>
            </a:p>
          </p:txBody>
        </p:sp>
        <p:cxnSp>
          <p:nvCxnSpPr>
            <p:cNvPr id="144" name="直接箭头连接符 143">
              <a:extLst>
                <a:ext uri="{FF2B5EF4-FFF2-40B4-BE49-F238E27FC236}">
                  <a16:creationId xmlns:a16="http://schemas.microsoft.com/office/drawing/2014/main" id="{21B2E5D3-E8D8-4CD3-9286-CA2B3EAF9572}"/>
                </a:ext>
              </a:extLst>
            </p:cNvPr>
            <p:cNvCxnSpPr/>
            <p:nvPr>
              <p:custDataLst>
                <p:tags r:id="rId103"/>
              </p:custDataLst>
            </p:nvPr>
          </p:nvCxnSpPr>
          <p:spPr bwMode="auto">
            <a:xfrm>
              <a:off x="6876000" y="2916000"/>
              <a:ext cx="144145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45" name="直接箭头连接符 144">
              <a:extLst>
                <a:ext uri="{FF2B5EF4-FFF2-40B4-BE49-F238E27FC236}">
                  <a16:creationId xmlns:a16="http://schemas.microsoft.com/office/drawing/2014/main" id="{9A6D38B5-E452-4179-B241-59C7FDD740D0}"/>
                </a:ext>
              </a:extLst>
            </p:cNvPr>
            <p:cNvCxnSpPr/>
            <p:nvPr>
              <p:custDataLst>
                <p:tags r:id="rId104"/>
              </p:custDataLst>
            </p:nvPr>
          </p:nvCxnSpPr>
          <p:spPr bwMode="auto">
            <a:xfrm>
              <a:off x="6876000" y="3132000"/>
              <a:ext cx="144145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46" name="直接箭头连接符 145">
              <a:extLst>
                <a:ext uri="{FF2B5EF4-FFF2-40B4-BE49-F238E27FC236}">
                  <a16:creationId xmlns:a16="http://schemas.microsoft.com/office/drawing/2014/main" id="{923D490B-D804-4BB4-93D0-C2FE9D878366}"/>
                </a:ext>
              </a:extLst>
            </p:cNvPr>
            <p:cNvCxnSpPr/>
            <p:nvPr>
              <p:custDataLst>
                <p:tags r:id="rId105"/>
              </p:custDataLst>
            </p:nvPr>
          </p:nvCxnSpPr>
          <p:spPr bwMode="auto">
            <a:xfrm>
              <a:off x="7668900" y="2772000"/>
              <a:ext cx="0" cy="1080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47" name="直接箭头连接符 146">
              <a:extLst>
                <a:ext uri="{FF2B5EF4-FFF2-40B4-BE49-F238E27FC236}">
                  <a16:creationId xmlns:a16="http://schemas.microsoft.com/office/drawing/2014/main" id="{D47130AD-4BDF-4374-B15E-2D6795F88F77}"/>
                </a:ext>
              </a:extLst>
            </p:cNvPr>
            <p:cNvCxnSpPr/>
            <p:nvPr>
              <p:custDataLst>
                <p:tags r:id="rId106"/>
              </p:custDataLst>
            </p:nvPr>
          </p:nvCxnSpPr>
          <p:spPr bwMode="auto">
            <a:xfrm>
              <a:off x="7380610" y="2772000"/>
              <a:ext cx="0" cy="1080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148" name="Text Box 271">
              <a:extLst>
                <a:ext uri="{FF2B5EF4-FFF2-40B4-BE49-F238E27FC236}">
                  <a16:creationId xmlns:a16="http://schemas.microsoft.com/office/drawing/2014/main" id="{05C25301-4D8F-41DD-B271-0C6CAB35B23D}"/>
                </a:ext>
              </a:extLst>
            </p:cNvPr>
            <p:cNvSpPr txBox="1">
              <a:spLocks noChangeArrowheads="1"/>
            </p:cNvSpPr>
            <p:nvPr>
              <p:custDataLst>
                <p:tags r:id="rId107"/>
              </p:custDataLst>
            </p:nvPr>
          </p:nvSpPr>
          <p:spPr bwMode="auto">
            <a:xfrm>
              <a:off x="7416000" y="2772000"/>
              <a:ext cx="216000" cy="14478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solidFill>
                    <a:srgbClr val="C00000"/>
                  </a:solidFill>
                  <a:latin typeface="+mn-ea"/>
                  <a:ea typeface="+mn-ea"/>
                </a:rPr>
                <a:t>…</a:t>
              </a:r>
            </a:p>
          </p:txBody>
        </p:sp>
        <p:cxnSp>
          <p:nvCxnSpPr>
            <p:cNvPr id="149" name="直接箭头连接符 148">
              <a:extLst>
                <a:ext uri="{FF2B5EF4-FFF2-40B4-BE49-F238E27FC236}">
                  <a16:creationId xmlns:a16="http://schemas.microsoft.com/office/drawing/2014/main" id="{8161C0A2-93D6-4304-9B19-844B636E6117}"/>
                </a:ext>
              </a:extLst>
            </p:cNvPr>
            <p:cNvCxnSpPr/>
            <p:nvPr>
              <p:custDataLst>
                <p:tags r:id="rId108"/>
              </p:custDataLst>
            </p:nvPr>
          </p:nvCxnSpPr>
          <p:spPr bwMode="auto">
            <a:xfrm>
              <a:off x="6480000" y="3060000"/>
              <a:ext cx="180000" cy="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50" name="直接箭头连接符 149">
              <a:extLst>
                <a:ext uri="{FF2B5EF4-FFF2-40B4-BE49-F238E27FC236}">
                  <a16:creationId xmlns:a16="http://schemas.microsoft.com/office/drawing/2014/main" id="{53551189-0BCD-49F9-BD1E-7C298DDE5178}"/>
                </a:ext>
              </a:extLst>
            </p:cNvPr>
            <p:cNvCxnSpPr/>
            <p:nvPr>
              <p:custDataLst>
                <p:tags r:id="rId109"/>
              </p:custDataLst>
            </p:nvPr>
          </p:nvCxnSpPr>
          <p:spPr bwMode="auto">
            <a:xfrm flipH="1">
              <a:off x="7776000" y="3276000"/>
              <a:ext cx="635" cy="1080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51" name="直接箭头连接符 150">
              <a:extLst>
                <a:ext uri="{FF2B5EF4-FFF2-40B4-BE49-F238E27FC236}">
                  <a16:creationId xmlns:a16="http://schemas.microsoft.com/office/drawing/2014/main" id="{27BBDDDA-C0CD-4504-A271-0F8CD2339738}"/>
                </a:ext>
              </a:extLst>
            </p:cNvPr>
            <p:cNvCxnSpPr/>
            <p:nvPr>
              <p:custDataLst>
                <p:tags r:id="rId110"/>
              </p:custDataLst>
            </p:nvPr>
          </p:nvCxnSpPr>
          <p:spPr bwMode="auto">
            <a:xfrm>
              <a:off x="7272000" y="3276000"/>
              <a:ext cx="0" cy="1080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152" name="Text Box 271">
              <a:extLst>
                <a:ext uri="{FF2B5EF4-FFF2-40B4-BE49-F238E27FC236}">
                  <a16:creationId xmlns:a16="http://schemas.microsoft.com/office/drawing/2014/main" id="{72F22403-2F4C-49FD-A4F9-D8C1F959F2A7}"/>
                </a:ext>
              </a:extLst>
            </p:cNvPr>
            <p:cNvSpPr txBox="1">
              <a:spLocks noChangeArrowheads="1"/>
            </p:cNvSpPr>
            <p:nvPr>
              <p:custDataLst>
                <p:tags r:id="rId111"/>
              </p:custDataLst>
            </p:nvPr>
          </p:nvSpPr>
          <p:spPr bwMode="auto">
            <a:xfrm>
              <a:off x="6840000" y="2916000"/>
              <a:ext cx="144145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0" tIns="0" rIns="0" bIns="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latin typeface="+mn-ea"/>
                  <a:ea typeface="+mn-ea"/>
                </a:rPr>
                <a:t>…</a:t>
              </a:r>
            </a:p>
          </p:txBody>
        </p:sp>
        <p:cxnSp>
          <p:nvCxnSpPr>
            <p:cNvPr id="153" name="直接箭头连接符 152">
              <a:extLst>
                <a:ext uri="{FF2B5EF4-FFF2-40B4-BE49-F238E27FC236}">
                  <a16:creationId xmlns:a16="http://schemas.microsoft.com/office/drawing/2014/main" id="{2421C3E7-7431-4687-BC48-8155B4739B58}"/>
                </a:ext>
              </a:extLst>
            </p:cNvPr>
            <p:cNvCxnSpPr/>
            <p:nvPr>
              <p:custDataLst>
                <p:tags r:id="rId112"/>
              </p:custDataLst>
            </p:nvPr>
          </p:nvCxnSpPr>
          <p:spPr bwMode="auto">
            <a:xfrm flipH="1">
              <a:off x="7956000" y="3132000"/>
              <a:ext cx="252000" cy="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54" name="直接箭头连接符 153">
              <a:extLst>
                <a:ext uri="{FF2B5EF4-FFF2-40B4-BE49-F238E27FC236}">
                  <a16:creationId xmlns:a16="http://schemas.microsoft.com/office/drawing/2014/main" id="{3DBE4E20-ED68-405B-91BC-0C5423F42592}"/>
                </a:ext>
              </a:extLst>
            </p:cNvPr>
            <p:cNvCxnSpPr/>
            <p:nvPr>
              <p:custDataLst>
                <p:tags r:id="rId113"/>
              </p:custDataLst>
            </p:nvPr>
          </p:nvCxnSpPr>
          <p:spPr bwMode="auto">
            <a:xfrm flipH="1">
              <a:off x="6480000" y="2628000"/>
              <a:ext cx="144000" cy="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55" name="直接箭头连接符 154">
              <a:extLst>
                <a:ext uri="{FF2B5EF4-FFF2-40B4-BE49-F238E27FC236}">
                  <a16:creationId xmlns:a16="http://schemas.microsoft.com/office/drawing/2014/main" id="{AC8E0FAD-AF27-4CAD-866B-F940C4892A52}"/>
                </a:ext>
              </a:extLst>
            </p:cNvPr>
            <p:cNvCxnSpPr/>
            <p:nvPr>
              <p:custDataLst>
                <p:tags r:id="rId114"/>
              </p:custDataLst>
            </p:nvPr>
          </p:nvCxnSpPr>
          <p:spPr bwMode="auto">
            <a:xfrm flipH="1">
              <a:off x="6480000" y="2700000"/>
              <a:ext cx="144000" cy="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56" name="直接箭头连接符 117">
              <a:extLst>
                <a:ext uri="{FF2B5EF4-FFF2-40B4-BE49-F238E27FC236}">
                  <a16:creationId xmlns:a16="http://schemas.microsoft.com/office/drawing/2014/main" id="{6B9DFBE6-82D7-4030-9E7E-1AB7A7C3EABA}"/>
                </a:ext>
              </a:extLst>
            </p:cNvPr>
            <p:cNvCxnSpPr/>
            <p:nvPr>
              <p:custDataLst>
                <p:tags r:id="rId115"/>
              </p:custDataLst>
            </p:nvPr>
          </p:nvCxnSpPr>
          <p:spPr bwMode="auto">
            <a:xfrm>
              <a:off x="6012000" y="3240000"/>
              <a:ext cx="10080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</p:grpSp>
      <p:grpSp>
        <p:nvGrpSpPr>
          <p:cNvPr id="157" name="组合 156">
            <a:extLst>
              <a:ext uri="{FF2B5EF4-FFF2-40B4-BE49-F238E27FC236}">
                <a16:creationId xmlns:a16="http://schemas.microsoft.com/office/drawing/2014/main" id="{66FF2C70-8BE1-442F-8ADA-5750A986991F}"/>
              </a:ext>
            </a:extLst>
          </p:cNvPr>
          <p:cNvGrpSpPr/>
          <p:nvPr/>
        </p:nvGrpSpPr>
        <p:grpSpPr>
          <a:xfrm>
            <a:off x="1764137" y="1556792"/>
            <a:ext cx="4031999" cy="1584000"/>
            <a:chOff x="5040000" y="2448000"/>
            <a:chExt cx="4031999" cy="1584000"/>
          </a:xfrm>
        </p:grpSpPr>
        <p:sp>
          <p:nvSpPr>
            <p:cNvPr id="158" name="Text Box 333">
              <a:extLst>
                <a:ext uri="{FF2B5EF4-FFF2-40B4-BE49-F238E27FC236}">
                  <a16:creationId xmlns:a16="http://schemas.microsoft.com/office/drawing/2014/main" id="{925DA357-433A-4B94-8BA9-34E9C54061E3}"/>
                </a:ext>
              </a:extLst>
            </p:cNvPr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5688334" y="2736000"/>
              <a:ext cx="216000" cy="1116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vert="eaVert"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通路结构</a:t>
              </a:r>
            </a:p>
          </p:txBody>
        </p:sp>
        <p:grpSp>
          <p:nvGrpSpPr>
            <p:cNvPr id="159" name="组合 158">
              <a:extLst>
                <a:ext uri="{FF2B5EF4-FFF2-40B4-BE49-F238E27FC236}">
                  <a16:creationId xmlns:a16="http://schemas.microsoft.com/office/drawing/2014/main" id="{62A0CDF7-A7F0-4C8F-B143-E2CA39D78C14}"/>
                </a:ext>
              </a:extLst>
            </p:cNvPr>
            <p:cNvGrpSpPr/>
            <p:nvPr/>
          </p:nvGrpSpPr>
          <p:grpSpPr>
            <a:xfrm>
              <a:off x="5904000" y="2736000"/>
              <a:ext cx="575863" cy="468000"/>
              <a:chOff x="5904000" y="2626240"/>
              <a:chExt cx="575863" cy="468000"/>
            </a:xfrm>
          </p:grpSpPr>
          <p:sp>
            <p:nvSpPr>
              <p:cNvPr id="210" name="Rectangle 274">
                <a:extLst>
                  <a:ext uri="{FF2B5EF4-FFF2-40B4-BE49-F238E27FC236}">
                    <a16:creationId xmlns:a16="http://schemas.microsoft.com/office/drawing/2014/main" id="{A370F5FE-E250-40A2-B829-A3A2F515DECD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89"/>
                </p:custDataLst>
              </p:nvPr>
            </p:nvSpPr>
            <p:spPr bwMode="auto">
              <a:xfrm>
                <a:off x="5975863" y="2626240"/>
                <a:ext cx="504000" cy="468000"/>
              </a:xfrm>
              <a:prstGeom prst="rect">
                <a:avLst/>
              </a:prstGeom>
              <a:solidFill>
                <a:srgbClr val="CCFFFF">
                  <a:alpha val="80000"/>
                </a:srgbClr>
              </a:solidFill>
              <a:ln w="9525">
                <a:solidFill>
                  <a:schemeClr val="tx1"/>
                </a:solidFill>
                <a:prstDash val="sysDash"/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1" name="Text Box 276">
                <a:extLst>
                  <a:ext uri="{FF2B5EF4-FFF2-40B4-BE49-F238E27FC236}">
                    <a16:creationId xmlns:a16="http://schemas.microsoft.com/office/drawing/2014/main" id="{8BC05674-F7CB-4B73-89B5-2AC996A126F6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90"/>
                </p:custDataLst>
              </p:nvPr>
            </p:nvSpPr>
            <p:spPr bwMode="auto">
              <a:xfrm>
                <a:off x="6048379" y="2664339"/>
                <a:ext cx="396000" cy="180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PC</a:t>
                </a:r>
              </a:p>
            </p:txBody>
          </p:sp>
          <p:sp>
            <p:nvSpPr>
              <p:cNvPr id="212" name="Text Box 276">
                <a:extLst>
                  <a:ext uri="{FF2B5EF4-FFF2-40B4-BE49-F238E27FC236}">
                    <a16:creationId xmlns:a16="http://schemas.microsoft.com/office/drawing/2014/main" id="{1ABA23EC-BF34-430B-8126-4F461D5FA65C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91"/>
                </p:custDataLst>
              </p:nvPr>
            </p:nvSpPr>
            <p:spPr bwMode="auto">
              <a:xfrm>
                <a:off x="6048379" y="2880239"/>
                <a:ext cx="396000" cy="180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IR</a:t>
                </a:r>
              </a:p>
            </p:txBody>
          </p:sp>
          <p:cxnSp>
            <p:nvCxnSpPr>
              <p:cNvPr id="213" name="直接箭头连接符 212">
                <a:extLst>
                  <a:ext uri="{FF2B5EF4-FFF2-40B4-BE49-F238E27FC236}">
                    <a16:creationId xmlns:a16="http://schemas.microsoft.com/office/drawing/2014/main" id="{C50EAE3A-4347-45EF-9FBC-8637716BA2B0}"/>
                  </a:ext>
                </a:extLst>
              </p:cNvPr>
              <p:cNvCxnSpPr/>
              <p:nvPr>
                <p:custDataLst>
                  <p:tags r:id="rId92"/>
                </p:custDataLst>
              </p:nvPr>
            </p:nvCxnSpPr>
            <p:spPr bwMode="auto">
              <a:xfrm>
                <a:off x="5904000" y="2700000"/>
                <a:ext cx="144000" cy="635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214" name="直接箭头连接符 213">
                <a:extLst>
                  <a:ext uri="{FF2B5EF4-FFF2-40B4-BE49-F238E27FC236}">
                    <a16:creationId xmlns:a16="http://schemas.microsoft.com/office/drawing/2014/main" id="{7F40B4EA-8E22-46E2-80F3-920A05B1B042}"/>
                  </a:ext>
                </a:extLst>
              </p:cNvPr>
              <p:cNvCxnSpPr/>
              <p:nvPr>
                <p:custDataLst>
                  <p:tags r:id="rId93"/>
                </p:custDataLst>
              </p:nvPr>
            </p:nvCxnSpPr>
            <p:spPr bwMode="auto">
              <a:xfrm flipH="1" flipV="1">
                <a:off x="5904000" y="2808000"/>
                <a:ext cx="144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215" name="直接箭头连接符 214">
                <a:extLst>
                  <a:ext uri="{FF2B5EF4-FFF2-40B4-BE49-F238E27FC236}">
                    <a16:creationId xmlns:a16="http://schemas.microsoft.com/office/drawing/2014/main" id="{68F2385D-84B6-412E-853C-D81422754B88}"/>
                  </a:ext>
                </a:extLst>
              </p:cNvPr>
              <p:cNvCxnSpPr/>
              <p:nvPr>
                <p:custDataLst>
                  <p:tags r:id="rId94"/>
                </p:custDataLst>
              </p:nvPr>
            </p:nvCxnSpPr>
            <p:spPr bwMode="auto">
              <a:xfrm>
                <a:off x="5904000" y="2952000"/>
                <a:ext cx="144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</p:grpSp>
        <p:sp>
          <p:nvSpPr>
            <p:cNvPr id="160" name="Rectangle 299">
              <a:extLst>
                <a:ext uri="{FF2B5EF4-FFF2-40B4-BE49-F238E27FC236}">
                  <a16:creationId xmlns:a16="http://schemas.microsoft.com/office/drawing/2014/main" id="{6381DAC1-0AAB-4B26-844B-C65DC5161C9B}"/>
                </a:ext>
              </a:extLst>
            </p:cNvPr>
            <p:cNvSpPr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5040000" y="2448000"/>
              <a:ext cx="3384000" cy="1476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61" name="组合 160">
              <a:extLst>
                <a:ext uri="{FF2B5EF4-FFF2-40B4-BE49-F238E27FC236}">
                  <a16:creationId xmlns:a16="http://schemas.microsoft.com/office/drawing/2014/main" id="{7C3C5753-853C-43EC-A66E-4CF95A17D7CA}"/>
                </a:ext>
              </a:extLst>
            </p:cNvPr>
            <p:cNvGrpSpPr/>
            <p:nvPr/>
          </p:nvGrpSpPr>
          <p:grpSpPr>
            <a:xfrm>
              <a:off x="5040000" y="2628000"/>
              <a:ext cx="648000" cy="1152000"/>
              <a:chOff x="5040000" y="2628000"/>
              <a:chExt cx="648000" cy="1152000"/>
            </a:xfrm>
          </p:grpSpPr>
          <p:sp>
            <p:nvSpPr>
              <p:cNvPr id="194" name="Rectangle 274">
                <a:extLst>
                  <a:ext uri="{FF2B5EF4-FFF2-40B4-BE49-F238E27FC236}">
                    <a16:creationId xmlns:a16="http://schemas.microsoft.com/office/drawing/2014/main" id="{4DA4BE14-BAC6-4A0C-BE7B-35DF97383DA2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73"/>
                </p:custDataLst>
              </p:nvPr>
            </p:nvSpPr>
            <p:spPr bwMode="auto">
              <a:xfrm>
                <a:off x="5040000" y="2628000"/>
                <a:ext cx="576000" cy="1152000"/>
              </a:xfrm>
              <a:prstGeom prst="rect">
                <a:avLst/>
              </a:prstGeom>
              <a:solidFill>
                <a:srgbClr val="CCFFFF">
                  <a:alpha val="80000"/>
                </a:srgbClr>
              </a:solidFill>
              <a:ln w="9525">
                <a:solidFill>
                  <a:schemeClr val="tx1"/>
                </a:solidFill>
                <a:prstDash val="sysDash"/>
                <a:miter lim="800000"/>
              </a:ln>
              <a:effectLst/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  <p:cxnSp>
            <p:nvCxnSpPr>
              <p:cNvPr id="195" name="直接箭头连接符 194">
                <a:extLst>
                  <a:ext uri="{FF2B5EF4-FFF2-40B4-BE49-F238E27FC236}">
                    <a16:creationId xmlns:a16="http://schemas.microsoft.com/office/drawing/2014/main" id="{978F12D6-8BD0-417B-A0C8-93F8701541CA}"/>
                  </a:ext>
                </a:extLst>
              </p:cNvPr>
              <p:cNvCxnSpPr/>
              <p:nvPr>
                <p:custDataLst>
                  <p:tags r:id="rId74"/>
                </p:custDataLst>
              </p:nvPr>
            </p:nvCxnSpPr>
            <p:spPr bwMode="auto">
              <a:xfrm>
                <a:off x="5544000" y="2772000"/>
                <a:ext cx="144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196" name="直接箭头连接符 195">
                <a:extLst>
                  <a:ext uri="{FF2B5EF4-FFF2-40B4-BE49-F238E27FC236}">
                    <a16:creationId xmlns:a16="http://schemas.microsoft.com/office/drawing/2014/main" id="{31B161AE-E3B6-42FE-B638-526C7A0DF088}"/>
                  </a:ext>
                </a:extLst>
              </p:cNvPr>
              <p:cNvCxnSpPr/>
              <p:nvPr>
                <p:custDataLst>
                  <p:tags r:id="rId75"/>
                </p:custDataLst>
              </p:nvPr>
            </p:nvCxnSpPr>
            <p:spPr bwMode="auto">
              <a:xfrm flipH="1" flipV="1">
                <a:off x="5544000" y="2909941"/>
                <a:ext cx="144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197" name="直接箭头连接符 196">
                <a:extLst>
                  <a:ext uri="{FF2B5EF4-FFF2-40B4-BE49-F238E27FC236}">
                    <a16:creationId xmlns:a16="http://schemas.microsoft.com/office/drawing/2014/main" id="{D476A69B-D8A3-49B8-937A-2FC6D6F5A10D}"/>
                  </a:ext>
                </a:extLst>
              </p:cNvPr>
              <p:cNvCxnSpPr/>
              <p:nvPr>
                <p:custDataLst>
                  <p:tags r:id="rId76"/>
                </p:custDataLst>
              </p:nvPr>
            </p:nvCxnSpPr>
            <p:spPr bwMode="auto">
              <a:xfrm>
                <a:off x="5544000" y="2844000"/>
                <a:ext cx="144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ysDash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198" name="AutoShape 189">
                <a:extLst>
                  <a:ext uri="{FF2B5EF4-FFF2-40B4-BE49-F238E27FC236}">
                    <a16:creationId xmlns:a16="http://schemas.microsoft.com/office/drawing/2014/main" id="{1E3A75E3-C8FF-4D51-A824-CD06EE7B7573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77"/>
                </p:custDataLst>
              </p:nvPr>
            </p:nvSpPr>
            <p:spPr bwMode="auto">
              <a:xfrm>
                <a:off x="5076000" y="3203561"/>
                <a:ext cx="468000" cy="179705"/>
              </a:xfrm>
              <a:custGeom>
                <a:avLst/>
                <a:gdLst>
                  <a:gd name="G0" fmla="+- 4060 0 0"/>
                  <a:gd name="G1" fmla="+- 21600 0 4060"/>
                  <a:gd name="G2" fmla="*/ 4060 1 2"/>
                  <a:gd name="G3" fmla="+- 21600 0 G2"/>
                  <a:gd name="G4" fmla="+/ 4060 21600 2"/>
                  <a:gd name="G5" fmla="+/ G1 0 2"/>
                  <a:gd name="G6" fmla="*/ 21600 21600 4060"/>
                  <a:gd name="G7" fmla="*/ G6 1 2"/>
                  <a:gd name="G8" fmla="+- 21600 0 G7"/>
                  <a:gd name="G9" fmla="*/ 21600 1 2"/>
                  <a:gd name="G10" fmla="+- 4060 0 G9"/>
                  <a:gd name="G11" fmla="?: G10 G8 0"/>
                  <a:gd name="G12" fmla="?: G10 G7 21600"/>
                  <a:gd name="T0" fmla="*/ 19570 w 21600"/>
                  <a:gd name="T1" fmla="*/ 10800 h 21600"/>
                  <a:gd name="T2" fmla="*/ 10800 w 21600"/>
                  <a:gd name="T3" fmla="*/ 21600 h 21600"/>
                  <a:gd name="T4" fmla="*/ 2030 w 21600"/>
                  <a:gd name="T5" fmla="*/ 10800 h 21600"/>
                  <a:gd name="T6" fmla="*/ 10800 w 21600"/>
                  <a:gd name="T7" fmla="*/ 0 h 21600"/>
                  <a:gd name="T8" fmla="*/ 3830 w 21600"/>
                  <a:gd name="T9" fmla="*/ 3830 h 21600"/>
                  <a:gd name="T10" fmla="*/ 17770 w 21600"/>
                  <a:gd name="T11" fmla="*/ 1777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4060" y="21600"/>
                    </a:lnTo>
                    <a:lnTo>
                      <a:pt x="1754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>
                    <a:latin typeface="+mn-ea"/>
                    <a:ea typeface="+mn-ea"/>
                  </a:rPr>
                  <a:t>ALU</a:t>
                </a:r>
                <a:endParaRPr lang="zh-CN" altLang="en-US" sz="1600" b="1" dirty="0">
                  <a:latin typeface="+mn-ea"/>
                  <a:ea typeface="+mn-ea"/>
                </a:endParaRPr>
              </a:p>
            </p:txBody>
          </p:sp>
          <p:cxnSp>
            <p:nvCxnSpPr>
              <p:cNvPr id="199" name="直接箭头连接符 198">
                <a:extLst>
                  <a:ext uri="{FF2B5EF4-FFF2-40B4-BE49-F238E27FC236}">
                    <a16:creationId xmlns:a16="http://schemas.microsoft.com/office/drawing/2014/main" id="{84C02969-FA91-477C-BF00-8EDC8EBD05D5}"/>
                  </a:ext>
                </a:extLst>
              </p:cNvPr>
              <p:cNvCxnSpPr/>
              <p:nvPr>
                <p:custDataLst>
                  <p:tags r:id="rId78"/>
                </p:custDataLst>
              </p:nvPr>
            </p:nvCxnSpPr>
            <p:spPr bwMode="auto">
              <a:xfrm flipH="1">
                <a:off x="5472000" y="3707561"/>
                <a:ext cx="216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200" name="直接箭头连接符 199">
                <a:extLst>
                  <a:ext uri="{FF2B5EF4-FFF2-40B4-BE49-F238E27FC236}">
                    <a16:creationId xmlns:a16="http://schemas.microsoft.com/office/drawing/2014/main" id="{7B94174A-C847-40F7-8586-AF3B31E8DA2D}"/>
                  </a:ext>
                </a:extLst>
              </p:cNvPr>
              <p:cNvCxnSpPr/>
              <p:nvPr>
                <p:custDataLst>
                  <p:tags r:id="rId79"/>
                </p:custDataLst>
              </p:nvPr>
            </p:nvCxnSpPr>
            <p:spPr bwMode="auto">
              <a:xfrm>
                <a:off x="5472000" y="3599561"/>
                <a:ext cx="216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201" name="直接箭头连接符 200">
                <a:extLst>
                  <a:ext uri="{FF2B5EF4-FFF2-40B4-BE49-F238E27FC236}">
                    <a16:creationId xmlns:a16="http://schemas.microsoft.com/office/drawing/2014/main" id="{0BF38344-B33F-4E1B-B9C6-C358FFCBA9EE}"/>
                  </a:ext>
                </a:extLst>
              </p:cNvPr>
              <p:cNvCxnSpPr/>
              <p:nvPr>
                <p:custDataLst>
                  <p:tags r:id="rId80"/>
                </p:custDataLst>
              </p:nvPr>
            </p:nvCxnSpPr>
            <p:spPr bwMode="auto">
              <a:xfrm>
                <a:off x="5256535" y="3383561"/>
                <a:ext cx="1270" cy="179705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202" name="Text Box 276">
                <a:extLst>
                  <a:ext uri="{FF2B5EF4-FFF2-40B4-BE49-F238E27FC236}">
                    <a16:creationId xmlns:a16="http://schemas.microsoft.com/office/drawing/2014/main" id="{AD82F80F-51F4-4570-905A-FB822BC029BD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81"/>
                </p:custDataLst>
              </p:nvPr>
            </p:nvSpPr>
            <p:spPr bwMode="auto">
              <a:xfrm>
                <a:off x="5076000" y="3563561"/>
                <a:ext cx="396000" cy="180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PSR</a:t>
                </a:r>
              </a:p>
            </p:txBody>
          </p:sp>
          <p:sp>
            <p:nvSpPr>
              <p:cNvPr id="203" name="Text Box 314">
                <a:extLst>
                  <a:ext uri="{FF2B5EF4-FFF2-40B4-BE49-F238E27FC236}">
                    <a16:creationId xmlns:a16="http://schemas.microsoft.com/office/drawing/2014/main" id="{C2188CDA-8D5A-44F5-A17C-887C14B5B5CD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82"/>
                </p:custDataLst>
              </p:nvPr>
            </p:nvSpPr>
            <p:spPr bwMode="auto">
              <a:xfrm>
                <a:off x="5076000" y="2664000"/>
                <a:ext cx="468000" cy="288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GPRs</a:t>
                </a:r>
              </a:p>
            </p:txBody>
          </p:sp>
          <p:cxnSp>
            <p:nvCxnSpPr>
              <p:cNvPr id="204" name="直接箭头连接符 203">
                <a:extLst>
                  <a:ext uri="{FF2B5EF4-FFF2-40B4-BE49-F238E27FC236}">
                    <a16:creationId xmlns:a16="http://schemas.microsoft.com/office/drawing/2014/main" id="{1A8ED003-6A43-4433-B91A-CB10627F654F}"/>
                  </a:ext>
                </a:extLst>
              </p:cNvPr>
              <p:cNvCxnSpPr>
                <a:cxnSpLocks/>
              </p:cNvCxnSpPr>
              <p:nvPr>
                <p:custDataLst>
                  <p:tags r:id="rId83"/>
                </p:custDataLst>
              </p:nvPr>
            </p:nvCxnSpPr>
            <p:spPr bwMode="auto">
              <a:xfrm>
                <a:off x="5184000" y="3023087"/>
                <a:ext cx="0" cy="18000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205" name="直接箭头连接符 204">
                <a:extLst>
                  <a:ext uri="{FF2B5EF4-FFF2-40B4-BE49-F238E27FC236}">
                    <a16:creationId xmlns:a16="http://schemas.microsoft.com/office/drawing/2014/main" id="{F53ED66F-171C-41E1-BC5C-71BC15A14F99}"/>
                  </a:ext>
                </a:extLst>
              </p:cNvPr>
              <p:cNvCxnSpPr/>
              <p:nvPr>
                <p:custDataLst>
                  <p:tags r:id="rId84"/>
                </p:custDataLst>
              </p:nvPr>
            </p:nvCxnSpPr>
            <p:spPr bwMode="auto">
              <a:xfrm flipH="1" flipV="1">
                <a:off x="5184000" y="3023561"/>
                <a:ext cx="504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cxnSp>
            <p:nvCxnSpPr>
              <p:cNvPr id="206" name="直接箭头连接符 205">
                <a:extLst>
                  <a:ext uri="{FF2B5EF4-FFF2-40B4-BE49-F238E27FC236}">
                    <a16:creationId xmlns:a16="http://schemas.microsoft.com/office/drawing/2014/main" id="{16E0FDBB-36B4-4757-8A7D-133ECFC22265}"/>
                  </a:ext>
                </a:extLst>
              </p:cNvPr>
              <p:cNvCxnSpPr>
                <a:cxnSpLocks/>
              </p:cNvCxnSpPr>
              <p:nvPr>
                <p:custDataLst>
                  <p:tags r:id="rId85"/>
                </p:custDataLst>
              </p:nvPr>
            </p:nvCxnSpPr>
            <p:spPr bwMode="auto">
              <a:xfrm>
                <a:off x="5436000" y="3095561"/>
                <a:ext cx="0" cy="10800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207" name="直接箭头连接符 206">
                <a:extLst>
                  <a:ext uri="{FF2B5EF4-FFF2-40B4-BE49-F238E27FC236}">
                    <a16:creationId xmlns:a16="http://schemas.microsoft.com/office/drawing/2014/main" id="{AAD752B6-2A37-4E90-941B-641C2127399A}"/>
                  </a:ext>
                </a:extLst>
              </p:cNvPr>
              <p:cNvCxnSpPr/>
              <p:nvPr>
                <p:custDataLst>
                  <p:tags r:id="rId86"/>
                </p:custDataLst>
              </p:nvPr>
            </p:nvCxnSpPr>
            <p:spPr bwMode="auto">
              <a:xfrm flipH="1" flipV="1">
                <a:off x="5436000" y="3095561"/>
                <a:ext cx="252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cxnSp>
            <p:nvCxnSpPr>
              <p:cNvPr id="208" name="直接箭头连接符 207">
                <a:extLst>
                  <a:ext uri="{FF2B5EF4-FFF2-40B4-BE49-F238E27FC236}">
                    <a16:creationId xmlns:a16="http://schemas.microsoft.com/office/drawing/2014/main" id="{BD458197-9D62-488C-A5BC-B7FDFB3426E9}"/>
                  </a:ext>
                </a:extLst>
              </p:cNvPr>
              <p:cNvCxnSpPr>
                <a:cxnSpLocks/>
              </p:cNvCxnSpPr>
              <p:nvPr>
                <p:custDataLst>
                  <p:tags r:id="rId87"/>
                </p:custDataLst>
              </p:nvPr>
            </p:nvCxnSpPr>
            <p:spPr bwMode="auto">
              <a:xfrm>
                <a:off x="5328000" y="3383561"/>
                <a:ext cx="0" cy="7200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cxnSp>
            <p:nvCxnSpPr>
              <p:cNvPr id="209" name="直接箭头连接符 208">
                <a:extLst>
                  <a:ext uri="{FF2B5EF4-FFF2-40B4-BE49-F238E27FC236}">
                    <a16:creationId xmlns:a16="http://schemas.microsoft.com/office/drawing/2014/main" id="{E75CBC03-9CEC-47CD-BB3D-5E0651499950}"/>
                  </a:ext>
                </a:extLst>
              </p:cNvPr>
              <p:cNvCxnSpPr/>
              <p:nvPr>
                <p:custDataLst>
                  <p:tags r:id="rId88"/>
                </p:custDataLst>
              </p:nvPr>
            </p:nvCxnSpPr>
            <p:spPr bwMode="auto">
              <a:xfrm>
                <a:off x="5328000" y="3455561"/>
                <a:ext cx="360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</p:grpSp>
        <p:grpSp>
          <p:nvGrpSpPr>
            <p:cNvPr id="162" name="组合 161">
              <a:extLst>
                <a:ext uri="{FF2B5EF4-FFF2-40B4-BE49-F238E27FC236}">
                  <a16:creationId xmlns:a16="http://schemas.microsoft.com/office/drawing/2014/main" id="{92D27204-9FDC-4E96-8301-06577F1A271C}"/>
                </a:ext>
              </a:extLst>
            </p:cNvPr>
            <p:cNvGrpSpPr/>
            <p:nvPr/>
          </p:nvGrpSpPr>
          <p:grpSpPr>
            <a:xfrm>
              <a:off x="5687863" y="2484000"/>
              <a:ext cx="3384136" cy="1440000"/>
              <a:chOff x="5687863" y="2484000"/>
              <a:chExt cx="3384136" cy="1440000"/>
            </a:xfrm>
          </p:grpSpPr>
          <p:sp>
            <p:nvSpPr>
              <p:cNvPr id="180" name="Text Box 227">
                <a:extLst>
                  <a:ext uri="{FF2B5EF4-FFF2-40B4-BE49-F238E27FC236}">
                    <a16:creationId xmlns:a16="http://schemas.microsoft.com/office/drawing/2014/main" id="{C819ACA2-BB94-483E-8EB7-682F0B3AFBEE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59"/>
                </p:custDataLst>
              </p:nvPr>
            </p:nvSpPr>
            <p:spPr bwMode="auto">
              <a:xfrm>
                <a:off x="8208000" y="3060000"/>
                <a:ext cx="215900" cy="864000"/>
              </a:xfrm>
              <a:prstGeom prst="rect">
                <a:avLst/>
              </a:prstGeom>
              <a:solidFill>
                <a:srgbClr val="CC99FF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vert="eaVert" lIns="0" tIns="0" rIns="0" bIns="0" anchor="ctr"/>
              <a:lstStyle/>
              <a:p>
                <a:pPr>
                  <a:lnSpc>
                    <a:spcPct val="90000"/>
                  </a:lnSpc>
                </a:pPr>
                <a:r>
                  <a:rPr lang="zh-CN" altLang="en-US" sz="1600" b="1" dirty="0">
                    <a:latin typeface="宋体" panose="02010600030101010101" pitchFamily="2" charset="-122"/>
                  </a:rPr>
                  <a:t>中断机构</a:t>
                </a:r>
              </a:p>
            </p:txBody>
          </p:sp>
          <p:cxnSp>
            <p:nvCxnSpPr>
              <p:cNvPr id="181" name="直接箭头连接符 180">
                <a:extLst>
                  <a:ext uri="{FF2B5EF4-FFF2-40B4-BE49-F238E27FC236}">
                    <a16:creationId xmlns:a16="http://schemas.microsoft.com/office/drawing/2014/main" id="{75FBD7CC-AF1A-40CC-A354-7399F0BDDA02}"/>
                  </a:ext>
                </a:extLst>
              </p:cNvPr>
              <p:cNvCxnSpPr>
                <a:cxnSpLocks/>
              </p:cNvCxnSpPr>
              <p:nvPr>
                <p:custDataLst>
                  <p:tags r:id="rId60"/>
                </p:custDataLst>
              </p:nvPr>
            </p:nvCxnSpPr>
            <p:spPr bwMode="auto">
              <a:xfrm>
                <a:off x="8352000" y="2520000"/>
                <a:ext cx="0" cy="54000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sm" len="sm"/>
              </a:ln>
              <a:effectLst/>
            </p:spPr>
          </p:cxnSp>
          <p:cxnSp>
            <p:nvCxnSpPr>
              <p:cNvPr id="182" name="直接箭头连接符 181">
                <a:extLst>
                  <a:ext uri="{FF2B5EF4-FFF2-40B4-BE49-F238E27FC236}">
                    <a16:creationId xmlns:a16="http://schemas.microsoft.com/office/drawing/2014/main" id="{1ABE09CE-8279-4C06-ACC0-D4A9C2A7732A}"/>
                  </a:ext>
                </a:extLst>
              </p:cNvPr>
              <p:cNvCxnSpPr/>
              <p:nvPr>
                <p:custDataLst>
                  <p:tags r:id="rId61"/>
                </p:custDataLst>
              </p:nvPr>
            </p:nvCxnSpPr>
            <p:spPr bwMode="auto">
              <a:xfrm>
                <a:off x="6443863" y="2520000"/>
                <a:ext cx="1908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sp>
            <p:nvSpPr>
              <p:cNvPr id="183" name="Text Box 392">
                <a:extLst>
                  <a:ext uri="{FF2B5EF4-FFF2-40B4-BE49-F238E27FC236}">
                    <a16:creationId xmlns:a16="http://schemas.microsoft.com/office/drawing/2014/main" id="{9657CA1D-CC73-4FED-965C-784D86E417C6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62"/>
                </p:custDataLst>
              </p:nvPr>
            </p:nvSpPr>
            <p:spPr bwMode="auto">
              <a:xfrm>
                <a:off x="5687863" y="2484000"/>
                <a:ext cx="396000" cy="144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>
                    <a:latin typeface="宋体" panose="02010600030101010101" pitchFamily="2" charset="-122"/>
                  </a:rPr>
                  <a:t>异常</a:t>
                </a:r>
                <a:endParaRPr lang="en-US" altLang="zh-CN" sz="14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184" name="Text Box 276">
                <a:extLst>
                  <a:ext uri="{FF2B5EF4-FFF2-40B4-BE49-F238E27FC236}">
                    <a16:creationId xmlns:a16="http://schemas.microsoft.com/office/drawing/2014/main" id="{0EE3624F-1EB8-4046-8752-5024D719BA7B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63"/>
                </p:custDataLst>
              </p:nvPr>
            </p:nvSpPr>
            <p:spPr bwMode="auto">
              <a:xfrm>
                <a:off x="6192000" y="2484000"/>
                <a:ext cx="252000" cy="1440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000" b="1" dirty="0">
                    <a:latin typeface="宋体" panose="02010600030101010101" pitchFamily="2" charset="-122"/>
                  </a:rPr>
                  <a:t>≥1</a:t>
                </a:r>
              </a:p>
            </p:txBody>
          </p:sp>
          <p:cxnSp>
            <p:nvCxnSpPr>
              <p:cNvPr id="185" name="直接箭头连接符 184">
                <a:extLst>
                  <a:ext uri="{FF2B5EF4-FFF2-40B4-BE49-F238E27FC236}">
                    <a16:creationId xmlns:a16="http://schemas.microsoft.com/office/drawing/2014/main" id="{FB67652A-738E-4416-B969-A33612560724}"/>
                  </a:ext>
                </a:extLst>
              </p:cNvPr>
              <p:cNvCxnSpPr/>
              <p:nvPr>
                <p:custDataLst>
                  <p:tags r:id="rId64"/>
                </p:custDataLst>
              </p:nvPr>
            </p:nvCxnSpPr>
            <p:spPr bwMode="auto">
              <a:xfrm>
                <a:off x="6084279" y="2592000"/>
                <a:ext cx="108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cxnSp>
            <p:nvCxnSpPr>
              <p:cNvPr id="186" name="直接箭头连接符 185">
                <a:extLst>
                  <a:ext uri="{FF2B5EF4-FFF2-40B4-BE49-F238E27FC236}">
                    <a16:creationId xmlns:a16="http://schemas.microsoft.com/office/drawing/2014/main" id="{D87B595C-C9F0-48AC-B72C-3D537CF5E6F3}"/>
                  </a:ext>
                </a:extLst>
              </p:cNvPr>
              <p:cNvCxnSpPr/>
              <p:nvPr>
                <p:custDataLst>
                  <p:tags r:id="rId65"/>
                </p:custDataLst>
              </p:nvPr>
            </p:nvCxnSpPr>
            <p:spPr bwMode="auto">
              <a:xfrm>
                <a:off x="6084279" y="2520000"/>
                <a:ext cx="108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cxnSp>
            <p:nvCxnSpPr>
              <p:cNvPr id="187" name="直接箭头连接符 186">
                <a:extLst>
                  <a:ext uri="{FF2B5EF4-FFF2-40B4-BE49-F238E27FC236}">
                    <a16:creationId xmlns:a16="http://schemas.microsoft.com/office/drawing/2014/main" id="{C762EECB-5B85-4F3D-B414-2C0E51D6C0FF}"/>
                  </a:ext>
                </a:extLst>
              </p:cNvPr>
              <p:cNvCxnSpPr/>
              <p:nvPr>
                <p:custDataLst>
                  <p:tags r:id="rId66"/>
                </p:custDataLst>
              </p:nvPr>
            </p:nvCxnSpPr>
            <p:spPr bwMode="auto">
              <a:xfrm>
                <a:off x="6084000" y="2556000"/>
                <a:ext cx="108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cxnSp>
            <p:nvCxnSpPr>
              <p:cNvPr id="188" name="直接箭头连接符 187">
                <a:extLst>
                  <a:ext uri="{FF2B5EF4-FFF2-40B4-BE49-F238E27FC236}">
                    <a16:creationId xmlns:a16="http://schemas.microsoft.com/office/drawing/2014/main" id="{6CA0530F-C25E-4142-A2EC-3629F96F8E6E}"/>
                  </a:ext>
                </a:extLst>
              </p:cNvPr>
              <p:cNvCxnSpPr/>
              <p:nvPr>
                <p:custDataLst>
                  <p:tags r:id="rId67"/>
                </p:custDataLst>
              </p:nvPr>
            </p:nvCxnSpPr>
            <p:spPr bwMode="auto">
              <a:xfrm flipH="1">
                <a:off x="5904000" y="3456000"/>
                <a:ext cx="2304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189" name="直接箭头连接符 188">
                <a:extLst>
                  <a:ext uri="{FF2B5EF4-FFF2-40B4-BE49-F238E27FC236}">
                    <a16:creationId xmlns:a16="http://schemas.microsoft.com/office/drawing/2014/main" id="{1A82EDA9-01F8-4572-866A-FF8DF19D1948}"/>
                  </a:ext>
                </a:extLst>
              </p:cNvPr>
              <p:cNvCxnSpPr/>
              <p:nvPr>
                <p:custDataLst>
                  <p:tags r:id="rId68"/>
                </p:custDataLst>
              </p:nvPr>
            </p:nvCxnSpPr>
            <p:spPr bwMode="auto">
              <a:xfrm>
                <a:off x="5904000" y="3420000"/>
                <a:ext cx="2304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190" name="直接箭头连接符 189">
                <a:extLst>
                  <a:ext uri="{FF2B5EF4-FFF2-40B4-BE49-F238E27FC236}">
                    <a16:creationId xmlns:a16="http://schemas.microsoft.com/office/drawing/2014/main" id="{00641443-BE17-4311-B457-96F96EE9827C}"/>
                  </a:ext>
                </a:extLst>
              </p:cNvPr>
              <p:cNvCxnSpPr/>
              <p:nvPr>
                <p:custDataLst>
                  <p:tags r:id="rId69"/>
                </p:custDataLst>
              </p:nvPr>
            </p:nvCxnSpPr>
            <p:spPr bwMode="auto">
              <a:xfrm flipH="1">
                <a:off x="8424000" y="3312000"/>
                <a:ext cx="144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191" name="直接箭头连接符 190">
                <a:extLst>
                  <a:ext uri="{FF2B5EF4-FFF2-40B4-BE49-F238E27FC236}">
                    <a16:creationId xmlns:a16="http://schemas.microsoft.com/office/drawing/2014/main" id="{B5766F07-F41F-4D19-9E28-23E4CAEF6923}"/>
                  </a:ext>
                </a:extLst>
              </p:cNvPr>
              <p:cNvCxnSpPr/>
              <p:nvPr>
                <p:custDataLst>
                  <p:tags r:id="rId70"/>
                </p:custDataLst>
              </p:nvPr>
            </p:nvCxnSpPr>
            <p:spPr bwMode="auto">
              <a:xfrm>
                <a:off x="8424000" y="3672000"/>
                <a:ext cx="144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192" name="Text Box 392">
                <a:extLst>
                  <a:ext uri="{FF2B5EF4-FFF2-40B4-BE49-F238E27FC236}">
                    <a16:creationId xmlns:a16="http://schemas.microsoft.com/office/drawing/2014/main" id="{6678FCEA-AF41-48AE-A11F-EA9055C90E9B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71"/>
                </p:custDataLst>
              </p:nvPr>
            </p:nvSpPr>
            <p:spPr bwMode="auto">
              <a:xfrm>
                <a:off x="8567999" y="3240000"/>
                <a:ext cx="504000" cy="504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>
                  <a:lnSpc>
                    <a:spcPct val="8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NMI</a:t>
                </a:r>
              </a:p>
              <a:p>
                <a:pPr>
                  <a:lnSpc>
                    <a:spcPct val="8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INTR</a:t>
                </a:r>
              </a:p>
              <a:p>
                <a:pPr>
                  <a:lnSpc>
                    <a:spcPct val="8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INTA#</a:t>
                </a:r>
              </a:p>
            </p:txBody>
          </p:sp>
          <p:cxnSp>
            <p:nvCxnSpPr>
              <p:cNvPr id="193" name="直接箭头连接符 192">
                <a:extLst>
                  <a:ext uri="{FF2B5EF4-FFF2-40B4-BE49-F238E27FC236}">
                    <a16:creationId xmlns:a16="http://schemas.microsoft.com/office/drawing/2014/main" id="{462DEAC7-5327-43F1-A6F4-D0A0FB009966}"/>
                  </a:ext>
                </a:extLst>
              </p:cNvPr>
              <p:cNvCxnSpPr/>
              <p:nvPr>
                <p:custDataLst>
                  <p:tags r:id="rId72"/>
                </p:custDataLst>
              </p:nvPr>
            </p:nvCxnSpPr>
            <p:spPr bwMode="auto">
              <a:xfrm flipH="1">
                <a:off x="8424000" y="3492000"/>
                <a:ext cx="144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</p:grpSp>
        <p:grpSp>
          <p:nvGrpSpPr>
            <p:cNvPr id="163" name="组合 162">
              <a:extLst>
                <a:ext uri="{FF2B5EF4-FFF2-40B4-BE49-F238E27FC236}">
                  <a16:creationId xmlns:a16="http://schemas.microsoft.com/office/drawing/2014/main" id="{D017619F-83B5-4358-B893-E193E029E84C}"/>
                </a:ext>
              </a:extLst>
            </p:cNvPr>
            <p:cNvGrpSpPr/>
            <p:nvPr/>
          </p:nvGrpSpPr>
          <p:grpSpPr>
            <a:xfrm>
              <a:off x="5904000" y="3492000"/>
              <a:ext cx="2232000" cy="540000"/>
              <a:chOff x="5904000" y="3492000"/>
              <a:chExt cx="2232000" cy="540000"/>
            </a:xfrm>
          </p:grpSpPr>
          <p:sp>
            <p:nvSpPr>
              <p:cNvPr id="164" name="Text Box 291">
                <a:extLst>
                  <a:ext uri="{FF2B5EF4-FFF2-40B4-BE49-F238E27FC236}">
                    <a16:creationId xmlns:a16="http://schemas.microsoft.com/office/drawing/2014/main" id="{89E74EA9-ED8B-4EE8-85F6-2E8BFF78A592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43"/>
                </p:custDataLst>
              </p:nvPr>
            </p:nvSpPr>
            <p:spPr bwMode="auto">
              <a:xfrm>
                <a:off x="7668000" y="3527181"/>
                <a:ext cx="468000" cy="396000"/>
              </a:xfrm>
              <a:prstGeom prst="rect">
                <a:avLst/>
              </a:prstGeom>
              <a:solidFill>
                <a:srgbClr val="CCCCFF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80000"/>
                  </a:lnSpc>
                </a:pPr>
                <a:r>
                  <a:rPr lang="zh-CN" altLang="en-US" sz="1600" b="1" dirty="0">
                    <a:latin typeface="宋体" panose="02010600030101010101" pitchFamily="2" charset="-122"/>
                  </a:rPr>
                  <a:t>总线逻辑</a:t>
                </a:r>
                <a:endParaRPr lang="en-US" altLang="zh-CN" sz="1600" b="1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165" name="直接箭头连接符 164">
                <a:extLst>
                  <a:ext uri="{FF2B5EF4-FFF2-40B4-BE49-F238E27FC236}">
                    <a16:creationId xmlns:a16="http://schemas.microsoft.com/office/drawing/2014/main" id="{E338C916-05D6-4195-A623-B141AA40127B}"/>
                  </a:ext>
                </a:extLst>
              </p:cNvPr>
              <p:cNvCxnSpPr/>
              <p:nvPr>
                <p:custDataLst>
                  <p:tags r:id="rId44"/>
                </p:custDataLst>
              </p:nvPr>
            </p:nvCxnSpPr>
            <p:spPr bwMode="auto">
              <a:xfrm>
                <a:off x="5904000" y="3743181"/>
                <a:ext cx="144000" cy="635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166" name="直接箭头连接符 165">
                <a:extLst>
                  <a:ext uri="{FF2B5EF4-FFF2-40B4-BE49-F238E27FC236}">
                    <a16:creationId xmlns:a16="http://schemas.microsoft.com/office/drawing/2014/main" id="{E23AEA28-16AA-4CF0-9AE9-54D0FC6C3C53}"/>
                  </a:ext>
                </a:extLst>
              </p:cNvPr>
              <p:cNvCxnSpPr/>
              <p:nvPr>
                <p:custDataLst>
                  <p:tags r:id="rId45"/>
                </p:custDataLst>
              </p:nvPr>
            </p:nvCxnSpPr>
            <p:spPr bwMode="auto">
              <a:xfrm flipH="1" flipV="1">
                <a:off x="5904000" y="3815181"/>
                <a:ext cx="144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167" name="直接箭头连接符 166">
                <a:extLst>
                  <a:ext uri="{FF2B5EF4-FFF2-40B4-BE49-F238E27FC236}">
                    <a16:creationId xmlns:a16="http://schemas.microsoft.com/office/drawing/2014/main" id="{02E0FB8E-67BD-41EB-8F52-E6919466A567}"/>
                  </a:ext>
                </a:extLst>
              </p:cNvPr>
              <p:cNvCxnSpPr/>
              <p:nvPr>
                <p:custDataLst>
                  <p:tags r:id="rId46"/>
                </p:custDataLst>
              </p:nvPr>
            </p:nvCxnSpPr>
            <p:spPr bwMode="auto">
              <a:xfrm>
                <a:off x="5904000" y="3563756"/>
                <a:ext cx="144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168" name="Text Box 276">
                <a:extLst>
                  <a:ext uri="{FF2B5EF4-FFF2-40B4-BE49-F238E27FC236}">
                    <a16:creationId xmlns:a16="http://schemas.microsoft.com/office/drawing/2014/main" id="{EB4AAC67-6910-408F-A5C5-60E1D42372E0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47"/>
                </p:custDataLst>
              </p:nvPr>
            </p:nvSpPr>
            <p:spPr bwMode="auto">
              <a:xfrm>
                <a:off x="6048379" y="3492000"/>
                <a:ext cx="396000" cy="180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MAR</a:t>
                </a:r>
              </a:p>
            </p:txBody>
          </p:sp>
          <p:sp>
            <p:nvSpPr>
              <p:cNvPr id="169" name="Text Box 276">
                <a:extLst>
                  <a:ext uri="{FF2B5EF4-FFF2-40B4-BE49-F238E27FC236}">
                    <a16:creationId xmlns:a16="http://schemas.microsoft.com/office/drawing/2014/main" id="{9CA59A0A-C91E-49FC-A4C3-5F52D63DFF3B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48"/>
                </p:custDataLst>
              </p:nvPr>
            </p:nvSpPr>
            <p:spPr bwMode="auto">
              <a:xfrm>
                <a:off x="6048379" y="3707181"/>
                <a:ext cx="396000" cy="180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MDR</a:t>
                </a:r>
              </a:p>
            </p:txBody>
          </p:sp>
          <p:cxnSp>
            <p:nvCxnSpPr>
              <p:cNvPr id="170" name="直接箭头连接符 169">
                <a:extLst>
                  <a:ext uri="{FF2B5EF4-FFF2-40B4-BE49-F238E27FC236}">
                    <a16:creationId xmlns:a16="http://schemas.microsoft.com/office/drawing/2014/main" id="{1CE47EB1-2D65-49DF-A61D-A6B26DAD5F44}"/>
                  </a:ext>
                </a:extLst>
              </p:cNvPr>
              <p:cNvCxnSpPr/>
              <p:nvPr>
                <p:custDataLst>
                  <p:tags r:id="rId49"/>
                </p:custDataLst>
              </p:nvPr>
            </p:nvCxnSpPr>
            <p:spPr bwMode="auto">
              <a:xfrm>
                <a:off x="6444000" y="3563756"/>
                <a:ext cx="144145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171" name="直接箭头连接符 170">
                <a:extLst>
                  <a:ext uri="{FF2B5EF4-FFF2-40B4-BE49-F238E27FC236}">
                    <a16:creationId xmlns:a16="http://schemas.microsoft.com/office/drawing/2014/main" id="{AE9F8A88-E7AC-44B9-8A36-FCF82DC40338}"/>
                  </a:ext>
                </a:extLst>
              </p:cNvPr>
              <p:cNvCxnSpPr/>
              <p:nvPr>
                <p:custDataLst>
                  <p:tags r:id="rId50"/>
                </p:custDataLst>
              </p:nvPr>
            </p:nvCxnSpPr>
            <p:spPr bwMode="auto">
              <a:xfrm>
                <a:off x="6444000" y="3743181"/>
                <a:ext cx="612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172" name="直接箭头连接符 171">
                <a:extLst>
                  <a:ext uri="{FF2B5EF4-FFF2-40B4-BE49-F238E27FC236}">
                    <a16:creationId xmlns:a16="http://schemas.microsoft.com/office/drawing/2014/main" id="{99E01D8D-28D6-4E5B-9C61-F7CFCD8B6488}"/>
                  </a:ext>
                </a:extLst>
              </p:cNvPr>
              <p:cNvCxnSpPr/>
              <p:nvPr>
                <p:custDataLst>
                  <p:tags r:id="rId51"/>
                </p:custDataLst>
              </p:nvPr>
            </p:nvCxnSpPr>
            <p:spPr bwMode="auto">
              <a:xfrm flipH="1" flipV="1">
                <a:off x="6444000" y="3815181"/>
                <a:ext cx="1080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173" name="直接箭头连接符 172">
                <a:extLst>
                  <a:ext uri="{FF2B5EF4-FFF2-40B4-BE49-F238E27FC236}">
                    <a16:creationId xmlns:a16="http://schemas.microsoft.com/office/drawing/2014/main" id="{906CB0BB-4712-45FD-96F1-4B0A9B3E2AEC}"/>
                  </a:ext>
                </a:extLst>
              </p:cNvPr>
              <p:cNvCxnSpPr/>
              <p:nvPr>
                <p:custDataLst>
                  <p:tags r:id="rId52"/>
                </p:custDataLst>
              </p:nvPr>
            </p:nvCxnSpPr>
            <p:spPr bwMode="auto">
              <a:xfrm>
                <a:off x="6587999" y="3563756"/>
                <a:ext cx="1080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174" name="直接箭头连接符 173">
                <a:extLst>
                  <a:ext uri="{FF2B5EF4-FFF2-40B4-BE49-F238E27FC236}">
                    <a16:creationId xmlns:a16="http://schemas.microsoft.com/office/drawing/2014/main" id="{8635797D-324A-46F3-B801-05C1FAF261AB}"/>
                  </a:ext>
                </a:extLst>
              </p:cNvPr>
              <p:cNvCxnSpPr/>
              <p:nvPr>
                <p:custDataLst>
                  <p:tags r:id="rId53"/>
                </p:custDataLst>
              </p:nvPr>
            </p:nvCxnSpPr>
            <p:spPr bwMode="auto">
              <a:xfrm>
                <a:off x="7056000" y="3743181"/>
                <a:ext cx="612000" cy="635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175" name="直接箭头连接符 174">
                <a:extLst>
                  <a:ext uri="{FF2B5EF4-FFF2-40B4-BE49-F238E27FC236}">
                    <a16:creationId xmlns:a16="http://schemas.microsoft.com/office/drawing/2014/main" id="{0C6ECF31-ADBA-473A-B67B-E5032FF0D5FE}"/>
                  </a:ext>
                </a:extLst>
              </p:cNvPr>
              <p:cNvCxnSpPr/>
              <p:nvPr>
                <p:custDataLst>
                  <p:tags r:id="rId54"/>
                </p:custDataLst>
              </p:nvPr>
            </p:nvCxnSpPr>
            <p:spPr bwMode="auto">
              <a:xfrm flipH="1" flipV="1">
                <a:off x="7524000" y="3815181"/>
                <a:ext cx="144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176" name="Text Box 276">
                <a:extLst>
                  <a:ext uri="{FF2B5EF4-FFF2-40B4-BE49-F238E27FC236}">
                    <a16:creationId xmlns:a16="http://schemas.microsoft.com/office/drawing/2014/main" id="{A9A084B4-7A8D-45E8-8B82-B2EE26B10CDD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55"/>
                </p:custDataLst>
              </p:nvPr>
            </p:nvSpPr>
            <p:spPr bwMode="auto">
              <a:xfrm>
                <a:off x="6587526" y="3492000"/>
                <a:ext cx="396240" cy="179705"/>
              </a:xfrm>
              <a:prstGeom prst="rect">
                <a:avLst/>
              </a:prstGeom>
              <a:solidFill>
                <a:srgbClr val="CC99FF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MMU</a:t>
                </a:r>
              </a:p>
            </p:txBody>
          </p:sp>
          <p:cxnSp>
            <p:nvCxnSpPr>
              <p:cNvPr id="177" name="直接箭头连接符 176">
                <a:extLst>
                  <a:ext uri="{FF2B5EF4-FFF2-40B4-BE49-F238E27FC236}">
                    <a16:creationId xmlns:a16="http://schemas.microsoft.com/office/drawing/2014/main" id="{95DF4512-0B9F-40A9-B824-42643621087F}"/>
                  </a:ext>
                </a:extLst>
              </p:cNvPr>
              <p:cNvCxnSpPr/>
              <p:nvPr>
                <p:custDataLst>
                  <p:tags r:id="rId56"/>
                </p:custDataLst>
              </p:nvPr>
            </p:nvCxnSpPr>
            <p:spPr bwMode="auto">
              <a:xfrm>
                <a:off x="7776210" y="3924000"/>
                <a:ext cx="0" cy="10800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178" name="直接箭头连接符 177">
                <a:extLst>
                  <a:ext uri="{FF2B5EF4-FFF2-40B4-BE49-F238E27FC236}">
                    <a16:creationId xmlns:a16="http://schemas.microsoft.com/office/drawing/2014/main" id="{80008604-6F9A-4AA3-852A-E6DEC83B92F5}"/>
                  </a:ext>
                </a:extLst>
              </p:cNvPr>
              <p:cNvCxnSpPr/>
              <p:nvPr>
                <p:custDataLst>
                  <p:tags r:id="rId57"/>
                </p:custDataLst>
              </p:nvPr>
            </p:nvCxnSpPr>
            <p:spPr bwMode="auto">
              <a:xfrm>
                <a:off x="7884000" y="3924000"/>
                <a:ext cx="0" cy="10800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179" name="直接箭头连接符 178">
                <a:extLst>
                  <a:ext uri="{FF2B5EF4-FFF2-40B4-BE49-F238E27FC236}">
                    <a16:creationId xmlns:a16="http://schemas.microsoft.com/office/drawing/2014/main" id="{AE12EFB9-07DE-42A1-BBC4-BB3E92668B24}"/>
                  </a:ext>
                </a:extLst>
              </p:cNvPr>
              <p:cNvCxnSpPr/>
              <p:nvPr>
                <p:custDataLst>
                  <p:tags r:id="rId58"/>
                </p:custDataLst>
              </p:nvPr>
            </p:nvCxnSpPr>
            <p:spPr bwMode="auto">
              <a:xfrm>
                <a:off x="7992000" y="3924000"/>
                <a:ext cx="0" cy="10800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</p:grpSp>
      </p:grpSp>
      <p:grpSp>
        <p:nvGrpSpPr>
          <p:cNvPr id="216" name="组合 215">
            <a:extLst>
              <a:ext uri="{FF2B5EF4-FFF2-40B4-BE49-F238E27FC236}">
                <a16:creationId xmlns:a16="http://schemas.microsoft.com/office/drawing/2014/main" id="{C2EA8D54-9ECE-47E8-99A0-DF41850A1E88}"/>
              </a:ext>
            </a:extLst>
          </p:cNvPr>
          <p:cNvGrpSpPr/>
          <p:nvPr/>
        </p:nvGrpSpPr>
        <p:grpSpPr>
          <a:xfrm>
            <a:off x="6660232" y="1773000"/>
            <a:ext cx="2286000" cy="1656000"/>
            <a:chOff x="6408000" y="3564000"/>
            <a:chExt cx="2286000" cy="1656000"/>
          </a:xfrm>
        </p:grpSpPr>
        <p:sp>
          <p:nvSpPr>
            <p:cNvPr id="217" name="Text Box 74">
              <a:extLst>
                <a:ext uri="{FF2B5EF4-FFF2-40B4-BE49-F238E27FC236}">
                  <a16:creationId xmlns:a16="http://schemas.microsoft.com/office/drawing/2014/main" id="{11B16450-2CC7-4B5D-862F-F82E56421BD7}"/>
                </a:ext>
              </a:extLst>
            </p:cNvPr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6588000" y="3959999"/>
              <a:ext cx="864235" cy="216000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/>
                <a:t>取指令</a:t>
              </a:r>
            </a:p>
          </p:txBody>
        </p:sp>
        <p:sp>
          <p:nvSpPr>
            <p:cNvPr id="218" name="Text Box 76">
              <a:extLst>
                <a:ext uri="{FF2B5EF4-FFF2-40B4-BE49-F238E27FC236}">
                  <a16:creationId xmlns:a16="http://schemas.microsoft.com/office/drawing/2014/main" id="{59E8A273-78C3-451F-85E7-C322B89A9E75}"/>
                </a:ext>
              </a:extLst>
            </p:cNvPr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6588000" y="4320000"/>
              <a:ext cx="864235" cy="216000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/>
                <a:t>执行指令</a:t>
              </a:r>
            </a:p>
          </p:txBody>
        </p:sp>
        <p:sp>
          <p:nvSpPr>
            <p:cNvPr id="219" name="Text Box 77">
              <a:extLst>
                <a:ext uri="{FF2B5EF4-FFF2-40B4-BE49-F238E27FC236}">
                  <a16:creationId xmlns:a16="http://schemas.microsoft.com/office/drawing/2014/main" id="{BDA6AE5F-1DBA-4A47-8BF7-7C73513021C8}"/>
                </a:ext>
              </a:extLst>
            </p:cNvPr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7272000" y="4932000"/>
              <a:ext cx="864000" cy="216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/>
                <a:t>中断响应</a:t>
              </a:r>
            </a:p>
          </p:txBody>
        </p:sp>
        <p:sp>
          <p:nvSpPr>
            <p:cNvPr id="220" name="AutoShape 79">
              <a:extLst>
                <a:ext uri="{FF2B5EF4-FFF2-40B4-BE49-F238E27FC236}">
                  <a16:creationId xmlns:a16="http://schemas.microsoft.com/office/drawing/2014/main" id="{2ECD9A3E-45D1-47D6-9313-6D613F752E5F}"/>
                </a:ext>
              </a:extLst>
            </p:cNvPr>
            <p:cNvSpPr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6768000" y="3564000"/>
              <a:ext cx="504190" cy="216000"/>
            </a:xfrm>
            <a:prstGeom prst="flowChartTerminator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/>
                <a:t>启动</a:t>
              </a:r>
            </a:p>
          </p:txBody>
        </p:sp>
        <p:sp>
          <p:nvSpPr>
            <p:cNvPr id="221" name="Text Box 105">
              <a:extLst>
                <a:ext uri="{FF2B5EF4-FFF2-40B4-BE49-F238E27FC236}">
                  <a16:creationId xmlns:a16="http://schemas.microsoft.com/office/drawing/2014/main" id="{268842DF-6081-4E89-8EC2-9E29C8184A1A}"/>
                </a:ext>
              </a:extLst>
            </p:cNvPr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7560000" y="4608000"/>
              <a:ext cx="144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Y</a:t>
              </a:r>
            </a:p>
          </p:txBody>
        </p:sp>
        <p:sp>
          <p:nvSpPr>
            <p:cNvPr id="222" name="AutoShape 107">
              <a:extLst>
                <a:ext uri="{FF2B5EF4-FFF2-40B4-BE49-F238E27FC236}">
                  <a16:creationId xmlns:a16="http://schemas.microsoft.com/office/drawing/2014/main" id="{FC1CB086-1F88-4856-9D8B-0C0D02741741}"/>
                </a:ext>
              </a:extLst>
            </p:cNvPr>
            <p:cNvSpPr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6480000" y="4680000"/>
              <a:ext cx="1080000" cy="215900"/>
            </a:xfrm>
            <a:prstGeom prst="flowChartDecision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spc="-100" dirty="0">
                  <a:solidFill>
                    <a:srgbClr val="990099"/>
                  </a:solidFill>
                </a:rPr>
                <a:t>有</a:t>
              </a:r>
              <a:r>
                <a:rPr lang="zh-CN" altLang="en-US" sz="1600" b="1" spc="-100" dirty="0"/>
                <a:t>中断？</a:t>
              </a:r>
            </a:p>
          </p:txBody>
        </p:sp>
        <p:sp>
          <p:nvSpPr>
            <p:cNvPr id="223" name="Text Box 110">
              <a:extLst>
                <a:ext uri="{FF2B5EF4-FFF2-40B4-BE49-F238E27FC236}">
                  <a16:creationId xmlns:a16="http://schemas.microsoft.com/office/drawing/2014/main" id="{2460BB1B-DCCD-4CC7-B534-572AAC1946F6}"/>
                </a:ext>
              </a:extLst>
            </p:cNvPr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6876000" y="4932000"/>
              <a:ext cx="144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N</a:t>
              </a:r>
            </a:p>
          </p:txBody>
        </p:sp>
        <p:cxnSp>
          <p:nvCxnSpPr>
            <p:cNvPr id="224" name="直接箭头连接符 223">
              <a:extLst>
                <a:ext uri="{FF2B5EF4-FFF2-40B4-BE49-F238E27FC236}">
                  <a16:creationId xmlns:a16="http://schemas.microsoft.com/office/drawing/2014/main" id="{3F471958-33DF-4701-BD08-EE68D4E643A4}"/>
                </a:ext>
              </a:extLst>
            </p:cNvPr>
            <p:cNvCxnSpPr>
              <a:cxnSpLocks/>
            </p:cNvCxnSpPr>
            <p:nvPr>
              <p:custDataLst>
                <p:tags r:id="rId25"/>
              </p:custDataLst>
            </p:nvPr>
          </p:nvCxnSpPr>
          <p:spPr bwMode="auto">
            <a:xfrm>
              <a:off x="7020272" y="4176000"/>
              <a:ext cx="0" cy="144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25" name="直接箭头连接符 224">
              <a:extLst>
                <a:ext uri="{FF2B5EF4-FFF2-40B4-BE49-F238E27FC236}">
                  <a16:creationId xmlns:a16="http://schemas.microsoft.com/office/drawing/2014/main" id="{34B64E5E-2E86-4984-B825-E317FEE08D5F}"/>
                </a:ext>
              </a:extLst>
            </p:cNvPr>
            <p:cNvCxnSpPr>
              <a:cxnSpLocks/>
            </p:cNvCxnSpPr>
            <p:nvPr>
              <p:custDataLst>
                <p:tags r:id="rId26"/>
              </p:custDataLst>
            </p:nvPr>
          </p:nvCxnSpPr>
          <p:spPr bwMode="auto">
            <a:xfrm>
              <a:off x="7020271" y="3780000"/>
              <a:ext cx="0" cy="180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26" name="直接箭头连接符 225">
              <a:extLst>
                <a:ext uri="{FF2B5EF4-FFF2-40B4-BE49-F238E27FC236}">
                  <a16:creationId xmlns:a16="http://schemas.microsoft.com/office/drawing/2014/main" id="{FA733AA9-0F8F-4F8F-9AC8-31A9934F3BF9}"/>
                </a:ext>
              </a:extLst>
            </p:cNvPr>
            <p:cNvCxnSpPr/>
            <p:nvPr>
              <p:custDataLst>
                <p:tags r:id="rId27"/>
              </p:custDataLst>
            </p:nvPr>
          </p:nvCxnSpPr>
          <p:spPr bwMode="auto">
            <a:xfrm>
              <a:off x="7020000" y="4536000"/>
              <a:ext cx="0" cy="144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27" name="AutoShape 79">
              <a:extLst>
                <a:ext uri="{FF2B5EF4-FFF2-40B4-BE49-F238E27FC236}">
                  <a16:creationId xmlns:a16="http://schemas.microsoft.com/office/drawing/2014/main" id="{87879311-5323-445B-8E81-F45A9C28265E}"/>
                </a:ext>
              </a:extLst>
            </p:cNvPr>
            <p:cNvSpPr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7380000" y="3564000"/>
              <a:ext cx="504000" cy="216000"/>
            </a:xfrm>
            <a:prstGeom prst="flowChartTerminator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/>
                <a:t>停机</a:t>
              </a:r>
            </a:p>
          </p:txBody>
        </p:sp>
        <p:sp>
          <p:nvSpPr>
            <p:cNvPr id="228" name="Text Box 119">
              <a:extLst>
                <a:ext uri="{FF2B5EF4-FFF2-40B4-BE49-F238E27FC236}">
                  <a16:creationId xmlns:a16="http://schemas.microsoft.com/office/drawing/2014/main" id="{4718303E-A602-4E83-9F12-C36380580F41}"/>
                </a:ext>
              </a:extLst>
            </p:cNvPr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7668000" y="3852000"/>
              <a:ext cx="432000" cy="4318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停机指令</a:t>
              </a:r>
            </a:p>
          </p:txBody>
        </p:sp>
        <p:cxnSp>
          <p:nvCxnSpPr>
            <p:cNvPr id="229" name="直接箭头连接符 228">
              <a:extLst>
                <a:ext uri="{FF2B5EF4-FFF2-40B4-BE49-F238E27FC236}">
                  <a16:creationId xmlns:a16="http://schemas.microsoft.com/office/drawing/2014/main" id="{D00B8D6A-BE75-4139-8D9C-6D3CF4D3146B}"/>
                </a:ext>
              </a:extLst>
            </p:cNvPr>
            <p:cNvCxnSpPr/>
            <p:nvPr>
              <p:custDataLst>
                <p:tags r:id="rId30"/>
              </p:custDataLst>
            </p:nvPr>
          </p:nvCxnSpPr>
          <p:spPr bwMode="auto">
            <a:xfrm>
              <a:off x="7020000" y="4896000"/>
              <a:ext cx="0" cy="324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30" name="直接箭头连接符 229">
              <a:extLst>
                <a:ext uri="{FF2B5EF4-FFF2-40B4-BE49-F238E27FC236}">
                  <a16:creationId xmlns:a16="http://schemas.microsoft.com/office/drawing/2014/main" id="{BA85884A-76FC-4B3B-9A95-52F877855DBB}"/>
                </a:ext>
              </a:extLst>
            </p:cNvPr>
            <p:cNvCxnSpPr/>
            <p:nvPr>
              <p:custDataLst>
                <p:tags r:id="rId31"/>
              </p:custDataLst>
            </p:nvPr>
          </p:nvCxnSpPr>
          <p:spPr bwMode="auto">
            <a:xfrm flipH="1">
              <a:off x="6408000" y="5220000"/>
              <a:ext cx="612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31" name="直接箭头连接符 230">
              <a:extLst>
                <a:ext uri="{FF2B5EF4-FFF2-40B4-BE49-F238E27FC236}">
                  <a16:creationId xmlns:a16="http://schemas.microsoft.com/office/drawing/2014/main" id="{062440C3-0CAD-49F1-92B8-47B411EDBEC2}"/>
                </a:ext>
              </a:extLst>
            </p:cNvPr>
            <p:cNvCxnSpPr/>
            <p:nvPr>
              <p:custDataLst>
                <p:tags r:id="rId32"/>
              </p:custDataLst>
            </p:nvPr>
          </p:nvCxnSpPr>
          <p:spPr bwMode="auto">
            <a:xfrm>
              <a:off x="6408000" y="3852000"/>
              <a:ext cx="612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32" name="直接箭头连接符 231">
              <a:extLst>
                <a:ext uri="{FF2B5EF4-FFF2-40B4-BE49-F238E27FC236}">
                  <a16:creationId xmlns:a16="http://schemas.microsoft.com/office/drawing/2014/main" id="{93D3047A-15BE-41BC-BC8D-5A620A23A52F}"/>
                </a:ext>
              </a:extLst>
            </p:cNvPr>
            <p:cNvCxnSpPr/>
            <p:nvPr>
              <p:custDataLst>
                <p:tags r:id="rId33"/>
              </p:custDataLst>
            </p:nvPr>
          </p:nvCxnSpPr>
          <p:spPr bwMode="auto">
            <a:xfrm>
              <a:off x="6408000" y="3852000"/>
              <a:ext cx="0" cy="1368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33" name="直接箭头连接符 232">
              <a:extLst>
                <a:ext uri="{FF2B5EF4-FFF2-40B4-BE49-F238E27FC236}">
                  <a16:creationId xmlns:a16="http://schemas.microsoft.com/office/drawing/2014/main" id="{0974E741-9FCE-4117-A763-437B479C1DFB}"/>
                </a:ext>
              </a:extLst>
            </p:cNvPr>
            <p:cNvCxnSpPr/>
            <p:nvPr>
              <p:custDataLst>
                <p:tags r:id="rId34"/>
              </p:custDataLst>
            </p:nvPr>
          </p:nvCxnSpPr>
          <p:spPr bwMode="auto">
            <a:xfrm>
              <a:off x="7704000" y="5148000"/>
              <a:ext cx="0" cy="72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34" name="直接箭头连接符 233">
              <a:extLst>
                <a:ext uri="{FF2B5EF4-FFF2-40B4-BE49-F238E27FC236}">
                  <a16:creationId xmlns:a16="http://schemas.microsoft.com/office/drawing/2014/main" id="{76798FC0-6F4C-4117-B65A-FC4371BA7E8F}"/>
                </a:ext>
              </a:extLst>
            </p:cNvPr>
            <p:cNvCxnSpPr/>
            <p:nvPr>
              <p:custDataLst>
                <p:tags r:id="rId35"/>
              </p:custDataLst>
            </p:nvPr>
          </p:nvCxnSpPr>
          <p:spPr bwMode="auto">
            <a:xfrm flipH="1" flipV="1">
              <a:off x="7020000" y="5220000"/>
              <a:ext cx="684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35" name="线形标注 2 18">
              <a:extLst>
                <a:ext uri="{FF2B5EF4-FFF2-40B4-BE49-F238E27FC236}">
                  <a16:creationId xmlns:a16="http://schemas.microsoft.com/office/drawing/2014/main" id="{42CEDA1C-EDDD-4C6F-98D5-842C959A233B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 bwMode="auto">
            <a:xfrm>
              <a:off x="7902000" y="4356000"/>
              <a:ext cx="792000" cy="432000"/>
            </a:xfrm>
            <a:prstGeom prst="borderCallout2">
              <a:avLst>
                <a:gd name="adj1" fmla="val 51959"/>
                <a:gd name="adj2" fmla="val -1506"/>
                <a:gd name="adj3" fmla="val 51522"/>
                <a:gd name="adj4" fmla="val -21727"/>
                <a:gd name="adj5" fmla="val -18049"/>
                <a:gd name="adj6" fmla="val -51070"/>
              </a:avLst>
            </a:prstGeom>
            <a:solidFill>
              <a:srgbClr val="CCFFFF"/>
            </a:solidFill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0" rIns="0" bIns="0" numCol="1" rtlCol="0" anchor="ctr" anchorCtr="0" compatLnSpc="1"/>
            <a:lstStyle/>
            <a:p>
              <a:pPr algn="ctr">
                <a:lnSpc>
                  <a:spcPct val="80000"/>
                </a:lnSpc>
              </a:pPr>
              <a:r>
                <a:rPr lang="zh-CN" sz="1600" b="1" dirty="0">
                  <a:latin typeface="宋体" panose="02010600030101010101" pitchFamily="2" charset="-122"/>
                </a:rPr>
                <a:t>异常检测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&amp;</a:t>
              </a:r>
              <a:r>
                <a:rPr lang="zh-CN" sz="1600" b="1" dirty="0">
                  <a:latin typeface="宋体" panose="02010600030101010101" pitchFamily="2" charset="-122"/>
                </a:rPr>
                <a:t>响应</a:t>
              </a:r>
            </a:p>
          </p:txBody>
        </p:sp>
        <p:cxnSp>
          <p:nvCxnSpPr>
            <p:cNvPr id="236" name="直接箭头连接符 235">
              <a:extLst>
                <a:ext uri="{FF2B5EF4-FFF2-40B4-BE49-F238E27FC236}">
                  <a16:creationId xmlns:a16="http://schemas.microsoft.com/office/drawing/2014/main" id="{FD23E8AE-5BA7-4812-BA17-2FFEA8D8F73B}"/>
                </a:ext>
              </a:extLst>
            </p:cNvPr>
            <p:cNvCxnSpPr>
              <a:cxnSpLocks/>
            </p:cNvCxnSpPr>
            <p:nvPr>
              <p:custDataLst>
                <p:tags r:id="rId37"/>
              </p:custDataLst>
            </p:nvPr>
          </p:nvCxnSpPr>
          <p:spPr bwMode="auto">
            <a:xfrm>
              <a:off x="7452000" y="4428000"/>
              <a:ext cx="180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37" name="直接箭头连接符 236">
              <a:extLst>
                <a:ext uri="{FF2B5EF4-FFF2-40B4-BE49-F238E27FC236}">
                  <a16:creationId xmlns:a16="http://schemas.microsoft.com/office/drawing/2014/main" id="{9796A87D-3C88-409A-8A73-8CE98A0DA762}"/>
                </a:ext>
              </a:extLst>
            </p:cNvPr>
            <p:cNvCxnSpPr>
              <a:cxnSpLocks/>
            </p:cNvCxnSpPr>
            <p:nvPr>
              <p:custDataLst>
                <p:tags r:id="rId38"/>
              </p:custDataLst>
            </p:nvPr>
          </p:nvCxnSpPr>
          <p:spPr bwMode="auto">
            <a:xfrm flipV="1">
              <a:off x="7632000" y="3779999"/>
              <a:ext cx="0" cy="648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38" name="直接箭头连接符 237">
              <a:extLst>
                <a:ext uri="{FF2B5EF4-FFF2-40B4-BE49-F238E27FC236}">
                  <a16:creationId xmlns:a16="http://schemas.microsoft.com/office/drawing/2014/main" id="{DD22864B-F3D0-4448-9956-1CB9A3E924BB}"/>
                </a:ext>
              </a:extLst>
            </p:cNvPr>
            <p:cNvCxnSpPr>
              <a:cxnSpLocks/>
            </p:cNvCxnSpPr>
            <p:nvPr>
              <p:custDataLst>
                <p:tags r:id="rId39"/>
              </p:custDataLst>
            </p:nvPr>
          </p:nvCxnSpPr>
          <p:spPr bwMode="auto">
            <a:xfrm>
              <a:off x="7560000" y="4788000"/>
              <a:ext cx="144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39" name="直接箭头连接符 238">
              <a:extLst>
                <a:ext uri="{FF2B5EF4-FFF2-40B4-BE49-F238E27FC236}">
                  <a16:creationId xmlns:a16="http://schemas.microsoft.com/office/drawing/2014/main" id="{6AD559D9-420D-47E0-9907-F84E6CE28CA3}"/>
                </a:ext>
              </a:extLst>
            </p:cNvPr>
            <p:cNvCxnSpPr>
              <a:cxnSpLocks/>
            </p:cNvCxnSpPr>
            <p:nvPr>
              <p:custDataLst>
                <p:tags r:id="rId40"/>
              </p:custDataLst>
            </p:nvPr>
          </p:nvCxnSpPr>
          <p:spPr bwMode="auto">
            <a:xfrm>
              <a:off x="7704000" y="4788000"/>
              <a:ext cx="0" cy="144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240" name="组合 239">
            <a:extLst>
              <a:ext uri="{FF2B5EF4-FFF2-40B4-BE49-F238E27FC236}">
                <a16:creationId xmlns:a16="http://schemas.microsoft.com/office/drawing/2014/main" id="{FDF74D7E-35F9-481B-8704-A12A0ADDDAED}"/>
              </a:ext>
            </a:extLst>
          </p:cNvPr>
          <p:cNvGrpSpPr/>
          <p:nvPr/>
        </p:nvGrpSpPr>
        <p:grpSpPr>
          <a:xfrm>
            <a:off x="2016720" y="4725144"/>
            <a:ext cx="5435600" cy="612140"/>
            <a:chOff x="2097" y="7313"/>
            <a:chExt cx="8560" cy="964"/>
          </a:xfrm>
        </p:grpSpPr>
        <p:sp>
          <p:nvSpPr>
            <p:cNvPr id="241" name="矩形 240">
              <a:extLst>
                <a:ext uri="{FF2B5EF4-FFF2-40B4-BE49-F238E27FC236}">
                  <a16:creationId xmlns:a16="http://schemas.microsoft.com/office/drawing/2014/main" id="{F05BEA16-F8DD-4100-86A0-5643898517A6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 bwMode="auto">
            <a:xfrm>
              <a:off x="2266" y="7313"/>
              <a:ext cx="8220" cy="850"/>
            </a:xfrm>
            <a:prstGeom prst="rect">
              <a:avLst/>
            </a:prstGeom>
            <a:solidFill>
              <a:srgbClr val="CCFFFF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2" name="Text Box 311">
              <a:extLst>
                <a:ext uri="{FF2B5EF4-FFF2-40B4-BE49-F238E27FC236}">
                  <a16:creationId xmlns:a16="http://schemas.microsoft.com/office/drawing/2014/main" id="{3A371EC1-C338-4AD0-9B19-39A729EB1098}"/>
                </a:ext>
              </a:extLst>
            </p:cNvPr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2436" y="7370"/>
              <a:ext cx="1134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取指令</a:t>
              </a:r>
            </a:p>
          </p:txBody>
        </p:sp>
        <p:sp>
          <p:nvSpPr>
            <p:cNvPr id="243" name="Text Box 314">
              <a:extLst>
                <a:ext uri="{FF2B5EF4-FFF2-40B4-BE49-F238E27FC236}">
                  <a16:creationId xmlns:a16="http://schemas.microsoft.com/office/drawing/2014/main" id="{8E994E45-5F8D-432A-94E2-74CC99162804}"/>
                </a:ext>
              </a:extLst>
            </p:cNvPr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4025" y="7370"/>
              <a:ext cx="1474" cy="34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指令译码</a:t>
              </a:r>
            </a:p>
          </p:txBody>
        </p:sp>
        <p:sp>
          <p:nvSpPr>
            <p:cNvPr id="244" name="Text Box 316">
              <a:extLst>
                <a:ext uri="{FF2B5EF4-FFF2-40B4-BE49-F238E27FC236}">
                  <a16:creationId xmlns:a16="http://schemas.microsoft.com/office/drawing/2014/main" id="{36FBA811-56B5-4EE5-A300-88313ACE764C}"/>
                </a:ext>
              </a:extLst>
            </p:cNvPr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5953" y="7370"/>
              <a:ext cx="1020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取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OPD</a:t>
              </a:r>
            </a:p>
          </p:txBody>
        </p:sp>
        <p:cxnSp>
          <p:nvCxnSpPr>
            <p:cNvPr id="245" name="直接箭头连接符 244">
              <a:extLst>
                <a:ext uri="{FF2B5EF4-FFF2-40B4-BE49-F238E27FC236}">
                  <a16:creationId xmlns:a16="http://schemas.microsoft.com/office/drawing/2014/main" id="{571E8D10-00A3-4AAF-B321-CDE0832FDA67}"/>
                </a:ext>
              </a:extLst>
            </p:cNvPr>
            <p:cNvCxnSpPr/>
            <p:nvPr>
              <p:custDataLst>
                <p:tags r:id="rId5"/>
              </p:custDataLst>
            </p:nvPr>
          </p:nvCxnSpPr>
          <p:spPr bwMode="auto">
            <a:xfrm>
              <a:off x="3572" y="7540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46" name="直接箭头连接符 245">
              <a:extLst>
                <a:ext uri="{FF2B5EF4-FFF2-40B4-BE49-F238E27FC236}">
                  <a16:creationId xmlns:a16="http://schemas.microsoft.com/office/drawing/2014/main" id="{0B7EB9D5-5297-4028-AAD5-8A90290291A0}"/>
                </a:ext>
              </a:extLst>
            </p:cNvPr>
            <p:cNvCxnSpPr/>
            <p:nvPr>
              <p:custDataLst>
                <p:tags r:id="rId6"/>
              </p:custDataLst>
            </p:nvPr>
          </p:nvCxnSpPr>
          <p:spPr bwMode="auto">
            <a:xfrm>
              <a:off x="5499" y="7540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47" name="直接箭头连接符 246">
              <a:extLst>
                <a:ext uri="{FF2B5EF4-FFF2-40B4-BE49-F238E27FC236}">
                  <a16:creationId xmlns:a16="http://schemas.microsoft.com/office/drawing/2014/main" id="{D4455DD0-B80B-46A2-BDE7-2044FD2D1655}"/>
                </a:ext>
              </a:extLst>
            </p:cNvPr>
            <p:cNvCxnSpPr/>
            <p:nvPr>
              <p:custDataLst>
                <p:tags r:id="rId7"/>
              </p:custDataLst>
            </p:nvPr>
          </p:nvCxnSpPr>
          <p:spPr bwMode="auto">
            <a:xfrm>
              <a:off x="10366" y="7540"/>
              <a:ext cx="283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48" name="直接箭头连接符 247">
              <a:extLst>
                <a:ext uri="{FF2B5EF4-FFF2-40B4-BE49-F238E27FC236}">
                  <a16:creationId xmlns:a16="http://schemas.microsoft.com/office/drawing/2014/main" id="{F0FC4F5B-CD92-45AC-8CA3-099029852C28}"/>
                </a:ext>
              </a:extLst>
            </p:cNvPr>
            <p:cNvCxnSpPr/>
            <p:nvPr>
              <p:custDataLst>
                <p:tags r:id="rId8"/>
              </p:custDataLst>
            </p:nvPr>
          </p:nvCxnSpPr>
          <p:spPr bwMode="auto">
            <a:xfrm flipH="1">
              <a:off x="10650" y="7540"/>
              <a:ext cx="0" cy="737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49" name="直接箭头连接符 248">
              <a:extLst>
                <a:ext uri="{FF2B5EF4-FFF2-40B4-BE49-F238E27FC236}">
                  <a16:creationId xmlns:a16="http://schemas.microsoft.com/office/drawing/2014/main" id="{50678AE7-D0ED-4944-9A97-B4797AA2EED7}"/>
                </a:ext>
              </a:extLst>
            </p:cNvPr>
            <p:cNvCxnSpPr/>
            <p:nvPr>
              <p:custDataLst>
                <p:tags r:id="rId9"/>
              </p:custDataLst>
            </p:nvPr>
          </p:nvCxnSpPr>
          <p:spPr bwMode="auto">
            <a:xfrm>
              <a:off x="2097" y="7540"/>
              <a:ext cx="34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50" name="直接箭头连接符 249">
              <a:extLst>
                <a:ext uri="{FF2B5EF4-FFF2-40B4-BE49-F238E27FC236}">
                  <a16:creationId xmlns:a16="http://schemas.microsoft.com/office/drawing/2014/main" id="{96A54717-DAB1-454C-9B17-8F3ED09EC6C1}"/>
                </a:ext>
              </a:extLst>
            </p:cNvPr>
            <p:cNvCxnSpPr/>
            <p:nvPr>
              <p:custDataLst>
                <p:tags r:id="rId10"/>
              </p:custDataLst>
            </p:nvPr>
          </p:nvCxnSpPr>
          <p:spPr bwMode="auto">
            <a:xfrm flipH="1">
              <a:off x="2097" y="7540"/>
              <a:ext cx="0" cy="737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251" name="直接箭头连接符 250">
              <a:extLst>
                <a:ext uri="{FF2B5EF4-FFF2-40B4-BE49-F238E27FC236}">
                  <a16:creationId xmlns:a16="http://schemas.microsoft.com/office/drawing/2014/main" id="{E328EA3F-6C8D-4A97-8BB5-954F7BFAC46E}"/>
                </a:ext>
              </a:extLst>
            </p:cNvPr>
            <p:cNvCxnSpPr/>
            <p:nvPr>
              <p:custDataLst>
                <p:tags r:id="rId11"/>
              </p:custDataLst>
            </p:nvPr>
          </p:nvCxnSpPr>
          <p:spPr bwMode="auto">
            <a:xfrm>
              <a:off x="2097" y="8277"/>
              <a:ext cx="8561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52" name="Text Box 316">
              <a:extLst>
                <a:ext uri="{FF2B5EF4-FFF2-40B4-BE49-F238E27FC236}">
                  <a16:creationId xmlns:a16="http://schemas.microsoft.com/office/drawing/2014/main" id="{C5ED8F5D-27E5-46C8-808D-81E360A85054}"/>
                </a:ext>
              </a:extLst>
            </p:cNvPr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2664" y="7767"/>
              <a:ext cx="2211" cy="340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rgbClr val="FF3399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PC</a:t>
              </a: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←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(PC)</a:t>
              </a:r>
              <a:r>
                <a:rPr lang="zh-CN" altLang="en-US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＋</a:t>
              </a:r>
              <a:r>
                <a:rPr lang="zh-CN" altLang="en-US" sz="1600" b="1" dirty="0">
                  <a:uFillTx/>
                  <a:latin typeface="宋体" panose="02010600030101010101" pitchFamily="2" charset="-122"/>
                  <a:cs typeface="宋体" panose="02010600030101010101" pitchFamily="2" charset="-122"/>
                  <a:sym typeface="Symbol" panose="05050102010706020507"/>
                </a:rPr>
                <a:t></a:t>
              </a:r>
              <a:r>
                <a:rPr lang="en-US" altLang="zh-CN" sz="16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1</a:t>
              </a:r>
              <a:r>
                <a:rPr lang="zh-CN" altLang="en-US" sz="1600" b="1" dirty="0">
                  <a:uFillTx/>
                  <a:latin typeface="宋体" panose="02010600030101010101" pitchFamily="2" charset="-122"/>
                  <a:cs typeface="宋体" panose="02010600030101010101" pitchFamily="2" charset="-122"/>
                  <a:sym typeface="Symbol" panose="05050102010706020507"/>
                </a:rPr>
                <a:t></a:t>
              </a:r>
            </a:p>
          </p:txBody>
        </p:sp>
        <p:sp>
          <p:nvSpPr>
            <p:cNvPr id="253" name="Text Box 316">
              <a:extLst>
                <a:ext uri="{FF2B5EF4-FFF2-40B4-BE49-F238E27FC236}">
                  <a16:creationId xmlns:a16="http://schemas.microsoft.com/office/drawing/2014/main" id="{67D81E35-0F9B-4650-8512-F31B487D4DC0}"/>
                </a:ext>
              </a:extLst>
            </p:cNvPr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6009" y="7766"/>
              <a:ext cx="4331" cy="340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rgbClr val="FF3399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dirty="0">
                  <a:latin typeface="宋体" panose="02010600030101010101" pitchFamily="2" charset="-122"/>
                </a:rPr>
                <a:t>PC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←计算结果</a:t>
              </a:r>
            </a:p>
          </p:txBody>
        </p:sp>
        <p:sp>
          <p:nvSpPr>
            <p:cNvPr id="254" name="Text Box 316">
              <a:extLst>
                <a:ext uri="{FF2B5EF4-FFF2-40B4-BE49-F238E27FC236}">
                  <a16:creationId xmlns:a16="http://schemas.microsoft.com/office/drawing/2014/main" id="{C3711522-3A12-4A1E-8DAA-B285D6AAD227}"/>
                </a:ext>
              </a:extLst>
            </p:cNvPr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7427" y="7370"/>
              <a:ext cx="1474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sz="1600" b="1" dirty="0">
                  <a:latin typeface="宋体" panose="02010600030101010101" pitchFamily="2" charset="-122"/>
                </a:rPr>
                <a:t>数据操作</a:t>
              </a:r>
            </a:p>
          </p:txBody>
        </p:sp>
        <p:sp>
          <p:nvSpPr>
            <p:cNvPr id="255" name="Text Box 316">
              <a:extLst>
                <a:ext uri="{FF2B5EF4-FFF2-40B4-BE49-F238E27FC236}">
                  <a16:creationId xmlns:a16="http://schemas.microsoft.com/office/drawing/2014/main" id="{9C11D07E-6778-44F9-AFA3-1BC325A500C3}"/>
                </a:ext>
              </a:extLst>
            </p:cNvPr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9355" y="7370"/>
              <a:ext cx="1020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存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OPD</a:t>
              </a:r>
            </a:p>
          </p:txBody>
        </p:sp>
        <p:cxnSp>
          <p:nvCxnSpPr>
            <p:cNvPr id="256" name="直接箭头连接符 255">
              <a:extLst>
                <a:ext uri="{FF2B5EF4-FFF2-40B4-BE49-F238E27FC236}">
                  <a16:creationId xmlns:a16="http://schemas.microsoft.com/office/drawing/2014/main" id="{1DFB4137-8D67-4196-9B63-0AD934CFC092}"/>
                </a:ext>
              </a:extLst>
            </p:cNvPr>
            <p:cNvCxnSpPr/>
            <p:nvPr>
              <p:custDataLst>
                <p:tags r:id="rId16"/>
              </p:custDataLst>
            </p:nvPr>
          </p:nvCxnSpPr>
          <p:spPr bwMode="auto">
            <a:xfrm>
              <a:off x="6973" y="7540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57" name="直接箭头连接符 256">
              <a:extLst>
                <a:ext uri="{FF2B5EF4-FFF2-40B4-BE49-F238E27FC236}">
                  <a16:creationId xmlns:a16="http://schemas.microsoft.com/office/drawing/2014/main" id="{B58B015B-39F8-4543-82D9-391AAAC4FD3E}"/>
                </a:ext>
              </a:extLst>
            </p:cNvPr>
            <p:cNvCxnSpPr/>
            <p:nvPr>
              <p:custDataLst>
                <p:tags r:id="rId17"/>
              </p:custDataLst>
            </p:nvPr>
          </p:nvCxnSpPr>
          <p:spPr bwMode="auto">
            <a:xfrm>
              <a:off x="8901" y="7540"/>
              <a:ext cx="454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3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3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3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3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3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13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13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0274344-8869-4C14-8568-3BB163062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t>29</a:t>
            </a:fld>
            <a:endParaRPr lang="en-US" altLang="zh-CN" dirty="0"/>
          </a:p>
        </p:txBody>
      </p:sp>
      <p:sp>
        <p:nvSpPr>
          <p:cNvPr id="966" name="AutoShape 301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6148A49A-217F-47BF-BF2E-16BF000BA5C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987824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8" name="Text Box 5">
            <a:extLst>
              <a:ext uri="{FF2B5EF4-FFF2-40B4-BE49-F238E27FC236}">
                <a16:creationId xmlns:a16="http://schemas.microsoft.com/office/drawing/2014/main" id="{053E94FA-4D60-4D17-A3EA-05E84AC5E8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000" y="332740"/>
            <a:ext cx="6496401" cy="6041077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CPU</a:t>
            </a: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的组成</a:t>
            </a: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续</a:t>
            </a: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： 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任务：</a:t>
            </a:r>
            <a:r>
              <a: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</a:rPr>
              <a:t>实现</a:t>
            </a:r>
            <a:r>
              <a:rPr lang="zh-CN" altLang="en-US" sz="1600" b="1" dirty="0">
                <a:latin typeface="宋体" panose="02010600030101010101" pitchFamily="2" charset="-122"/>
              </a:rPr>
              <a:t>程序的执行</a:t>
            </a:r>
            <a:r>
              <a:rPr lang="en-US" altLang="zh-CN" sz="1600" b="1" dirty="0">
                <a:latin typeface="宋体" panose="02010600030101010101" pitchFamily="2" charset="-122"/>
              </a:rPr>
              <a:t>[</a:t>
            </a:r>
            <a:r>
              <a:rPr lang="zh-CN" altLang="en-US" sz="1600" b="1" dirty="0">
                <a:latin typeface="宋体" panose="02010600030101010101" pitchFamily="2" charset="-122"/>
              </a:rPr>
              <a:t>工作方式</a:t>
            </a:r>
            <a:r>
              <a:rPr lang="en-US" altLang="zh-CN" sz="1600" b="1" dirty="0">
                <a:latin typeface="宋体" panose="02010600030101010101" pitchFamily="2" charset="-122"/>
              </a:rPr>
              <a:t>+ISA])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数据通路的组成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 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</a:rPr>
              <a:t>实现</a:t>
            </a:r>
            <a:r>
              <a:rPr lang="zh-CN" altLang="en-US" sz="1600" b="1" dirty="0">
                <a:latin typeface="宋体" panose="02010600030101010101" pitchFamily="2" charset="-122"/>
              </a:rPr>
              <a:t>所需的操作功能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部件：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互连：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180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指令执行过程组织</a:t>
            </a:r>
            <a:r>
              <a:rPr lang="en-US" altLang="zh-CN" sz="1600" b="1" dirty="0">
                <a:solidFill>
                  <a:srgbClr val="990099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rPr>
              <a:t>形成控制需求</a:t>
            </a:r>
            <a:r>
              <a:rPr lang="en-US" altLang="zh-CN" sz="1600" b="1" dirty="0">
                <a:solidFill>
                  <a:srgbClr val="990099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控制器的组成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   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</a:rPr>
              <a:t>产生</a:t>
            </a:r>
            <a:r>
              <a:rPr lang="zh-CN" altLang="en-US" sz="1600" b="1" dirty="0">
                <a:latin typeface="宋体" panose="02010600030101010101" pitchFamily="2" charset="-122"/>
              </a:rPr>
              <a:t>所需的操作控制信号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基本结构：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时序信号形成电路：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</a:t>
            </a:r>
            <a:r>
              <a:rPr lang="en-US" altLang="zh-CN" sz="2000" spc="-80" dirty="0" err="1">
                <a:solidFill>
                  <a:srgbClr val="990099"/>
                </a:solidFill>
              </a:rPr>
              <a:t>μ</a:t>
            </a:r>
            <a:r>
              <a:rPr lang="en-US" altLang="zh-CN" sz="2000" b="1" spc="-80" dirty="0" err="1">
                <a:solidFill>
                  <a:srgbClr val="990099"/>
                </a:solidFill>
                <a:latin typeface="宋体" panose="02010600030101010101" pitchFamily="2" charset="-122"/>
              </a:rPr>
              <a:t>OP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控制信号形成电路：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中断机构的组成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 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</a:rPr>
              <a:t>实现</a:t>
            </a:r>
            <a:r>
              <a:rPr lang="zh-CN" altLang="en-US" sz="1600" b="1" dirty="0">
                <a:latin typeface="宋体" panose="02010600030101010101" pitchFamily="2" charset="-122"/>
              </a:rPr>
              <a:t>异常</a:t>
            </a:r>
            <a:r>
              <a:rPr lang="en-US" altLang="zh-CN" sz="1600" b="1" dirty="0"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</a:rPr>
              <a:t>中断的响应操作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异常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中断：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处理过程：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组成：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sp>
        <p:nvSpPr>
          <p:cNvPr id="89" name="Text Box 5">
            <a:extLst>
              <a:ext uri="{FF2B5EF4-FFF2-40B4-BE49-F238E27FC236}">
                <a16:creationId xmlns:a16="http://schemas.microsoft.com/office/drawing/2014/main" id="{5A31646D-D78B-41FE-AB95-459E896D22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664" y="1124744"/>
            <a:ext cx="7488832" cy="5237465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 wrap="square" tIns="10800" bIns="4680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zh-CN" altLang="en-US" sz="2000" b="1" dirty="0">
                <a:latin typeface="宋体" panose="02010600030101010101" pitchFamily="2" charset="-122"/>
              </a:rPr>
              <a:t>取指</a:t>
            </a:r>
            <a:r>
              <a:rPr lang="en-US" altLang="zh-CN" sz="1600" b="1" dirty="0">
                <a:latin typeface="宋体" panose="02010600030101010101" pitchFamily="2" charset="-122"/>
              </a:rPr>
              <a:t>(PC/IR</a:t>
            </a:r>
            <a:r>
              <a:rPr lang="zh-CN" altLang="en-US" sz="1600" b="1" dirty="0">
                <a:latin typeface="宋体" panose="02010600030101010101" pitchFamily="2" charset="-122"/>
              </a:rPr>
              <a:t>等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</a:rPr>
              <a:t>＋执行</a:t>
            </a:r>
            <a:r>
              <a:rPr lang="en-US" altLang="zh-CN" sz="1600" b="1" dirty="0">
                <a:latin typeface="宋体" panose="02010600030101010101" pitchFamily="2" charset="-122"/>
              </a:rPr>
              <a:t>(ALU/GPRs/BIU</a:t>
            </a:r>
            <a:r>
              <a:rPr lang="zh-CN" altLang="en-US" sz="1600" b="1" dirty="0">
                <a:latin typeface="宋体" panose="02010600030101010101" pitchFamily="2" charset="-122"/>
              </a:rPr>
              <a:t>等</a:t>
            </a:r>
            <a:r>
              <a:rPr lang="en-US" altLang="zh-CN" sz="1600" b="1" dirty="0">
                <a:latin typeface="宋体" panose="02010600030101010101" pitchFamily="2" charset="-122"/>
              </a:rPr>
              <a:t>)      </a:t>
            </a:r>
            <a:r>
              <a:rPr lang="zh-CN" altLang="en-US" sz="1600" b="1" dirty="0">
                <a:latin typeface="宋体" panose="02010600030101010101" pitchFamily="2" charset="-122"/>
              </a:rPr>
              <a:t>←满足各指令的</a:t>
            </a:r>
            <a:r>
              <a: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</a:rPr>
              <a:t>功能</a:t>
            </a:r>
            <a:r>
              <a:rPr lang="zh-CN" altLang="en-US" sz="1600" b="1" dirty="0">
                <a:latin typeface="宋体" panose="02010600030101010101" pitchFamily="2" charset="-122"/>
              </a:rPr>
              <a:t>需求</a:t>
            </a:r>
            <a:endParaRPr lang="en-US" altLang="zh-CN" sz="16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latin typeface="宋体" panose="02010600030101010101" pitchFamily="2" charset="-122"/>
              </a:rPr>
              <a:t>结构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总线</a:t>
            </a:r>
            <a:r>
              <a:rPr lang="en-US" altLang="zh-CN" sz="1600" b="1" dirty="0"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</a:rPr>
              <a:t>专用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</a:rPr>
              <a:t>，满足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常逐条增加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</a:rPr>
              <a:t>各指令的</a:t>
            </a:r>
            <a:r>
              <a:rPr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</a:rPr>
              <a:t>数据路径</a:t>
            </a:r>
            <a:endParaRPr lang="en-US" altLang="zh-CN" sz="2200" b="1" dirty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1800"/>
              </a:spcBef>
            </a:pP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                       </a:t>
            </a:r>
            <a:r>
              <a:rPr lang="zh-CN" altLang="en-US" sz="2000" b="1" dirty="0">
                <a:latin typeface="宋体" panose="02010600030101010101" pitchFamily="2" charset="-122"/>
              </a:rPr>
              <a:t>组织各指令的</a:t>
            </a:r>
            <a:r>
              <a:rPr lang="en-US" altLang="zh-CN" sz="2000" u="sng" dirty="0" err="1">
                <a:solidFill>
                  <a:schemeClr val="tx1"/>
                </a:solidFill>
                <a:sym typeface="+mn-ea"/>
              </a:rPr>
              <a:t>μ</a:t>
            </a:r>
            <a:r>
              <a:rPr lang="en-US" altLang="zh-CN" sz="2000" b="1" u="sng" dirty="0" err="1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OP</a:t>
            </a:r>
            <a:r>
              <a:rPr lang="zh-CN" altLang="en-US" sz="2000" b="1" u="sng" dirty="0">
                <a:latin typeface="宋体" panose="02010600030101010101" pitchFamily="2" charset="-122"/>
              </a:rPr>
              <a:t>序列</a:t>
            </a:r>
            <a:r>
              <a:rPr lang="en-US" altLang="zh-CN" sz="2000" b="1" u="sng" dirty="0">
                <a:latin typeface="宋体" panose="02010600030101010101" pitchFamily="2" charset="-122"/>
              </a:rPr>
              <a:t>&amp;</a:t>
            </a:r>
            <a:r>
              <a:rPr lang="en-US" altLang="zh-CN" sz="2000" u="sng" dirty="0" err="1">
                <a:sym typeface="+mn-ea"/>
              </a:rPr>
              <a:t>μ</a:t>
            </a:r>
            <a:r>
              <a:rPr lang="en-US" altLang="zh-CN" sz="2000" b="1" u="sng" dirty="0" err="1">
                <a:latin typeface="宋体" panose="02010600030101010101" pitchFamily="2" charset="-122"/>
                <a:sym typeface="+mn-ea"/>
              </a:rPr>
              <a:t>OPCmd</a:t>
            </a:r>
            <a:r>
              <a:rPr lang="zh-CN" altLang="en-US" sz="2000" b="1" u="sng" dirty="0">
                <a:latin typeface="宋体" panose="02010600030101010101" pitchFamily="2" charset="-122"/>
              </a:rPr>
              <a:t>序列</a:t>
            </a:r>
            <a:endParaRPr lang="en-US" altLang="zh-CN" sz="2200" b="1" u="sng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latin typeface="+mn-ea"/>
                <a:ea typeface="+mn-ea"/>
              </a:rPr>
              <a:t>    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en-US" altLang="zh-CN" sz="2000" b="1" dirty="0">
                <a:latin typeface="+mn-ea"/>
                <a:ea typeface="+mn-ea"/>
              </a:rPr>
              <a:t>ID</a:t>
            </a:r>
            <a:r>
              <a:rPr lang="zh-CN" altLang="en-US" sz="2000" b="1" dirty="0">
                <a:latin typeface="宋体" panose="02010600030101010101" pitchFamily="2" charset="-122"/>
              </a:rPr>
              <a:t>＋</a:t>
            </a:r>
            <a:r>
              <a:rPr lang="zh-CN" altLang="en-US" sz="2000" b="1" dirty="0">
                <a:latin typeface="+mn-ea"/>
                <a:ea typeface="+mn-ea"/>
              </a:rPr>
              <a:t>时序信号电路</a:t>
            </a:r>
            <a:r>
              <a:rPr lang="zh-CN" altLang="en-US" sz="2000" b="1" dirty="0">
                <a:latin typeface="宋体" panose="02010600030101010101" pitchFamily="2" charset="-122"/>
              </a:rPr>
              <a:t>＋</a:t>
            </a:r>
            <a:r>
              <a:rPr lang="en-US" altLang="zh-CN" sz="2000" dirty="0" err="1">
                <a:solidFill>
                  <a:schemeClr val="tx1"/>
                </a:solidFill>
                <a:sym typeface="+mn-ea"/>
              </a:rPr>
              <a:t>μ</a:t>
            </a:r>
            <a:r>
              <a:rPr lang="en-US" altLang="zh-CN" sz="2000" b="1" dirty="0" err="1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OP</a:t>
            </a:r>
            <a:r>
              <a:rPr lang="zh-CN" altLang="en-US" sz="2000" b="1" dirty="0">
                <a:latin typeface="+mn-ea"/>
                <a:ea typeface="+mn-ea"/>
              </a:rPr>
              <a:t>控制信号电路  </a:t>
            </a:r>
            <a:r>
              <a:rPr lang="zh-CN" altLang="en-US" sz="1600" b="1" dirty="0">
                <a:latin typeface="+mn-ea"/>
                <a:ea typeface="+mn-ea"/>
              </a:rPr>
              <a:t>←其余∈数据通路</a:t>
            </a:r>
            <a:endParaRPr lang="en-US" altLang="zh-CN" sz="16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latin typeface="宋体" panose="02010600030101010101" pitchFamily="2" charset="-122"/>
              </a:rPr>
              <a:t>     </a:t>
            </a:r>
            <a:r>
              <a:rPr lang="en-US" altLang="zh-CN" sz="2000" b="1" dirty="0">
                <a:latin typeface="宋体" panose="02010600030101010101" pitchFamily="2" charset="-122"/>
              </a:rPr>
              <a:t> </a:t>
            </a:r>
            <a:r>
              <a:rPr lang="zh-CN" altLang="en-US" sz="2000" b="1" dirty="0">
                <a:latin typeface="宋体" panose="02010600030101010101" pitchFamily="2" charset="-122"/>
              </a:rPr>
              <a:t> </a:t>
            </a:r>
            <a:r>
              <a:rPr lang="en-US" altLang="zh-CN" sz="2000" b="1" dirty="0">
                <a:latin typeface="宋体" panose="02010600030101010101" pitchFamily="2" charset="-122"/>
              </a:rPr>
              <a:t>     </a:t>
            </a:r>
            <a:r>
              <a:rPr lang="zh-CN" altLang="en-US" sz="2000" b="1" dirty="0">
                <a:latin typeface="宋体" panose="02010600030101010101" pitchFamily="2" charset="-122"/>
              </a:rPr>
              <a:t>时序系统的组织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基于控制需求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</a:rPr>
              <a:t>、实现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定序</a:t>
            </a:r>
            <a:r>
              <a:rPr lang="en-US" altLang="zh-CN" sz="1600" b="1" dirty="0">
                <a:latin typeface="宋体" panose="02010600030101010101" pitchFamily="2" charset="-122"/>
              </a:rPr>
              <a:t>+</a:t>
            </a:r>
            <a:r>
              <a:rPr lang="zh-CN" altLang="en-US" sz="1600" b="1" dirty="0">
                <a:latin typeface="宋体" panose="02010600030101010101" pitchFamily="2" charset="-122"/>
              </a:rPr>
              <a:t>定时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latin typeface="宋体" panose="02010600030101010101" pitchFamily="2" charset="-122"/>
              </a:rPr>
              <a:t>               </a:t>
            </a:r>
            <a:r>
              <a:rPr lang="zh-CN" altLang="en-US" sz="2000" b="1" dirty="0">
                <a:latin typeface="宋体" panose="02010600030101010101" pitchFamily="2" charset="-122"/>
              </a:rPr>
              <a:t>内部逻辑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基于</a:t>
            </a:r>
            <a:r>
              <a:rPr lang="en-US" altLang="zh-CN" sz="1600" dirty="0" err="1">
                <a:sym typeface="+mn-ea"/>
              </a:rPr>
              <a:t>μ</a:t>
            </a:r>
            <a:r>
              <a:rPr lang="en-US" altLang="zh-CN" sz="1600" b="1" dirty="0" err="1">
                <a:latin typeface="宋体" panose="02010600030101010101" pitchFamily="2" charset="-122"/>
                <a:sym typeface="+mn-ea"/>
              </a:rPr>
              <a:t>OPCmd</a:t>
            </a:r>
            <a:r>
              <a:rPr lang="zh-CN" altLang="en-US" sz="1600" b="1" dirty="0">
                <a:latin typeface="宋体" panose="02010600030101010101" pitchFamily="2" charset="-122"/>
              </a:rPr>
              <a:t>序列</a:t>
            </a:r>
            <a:r>
              <a:rPr lang="en-US" altLang="zh-CN" sz="1600" b="1" dirty="0">
                <a:latin typeface="宋体" panose="02010600030101010101" pitchFamily="2" charset="-122"/>
              </a:rPr>
              <a:t>&amp;</a:t>
            </a:r>
            <a:r>
              <a:rPr lang="zh-CN" altLang="en-US" sz="1600" b="1" dirty="0">
                <a:latin typeface="宋体" panose="02010600030101010101" pitchFamily="2" charset="-122"/>
              </a:rPr>
              <a:t>时序信号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</a:rPr>
              <a:t>，实现</a:t>
            </a:r>
            <a:r>
              <a:rPr lang="en-US" altLang="zh-CN" sz="1600" b="1" dirty="0">
                <a:latin typeface="宋体" panose="02010600030101010101" pitchFamily="2" charset="-122"/>
              </a:rPr>
              <a:t>(2</a:t>
            </a:r>
            <a:r>
              <a:rPr lang="zh-CN" altLang="en-US" sz="1600" b="1" dirty="0">
                <a:latin typeface="宋体" panose="02010600030101010101" pitchFamily="2" charset="-122"/>
              </a:rPr>
              <a:t>种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latin typeface="宋体" panose="02010600030101010101" pitchFamily="2" charset="-122"/>
              </a:rPr>
              <a:t>     </a:t>
            </a:r>
            <a:r>
              <a:rPr lang="zh-CN" altLang="en-US" sz="2000" b="1" dirty="0">
                <a:latin typeface="宋体" panose="02010600030101010101" pitchFamily="2" charset="-122"/>
              </a:rPr>
              <a:t>处理时机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随时</a:t>
            </a:r>
            <a:r>
              <a:rPr lang="en-US" altLang="zh-CN" sz="1600" b="1" dirty="0"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</a:rPr>
              <a:t>指令结束时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</a:rPr>
              <a:t>、断点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en-US" altLang="zh-CN" sz="1600" b="1" dirty="0">
                <a:latin typeface="+mn-lt"/>
              </a:rPr>
              <a:t>~</a:t>
            </a:r>
            <a:r>
              <a:rPr lang="zh-CN" altLang="en-US" sz="1600" b="1" dirty="0">
                <a:latin typeface="宋体" panose="02010600030101010101" pitchFamily="2" charset="-122"/>
              </a:rPr>
              <a:t>分类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</a:rPr>
              <a:t>，处理策略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事件</a:t>
            </a:r>
            <a:r>
              <a:rPr lang="en-US" altLang="zh-CN" sz="1600" b="1" dirty="0">
                <a:latin typeface="宋体" panose="02010600030101010101" pitchFamily="2" charset="-122"/>
              </a:rPr>
              <a:t>&amp;</a:t>
            </a:r>
            <a:r>
              <a:rPr lang="zh-CN" altLang="en-US" sz="1600" b="1" dirty="0">
                <a:latin typeface="宋体" panose="02010600030101010101" pitchFamily="2" charset="-122"/>
              </a:rPr>
              <a:t>检测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latin typeface="宋体" panose="02010600030101010101" pitchFamily="2" charset="-122"/>
              </a:rPr>
              <a:t>    </a:t>
            </a:r>
            <a:r>
              <a:rPr lang="zh-CN" altLang="en-US" sz="2000" b="1" dirty="0">
                <a:latin typeface="宋体" panose="02010600030101010101" pitchFamily="2" charset="-122"/>
              </a:rPr>
              <a:t>响应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硬件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</a:rPr>
              <a:t>＋处理</a:t>
            </a:r>
            <a:r>
              <a:rPr lang="en-US" altLang="zh-CN" sz="2000" b="1" dirty="0">
                <a:latin typeface="宋体" panose="02010600030101010101" pitchFamily="2" charset="-122"/>
              </a:rPr>
              <a:t>&amp;</a:t>
            </a:r>
            <a:r>
              <a:rPr lang="zh-CN" altLang="en-US" sz="2000" b="1" dirty="0">
                <a:latin typeface="宋体" panose="02010600030101010101" pitchFamily="2" charset="-122"/>
              </a:rPr>
              <a:t>返回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软件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</a:rPr>
              <a:t>，响应步骤</a:t>
            </a:r>
            <a:r>
              <a:rPr lang="en-US" altLang="zh-CN" sz="1600" b="1" dirty="0">
                <a:latin typeface="宋体" panose="02010600030101010101" pitchFamily="2" charset="-122"/>
              </a:rPr>
              <a:t>(3</a:t>
            </a:r>
            <a:r>
              <a:rPr lang="zh-CN" altLang="en-US" sz="1600" b="1" dirty="0">
                <a:latin typeface="宋体" panose="02010600030101010101" pitchFamily="2" charset="-122"/>
              </a:rPr>
              <a:t>步</a:t>
            </a:r>
            <a:r>
              <a:rPr lang="en-US" altLang="zh-CN" sz="1600" b="1" dirty="0">
                <a:latin typeface="宋体" panose="02010600030101010101" pitchFamily="2" charset="-122"/>
              </a:rPr>
              <a:t>[</a:t>
            </a:r>
            <a:r>
              <a:rPr lang="zh-CN" altLang="en-US" sz="1600" b="1" dirty="0">
                <a:latin typeface="宋体" panose="02010600030101010101" pitchFamily="2" charset="-122"/>
              </a:rPr>
              <a:t>向量</a:t>
            </a:r>
            <a:r>
              <a:rPr lang="en-US" altLang="zh-CN" sz="1600" b="1" dirty="0"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</a:rPr>
              <a:t>非向量</a:t>
            </a:r>
            <a:r>
              <a:rPr lang="en-US" altLang="zh-CN" sz="1600" b="1" dirty="0">
                <a:latin typeface="宋体" panose="02010600030101010101" pitchFamily="2" charset="-122"/>
              </a:rPr>
              <a:t>])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zh-CN" altLang="en-US" sz="2000" b="1" dirty="0">
                <a:latin typeface="宋体" panose="02010600030101010101" pitchFamily="2" charset="-122"/>
              </a:rPr>
              <a:t>检测</a:t>
            </a:r>
            <a:r>
              <a:rPr lang="en-US" altLang="zh-CN" sz="2000" b="1" dirty="0">
                <a:latin typeface="宋体" panose="02010600030101010101" pitchFamily="2" charset="-122"/>
              </a:rPr>
              <a:t>+</a:t>
            </a:r>
            <a:r>
              <a:rPr lang="zh-CN" altLang="en-US" sz="2000" b="1" dirty="0">
                <a:latin typeface="宋体" panose="02010600030101010101" pitchFamily="2" charset="-122"/>
              </a:rPr>
              <a:t>判优</a:t>
            </a:r>
            <a:r>
              <a:rPr lang="en-US" altLang="zh-CN" sz="2000" b="1" dirty="0">
                <a:latin typeface="宋体" panose="02010600030101010101" pitchFamily="2" charset="-122"/>
              </a:rPr>
              <a:t>+</a:t>
            </a:r>
            <a:r>
              <a:rPr lang="zh-CN" altLang="en-US" sz="2000" b="1" dirty="0">
                <a:latin typeface="宋体" panose="02010600030101010101" pitchFamily="2" charset="-122"/>
              </a:rPr>
              <a:t>后援</a:t>
            </a:r>
            <a:r>
              <a:rPr lang="en-US" altLang="zh-CN" sz="2000" b="1" dirty="0">
                <a:latin typeface="宋体" panose="02010600030101010101" pitchFamily="2" charset="-122"/>
              </a:rPr>
              <a:t>REG</a:t>
            </a:r>
            <a:r>
              <a:rPr lang="zh-CN" altLang="en-US" sz="2000" b="1" dirty="0">
                <a:latin typeface="宋体" panose="02010600030101010101" pitchFamily="2" charset="-122"/>
              </a:rPr>
              <a:t>等，响应操作由</a:t>
            </a:r>
            <a:r>
              <a:rPr lang="en-US" altLang="zh-CN" sz="2000" b="1" dirty="0">
                <a:latin typeface="宋体" panose="02010600030101010101" pitchFamily="2" charset="-122"/>
              </a:rPr>
              <a:t>CU</a:t>
            </a:r>
            <a:r>
              <a:rPr lang="zh-CN" altLang="en-US" sz="2000" b="1" dirty="0">
                <a:latin typeface="宋体" panose="02010600030101010101" pitchFamily="2" charset="-122"/>
              </a:rPr>
              <a:t>控制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+mn-lt"/>
              </a:rPr>
              <a:t>～</a:t>
            </a:r>
            <a:r>
              <a:rPr lang="zh-CN" altLang="en-US" sz="1600" b="1" dirty="0">
                <a:latin typeface="宋体" panose="02010600030101010101" pitchFamily="2" charset="-122"/>
              </a:rPr>
              <a:t>事件类型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2000" b="1" dirty="0">
              <a:latin typeface="宋体" panose="02010600030101010101" pitchFamily="2" charset="-122"/>
            </a:endParaRPr>
          </a:p>
        </p:txBody>
      </p:sp>
      <p:grpSp>
        <p:nvGrpSpPr>
          <p:cNvPr id="90" name="组合 89">
            <a:extLst>
              <a:ext uri="{FF2B5EF4-FFF2-40B4-BE49-F238E27FC236}">
                <a16:creationId xmlns:a16="http://schemas.microsoft.com/office/drawing/2014/main" id="{23D89163-1B11-4BA8-AB58-2C26CADA5453}"/>
              </a:ext>
            </a:extLst>
          </p:cNvPr>
          <p:cNvGrpSpPr/>
          <p:nvPr/>
        </p:nvGrpSpPr>
        <p:grpSpPr>
          <a:xfrm>
            <a:off x="1584416" y="1916832"/>
            <a:ext cx="6732000" cy="900000"/>
            <a:chOff x="1332000" y="2052000"/>
            <a:chExt cx="6732000" cy="900000"/>
          </a:xfrm>
        </p:grpSpPr>
        <p:sp>
          <p:nvSpPr>
            <p:cNvPr id="91" name="Text Box 18">
              <a:extLst>
                <a:ext uri="{FF2B5EF4-FFF2-40B4-BE49-F238E27FC236}">
                  <a16:creationId xmlns:a16="http://schemas.microsoft.com/office/drawing/2014/main" id="{DB7EABA0-4FAA-4BBB-AEF2-484AC1ED1B1B}"/>
                </a:ext>
              </a:extLst>
            </p:cNvPr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333058" y="2052000"/>
              <a:ext cx="1224000" cy="900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92" name="Text Box 18">
              <a:extLst>
                <a:ext uri="{FF2B5EF4-FFF2-40B4-BE49-F238E27FC236}">
                  <a16:creationId xmlns:a16="http://schemas.microsoft.com/office/drawing/2014/main" id="{CC8DD0A1-B41F-4998-8031-BBCAEB9BE43A}"/>
                </a:ext>
              </a:extLst>
            </p:cNvPr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2556000" y="2052000"/>
              <a:ext cx="5508000" cy="900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93" name="Text Box 18">
              <a:extLst>
                <a:ext uri="{FF2B5EF4-FFF2-40B4-BE49-F238E27FC236}">
                  <a16:creationId xmlns:a16="http://schemas.microsoft.com/office/drawing/2014/main" id="{A9FA42AA-75B3-4C1A-A7B7-088D52F31195}"/>
                </a:ext>
              </a:extLst>
            </p:cNvPr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332000" y="2052000"/>
              <a:ext cx="6732000" cy="900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F6AF7C36-0AB3-42AB-8FC8-D1E33D17349F}"/>
                </a:ext>
              </a:extLst>
            </p:cNvPr>
            <p:cNvCxnSpPr/>
            <p:nvPr>
              <p:custDataLst>
                <p:tags r:id="rId4"/>
              </p:custDataLst>
            </p:nvPr>
          </p:nvCxnSpPr>
          <p:spPr bwMode="auto">
            <a:xfrm>
              <a:off x="2339285" y="2088000"/>
              <a:ext cx="298831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5" name="Text Box 18">
              <a:extLst>
                <a:ext uri="{FF2B5EF4-FFF2-40B4-BE49-F238E27FC236}">
                  <a16:creationId xmlns:a16="http://schemas.microsoft.com/office/drawing/2014/main" id="{B42EFB5F-D6F9-4ADF-83BB-9C5E5BF8EBCC}"/>
                </a:ext>
              </a:extLst>
            </p:cNvPr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979240" y="2412190"/>
              <a:ext cx="431800" cy="2159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IR</a:t>
              </a:r>
            </a:p>
          </p:txBody>
        </p: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49FFC407-A2A4-4FEE-A411-B7432B6E9C68}"/>
                </a:ext>
              </a:extLst>
            </p:cNvPr>
            <p:cNvCxnSpPr/>
            <p:nvPr>
              <p:custDataLst>
                <p:tags r:id="rId6"/>
              </p:custDataLst>
            </p:nvPr>
          </p:nvCxnSpPr>
          <p:spPr bwMode="auto">
            <a:xfrm flipV="1">
              <a:off x="2197680" y="2629360"/>
              <a:ext cx="0" cy="28829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A4DA3620-57B0-49FF-9078-D2E98007EA10}"/>
                </a:ext>
              </a:extLst>
            </p:cNvPr>
            <p:cNvCxnSpPr/>
            <p:nvPr>
              <p:custDataLst>
                <p:tags r:id="rId7"/>
              </p:custDataLst>
            </p:nvPr>
          </p:nvCxnSpPr>
          <p:spPr bwMode="auto">
            <a:xfrm flipV="1">
              <a:off x="2087190" y="2268000"/>
              <a:ext cx="0" cy="144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98" name="Text Box 18">
              <a:extLst>
                <a:ext uri="{FF2B5EF4-FFF2-40B4-BE49-F238E27FC236}">
                  <a16:creationId xmlns:a16="http://schemas.microsoft.com/office/drawing/2014/main" id="{B6FAB0C2-4C79-4B8B-A6AA-6BBA5DB67B93}"/>
                </a:ext>
              </a:extLst>
            </p:cNvPr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943680" y="2088000"/>
              <a:ext cx="288290" cy="17970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ID</a:t>
              </a:r>
            </a:p>
          </p:txBody>
        </p:sp>
        <p:sp>
          <p:nvSpPr>
            <p:cNvPr id="99" name="Text Box 18">
              <a:extLst>
                <a:ext uri="{FF2B5EF4-FFF2-40B4-BE49-F238E27FC236}">
                  <a16:creationId xmlns:a16="http://schemas.microsoft.com/office/drawing/2014/main" id="{3C06E39B-6C16-4EBB-9463-642DB9531CB1}"/>
                </a:ext>
              </a:extLst>
            </p:cNvPr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2412000" y="2160000"/>
              <a:ext cx="467995" cy="17970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disp</a:t>
              </a:r>
            </a:p>
          </p:txBody>
        </p: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9F89E22F-9C4F-4E63-BFB2-360AB4666354}"/>
                </a:ext>
              </a:extLst>
            </p:cNvPr>
            <p:cNvCxnSpPr/>
            <p:nvPr>
              <p:custDataLst>
                <p:tags r:id="rId10"/>
              </p:custDataLst>
            </p:nvPr>
          </p:nvCxnSpPr>
          <p:spPr bwMode="auto">
            <a:xfrm>
              <a:off x="2339285" y="2088000"/>
              <a:ext cx="0" cy="3240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7F3FD546-4790-4823-8DF8-60E44087149F}"/>
                </a:ext>
              </a:extLst>
            </p:cNvPr>
            <p:cNvCxnSpPr/>
            <p:nvPr>
              <p:custDataLst>
                <p:tags r:id="rId11"/>
              </p:custDataLst>
            </p:nvPr>
          </p:nvCxnSpPr>
          <p:spPr bwMode="auto">
            <a:xfrm flipV="1">
              <a:off x="2339285" y="2160000"/>
              <a:ext cx="576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2" name="AutoShape 15">
              <a:extLst>
                <a:ext uri="{FF2B5EF4-FFF2-40B4-BE49-F238E27FC236}">
                  <a16:creationId xmlns:a16="http://schemas.microsoft.com/office/drawing/2014/main" id="{9B83AD59-DB0D-494B-BFF8-896C9CC54169}"/>
                </a:ext>
              </a:extLst>
            </p:cNvPr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 rot="16200000">
              <a:off x="3707710" y="2268045"/>
              <a:ext cx="504190" cy="288290"/>
            </a:xfrm>
            <a:prstGeom prst="flowChartManualOperation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ALU</a:t>
              </a:r>
            </a:p>
          </p:txBody>
        </p: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3ABD9EFE-5827-4505-BD53-2169B1B55511}"/>
                </a:ext>
              </a:extLst>
            </p:cNvPr>
            <p:cNvCxnSpPr/>
            <p:nvPr>
              <p:custDataLst>
                <p:tags r:id="rId13"/>
              </p:custDataLst>
            </p:nvPr>
          </p:nvCxnSpPr>
          <p:spPr bwMode="auto">
            <a:xfrm flipV="1">
              <a:off x="4103950" y="2304240"/>
              <a:ext cx="792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5242D4F6-EFB9-4590-8999-8A34E2C0210D}"/>
                </a:ext>
              </a:extLst>
            </p:cNvPr>
            <p:cNvCxnSpPr/>
            <p:nvPr>
              <p:custDataLst>
                <p:tags r:id="rId14"/>
              </p:custDataLst>
            </p:nvPr>
          </p:nvCxnSpPr>
          <p:spPr bwMode="auto">
            <a:xfrm flipV="1">
              <a:off x="4103950" y="2520140"/>
              <a:ext cx="144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05" name="直接连接符 445">
              <a:extLst>
                <a:ext uri="{FF2B5EF4-FFF2-40B4-BE49-F238E27FC236}">
                  <a16:creationId xmlns:a16="http://schemas.microsoft.com/office/drawing/2014/main" id="{0E0D1259-5A58-4B6B-807C-06CB82DDD0B3}"/>
                </a:ext>
              </a:extLst>
            </p:cNvPr>
            <p:cNvCxnSpPr/>
            <p:nvPr>
              <p:custDataLst>
                <p:tags r:id="rId15"/>
              </p:custDataLst>
            </p:nvPr>
          </p:nvCxnSpPr>
          <p:spPr bwMode="auto">
            <a:xfrm>
              <a:off x="4392240" y="2628090"/>
              <a:ext cx="0" cy="28829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06" name="直接箭头连接符 105">
              <a:extLst>
                <a:ext uri="{FF2B5EF4-FFF2-40B4-BE49-F238E27FC236}">
                  <a16:creationId xmlns:a16="http://schemas.microsoft.com/office/drawing/2014/main" id="{0AAC1E26-E2E8-40B9-BBC4-0B2D1C355575}"/>
                </a:ext>
              </a:extLst>
            </p:cNvPr>
            <p:cNvCxnSpPr/>
            <p:nvPr>
              <p:custDataLst>
                <p:tags r:id="rId16"/>
              </p:custDataLst>
            </p:nvPr>
          </p:nvCxnSpPr>
          <p:spPr bwMode="auto">
            <a:xfrm>
              <a:off x="1440000" y="2915745"/>
              <a:ext cx="5832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07" name="Text Box 18">
              <a:extLst>
                <a:ext uri="{FF2B5EF4-FFF2-40B4-BE49-F238E27FC236}">
                  <a16:creationId xmlns:a16="http://schemas.microsoft.com/office/drawing/2014/main" id="{F2F4FD64-F716-42D0-B552-D0B2C834E347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4248000" y="2412190"/>
              <a:ext cx="324000" cy="215900"/>
            </a:xfrm>
            <a:prstGeom prst="rect">
              <a:avLst/>
            </a:prstGeom>
            <a:solidFill>
              <a:srgbClr val="FFFF00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Z</a:t>
              </a:r>
            </a:p>
          </p:txBody>
        </p:sp>
        <p:sp>
          <p:nvSpPr>
            <p:cNvPr id="108" name="等腰三角形 107">
              <a:extLst>
                <a:ext uri="{FF2B5EF4-FFF2-40B4-BE49-F238E27FC236}">
                  <a16:creationId xmlns:a16="http://schemas.microsoft.com/office/drawing/2014/main" id="{DACF7F53-D3CB-4F2A-9124-F3C87C2AF663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 bwMode="auto">
            <a:xfrm>
              <a:off x="4319850" y="2699845"/>
              <a:ext cx="144145" cy="10795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5192A909-7AE5-4204-8BE4-2F4189731299}"/>
                </a:ext>
              </a:extLst>
            </p:cNvPr>
            <p:cNvCxnSpPr/>
            <p:nvPr>
              <p:custDataLst>
                <p:tags r:id="rId19"/>
              </p:custDataLst>
            </p:nvPr>
          </p:nvCxnSpPr>
          <p:spPr bwMode="auto">
            <a:xfrm flipH="1" flipV="1">
              <a:off x="3960440" y="2610310"/>
              <a:ext cx="1270" cy="14414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5F81A26D-55E3-4560-95EC-781C07268CFD}"/>
                </a:ext>
              </a:extLst>
            </p:cNvPr>
            <p:cNvCxnSpPr/>
            <p:nvPr>
              <p:custDataLst>
                <p:tags r:id="rId20"/>
              </p:custDataLst>
            </p:nvPr>
          </p:nvCxnSpPr>
          <p:spPr bwMode="auto">
            <a:xfrm>
              <a:off x="4211900" y="2753820"/>
              <a:ext cx="144145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73C74232-383E-46D4-801B-A128966C526B}"/>
                </a:ext>
              </a:extLst>
            </p:cNvPr>
            <p:cNvCxnSpPr/>
            <p:nvPr>
              <p:custDataLst>
                <p:tags r:id="rId21"/>
              </p:custDataLst>
            </p:nvPr>
          </p:nvCxnSpPr>
          <p:spPr bwMode="auto">
            <a:xfrm flipH="1" flipV="1">
              <a:off x="4535750" y="2628090"/>
              <a:ext cx="635" cy="14414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9075DA98-5BD9-4778-9946-63D833D96561}"/>
                </a:ext>
              </a:extLst>
            </p:cNvPr>
            <p:cNvCxnSpPr/>
            <p:nvPr>
              <p:custDataLst>
                <p:tags r:id="rId22"/>
              </p:custDataLst>
            </p:nvPr>
          </p:nvCxnSpPr>
          <p:spPr bwMode="auto">
            <a:xfrm>
              <a:off x="3672240" y="2520140"/>
              <a:ext cx="144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909B51B3-9887-49B6-8F12-D8DF776736D1}"/>
                </a:ext>
              </a:extLst>
            </p:cNvPr>
            <p:cNvCxnSpPr/>
            <p:nvPr>
              <p:custDataLst>
                <p:tags r:id="rId23"/>
              </p:custDataLst>
            </p:nvPr>
          </p:nvCxnSpPr>
          <p:spPr bwMode="auto">
            <a:xfrm>
              <a:off x="3276000" y="2268045"/>
              <a:ext cx="54000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D15CC0E5-A81E-4F07-B598-9B0D8F51E8B8}"/>
                </a:ext>
              </a:extLst>
            </p:cNvPr>
            <p:cNvCxnSpPr/>
            <p:nvPr>
              <p:custDataLst>
                <p:tags r:id="rId24"/>
              </p:custDataLst>
            </p:nvPr>
          </p:nvCxnSpPr>
          <p:spPr bwMode="auto">
            <a:xfrm>
              <a:off x="3276000" y="2268045"/>
              <a:ext cx="0" cy="6477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4ECFC285-92C3-473B-AA63-C244591E8FBD}"/>
                </a:ext>
              </a:extLst>
            </p:cNvPr>
            <p:cNvCxnSpPr/>
            <p:nvPr>
              <p:custDataLst>
                <p:tags r:id="rId25"/>
              </p:custDataLst>
            </p:nvPr>
          </p:nvCxnSpPr>
          <p:spPr bwMode="auto">
            <a:xfrm flipV="1">
              <a:off x="3528095" y="2628090"/>
              <a:ext cx="0" cy="28829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16" name="Text Box 18">
              <a:extLst>
                <a:ext uri="{FF2B5EF4-FFF2-40B4-BE49-F238E27FC236}">
                  <a16:creationId xmlns:a16="http://schemas.microsoft.com/office/drawing/2014/main" id="{7CA38D0F-5E16-4043-A539-0A91F08E2D7E}"/>
                </a:ext>
              </a:extLst>
            </p:cNvPr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3348000" y="2412190"/>
              <a:ext cx="324000" cy="215900"/>
            </a:xfrm>
            <a:prstGeom prst="rect">
              <a:avLst/>
            </a:prstGeom>
            <a:solidFill>
              <a:srgbClr val="FFFF00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Y</a:t>
              </a:r>
            </a:p>
          </p:txBody>
        </p: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id="{D4FA1A35-1743-48C8-98D7-17ABD8F80302}"/>
                </a:ext>
              </a:extLst>
            </p:cNvPr>
            <p:cNvCxnSpPr/>
            <p:nvPr>
              <p:custDataLst>
                <p:tags r:id="rId27"/>
              </p:custDataLst>
            </p:nvPr>
          </p:nvCxnSpPr>
          <p:spPr bwMode="auto">
            <a:xfrm flipH="1" flipV="1">
              <a:off x="3636045" y="2628090"/>
              <a:ext cx="1270" cy="14414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118" name="Text Box 18">
              <a:extLst>
                <a:ext uri="{FF2B5EF4-FFF2-40B4-BE49-F238E27FC236}">
                  <a16:creationId xmlns:a16="http://schemas.microsoft.com/office/drawing/2014/main" id="{FEF9620F-0074-478A-82B6-A42A2C4EA288}"/>
                </a:ext>
              </a:extLst>
            </p:cNvPr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2664000" y="2413460"/>
              <a:ext cx="504190" cy="21590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ExtU</a:t>
              </a:r>
            </a:p>
          </p:txBody>
        </p: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AA49666C-7320-448F-AE1F-57FFAECAC18A}"/>
                </a:ext>
              </a:extLst>
            </p:cNvPr>
            <p:cNvCxnSpPr/>
            <p:nvPr>
              <p:custDataLst>
                <p:tags r:id="rId29"/>
              </p:custDataLst>
            </p:nvPr>
          </p:nvCxnSpPr>
          <p:spPr bwMode="auto">
            <a:xfrm>
              <a:off x="2916095" y="2636345"/>
              <a:ext cx="0" cy="28829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20" name="直接连接符 445">
              <a:extLst>
                <a:ext uri="{FF2B5EF4-FFF2-40B4-BE49-F238E27FC236}">
                  <a16:creationId xmlns:a16="http://schemas.microsoft.com/office/drawing/2014/main" id="{F1B958D6-BBB5-4D22-9845-A5026F3EBB4F}"/>
                </a:ext>
              </a:extLst>
            </p:cNvPr>
            <p:cNvCxnSpPr/>
            <p:nvPr>
              <p:custDataLst>
                <p:tags r:id="rId30"/>
              </p:custDataLst>
            </p:nvPr>
          </p:nvCxnSpPr>
          <p:spPr bwMode="auto">
            <a:xfrm>
              <a:off x="2916620" y="2160000"/>
              <a:ext cx="0" cy="252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21" name="等腰三角形 120">
              <a:extLst>
                <a:ext uri="{FF2B5EF4-FFF2-40B4-BE49-F238E27FC236}">
                  <a16:creationId xmlns:a16="http://schemas.microsoft.com/office/drawing/2014/main" id="{B0476419-E662-4012-B6E0-28ED88B16673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 bwMode="auto">
            <a:xfrm>
              <a:off x="2844975" y="2699845"/>
              <a:ext cx="144145" cy="10795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  <p:cxnSp>
          <p:nvCxnSpPr>
            <p:cNvPr id="122" name="直接连接符 121">
              <a:extLst>
                <a:ext uri="{FF2B5EF4-FFF2-40B4-BE49-F238E27FC236}">
                  <a16:creationId xmlns:a16="http://schemas.microsoft.com/office/drawing/2014/main" id="{554EEFBB-06F0-4A59-9E4E-1DF8234FEED2}"/>
                </a:ext>
              </a:extLst>
            </p:cNvPr>
            <p:cNvCxnSpPr/>
            <p:nvPr>
              <p:custDataLst>
                <p:tags r:id="rId32"/>
              </p:custDataLst>
            </p:nvPr>
          </p:nvCxnSpPr>
          <p:spPr bwMode="auto">
            <a:xfrm>
              <a:off x="2737025" y="2753820"/>
              <a:ext cx="144145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C553A1A3-D67C-409F-8071-28FE9756C36D}"/>
                </a:ext>
              </a:extLst>
            </p:cNvPr>
            <p:cNvCxnSpPr/>
            <p:nvPr>
              <p:custDataLst>
                <p:tags r:id="rId33"/>
              </p:custDataLst>
            </p:nvPr>
          </p:nvCxnSpPr>
          <p:spPr bwMode="auto">
            <a:xfrm flipH="1" flipV="1">
              <a:off x="2340555" y="2627455"/>
              <a:ext cx="1270" cy="14414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124" name="Text Box 18">
              <a:extLst>
                <a:ext uri="{FF2B5EF4-FFF2-40B4-BE49-F238E27FC236}">
                  <a16:creationId xmlns:a16="http://schemas.microsoft.com/office/drawing/2014/main" id="{563130EC-A7C5-490D-BF70-BBC6DB7C0539}"/>
                </a:ext>
              </a:extLst>
            </p:cNvPr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1439120" y="2412190"/>
              <a:ext cx="431800" cy="2159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PC</a:t>
              </a:r>
            </a:p>
          </p:txBody>
        </p: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89E67E8C-D9BB-47C4-841D-98AE5C753983}"/>
                </a:ext>
              </a:extLst>
            </p:cNvPr>
            <p:cNvCxnSpPr/>
            <p:nvPr>
              <p:custDataLst>
                <p:tags r:id="rId35"/>
              </p:custDataLst>
            </p:nvPr>
          </p:nvCxnSpPr>
          <p:spPr bwMode="auto">
            <a:xfrm>
              <a:off x="1547705" y="2628725"/>
              <a:ext cx="0" cy="28829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1E1EB579-70CF-4174-A5EE-E4D6BEDC40F9}"/>
                </a:ext>
              </a:extLst>
            </p:cNvPr>
            <p:cNvCxnSpPr/>
            <p:nvPr>
              <p:custDataLst>
                <p:tags r:id="rId36"/>
              </p:custDataLst>
            </p:nvPr>
          </p:nvCxnSpPr>
          <p:spPr bwMode="auto">
            <a:xfrm flipV="1">
              <a:off x="1728045" y="2628725"/>
              <a:ext cx="0" cy="28829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27" name="等腰三角形 126">
              <a:extLst>
                <a:ext uri="{FF2B5EF4-FFF2-40B4-BE49-F238E27FC236}">
                  <a16:creationId xmlns:a16="http://schemas.microsoft.com/office/drawing/2014/main" id="{4DBC1E8A-76D5-4C0B-8C9D-9611BB62EEFB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 bwMode="auto">
            <a:xfrm>
              <a:off x="1475950" y="2699845"/>
              <a:ext cx="144145" cy="10795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  <p:cxnSp>
          <p:nvCxnSpPr>
            <p:cNvPr id="128" name="直接连接符 127">
              <a:extLst>
                <a:ext uri="{FF2B5EF4-FFF2-40B4-BE49-F238E27FC236}">
                  <a16:creationId xmlns:a16="http://schemas.microsoft.com/office/drawing/2014/main" id="{CB3D1A46-4A71-4BEB-BA5A-2A9213E693B0}"/>
                </a:ext>
              </a:extLst>
            </p:cNvPr>
            <p:cNvCxnSpPr/>
            <p:nvPr>
              <p:custDataLst>
                <p:tags r:id="rId38"/>
              </p:custDataLst>
            </p:nvPr>
          </p:nvCxnSpPr>
          <p:spPr bwMode="auto">
            <a:xfrm>
              <a:off x="1368000" y="2753820"/>
              <a:ext cx="144145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BA9B2D20-4373-420C-95E2-D042DB5C25EB}"/>
                </a:ext>
              </a:extLst>
            </p:cNvPr>
            <p:cNvCxnSpPr/>
            <p:nvPr>
              <p:custDataLst>
                <p:tags r:id="rId39"/>
              </p:custDataLst>
            </p:nvPr>
          </p:nvCxnSpPr>
          <p:spPr bwMode="auto">
            <a:xfrm flipH="1" flipV="1">
              <a:off x="1835995" y="2627455"/>
              <a:ext cx="1270" cy="14414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3AC8139E-DB47-45F4-A6CB-6ABA658DCA57}"/>
                </a:ext>
              </a:extLst>
            </p:cNvPr>
            <p:cNvCxnSpPr/>
            <p:nvPr>
              <p:custDataLst>
                <p:tags r:id="rId40"/>
              </p:custDataLst>
            </p:nvPr>
          </p:nvCxnSpPr>
          <p:spPr bwMode="auto">
            <a:xfrm flipH="1">
              <a:off x="1655655" y="2267410"/>
              <a:ext cx="0" cy="14414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131" name="Text Box 10">
              <a:extLst>
                <a:ext uri="{FF2B5EF4-FFF2-40B4-BE49-F238E27FC236}">
                  <a16:creationId xmlns:a16="http://schemas.microsoft.com/office/drawing/2014/main" id="{58400641-FEBF-47EC-A2CE-D587DF79F232}"/>
                </a:ext>
              </a:extLst>
            </p:cNvPr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6012125" y="2196000"/>
              <a:ext cx="504190" cy="43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GPRs</a:t>
              </a:r>
            </a:p>
          </p:txBody>
        </p: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1F57E1D2-72F9-42A5-8A50-72E691B3CE42}"/>
                </a:ext>
              </a:extLst>
            </p:cNvPr>
            <p:cNvCxnSpPr/>
            <p:nvPr>
              <p:custDataLst>
                <p:tags r:id="rId42"/>
              </p:custDataLst>
            </p:nvPr>
          </p:nvCxnSpPr>
          <p:spPr bwMode="auto">
            <a:xfrm>
              <a:off x="6120075" y="2627455"/>
              <a:ext cx="0" cy="28829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BCB6D808-7CF3-44FC-9B86-6539CCDF3A1D}"/>
                </a:ext>
              </a:extLst>
            </p:cNvPr>
            <p:cNvCxnSpPr/>
            <p:nvPr>
              <p:custDataLst>
                <p:tags r:id="rId43"/>
              </p:custDataLst>
            </p:nvPr>
          </p:nvCxnSpPr>
          <p:spPr bwMode="auto">
            <a:xfrm flipV="1">
              <a:off x="6336610" y="2627455"/>
              <a:ext cx="0" cy="28829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CD797B96-5402-47BE-9048-F080B4FDC6C5}"/>
                </a:ext>
              </a:extLst>
            </p:cNvPr>
            <p:cNvCxnSpPr/>
            <p:nvPr>
              <p:custDataLst>
                <p:tags r:id="rId44"/>
              </p:custDataLst>
            </p:nvPr>
          </p:nvCxnSpPr>
          <p:spPr bwMode="auto">
            <a:xfrm>
              <a:off x="5326960" y="2304000"/>
              <a:ext cx="683895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35" name="等腰三角形 134">
              <a:extLst>
                <a:ext uri="{FF2B5EF4-FFF2-40B4-BE49-F238E27FC236}">
                  <a16:creationId xmlns:a16="http://schemas.microsoft.com/office/drawing/2014/main" id="{3A9D1770-071B-4D7B-9F20-83CD203FDA0D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 bwMode="auto">
            <a:xfrm>
              <a:off x="6048320" y="2699845"/>
              <a:ext cx="144145" cy="10795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94F77C2C-BBBB-4D8C-AFDF-CE3A78A7806D}"/>
                </a:ext>
              </a:extLst>
            </p:cNvPr>
            <p:cNvCxnSpPr/>
            <p:nvPr>
              <p:custDataLst>
                <p:tags r:id="rId46"/>
              </p:custDataLst>
            </p:nvPr>
          </p:nvCxnSpPr>
          <p:spPr bwMode="auto">
            <a:xfrm>
              <a:off x="5940370" y="2753820"/>
              <a:ext cx="144145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37" name="直接连接符 136">
              <a:extLst>
                <a:ext uri="{FF2B5EF4-FFF2-40B4-BE49-F238E27FC236}">
                  <a16:creationId xmlns:a16="http://schemas.microsoft.com/office/drawing/2014/main" id="{837A2BDE-5834-4E3C-8919-C6D78A4F8CA7}"/>
                </a:ext>
              </a:extLst>
            </p:cNvPr>
            <p:cNvCxnSpPr/>
            <p:nvPr>
              <p:custDataLst>
                <p:tags r:id="rId47"/>
              </p:custDataLst>
            </p:nvPr>
          </p:nvCxnSpPr>
          <p:spPr bwMode="auto">
            <a:xfrm flipH="1" flipV="1">
              <a:off x="6444560" y="2627455"/>
              <a:ext cx="0" cy="10795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38" name="直接连接符 137">
              <a:extLst>
                <a:ext uri="{FF2B5EF4-FFF2-40B4-BE49-F238E27FC236}">
                  <a16:creationId xmlns:a16="http://schemas.microsoft.com/office/drawing/2014/main" id="{7D6E74CF-23BA-46A2-BEFC-E46F15B5C6C3}"/>
                </a:ext>
              </a:extLst>
            </p:cNvPr>
            <p:cNvCxnSpPr/>
            <p:nvPr>
              <p:custDataLst>
                <p:tags r:id="rId48"/>
              </p:custDataLst>
            </p:nvPr>
          </p:nvCxnSpPr>
          <p:spPr bwMode="auto">
            <a:xfrm>
              <a:off x="5868615" y="2520000"/>
              <a:ext cx="144145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39" name="Text Box 18">
              <a:extLst>
                <a:ext uri="{FF2B5EF4-FFF2-40B4-BE49-F238E27FC236}">
                  <a16:creationId xmlns:a16="http://schemas.microsoft.com/office/drawing/2014/main" id="{3B87E754-A1A8-4A1F-9CF9-6CC19C32EBCE}"/>
                </a:ext>
              </a:extLst>
            </p:cNvPr>
            <p:cNvSpPr txBox="1"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4678485" y="2411555"/>
              <a:ext cx="431800" cy="2159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PSR</a:t>
              </a:r>
            </a:p>
          </p:txBody>
        </p:sp>
        <p:cxnSp>
          <p:nvCxnSpPr>
            <p:cNvPr id="140" name="直接连接符 139">
              <a:extLst>
                <a:ext uri="{FF2B5EF4-FFF2-40B4-BE49-F238E27FC236}">
                  <a16:creationId xmlns:a16="http://schemas.microsoft.com/office/drawing/2014/main" id="{82CF26FD-0B07-49C8-A571-8DD9B93649B6}"/>
                </a:ext>
              </a:extLst>
            </p:cNvPr>
            <p:cNvCxnSpPr/>
            <p:nvPr>
              <p:custDataLst>
                <p:tags r:id="rId50"/>
              </p:custDataLst>
            </p:nvPr>
          </p:nvCxnSpPr>
          <p:spPr bwMode="auto">
            <a:xfrm>
              <a:off x="4787705" y="2628090"/>
              <a:ext cx="0" cy="28829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1" name="直接连接符 140">
              <a:extLst>
                <a:ext uri="{FF2B5EF4-FFF2-40B4-BE49-F238E27FC236}">
                  <a16:creationId xmlns:a16="http://schemas.microsoft.com/office/drawing/2014/main" id="{048D51ED-D097-469A-86C5-4483E7020B41}"/>
                </a:ext>
              </a:extLst>
            </p:cNvPr>
            <p:cNvCxnSpPr/>
            <p:nvPr>
              <p:custDataLst>
                <p:tags r:id="rId51"/>
              </p:custDataLst>
            </p:nvPr>
          </p:nvCxnSpPr>
          <p:spPr bwMode="auto">
            <a:xfrm flipV="1">
              <a:off x="4968045" y="2628090"/>
              <a:ext cx="0" cy="28829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2" name="直接连接符 445">
              <a:extLst>
                <a:ext uri="{FF2B5EF4-FFF2-40B4-BE49-F238E27FC236}">
                  <a16:creationId xmlns:a16="http://schemas.microsoft.com/office/drawing/2014/main" id="{B172F4C5-01D1-49A9-A6CB-C44BE171F048}"/>
                </a:ext>
              </a:extLst>
            </p:cNvPr>
            <p:cNvCxnSpPr/>
            <p:nvPr>
              <p:custDataLst>
                <p:tags r:id="rId52"/>
              </p:custDataLst>
            </p:nvPr>
          </p:nvCxnSpPr>
          <p:spPr bwMode="auto">
            <a:xfrm>
              <a:off x="4894385" y="2304240"/>
              <a:ext cx="0" cy="10795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43" name="等腰三角形 142">
              <a:extLst>
                <a:ext uri="{FF2B5EF4-FFF2-40B4-BE49-F238E27FC236}">
                  <a16:creationId xmlns:a16="http://schemas.microsoft.com/office/drawing/2014/main" id="{0DA9277A-F982-4881-B848-95466E1C5C42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 bwMode="auto">
            <a:xfrm>
              <a:off x="4715950" y="2699845"/>
              <a:ext cx="144145" cy="10795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  <p:cxnSp>
          <p:nvCxnSpPr>
            <p:cNvPr id="144" name="直接连接符 143">
              <a:extLst>
                <a:ext uri="{FF2B5EF4-FFF2-40B4-BE49-F238E27FC236}">
                  <a16:creationId xmlns:a16="http://schemas.microsoft.com/office/drawing/2014/main" id="{45B5F839-6F12-4CE2-B6B1-521B382E6204}"/>
                </a:ext>
              </a:extLst>
            </p:cNvPr>
            <p:cNvCxnSpPr/>
            <p:nvPr>
              <p:custDataLst>
                <p:tags r:id="rId54"/>
              </p:custDataLst>
            </p:nvPr>
          </p:nvCxnSpPr>
          <p:spPr bwMode="auto">
            <a:xfrm>
              <a:off x="4608000" y="2753820"/>
              <a:ext cx="144145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45" name="直接连接符 144">
              <a:extLst>
                <a:ext uri="{FF2B5EF4-FFF2-40B4-BE49-F238E27FC236}">
                  <a16:creationId xmlns:a16="http://schemas.microsoft.com/office/drawing/2014/main" id="{331052DD-AA9C-4DE4-8073-4AC9DB8EDB1C}"/>
                </a:ext>
              </a:extLst>
            </p:cNvPr>
            <p:cNvCxnSpPr/>
            <p:nvPr>
              <p:custDataLst>
                <p:tags r:id="rId55"/>
              </p:custDataLst>
            </p:nvPr>
          </p:nvCxnSpPr>
          <p:spPr bwMode="auto">
            <a:xfrm flipH="1" flipV="1">
              <a:off x="5075995" y="2627455"/>
              <a:ext cx="0" cy="14414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146" name="Text Box 23">
              <a:extLst>
                <a:ext uri="{FF2B5EF4-FFF2-40B4-BE49-F238E27FC236}">
                  <a16:creationId xmlns:a16="http://schemas.microsoft.com/office/drawing/2014/main" id="{F26EDABB-9DDB-4FAB-9F03-D932061B1A86}"/>
                </a:ext>
              </a:extLst>
            </p:cNvPr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7523160" y="2196290"/>
              <a:ext cx="468000" cy="467995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理想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MEM</a:t>
              </a:r>
            </a:p>
          </p:txBody>
        </p:sp>
        <p:cxnSp>
          <p:nvCxnSpPr>
            <p:cNvPr id="147" name="直接连接符 146">
              <a:extLst>
                <a:ext uri="{FF2B5EF4-FFF2-40B4-BE49-F238E27FC236}">
                  <a16:creationId xmlns:a16="http://schemas.microsoft.com/office/drawing/2014/main" id="{D758ADEE-A7B5-4C6E-887C-D20BC7ECE202}"/>
                </a:ext>
              </a:extLst>
            </p:cNvPr>
            <p:cNvCxnSpPr/>
            <p:nvPr>
              <p:custDataLst>
                <p:tags r:id="rId57"/>
              </p:custDataLst>
            </p:nvPr>
          </p:nvCxnSpPr>
          <p:spPr bwMode="auto">
            <a:xfrm>
              <a:off x="6912290" y="2664285"/>
              <a:ext cx="0" cy="252095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8" name="直接连接符 147">
              <a:extLst>
                <a:ext uri="{FF2B5EF4-FFF2-40B4-BE49-F238E27FC236}">
                  <a16:creationId xmlns:a16="http://schemas.microsoft.com/office/drawing/2014/main" id="{7862961E-496C-4C52-964E-F23F8D8FA098}"/>
                </a:ext>
              </a:extLst>
            </p:cNvPr>
            <p:cNvCxnSpPr/>
            <p:nvPr>
              <p:custDataLst>
                <p:tags r:id="rId58"/>
              </p:custDataLst>
            </p:nvPr>
          </p:nvCxnSpPr>
          <p:spPr bwMode="auto">
            <a:xfrm flipV="1">
              <a:off x="7092630" y="2664285"/>
              <a:ext cx="0" cy="252095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9" name="直接连接符 148">
              <a:extLst>
                <a:ext uri="{FF2B5EF4-FFF2-40B4-BE49-F238E27FC236}">
                  <a16:creationId xmlns:a16="http://schemas.microsoft.com/office/drawing/2014/main" id="{2FA4B25F-0B18-4B80-8266-411DDFCC42FC}"/>
                </a:ext>
              </a:extLst>
            </p:cNvPr>
            <p:cNvCxnSpPr/>
            <p:nvPr>
              <p:custDataLst>
                <p:tags r:id="rId59"/>
              </p:custDataLst>
            </p:nvPr>
          </p:nvCxnSpPr>
          <p:spPr bwMode="auto">
            <a:xfrm>
              <a:off x="7234870" y="2268045"/>
              <a:ext cx="28829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50" name="直接连接符 149">
              <a:extLst>
                <a:ext uri="{FF2B5EF4-FFF2-40B4-BE49-F238E27FC236}">
                  <a16:creationId xmlns:a16="http://schemas.microsoft.com/office/drawing/2014/main" id="{77935D49-0D14-48D2-A2E4-99C509B420CD}"/>
                </a:ext>
              </a:extLst>
            </p:cNvPr>
            <p:cNvCxnSpPr/>
            <p:nvPr>
              <p:custDataLst>
                <p:tags r:id="rId60"/>
              </p:custDataLst>
            </p:nvPr>
          </p:nvCxnSpPr>
          <p:spPr bwMode="auto">
            <a:xfrm>
              <a:off x="7234870" y="2520140"/>
              <a:ext cx="28829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151" name="直接连接符 150">
              <a:extLst>
                <a:ext uri="{FF2B5EF4-FFF2-40B4-BE49-F238E27FC236}">
                  <a16:creationId xmlns:a16="http://schemas.microsoft.com/office/drawing/2014/main" id="{05F5823F-2E86-4F53-B92F-72C378F73066}"/>
                </a:ext>
              </a:extLst>
            </p:cNvPr>
            <p:cNvCxnSpPr/>
            <p:nvPr>
              <p:custDataLst>
                <p:tags r:id="rId61"/>
              </p:custDataLst>
            </p:nvPr>
          </p:nvCxnSpPr>
          <p:spPr bwMode="auto">
            <a:xfrm flipH="1">
              <a:off x="7234870" y="2592530"/>
              <a:ext cx="288290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  <p:cxnSp>
          <p:nvCxnSpPr>
            <p:cNvPr id="152" name="直接连接符 151">
              <a:extLst>
                <a:ext uri="{FF2B5EF4-FFF2-40B4-BE49-F238E27FC236}">
                  <a16:creationId xmlns:a16="http://schemas.microsoft.com/office/drawing/2014/main" id="{DB90DE0B-75C0-4E04-A9B6-C6EE20E3A015}"/>
                </a:ext>
              </a:extLst>
            </p:cNvPr>
            <p:cNvCxnSpPr/>
            <p:nvPr>
              <p:custDataLst>
                <p:tags r:id="rId62"/>
              </p:custDataLst>
            </p:nvPr>
          </p:nvCxnSpPr>
          <p:spPr bwMode="auto">
            <a:xfrm>
              <a:off x="6658925" y="2268045"/>
              <a:ext cx="144145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53" name="直接连接符 152">
              <a:extLst>
                <a:ext uri="{FF2B5EF4-FFF2-40B4-BE49-F238E27FC236}">
                  <a16:creationId xmlns:a16="http://schemas.microsoft.com/office/drawing/2014/main" id="{A6992EFA-4FBD-4622-8BE7-DDE1A58FDFF9}"/>
                </a:ext>
              </a:extLst>
            </p:cNvPr>
            <p:cNvCxnSpPr/>
            <p:nvPr>
              <p:custDataLst>
                <p:tags r:id="rId63"/>
              </p:custDataLst>
            </p:nvPr>
          </p:nvCxnSpPr>
          <p:spPr bwMode="auto">
            <a:xfrm>
              <a:off x="6658925" y="2268045"/>
              <a:ext cx="0" cy="64770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54" name="Text Box 18">
              <a:extLst>
                <a:ext uri="{FF2B5EF4-FFF2-40B4-BE49-F238E27FC236}">
                  <a16:creationId xmlns:a16="http://schemas.microsoft.com/office/drawing/2014/main" id="{3B8721E4-879A-43FC-A6CA-62F810AE1453}"/>
                </a:ext>
              </a:extLst>
            </p:cNvPr>
            <p:cNvSpPr txBox="1">
              <a:spLocks noChangeArrowheads="1"/>
            </p:cNvSpPr>
            <p:nvPr>
              <p:custDataLst>
                <p:tags r:id="rId64"/>
              </p:custDataLst>
            </p:nvPr>
          </p:nvSpPr>
          <p:spPr bwMode="auto">
            <a:xfrm>
              <a:off x="6804340" y="2160095"/>
              <a:ext cx="431800" cy="2159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MAR</a:t>
              </a:r>
            </a:p>
          </p:txBody>
        </p:sp>
        <p:sp>
          <p:nvSpPr>
            <p:cNvPr id="155" name="等腰三角形 154">
              <a:extLst>
                <a:ext uri="{FF2B5EF4-FFF2-40B4-BE49-F238E27FC236}">
                  <a16:creationId xmlns:a16="http://schemas.microsoft.com/office/drawing/2014/main" id="{4FA24556-8798-466F-97AB-D8F4700B6275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 bwMode="auto">
            <a:xfrm>
              <a:off x="6839900" y="2699845"/>
              <a:ext cx="144145" cy="107950"/>
            </a:xfrm>
            <a:prstGeom prst="triangle">
              <a:avLst/>
            </a:prstGeom>
            <a:solidFill>
              <a:srgbClr val="FFFF00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10800000"/>
              </a:camera>
              <a:lightRig rig="threePt" dir="t"/>
            </a:scene3d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rgbClr val="CC3300"/>
                </a:solidFill>
                <a:effectLst/>
                <a:latin typeface="宋体" panose="02010600030101010101" pitchFamily="2" charset="-122"/>
              </a:endParaRPr>
            </a:p>
          </p:txBody>
        </p:sp>
        <p:cxnSp>
          <p:nvCxnSpPr>
            <p:cNvPr id="156" name="直接连接符 155">
              <a:extLst>
                <a:ext uri="{FF2B5EF4-FFF2-40B4-BE49-F238E27FC236}">
                  <a16:creationId xmlns:a16="http://schemas.microsoft.com/office/drawing/2014/main" id="{5618FBF8-EEFC-4DF3-9481-350A35889FC6}"/>
                </a:ext>
              </a:extLst>
            </p:cNvPr>
            <p:cNvCxnSpPr/>
            <p:nvPr>
              <p:custDataLst>
                <p:tags r:id="rId66"/>
              </p:custDataLst>
            </p:nvPr>
          </p:nvCxnSpPr>
          <p:spPr bwMode="auto">
            <a:xfrm flipV="1">
              <a:off x="7632380" y="2664285"/>
              <a:ext cx="0" cy="14414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57" name="直接连接符 156">
              <a:extLst>
                <a:ext uri="{FF2B5EF4-FFF2-40B4-BE49-F238E27FC236}">
                  <a16:creationId xmlns:a16="http://schemas.microsoft.com/office/drawing/2014/main" id="{41715E71-47D6-42CD-86C5-31C85B761A24}"/>
                </a:ext>
              </a:extLst>
            </p:cNvPr>
            <p:cNvCxnSpPr/>
            <p:nvPr>
              <p:custDataLst>
                <p:tags r:id="rId67"/>
              </p:custDataLst>
            </p:nvPr>
          </p:nvCxnSpPr>
          <p:spPr bwMode="auto">
            <a:xfrm flipV="1">
              <a:off x="7884000" y="2664285"/>
              <a:ext cx="0" cy="14414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58" name="直接连接符 157">
              <a:extLst>
                <a:ext uri="{FF2B5EF4-FFF2-40B4-BE49-F238E27FC236}">
                  <a16:creationId xmlns:a16="http://schemas.microsoft.com/office/drawing/2014/main" id="{17C1991F-3101-429B-A105-F622DF7461FC}"/>
                </a:ext>
              </a:extLst>
            </p:cNvPr>
            <p:cNvCxnSpPr/>
            <p:nvPr>
              <p:custDataLst>
                <p:tags r:id="rId68"/>
              </p:custDataLst>
            </p:nvPr>
          </p:nvCxnSpPr>
          <p:spPr bwMode="auto">
            <a:xfrm>
              <a:off x="6731950" y="2753820"/>
              <a:ext cx="144145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59" name="直接连接符 158">
              <a:extLst>
                <a:ext uri="{FF2B5EF4-FFF2-40B4-BE49-F238E27FC236}">
                  <a16:creationId xmlns:a16="http://schemas.microsoft.com/office/drawing/2014/main" id="{9B3118A7-998F-4FEF-8F78-5B7AE0BC622B}"/>
                </a:ext>
              </a:extLst>
            </p:cNvPr>
            <p:cNvCxnSpPr/>
            <p:nvPr>
              <p:custDataLst>
                <p:tags r:id="rId69"/>
              </p:custDataLst>
            </p:nvPr>
          </p:nvCxnSpPr>
          <p:spPr bwMode="auto">
            <a:xfrm flipH="1" flipV="1">
              <a:off x="7199945" y="2664285"/>
              <a:ext cx="0" cy="144145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160" name="直接连接符 159">
              <a:extLst>
                <a:ext uri="{FF2B5EF4-FFF2-40B4-BE49-F238E27FC236}">
                  <a16:creationId xmlns:a16="http://schemas.microsoft.com/office/drawing/2014/main" id="{70BE5635-D1F9-436D-BD01-92226802980A}"/>
                </a:ext>
              </a:extLst>
            </p:cNvPr>
            <p:cNvCxnSpPr/>
            <p:nvPr>
              <p:custDataLst>
                <p:tags r:id="rId70"/>
              </p:custDataLst>
            </p:nvPr>
          </p:nvCxnSpPr>
          <p:spPr bwMode="auto">
            <a:xfrm>
              <a:off x="6624000" y="2196290"/>
              <a:ext cx="179705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161" name="Text Box 18">
              <a:extLst>
                <a:ext uri="{FF2B5EF4-FFF2-40B4-BE49-F238E27FC236}">
                  <a16:creationId xmlns:a16="http://schemas.microsoft.com/office/drawing/2014/main" id="{D82561AF-909F-4F9F-9F1F-07BB97991F11}"/>
                </a:ext>
              </a:extLst>
            </p:cNvPr>
            <p:cNvSpPr txBox="1">
              <a:spLocks noChangeArrowheads="1"/>
            </p:cNvSpPr>
            <p:nvPr>
              <p:custDataLst>
                <p:tags r:id="rId71"/>
              </p:custDataLst>
            </p:nvPr>
          </p:nvSpPr>
          <p:spPr bwMode="auto">
            <a:xfrm>
              <a:off x="6803070" y="2448385"/>
              <a:ext cx="431800" cy="2159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MDR</a:t>
              </a:r>
            </a:p>
          </p:txBody>
        </p:sp>
        <p:sp>
          <p:nvSpPr>
            <p:cNvPr id="162" name="Text Box 18">
              <a:extLst>
                <a:ext uri="{FF2B5EF4-FFF2-40B4-BE49-F238E27FC236}">
                  <a16:creationId xmlns:a16="http://schemas.microsoft.com/office/drawing/2014/main" id="{9CE07084-0E8B-43A1-9A95-7D5664E3534E}"/>
                </a:ext>
              </a:extLst>
            </p:cNvPr>
            <p:cNvSpPr txBox="1">
              <a:spLocks noChangeArrowheads="1"/>
            </p:cNvSpPr>
            <p:nvPr>
              <p:custDataLst>
                <p:tags r:id="rId72"/>
              </p:custDataLst>
            </p:nvPr>
          </p:nvSpPr>
          <p:spPr bwMode="auto">
            <a:xfrm>
              <a:off x="5616520" y="2340095"/>
              <a:ext cx="252095" cy="360045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vert="mongolianVert" lIns="0" tIns="0" rIns="0" bIns="0" anchor="b" anchorCtr="1"/>
            <a:lstStyle/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dirty="0">
                  <a:latin typeface="宋体" panose="02010600030101010101" pitchFamily="2" charset="-122"/>
                </a:rPr>
                <a:t>MUX</a:t>
              </a:r>
            </a:p>
          </p:txBody>
        </p:sp>
        <p:cxnSp>
          <p:nvCxnSpPr>
            <p:cNvPr id="163" name="直接连接符 162">
              <a:extLst>
                <a:ext uri="{FF2B5EF4-FFF2-40B4-BE49-F238E27FC236}">
                  <a16:creationId xmlns:a16="http://schemas.microsoft.com/office/drawing/2014/main" id="{C01A3D60-B49A-4573-BD40-0E708E3A0949}"/>
                </a:ext>
              </a:extLst>
            </p:cNvPr>
            <p:cNvCxnSpPr/>
            <p:nvPr>
              <p:custDataLst>
                <p:tags r:id="rId73"/>
              </p:custDataLst>
            </p:nvPr>
          </p:nvCxnSpPr>
          <p:spPr bwMode="auto">
            <a:xfrm>
              <a:off x="5326960" y="2592190"/>
              <a:ext cx="28829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164" name="Text Box 18">
              <a:extLst>
                <a:ext uri="{FF2B5EF4-FFF2-40B4-BE49-F238E27FC236}">
                  <a16:creationId xmlns:a16="http://schemas.microsoft.com/office/drawing/2014/main" id="{812FD399-AD18-4F89-A528-19C52D5AE0B6}"/>
                </a:ext>
              </a:extLst>
            </p:cNvPr>
            <p:cNvSpPr txBox="1">
              <a:spLocks noChangeArrowheads="1"/>
            </p:cNvSpPr>
            <p:nvPr>
              <p:custDataLst>
                <p:tags r:id="rId74"/>
              </p:custDataLst>
            </p:nvPr>
          </p:nvSpPr>
          <p:spPr bwMode="auto">
            <a:xfrm>
              <a:off x="5363155" y="2088000"/>
              <a:ext cx="28829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RD</a:t>
              </a:r>
            </a:p>
          </p:txBody>
        </p:sp>
        <p:sp>
          <p:nvSpPr>
            <p:cNvPr id="165" name="Text Box 18">
              <a:extLst>
                <a:ext uri="{FF2B5EF4-FFF2-40B4-BE49-F238E27FC236}">
                  <a16:creationId xmlns:a16="http://schemas.microsoft.com/office/drawing/2014/main" id="{CDBD8C07-BD69-4DE3-8BC7-67E7CAFCCB61}"/>
                </a:ext>
              </a:extLst>
            </p:cNvPr>
            <p:cNvSpPr txBox="1">
              <a:spLocks noChangeArrowheads="1"/>
            </p:cNvSpPr>
            <p:nvPr>
              <p:custDataLst>
                <p:tags r:id="rId75"/>
              </p:custDataLst>
            </p:nvPr>
          </p:nvSpPr>
          <p:spPr bwMode="auto">
            <a:xfrm>
              <a:off x="5328000" y="2592190"/>
              <a:ext cx="28829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RS</a:t>
              </a:r>
            </a:p>
          </p:txBody>
        </p:sp>
        <p:cxnSp>
          <p:nvCxnSpPr>
            <p:cNvPr id="166" name="直接连接符 480">
              <a:extLst>
                <a:ext uri="{FF2B5EF4-FFF2-40B4-BE49-F238E27FC236}">
                  <a16:creationId xmlns:a16="http://schemas.microsoft.com/office/drawing/2014/main" id="{D77422FB-D866-40BE-9206-2BD8E4ED7B03}"/>
                </a:ext>
              </a:extLst>
            </p:cNvPr>
            <p:cNvCxnSpPr/>
            <p:nvPr>
              <p:custDataLst>
                <p:tags r:id="rId76"/>
              </p:custDataLst>
            </p:nvPr>
          </p:nvCxnSpPr>
          <p:spPr bwMode="auto">
            <a:xfrm>
              <a:off x="5436815" y="2303265"/>
              <a:ext cx="179705" cy="179705"/>
            </a:xfrm>
            <a:prstGeom prst="bentConnector3">
              <a:avLst>
                <a:gd name="adj1" fmla="val -883"/>
              </a:avLst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 w="med" len="med"/>
            </a:ln>
            <a:effectLst/>
          </p:spPr>
        </p:cxnSp>
        <p:cxnSp>
          <p:nvCxnSpPr>
            <p:cNvPr id="167" name="直接连接符 166">
              <a:extLst>
                <a:ext uri="{FF2B5EF4-FFF2-40B4-BE49-F238E27FC236}">
                  <a16:creationId xmlns:a16="http://schemas.microsoft.com/office/drawing/2014/main" id="{77946FC9-9AEA-472B-9C3E-A2CF9DCC674E}"/>
                </a:ext>
              </a:extLst>
            </p:cNvPr>
            <p:cNvCxnSpPr/>
            <p:nvPr>
              <p:custDataLst>
                <p:tags r:id="rId77"/>
              </p:custDataLst>
            </p:nvPr>
          </p:nvCxnSpPr>
          <p:spPr bwMode="auto">
            <a:xfrm>
              <a:off x="5326960" y="2088000"/>
              <a:ext cx="0" cy="50419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8" name="直接连接符 167">
              <a:extLst>
                <a:ext uri="{FF2B5EF4-FFF2-40B4-BE49-F238E27FC236}">
                  <a16:creationId xmlns:a16="http://schemas.microsoft.com/office/drawing/2014/main" id="{4AA2610B-D9B8-4EB6-A947-61D02C4DCC21}"/>
                </a:ext>
              </a:extLst>
            </p:cNvPr>
            <p:cNvCxnSpPr/>
            <p:nvPr>
              <p:custDataLst>
                <p:tags r:id="rId78"/>
              </p:custDataLst>
            </p:nvPr>
          </p:nvCxnSpPr>
          <p:spPr bwMode="auto">
            <a:xfrm flipV="1">
              <a:off x="5724470" y="2700140"/>
              <a:ext cx="0" cy="10795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169" name="矩形 168">
              <a:extLst>
                <a:ext uri="{FF2B5EF4-FFF2-40B4-BE49-F238E27FC236}">
                  <a16:creationId xmlns:a16="http://schemas.microsoft.com/office/drawing/2014/main" id="{2D78AD20-B6B9-4941-9F83-6233E53DC1AC}"/>
                </a:ext>
              </a:extLst>
            </p:cNvPr>
            <p:cNvSpPr/>
            <p:nvPr>
              <p:custDataLst>
                <p:tags r:id="rId79"/>
              </p:custDataLst>
            </p:nvPr>
          </p:nvSpPr>
          <p:spPr bwMode="auto">
            <a:xfrm>
              <a:off x="5616520" y="2448045"/>
              <a:ext cx="71755" cy="71755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0" name="矩形 169">
              <a:extLst>
                <a:ext uri="{FF2B5EF4-FFF2-40B4-BE49-F238E27FC236}">
                  <a16:creationId xmlns:a16="http://schemas.microsoft.com/office/drawing/2014/main" id="{5AE59A3E-6D38-4C01-8470-6FF8370C6BF1}"/>
                </a:ext>
              </a:extLst>
            </p:cNvPr>
            <p:cNvSpPr/>
            <p:nvPr>
              <p:custDataLst>
                <p:tags r:id="rId80"/>
              </p:custDataLst>
            </p:nvPr>
          </p:nvSpPr>
          <p:spPr bwMode="auto">
            <a:xfrm>
              <a:off x="5616520" y="2555995"/>
              <a:ext cx="63500" cy="71755"/>
            </a:xfrm>
            <a:prstGeom prst="rect">
              <a:avLst/>
            </a:prstGeom>
            <a:solidFill>
              <a:schemeClr val="tx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cxnSp>
        <p:nvCxnSpPr>
          <p:cNvPr id="171" name="直接箭头连接符 170">
            <a:extLst>
              <a:ext uri="{FF2B5EF4-FFF2-40B4-BE49-F238E27FC236}">
                <a16:creationId xmlns:a16="http://schemas.microsoft.com/office/drawing/2014/main" id="{59642578-EE1F-4B18-889B-0195EF78910E}"/>
              </a:ext>
            </a:extLst>
          </p:cNvPr>
          <p:cNvCxnSpPr>
            <a:cxnSpLocks/>
          </p:cNvCxnSpPr>
          <p:nvPr/>
        </p:nvCxnSpPr>
        <p:spPr bwMode="auto">
          <a:xfrm flipH="1">
            <a:off x="6011592" y="3284984"/>
            <a:ext cx="1476000" cy="864096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sm" len="sm"/>
          </a:ln>
          <a:effectLst/>
        </p:spPr>
      </p:cxnSp>
    </p:spTree>
    <p:extLst>
      <p:ext uri="{BB962C8B-B14F-4D97-AF65-F5344CB8AC3E}">
        <p14:creationId xmlns:p14="http://schemas.microsoft.com/office/powerpoint/2010/main" val="2505964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8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8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8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8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8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19C8885-3793-4735-8499-DBEF80B38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t>30</a:t>
            </a:fld>
            <a:endParaRPr lang="en-US" altLang="zh-CN" dirty="0"/>
          </a:p>
        </p:txBody>
      </p:sp>
      <p:grpSp>
        <p:nvGrpSpPr>
          <p:cNvPr id="193" name="组合 192">
            <a:extLst>
              <a:ext uri="{FF2B5EF4-FFF2-40B4-BE49-F238E27FC236}">
                <a16:creationId xmlns:a16="http://schemas.microsoft.com/office/drawing/2014/main" id="{9FCB0CB1-F2A5-4596-A119-9B05A80388A7}"/>
              </a:ext>
            </a:extLst>
          </p:cNvPr>
          <p:cNvGrpSpPr/>
          <p:nvPr/>
        </p:nvGrpSpPr>
        <p:grpSpPr>
          <a:xfrm>
            <a:off x="2771800" y="2232000"/>
            <a:ext cx="5976050" cy="3168115"/>
            <a:chOff x="2771800" y="2232000"/>
            <a:chExt cx="5976050" cy="3168115"/>
          </a:xfrm>
        </p:grpSpPr>
        <p:sp>
          <p:nvSpPr>
            <p:cNvPr id="194" name="Text Box 392">
              <a:extLst>
                <a:ext uri="{FF2B5EF4-FFF2-40B4-BE49-F238E27FC236}">
                  <a16:creationId xmlns:a16="http://schemas.microsoft.com/office/drawing/2014/main" id="{0F2F54EB-1E53-4A07-8F27-FD2E70798BD6}"/>
                </a:ext>
              </a:extLst>
            </p:cNvPr>
            <p:cNvSpPr txBox="1">
              <a:spLocks noChangeArrowheads="1"/>
            </p:cNvSpPr>
            <p:nvPr>
              <p:custDataLst>
                <p:tags r:id="rId118"/>
              </p:custDataLst>
            </p:nvPr>
          </p:nvSpPr>
          <p:spPr bwMode="auto">
            <a:xfrm>
              <a:off x="7920000" y="5256000"/>
              <a:ext cx="468000" cy="10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200" b="1" dirty="0">
                  <a:highlight>
                    <a:srgbClr val="99CCFF"/>
                  </a:highlight>
                  <a:latin typeface="宋体" panose="02010600030101010101" pitchFamily="2" charset="-122"/>
                </a:rPr>
                <a:t>x+2</a:t>
              </a:r>
              <a:r>
                <a:rPr lang="en-US" altLang="zh-CN" sz="1200" b="1" baseline="30000" dirty="0">
                  <a:highlight>
                    <a:srgbClr val="99CCFF"/>
                  </a:highlight>
                  <a:latin typeface="宋体" panose="02010600030101010101" pitchFamily="2" charset="-122"/>
                </a:rPr>
                <a:t>k</a:t>
              </a:r>
              <a:r>
                <a:rPr lang="en-US" altLang="zh-CN" sz="1200" b="1" dirty="0">
                  <a:highlight>
                    <a:srgbClr val="99CCFF"/>
                  </a:highlight>
                  <a:latin typeface="宋体" panose="02010600030101010101" pitchFamily="2" charset="-122"/>
                </a:rPr>
                <a:t>-1</a:t>
              </a:r>
            </a:p>
          </p:txBody>
        </p:sp>
        <p:sp>
          <p:nvSpPr>
            <p:cNvPr id="195" name="Text Box 392">
              <a:extLst>
                <a:ext uri="{FF2B5EF4-FFF2-40B4-BE49-F238E27FC236}">
                  <a16:creationId xmlns:a16="http://schemas.microsoft.com/office/drawing/2014/main" id="{CD68048F-9CED-40ED-9140-0D37BA1AD7ED}"/>
                </a:ext>
              </a:extLst>
            </p:cNvPr>
            <p:cNvSpPr txBox="1">
              <a:spLocks noChangeArrowheads="1"/>
            </p:cNvSpPr>
            <p:nvPr>
              <p:custDataLst>
                <p:tags r:id="rId119"/>
              </p:custDataLst>
            </p:nvPr>
          </p:nvSpPr>
          <p:spPr bwMode="auto">
            <a:xfrm>
              <a:off x="8244000" y="4932000"/>
              <a:ext cx="144145" cy="10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200" b="1" dirty="0">
                  <a:highlight>
                    <a:srgbClr val="99CCFF"/>
                  </a:highlight>
                  <a:latin typeface="宋体" panose="02010600030101010101" pitchFamily="2" charset="-122"/>
                </a:rPr>
                <a:t>x</a:t>
              </a:r>
            </a:p>
          </p:txBody>
        </p:sp>
        <p:sp>
          <p:nvSpPr>
            <p:cNvPr id="196" name="Rectangle 299">
              <a:extLst>
                <a:ext uri="{FF2B5EF4-FFF2-40B4-BE49-F238E27FC236}">
                  <a16:creationId xmlns:a16="http://schemas.microsoft.com/office/drawing/2014/main" id="{D621B829-3B51-43B2-B1AE-C52C6126E82B}"/>
                </a:ext>
              </a:extLst>
            </p:cNvPr>
            <p:cNvSpPr>
              <a:spLocks noChangeArrowheads="1"/>
            </p:cNvSpPr>
            <p:nvPr>
              <p:custDataLst>
                <p:tags r:id="rId120"/>
              </p:custDataLst>
            </p:nvPr>
          </p:nvSpPr>
          <p:spPr bwMode="auto">
            <a:xfrm>
              <a:off x="5184015" y="2232000"/>
              <a:ext cx="3383915" cy="14757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lIns="0" tIns="0" rIns="0" bIns="0" anchor="ctr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197" name="Text Box 61">
              <a:extLst>
                <a:ext uri="{FF2B5EF4-FFF2-40B4-BE49-F238E27FC236}">
                  <a16:creationId xmlns:a16="http://schemas.microsoft.com/office/drawing/2014/main" id="{1D18E536-D56F-42FA-95BB-C791903351F4}"/>
                </a:ext>
              </a:extLst>
            </p:cNvPr>
            <p:cNvSpPr txBox="1">
              <a:spLocks noChangeArrowheads="1"/>
            </p:cNvSpPr>
            <p:nvPr>
              <p:custDataLst>
                <p:tags r:id="rId121"/>
              </p:custDataLst>
            </p:nvPr>
          </p:nvSpPr>
          <p:spPr bwMode="auto">
            <a:xfrm>
              <a:off x="5219800" y="3168000"/>
              <a:ext cx="323850" cy="17970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/>
            <a:lstStyle/>
            <a:p>
              <a:pPr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CPU</a:t>
              </a:r>
            </a:p>
          </p:txBody>
        </p:sp>
        <p:cxnSp>
          <p:nvCxnSpPr>
            <p:cNvPr id="198" name="直接连接符 197">
              <a:extLst>
                <a:ext uri="{FF2B5EF4-FFF2-40B4-BE49-F238E27FC236}">
                  <a16:creationId xmlns:a16="http://schemas.microsoft.com/office/drawing/2014/main" id="{E9BF05AA-7E61-41F4-8A99-9D9D1FA8977F}"/>
                </a:ext>
              </a:extLst>
            </p:cNvPr>
            <p:cNvCxnSpPr/>
            <p:nvPr>
              <p:custDataLst>
                <p:tags r:id="rId122"/>
              </p:custDataLst>
            </p:nvPr>
          </p:nvCxnSpPr>
          <p:spPr bwMode="auto">
            <a:xfrm>
              <a:off x="3456000" y="3851885"/>
              <a:ext cx="4896000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9" name="直接连接符 198">
              <a:extLst>
                <a:ext uri="{FF2B5EF4-FFF2-40B4-BE49-F238E27FC236}">
                  <a16:creationId xmlns:a16="http://schemas.microsoft.com/office/drawing/2014/main" id="{03F675B8-CB55-4155-A751-1C9017A233FA}"/>
                </a:ext>
              </a:extLst>
            </p:cNvPr>
            <p:cNvCxnSpPr/>
            <p:nvPr>
              <p:custDataLst>
                <p:tags r:id="rId123"/>
              </p:custDataLst>
            </p:nvPr>
          </p:nvCxnSpPr>
          <p:spPr bwMode="auto">
            <a:xfrm>
              <a:off x="3456000" y="3923640"/>
              <a:ext cx="4896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0" name="直接连接符 199">
              <a:extLst>
                <a:ext uri="{FF2B5EF4-FFF2-40B4-BE49-F238E27FC236}">
                  <a16:creationId xmlns:a16="http://schemas.microsoft.com/office/drawing/2014/main" id="{D6A0143A-FDED-4771-A527-1C12EEA6E9EB}"/>
                </a:ext>
              </a:extLst>
            </p:cNvPr>
            <p:cNvCxnSpPr/>
            <p:nvPr>
              <p:custDataLst>
                <p:tags r:id="rId124"/>
              </p:custDataLst>
            </p:nvPr>
          </p:nvCxnSpPr>
          <p:spPr bwMode="auto">
            <a:xfrm>
              <a:off x="3456000" y="3996030"/>
              <a:ext cx="4896000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01" name="Text Box 392">
              <a:extLst>
                <a:ext uri="{FF2B5EF4-FFF2-40B4-BE49-F238E27FC236}">
                  <a16:creationId xmlns:a16="http://schemas.microsoft.com/office/drawing/2014/main" id="{057D802B-FFC7-4187-AF83-60C68BC031B5}"/>
                </a:ext>
              </a:extLst>
            </p:cNvPr>
            <p:cNvSpPr txBox="1">
              <a:spLocks noChangeArrowheads="1"/>
            </p:cNvSpPr>
            <p:nvPr>
              <p:custDataLst>
                <p:tags r:id="rId125"/>
              </p:custDataLst>
            </p:nvPr>
          </p:nvSpPr>
          <p:spPr bwMode="auto">
            <a:xfrm>
              <a:off x="3059800" y="3816000"/>
              <a:ext cx="39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总线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202" name="Text Box 61">
              <a:extLst>
                <a:ext uri="{FF2B5EF4-FFF2-40B4-BE49-F238E27FC236}">
                  <a16:creationId xmlns:a16="http://schemas.microsoft.com/office/drawing/2014/main" id="{25758A1B-3E08-4708-90C1-0DBCDE38CCDC}"/>
                </a:ext>
              </a:extLst>
            </p:cNvPr>
            <p:cNvSpPr txBox="1">
              <a:spLocks noChangeArrowheads="1"/>
            </p:cNvSpPr>
            <p:nvPr>
              <p:custDataLst>
                <p:tags r:id="rId126"/>
              </p:custDataLst>
            </p:nvPr>
          </p:nvSpPr>
          <p:spPr bwMode="auto">
            <a:xfrm>
              <a:off x="4175635" y="3707740"/>
              <a:ext cx="144145" cy="14414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80000"/>
                </a:lnSpc>
              </a:pPr>
              <a:r>
                <a:rPr lang="en-US" altLang="zh-CN" sz="1200" b="1" dirty="0">
                  <a:latin typeface="+mn-ea"/>
                  <a:ea typeface="+mn-ea"/>
                  <a:cs typeface="Times New Roman" panose="02020603050405020304" pitchFamily="18" charset="0"/>
                </a:rPr>
                <a:t>a</a:t>
              </a:r>
            </a:p>
          </p:txBody>
        </p:sp>
        <p:cxnSp>
          <p:nvCxnSpPr>
            <p:cNvPr id="203" name="直接连接符 202">
              <a:extLst>
                <a:ext uri="{FF2B5EF4-FFF2-40B4-BE49-F238E27FC236}">
                  <a16:creationId xmlns:a16="http://schemas.microsoft.com/office/drawing/2014/main" id="{1ADCA3C3-265D-43F6-8133-68CA164AE46B}"/>
                </a:ext>
              </a:extLst>
            </p:cNvPr>
            <p:cNvCxnSpPr/>
            <p:nvPr>
              <p:custDataLst>
                <p:tags r:id="rId127"/>
              </p:custDataLst>
            </p:nvPr>
          </p:nvCxnSpPr>
          <p:spPr bwMode="auto">
            <a:xfrm>
              <a:off x="4140075" y="3959835"/>
              <a:ext cx="71755" cy="71755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4" name="直接连接符 203">
              <a:extLst>
                <a:ext uri="{FF2B5EF4-FFF2-40B4-BE49-F238E27FC236}">
                  <a16:creationId xmlns:a16="http://schemas.microsoft.com/office/drawing/2014/main" id="{AEB4A881-3EDB-4310-88E1-101803AEBC37}"/>
                </a:ext>
              </a:extLst>
            </p:cNvPr>
            <p:cNvCxnSpPr/>
            <p:nvPr>
              <p:custDataLst>
                <p:tags r:id="rId128"/>
              </p:custDataLst>
            </p:nvPr>
          </p:nvCxnSpPr>
          <p:spPr bwMode="auto">
            <a:xfrm>
              <a:off x="4140075" y="3815690"/>
              <a:ext cx="71755" cy="71755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5" name="Text Box 61">
              <a:extLst>
                <a:ext uri="{FF2B5EF4-FFF2-40B4-BE49-F238E27FC236}">
                  <a16:creationId xmlns:a16="http://schemas.microsoft.com/office/drawing/2014/main" id="{9C56BC8F-7345-45CE-9CD3-E21F4E1874A9}"/>
                </a:ext>
              </a:extLst>
            </p:cNvPr>
            <p:cNvSpPr txBox="1">
              <a:spLocks noChangeArrowheads="1"/>
            </p:cNvSpPr>
            <p:nvPr>
              <p:custDataLst>
                <p:tags r:id="rId129"/>
              </p:custDataLst>
            </p:nvPr>
          </p:nvSpPr>
          <p:spPr bwMode="auto">
            <a:xfrm>
              <a:off x="4067685" y="3996030"/>
              <a:ext cx="144145" cy="14414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80000"/>
                </a:lnSpc>
              </a:pPr>
              <a:r>
                <a:rPr lang="en-US" altLang="zh-CN" sz="1200" b="1" dirty="0">
                  <a:latin typeface="+mn-ea"/>
                  <a:ea typeface="+mn-ea"/>
                  <a:cs typeface="Times New Roman" panose="02020603050405020304" pitchFamily="18" charset="0"/>
                </a:rPr>
                <a:t>b</a:t>
              </a:r>
            </a:p>
          </p:txBody>
        </p:sp>
        <p:cxnSp>
          <p:nvCxnSpPr>
            <p:cNvPr id="206" name="直接箭头连接符 205">
              <a:extLst>
                <a:ext uri="{FF2B5EF4-FFF2-40B4-BE49-F238E27FC236}">
                  <a16:creationId xmlns:a16="http://schemas.microsoft.com/office/drawing/2014/main" id="{79541B64-10B6-4C06-B96A-1CF82E9A091D}"/>
                </a:ext>
              </a:extLst>
            </p:cNvPr>
            <p:cNvCxnSpPr/>
            <p:nvPr>
              <p:custDataLst>
                <p:tags r:id="rId130"/>
              </p:custDataLst>
            </p:nvPr>
          </p:nvCxnSpPr>
          <p:spPr bwMode="auto">
            <a:xfrm>
              <a:off x="7920000" y="3707740"/>
              <a:ext cx="0" cy="144145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07" name="直接箭头连接符 206">
              <a:extLst>
                <a:ext uri="{FF2B5EF4-FFF2-40B4-BE49-F238E27FC236}">
                  <a16:creationId xmlns:a16="http://schemas.microsoft.com/office/drawing/2014/main" id="{FF2496A2-261F-4902-94E7-8ABF23760D9F}"/>
                </a:ext>
              </a:extLst>
            </p:cNvPr>
            <p:cNvCxnSpPr/>
            <p:nvPr>
              <p:custDataLst>
                <p:tags r:id="rId131"/>
              </p:custDataLst>
            </p:nvPr>
          </p:nvCxnSpPr>
          <p:spPr bwMode="auto">
            <a:xfrm>
              <a:off x="7992000" y="3707740"/>
              <a:ext cx="0" cy="2159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08" name="直接箭头连接符 207">
              <a:extLst>
                <a:ext uri="{FF2B5EF4-FFF2-40B4-BE49-F238E27FC236}">
                  <a16:creationId xmlns:a16="http://schemas.microsoft.com/office/drawing/2014/main" id="{00F2CBEC-99E9-4398-BFA6-8345FF5CA950}"/>
                </a:ext>
              </a:extLst>
            </p:cNvPr>
            <p:cNvCxnSpPr/>
            <p:nvPr>
              <p:custDataLst>
                <p:tags r:id="rId132"/>
              </p:custDataLst>
            </p:nvPr>
          </p:nvCxnSpPr>
          <p:spPr bwMode="auto">
            <a:xfrm>
              <a:off x="8064000" y="3707740"/>
              <a:ext cx="0" cy="28829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209" name="Text Box 291">
              <a:extLst>
                <a:ext uri="{FF2B5EF4-FFF2-40B4-BE49-F238E27FC236}">
                  <a16:creationId xmlns:a16="http://schemas.microsoft.com/office/drawing/2014/main" id="{27C70481-6C72-43BC-AE65-5E152CFB18D9}"/>
                </a:ext>
              </a:extLst>
            </p:cNvPr>
            <p:cNvSpPr txBox="1">
              <a:spLocks noChangeArrowheads="1"/>
            </p:cNvSpPr>
            <p:nvPr>
              <p:custDataLst>
                <p:tags r:id="rId133"/>
              </p:custDataLst>
            </p:nvPr>
          </p:nvSpPr>
          <p:spPr bwMode="auto">
            <a:xfrm>
              <a:off x="3599800" y="2520000"/>
              <a:ext cx="648000" cy="756000"/>
            </a:xfrm>
            <a:prstGeom prst="rect">
              <a:avLst/>
            </a:prstGeom>
            <a:solidFill>
              <a:srgbClr val="99CCFF">
                <a:alpha val="78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t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主存</a:t>
              </a:r>
              <a:endParaRPr lang="en-US" altLang="zh-CN" sz="14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2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≤</a:t>
              </a:r>
              <a:r>
                <a:rPr lang="en-US" altLang="zh-CN" sz="1200" b="1" dirty="0">
                  <a:latin typeface="宋体" panose="02010600030101010101" pitchFamily="2" charset="-122"/>
                </a:rPr>
                <a:t>2</a:t>
              </a:r>
              <a:r>
                <a:rPr lang="en-US" altLang="zh-CN" sz="1200" b="1" baseline="30000" dirty="0">
                  <a:latin typeface="宋体" panose="02010600030101010101" pitchFamily="2" charset="-122"/>
                </a:rPr>
                <a:t>n</a:t>
              </a:r>
              <a:r>
                <a:rPr lang="en-US" altLang="zh-CN" sz="1200" b="1" dirty="0">
                  <a:latin typeface="宋体" panose="02010600030101010101" pitchFamily="2" charset="-122"/>
                </a:rPr>
                <a:t>×w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10" name="直接箭头连接符 209">
              <a:extLst>
                <a:ext uri="{FF2B5EF4-FFF2-40B4-BE49-F238E27FC236}">
                  <a16:creationId xmlns:a16="http://schemas.microsoft.com/office/drawing/2014/main" id="{7CA6D5C4-EFCE-4CCF-8888-D1E080DD17D1}"/>
                </a:ext>
              </a:extLst>
            </p:cNvPr>
            <p:cNvCxnSpPr/>
            <p:nvPr>
              <p:custDataLst>
                <p:tags r:id="rId134"/>
              </p:custDataLst>
            </p:nvPr>
          </p:nvCxnSpPr>
          <p:spPr bwMode="auto">
            <a:xfrm flipV="1">
              <a:off x="3743800" y="3275940"/>
              <a:ext cx="0" cy="2159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11" name="直接箭头连接符 210">
              <a:extLst>
                <a:ext uri="{FF2B5EF4-FFF2-40B4-BE49-F238E27FC236}">
                  <a16:creationId xmlns:a16="http://schemas.microsoft.com/office/drawing/2014/main" id="{EA1D56D3-5D03-4D98-9191-99EF7FFD6CF7}"/>
                </a:ext>
              </a:extLst>
            </p:cNvPr>
            <p:cNvCxnSpPr/>
            <p:nvPr>
              <p:custDataLst>
                <p:tags r:id="rId135"/>
              </p:custDataLst>
            </p:nvPr>
          </p:nvCxnSpPr>
          <p:spPr bwMode="auto">
            <a:xfrm flipV="1">
              <a:off x="3851800" y="3275940"/>
              <a:ext cx="0" cy="2159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12" name="直接箭头连接符 211">
              <a:extLst>
                <a:ext uri="{FF2B5EF4-FFF2-40B4-BE49-F238E27FC236}">
                  <a16:creationId xmlns:a16="http://schemas.microsoft.com/office/drawing/2014/main" id="{F088230E-C238-46EA-BCB4-871BB0E4E9D6}"/>
                </a:ext>
              </a:extLst>
            </p:cNvPr>
            <p:cNvCxnSpPr/>
            <p:nvPr>
              <p:custDataLst>
                <p:tags r:id="rId136"/>
              </p:custDataLst>
            </p:nvPr>
          </p:nvCxnSpPr>
          <p:spPr bwMode="auto">
            <a:xfrm>
              <a:off x="3959800" y="3275940"/>
              <a:ext cx="0" cy="2159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213" name="Rectangle 274">
              <a:extLst>
                <a:ext uri="{FF2B5EF4-FFF2-40B4-BE49-F238E27FC236}">
                  <a16:creationId xmlns:a16="http://schemas.microsoft.com/office/drawing/2014/main" id="{7B401D9F-CD43-4BE2-83DF-0E86C20D3C08}"/>
                </a:ext>
              </a:extLst>
            </p:cNvPr>
            <p:cNvSpPr>
              <a:spLocks noChangeArrowheads="1"/>
            </p:cNvSpPr>
            <p:nvPr>
              <p:custDataLst>
                <p:tags r:id="rId137"/>
              </p:custDataLst>
            </p:nvPr>
          </p:nvSpPr>
          <p:spPr bwMode="auto">
            <a:xfrm>
              <a:off x="3131800" y="2628000"/>
              <a:ext cx="323850" cy="720000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 w="952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none" lIns="0" tIns="0" rIns="0" bIns="0" anchor="ctr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cxnSp>
          <p:nvCxnSpPr>
            <p:cNvPr id="214" name="直接箭头连接符 213">
              <a:extLst>
                <a:ext uri="{FF2B5EF4-FFF2-40B4-BE49-F238E27FC236}">
                  <a16:creationId xmlns:a16="http://schemas.microsoft.com/office/drawing/2014/main" id="{8826D810-847F-4FF8-8CEF-C7F198882BE1}"/>
                </a:ext>
              </a:extLst>
            </p:cNvPr>
            <p:cNvCxnSpPr/>
            <p:nvPr>
              <p:custDataLst>
                <p:tags r:id="rId138"/>
              </p:custDataLst>
            </p:nvPr>
          </p:nvCxnSpPr>
          <p:spPr bwMode="auto">
            <a:xfrm flipV="1">
              <a:off x="3131800" y="3240000"/>
              <a:ext cx="32385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215" name="Text Box 392">
              <a:extLst>
                <a:ext uri="{FF2B5EF4-FFF2-40B4-BE49-F238E27FC236}">
                  <a16:creationId xmlns:a16="http://schemas.microsoft.com/office/drawing/2014/main" id="{032F5410-6D00-4908-B36E-C78C0A7BBA7F}"/>
                </a:ext>
              </a:extLst>
            </p:cNvPr>
            <p:cNvSpPr txBox="1">
              <a:spLocks noChangeArrowheads="1"/>
            </p:cNvSpPr>
            <p:nvPr>
              <p:custDataLst>
                <p:tags r:id="rId139"/>
              </p:custDataLst>
            </p:nvPr>
          </p:nvSpPr>
          <p:spPr bwMode="auto">
            <a:xfrm>
              <a:off x="3131800" y="2448000"/>
              <a:ext cx="323850" cy="17970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+mn-ea"/>
                  <a:ea typeface="+mn-ea"/>
                  <a:cs typeface="Times New Roman" panose="02020603050405020304" pitchFamily="18" charset="0"/>
                </a:rPr>
                <a:t>w</a:t>
              </a:r>
              <a:r>
                <a:rPr lang="zh-CN" altLang="en-US" sz="1400" b="1" dirty="0">
                  <a:latin typeface="+mn-ea"/>
                  <a:ea typeface="+mn-ea"/>
                </a:rPr>
                <a:t>位</a:t>
              </a:r>
              <a:endParaRPr lang="en-US" altLang="zh-CN" sz="1400" b="1" dirty="0">
                <a:latin typeface="+mn-ea"/>
                <a:ea typeface="+mn-ea"/>
              </a:endParaRPr>
            </a:p>
          </p:txBody>
        </p:sp>
        <p:sp>
          <p:nvSpPr>
            <p:cNvPr id="279" name="Text Box 392">
              <a:extLst>
                <a:ext uri="{FF2B5EF4-FFF2-40B4-BE49-F238E27FC236}">
                  <a16:creationId xmlns:a16="http://schemas.microsoft.com/office/drawing/2014/main" id="{80168F39-2660-47FA-89FB-50FE015EC2BA}"/>
                </a:ext>
              </a:extLst>
            </p:cNvPr>
            <p:cNvSpPr txBox="1">
              <a:spLocks noChangeArrowheads="1"/>
            </p:cNvSpPr>
            <p:nvPr>
              <p:custDataLst>
                <p:tags r:id="rId140"/>
              </p:custDataLst>
            </p:nvPr>
          </p:nvSpPr>
          <p:spPr bwMode="auto">
            <a:xfrm>
              <a:off x="2771800" y="3240000"/>
              <a:ext cx="323850" cy="10795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200" b="1" dirty="0">
                  <a:solidFill>
                    <a:srgbClr val="C00000"/>
                  </a:solidFill>
                  <a:highlight>
                    <a:srgbClr val="99CCFF"/>
                  </a:highlight>
                  <a:latin typeface="宋体" panose="02010600030101010101" pitchFamily="2" charset="-122"/>
                </a:rPr>
                <a:t>2</a:t>
              </a:r>
              <a:r>
                <a:rPr lang="en-US" altLang="zh-CN" sz="1200" b="1" baseline="30000" dirty="0">
                  <a:solidFill>
                    <a:srgbClr val="C00000"/>
                  </a:solidFill>
                  <a:highlight>
                    <a:srgbClr val="99CCFF"/>
                  </a:highlight>
                  <a:latin typeface="宋体" panose="02010600030101010101" pitchFamily="2" charset="-122"/>
                </a:rPr>
                <a:t>n</a:t>
              </a:r>
              <a:r>
                <a:rPr lang="en-US" altLang="zh-CN" sz="12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-1</a:t>
              </a:r>
            </a:p>
          </p:txBody>
        </p:sp>
        <p:sp>
          <p:nvSpPr>
            <p:cNvPr id="280" name="Text Box 392">
              <a:extLst>
                <a:ext uri="{FF2B5EF4-FFF2-40B4-BE49-F238E27FC236}">
                  <a16:creationId xmlns:a16="http://schemas.microsoft.com/office/drawing/2014/main" id="{E7780B2F-0208-4976-83F0-8E0A290A71E1}"/>
                </a:ext>
              </a:extLst>
            </p:cNvPr>
            <p:cNvSpPr txBox="1">
              <a:spLocks noChangeArrowheads="1"/>
            </p:cNvSpPr>
            <p:nvPr>
              <p:custDataLst>
                <p:tags r:id="rId141"/>
              </p:custDataLst>
            </p:nvPr>
          </p:nvSpPr>
          <p:spPr bwMode="auto">
            <a:xfrm>
              <a:off x="2771800" y="2628000"/>
              <a:ext cx="323850" cy="10795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2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281" name="Rectangle 274">
              <a:extLst>
                <a:ext uri="{FF2B5EF4-FFF2-40B4-BE49-F238E27FC236}">
                  <a16:creationId xmlns:a16="http://schemas.microsoft.com/office/drawing/2014/main" id="{D3666211-66AF-49B5-9A21-6F0C1102EEBE}"/>
                </a:ext>
              </a:extLst>
            </p:cNvPr>
            <p:cNvSpPr>
              <a:spLocks noChangeArrowheads="1"/>
            </p:cNvSpPr>
            <p:nvPr>
              <p:custDataLst>
                <p:tags r:id="rId142"/>
              </p:custDataLst>
            </p:nvPr>
          </p:nvSpPr>
          <p:spPr bwMode="auto">
            <a:xfrm>
              <a:off x="3132000" y="2628000"/>
              <a:ext cx="323850" cy="432000"/>
            </a:xfrm>
            <a:prstGeom prst="rect">
              <a:avLst/>
            </a:prstGeom>
            <a:solidFill>
              <a:srgbClr val="99CCFF">
                <a:alpha val="70000"/>
              </a:srgbClr>
            </a:solidFill>
            <a:ln w="952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none" lIns="0" tIns="0" rIns="0" bIns="0" anchor="ctr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cxnSp>
          <p:nvCxnSpPr>
            <p:cNvPr id="282" name="直接箭头连接符 281">
              <a:extLst>
                <a:ext uri="{FF2B5EF4-FFF2-40B4-BE49-F238E27FC236}">
                  <a16:creationId xmlns:a16="http://schemas.microsoft.com/office/drawing/2014/main" id="{F4CFD691-03E2-43B0-AEBB-8DA198B50A7E}"/>
                </a:ext>
              </a:extLst>
            </p:cNvPr>
            <p:cNvCxnSpPr/>
            <p:nvPr>
              <p:custDataLst>
                <p:tags r:id="rId143"/>
              </p:custDataLst>
            </p:nvPr>
          </p:nvCxnSpPr>
          <p:spPr bwMode="auto">
            <a:xfrm flipV="1">
              <a:off x="3131800" y="2736000"/>
              <a:ext cx="32385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283" name="直接箭头连接符 282">
              <a:extLst>
                <a:ext uri="{FF2B5EF4-FFF2-40B4-BE49-F238E27FC236}">
                  <a16:creationId xmlns:a16="http://schemas.microsoft.com/office/drawing/2014/main" id="{5E212206-336D-4FD4-9DFD-91153BCD9BE6}"/>
                </a:ext>
              </a:extLst>
            </p:cNvPr>
            <p:cNvCxnSpPr/>
            <p:nvPr>
              <p:custDataLst>
                <p:tags r:id="rId144"/>
              </p:custDataLst>
            </p:nvPr>
          </p:nvCxnSpPr>
          <p:spPr bwMode="auto">
            <a:xfrm flipV="1">
              <a:off x="3347800" y="2664000"/>
              <a:ext cx="360000" cy="14414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CC6600"/>
              </a:solidFill>
              <a:prstDash val="sysDash"/>
              <a:round/>
              <a:headEnd type="triangle" w="med" len="sm"/>
              <a:tailEnd type="triangle" w="med" len="sm"/>
            </a:ln>
            <a:effectLst/>
          </p:spPr>
        </p:cxnSp>
        <p:sp>
          <p:nvSpPr>
            <p:cNvPr id="284" name="Text Box 392">
              <a:extLst>
                <a:ext uri="{FF2B5EF4-FFF2-40B4-BE49-F238E27FC236}">
                  <a16:creationId xmlns:a16="http://schemas.microsoft.com/office/drawing/2014/main" id="{07C2F365-40F0-4E81-8B45-541C6BCF18AB}"/>
                </a:ext>
              </a:extLst>
            </p:cNvPr>
            <p:cNvSpPr txBox="1">
              <a:spLocks noChangeArrowheads="1"/>
            </p:cNvSpPr>
            <p:nvPr>
              <p:custDataLst>
                <p:tags r:id="rId145"/>
              </p:custDataLst>
            </p:nvPr>
          </p:nvSpPr>
          <p:spPr bwMode="auto">
            <a:xfrm>
              <a:off x="2771800" y="2952000"/>
              <a:ext cx="323850" cy="10795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200" b="1" dirty="0">
                  <a:highlight>
                    <a:srgbClr val="99CCFF"/>
                  </a:highlight>
                  <a:latin typeface="宋体" panose="02010600030101010101" pitchFamily="2" charset="-122"/>
                </a:rPr>
                <a:t>2</a:t>
              </a:r>
              <a:r>
                <a:rPr lang="en-US" altLang="zh-CN" sz="1200" b="1" baseline="30000" dirty="0">
                  <a:highlight>
                    <a:srgbClr val="99CCFF"/>
                  </a:highlight>
                  <a:latin typeface="宋体" panose="02010600030101010101" pitchFamily="2" charset="-122"/>
                </a:rPr>
                <a:t>m</a:t>
              </a:r>
              <a:r>
                <a:rPr lang="en-US" altLang="zh-CN" sz="1200" b="1" dirty="0">
                  <a:latin typeface="宋体" panose="02010600030101010101" pitchFamily="2" charset="-122"/>
                </a:rPr>
                <a:t>-1</a:t>
              </a:r>
            </a:p>
          </p:txBody>
        </p:sp>
        <p:sp>
          <p:nvSpPr>
            <p:cNvPr id="285" name="Text Box 18">
              <a:extLst>
                <a:ext uri="{FF2B5EF4-FFF2-40B4-BE49-F238E27FC236}">
                  <a16:creationId xmlns:a16="http://schemas.microsoft.com/office/drawing/2014/main" id="{DB212A00-6CF1-40C4-B155-67C5D149DDE0}"/>
                </a:ext>
              </a:extLst>
            </p:cNvPr>
            <p:cNvSpPr txBox="1">
              <a:spLocks noChangeArrowheads="1"/>
            </p:cNvSpPr>
            <p:nvPr>
              <p:custDataLst>
                <p:tags r:id="rId146"/>
              </p:custDataLst>
            </p:nvPr>
          </p:nvSpPr>
          <p:spPr bwMode="auto">
            <a:xfrm>
              <a:off x="4427800" y="2988285"/>
              <a:ext cx="648000" cy="7200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0" tIns="0" rIns="0" bIns="0" anchor="t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+mn-ea"/>
                  <a:ea typeface="+mn-ea"/>
                </a:rPr>
                <a:t>CPU</a:t>
              </a:r>
            </a:p>
          </p:txBody>
        </p:sp>
        <p:cxnSp>
          <p:nvCxnSpPr>
            <p:cNvPr id="286" name="直接箭头连接符 285">
              <a:extLst>
                <a:ext uri="{FF2B5EF4-FFF2-40B4-BE49-F238E27FC236}">
                  <a16:creationId xmlns:a16="http://schemas.microsoft.com/office/drawing/2014/main" id="{26E41CE9-463B-402A-A0D5-D42B027B4A52}"/>
                </a:ext>
              </a:extLst>
            </p:cNvPr>
            <p:cNvCxnSpPr/>
            <p:nvPr>
              <p:custDataLst>
                <p:tags r:id="rId147"/>
              </p:custDataLst>
            </p:nvPr>
          </p:nvCxnSpPr>
          <p:spPr bwMode="auto">
            <a:xfrm>
              <a:off x="4643630" y="3707740"/>
              <a:ext cx="0" cy="144145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87" name="直接箭头连接符 286">
              <a:extLst>
                <a:ext uri="{FF2B5EF4-FFF2-40B4-BE49-F238E27FC236}">
                  <a16:creationId xmlns:a16="http://schemas.microsoft.com/office/drawing/2014/main" id="{F9843079-5070-4D50-BC95-56396BB1BB9F}"/>
                </a:ext>
              </a:extLst>
            </p:cNvPr>
            <p:cNvCxnSpPr/>
            <p:nvPr>
              <p:custDataLst>
                <p:tags r:id="rId148"/>
              </p:custDataLst>
            </p:nvPr>
          </p:nvCxnSpPr>
          <p:spPr bwMode="auto">
            <a:xfrm>
              <a:off x="4716020" y="3707740"/>
              <a:ext cx="0" cy="2159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88" name="直接箭头连接符 287">
              <a:extLst>
                <a:ext uri="{FF2B5EF4-FFF2-40B4-BE49-F238E27FC236}">
                  <a16:creationId xmlns:a16="http://schemas.microsoft.com/office/drawing/2014/main" id="{D5205E4A-9B4E-42CB-9255-53FC1FAD407D}"/>
                </a:ext>
              </a:extLst>
            </p:cNvPr>
            <p:cNvCxnSpPr/>
            <p:nvPr>
              <p:custDataLst>
                <p:tags r:id="rId149"/>
              </p:custDataLst>
            </p:nvPr>
          </p:nvCxnSpPr>
          <p:spPr bwMode="auto">
            <a:xfrm>
              <a:off x="4787775" y="3707740"/>
              <a:ext cx="0" cy="28829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289" name="Rectangle 299">
              <a:extLst>
                <a:ext uri="{FF2B5EF4-FFF2-40B4-BE49-F238E27FC236}">
                  <a16:creationId xmlns:a16="http://schemas.microsoft.com/office/drawing/2014/main" id="{DF5D4802-6D60-4F85-B14F-B075E4C80B2E}"/>
                </a:ext>
              </a:extLst>
            </p:cNvPr>
            <p:cNvSpPr>
              <a:spLocks noChangeArrowheads="1"/>
            </p:cNvSpPr>
            <p:nvPr>
              <p:custDataLst>
                <p:tags r:id="rId150"/>
              </p:custDataLst>
            </p:nvPr>
          </p:nvSpPr>
          <p:spPr bwMode="auto">
            <a:xfrm>
              <a:off x="4716000" y="4139540"/>
              <a:ext cx="2016000" cy="75628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lIns="0" tIns="0" rIns="0" bIns="0" anchor="ctr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314" name="Text Box 81">
              <a:extLst>
                <a:ext uri="{FF2B5EF4-FFF2-40B4-BE49-F238E27FC236}">
                  <a16:creationId xmlns:a16="http://schemas.microsoft.com/office/drawing/2014/main" id="{967FB4B2-DFB2-4BAB-9832-531C872180C6}"/>
                </a:ext>
              </a:extLst>
            </p:cNvPr>
            <p:cNvSpPr txBox="1">
              <a:spLocks noChangeArrowheads="1"/>
            </p:cNvSpPr>
            <p:nvPr>
              <p:custDataLst>
                <p:tags r:id="rId151"/>
              </p:custDataLst>
            </p:nvPr>
          </p:nvSpPr>
          <p:spPr bwMode="auto">
            <a:xfrm>
              <a:off x="4716000" y="5184115"/>
              <a:ext cx="2952000" cy="2160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外设</a:t>
              </a:r>
              <a:r>
                <a:rPr lang="en-US" altLang="zh-CN" sz="12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200" b="1" dirty="0">
                  <a:latin typeface="宋体" panose="02010600030101010101" pitchFamily="2" charset="-122"/>
                </a:rPr>
                <a:t>无条件</a:t>
              </a:r>
              <a:r>
                <a:rPr lang="en-US" altLang="zh-CN" sz="1200" b="1" dirty="0">
                  <a:latin typeface="宋体" panose="02010600030101010101" pitchFamily="2" charset="-122"/>
                </a:rPr>
                <a:t>/</a:t>
              </a:r>
              <a:r>
                <a:rPr lang="zh-CN" altLang="en-US" sz="1200" b="1" dirty="0">
                  <a:latin typeface="宋体" panose="02010600030101010101" pitchFamily="2" charset="-122"/>
                </a:rPr>
                <a:t>条件、字符</a:t>
              </a:r>
              <a:r>
                <a:rPr lang="en-US" altLang="zh-CN" sz="1200" b="1" dirty="0">
                  <a:latin typeface="宋体" panose="02010600030101010101" pitchFamily="2" charset="-122"/>
                </a:rPr>
                <a:t>/</a:t>
              </a:r>
              <a:r>
                <a:rPr lang="zh-CN" altLang="en-US" sz="1200" b="1" dirty="0">
                  <a:latin typeface="宋体" panose="02010600030101010101" pitchFamily="2" charset="-122"/>
                </a:rPr>
                <a:t>块、串行</a:t>
              </a:r>
              <a:r>
                <a:rPr lang="en-US" altLang="zh-CN" sz="1200" b="1" dirty="0">
                  <a:latin typeface="宋体" panose="02010600030101010101" pitchFamily="2" charset="-122"/>
                </a:rPr>
                <a:t>/</a:t>
              </a:r>
              <a:r>
                <a:rPr lang="zh-CN" altLang="en-US" sz="1200" b="1" dirty="0">
                  <a:latin typeface="宋体" panose="02010600030101010101" pitchFamily="2" charset="-122"/>
                </a:rPr>
                <a:t>并行</a:t>
              </a:r>
              <a:r>
                <a:rPr lang="en-US" altLang="zh-CN" sz="1200" b="1" dirty="0">
                  <a:latin typeface="宋体" panose="02010600030101010101" pitchFamily="2" charset="-122"/>
                </a:rPr>
                <a:t>)</a:t>
              </a:r>
              <a:endParaRPr lang="zh-CN" altLang="en-US" sz="12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340" name="直接连接符 339">
              <a:extLst>
                <a:ext uri="{FF2B5EF4-FFF2-40B4-BE49-F238E27FC236}">
                  <a16:creationId xmlns:a16="http://schemas.microsoft.com/office/drawing/2014/main" id="{7FC3A7E8-76A6-4264-98AA-6A8A977E8598}"/>
                </a:ext>
              </a:extLst>
            </p:cNvPr>
            <p:cNvCxnSpPr/>
            <p:nvPr>
              <p:custDataLst>
                <p:tags r:id="rId152"/>
              </p:custDataLst>
            </p:nvPr>
          </p:nvCxnSpPr>
          <p:spPr bwMode="auto">
            <a:xfrm>
              <a:off x="6156000" y="4895825"/>
              <a:ext cx="0" cy="28829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1" name="直接连接符 340">
              <a:extLst>
                <a:ext uri="{FF2B5EF4-FFF2-40B4-BE49-F238E27FC236}">
                  <a16:creationId xmlns:a16="http://schemas.microsoft.com/office/drawing/2014/main" id="{1DBD6296-B92B-469B-8C1B-320BF578FFFD}"/>
                </a:ext>
              </a:extLst>
            </p:cNvPr>
            <p:cNvCxnSpPr/>
            <p:nvPr>
              <p:custDataLst>
                <p:tags r:id="rId153"/>
              </p:custDataLst>
            </p:nvPr>
          </p:nvCxnSpPr>
          <p:spPr bwMode="auto">
            <a:xfrm>
              <a:off x="6264000" y="4895825"/>
              <a:ext cx="0" cy="28829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triangle" w="med" len="sm"/>
            </a:ln>
          </p:spPr>
        </p:cxnSp>
        <p:cxnSp>
          <p:nvCxnSpPr>
            <p:cNvPr id="342" name="直接连接符 341">
              <a:extLst>
                <a:ext uri="{FF2B5EF4-FFF2-40B4-BE49-F238E27FC236}">
                  <a16:creationId xmlns:a16="http://schemas.microsoft.com/office/drawing/2014/main" id="{66AC2FEB-52EF-4682-8BA2-D682CEFD0BB0}"/>
                </a:ext>
              </a:extLst>
            </p:cNvPr>
            <p:cNvCxnSpPr/>
            <p:nvPr>
              <p:custDataLst>
                <p:tags r:id="rId154"/>
              </p:custDataLst>
            </p:nvPr>
          </p:nvCxnSpPr>
          <p:spPr bwMode="auto">
            <a:xfrm flipV="1">
              <a:off x="6336000" y="4895825"/>
              <a:ext cx="0" cy="28829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triangle" w="med" len="sm"/>
            </a:ln>
          </p:spPr>
        </p:cxnSp>
        <p:cxnSp>
          <p:nvCxnSpPr>
            <p:cNvPr id="343" name="直接连接符 342">
              <a:extLst>
                <a:ext uri="{FF2B5EF4-FFF2-40B4-BE49-F238E27FC236}">
                  <a16:creationId xmlns:a16="http://schemas.microsoft.com/office/drawing/2014/main" id="{75B68654-5885-4BBC-B022-8B78D2E63D38}"/>
                </a:ext>
              </a:extLst>
            </p:cNvPr>
            <p:cNvCxnSpPr/>
            <p:nvPr>
              <p:custDataLst>
                <p:tags r:id="rId155"/>
              </p:custDataLst>
            </p:nvPr>
          </p:nvCxnSpPr>
          <p:spPr bwMode="auto">
            <a:xfrm>
              <a:off x="6120000" y="5003775"/>
              <a:ext cx="71755" cy="71755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44" name="Text Box 18">
              <a:extLst>
                <a:ext uri="{FF2B5EF4-FFF2-40B4-BE49-F238E27FC236}">
                  <a16:creationId xmlns:a16="http://schemas.microsoft.com/office/drawing/2014/main" id="{A27E69CC-8CB7-45A1-8C43-731C17686BFC}"/>
                </a:ext>
              </a:extLst>
            </p:cNvPr>
            <p:cNvSpPr txBox="1">
              <a:spLocks noChangeArrowheads="1"/>
            </p:cNvSpPr>
            <p:nvPr>
              <p:custDataLst>
                <p:tags r:id="rId156"/>
              </p:custDataLst>
            </p:nvPr>
          </p:nvSpPr>
          <p:spPr bwMode="auto">
            <a:xfrm>
              <a:off x="7056000" y="4464000"/>
              <a:ext cx="684000" cy="2160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+mn-ea"/>
                  <a:ea typeface="+mn-ea"/>
                </a:rPr>
                <a:t>磁盘</a:t>
              </a:r>
            </a:p>
          </p:txBody>
        </p:sp>
        <p:sp>
          <p:nvSpPr>
            <p:cNvPr id="345" name="Text Box 20">
              <a:extLst>
                <a:ext uri="{FF2B5EF4-FFF2-40B4-BE49-F238E27FC236}">
                  <a16:creationId xmlns:a16="http://schemas.microsoft.com/office/drawing/2014/main" id="{3C5A9E0F-E110-4701-83A1-16DBC6149E53}"/>
                </a:ext>
              </a:extLst>
            </p:cNvPr>
            <p:cNvSpPr txBox="1">
              <a:spLocks noChangeArrowheads="1"/>
            </p:cNvSpPr>
            <p:nvPr>
              <p:custDataLst>
                <p:tags r:id="rId157"/>
              </p:custDataLst>
            </p:nvPr>
          </p:nvSpPr>
          <p:spPr bwMode="auto">
            <a:xfrm>
              <a:off x="7056000" y="4139540"/>
              <a:ext cx="684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+mn-ea"/>
                  <a:ea typeface="+mn-ea"/>
                </a:rPr>
                <a:t>I/O</a:t>
              </a:r>
              <a:r>
                <a:rPr lang="zh-CN" altLang="en-US" sz="1400" b="1" dirty="0">
                  <a:latin typeface="+mn-ea"/>
                  <a:ea typeface="+mn-ea"/>
                </a:rPr>
                <a:t>接口</a:t>
              </a:r>
            </a:p>
          </p:txBody>
        </p:sp>
        <p:cxnSp>
          <p:nvCxnSpPr>
            <p:cNvPr id="346" name="直接连接符 345">
              <a:extLst>
                <a:ext uri="{FF2B5EF4-FFF2-40B4-BE49-F238E27FC236}">
                  <a16:creationId xmlns:a16="http://schemas.microsoft.com/office/drawing/2014/main" id="{412BD15C-D35C-426F-B707-BC62B57829E1}"/>
                </a:ext>
              </a:extLst>
            </p:cNvPr>
            <p:cNvCxnSpPr/>
            <p:nvPr>
              <p:custDataLst>
                <p:tags r:id="rId158"/>
              </p:custDataLst>
            </p:nvPr>
          </p:nvCxnSpPr>
          <p:spPr bwMode="auto">
            <a:xfrm>
              <a:off x="7488000" y="4356000"/>
              <a:ext cx="0" cy="10795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47" name="Text Box 61">
              <a:extLst>
                <a:ext uri="{FF2B5EF4-FFF2-40B4-BE49-F238E27FC236}">
                  <a16:creationId xmlns:a16="http://schemas.microsoft.com/office/drawing/2014/main" id="{BBC7691A-5E5B-46DA-8389-8B16DD6D461D}"/>
                </a:ext>
              </a:extLst>
            </p:cNvPr>
            <p:cNvSpPr txBox="1">
              <a:spLocks noChangeArrowheads="1"/>
            </p:cNvSpPr>
            <p:nvPr>
              <p:custDataLst>
                <p:tags r:id="rId159"/>
              </p:custDataLst>
            </p:nvPr>
          </p:nvSpPr>
          <p:spPr bwMode="auto">
            <a:xfrm>
              <a:off x="6768000" y="4175735"/>
              <a:ext cx="25200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cs typeface="Times New Roman" panose="02020603050405020304" pitchFamily="18" charset="0"/>
                </a:rPr>
                <a:t>…</a:t>
              </a:r>
            </a:p>
          </p:txBody>
        </p:sp>
        <p:cxnSp>
          <p:nvCxnSpPr>
            <p:cNvPr id="348" name="直接箭头连接符 347">
              <a:extLst>
                <a:ext uri="{FF2B5EF4-FFF2-40B4-BE49-F238E27FC236}">
                  <a16:creationId xmlns:a16="http://schemas.microsoft.com/office/drawing/2014/main" id="{B3E7DCA0-5E84-482E-8B0E-43C45582DE7D}"/>
                </a:ext>
              </a:extLst>
            </p:cNvPr>
            <p:cNvCxnSpPr/>
            <p:nvPr>
              <p:custDataLst>
                <p:tags r:id="rId160"/>
              </p:custDataLst>
            </p:nvPr>
          </p:nvCxnSpPr>
          <p:spPr bwMode="auto">
            <a:xfrm>
              <a:off x="4896000" y="3851884"/>
              <a:ext cx="0" cy="828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49" name="直接箭头连接符 348">
              <a:extLst>
                <a:ext uri="{FF2B5EF4-FFF2-40B4-BE49-F238E27FC236}">
                  <a16:creationId xmlns:a16="http://schemas.microsoft.com/office/drawing/2014/main" id="{946FE97A-369F-444F-BC1E-829B66215C84}"/>
                </a:ext>
              </a:extLst>
            </p:cNvPr>
            <p:cNvCxnSpPr/>
            <p:nvPr>
              <p:custDataLst>
                <p:tags r:id="rId161"/>
              </p:custDataLst>
            </p:nvPr>
          </p:nvCxnSpPr>
          <p:spPr bwMode="auto">
            <a:xfrm>
              <a:off x="5436000" y="3923640"/>
              <a:ext cx="0" cy="28829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50" name="直接箭头连接符 349">
              <a:extLst>
                <a:ext uri="{FF2B5EF4-FFF2-40B4-BE49-F238E27FC236}">
                  <a16:creationId xmlns:a16="http://schemas.microsoft.com/office/drawing/2014/main" id="{B1C482CC-577D-4DA8-B4B7-76B8ABACA283}"/>
                </a:ext>
              </a:extLst>
            </p:cNvPr>
            <p:cNvCxnSpPr/>
            <p:nvPr>
              <p:custDataLst>
                <p:tags r:id="rId162"/>
              </p:custDataLst>
            </p:nvPr>
          </p:nvCxnSpPr>
          <p:spPr bwMode="auto">
            <a:xfrm>
              <a:off x="6156000" y="3996030"/>
              <a:ext cx="0" cy="2159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420" name="直接箭头连接符 419">
              <a:extLst>
                <a:ext uri="{FF2B5EF4-FFF2-40B4-BE49-F238E27FC236}">
                  <a16:creationId xmlns:a16="http://schemas.microsoft.com/office/drawing/2014/main" id="{3429DF90-C378-4A46-B439-D2A60AD9C20C}"/>
                </a:ext>
              </a:extLst>
            </p:cNvPr>
            <p:cNvCxnSpPr/>
            <p:nvPr>
              <p:custDataLst>
                <p:tags r:id="rId163"/>
              </p:custDataLst>
            </p:nvPr>
          </p:nvCxnSpPr>
          <p:spPr bwMode="auto">
            <a:xfrm>
              <a:off x="7416000" y="3923640"/>
              <a:ext cx="0" cy="2159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21" name="直接箭头连接符 420">
              <a:extLst>
                <a:ext uri="{FF2B5EF4-FFF2-40B4-BE49-F238E27FC236}">
                  <a16:creationId xmlns:a16="http://schemas.microsoft.com/office/drawing/2014/main" id="{4C6BB7BB-72BE-4F7B-B049-016D93173F74}"/>
                </a:ext>
              </a:extLst>
            </p:cNvPr>
            <p:cNvCxnSpPr/>
            <p:nvPr>
              <p:custDataLst>
                <p:tags r:id="rId164"/>
              </p:custDataLst>
            </p:nvPr>
          </p:nvCxnSpPr>
          <p:spPr bwMode="auto">
            <a:xfrm>
              <a:off x="7344000" y="3851885"/>
              <a:ext cx="0" cy="28829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23" name="直接箭头连接符 422">
              <a:extLst>
                <a:ext uri="{FF2B5EF4-FFF2-40B4-BE49-F238E27FC236}">
                  <a16:creationId xmlns:a16="http://schemas.microsoft.com/office/drawing/2014/main" id="{E2D52ACD-4177-459E-9993-F7DAE46A5B47}"/>
                </a:ext>
              </a:extLst>
            </p:cNvPr>
            <p:cNvCxnSpPr/>
            <p:nvPr>
              <p:custDataLst>
                <p:tags r:id="rId165"/>
              </p:custDataLst>
            </p:nvPr>
          </p:nvCxnSpPr>
          <p:spPr bwMode="auto">
            <a:xfrm>
              <a:off x="7488000" y="3996030"/>
              <a:ext cx="0" cy="144145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424" name="Text Box 291">
              <a:extLst>
                <a:ext uri="{FF2B5EF4-FFF2-40B4-BE49-F238E27FC236}">
                  <a16:creationId xmlns:a16="http://schemas.microsoft.com/office/drawing/2014/main" id="{EE4954CC-B4EA-4698-8BDE-44FB7724F377}"/>
                </a:ext>
              </a:extLst>
            </p:cNvPr>
            <p:cNvSpPr txBox="1">
              <a:spLocks noChangeArrowheads="1"/>
            </p:cNvSpPr>
            <p:nvPr>
              <p:custDataLst>
                <p:tags r:id="rId166"/>
              </p:custDataLst>
            </p:nvPr>
          </p:nvSpPr>
          <p:spPr bwMode="auto">
            <a:xfrm>
              <a:off x="3455800" y="3491840"/>
              <a:ext cx="792000" cy="215900"/>
            </a:xfrm>
            <a:prstGeom prst="rect">
              <a:avLst/>
            </a:prstGeom>
            <a:solidFill>
              <a:srgbClr val="FFFFFF">
                <a:alpha val="78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连接电路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425" name="直接箭头连接符 424">
              <a:extLst>
                <a:ext uri="{FF2B5EF4-FFF2-40B4-BE49-F238E27FC236}">
                  <a16:creationId xmlns:a16="http://schemas.microsoft.com/office/drawing/2014/main" id="{B6D4337A-9316-432C-8914-0C3138476DE8}"/>
                </a:ext>
              </a:extLst>
            </p:cNvPr>
            <p:cNvCxnSpPr/>
            <p:nvPr>
              <p:custDataLst>
                <p:tags r:id="rId167"/>
              </p:custDataLst>
            </p:nvPr>
          </p:nvCxnSpPr>
          <p:spPr bwMode="auto">
            <a:xfrm flipV="1">
              <a:off x="3743800" y="3707740"/>
              <a:ext cx="0" cy="144145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26" name="直接箭头连接符 425">
              <a:extLst>
                <a:ext uri="{FF2B5EF4-FFF2-40B4-BE49-F238E27FC236}">
                  <a16:creationId xmlns:a16="http://schemas.microsoft.com/office/drawing/2014/main" id="{59A4BC15-D5B5-466B-AC71-E610DAD5AC21}"/>
                </a:ext>
              </a:extLst>
            </p:cNvPr>
            <p:cNvCxnSpPr/>
            <p:nvPr>
              <p:custDataLst>
                <p:tags r:id="rId168"/>
              </p:custDataLst>
            </p:nvPr>
          </p:nvCxnSpPr>
          <p:spPr bwMode="auto">
            <a:xfrm flipV="1">
              <a:off x="3851800" y="3707740"/>
              <a:ext cx="0" cy="2159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27" name="直接箭头连接符 426">
              <a:extLst>
                <a:ext uri="{FF2B5EF4-FFF2-40B4-BE49-F238E27FC236}">
                  <a16:creationId xmlns:a16="http://schemas.microsoft.com/office/drawing/2014/main" id="{6BBB5F65-E3BD-441A-B239-3C5BA195607A}"/>
                </a:ext>
              </a:extLst>
            </p:cNvPr>
            <p:cNvCxnSpPr/>
            <p:nvPr>
              <p:custDataLst>
                <p:tags r:id="rId169"/>
              </p:custDataLst>
            </p:nvPr>
          </p:nvCxnSpPr>
          <p:spPr bwMode="auto">
            <a:xfrm>
              <a:off x="3959800" y="3707740"/>
              <a:ext cx="0" cy="28829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428" name="Text Box 61">
              <a:extLst>
                <a:ext uri="{FF2B5EF4-FFF2-40B4-BE49-F238E27FC236}">
                  <a16:creationId xmlns:a16="http://schemas.microsoft.com/office/drawing/2014/main" id="{8E76906D-B15B-4430-892F-B0B982DA4B7B}"/>
                </a:ext>
              </a:extLst>
            </p:cNvPr>
            <p:cNvSpPr txBox="1">
              <a:spLocks noChangeArrowheads="1"/>
            </p:cNvSpPr>
            <p:nvPr>
              <p:custDataLst>
                <p:tags r:id="rId170"/>
              </p:custDataLst>
            </p:nvPr>
          </p:nvSpPr>
          <p:spPr bwMode="auto">
            <a:xfrm>
              <a:off x="3959800" y="3276000"/>
              <a:ext cx="144145" cy="14414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80000"/>
                </a:lnSpc>
              </a:pPr>
              <a:r>
                <a:rPr lang="en-US" altLang="zh-CN" sz="1200" b="1" dirty="0">
                  <a:latin typeface="+mn-ea"/>
                  <a:ea typeface="+mn-ea"/>
                  <a:cs typeface="Times New Roman" panose="02020603050405020304" pitchFamily="18" charset="0"/>
                </a:rPr>
                <a:t>c</a:t>
              </a:r>
            </a:p>
          </p:txBody>
        </p:sp>
        <p:cxnSp>
          <p:nvCxnSpPr>
            <p:cNvPr id="429" name="直接连接符 428">
              <a:extLst>
                <a:ext uri="{FF2B5EF4-FFF2-40B4-BE49-F238E27FC236}">
                  <a16:creationId xmlns:a16="http://schemas.microsoft.com/office/drawing/2014/main" id="{3C57F030-AD6D-41C4-9E90-180E50361C1F}"/>
                </a:ext>
              </a:extLst>
            </p:cNvPr>
            <p:cNvCxnSpPr/>
            <p:nvPr>
              <p:custDataLst>
                <p:tags r:id="rId171"/>
              </p:custDataLst>
            </p:nvPr>
          </p:nvCxnSpPr>
          <p:spPr bwMode="auto">
            <a:xfrm>
              <a:off x="3923800" y="3347695"/>
              <a:ext cx="71755" cy="71755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0" name="直接连接符 429">
              <a:extLst>
                <a:ext uri="{FF2B5EF4-FFF2-40B4-BE49-F238E27FC236}">
                  <a16:creationId xmlns:a16="http://schemas.microsoft.com/office/drawing/2014/main" id="{2AF25F09-9F00-4CCB-9C39-3C756D37F882}"/>
                </a:ext>
              </a:extLst>
            </p:cNvPr>
            <p:cNvCxnSpPr/>
            <p:nvPr>
              <p:custDataLst>
                <p:tags r:id="rId172"/>
              </p:custDataLst>
            </p:nvPr>
          </p:nvCxnSpPr>
          <p:spPr bwMode="auto">
            <a:xfrm>
              <a:off x="3707800" y="3347695"/>
              <a:ext cx="71755" cy="71755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31" name="Text Box 61">
              <a:extLst>
                <a:ext uri="{FF2B5EF4-FFF2-40B4-BE49-F238E27FC236}">
                  <a16:creationId xmlns:a16="http://schemas.microsoft.com/office/drawing/2014/main" id="{0C8756B5-2F36-4756-A71C-03A9A4E10436}"/>
                </a:ext>
              </a:extLst>
            </p:cNvPr>
            <p:cNvSpPr txBox="1">
              <a:spLocks noChangeArrowheads="1"/>
            </p:cNvSpPr>
            <p:nvPr>
              <p:custDataLst>
                <p:tags r:id="rId173"/>
              </p:custDataLst>
            </p:nvPr>
          </p:nvSpPr>
          <p:spPr bwMode="auto">
            <a:xfrm>
              <a:off x="3599800" y="3348000"/>
              <a:ext cx="144145" cy="14414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80000"/>
                </a:lnSpc>
              </a:pPr>
              <a:r>
                <a:rPr lang="en-US" altLang="zh-CN" sz="1200" b="1" dirty="0">
                  <a:latin typeface="+mn-ea"/>
                  <a:ea typeface="+mn-ea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432" name="Rectangle 274">
              <a:extLst>
                <a:ext uri="{FF2B5EF4-FFF2-40B4-BE49-F238E27FC236}">
                  <a16:creationId xmlns:a16="http://schemas.microsoft.com/office/drawing/2014/main" id="{06457A05-D5C0-413D-9FD1-0E253F8A3441}"/>
                </a:ext>
              </a:extLst>
            </p:cNvPr>
            <p:cNvSpPr>
              <a:spLocks noChangeArrowheads="1"/>
            </p:cNvSpPr>
            <p:nvPr>
              <p:custDataLst>
                <p:tags r:id="rId174"/>
              </p:custDataLst>
            </p:nvPr>
          </p:nvSpPr>
          <p:spPr bwMode="auto">
            <a:xfrm>
              <a:off x="8424000" y="4932000"/>
              <a:ext cx="323850" cy="43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952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none" lIns="0" tIns="0" rIns="0" bIns="0" anchor="ctr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cxnSp>
          <p:nvCxnSpPr>
            <p:cNvPr id="433" name="直接箭头连接符 432">
              <a:extLst>
                <a:ext uri="{FF2B5EF4-FFF2-40B4-BE49-F238E27FC236}">
                  <a16:creationId xmlns:a16="http://schemas.microsoft.com/office/drawing/2014/main" id="{33A03961-DD4E-4430-99DE-0BDCD21CE644}"/>
                </a:ext>
              </a:extLst>
            </p:cNvPr>
            <p:cNvCxnSpPr/>
            <p:nvPr>
              <p:custDataLst>
                <p:tags r:id="rId175"/>
              </p:custDataLst>
            </p:nvPr>
          </p:nvCxnSpPr>
          <p:spPr bwMode="auto">
            <a:xfrm flipV="1">
              <a:off x="8424000" y="5040000"/>
              <a:ext cx="32385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434" name="直接箭头连接符 433">
              <a:extLst>
                <a:ext uri="{FF2B5EF4-FFF2-40B4-BE49-F238E27FC236}">
                  <a16:creationId xmlns:a16="http://schemas.microsoft.com/office/drawing/2014/main" id="{703B7D83-E6E1-49C3-8415-AAF219B77E6C}"/>
                </a:ext>
              </a:extLst>
            </p:cNvPr>
            <p:cNvCxnSpPr/>
            <p:nvPr>
              <p:custDataLst>
                <p:tags r:id="rId176"/>
              </p:custDataLst>
            </p:nvPr>
          </p:nvCxnSpPr>
          <p:spPr bwMode="auto">
            <a:xfrm flipV="1">
              <a:off x="8424000" y="5256000"/>
              <a:ext cx="32385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435" name="Text Box 392">
              <a:extLst>
                <a:ext uri="{FF2B5EF4-FFF2-40B4-BE49-F238E27FC236}">
                  <a16:creationId xmlns:a16="http://schemas.microsoft.com/office/drawing/2014/main" id="{C517260D-23B8-42B3-ACE5-D376367E191E}"/>
                </a:ext>
              </a:extLst>
            </p:cNvPr>
            <p:cNvSpPr txBox="1">
              <a:spLocks noChangeArrowheads="1"/>
            </p:cNvSpPr>
            <p:nvPr>
              <p:custDataLst>
                <p:tags r:id="rId177"/>
              </p:custDataLst>
            </p:nvPr>
          </p:nvSpPr>
          <p:spPr bwMode="auto">
            <a:xfrm>
              <a:off x="8424000" y="4752000"/>
              <a:ext cx="323850" cy="17970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+mn-ea"/>
                  <a:ea typeface="+mn-ea"/>
                  <a:cs typeface="Times New Roman" panose="02020603050405020304" pitchFamily="18" charset="0"/>
                </a:rPr>
                <a:t>w</a:t>
              </a:r>
              <a:r>
                <a:rPr lang="zh-CN" altLang="en-US" sz="1400" b="1" dirty="0">
                  <a:latin typeface="+mn-ea"/>
                  <a:ea typeface="+mn-ea"/>
                </a:rPr>
                <a:t>位</a:t>
              </a:r>
              <a:endParaRPr lang="en-US" altLang="zh-CN" sz="1400" b="1" dirty="0">
                <a:latin typeface="+mn-ea"/>
                <a:ea typeface="+mn-ea"/>
              </a:endParaRPr>
            </a:p>
          </p:txBody>
        </p:sp>
        <p:cxnSp>
          <p:nvCxnSpPr>
            <p:cNvPr id="436" name="直接箭头连接符 435">
              <a:extLst>
                <a:ext uri="{FF2B5EF4-FFF2-40B4-BE49-F238E27FC236}">
                  <a16:creationId xmlns:a16="http://schemas.microsoft.com/office/drawing/2014/main" id="{006FF858-60CF-4AB3-89D5-1B85C00984A8}"/>
                </a:ext>
              </a:extLst>
            </p:cNvPr>
            <p:cNvCxnSpPr/>
            <p:nvPr>
              <p:custDataLst>
                <p:tags r:id="rId178"/>
              </p:custDataLst>
            </p:nvPr>
          </p:nvCxnSpPr>
          <p:spPr bwMode="auto">
            <a:xfrm flipV="1">
              <a:off x="3131800" y="2952000"/>
              <a:ext cx="3240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437" name="直接箭头连接符 436">
              <a:extLst>
                <a:ext uri="{FF2B5EF4-FFF2-40B4-BE49-F238E27FC236}">
                  <a16:creationId xmlns:a16="http://schemas.microsoft.com/office/drawing/2014/main" id="{2B709D62-612A-4CB4-B0DC-679BBA0E50EF}"/>
                </a:ext>
              </a:extLst>
            </p:cNvPr>
            <p:cNvCxnSpPr>
              <a:cxnSpLocks/>
            </p:cNvCxnSpPr>
            <p:nvPr>
              <p:custDataLst>
                <p:tags r:id="rId179"/>
              </p:custDataLst>
            </p:nvPr>
          </p:nvCxnSpPr>
          <p:spPr bwMode="auto">
            <a:xfrm flipH="1" flipV="1">
              <a:off x="6552000" y="4500000"/>
              <a:ext cx="1980000" cy="6480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CC6600"/>
              </a:solidFill>
              <a:prstDash val="sysDash"/>
              <a:round/>
              <a:headEnd type="triangle" w="med" len="sm"/>
              <a:tailEnd type="triangle" w="med" len="sm"/>
            </a:ln>
            <a:effectLst/>
          </p:spPr>
        </p:cxnSp>
      </p:grpSp>
      <p:grpSp>
        <p:nvGrpSpPr>
          <p:cNvPr id="438" name="组合 437">
            <a:extLst>
              <a:ext uri="{FF2B5EF4-FFF2-40B4-BE49-F238E27FC236}">
                <a16:creationId xmlns:a16="http://schemas.microsoft.com/office/drawing/2014/main" id="{9D156C74-E41A-4BA0-AD91-AA551EAF33D7}"/>
              </a:ext>
            </a:extLst>
          </p:cNvPr>
          <p:cNvGrpSpPr/>
          <p:nvPr/>
        </p:nvGrpSpPr>
        <p:grpSpPr>
          <a:xfrm>
            <a:off x="6444000" y="756000"/>
            <a:ext cx="2520000" cy="1368000"/>
            <a:chOff x="4915192" y="3582766"/>
            <a:chExt cx="2520000" cy="1368000"/>
          </a:xfrm>
        </p:grpSpPr>
        <p:sp>
          <p:nvSpPr>
            <p:cNvPr id="439" name="Text Box 36">
              <a:extLst>
                <a:ext uri="{FF2B5EF4-FFF2-40B4-BE49-F238E27FC236}">
                  <a16:creationId xmlns:a16="http://schemas.microsoft.com/office/drawing/2014/main" id="{682960E9-A637-4ECF-8EDF-76C28A68CC1E}"/>
                </a:ext>
              </a:extLst>
            </p:cNvPr>
            <p:cNvSpPr txBox="1">
              <a:spLocks noChangeArrowheads="1"/>
            </p:cNvSpPr>
            <p:nvPr>
              <p:custDataLst>
                <p:tags r:id="rId108"/>
              </p:custDataLst>
            </p:nvPr>
          </p:nvSpPr>
          <p:spPr bwMode="auto">
            <a:xfrm>
              <a:off x="5635192" y="3797724"/>
              <a:ext cx="828000" cy="1152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1001</a:t>
              </a:r>
              <a:r>
                <a:rPr lang="en-US" altLang="zh-CN" sz="14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01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00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01000100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0101</a:t>
              </a:r>
              <a:r>
                <a:rPr lang="en-US" altLang="zh-CN" sz="14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01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10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…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00110011</a:t>
              </a:r>
              <a:endParaRPr lang="en-US" altLang="zh-CN" sz="1400" b="1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…</a:t>
              </a:r>
            </a:p>
          </p:txBody>
        </p:sp>
        <p:cxnSp>
          <p:nvCxnSpPr>
            <p:cNvPr id="440" name="直接连接符 439">
              <a:extLst>
                <a:ext uri="{FF2B5EF4-FFF2-40B4-BE49-F238E27FC236}">
                  <a16:creationId xmlns:a16="http://schemas.microsoft.com/office/drawing/2014/main" id="{54AE682B-E94D-43D0-9999-2E3280D57EEF}"/>
                </a:ext>
              </a:extLst>
            </p:cNvPr>
            <p:cNvCxnSpPr/>
            <p:nvPr>
              <p:custDataLst>
                <p:tags r:id="rId109"/>
              </p:custDataLst>
            </p:nvPr>
          </p:nvCxnSpPr>
          <p:spPr bwMode="auto">
            <a:xfrm>
              <a:off x="5635192" y="3960766"/>
              <a:ext cx="828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41" name="直接连接符 440">
              <a:extLst>
                <a:ext uri="{FF2B5EF4-FFF2-40B4-BE49-F238E27FC236}">
                  <a16:creationId xmlns:a16="http://schemas.microsoft.com/office/drawing/2014/main" id="{8762E9C4-9262-4FCE-B6A4-10FE30A6BEB2}"/>
                </a:ext>
              </a:extLst>
            </p:cNvPr>
            <p:cNvCxnSpPr/>
            <p:nvPr>
              <p:custDataLst>
                <p:tags r:id="rId110"/>
              </p:custDataLst>
            </p:nvPr>
          </p:nvCxnSpPr>
          <p:spPr bwMode="auto">
            <a:xfrm>
              <a:off x="5635192" y="4302766"/>
              <a:ext cx="828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42" name="Text Box 36">
              <a:extLst>
                <a:ext uri="{FF2B5EF4-FFF2-40B4-BE49-F238E27FC236}">
                  <a16:creationId xmlns:a16="http://schemas.microsoft.com/office/drawing/2014/main" id="{C185530F-964E-4951-BC3D-A33AABC759C3}"/>
                </a:ext>
              </a:extLst>
            </p:cNvPr>
            <p:cNvSpPr txBox="1">
              <a:spLocks noChangeArrowheads="1"/>
            </p:cNvSpPr>
            <p:nvPr>
              <p:custDataLst>
                <p:tags r:id="rId111"/>
              </p:custDataLst>
            </p:nvPr>
          </p:nvSpPr>
          <p:spPr bwMode="auto">
            <a:xfrm>
              <a:off x="5023192" y="3797724"/>
              <a:ext cx="612000" cy="115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latin typeface="+mn-ea"/>
                </a:rPr>
                <a:t>0…000</a:t>
              </a:r>
              <a:endParaRPr lang="en-US" altLang="zh-CN" sz="1400" b="1" dirty="0">
                <a:latin typeface="+mn-ea"/>
                <a:ea typeface="+mn-ea"/>
              </a:endParaRPr>
            </a:p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latin typeface="+mn-ea"/>
                  <a:ea typeface="+mn-ea"/>
                </a:rPr>
                <a:t>0</a:t>
              </a:r>
              <a:r>
                <a:rPr lang="en-US" altLang="zh-CN" sz="1400" b="1" dirty="0">
                  <a:latin typeface="+mn-ea"/>
                </a:rPr>
                <a:t>…</a:t>
              </a:r>
              <a:r>
                <a:rPr lang="en-US" altLang="zh-CN" sz="1400" b="1" dirty="0">
                  <a:latin typeface="+mn-ea"/>
                  <a:ea typeface="+mn-ea"/>
                </a:rPr>
                <a:t>001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400" b="1" u="none" dirty="0">
                  <a:latin typeface="+mn-ea"/>
                  <a:ea typeface="+mn-ea"/>
                </a:rPr>
                <a:t>0…010</a:t>
              </a:r>
            </a:p>
            <a:p>
              <a:pPr algn="ctr">
                <a:lnSpc>
                  <a:spcPct val="70000"/>
                </a:lnSpc>
              </a:pPr>
              <a:r>
                <a:rPr lang="en-US" altLang="zh-CN" sz="1400" b="1" dirty="0">
                  <a:latin typeface="+mn-ea"/>
                </a:rPr>
                <a:t>…</a:t>
              </a:r>
              <a:r>
                <a:rPr lang="en-US" altLang="zh-CN" sz="1400" b="1" u="none" dirty="0">
                  <a:latin typeface="+mn-ea"/>
                  <a:ea typeface="+mn-ea"/>
                </a:rPr>
                <a:t>   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latin typeface="+mn-ea"/>
                </a:rPr>
                <a:t>0…044</a:t>
              </a:r>
            </a:p>
            <a:p>
              <a:pPr algn="ctr">
                <a:lnSpc>
                  <a:spcPct val="70000"/>
                </a:lnSpc>
              </a:pPr>
              <a:r>
                <a:rPr lang="en-US" altLang="zh-CN" sz="1400" b="1" dirty="0">
                  <a:latin typeface="+mn-ea"/>
                </a:rPr>
                <a:t>…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solidFill>
                    <a:srgbClr val="C00000"/>
                  </a:solidFill>
                  <a:highlight>
                    <a:srgbClr val="99CCFF"/>
                  </a:highlight>
                  <a:latin typeface="+mn-ea"/>
                </a:rPr>
                <a:t>2</a:t>
              </a:r>
              <a:r>
                <a:rPr lang="en-US" altLang="zh-CN" sz="1400" b="1" baseline="30000" dirty="0">
                  <a:solidFill>
                    <a:srgbClr val="C00000"/>
                  </a:solidFill>
                  <a:highlight>
                    <a:srgbClr val="99CCFF"/>
                  </a:highlight>
                  <a:latin typeface="+mn-ea"/>
                </a:rPr>
                <a:t>N</a:t>
              </a:r>
              <a:r>
                <a:rPr lang="en-US" altLang="zh-CN" sz="1400" b="1" dirty="0">
                  <a:solidFill>
                    <a:schemeClr val="tx1"/>
                  </a:solidFill>
                  <a:latin typeface="+mn-ea"/>
                </a:rPr>
                <a:t>-1</a:t>
              </a:r>
            </a:p>
          </p:txBody>
        </p:sp>
        <p:cxnSp>
          <p:nvCxnSpPr>
            <p:cNvPr id="451" name="直接连接符 450">
              <a:extLst>
                <a:ext uri="{FF2B5EF4-FFF2-40B4-BE49-F238E27FC236}">
                  <a16:creationId xmlns:a16="http://schemas.microsoft.com/office/drawing/2014/main" id="{E90DA8A3-A6CC-4DBC-A3A7-5EA2177C6900}"/>
                </a:ext>
              </a:extLst>
            </p:cNvPr>
            <p:cNvCxnSpPr/>
            <p:nvPr>
              <p:custDataLst>
                <p:tags r:id="rId112"/>
              </p:custDataLst>
            </p:nvPr>
          </p:nvCxnSpPr>
          <p:spPr bwMode="auto">
            <a:xfrm>
              <a:off x="5635192" y="4122766"/>
              <a:ext cx="828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2" name="直接连接符 451">
              <a:extLst>
                <a:ext uri="{FF2B5EF4-FFF2-40B4-BE49-F238E27FC236}">
                  <a16:creationId xmlns:a16="http://schemas.microsoft.com/office/drawing/2014/main" id="{71A1FC40-6922-4D2D-BF18-6ABB82E216D3}"/>
                </a:ext>
              </a:extLst>
            </p:cNvPr>
            <p:cNvCxnSpPr/>
            <p:nvPr>
              <p:custDataLst>
                <p:tags r:id="rId113"/>
              </p:custDataLst>
            </p:nvPr>
          </p:nvCxnSpPr>
          <p:spPr bwMode="auto">
            <a:xfrm>
              <a:off x="5635192" y="4464766"/>
              <a:ext cx="828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3" name="直接连接符 452">
              <a:extLst>
                <a:ext uri="{FF2B5EF4-FFF2-40B4-BE49-F238E27FC236}">
                  <a16:creationId xmlns:a16="http://schemas.microsoft.com/office/drawing/2014/main" id="{A52DA57D-9528-40BC-AABD-C36F2191ED2D}"/>
                </a:ext>
              </a:extLst>
            </p:cNvPr>
            <p:cNvCxnSpPr/>
            <p:nvPr>
              <p:custDataLst>
                <p:tags r:id="rId114"/>
              </p:custDataLst>
            </p:nvPr>
          </p:nvCxnSpPr>
          <p:spPr bwMode="auto">
            <a:xfrm>
              <a:off x="5635192" y="4806766"/>
              <a:ext cx="828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4" name="直接连接符 453">
              <a:extLst>
                <a:ext uri="{FF2B5EF4-FFF2-40B4-BE49-F238E27FC236}">
                  <a16:creationId xmlns:a16="http://schemas.microsoft.com/office/drawing/2014/main" id="{B604C396-402C-41F7-95C5-67593260F387}"/>
                </a:ext>
              </a:extLst>
            </p:cNvPr>
            <p:cNvCxnSpPr/>
            <p:nvPr>
              <p:custDataLst>
                <p:tags r:id="rId115"/>
              </p:custDataLst>
            </p:nvPr>
          </p:nvCxnSpPr>
          <p:spPr bwMode="auto">
            <a:xfrm>
              <a:off x="5635192" y="4644766"/>
              <a:ext cx="828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55" name="Text Box 36">
              <a:extLst>
                <a:ext uri="{FF2B5EF4-FFF2-40B4-BE49-F238E27FC236}">
                  <a16:creationId xmlns:a16="http://schemas.microsoft.com/office/drawing/2014/main" id="{75A8644F-C4FF-4B98-AF4F-5FE56A78A9BB}"/>
                </a:ext>
              </a:extLst>
            </p:cNvPr>
            <p:cNvSpPr txBox="1">
              <a:spLocks noChangeArrowheads="1"/>
            </p:cNvSpPr>
            <p:nvPr>
              <p:custDataLst>
                <p:tags r:id="rId116"/>
              </p:custDataLst>
            </p:nvPr>
          </p:nvSpPr>
          <p:spPr bwMode="auto">
            <a:xfrm>
              <a:off x="4915192" y="3582766"/>
              <a:ext cx="2448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zh-CN" altLang="en-US" sz="1400" b="1" dirty="0">
                  <a:highlight>
                    <a:srgbClr val="CCECFF"/>
                  </a:highlight>
                  <a:latin typeface="+mn-ea"/>
                </a:rPr>
                <a:t>逻辑地址</a:t>
              </a:r>
              <a:r>
                <a:rPr lang="zh-CN" altLang="en-US" sz="1400" b="1" baseline="-25000" dirty="0">
                  <a:highlight>
                    <a:srgbClr val="CCECFF"/>
                  </a:highlight>
                  <a:latin typeface="+mn-ea"/>
                </a:rPr>
                <a:t> </a:t>
              </a:r>
              <a:r>
                <a:rPr lang="zh-CN" altLang="en-US" sz="1400" b="1" dirty="0">
                  <a:highlight>
                    <a:srgbClr val="CC99FF"/>
                  </a:highlight>
                  <a:latin typeface="+mn-ea"/>
                </a:rPr>
                <a:t>程序内容</a:t>
              </a:r>
              <a:r>
                <a:rPr lang="zh-CN" altLang="en-US" sz="1400" b="1" dirty="0">
                  <a:latin typeface="+mn-ea"/>
                </a:rPr>
                <a:t>  指令功能</a:t>
              </a:r>
              <a:endParaRPr lang="en-US" altLang="zh-CN" sz="1400" b="1" dirty="0">
                <a:latin typeface="+mn-ea"/>
              </a:endParaRPr>
            </a:p>
          </p:txBody>
        </p:sp>
        <p:sp>
          <p:nvSpPr>
            <p:cNvPr id="456" name="Text Box 36">
              <a:extLst>
                <a:ext uri="{FF2B5EF4-FFF2-40B4-BE49-F238E27FC236}">
                  <a16:creationId xmlns:a16="http://schemas.microsoft.com/office/drawing/2014/main" id="{DF63AB42-8AB2-4AF6-BCA7-217FA0362FB4}"/>
                </a:ext>
              </a:extLst>
            </p:cNvPr>
            <p:cNvSpPr txBox="1">
              <a:spLocks noChangeArrowheads="1"/>
            </p:cNvSpPr>
            <p:nvPr>
              <p:custDataLst>
                <p:tags r:id="rId117"/>
              </p:custDataLst>
            </p:nvPr>
          </p:nvSpPr>
          <p:spPr bwMode="auto">
            <a:xfrm>
              <a:off x="6499192" y="3798766"/>
              <a:ext cx="936000" cy="115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R1</a:t>
              </a:r>
              <a:r>
                <a:rPr lang="zh-CN" altLang="en-US" sz="1400" b="1" dirty="0">
                  <a:latin typeface="宋体" panose="02010600030101010101" pitchFamily="2" charset="-122"/>
                </a:rPr>
                <a:t>←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M[44H]</a:t>
              </a:r>
            </a:p>
            <a:p>
              <a:pPr>
                <a:lnSpc>
                  <a:spcPct val="80000"/>
                </a:lnSpc>
              </a:pPr>
              <a:r>
                <a:rPr lang="en-US" altLang="zh-CN" sz="1400" b="1" dirty="0">
                  <a:latin typeface="+mn-ea"/>
                  <a:ea typeface="+mn-ea"/>
                </a:rPr>
                <a:t> </a:t>
              </a:r>
            </a:p>
            <a:p>
              <a:pPr>
                <a:lnSpc>
                  <a:spcPct val="80000"/>
                </a:lnSpc>
              </a:pPr>
              <a:r>
                <a:rPr lang="en-US" altLang="zh-CN" sz="1400" b="1" dirty="0">
                  <a:latin typeface="+mn-ea"/>
                </a:rPr>
                <a:t>R1</a:t>
              </a:r>
              <a:r>
                <a:rPr lang="zh-CN" altLang="en-US" sz="1400" b="1" dirty="0">
                  <a:latin typeface="宋体" panose="02010600030101010101" pitchFamily="2" charset="-122"/>
                </a:rPr>
                <a:t>←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(R1)+2</a:t>
              </a:r>
              <a:r>
                <a:rPr lang="en-US" altLang="zh-CN" sz="1400" b="1" u="none" dirty="0">
                  <a:latin typeface="+mn-ea"/>
                  <a:ea typeface="+mn-ea"/>
                </a:rPr>
                <a:t>   </a:t>
              </a:r>
            </a:p>
            <a:p>
              <a:pPr>
                <a:lnSpc>
                  <a:spcPct val="80000"/>
                </a:lnSpc>
              </a:pPr>
              <a:endParaRPr lang="en-US" altLang="zh-CN" sz="1400" b="1" dirty="0">
                <a:latin typeface="+mn-ea"/>
              </a:endParaRPr>
            </a:p>
            <a:p>
              <a:pPr>
                <a:lnSpc>
                  <a:spcPct val="80000"/>
                </a:lnSpc>
              </a:pPr>
              <a:r>
                <a:rPr lang="en-US" altLang="zh-CN" sz="1400" b="1" dirty="0">
                  <a:latin typeface="+mn-ea"/>
                </a:rPr>
                <a:t>x=33H</a:t>
              </a:r>
            </a:p>
            <a:p>
              <a:pPr>
                <a:lnSpc>
                  <a:spcPct val="80000"/>
                </a:lnSpc>
              </a:pPr>
              <a:endParaRPr lang="en-US" altLang="zh-CN" sz="1400" b="1" dirty="0">
                <a:latin typeface="+mn-ea"/>
              </a:endParaRPr>
            </a:p>
          </p:txBody>
        </p:sp>
      </p:grpSp>
      <p:grpSp>
        <p:nvGrpSpPr>
          <p:cNvPr id="457" name="组合 456">
            <a:extLst>
              <a:ext uri="{FF2B5EF4-FFF2-40B4-BE49-F238E27FC236}">
                <a16:creationId xmlns:a16="http://schemas.microsoft.com/office/drawing/2014/main" id="{88AE6084-27F4-4874-BB47-331D9643D400}"/>
              </a:ext>
            </a:extLst>
          </p:cNvPr>
          <p:cNvGrpSpPr/>
          <p:nvPr/>
        </p:nvGrpSpPr>
        <p:grpSpPr>
          <a:xfrm>
            <a:off x="3456000" y="756000"/>
            <a:ext cx="2915920" cy="1332230"/>
            <a:chOff x="-1531" y="1813"/>
            <a:chExt cx="4592" cy="2098"/>
          </a:xfrm>
        </p:grpSpPr>
        <p:sp>
          <p:nvSpPr>
            <p:cNvPr id="458" name="Text Box 160">
              <a:extLst>
                <a:ext uri="{FF2B5EF4-FFF2-40B4-BE49-F238E27FC236}">
                  <a16:creationId xmlns:a16="http://schemas.microsoft.com/office/drawing/2014/main" id="{B4401D81-FCFF-4D27-8F29-5ACED2429EFE}"/>
                </a:ext>
              </a:extLst>
            </p:cNvPr>
            <p:cNvSpPr txBox="1">
              <a:spLocks noChangeArrowheads="1"/>
            </p:cNvSpPr>
            <p:nvPr>
              <p:custDataLst>
                <p:tags r:id="rId99"/>
              </p:custDataLst>
            </p:nvPr>
          </p:nvSpPr>
          <p:spPr bwMode="auto">
            <a:xfrm>
              <a:off x="-1531" y="1813"/>
              <a:ext cx="2041" cy="209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0" tIns="0" rIns="0" bIns="0" anchor="t" anchorCtr="0"/>
            <a:lstStyle/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ISA</a:t>
              </a:r>
              <a:r>
                <a:rPr lang="zh-CN" altLang="en-US" sz="16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内容</a:t>
              </a:r>
              <a:r>
                <a:rPr lang="zh-CN" altLang="en-US" sz="16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：</a:t>
              </a:r>
              <a:endParaRPr lang="en-US" altLang="zh-CN" sz="1600" b="1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 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数据表示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 OPD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存放方式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 寻址方式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 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指令功能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 指令格式</a:t>
              </a:r>
            </a:p>
          </p:txBody>
        </p:sp>
        <p:grpSp>
          <p:nvGrpSpPr>
            <p:cNvPr id="459" name="组合 458">
              <a:extLst>
                <a:ext uri="{FF2B5EF4-FFF2-40B4-BE49-F238E27FC236}">
                  <a16:creationId xmlns:a16="http://schemas.microsoft.com/office/drawing/2014/main" id="{825A4960-E62D-4462-A268-C680A53E7972}"/>
                </a:ext>
              </a:extLst>
            </p:cNvPr>
            <p:cNvGrpSpPr/>
            <p:nvPr/>
          </p:nvGrpSpPr>
          <p:grpSpPr>
            <a:xfrm>
              <a:off x="623" y="3004"/>
              <a:ext cx="2209" cy="626"/>
              <a:chOff x="5623389" y="1204119"/>
              <a:chExt cx="1402594" cy="396634"/>
            </a:xfrm>
          </p:grpSpPr>
          <p:sp>
            <p:nvSpPr>
              <p:cNvPr id="461" name="Text Box 136">
                <a:extLst>
                  <a:ext uri="{FF2B5EF4-FFF2-40B4-BE49-F238E27FC236}">
                    <a16:creationId xmlns:a16="http://schemas.microsoft.com/office/drawing/2014/main" id="{719B57B5-0A33-459D-A900-C6755DA25C5F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01"/>
                </p:custDataLst>
              </p:nvPr>
            </p:nvSpPr>
            <p:spPr bwMode="auto">
              <a:xfrm>
                <a:off x="6019566" y="1420042"/>
                <a:ext cx="251910" cy="179897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RD</a:t>
                </a:r>
              </a:p>
            </p:txBody>
          </p:sp>
          <p:sp>
            <p:nvSpPr>
              <p:cNvPr id="462" name="Text Box 137">
                <a:extLst>
                  <a:ext uri="{FF2B5EF4-FFF2-40B4-BE49-F238E27FC236}">
                    <a16:creationId xmlns:a16="http://schemas.microsoft.com/office/drawing/2014/main" id="{261DBA9C-9E68-4021-882F-2A1A0696E084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02"/>
                </p:custDataLst>
              </p:nvPr>
            </p:nvSpPr>
            <p:spPr bwMode="auto">
              <a:xfrm>
                <a:off x="5623389" y="1420763"/>
                <a:ext cx="395966" cy="179990"/>
              </a:xfrm>
              <a:prstGeom prst="rect">
                <a:avLst/>
              </a:prstGeom>
              <a:solidFill>
                <a:srgbClr val="FFCCFF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op2</a:t>
                </a:r>
              </a:p>
            </p:txBody>
          </p:sp>
          <p:sp>
            <p:nvSpPr>
              <p:cNvPr id="463" name="Text Box 151">
                <a:extLst>
                  <a:ext uri="{FF2B5EF4-FFF2-40B4-BE49-F238E27FC236}">
                    <a16:creationId xmlns:a16="http://schemas.microsoft.com/office/drawing/2014/main" id="{2205729E-ADFF-4ED8-9503-27422C12F7A2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03"/>
                </p:custDataLst>
              </p:nvPr>
            </p:nvSpPr>
            <p:spPr bwMode="auto">
              <a:xfrm>
                <a:off x="6522051" y="1420042"/>
                <a:ext cx="503932" cy="179897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A</a:t>
                </a:r>
              </a:p>
            </p:txBody>
          </p:sp>
          <p:sp>
            <p:nvSpPr>
              <p:cNvPr id="464" name="Text Box 136">
                <a:extLst>
                  <a:ext uri="{FF2B5EF4-FFF2-40B4-BE49-F238E27FC236}">
                    <a16:creationId xmlns:a16="http://schemas.microsoft.com/office/drawing/2014/main" id="{AEAAAF87-6C38-4841-B8C7-EC2EABC23094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04"/>
                </p:custDataLst>
              </p:nvPr>
            </p:nvSpPr>
            <p:spPr bwMode="auto">
              <a:xfrm>
                <a:off x="6271544" y="1420042"/>
                <a:ext cx="251910" cy="179897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RS</a:t>
                </a:r>
              </a:p>
            </p:txBody>
          </p:sp>
          <p:sp>
            <p:nvSpPr>
              <p:cNvPr id="465" name="Text Box 136">
                <a:extLst>
                  <a:ext uri="{FF2B5EF4-FFF2-40B4-BE49-F238E27FC236}">
                    <a16:creationId xmlns:a16="http://schemas.microsoft.com/office/drawing/2014/main" id="{674239C0-8050-47CC-9392-E1AEBFCF636C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05"/>
                </p:custDataLst>
              </p:nvPr>
            </p:nvSpPr>
            <p:spPr bwMode="auto">
              <a:xfrm>
                <a:off x="6019566" y="1204119"/>
                <a:ext cx="251910" cy="179897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RD</a:t>
                </a:r>
              </a:p>
            </p:txBody>
          </p:sp>
          <p:sp>
            <p:nvSpPr>
              <p:cNvPr id="466" name="Text Box 137">
                <a:extLst>
                  <a:ext uri="{FF2B5EF4-FFF2-40B4-BE49-F238E27FC236}">
                    <a16:creationId xmlns:a16="http://schemas.microsoft.com/office/drawing/2014/main" id="{D617FC01-96B7-4AB8-8231-FD5C6FCD9148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06"/>
                </p:custDataLst>
              </p:nvPr>
            </p:nvSpPr>
            <p:spPr bwMode="auto">
              <a:xfrm>
                <a:off x="5624089" y="1204119"/>
                <a:ext cx="395966" cy="179990"/>
              </a:xfrm>
              <a:prstGeom prst="rect">
                <a:avLst/>
              </a:prstGeom>
              <a:solidFill>
                <a:srgbClr val="FFCCFF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op1</a:t>
                </a:r>
              </a:p>
            </p:txBody>
          </p:sp>
          <p:sp>
            <p:nvSpPr>
              <p:cNvPr id="467" name="Text Box 136">
                <a:extLst>
                  <a:ext uri="{FF2B5EF4-FFF2-40B4-BE49-F238E27FC236}">
                    <a16:creationId xmlns:a16="http://schemas.microsoft.com/office/drawing/2014/main" id="{DAB9F906-ED04-4E1B-BC79-ABE15E41C046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07"/>
                </p:custDataLst>
              </p:nvPr>
            </p:nvSpPr>
            <p:spPr bwMode="auto">
              <a:xfrm>
                <a:off x="6271544" y="1204119"/>
                <a:ext cx="251951" cy="179897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RS</a:t>
                </a:r>
              </a:p>
            </p:txBody>
          </p:sp>
        </p:grpSp>
        <p:sp>
          <p:nvSpPr>
            <p:cNvPr id="460" name="Text Box 61">
              <a:extLst>
                <a:ext uri="{FF2B5EF4-FFF2-40B4-BE49-F238E27FC236}">
                  <a16:creationId xmlns:a16="http://schemas.microsoft.com/office/drawing/2014/main" id="{45EACB38-220F-425B-8024-3081D6E881A6}"/>
                </a:ext>
              </a:extLst>
            </p:cNvPr>
            <p:cNvSpPr txBox="1">
              <a:spLocks noChangeArrowheads="1"/>
            </p:cNvSpPr>
            <p:nvPr>
              <p:custDataLst>
                <p:tags r:id="rId100"/>
              </p:custDataLst>
            </p:nvPr>
          </p:nvSpPr>
          <p:spPr bwMode="auto">
            <a:xfrm>
              <a:off x="623" y="2324"/>
              <a:ext cx="2438" cy="62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400" b="1" dirty="0">
                  <a:latin typeface="+mn-ea"/>
                </a:rPr>
                <a:t>RD</a:t>
              </a:r>
              <a:r>
                <a:rPr lang="zh-CN" altLang="en-US" sz="1400" b="1" dirty="0">
                  <a:latin typeface="+mn-ea"/>
                </a:rPr>
                <a:t>←</a:t>
              </a:r>
              <a:r>
                <a:rPr lang="en-US" altLang="zh-CN" sz="1400" b="1" dirty="0">
                  <a:latin typeface="+mn-ea"/>
                </a:rPr>
                <a:t>(RD)</a:t>
              </a:r>
              <a:r>
                <a:rPr lang="en-US" altLang="zh-CN" sz="1400" b="1" baseline="-18000" dirty="0">
                  <a:latin typeface="+mn-ea"/>
                </a:rPr>
                <a:t> </a:t>
              </a:r>
              <a:r>
                <a:rPr lang="en-US" altLang="zh-CN" sz="1400" b="1" dirty="0">
                  <a:latin typeface="+mn-ea"/>
                </a:rPr>
                <a:t>op1</a:t>
              </a:r>
              <a:r>
                <a:rPr lang="en-US" altLang="zh-CN" sz="1400" b="1" baseline="-18000" dirty="0">
                  <a:latin typeface="+mn-ea"/>
                </a:rPr>
                <a:t> </a:t>
              </a:r>
              <a:r>
                <a:rPr lang="en-US" altLang="zh-CN" sz="1400" b="1" dirty="0">
                  <a:latin typeface="+mn-ea"/>
                </a:rPr>
                <a:t>(RS)</a:t>
              </a:r>
            </a:p>
            <a:p>
              <a:pPr>
                <a:lnSpc>
                  <a:spcPct val="90000"/>
                </a:lnSpc>
              </a:pPr>
              <a:r>
                <a:rPr lang="en-US" altLang="zh-CN" sz="1400" b="1" dirty="0">
                  <a:latin typeface="+mn-ea"/>
                </a:rPr>
                <a:t>RD</a:t>
              </a:r>
              <a:r>
                <a:rPr lang="zh-CN" altLang="en-US" sz="1400" b="1" dirty="0">
                  <a:latin typeface="+mn-ea"/>
                </a:rPr>
                <a:t>←</a:t>
              </a:r>
              <a:r>
                <a:rPr lang="en-US" altLang="zh-CN" sz="1400" b="1" dirty="0">
                  <a:latin typeface="+mn-ea"/>
                </a:rPr>
                <a:t>M[(RS)]</a:t>
              </a:r>
              <a:r>
                <a:rPr lang="en-US" altLang="zh-CN" sz="1400" b="1" baseline="-18000" dirty="0">
                  <a:latin typeface="+mn-ea"/>
                </a:rPr>
                <a:t> </a:t>
              </a:r>
              <a:r>
                <a:rPr lang="en-US" altLang="zh-CN" sz="1400" b="1" dirty="0">
                  <a:latin typeface="+mn-ea"/>
                </a:rPr>
                <a:t>op2</a:t>
              </a:r>
              <a:r>
                <a:rPr lang="en-US" altLang="zh-CN" sz="1400" b="1" baseline="-18000" dirty="0">
                  <a:latin typeface="+mn-ea"/>
                </a:rPr>
                <a:t> </a:t>
              </a:r>
              <a:r>
                <a:rPr lang="en-US" altLang="zh-CN" sz="1400" b="1" dirty="0">
                  <a:latin typeface="+mn-ea"/>
                </a:rPr>
                <a:t>A</a:t>
              </a:r>
            </a:p>
          </p:txBody>
        </p:sp>
      </p:grpSp>
      <p:sp>
        <p:nvSpPr>
          <p:cNvPr id="468" name="右箭头 119">
            <a:extLst>
              <a:ext uri="{FF2B5EF4-FFF2-40B4-BE49-F238E27FC236}">
                <a16:creationId xmlns:a16="http://schemas.microsoft.com/office/drawing/2014/main" id="{F29BBE05-6BC8-47DE-9A8A-BDB96B84867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192000" y="1512000"/>
            <a:ext cx="252000" cy="180000"/>
          </a:xfrm>
          <a:prstGeom prst="rightArrow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9" name="下箭头 137">
            <a:extLst>
              <a:ext uri="{FF2B5EF4-FFF2-40B4-BE49-F238E27FC236}">
                <a16:creationId xmlns:a16="http://schemas.microsoft.com/office/drawing/2014/main" id="{8B270492-7CE4-4F56-A13D-DAAAC0CD68E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103800" y="2160000"/>
            <a:ext cx="180000" cy="252000"/>
          </a:xfrm>
          <a:prstGeom prst="downArrow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0" name="Text Box 61">
            <a:extLst>
              <a:ext uri="{FF2B5EF4-FFF2-40B4-BE49-F238E27FC236}">
                <a16:creationId xmlns:a16="http://schemas.microsoft.com/office/drawing/2014/main" id="{A2EF3DAA-1609-405A-8839-6C6332C75FCB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79512" y="288000"/>
            <a:ext cx="8352928" cy="426336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wrap="square" lIns="90000" tIns="46800" rIns="90000" bIns="46800" anchor="t" anchorCtr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+mn-ea"/>
              </a:rPr>
              <a:t> </a:t>
            </a:r>
            <a:r>
              <a:rPr lang="en-US" altLang="zh-CN" sz="2000" b="1" dirty="0">
                <a:solidFill>
                  <a:srgbClr val="FF3399"/>
                </a:solidFill>
                <a:highlight>
                  <a:srgbClr val="FFFF00"/>
                </a:highlight>
                <a:latin typeface="+mn-ea"/>
              </a:rPr>
              <a:t>※</a:t>
            </a:r>
            <a:r>
              <a:rPr lang="zh-CN" altLang="en-US" sz="2000" b="1" dirty="0">
                <a:solidFill>
                  <a:srgbClr val="FF3399"/>
                </a:solidFill>
                <a:highlight>
                  <a:srgbClr val="FFFF00"/>
                </a:highlight>
                <a:latin typeface="+mn-ea"/>
              </a:rPr>
              <a:t>计算机组成总图</a:t>
            </a:r>
            <a:r>
              <a:rPr lang="en-US" altLang="zh-CN" sz="2000" b="1" dirty="0">
                <a:solidFill>
                  <a:srgbClr val="FF3399"/>
                </a:solidFill>
                <a:highlight>
                  <a:srgbClr val="FFFF00"/>
                </a:highlight>
                <a:latin typeface="+mn-ea"/>
              </a:rPr>
              <a:t>-1</a:t>
            </a:r>
            <a:r>
              <a:rPr lang="zh-CN" altLang="en-US" sz="2000" b="1" dirty="0">
                <a:solidFill>
                  <a:srgbClr val="FF3399"/>
                </a:solidFill>
                <a:latin typeface="+mn-ea"/>
              </a:rPr>
              <a:t>：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＝硬件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sym typeface="+mn-ea"/>
              </a:rPr>
              <a:t>＋软件＋工作方式，</a:t>
            </a:r>
            <a:r>
              <a:rPr lang="zh-CN" altLang="en-US" sz="2000" b="1" u="sng" dirty="0">
                <a:solidFill>
                  <a:srgbClr val="990099"/>
                </a:solidFill>
                <a:latin typeface="+mn-ea"/>
                <a:sym typeface="+mn-ea"/>
              </a:rPr>
              <a:t>基于</a:t>
            </a:r>
            <a:r>
              <a:rPr lang="en-US" altLang="zh-CN" sz="2000" b="1" u="sng" dirty="0">
                <a:solidFill>
                  <a:srgbClr val="990099"/>
                </a:solidFill>
                <a:latin typeface="+mn-ea"/>
                <a:sym typeface="+mn-ea"/>
              </a:rPr>
              <a:t>ISA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sym typeface="+mn-ea"/>
              </a:rPr>
              <a:t>组织</a:t>
            </a:r>
          </a:p>
        </p:txBody>
      </p:sp>
      <p:sp>
        <p:nvSpPr>
          <p:cNvPr id="471" name="Text Box 61">
            <a:extLst>
              <a:ext uri="{FF2B5EF4-FFF2-40B4-BE49-F238E27FC236}">
                <a16:creationId xmlns:a16="http://schemas.microsoft.com/office/drawing/2014/main" id="{B9AA0D4D-8193-49B4-83CE-3019286F049B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88000" y="5040000"/>
            <a:ext cx="4104000" cy="1476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0" tIns="0" rIns="0" bIns="0" anchor="t" anchorCtr="0"/>
          <a:lstStyle/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CPU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组织：</a:t>
            </a:r>
            <a:r>
              <a:rPr lang="en-US" altLang="zh-CN" sz="1400" b="1" dirty="0">
                <a:latin typeface="+mn-ea"/>
              </a:rPr>
              <a:t>(</a:t>
            </a:r>
            <a:r>
              <a:rPr lang="zh-CN" altLang="en-US" sz="1400" b="1" dirty="0">
                <a:latin typeface="+mn-ea"/>
              </a:rPr>
              <a:t>实现</a:t>
            </a:r>
            <a:r>
              <a:rPr lang="zh-CN" altLang="en-US" sz="1400" b="1" u="sng" dirty="0">
                <a:highlight>
                  <a:srgbClr val="CCFFFF"/>
                </a:highlight>
                <a:latin typeface="+mn-ea"/>
              </a:rPr>
              <a:t>程序的执行</a:t>
            </a:r>
            <a:r>
              <a:rPr lang="en-US" altLang="zh-CN" sz="14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①组成</a:t>
            </a:r>
            <a:r>
              <a:rPr lang="en-US" altLang="zh-CN" sz="1400" b="1" dirty="0">
                <a:latin typeface="+mn-ea"/>
                <a:sym typeface="+mn-ea"/>
              </a:rPr>
              <a:t>(DP+CU)</a:t>
            </a:r>
            <a:r>
              <a:rPr lang="zh-CN" altLang="en-US" sz="1600" b="1" dirty="0">
                <a:latin typeface="+mn-ea"/>
              </a:rPr>
              <a:t>，工作流程</a:t>
            </a:r>
            <a:r>
              <a:rPr lang="en-US" altLang="zh-CN" sz="1400" b="1" dirty="0">
                <a:latin typeface="+mn-ea"/>
              </a:rPr>
              <a:t>(</a:t>
            </a:r>
            <a:r>
              <a:rPr lang="zh-CN" altLang="en-US" sz="1400" b="1" dirty="0">
                <a:latin typeface="+mn-ea"/>
              </a:rPr>
              <a:t>执行指令</a:t>
            </a:r>
            <a:r>
              <a:rPr lang="en-US" altLang="zh-CN" sz="1400" b="1" dirty="0">
                <a:latin typeface="+mn-ea"/>
              </a:rPr>
              <a:t>+</a:t>
            </a:r>
            <a:r>
              <a:rPr lang="zh-CN" altLang="en-US" sz="1400" b="1" dirty="0">
                <a:latin typeface="+mn-ea"/>
              </a:rPr>
              <a:t>响应事件</a:t>
            </a:r>
            <a:r>
              <a:rPr lang="en-US" altLang="zh-CN" sz="1400" b="1" dirty="0">
                <a:latin typeface="+mn-ea"/>
              </a:rPr>
              <a:t>)</a:t>
            </a:r>
          </a:p>
          <a:p>
            <a:r>
              <a:rPr lang="zh-CN" altLang="en-US" sz="1600" b="1" dirty="0">
                <a:latin typeface="+mn-ea"/>
              </a:rPr>
              <a:t> ②</a:t>
            </a:r>
            <a:r>
              <a:rPr lang="en-US" altLang="zh-CN" sz="1600" b="1" dirty="0">
                <a:latin typeface="+mn-ea"/>
                <a:sym typeface="+mn-ea"/>
              </a:rPr>
              <a:t>DP</a:t>
            </a:r>
            <a:r>
              <a:rPr lang="zh-CN" altLang="en-US" sz="1600" b="1" dirty="0">
                <a:latin typeface="+mn-ea"/>
                <a:sym typeface="+mn-ea"/>
              </a:rPr>
              <a:t>组成</a:t>
            </a:r>
            <a:r>
              <a:rPr lang="en-US" altLang="zh-CN" sz="1400" b="1" dirty="0">
                <a:latin typeface="+mn-ea"/>
                <a:sym typeface="+mn-ea"/>
              </a:rPr>
              <a:t>(</a:t>
            </a:r>
            <a:r>
              <a:rPr lang="zh-CN" altLang="en-US" sz="1400" b="1" dirty="0">
                <a:latin typeface="+mn-ea"/>
                <a:sym typeface="+mn-ea"/>
              </a:rPr>
              <a:t>部件</a:t>
            </a:r>
            <a:r>
              <a:rPr lang="en-US" altLang="zh-CN" sz="1400" b="1" dirty="0">
                <a:latin typeface="+mn-ea"/>
                <a:sym typeface="+mn-ea"/>
              </a:rPr>
              <a:t>+</a:t>
            </a:r>
            <a:r>
              <a:rPr lang="zh-CN" altLang="en-US" sz="1400" b="1" dirty="0">
                <a:latin typeface="+mn-ea"/>
                <a:sym typeface="+mn-ea"/>
              </a:rPr>
              <a:t>互连</a:t>
            </a:r>
            <a:r>
              <a:rPr lang="en-US" altLang="zh-CN" sz="1400" b="1" dirty="0">
                <a:latin typeface="+mn-ea"/>
                <a:sym typeface="+mn-ea"/>
              </a:rPr>
              <a:t>) [</a:t>
            </a:r>
            <a:r>
              <a:rPr lang="zh-CN" altLang="en-US" sz="1400" b="1" dirty="0">
                <a:latin typeface="+mn-ea"/>
                <a:sym typeface="+mn-ea"/>
              </a:rPr>
              <a:t>部件</a:t>
            </a:r>
            <a:r>
              <a:rPr lang="en-US" altLang="zh-CN" sz="1400" b="1" dirty="0">
                <a:latin typeface="+mn-ea"/>
                <a:ea typeface="+mn-ea"/>
                <a:sym typeface="+mn-ea"/>
              </a:rPr>
              <a:t>=</a:t>
            </a:r>
            <a:r>
              <a:rPr lang="zh-CN" altLang="en-US" sz="1400" b="1" dirty="0">
                <a:latin typeface="+mn-ea"/>
                <a:ea typeface="+mn-ea"/>
                <a:sym typeface="+mn-ea"/>
              </a:rPr>
              <a:t>取指</a:t>
            </a:r>
            <a:r>
              <a:rPr lang="en-US" altLang="zh-CN" sz="1400" b="1" dirty="0">
                <a:latin typeface="+mn-ea"/>
                <a:ea typeface="+mn-ea"/>
                <a:sym typeface="+mn-ea"/>
              </a:rPr>
              <a:t>+</a:t>
            </a:r>
            <a:r>
              <a:rPr lang="zh-CN" altLang="en-US" sz="1400" b="1" dirty="0">
                <a:latin typeface="+mn-ea"/>
                <a:sym typeface="+mn-ea"/>
              </a:rPr>
              <a:t>运算器</a:t>
            </a:r>
            <a:r>
              <a:rPr lang="en-US" altLang="zh-CN" sz="1400" b="1" dirty="0">
                <a:latin typeface="+mn-ea"/>
                <a:sym typeface="+mn-ea"/>
              </a:rPr>
              <a:t>+…]</a:t>
            </a:r>
            <a:endParaRPr lang="en-US" altLang="zh-CN" sz="14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③</a:t>
            </a:r>
            <a:r>
              <a:rPr lang="zh-CN" altLang="en-US" sz="1600" b="1" dirty="0">
                <a:latin typeface="+mn-ea"/>
                <a:sym typeface="+mn-ea"/>
              </a:rPr>
              <a:t>指令执行过程组织</a:t>
            </a:r>
            <a:r>
              <a:rPr lang="en-US" altLang="zh-CN" sz="1400" b="1" dirty="0">
                <a:latin typeface="+mn-ea"/>
                <a:sym typeface="+mn-ea"/>
              </a:rPr>
              <a:t>(</a:t>
            </a:r>
            <a:r>
              <a:rPr lang="zh-CN" altLang="en-US" sz="1400" b="1" dirty="0">
                <a:latin typeface="+mn-ea"/>
                <a:sym typeface="+mn-ea"/>
              </a:rPr>
              <a:t>表示为各</a:t>
            </a:r>
            <a:r>
              <a:rPr lang="en-US" altLang="zh-CN" sz="1400" spc="-80" dirty="0" err="1">
                <a:sym typeface="+mn-ea"/>
              </a:rPr>
              <a:t>μ</a:t>
            </a:r>
            <a:r>
              <a:rPr lang="en-US" altLang="zh-CN" sz="1400" b="1" spc="-80" dirty="0" err="1">
                <a:latin typeface="宋体" panose="02010600030101010101" pitchFamily="2" charset="-122"/>
                <a:sym typeface="+mn-ea"/>
              </a:rPr>
              <a:t>OP</a:t>
            </a:r>
            <a:r>
              <a:rPr lang="en-US" altLang="zh-CN" sz="1400" b="1" dirty="0" err="1">
                <a:latin typeface="+mn-ea"/>
                <a:sym typeface="+mn-ea"/>
              </a:rPr>
              <a:t>Cmd</a:t>
            </a:r>
            <a:r>
              <a:rPr lang="zh-CN" altLang="en-US" sz="1400" b="1" dirty="0">
                <a:latin typeface="+mn-ea"/>
                <a:sym typeface="+mn-ea"/>
              </a:rPr>
              <a:t>序列</a:t>
            </a:r>
            <a:r>
              <a:rPr lang="en-US" altLang="zh-CN" sz="1400" b="1" dirty="0">
                <a:latin typeface="+mn-ea"/>
                <a:sym typeface="+mn-ea"/>
              </a:rPr>
              <a:t>)</a:t>
            </a:r>
            <a:endParaRPr lang="en-US" altLang="zh-CN" sz="14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 ④</a:t>
            </a:r>
            <a:r>
              <a:rPr lang="en-US" altLang="zh-CN" sz="1600" b="1" dirty="0">
                <a:latin typeface="+mn-ea"/>
              </a:rPr>
              <a:t>CU</a:t>
            </a:r>
            <a:r>
              <a:rPr lang="zh-CN" altLang="en-US" sz="1600" b="1" dirty="0">
                <a:latin typeface="+mn-ea"/>
              </a:rPr>
              <a:t>组成</a:t>
            </a:r>
            <a:r>
              <a:rPr lang="en-US" altLang="zh-CN" sz="1400" b="1" dirty="0">
                <a:latin typeface="+mn-ea"/>
              </a:rPr>
              <a:t>(3</a:t>
            </a:r>
            <a:r>
              <a:rPr lang="zh-CN" altLang="en-US" sz="1400" b="1" dirty="0">
                <a:latin typeface="+mn-ea"/>
              </a:rPr>
              <a:t>个部件</a:t>
            </a:r>
            <a:r>
              <a:rPr lang="en-US" altLang="zh-CN" sz="1400" b="1" dirty="0">
                <a:latin typeface="+mn-ea"/>
              </a:rPr>
              <a:t>,</a:t>
            </a:r>
            <a:r>
              <a:rPr lang="zh-CN" altLang="en-US" sz="1400" b="1" dirty="0">
                <a:latin typeface="+mn-ea"/>
              </a:rPr>
              <a:t>有序</a:t>
            </a:r>
            <a:r>
              <a:rPr lang="zh-CN" altLang="en-US" sz="1400" b="1" dirty="0">
                <a:latin typeface="+mn-ea"/>
                <a:sym typeface="+mn-ea"/>
              </a:rPr>
              <a:t>产生所需的</a:t>
            </a:r>
            <a:r>
              <a:rPr lang="en-US" altLang="zh-CN" sz="1400" spc="-80" dirty="0" err="1">
                <a:sym typeface="+mn-ea"/>
              </a:rPr>
              <a:t>μ</a:t>
            </a:r>
            <a:r>
              <a:rPr lang="en-US" altLang="zh-CN" sz="1400" b="1" spc="-80" dirty="0" err="1">
                <a:latin typeface="宋体" panose="02010600030101010101" pitchFamily="2" charset="-122"/>
                <a:sym typeface="+mn-ea"/>
              </a:rPr>
              <a:t>OP</a:t>
            </a:r>
            <a:r>
              <a:rPr lang="en-US" altLang="zh-CN" sz="1400" b="1" dirty="0" err="1">
                <a:latin typeface="+mn-ea"/>
                <a:sym typeface="+mn-ea"/>
              </a:rPr>
              <a:t>Cmd</a:t>
            </a:r>
            <a:r>
              <a:rPr lang="en-US" altLang="zh-CN" sz="1400" b="1" dirty="0">
                <a:latin typeface="+mn-ea"/>
                <a:sym typeface="+mn-ea"/>
              </a:rPr>
              <a:t>)</a:t>
            </a:r>
            <a:endParaRPr lang="en-US" altLang="zh-CN" sz="14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⑤中断机构组成</a:t>
            </a:r>
            <a:r>
              <a:rPr lang="en-US" altLang="zh-CN" sz="1400" b="1" dirty="0">
                <a:latin typeface="+mn-ea"/>
              </a:rPr>
              <a:t>(</a:t>
            </a:r>
            <a:r>
              <a:rPr lang="zh-CN" altLang="en-US" sz="1400" b="1" dirty="0">
                <a:latin typeface="+mn-ea"/>
              </a:rPr>
              <a:t>检测</a:t>
            </a:r>
            <a:r>
              <a:rPr lang="en-US" altLang="zh-CN" sz="1400" b="1" dirty="0">
                <a:latin typeface="+mn-ea"/>
              </a:rPr>
              <a:t>+</a:t>
            </a:r>
            <a:r>
              <a:rPr lang="zh-CN" altLang="en-US" sz="1400" b="1" dirty="0">
                <a:latin typeface="+mn-ea"/>
              </a:rPr>
              <a:t>响应</a:t>
            </a:r>
            <a:r>
              <a:rPr lang="en-US" altLang="zh-CN" sz="1400" b="1" dirty="0">
                <a:latin typeface="+mn-ea"/>
              </a:rPr>
              <a:t>) [</a:t>
            </a:r>
            <a:r>
              <a:rPr lang="zh-CN" altLang="en-US" sz="1400" b="1" dirty="0">
                <a:latin typeface="+mn-ea"/>
              </a:rPr>
              <a:t>异常</a:t>
            </a:r>
            <a:r>
              <a:rPr lang="en-US" altLang="zh-CN" sz="1400" b="1" dirty="0">
                <a:latin typeface="+mn-ea"/>
              </a:rPr>
              <a:t>/</a:t>
            </a:r>
            <a:r>
              <a:rPr lang="zh-CN" altLang="en-US" sz="1400" b="1" dirty="0">
                <a:latin typeface="+mn-ea"/>
              </a:rPr>
              <a:t>中断不同</a:t>
            </a:r>
            <a:r>
              <a:rPr lang="en-US" altLang="zh-CN" sz="1400" b="1" dirty="0">
                <a:latin typeface="+mn-ea"/>
              </a:rPr>
              <a:t>]</a:t>
            </a:r>
          </a:p>
        </p:txBody>
      </p:sp>
      <p:sp>
        <p:nvSpPr>
          <p:cNvPr id="472" name="Text Box 61">
            <a:extLst>
              <a:ext uri="{FF2B5EF4-FFF2-40B4-BE49-F238E27FC236}">
                <a16:creationId xmlns:a16="http://schemas.microsoft.com/office/drawing/2014/main" id="{E3A6D590-E524-4EF9-8B89-E11D64FF219B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16000" y="756000"/>
            <a:ext cx="3132000" cy="1008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0" tIns="0" rIns="0" bIns="0" anchor="t" anchorCtr="0"/>
          <a:lstStyle/>
          <a:p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运算器组织：</a:t>
            </a:r>
            <a:r>
              <a:rPr lang="en-US" altLang="zh-CN" sz="1400" b="1" dirty="0">
                <a:latin typeface="+mn-ea"/>
              </a:rPr>
              <a:t>(</a:t>
            </a:r>
            <a:r>
              <a:rPr lang="zh-CN" altLang="en-US" sz="1400" b="1" dirty="0">
                <a:latin typeface="+mn-ea"/>
              </a:rPr>
              <a:t>实现</a:t>
            </a:r>
            <a:r>
              <a:rPr lang="en-US" altLang="zh-CN" sz="1400" b="1" u="sng" dirty="0">
                <a:highlight>
                  <a:srgbClr val="CCFFFF"/>
                </a:highlight>
                <a:latin typeface="+mn-ea"/>
              </a:rPr>
              <a:t>ISA</a:t>
            </a:r>
            <a:r>
              <a:rPr lang="zh-CN" altLang="en-US" sz="1400" b="1" u="sng" dirty="0">
                <a:highlight>
                  <a:srgbClr val="CCFFFF"/>
                </a:highlight>
                <a:latin typeface="+mn-ea"/>
              </a:rPr>
              <a:t>指令功能</a:t>
            </a:r>
            <a:r>
              <a:rPr lang="en-US" altLang="zh-CN" sz="14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①</a:t>
            </a:r>
            <a:r>
              <a:rPr lang="zh-CN" sz="1600" b="1" dirty="0">
                <a:latin typeface="+mn-ea"/>
              </a:rPr>
              <a:t>运算部件</a:t>
            </a:r>
            <a:r>
              <a:rPr lang="en-US" altLang="zh-CN" sz="1400" b="1" dirty="0">
                <a:latin typeface="+mn-ea"/>
              </a:rPr>
              <a:t>(</a:t>
            </a:r>
            <a:r>
              <a:rPr lang="zh-CN" altLang="en-US" sz="1400" b="1" dirty="0">
                <a:latin typeface="+mn-ea"/>
              </a:rPr>
              <a:t>满足</a:t>
            </a:r>
            <a:r>
              <a:rPr lang="zh-CN" altLang="en-US" sz="1400" b="1" dirty="0">
                <a:cs typeface="Times New Roman" panose="02020603050405020304" pitchFamily="18" charset="0"/>
              </a:rPr>
              <a:t>操作需求</a:t>
            </a:r>
            <a:r>
              <a:rPr lang="en-US" altLang="zh-CN" sz="1400" b="1" dirty="0">
                <a:latin typeface="+mn-ea"/>
                <a:ea typeface="+mn-ea"/>
                <a:cs typeface="Times New Roman" panose="02020603050405020304" pitchFamily="18" charset="0"/>
              </a:rPr>
              <a:t>[</a:t>
            </a:r>
            <a:r>
              <a:rPr lang="en-US" altLang="zh-CN" sz="1400" b="1" dirty="0">
                <a:cs typeface="Times New Roman" panose="02020603050405020304" pitchFamily="18" charset="0"/>
              </a:rPr>
              <a:t>~</a:t>
            </a:r>
            <a:r>
              <a:rPr lang="zh-CN" altLang="en-US" sz="1400" b="1" dirty="0">
                <a:latin typeface="+mn-ea"/>
                <a:ea typeface="+mn-ea"/>
                <a:cs typeface="Times New Roman" panose="02020603050405020304" pitchFamily="18" charset="0"/>
              </a:rPr>
              <a:t>表示</a:t>
            </a:r>
            <a:r>
              <a:rPr lang="en-US" altLang="zh-CN" sz="1400" b="1" dirty="0">
                <a:latin typeface="+mn-ea"/>
                <a:ea typeface="+mn-ea"/>
                <a:cs typeface="Times New Roman" panose="02020603050405020304" pitchFamily="18" charset="0"/>
              </a:rPr>
              <a:t>]</a:t>
            </a:r>
            <a:r>
              <a:rPr lang="en-US" altLang="zh-CN" sz="1400" b="1" dirty="0">
                <a:latin typeface="+mn-ea"/>
              </a:rPr>
              <a:t>)</a:t>
            </a:r>
            <a:endParaRPr lang="zh-CN" sz="14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</a:t>
            </a:r>
            <a:r>
              <a:rPr lang="zh-CN" altLang="en-US" sz="1600" b="1" dirty="0">
                <a:latin typeface="+mn-ea"/>
                <a:sym typeface="+mn-ea"/>
              </a:rPr>
              <a:t>②存放</a:t>
            </a:r>
            <a:r>
              <a:rPr lang="zh-CN" sz="1600" b="1" dirty="0">
                <a:latin typeface="+mn-ea"/>
                <a:sym typeface="+mn-ea"/>
              </a:rPr>
              <a:t>部件</a:t>
            </a:r>
            <a:r>
              <a:rPr lang="en-US" altLang="zh-CN" sz="1400" b="1" dirty="0">
                <a:latin typeface="+mn-ea"/>
                <a:sym typeface="+mn-ea"/>
              </a:rPr>
              <a:t>(</a:t>
            </a:r>
            <a:r>
              <a:rPr lang="en-US" altLang="zh-CN" sz="1400" b="1" dirty="0" err="1">
                <a:latin typeface="+mn-ea"/>
                <a:sym typeface="+mn-ea"/>
              </a:rPr>
              <a:t>GPRs+PSR</a:t>
            </a:r>
            <a:r>
              <a:rPr lang="en-US" altLang="zh-CN" sz="1400" b="1" dirty="0">
                <a:latin typeface="+mn-ea"/>
                <a:sym typeface="+mn-ea"/>
              </a:rPr>
              <a:t>[</a:t>
            </a:r>
            <a:r>
              <a:rPr lang="en-US" altLang="zh-CN" sz="1400" b="1" dirty="0">
                <a:cs typeface="Times New Roman" panose="02020603050405020304" pitchFamily="18" charset="0"/>
              </a:rPr>
              <a:t>~</a:t>
            </a:r>
            <a:r>
              <a:rPr lang="en-US" altLang="zh-CN" sz="1400" b="1" dirty="0">
                <a:latin typeface="+mn-ea"/>
                <a:ea typeface="+mn-ea"/>
                <a:cs typeface="Times New Roman" panose="02020603050405020304" pitchFamily="18" charset="0"/>
              </a:rPr>
              <a:t>OPD</a:t>
            </a:r>
            <a:r>
              <a:rPr lang="zh-CN" altLang="en-US" sz="1400" b="1" dirty="0">
                <a:cs typeface="Times New Roman" panose="02020603050405020304" pitchFamily="18" charset="0"/>
              </a:rPr>
              <a:t>存放</a:t>
            </a:r>
            <a:r>
              <a:rPr lang="en-US" altLang="zh-CN" sz="1400" b="1" dirty="0">
                <a:latin typeface="+mn-ea"/>
                <a:ea typeface="+mn-ea"/>
                <a:cs typeface="Times New Roman" panose="02020603050405020304" pitchFamily="18" charset="0"/>
              </a:rPr>
              <a:t>]</a:t>
            </a:r>
            <a:r>
              <a:rPr lang="en-US" altLang="zh-CN" sz="1400" b="1" dirty="0">
                <a:latin typeface="+mn-ea"/>
                <a:sym typeface="+mn-ea"/>
              </a:rPr>
              <a:t>)</a:t>
            </a:r>
            <a:endParaRPr lang="zh-CN" altLang="en-US" sz="14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  <a:sym typeface="+mn-ea"/>
              </a:rPr>
              <a:t>③</a:t>
            </a:r>
            <a:r>
              <a:rPr lang="zh-CN" sz="1600" b="1" dirty="0">
                <a:latin typeface="+mn-ea"/>
                <a:sym typeface="+mn-ea"/>
              </a:rPr>
              <a:t>部件互连</a:t>
            </a:r>
            <a:r>
              <a:rPr lang="en-US" altLang="zh-CN" sz="1400" b="1" dirty="0">
                <a:latin typeface="+mn-ea"/>
                <a:sym typeface="+mn-ea"/>
              </a:rPr>
              <a:t>(</a:t>
            </a:r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结构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</a:t>
            </a:r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连接</a:t>
            </a:r>
            <a:r>
              <a:rPr lang="en-US" altLang="zh-CN" sz="1400" b="1" dirty="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[</a:t>
            </a:r>
            <a:r>
              <a:rPr lang="en-US" altLang="zh-CN" sz="1400" b="1" dirty="0">
                <a:cs typeface="Times New Roman" panose="02020603050405020304" pitchFamily="18" charset="0"/>
                <a:sym typeface="+mn-ea"/>
              </a:rPr>
              <a:t>~</a:t>
            </a:r>
            <a:r>
              <a:rPr lang="zh-CN" altLang="en-US" sz="1400" b="1" dirty="0">
                <a:latin typeface="+mn-ea"/>
                <a:sym typeface="+mn-ea"/>
              </a:rPr>
              <a:t>数据路径</a:t>
            </a:r>
            <a:r>
              <a:rPr lang="en-US" altLang="zh-CN" sz="1400" b="1" dirty="0">
                <a:latin typeface="+mn-ea"/>
                <a:sym typeface="+mn-ea"/>
              </a:rPr>
              <a:t>])</a:t>
            </a:r>
          </a:p>
        </p:txBody>
      </p:sp>
      <p:grpSp>
        <p:nvGrpSpPr>
          <p:cNvPr id="473" name="组合 472">
            <a:extLst>
              <a:ext uri="{FF2B5EF4-FFF2-40B4-BE49-F238E27FC236}">
                <a16:creationId xmlns:a16="http://schemas.microsoft.com/office/drawing/2014/main" id="{FE168DDE-4043-49A9-B9B9-2E70B163B397}"/>
              </a:ext>
            </a:extLst>
          </p:cNvPr>
          <p:cNvGrpSpPr/>
          <p:nvPr/>
        </p:nvGrpSpPr>
        <p:grpSpPr>
          <a:xfrm>
            <a:off x="324000" y="4320000"/>
            <a:ext cx="4211955" cy="683895"/>
            <a:chOff x="453" y="6804"/>
            <a:chExt cx="6633" cy="1077"/>
          </a:xfrm>
        </p:grpSpPr>
        <p:sp>
          <p:nvSpPr>
            <p:cNvPr id="474" name="Text Box 291">
              <a:extLst>
                <a:ext uri="{FF2B5EF4-FFF2-40B4-BE49-F238E27FC236}">
                  <a16:creationId xmlns:a16="http://schemas.microsoft.com/office/drawing/2014/main" id="{1A0786E9-4FAA-44E7-98E6-19FA485FCC0B}"/>
                </a:ext>
              </a:extLst>
            </p:cNvPr>
            <p:cNvSpPr txBox="1">
              <a:spLocks noChangeArrowheads="1"/>
            </p:cNvSpPr>
            <p:nvPr>
              <p:custDataLst>
                <p:tags r:id="rId81"/>
              </p:custDataLst>
            </p:nvPr>
          </p:nvSpPr>
          <p:spPr bwMode="auto">
            <a:xfrm>
              <a:off x="1020" y="7598"/>
              <a:ext cx="5102" cy="283"/>
            </a:xfrm>
            <a:prstGeom prst="rect">
              <a:avLst/>
            </a:prstGeom>
            <a:solidFill>
              <a:srgbClr val="FFFFFF">
                <a:alpha val="78000"/>
              </a:srgbClr>
            </a:solidFill>
            <a:ln w="1270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程序</a:t>
              </a:r>
              <a:r>
                <a:rPr lang="en-US" altLang="zh-CN" sz="14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&amp;</a:t>
              </a:r>
              <a:r>
                <a:rPr lang="zh-CN" altLang="en-US" sz="14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数据</a:t>
              </a:r>
              <a:r>
                <a:rPr lang="zh-CN" altLang="en-US" sz="1400" b="1" dirty="0">
                  <a:latin typeface="宋体" panose="02010600030101010101" pitchFamily="2" charset="-122"/>
                </a:rPr>
                <a:t>放在</a:t>
              </a:r>
              <a:r>
                <a:rPr lang="zh-CN" altLang="en-US" sz="1400" b="1" dirty="0">
                  <a:highlight>
                    <a:srgbClr val="99CCFF"/>
                  </a:highlight>
                  <a:latin typeface="宋体" panose="02010600030101010101" pitchFamily="2" charset="-122"/>
                </a:rPr>
                <a:t>主存</a:t>
              </a:r>
              <a:r>
                <a:rPr lang="zh-CN" altLang="en-US" sz="1400" b="1" dirty="0">
                  <a:latin typeface="宋体" panose="02010600030101010101" pitchFamily="2" charset="-122"/>
                </a:rPr>
                <a:t>中，按</a:t>
              </a:r>
              <a:r>
                <a:rPr lang="zh-CN" altLang="en-US" sz="1400" b="1" dirty="0">
                  <a:highlight>
                    <a:srgbClr val="CCECFF"/>
                  </a:highlight>
                  <a:latin typeface="宋体" panose="02010600030101010101" pitchFamily="2" charset="-122"/>
                </a:rPr>
                <a:t>逻辑地址</a:t>
              </a:r>
              <a:r>
                <a:rPr lang="zh-CN" altLang="en-US" sz="1400" b="1" dirty="0">
                  <a:latin typeface="宋体" panose="02010600030101010101" pitchFamily="2" charset="-122"/>
                </a:rPr>
                <a:t>访问</a:t>
              </a:r>
            </a:p>
          </p:txBody>
        </p:sp>
        <p:sp>
          <p:nvSpPr>
            <p:cNvPr id="475" name="矩形 474">
              <a:extLst>
                <a:ext uri="{FF2B5EF4-FFF2-40B4-BE49-F238E27FC236}">
                  <a16:creationId xmlns:a16="http://schemas.microsoft.com/office/drawing/2014/main" id="{589DAEC0-6180-4949-9CD0-D57560BAF25B}"/>
                </a:ext>
              </a:extLst>
            </p:cNvPr>
            <p:cNvSpPr/>
            <p:nvPr>
              <p:custDataLst>
                <p:tags r:id="rId82"/>
              </p:custDataLst>
            </p:nvPr>
          </p:nvSpPr>
          <p:spPr bwMode="auto">
            <a:xfrm>
              <a:off x="566" y="6804"/>
              <a:ext cx="6406" cy="737"/>
            </a:xfrm>
            <a:prstGeom prst="rect">
              <a:avLst/>
            </a:prstGeom>
            <a:solidFill>
              <a:srgbClr val="CCFFFF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76" name="Text Box 311">
              <a:extLst>
                <a:ext uri="{FF2B5EF4-FFF2-40B4-BE49-F238E27FC236}">
                  <a16:creationId xmlns:a16="http://schemas.microsoft.com/office/drawing/2014/main" id="{062E5E75-DB34-46F9-9CC4-F126CE97DFF5}"/>
                </a:ext>
              </a:extLst>
            </p:cNvPr>
            <p:cNvSpPr txBox="1">
              <a:spLocks noChangeArrowheads="1"/>
            </p:cNvSpPr>
            <p:nvPr>
              <p:custDataLst>
                <p:tags r:id="rId83"/>
              </p:custDataLst>
            </p:nvPr>
          </p:nvSpPr>
          <p:spPr bwMode="auto">
            <a:xfrm>
              <a:off x="737" y="6861"/>
              <a:ext cx="964" cy="283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取指令</a:t>
              </a:r>
            </a:p>
          </p:txBody>
        </p:sp>
        <p:sp>
          <p:nvSpPr>
            <p:cNvPr id="477" name="Text Box 314">
              <a:extLst>
                <a:ext uri="{FF2B5EF4-FFF2-40B4-BE49-F238E27FC236}">
                  <a16:creationId xmlns:a16="http://schemas.microsoft.com/office/drawing/2014/main" id="{67370331-E297-4774-8114-387DB31B22AB}"/>
                </a:ext>
              </a:extLst>
            </p:cNvPr>
            <p:cNvSpPr txBox="1">
              <a:spLocks noChangeArrowheads="1"/>
            </p:cNvSpPr>
            <p:nvPr>
              <p:custDataLst>
                <p:tags r:id="rId84"/>
              </p:custDataLst>
            </p:nvPr>
          </p:nvSpPr>
          <p:spPr bwMode="auto">
            <a:xfrm>
              <a:off x="1984" y="6861"/>
              <a:ext cx="1191" cy="28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分析指令</a:t>
              </a:r>
            </a:p>
          </p:txBody>
        </p:sp>
        <p:cxnSp>
          <p:nvCxnSpPr>
            <p:cNvPr id="478" name="直接箭头连接符 477">
              <a:extLst>
                <a:ext uri="{FF2B5EF4-FFF2-40B4-BE49-F238E27FC236}">
                  <a16:creationId xmlns:a16="http://schemas.microsoft.com/office/drawing/2014/main" id="{E019C5E4-86FE-45E4-BC7D-B5446A662EBE}"/>
                </a:ext>
              </a:extLst>
            </p:cNvPr>
            <p:cNvCxnSpPr/>
            <p:nvPr>
              <p:custDataLst>
                <p:tags r:id="rId85"/>
              </p:custDataLst>
            </p:nvPr>
          </p:nvCxnSpPr>
          <p:spPr bwMode="auto">
            <a:xfrm>
              <a:off x="1700" y="7031"/>
              <a:ext cx="283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79" name="直接箭头连接符 478">
              <a:extLst>
                <a:ext uri="{FF2B5EF4-FFF2-40B4-BE49-F238E27FC236}">
                  <a16:creationId xmlns:a16="http://schemas.microsoft.com/office/drawing/2014/main" id="{06987798-F1EC-44AC-80DF-6A518B935C04}"/>
                </a:ext>
              </a:extLst>
            </p:cNvPr>
            <p:cNvCxnSpPr/>
            <p:nvPr>
              <p:custDataLst>
                <p:tags r:id="rId86"/>
              </p:custDataLst>
            </p:nvPr>
          </p:nvCxnSpPr>
          <p:spPr bwMode="auto">
            <a:xfrm>
              <a:off x="3174" y="7031"/>
              <a:ext cx="283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80" name="直接箭头连接符 479">
              <a:extLst>
                <a:ext uri="{FF2B5EF4-FFF2-40B4-BE49-F238E27FC236}">
                  <a16:creationId xmlns:a16="http://schemas.microsoft.com/office/drawing/2014/main" id="{A05AB234-12C7-452D-B517-5D880CEE40B3}"/>
                </a:ext>
              </a:extLst>
            </p:cNvPr>
            <p:cNvCxnSpPr/>
            <p:nvPr>
              <p:custDataLst>
                <p:tags r:id="rId87"/>
              </p:custDataLst>
            </p:nvPr>
          </p:nvCxnSpPr>
          <p:spPr bwMode="auto">
            <a:xfrm>
              <a:off x="6859" y="7031"/>
              <a:ext cx="227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81" name="直接箭头连接符 480">
              <a:extLst>
                <a:ext uri="{FF2B5EF4-FFF2-40B4-BE49-F238E27FC236}">
                  <a16:creationId xmlns:a16="http://schemas.microsoft.com/office/drawing/2014/main" id="{2EC97106-A41F-4F51-AEEE-B4F5BEA46B39}"/>
                </a:ext>
              </a:extLst>
            </p:cNvPr>
            <p:cNvCxnSpPr/>
            <p:nvPr>
              <p:custDataLst>
                <p:tags r:id="rId88"/>
              </p:custDataLst>
            </p:nvPr>
          </p:nvCxnSpPr>
          <p:spPr bwMode="auto">
            <a:xfrm flipH="1">
              <a:off x="7086" y="7031"/>
              <a:ext cx="0" cy="85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82" name="直接箭头连接符 481">
              <a:extLst>
                <a:ext uri="{FF2B5EF4-FFF2-40B4-BE49-F238E27FC236}">
                  <a16:creationId xmlns:a16="http://schemas.microsoft.com/office/drawing/2014/main" id="{AC8F0DC0-4089-4C85-BF53-26F1BA5A4587}"/>
                </a:ext>
              </a:extLst>
            </p:cNvPr>
            <p:cNvCxnSpPr/>
            <p:nvPr>
              <p:custDataLst>
                <p:tags r:id="rId89"/>
              </p:custDataLst>
            </p:nvPr>
          </p:nvCxnSpPr>
          <p:spPr bwMode="auto">
            <a:xfrm>
              <a:off x="453" y="7031"/>
              <a:ext cx="283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83" name="直接箭头连接符 482">
              <a:extLst>
                <a:ext uri="{FF2B5EF4-FFF2-40B4-BE49-F238E27FC236}">
                  <a16:creationId xmlns:a16="http://schemas.microsoft.com/office/drawing/2014/main" id="{2A897FE9-9E72-41E1-9290-B080A8221B69}"/>
                </a:ext>
              </a:extLst>
            </p:cNvPr>
            <p:cNvCxnSpPr/>
            <p:nvPr>
              <p:custDataLst>
                <p:tags r:id="rId90"/>
              </p:custDataLst>
            </p:nvPr>
          </p:nvCxnSpPr>
          <p:spPr bwMode="auto">
            <a:xfrm flipH="1">
              <a:off x="453" y="7031"/>
              <a:ext cx="0" cy="85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84" name="直接箭头连接符 483">
              <a:extLst>
                <a:ext uri="{FF2B5EF4-FFF2-40B4-BE49-F238E27FC236}">
                  <a16:creationId xmlns:a16="http://schemas.microsoft.com/office/drawing/2014/main" id="{71DB387F-5A13-4C6E-885C-DBDB38FD5A8D}"/>
                </a:ext>
              </a:extLst>
            </p:cNvPr>
            <p:cNvCxnSpPr/>
            <p:nvPr>
              <p:custDataLst>
                <p:tags r:id="rId91"/>
              </p:custDataLst>
            </p:nvPr>
          </p:nvCxnSpPr>
          <p:spPr bwMode="auto">
            <a:xfrm>
              <a:off x="453" y="7881"/>
              <a:ext cx="6633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485" name="Text Box 316">
              <a:extLst>
                <a:ext uri="{FF2B5EF4-FFF2-40B4-BE49-F238E27FC236}">
                  <a16:creationId xmlns:a16="http://schemas.microsoft.com/office/drawing/2014/main" id="{5D93661C-4A7D-4D98-AA5B-DF4593B913D5}"/>
                </a:ext>
              </a:extLst>
            </p:cNvPr>
            <p:cNvSpPr txBox="1">
              <a:spLocks noChangeArrowheads="1"/>
            </p:cNvSpPr>
            <p:nvPr>
              <p:custDataLst>
                <p:tags r:id="rId92"/>
              </p:custDataLst>
            </p:nvPr>
          </p:nvSpPr>
          <p:spPr bwMode="auto">
            <a:xfrm>
              <a:off x="963" y="7201"/>
              <a:ext cx="1928" cy="283"/>
            </a:xfrm>
            <a:prstGeom prst="rect">
              <a:avLst/>
            </a:prstGeom>
            <a:solidFill>
              <a:srgbClr val="CC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PC</a:t>
              </a:r>
              <a:r>
                <a:rPr lang="zh-CN" altLang="en-US" sz="14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←</a:t>
              </a:r>
              <a:r>
                <a:rPr lang="en-US" altLang="zh-CN" sz="14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(PC)</a:t>
              </a:r>
              <a:r>
                <a:rPr lang="zh-CN" altLang="en-US" sz="14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＋</a:t>
              </a:r>
              <a:r>
                <a:rPr lang="zh-CN" altLang="en-US" sz="1400" b="1" dirty="0">
                  <a:uFillTx/>
                  <a:latin typeface="宋体" panose="02010600030101010101" pitchFamily="2" charset="-122"/>
                  <a:cs typeface="宋体" panose="02010600030101010101" pitchFamily="2" charset="-122"/>
                  <a:sym typeface="Symbol" panose="05050102010706020507"/>
                </a:rPr>
                <a:t></a:t>
              </a:r>
              <a:r>
                <a:rPr lang="en-US" altLang="zh-CN" sz="14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1</a:t>
              </a:r>
              <a:r>
                <a:rPr lang="zh-CN" altLang="en-US" sz="1400" b="1" dirty="0">
                  <a:uFillTx/>
                  <a:latin typeface="宋体" panose="02010600030101010101" pitchFamily="2" charset="-122"/>
                  <a:cs typeface="宋体" panose="02010600030101010101" pitchFamily="2" charset="-122"/>
                  <a:sym typeface="Symbol" panose="05050102010706020507"/>
                </a:rPr>
                <a:t></a:t>
              </a:r>
            </a:p>
          </p:txBody>
        </p:sp>
        <p:sp>
          <p:nvSpPr>
            <p:cNvPr id="486" name="Text Box 316">
              <a:extLst>
                <a:ext uri="{FF2B5EF4-FFF2-40B4-BE49-F238E27FC236}">
                  <a16:creationId xmlns:a16="http://schemas.microsoft.com/office/drawing/2014/main" id="{2E84195E-69B4-4C34-9BA0-07CDA9E292DE}"/>
                </a:ext>
              </a:extLst>
            </p:cNvPr>
            <p:cNvSpPr txBox="1">
              <a:spLocks noChangeArrowheads="1"/>
            </p:cNvSpPr>
            <p:nvPr>
              <p:custDataLst>
                <p:tags r:id="rId93"/>
              </p:custDataLst>
            </p:nvPr>
          </p:nvSpPr>
          <p:spPr bwMode="auto">
            <a:xfrm>
              <a:off x="3458" y="7201"/>
              <a:ext cx="3402" cy="283"/>
            </a:xfrm>
            <a:prstGeom prst="rect">
              <a:avLst/>
            </a:prstGeom>
            <a:solidFill>
              <a:srgbClr val="CCCCFF"/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PC</a:t>
              </a:r>
              <a:r>
                <a:rPr lang="zh-CN" altLang="en-US" sz="1400" b="1" dirty="0">
                  <a:latin typeface="宋体" panose="02010600030101010101" pitchFamily="2" charset="-122"/>
                </a:rPr>
                <a:t>←计算结果</a:t>
              </a:r>
            </a:p>
          </p:txBody>
        </p:sp>
        <p:sp>
          <p:nvSpPr>
            <p:cNvPr id="487" name="Text Box 316">
              <a:extLst>
                <a:ext uri="{FF2B5EF4-FFF2-40B4-BE49-F238E27FC236}">
                  <a16:creationId xmlns:a16="http://schemas.microsoft.com/office/drawing/2014/main" id="{26C89A55-89CD-4227-8CE5-6AC70B616913}"/>
                </a:ext>
              </a:extLst>
            </p:cNvPr>
            <p:cNvSpPr txBox="1">
              <a:spLocks noChangeArrowheads="1"/>
            </p:cNvSpPr>
            <p:nvPr>
              <p:custDataLst>
                <p:tags r:id="rId94"/>
              </p:custDataLst>
            </p:nvPr>
          </p:nvSpPr>
          <p:spPr bwMode="auto">
            <a:xfrm>
              <a:off x="3458" y="6861"/>
              <a:ext cx="794" cy="283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取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OPD</a:t>
              </a:r>
            </a:p>
          </p:txBody>
        </p:sp>
        <p:sp>
          <p:nvSpPr>
            <p:cNvPr id="488" name="Text Box 316">
              <a:extLst>
                <a:ext uri="{FF2B5EF4-FFF2-40B4-BE49-F238E27FC236}">
                  <a16:creationId xmlns:a16="http://schemas.microsoft.com/office/drawing/2014/main" id="{93F7DC0D-A1F4-41F4-8CE5-A09455260B4B}"/>
                </a:ext>
              </a:extLst>
            </p:cNvPr>
            <p:cNvSpPr txBox="1">
              <a:spLocks noChangeArrowheads="1"/>
            </p:cNvSpPr>
            <p:nvPr>
              <p:custDataLst>
                <p:tags r:id="rId95"/>
              </p:custDataLst>
            </p:nvPr>
          </p:nvSpPr>
          <p:spPr bwMode="auto">
            <a:xfrm>
              <a:off x="4535" y="6861"/>
              <a:ext cx="1247" cy="283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sz="1400" b="1" dirty="0">
                  <a:latin typeface="宋体" panose="02010600030101010101" pitchFamily="2" charset="-122"/>
                </a:rPr>
                <a:t>数据操作</a:t>
              </a:r>
            </a:p>
          </p:txBody>
        </p:sp>
        <p:sp>
          <p:nvSpPr>
            <p:cNvPr id="489" name="Text Box 316">
              <a:extLst>
                <a:ext uri="{FF2B5EF4-FFF2-40B4-BE49-F238E27FC236}">
                  <a16:creationId xmlns:a16="http://schemas.microsoft.com/office/drawing/2014/main" id="{9A7014C2-78C5-4F43-8F07-B0FBA0DB2D73}"/>
                </a:ext>
              </a:extLst>
            </p:cNvPr>
            <p:cNvSpPr txBox="1">
              <a:spLocks noChangeArrowheads="1"/>
            </p:cNvSpPr>
            <p:nvPr>
              <p:custDataLst>
                <p:tags r:id="rId96"/>
              </p:custDataLst>
            </p:nvPr>
          </p:nvSpPr>
          <p:spPr bwMode="auto">
            <a:xfrm>
              <a:off x="6066" y="6861"/>
              <a:ext cx="794" cy="283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存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OPD</a:t>
              </a:r>
            </a:p>
          </p:txBody>
        </p:sp>
        <p:cxnSp>
          <p:nvCxnSpPr>
            <p:cNvPr id="490" name="直接箭头连接符 489">
              <a:extLst>
                <a:ext uri="{FF2B5EF4-FFF2-40B4-BE49-F238E27FC236}">
                  <a16:creationId xmlns:a16="http://schemas.microsoft.com/office/drawing/2014/main" id="{7849174F-4D1D-4674-9C42-86D43723B52C}"/>
                </a:ext>
              </a:extLst>
            </p:cNvPr>
            <p:cNvCxnSpPr/>
            <p:nvPr>
              <p:custDataLst>
                <p:tags r:id="rId97"/>
              </p:custDataLst>
            </p:nvPr>
          </p:nvCxnSpPr>
          <p:spPr bwMode="auto">
            <a:xfrm>
              <a:off x="4252" y="7031"/>
              <a:ext cx="283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91" name="直接箭头连接符 490">
              <a:extLst>
                <a:ext uri="{FF2B5EF4-FFF2-40B4-BE49-F238E27FC236}">
                  <a16:creationId xmlns:a16="http://schemas.microsoft.com/office/drawing/2014/main" id="{E731DCC4-9E77-4107-9CDC-E17747E26281}"/>
                </a:ext>
              </a:extLst>
            </p:cNvPr>
            <p:cNvCxnSpPr/>
            <p:nvPr>
              <p:custDataLst>
                <p:tags r:id="rId98"/>
              </p:custDataLst>
            </p:nvPr>
          </p:nvCxnSpPr>
          <p:spPr bwMode="auto">
            <a:xfrm>
              <a:off x="5782" y="7031"/>
              <a:ext cx="283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</p:grpSp>
      <p:grpSp>
        <p:nvGrpSpPr>
          <p:cNvPr id="492" name="组合 491">
            <a:extLst>
              <a:ext uri="{FF2B5EF4-FFF2-40B4-BE49-F238E27FC236}">
                <a16:creationId xmlns:a16="http://schemas.microsoft.com/office/drawing/2014/main" id="{F11A6FEB-CCA0-488C-B307-7B2D3123C820}"/>
              </a:ext>
            </a:extLst>
          </p:cNvPr>
          <p:cNvGrpSpPr/>
          <p:nvPr/>
        </p:nvGrpSpPr>
        <p:grpSpPr>
          <a:xfrm>
            <a:off x="4064809" y="5040000"/>
            <a:ext cx="219159" cy="873264"/>
            <a:chOff x="3236841" y="4932000"/>
            <a:chExt cx="219159" cy="873264"/>
          </a:xfrm>
        </p:grpSpPr>
        <p:cxnSp>
          <p:nvCxnSpPr>
            <p:cNvPr id="493" name="直接连接符 492">
              <a:extLst>
                <a:ext uri="{FF2B5EF4-FFF2-40B4-BE49-F238E27FC236}">
                  <a16:creationId xmlns:a16="http://schemas.microsoft.com/office/drawing/2014/main" id="{7B6EC3E1-E199-4CD5-9C9A-9D5C029308B4}"/>
                </a:ext>
              </a:extLst>
            </p:cNvPr>
            <p:cNvCxnSpPr/>
            <p:nvPr/>
          </p:nvCxnSpPr>
          <p:spPr bwMode="auto">
            <a:xfrm flipH="1">
              <a:off x="3236841" y="5805264"/>
              <a:ext cx="216000" cy="0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triangle" w="med" len="med"/>
            </a:ln>
          </p:spPr>
        </p:cxnSp>
        <p:cxnSp>
          <p:nvCxnSpPr>
            <p:cNvPr id="494" name="直接连接符 493">
              <a:extLst>
                <a:ext uri="{FF2B5EF4-FFF2-40B4-BE49-F238E27FC236}">
                  <a16:creationId xmlns:a16="http://schemas.microsoft.com/office/drawing/2014/main" id="{8A142493-EDAE-41FE-8B93-632567840C80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456000" y="4932000"/>
              <a:ext cx="0" cy="864000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95" name="组合 494">
            <a:extLst>
              <a:ext uri="{FF2B5EF4-FFF2-40B4-BE49-F238E27FC236}">
                <a16:creationId xmlns:a16="http://schemas.microsoft.com/office/drawing/2014/main" id="{A0F2DC8C-97F8-4243-B2D6-ACE839F68D65}"/>
              </a:ext>
            </a:extLst>
          </p:cNvPr>
          <p:cNvGrpSpPr/>
          <p:nvPr/>
        </p:nvGrpSpPr>
        <p:grpSpPr>
          <a:xfrm>
            <a:off x="5184000" y="2268000"/>
            <a:ext cx="3383700" cy="1440000"/>
            <a:chOff x="5184000" y="2268000"/>
            <a:chExt cx="3383700" cy="1440000"/>
          </a:xfrm>
        </p:grpSpPr>
        <p:cxnSp>
          <p:nvCxnSpPr>
            <p:cNvPr id="496" name="直接箭头连接符 495">
              <a:extLst>
                <a:ext uri="{FF2B5EF4-FFF2-40B4-BE49-F238E27FC236}">
                  <a16:creationId xmlns:a16="http://schemas.microsoft.com/office/drawing/2014/main" id="{51DABDF5-0335-4F4F-A953-AE0EFA10C725}"/>
                </a:ext>
              </a:extLst>
            </p:cNvPr>
            <p:cNvCxnSpPr/>
            <p:nvPr>
              <p:custDataLst>
                <p:tags r:id="rId32"/>
              </p:custDataLst>
            </p:nvPr>
          </p:nvCxnSpPr>
          <p:spPr bwMode="auto">
            <a:xfrm flipV="1">
              <a:off x="5723799" y="3024000"/>
              <a:ext cx="432000" cy="6120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497" name="Rectangle 274">
              <a:extLst>
                <a:ext uri="{FF2B5EF4-FFF2-40B4-BE49-F238E27FC236}">
                  <a16:creationId xmlns:a16="http://schemas.microsoft.com/office/drawing/2014/main" id="{EDFB5AD3-AC3A-4434-97CD-496B71D818FC}"/>
                </a:ext>
              </a:extLst>
            </p:cNvPr>
            <p:cNvSpPr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6731800" y="2340000"/>
              <a:ext cx="1548000" cy="75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952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  <p:sp>
          <p:nvSpPr>
            <p:cNvPr id="498" name="Text Box 256">
              <a:extLst>
                <a:ext uri="{FF2B5EF4-FFF2-40B4-BE49-F238E27FC236}">
                  <a16:creationId xmlns:a16="http://schemas.microsoft.com/office/drawing/2014/main" id="{51B44391-EF19-4007-931E-572836E7D72A}"/>
                </a:ext>
              </a:extLst>
            </p:cNvPr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6803800" y="2664000"/>
              <a:ext cx="216000" cy="288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ID</a:t>
              </a:r>
            </a:p>
          </p:txBody>
        </p:sp>
        <p:sp>
          <p:nvSpPr>
            <p:cNvPr id="499" name="Text Box 257">
              <a:extLst>
                <a:ext uri="{FF2B5EF4-FFF2-40B4-BE49-F238E27FC236}">
                  <a16:creationId xmlns:a16="http://schemas.microsoft.com/office/drawing/2014/main" id="{71EEFC36-8E42-4C9D-BA3A-4EE0047AE289}"/>
                </a:ext>
              </a:extLst>
            </p:cNvPr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6767800" y="2376000"/>
              <a:ext cx="1476000" cy="180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时序信号形成电路</a:t>
              </a:r>
            </a:p>
          </p:txBody>
        </p:sp>
        <p:sp>
          <p:nvSpPr>
            <p:cNvPr id="500" name="Text Box 258">
              <a:extLst>
                <a:ext uri="{FF2B5EF4-FFF2-40B4-BE49-F238E27FC236}">
                  <a16:creationId xmlns:a16="http://schemas.microsoft.com/office/drawing/2014/main" id="{E18B7601-F574-470F-897B-A866CAF5DF97}"/>
                </a:ext>
              </a:extLst>
            </p:cNvPr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7163800" y="2663849"/>
              <a:ext cx="936000" cy="396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 err="1"/>
                <a:t>μ</a:t>
              </a:r>
              <a:r>
                <a:rPr lang="en-US" altLang="zh-CN" sz="1400" b="1" dirty="0" err="1">
                  <a:latin typeface="宋体" panose="02010600030101010101" pitchFamily="2" charset="-122"/>
                </a:rPr>
                <a:t>OP</a:t>
              </a:r>
              <a:r>
                <a:rPr lang="zh-CN" altLang="en-US" sz="1400" b="1" dirty="0">
                  <a:latin typeface="宋体" panose="02010600030101010101" pitchFamily="2" charset="-122"/>
                </a:rPr>
                <a:t>控制信号形成电路</a:t>
              </a:r>
            </a:p>
          </p:txBody>
        </p:sp>
        <p:sp>
          <p:nvSpPr>
            <p:cNvPr id="501" name="Text Box 271">
              <a:extLst>
                <a:ext uri="{FF2B5EF4-FFF2-40B4-BE49-F238E27FC236}">
                  <a16:creationId xmlns:a16="http://schemas.microsoft.com/office/drawing/2014/main" id="{F43F4796-3E52-4972-A0A1-F3FDBF6C18A5}"/>
                </a:ext>
              </a:extLst>
            </p:cNvPr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7451800" y="3096000"/>
              <a:ext cx="432000" cy="10795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solidFill>
                    <a:srgbClr val="FF3399"/>
                  </a:solidFill>
                  <a:latin typeface="+mn-ea"/>
                  <a:ea typeface="+mn-ea"/>
                </a:rPr>
                <a:t>……</a:t>
              </a:r>
            </a:p>
          </p:txBody>
        </p:sp>
        <p:cxnSp>
          <p:nvCxnSpPr>
            <p:cNvPr id="502" name="直接箭头连接符 501">
              <a:extLst>
                <a:ext uri="{FF2B5EF4-FFF2-40B4-BE49-F238E27FC236}">
                  <a16:creationId xmlns:a16="http://schemas.microsoft.com/office/drawing/2014/main" id="{3C347837-701B-45B3-B66C-0ECD35A9292C}"/>
                </a:ext>
              </a:extLst>
            </p:cNvPr>
            <p:cNvCxnSpPr/>
            <p:nvPr>
              <p:custDataLst>
                <p:tags r:id="rId38"/>
              </p:custDataLst>
            </p:nvPr>
          </p:nvCxnSpPr>
          <p:spPr bwMode="auto">
            <a:xfrm>
              <a:off x="7019800" y="2700000"/>
              <a:ext cx="144145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503" name="直接箭头连接符 502">
              <a:extLst>
                <a:ext uri="{FF2B5EF4-FFF2-40B4-BE49-F238E27FC236}">
                  <a16:creationId xmlns:a16="http://schemas.microsoft.com/office/drawing/2014/main" id="{75BD2211-89F1-4BE6-B72B-BF5E615516E9}"/>
                </a:ext>
              </a:extLst>
            </p:cNvPr>
            <p:cNvCxnSpPr/>
            <p:nvPr>
              <p:custDataLst>
                <p:tags r:id="rId39"/>
              </p:custDataLst>
            </p:nvPr>
          </p:nvCxnSpPr>
          <p:spPr bwMode="auto">
            <a:xfrm>
              <a:off x="7019800" y="2916000"/>
              <a:ext cx="144145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504" name="直接箭头连接符 503">
              <a:extLst>
                <a:ext uri="{FF2B5EF4-FFF2-40B4-BE49-F238E27FC236}">
                  <a16:creationId xmlns:a16="http://schemas.microsoft.com/office/drawing/2014/main" id="{16417CD2-E77B-45FD-B64A-BEB97D184F5F}"/>
                </a:ext>
              </a:extLst>
            </p:cNvPr>
            <p:cNvCxnSpPr/>
            <p:nvPr>
              <p:custDataLst>
                <p:tags r:id="rId40"/>
              </p:custDataLst>
            </p:nvPr>
          </p:nvCxnSpPr>
          <p:spPr bwMode="auto">
            <a:xfrm>
              <a:off x="7812700" y="2556000"/>
              <a:ext cx="0" cy="1080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505" name="直接箭头连接符 504">
              <a:extLst>
                <a:ext uri="{FF2B5EF4-FFF2-40B4-BE49-F238E27FC236}">
                  <a16:creationId xmlns:a16="http://schemas.microsoft.com/office/drawing/2014/main" id="{A5DC0FEA-3D8D-40F1-A801-277F8CE7A566}"/>
                </a:ext>
              </a:extLst>
            </p:cNvPr>
            <p:cNvCxnSpPr/>
            <p:nvPr>
              <p:custDataLst>
                <p:tags r:id="rId41"/>
              </p:custDataLst>
            </p:nvPr>
          </p:nvCxnSpPr>
          <p:spPr bwMode="auto">
            <a:xfrm>
              <a:off x="7524410" y="2556000"/>
              <a:ext cx="0" cy="1080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506" name="Text Box 271">
              <a:extLst>
                <a:ext uri="{FF2B5EF4-FFF2-40B4-BE49-F238E27FC236}">
                  <a16:creationId xmlns:a16="http://schemas.microsoft.com/office/drawing/2014/main" id="{A54972CF-F9C8-4AC7-AD78-8FB1CB514805}"/>
                </a:ext>
              </a:extLst>
            </p:cNvPr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7559800" y="2556000"/>
              <a:ext cx="216000" cy="14478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solidFill>
                    <a:srgbClr val="C00000"/>
                  </a:solidFill>
                  <a:latin typeface="+mn-ea"/>
                  <a:ea typeface="+mn-ea"/>
                </a:rPr>
                <a:t>…</a:t>
              </a:r>
            </a:p>
          </p:txBody>
        </p:sp>
        <p:cxnSp>
          <p:nvCxnSpPr>
            <p:cNvPr id="507" name="直接箭头连接符 506">
              <a:extLst>
                <a:ext uri="{FF2B5EF4-FFF2-40B4-BE49-F238E27FC236}">
                  <a16:creationId xmlns:a16="http://schemas.microsoft.com/office/drawing/2014/main" id="{71B56F48-E351-4377-BC3F-1881FA9DCD71}"/>
                </a:ext>
              </a:extLst>
            </p:cNvPr>
            <p:cNvCxnSpPr/>
            <p:nvPr>
              <p:custDataLst>
                <p:tags r:id="rId43"/>
              </p:custDataLst>
            </p:nvPr>
          </p:nvCxnSpPr>
          <p:spPr bwMode="auto">
            <a:xfrm>
              <a:off x="6623800" y="2844000"/>
              <a:ext cx="180000" cy="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508" name="直接箭头连接符 507">
              <a:extLst>
                <a:ext uri="{FF2B5EF4-FFF2-40B4-BE49-F238E27FC236}">
                  <a16:creationId xmlns:a16="http://schemas.microsoft.com/office/drawing/2014/main" id="{474E650D-C4DD-4401-9579-030D9D9556B0}"/>
                </a:ext>
              </a:extLst>
            </p:cNvPr>
            <p:cNvCxnSpPr/>
            <p:nvPr>
              <p:custDataLst>
                <p:tags r:id="rId44"/>
              </p:custDataLst>
            </p:nvPr>
          </p:nvCxnSpPr>
          <p:spPr bwMode="auto">
            <a:xfrm flipH="1">
              <a:off x="7919800" y="3060000"/>
              <a:ext cx="635" cy="1080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509" name="直接箭头连接符 508">
              <a:extLst>
                <a:ext uri="{FF2B5EF4-FFF2-40B4-BE49-F238E27FC236}">
                  <a16:creationId xmlns:a16="http://schemas.microsoft.com/office/drawing/2014/main" id="{078A170C-C4BB-4376-8A66-AC871F88293E}"/>
                </a:ext>
              </a:extLst>
            </p:cNvPr>
            <p:cNvCxnSpPr/>
            <p:nvPr>
              <p:custDataLst>
                <p:tags r:id="rId45"/>
              </p:custDataLst>
            </p:nvPr>
          </p:nvCxnSpPr>
          <p:spPr bwMode="auto">
            <a:xfrm>
              <a:off x="7415800" y="3060000"/>
              <a:ext cx="0" cy="1080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510" name="Text Box 271">
              <a:extLst>
                <a:ext uri="{FF2B5EF4-FFF2-40B4-BE49-F238E27FC236}">
                  <a16:creationId xmlns:a16="http://schemas.microsoft.com/office/drawing/2014/main" id="{8FF54349-E022-40DD-88CC-1EB291DA61BA}"/>
                </a:ext>
              </a:extLst>
            </p:cNvPr>
            <p:cNvSpPr txBox="1"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6983800" y="2700000"/>
              <a:ext cx="144145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0" tIns="0" rIns="0" bIns="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latin typeface="+mn-ea"/>
                  <a:ea typeface="+mn-ea"/>
                </a:rPr>
                <a:t>…</a:t>
              </a:r>
            </a:p>
          </p:txBody>
        </p:sp>
        <p:cxnSp>
          <p:nvCxnSpPr>
            <p:cNvPr id="511" name="直接箭头连接符 510">
              <a:extLst>
                <a:ext uri="{FF2B5EF4-FFF2-40B4-BE49-F238E27FC236}">
                  <a16:creationId xmlns:a16="http://schemas.microsoft.com/office/drawing/2014/main" id="{F4E90481-00ED-4AE2-95D0-4A8EEC0C5D99}"/>
                </a:ext>
              </a:extLst>
            </p:cNvPr>
            <p:cNvCxnSpPr/>
            <p:nvPr>
              <p:custDataLst>
                <p:tags r:id="rId47"/>
              </p:custDataLst>
            </p:nvPr>
          </p:nvCxnSpPr>
          <p:spPr bwMode="auto">
            <a:xfrm flipH="1">
              <a:off x="8099800" y="2916000"/>
              <a:ext cx="252000" cy="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512" name="直接箭头连接符 511">
              <a:extLst>
                <a:ext uri="{FF2B5EF4-FFF2-40B4-BE49-F238E27FC236}">
                  <a16:creationId xmlns:a16="http://schemas.microsoft.com/office/drawing/2014/main" id="{06C00DD1-5870-48B2-9522-4FF09881FED1}"/>
                </a:ext>
              </a:extLst>
            </p:cNvPr>
            <p:cNvCxnSpPr/>
            <p:nvPr>
              <p:custDataLst>
                <p:tags r:id="rId48"/>
              </p:custDataLst>
            </p:nvPr>
          </p:nvCxnSpPr>
          <p:spPr bwMode="auto">
            <a:xfrm flipH="1">
              <a:off x="6623800" y="2412000"/>
              <a:ext cx="144000" cy="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513" name="直接箭头连接符 512">
              <a:extLst>
                <a:ext uri="{FF2B5EF4-FFF2-40B4-BE49-F238E27FC236}">
                  <a16:creationId xmlns:a16="http://schemas.microsoft.com/office/drawing/2014/main" id="{4D969530-C3B3-4534-A2E4-8A58D05DA663}"/>
                </a:ext>
              </a:extLst>
            </p:cNvPr>
            <p:cNvCxnSpPr/>
            <p:nvPr>
              <p:custDataLst>
                <p:tags r:id="rId49"/>
              </p:custDataLst>
            </p:nvPr>
          </p:nvCxnSpPr>
          <p:spPr bwMode="auto">
            <a:xfrm flipH="1">
              <a:off x="6623800" y="2484000"/>
              <a:ext cx="144000" cy="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514" name="直接箭头连接符 117">
              <a:extLst>
                <a:ext uri="{FF2B5EF4-FFF2-40B4-BE49-F238E27FC236}">
                  <a16:creationId xmlns:a16="http://schemas.microsoft.com/office/drawing/2014/main" id="{8584C661-B625-45BF-9820-B14DE9AC19A7}"/>
                </a:ext>
              </a:extLst>
            </p:cNvPr>
            <p:cNvCxnSpPr/>
            <p:nvPr>
              <p:custDataLst>
                <p:tags r:id="rId50"/>
              </p:custDataLst>
            </p:nvPr>
          </p:nvCxnSpPr>
          <p:spPr bwMode="auto">
            <a:xfrm>
              <a:off x="6155800" y="3024000"/>
              <a:ext cx="10080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515" name="Text Box 333">
              <a:extLst>
                <a:ext uri="{FF2B5EF4-FFF2-40B4-BE49-F238E27FC236}">
                  <a16:creationId xmlns:a16="http://schemas.microsoft.com/office/drawing/2014/main" id="{AE6D172D-D3AC-4454-82B2-1D88EE66C674}"/>
                </a:ext>
              </a:extLst>
            </p:cNvPr>
            <p:cNvSpPr txBox="1">
              <a:spLocks noChangeArrowheads="1"/>
            </p:cNvSpPr>
            <p:nvPr>
              <p:custDataLst>
                <p:tags r:id="rId51"/>
              </p:custDataLst>
            </p:nvPr>
          </p:nvSpPr>
          <p:spPr bwMode="auto">
            <a:xfrm>
              <a:off x="5832134" y="2520000"/>
              <a:ext cx="216000" cy="1116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vert="eaVert"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通路结构</a:t>
              </a:r>
            </a:p>
          </p:txBody>
        </p:sp>
        <p:sp>
          <p:nvSpPr>
            <p:cNvPr id="516" name="Rectangle 274">
              <a:extLst>
                <a:ext uri="{FF2B5EF4-FFF2-40B4-BE49-F238E27FC236}">
                  <a16:creationId xmlns:a16="http://schemas.microsoft.com/office/drawing/2014/main" id="{050D34B0-DB15-478A-B574-48B3ADD7785A}"/>
                </a:ext>
              </a:extLst>
            </p:cNvPr>
            <p:cNvSpPr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6155800" y="2520000"/>
              <a:ext cx="468000" cy="468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952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  <p:sp>
          <p:nvSpPr>
            <p:cNvPr id="517" name="Text Box 276">
              <a:extLst>
                <a:ext uri="{FF2B5EF4-FFF2-40B4-BE49-F238E27FC236}">
                  <a16:creationId xmlns:a16="http://schemas.microsoft.com/office/drawing/2014/main" id="{CF4EAA47-28BA-4954-9EFC-795A06323597}"/>
                </a:ext>
              </a:extLst>
            </p:cNvPr>
            <p:cNvSpPr txBox="1"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6192179" y="2558099"/>
              <a:ext cx="396000" cy="180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PC</a:t>
              </a:r>
            </a:p>
          </p:txBody>
        </p:sp>
        <p:sp>
          <p:nvSpPr>
            <p:cNvPr id="518" name="Text Box 276">
              <a:extLst>
                <a:ext uri="{FF2B5EF4-FFF2-40B4-BE49-F238E27FC236}">
                  <a16:creationId xmlns:a16="http://schemas.microsoft.com/office/drawing/2014/main" id="{8567F243-874D-452F-AA73-3487A1DA026C}"/>
                </a:ext>
              </a:extLst>
            </p:cNvPr>
            <p:cNvSpPr txBox="1"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6192179" y="2773999"/>
              <a:ext cx="396000" cy="180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IR</a:t>
              </a:r>
            </a:p>
          </p:txBody>
        </p:sp>
        <p:cxnSp>
          <p:nvCxnSpPr>
            <p:cNvPr id="519" name="直接箭头连接符 518">
              <a:extLst>
                <a:ext uri="{FF2B5EF4-FFF2-40B4-BE49-F238E27FC236}">
                  <a16:creationId xmlns:a16="http://schemas.microsoft.com/office/drawing/2014/main" id="{176F858A-553C-4702-85EF-C80FA6D6F9C0}"/>
                </a:ext>
              </a:extLst>
            </p:cNvPr>
            <p:cNvCxnSpPr/>
            <p:nvPr>
              <p:custDataLst>
                <p:tags r:id="rId55"/>
              </p:custDataLst>
            </p:nvPr>
          </p:nvCxnSpPr>
          <p:spPr bwMode="auto">
            <a:xfrm>
              <a:off x="6047800" y="2593760"/>
              <a:ext cx="144000" cy="635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520" name="直接箭头连接符 519">
              <a:extLst>
                <a:ext uri="{FF2B5EF4-FFF2-40B4-BE49-F238E27FC236}">
                  <a16:creationId xmlns:a16="http://schemas.microsoft.com/office/drawing/2014/main" id="{47BBFC45-F2CE-4010-B2F4-71B645D332A1}"/>
                </a:ext>
              </a:extLst>
            </p:cNvPr>
            <p:cNvCxnSpPr/>
            <p:nvPr>
              <p:custDataLst>
                <p:tags r:id="rId56"/>
              </p:custDataLst>
            </p:nvPr>
          </p:nvCxnSpPr>
          <p:spPr bwMode="auto">
            <a:xfrm flipH="1" flipV="1">
              <a:off x="6047800" y="2701760"/>
              <a:ext cx="144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521" name="直接箭头连接符 520">
              <a:extLst>
                <a:ext uri="{FF2B5EF4-FFF2-40B4-BE49-F238E27FC236}">
                  <a16:creationId xmlns:a16="http://schemas.microsoft.com/office/drawing/2014/main" id="{6203FC3D-0FB4-47DC-9F41-538F49798C40}"/>
                </a:ext>
              </a:extLst>
            </p:cNvPr>
            <p:cNvCxnSpPr/>
            <p:nvPr>
              <p:custDataLst>
                <p:tags r:id="rId57"/>
              </p:custDataLst>
            </p:nvPr>
          </p:nvCxnSpPr>
          <p:spPr bwMode="auto">
            <a:xfrm>
              <a:off x="6047800" y="2845760"/>
              <a:ext cx="144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522" name="Text Box 227">
              <a:extLst>
                <a:ext uri="{FF2B5EF4-FFF2-40B4-BE49-F238E27FC236}">
                  <a16:creationId xmlns:a16="http://schemas.microsoft.com/office/drawing/2014/main" id="{604035BB-EF70-44B1-866A-AAEFC16EE5BB}"/>
                </a:ext>
              </a:extLst>
            </p:cNvPr>
            <p:cNvSpPr txBox="1"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8351800" y="2844000"/>
              <a:ext cx="215900" cy="864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vert="eaVert"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中断机构</a:t>
              </a:r>
            </a:p>
          </p:txBody>
        </p:sp>
        <p:cxnSp>
          <p:nvCxnSpPr>
            <p:cNvPr id="523" name="直接箭头连接符 522">
              <a:extLst>
                <a:ext uri="{FF2B5EF4-FFF2-40B4-BE49-F238E27FC236}">
                  <a16:creationId xmlns:a16="http://schemas.microsoft.com/office/drawing/2014/main" id="{467EB269-B611-4935-9BEB-FC6C2D4B1144}"/>
                </a:ext>
              </a:extLst>
            </p:cNvPr>
            <p:cNvCxnSpPr>
              <a:cxnSpLocks/>
            </p:cNvCxnSpPr>
            <p:nvPr>
              <p:custDataLst>
                <p:tags r:id="rId59"/>
              </p:custDataLst>
            </p:nvPr>
          </p:nvCxnSpPr>
          <p:spPr bwMode="auto">
            <a:xfrm>
              <a:off x="8495800" y="2304000"/>
              <a:ext cx="0" cy="54000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</p:cxnSp>
        <p:cxnSp>
          <p:nvCxnSpPr>
            <p:cNvPr id="524" name="直接箭头连接符 523">
              <a:extLst>
                <a:ext uri="{FF2B5EF4-FFF2-40B4-BE49-F238E27FC236}">
                  <a16:creationId xmlns:a16="http://schemas.microsoft.com/office/drawing/2014/main" id="{B4913782-AB50-4450-9233-FDFA3EF3A1A7}"/>
                </a:ext>
              </a:extLst>
            </p:cNvPr>
            <p:cNvCxnSpPr/>
            <p:nvPr>
              <p:custDataLst>
                <p:tags r:id="rId60"/>
              </p:custDataLst>
            </p:nvPr>
          </p:nvCxnSpPr>
          <p:spPr bwMode="auto">
            <a:xfrm>
              <a:off x="6588000" y="2304000"/>
              <a:ext cx="1908000" cy="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525" name="Text Box 392">
              <a:extLst>
                <a:ext uri="{FF2B5EF4-FFF2-40B4-BE49-F238E27FC236}">
                  <a16:creationId xmlns:a16="http://schemas.microsoft.com/office/drawing/2014/main" id="{DD6F5371-6151-4E3D-BEC5-D677F01A0C19}"/>
                </a:ext>
              </a:extLst>
            </p:cNvPr>
            <p:cNvSpPr txBox="1">
              <a:spLocks noChangeArrowheads="1"/>
            </p:cNvSpPr>
            <p:nvPr>
              <p:custDataLst>
                <p:tags r:id="rId61"/>
              </p:custDataLst>
            </p:nvPr>
          </p:nvSpPr>
          <p:spPr bwMode="auto">
            <a:xfrm>
              <a:off x="5831800" y="2268000"/>
              <a:ext cx="396000" cy="144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异常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526" name="Text Box 276">
              <a:extLst>
                <a:ext uri="{FF2B5EF4-FFF2-40B4-BE49-F238E27FC236}">
                  <a16:creationId xmlns:a16="http://schemas.microsoft.com/office/drawing/2014/main" id="{504A53D6-4B3C-4BBE-B2AB-F6F76B13150F}"/>
                </a:ext>
              </a:extLst>
            </p:cNvPr>
            <p:cNvSpPr txBox="1">
              <a:spLocks noChangeArrowheads="1"/>
            </p:cNvSpPr>
            <p:nvPr>
              <p:custDataLst>
                <p:tags r:id="rId62"/>
              </p:custDataLst>
            </p:nvPr>
          </p:nvSpPr>
          <p:spPr bwMode="auto">
            <a:xfrm>
              <a:off x="6335800" y="2268000"/>
              <a:ext cx="252000" cy="144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200" b="1" dirty="0">
                  <a:latin typeface="宋体" panose="02010600030101010101" pitchFamily="2" charset="-122"/>
                </a:rPr>
                <a:t>≥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1</a:t>
              </a:r>
            </a:p>
          </p:txBody>
        </p:sp>
        <p:cxnSp>
          <p:nvCxnSpPr>
            <p:cNvPr id="527" name="直接箭头连接符 526">
              <a:extLst>
                <a:ext uri="{FF2B5EF4-FFF2-40B4-BE49-F238E27FC236}">
                  <a16:creationId xmlns:a16="http://schemas.microsoft.com/office/drawing/2014/main" id="{B4CDBA38-2708-49D0-9C9C-2B5C4566EB1D}"/>
                </a:ext>
              </a:extLst>
            </p:cNvPr>
            <p:cNvCxnSpPr/>
            <p:nvPr>
              <p:custDataLst>
                <p:tags r:id="rId63"/>
              </p:custDataLst>
            </p:nvPr>
          </p:nvCxnSpPr>
          <p:spPr bwMode="auto">
            <a:xfrm>
              <a:off x="6228079" y="2376000"/>
              <a:ext cx="108000" cy="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528" name="直接箭头连接符 527">
              <a:extLst>
                <a:ext uri="{FF2B5EF4-FFF2-40B4-BE49-F238E27FC236}">
                  <a16:creationId xmlns:a16="http://schemas.microsoft.com/office/drawing/2014/main" id="{96208315-7E3D-47C4-84CC-25700BB6B142}"/>
                </a:ext>
              </a:extLst>
            </p:cNvPr>
            <p:cNvCxnSpPr/>
            <p:nvPr>
              <p:custDataLst>
                <p:tags r:id="rId64"/>
              </p:custDataLst>
            </p:nvPr>
          </p:nvCxnSpPr>
          <p:spPr bwMode="auto">
            <a:xfrm>
              <a:off x="6228079" y="2304000"/>
              <a:ext cx="108000" cy="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529" name="直接箭头连接符 528">
              <a:extLst>
                <a:ext uri="{FF2B5EF4-FFF2-40B4-BE49-F238E27FC236}">
                  <a16:creationId xmlns:a16="http://schemas.microsoft.com/office/drawing/2014/main" id="{7FD46CD0-4C7E-4F6C-8F0E-7441617677AF}"/>
                </a:ext>
              </a:extLst>
            </p:cNvPr>
            <p:cNvCxnSpPr/>
            <p:nvPr>
              <p:custDataLst>
                <p:tags r:id="rId65"/>
              </p:custDataLst>
            </p:nvPr>
          </p:nvCxnSpPr>
          <p:spPr bwMode="auto">
            <a:xfrm>
              <a:off x="6227800" y="2340000"/>
              <a:ext cx="108000" cy="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530" name="直接箭头连接符 529">
              <a:extLst>
                <a:ext uri="{FF2B5EF4-FFF2-40B4-BE49-F238E27FC236}">
                  <a16:creationId xmlns:a16="http://schemas.microsoft.com/office/drawing/2014/main" id="{38559961-8C0A-48AC-B83D-C6F4E8A575B7}"/>
                </a:ext>
              </a:extLst>
            </p:cNvPr>
            <p:cNvCxnSpPr/>
            <p:nvPr>
              <p:custDataLst>
                <p:tags r:id="rId66"/>
              </p:custDataLst>
            </p:nvPr>
          </p:nvCxnSpPr>
          <p:spPr bwMode="auto">
            <a:xfrm flipH="1">
              <a:off x="6047800" y="3240000"/>
              <a:ext cx="2304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531" name="直接箭头连接符 530">
              <a:extLst>
                <a:ext uri="{FF2B5EF4-FFF2-40B4-BE49-F238E27FC236}">
                  <a16:creationId xmlns:a16="http://schemas.microsoft.com/office/drawing/2014/main" id="{064B899D-82AB-433C-B320-F0085CB25E39}"/>
                </a:ext>
              </a:extLst>
            </p:cNvPr>
            <p:cNvCxnSpPr/>
            <p:nvPr>
              <p:custDataLst>
                <p:tags r:id="rId67"/>
              </p:custDataLst>
            </p:nvPr>
          </p:nvCxnSpPr>
          <p:spPr bwMode="auto">
            <a:xfrm>
              <a:off x="6047800" y="3204000"/>
              <a:ext cx="2304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532" name="Text Box 291">
              <a:extLst>
                <a:ext uri="{FF2B5EF4-FFF2-40B4-BE49-F238E27FC236}">
                  <a16:creationId xmlns:a16="http://schemas.microsoft.com/office/drawing/2014/main" id="{007D7D30-664C-456B-B895-B22D4F41B236}"/>
                </a:ext>
              </a:extLst>
            </p:cNvPr>
            <p:cNvSpPr txBox="1">
              <a:spLocks noChangeArrowheads="1"/>
            </p:cNvSpPr>
            <p:nvPr>
              <p:custDataLst>
                <p:tags r:id="rId68"/>
              </p:custDataLst>
            </p:nvPr>
          </p:nvSpPr>
          <p:spPr bwMode="auto">
            <a:xfrm>
              <a:off x="7811800" y="3311181"/>
              <a:ext cx="468000" cy="396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8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总线逻辑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533" name="直接箭头连接符 532">
              <a:extLst>
                <a:ext uri="{FF2B5EF4-FFF2-40B4-BE49-F238E27FC236}">
                  <a16:creationId xmlns:a16="http://schemas.microsoft.com/office/drawing/2014/main" id="{EAB1E555-FD4A-4B0F-9028-F93A223A4574}"/>
                </a:ext>
              </a:extLst>
            </p:cNvPr>
            <p:cNvCxnSpPr/>
            <p:nvPr>
              <p:custDataLst>
                <p:tags r:id="rId69"/>
              </p:custDataLst>
            </p:nvPr>
          </p:nvCxnSpPr>
          <p:spPr bwMode="auto">
            <a:xfrm>
              <a:off x="6047800" y="3527181"/>
              <a:ext cx="144000" cy="635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534" name="直接箭头连接符 533">
              <a:extLst>
                <a:ext uri="{FF2B5EF4-FFF2-40B4-BE49-F238E27FC236}">
                  <a16:creationId xmlns:a16="http://schemas.microsoft.com/office/drawing/2014/main" id="{C831736C-1E13-408B-A221-5ED7261036B0}"/>
                </a:ext>
              </a:extLst>
            </p:cNvPr>
            <p:cNvCxnSpPr/>
            <p:nvPr>
              <p:custDataLst>
                <p:tags r:id="rId70"/>
              </p:custDataLst>
            </p:nvPr>
          </p:nvCxnSpPr>
          <p:spPr bwMode="auto">
            <a:xfrm flipH="1" flipV="1">
              <a:off x="6047800" y="3599181"/>
              <a:ext cx="144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535" name="直接箭头连接符 534">
              <a:extLst>
                <a:ext uri="{FF2B5EF4-FFF2-40B4-BE49-F238E27FC236}">
                  <a16:creationId xmlns:a16="http://schemas.microsoft.com/office/drawing/2014/main" id="{677739A3-B3A9-4F32-9FFE-7651DF0146A2}"/>
                </a:ext>
              </a:extLst>
            </p:cNvPr>
            <p:cNvCxnSpPr/>
            <p:nvPr>
              <p:custDataLst>
                <p:tags r:id="rId71"/>
              </p:custDataLst>
            </p:nvPr>
          </p:nvCxnSpPr>
          <p:spPr bwMode="auto">
            <a:xfrm>
              <a:off x="6047800" y="3347756"/>
              <a:ext cx="144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536" name="Text Box 276">
              <a:extLst>
                <a:ext uri="{FF2B5EF4-FFF2-40B4-BE49-F238E27FC236}">
                  <a16:creationId xmlns:a16="http://schemas.microsoft.com/office/drawing/2014/main" id="{31A1263B-DB79-4288-BC88-EAEA272C2688}"/>
                </a:ext>
              </a:extLst>
            </p:cNvPr>
            <p:cNvSpPr txBox="1">
              <a:spLocks noChangeArrowheads="1"/>
            </p:cNvSpPr>
            <p:nvPr>
              <p:custDataLst>
                <p:tags r:id="rId72"/>
              </p:custDataLst>
            </p:nvPr>
          </p:nvSpPr>
          <p:spPr bwMode="auto">
            <a:xfrm>
              <a:off x="6192179" y="3276000"/>
              <a:ext cx="396000" cy="180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MAR</a:t>
              </a:r>
            </a:p>
          </p:txBody>
        </p:sp>
        <p:sp>
          <p:nvSpPr>
            <p:cNvPr id="537" name="Text Box 276">
              <a:extLst>
                <a:ext uri="{FF2B5EF4-FFF2-40B4-BE49-F238E27FC236}">
                  <a16:creationId xmlns:a16="http://schemas.microsoft.com/office/drawing/2014/main" id="{F84B8B11-FC51-4575-BE45-18E4F2407122}"/>
                </a:ext>
              </a:extLst>
            </p:cNvPr>
            <p:cNvSpPr txBox="1">
              <a:spLocks noChangeArrowheads="1"/>
            </p:cNvSpPr>
            <p:nvPr>
              <p:custDataLst>
                <p:tags r:id="rId73"/>
              </p:custDataLst>
            </p:nvPr>
          </p:nvSpPr>
          <p:spPr bwMode="auto">
            <a:xfrm>
              <a:off x="6192179" y="3491181"/>
              <a:ext cx="396000" cy="180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MDR</a:t>
              </a:r>
            </a:p>
          </p:txBody>
        </p:sp>
        <p:cxnSp>
          <p:nvCxnSpPr>
            <p:cNvPr id="538" name="直接箭头连接符 537">
              <a:extLst>
                <a:ext uri="{FF2B5EF4-FFF2-40B4-BE49-F238E27FC236}">
                  <a16:creationId xmlns:a16="http://schemas.microsoft.com/office/drawing/2014/main" id="{0427CBDB-651F-4DF0-9D94-53D2B85DD9D4}"/>
                </a:ext>
              </a:extLst>
            </p:cNvPr>
            <p:cNvCxnSpPr/>
            <p:nvPr>
              <p:custDataLst>
                <p:tags r:id="rId74"/>
              </p:custDataLst>
            </p:nvPr>
          </p:nvCxnSpPr>
          <p:spPr bwMode="auto">
            <a:xfrm>
              <a:off x="6587800" y="3347756"/>
              <a:ext cx="144145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539" name="直接箭头连接符 538">
              <a:extLst>
                <a:ext uri="{FF2B5EF4-FFF2-40B4-BE49-F238E27FC236}">
                  <a16:creationId xmlns:a16="http://schemas.microsoft.com/office/drawing/2014/main" id="{0F2B1B37-C0C3-40BE-B6F1-FF917B478C85}"/>
                </a:ext>
              </a:extLst>
            </p:cNvPr>
            <p:cNvCxnSpPr/>
            <p:nvPr>
              <p:custDataLst>
                <p:tags r:id="rId75"/>
              </p:custDataLst>
            </p:nvPr>
          </p:nvCxnSpPr>
          <p:spPr bwMode="auto">
            <a:xfrm>
              <a:off x="6587800" y="3527181"/>
              <a:ext cx="612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540" name="直接箭头连接符 539">
              <a:extLst>
                <a:ext uri="{FF2B5EF4-FFF2-40B4-BE49-F238E27FC236}">
                  <a16:creationId xmlns:a16="http://schemas.microsoft.com/office/drawing/2014/main" id="{4D39EF90-02C9-466E-8AE2-223D8ED94260}"/>
                </a:ext>
              </a:extLst>
            </p:cNvPr>
            <p:cNvCxnSpPr/>
            <p:nvPr>
              <p:custDataLst>
                <p:tags r:id="rId76"/>
              </p:custDataLst>
            </p:nvPr>
          </p:nvCxnSpPr>
          <p:spPr bwMode="auto">
            <a:xfrm flipH="1" flipV="1">
              <a:off x="6587800" y="3599181"/>
              <a:ext cx="1080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541" name="直接箭头连接符 540">
              <a:extLst>
                <a:ext uri="{FF2B5EF4-FFF2-40B4-BE49-F238E27FC236}">
                  <a16:creationId xmlns:a16="http://schemas.microsoft.com/office/drawing/2014/main" id="{BF461E8C-595B-4990-BE66-2ADF4D08FA6D}"/>
                </a:ext>
              </a:extLst>
            </p:cNvPr>
            <p:cNvCxnSpPr/>
            <p:nvPr>
              <p:custDataLst>
                <p:tags r:id="rId77"/>
              </p:custDataLst>
            </p:nvPr>
          </p:nvCxnSpPr>
          <p:spPr bwMode="auto">
            <a:xfrm>
              <a:off x="6731799" y="3347756"/>
              <a:ext cx="1080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542" name="直接箭头连接符 541">
              <a:extLst>
                <a:ext uri="{FF2B5EF4-FFF2-40B4-BE49-F238E27FC236}">
                  <a16:creationId xmlns:a16="http://schemas.microsoft.com/office/drawing/2014/main" id="{2ABA27D7-70C1-4D21-8CC3-D6BB8E59BF48}"/>
                </a:ext>
              </a:extLst>
            </p:cNvPr>
            <p:cNvCxnSpPr/>
            <p:nvPr>
              <p:custDataLst>
                <p:tags r:id="rId78"/>
              </p:custDataLst>
            </p:nvPr>
          </p:nvCxnSpPr>
          <p:spPr bwMode="auto">
            <a:xfrm>
              <a:off x="7199800" y="3527181"/>
              <a:ext cx="612000" cy="635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543" name="直接箭头连接符 542">
              <a:extLst>
                <a:ext uri="{FF2B5EF4-FFF2-40B4-BE49-F238E27FC236}">
                  <a16:creationId xmlns:a16="http://schemas.microsoft.com/office/drawing/2014/main" id="{6CB1554E-DCBC-4940-9B30-3CF7EA0E020D}"/>
                </a:ext>
              </a:extLst>
            </p:cNvPr>
            <p:cNvCxnSpPr/>
            <p:nvPr>
              <p:custDataLst>
                <p:tags r:id="rId79"/>
              </p:custDataLst>
            </p:nvPr>
          </p:nvCxnSpPr>
          <p:spPr bwMode="auto">
            <a:xfrm flipH="1" flipV="1">
              <a:off x="7667800" y="3599181"/>
              <a:ext cx="144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544" name="Rectangle 274">
              <a:extLst>
                <a:ext uri="{FF2B5EF4-FFF2-40B4-BE49-F238E27FC236}">
                  <a16:creationId xmlns:a16="http://schemas.microsoft.com/office/drawing/2014/main" id="{6300AC53-AE3A-45F7-835A-CB1F96B2BE64}"/>
                </a:ext>
              </a:extLst>
            </p:cNvPr>
            <p:cNvSpPr>
              <a:spLocks noChangeArrowheads="1"/>
            </p:cNvSpPr>
            <p:nvPr>
              <p:custDataLst>
                <p:tags r:id="rId80"/>
              </p:custDataLst>
            </p:nvPr>
          </p:nvSpPr>
          <p:spPr bwMode="auto">
            <a:xfrm>
              <a:off x="5184000" y="2412000"/>
              <a:ext cx="540000" cy="1152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vert="eaVert" wrap="none" lIns="0" tIns="0" rIns="0" bIns="0" anchor="ctr"/>
            <a:lstStyle/>
            <a:p>
              <a:pPr algn="ctr"/>
              <a:r>
                <a:rPr lang="zh-CN" altLang="en-US" sz="1600" dirty="0"/>
                <a:t>运算器</a:t>
              </a:r>
            </a:p>
          </p:txBody>
        </p:sp>
      </p:grpSp>
      <p:grpSp>
        <p:nvGrpSpPr>
          <p:cNvPr id="545" name="组合 544">
            <a:extLst>
              <a:ext uri="{FF2B5EF4-FFF2-40B4-BE49-F238E27FC236}">
                <a16:creationId xmlns:a16="http://schemas.microsoft.com/office/drawing/2014/main" id="{307D2371-D826-47B1-BE64-B62B7147C713}"/>
              </a:ext>
            </a:extLst>
          </p:cNvPr>
          <p:cNvGrpSpPr/>
          <p:nvPr/>
        </p:nvGrpSpPr>
        <p:grpSpPr>
          <a:xfrm>
            <a:off x="5184000" y="2412000"/>
            <a:ext cx="648200" cy="1223561"/>
            <a:chOff x="5183800" y="2412000"/>
            <a:chExt cx="648200" cy="1223561"/>
          </a:xfrm>
        </p:grpSpPr>
        <p:cxnSp>
          <p:nvCxnSpPr>
            <p:cNvPr id="546" name="直接箭头连接符 545">
              <a:extLst>
                <a:ext uri="{FF2B5EF4-FFF2-40B4-BE49-F238E27FC236}">
                  <a16:creationId xmlns:a16="http://schemas.microsoft.com/office/drawing/2014/main" id="{D37A77DC-7A2E-4EAF-8F74-9F873432AD79}"/>
                </a:ext>
              </a:extLst>
            </p:cNvPr>
            <p:cNvCxnSpPr>
              <a:cxnSpLocks/>
            </p:cNvCxnSpPr>
            <p:nvPr>
              <p:custDataLst>
                <p:tags r:id="rId14"/>
              </p:custDataLst>
            </p:nvPr>
          </p:nvCxnSpPr>
          <p:spPr bwMode="auto">
            <a:xfrm flipV="1">
              <a:off x="5399800" y="3635561"/>
              <a:ext cx="324000" cy="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547" name="Rectangle 274">
              <a:extLst>
                <a:ext uri="{FF2B5EF4-FFF2-40B4-BE49-F238E27FC236}">
                  <a16:creationId xmlns:a16="http://schemas.microsoft.com/office/drawing/2014/main" id="{BC991BB7-BD6D-4069-BCF4-659AC23BA2EE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5183800" y="2412000"/>
              <a:ext cx="540000" cy="1152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  <p:cxnSp>
          <p:nvCxnSpPr>
            <p:cNvPr id="548" name="直接箭头连接符 547">
              <a:extLst>
                <a:ext uri="{FF2B5EF4-FFF2-40B4-BE49-F238E27FC236}">
                  <a16:creationId xmlns:a16="http://schemas.microsoft.com/office/drawing/2014/main" id="{A9ED1C18-2352-4919-A45A-EEFD390754D1}"/>
                </a:ext>
              </a:extLst>
            </p:cNvPr>
            <p:cNvCxnSpPr/>
            <p:nvPr>
              <p:custDataLst>
                <p:tags r:id="rId16"/>
              </p:custDataLst>
            </p:nvPr>
          </p:nvCxnSpPr>
          <p:spPr bwMode="auto">
            <a:xfrm>
              <a:off x="5652000" y="2556000"/>
              <a:ext cx="180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549" name="直接箭头连接符 548">
              <a:extLst>
                <a:ext uri="{FF2B5EF4-FFF2-40B4-BE49-F238E27FC236}">
                  <a16:creationId xmlns:a16="http://schemas.microsoft.com/office/drawing/2014/main" id="{D027582B-A0B9-4501-BF55-A6E0947D6535}"/>
                </a:ext>
              </a:extLst>
            </p:cNvPr>
            <p:cNvCxnSpPr/>
            <p:nvPr>
              <p:custDataLst>
                <p:tags r:id="rId17"/>
              </p:custDataLst>
            </p:nvPr>
          </p:nvCxnSpPr>
          <p:spPr bwMode="auto">
            <a:xfrm flipH="1" flipV="1">
              <a:off x="5652000" y="2693941"/>
              <a:ext cx="180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550" name="直接箭头连接符 549">
              <a:extLst>
                <a:ext uri="{FF2B5EF4-FFF2-40B4-BE49-F238E27FC236}">
                  <a16:creationId xmlns:a16="http://schemas.microsoft.com/office/drawing/2014/main" id="{0D26006E-9744-46BE-ABE1-04654D38CA59}"/>
                </a:ext>
              </a:extLst>
            </p:cNvPr>
            <p:cNvCxnSpPr/>
            <p:nvPr>
              <p:custDataLst>
                <p:tags r:id="rId18"/>
              </p:custDataLst>
            </p:nvPr>
          </p:nvCxnSpPr>
          <p:spPr bwMode="auto">
            <a:xfrm>
              <a:off x="5652000" y="2628000"/>
              <a:ext cx="180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551" name="AutoShape 189">
              <a:extLst>
                <a:ext uri="{FF2B5EF4-FFF2-40B4-BE49-F238E27FC236}">
                  <a16:creationId xmlns:a16="http://schemas.microsoft.com/office/drawing/2014/main" id="{D072A01A-FFC1-4FC4-BFC4-5F6110B0F8E7}"/>
                </a:ext>
              </a:extLst>
            </p:cNvPr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5219800" y="2987561"/>
              <a:ext cx="468000" cy="179705"/>
            </a:xfrm>
            <a:custGeom>
              <a:avLst/>
              <a:gdLst>
                <a:gd name="G0" fmla="+- 4060 0 0"/>
                <a:gd name="G1" fmla="+- 21600 0 4060"/>
                <a:gd name="G2" fmla="*/ 4060 1 2"/>
                <a:gd name="G3" fmla="+- 21600 0 G2"/>
                <a:gd name="G4" fmla="+/ 4060 21600 2"/>
                <a:gd name="G5" fmla="+/ G1 0 2"/>
                <a:gd name="G6" fmla="*/ 21600 21600 4060"/>
                <a:gd name="G7" fmla="*/ G6 1 2"/>
                <a:gd name="G8" fmla="+- 21600 0 G7"/>
                <a:gd name="G9" fmla="*/ 21600 1 2"/>
                <a:gd name="G10" fmla="+- 4060 0 G9"/>
                <a:gd name="G11" fmla="?: G10 G8 0"/>
                <a:gd name="G12" fmla="?: G10 G7 21600"/>
                <a:gd name="T0" fmla="*/ 19570 w 21600"/>
                <a:gd name="T1" fmla="*/ 10800 h 21600"/>
                <a:gd name="T2" fmla="*/ 10800 w 21600"/>
                <a:gd name="T3" fmla="*/ 21600 h 21600"/>
                <a:gd name="T4" fmla="*/ 2030 w 21600"/>
                <a:gd name="T5" fmla="*/ 10800 h 21600"/>
                <a:gd name="T6" fmla="*/ 10800 w 21600"/>
                <a:gd name="T7" fmla="*/ 0 h 21600"/>
                <a:gd name="T8" fmla="*/ 3830 w 21600"/>
                <a:gd name="T9" fmla="*/ 3830 h 21600"/>
                <a:gd name="T10" fmla="*/ 17770 w 21600"/>
                <a:gd name="T11" fmla="*/ 1777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4060" y="21600"/>
                  </a:lnTo>
                  <a:lnTo>
                    <a:pt x="1754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+mn-ea"/>
                  <a:ea typeface="+mn-ea"/>
                </a:rPr>
                <a:t>ALU</a:t>
              </a:r>
              <a:endParaRPr lang="zh-CN" altLang="en-US" sz="1400" b="1" dirty="0">
                <a:latin typeface="+mn-ea"/>
                <a:ea typeface="+mn-ea"/>
              </a:endParaRPr>
            </a:p>
          </p:txBody>
        </p:sp>
        <p:cxnSp>
          <p:nvCxnSpPr>
            <p:cNvPr id="552" name="直接箭头连接符 551">
              <a:extLst>
                <a:ext uri="{FF2B5EF4-FFF2-40B4-BE49-F238E27FC236}">
                  <a16:creationId xmlns:a16="http://schemas.microsoft.com/office/drawing/2014/main" id="{3F7E69F3-E4DF-41C0-8239-92635D6324D8}"/>
                </a:ext>
              </a:extLst>
            </p:cNvPr>
            <p:cNvCxnSpPr/>
            <p:nvPr>
              <p:custDataLst>
                <p:tags r:id="rId20"/>
              </p:custDataLst>
            </p:nvPr>
          </p:nvCxnSpPr>
          <p:spPr bwMode="auto">
            <a:xfrm flipH="1">
              <a:off x="5615800" y="3491561"/>
              <a:ext cx="216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553" name="直接箭头连接符 552">
              <a:extLst>
                <a:ext uri="{FF2B5EF4-FFF2-40B4-BE49-F238E27FC236}">
                  <a16:creationId xmlns:a16="http://schemas.microsoft.com/office/drawing/2014/main" id="{63846BA9-A489-4439-B7D8-01FDDB8D4FAA}"/>
                </a:ext>
              </a:extLst>
            </p:cNvPr>
            <p:cNvCxnSpPr/>
            <p:nvPr>
              <p:custDataLst>
                <p:tags r:id="rId21"/>
              </p:custDataLst>
            </p:nvPr>
          </p:nvCxnSpPr>
          <p:spPr bwMode="auto">
            <a:xfrm>
              <a:off x="5615800" y="3383561"/>
              <a:ext cx="216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554" name="直接箭头连接符 553">
              <a:extLst>
                <a:ext uri="{FF2B5EF4-FFF2-40B4-BE49-F238E27FC236}">
                  <a16:creationId xmlns:a16="http://schemas.microsoft.com/office/drawing/2014/main" id="{00A7CB74-65AE-4DB9-ADF9-F6986CB256B0}"/>
                </a:ext>
              </a:extLst>
            </p:cNvPr>
            <p:cNvCxnSpPr/>
            <p:nvPr>
              <p:custDataLst>
                <p:tags r:id="rId22"/>
              </p:custDataLst>
            </p:nvPr>
          </p:nvCxnSpPr>
          <p:spPr bwMode="auto">
            <a:xfrm>
              <a:off x="5400335" y="3167561"/>
              <a:ext cx="1270" cy="17970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555" name="Text Box 276">
              <a:extLst>
                <a:ext uri="{FF2B5EF4-FFF2-40B4-BE49-F238E27FC236}">
                  <a16:creationId xmlns:a16="http://schemas.microsoft.com/office/drawing/2014/main" id="{DE8A880D-A1FC-4F6C-AFCB-3BBB147E7272}"/>
                </a:ext>
              </a:extLst>
            </p:cNvPr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5219800" y="3347561"/>
              <a:ext cx="396000" cy="180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PSR</a:t>
              </a:r>
            </a:p>
          </p:txBody>
        </p:sp>
        <p:sp>
          <p:nvSpPr>
            <p:cNvPr id="556" name="Text Box 314">
              <a:extLst>
                <a:ext uri="{FF2B5EF4-FFF2-40B4-BE49-F238E27FC236}">
                  <a16:creationId xmlns:a16="http://schemas.microsoft.com/office/drawing/2014/main" id="{1224B0D1-5E27-432B-A0DF-EB41D8777A6A}"/>
                </a:ext>
              </a:extLst>
            </p:cNvPr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5219800" y="2448000"/>
              <a:ext cx="432000" cy="288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GPRs</a:t>
              </a:r>
            </a:p>
          </p:txBody>
        </p:sp>
        <p:cxnSp>
          <p:nvCxnSpPr>
            <p:cNvPr id="557" name="直接箭头连接符 556">
              <a:extLst>
                <a:ext uri="{FF2B5EF4-FFF2-40B4-BE49-F238E27FC236}">
                  <a16:creationId xmlns:a16="http://schemas.microsoft.com/office/drawing/2014/main" id="{796DAC6F-BD87-4380-A8A0-0BEE858048E6}"/>
                </a:ext>
              </a:extLst>
            </p:cNvPr>
            <p:cNvCxnSpPr>
              <a:cxnSpLocks/>
            </p:cNvCxnSpPr>
            <p:nvPr>
              <p:custDataLst>
                <p:tags r:id="rId25"/>
              </p:custDataLst>
            </p:nvPr>
          </p:nvCxnSpPr>
          <p:spPr bwMode="auto">
            <a:xfrm>
              <a:off x="5327800" y="2807087"/>
              <a:ext cx="0" cy="18000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558" name="直接箭头连接符 557">
              <a:extLst>
                <a:ext uri="{FF2B5EF4-FFF2-40B4-BE49-F238E27FC236}">
                  <a16:creationId xmlns:a16="http://schemas.microsoft.com/office/drawing/2014/main" id="{B4A20E31-4D82-4333-A865-8DA10EC4F697}"/>
                </a:ext>
              </a:extLst>
            </p:cNvPr>
            <p:cNvCxnSpPr/>
            <p:nvPr>
              <p:custDataLst>
                <p:tags r:id="rId26"/>
              </p:custDataLst>
            </p:nvPr>
          </p:nvCxnSpPr>
          <p:spPr bwMode="auto">
            <a:xfrm flipH="1" flipV="1">
              <a:off x="5327800" y="2807561"/>
              <a:ext cx="504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559" name="直接箭头连接符 558">
              <a:extLst>
                <a:ext uri="{FF2B5EF4-FFF2-40B4-BE49-F238E27FC236}">
                  <a16:creationId xmlns:a16="http://schemas.microsoft.com/office/drawing/2014/main" id="{7EBCAFB5-BB63-452A-BEE8-29F4A2C88C2D}"/>
                </a:ext>
              </a:extLst>
            </p:cNvPr>
            <p:cNvCxnSpPr>
              <a:cxnSpLocks/>
            </p:cNvCxnSpPr>
            <p:nvPr>
              <p:custDataLst>
                <p:tags r:id="rId27"/>
              </p:custDataLst>
            </p:nvPr>
          </p:nvCxnSpPr>
          <p:spPr bwMode="auto">
            <a:xfrm>
              <a:off x="5579800" y="2879561"/>
              <a:ext cx="0" cy="10800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560" name="直接箭头连接符 559">
              <a:extLst>
                <a:ext uri="{FF2B5EF4-FFF2-40B4-BE49-F238E27FC236}">
                  <a16:creationId xmlns:a16="http://schemas.microsoft.com/office/drawing/2014/main" id="{15F626CA-FA92-489D-9B66-1A5BFEEE8794}"/>
                </a:ext>
              </a:extLst>
            </p:cNvPr>
            <p:cNvCxnSpPr/>
            <p:nvPr>
              <p:custDataLst>
                <p:tags r:id="rId28"/>
              </p:custDataLst>
            </p:nvPr>
          </p:nvCxnSpPr>
          <p:spPr bwMode="auto">
            <a:xfrm flipH="1" flipV="1">
              <a:off x="5579800" y="2879561"/>
              <a:ext cx="252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561" name="直接箭头连接符 560">
              <a:extLst>
                <a:ext uri="{FF2B5EF4-FFF2-40B4-BE49-F238E27FC236}">
                  <a16:creationId xmlns:a16="http://schemas.microsoft.com/office/drawing/2014/main" id="{532D6E91-4FCC-4021-A629-B32D58435902}"/>
                </a:ext>
              </a:extLst>
            </p:cNvPr>
            <p:cNvCxnSpPr>
              <a:cxnSpLocks/>
            </p:cNvCxnSpPr>
            <p:nvPr>
              <p:custDataLst>
                <p:tags r:id="rId29"/>
              </p:custDataLst>
            </p:nvPr>
          </p:nvCxnSpPr>
          <p:spPr bwMode="auto">
            <a:xfrm>
              <a:off x="5471800" y="3167561"/>
              <a:ext cx="0" cy="7200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562" name="直接箭头连接符 561">
              <a:extLst>
                <a:ext uri="{FF2B5EF4-FFF2-40B4-BE49-F238E27FC236}">
                  <a16:creationId xmlns:a16="http://schemas.microsoft.com/office/drawing/2014/main" id="{CB3794DA-D68B-4E52-9B44-80785972A169}"/>
                </a:ext>
              </a:extLst>
            </p:cNvPr>
            <p:cNvCxnSpPr/>
            <p:nvPr>
              <p:custDataLst>
                <p:tags r:id="rId30"/>
              </p:custDataLst>
            </p:nvPr>
          </p:nvCxnSpPr>
          <p:spPr bwMode="auto">
            <a:xfrm>
              <a:off x="5471800" y="3239561"/>
              <a:ext cx="360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563" name="直接箭头连接符 562">
              <a:extLst>
                <a:ext uri="{FF2B5EF4-FFF2-40B4-BE49-F238E27FC236}">
                  <a16:creationId xmlns:a16="http://schemas.microsoft.com/office/drawing/2014/main" id="{D073BCC8-8A3C-4089-BCBA-3E5954CB39F0}"/>
                </a:ext>
              </a:extLst>
            </p:cNvPr>
            <p:cNvCxnSpPr>
              <a:cxnSpLocks/>
            </p:cNvCxnSpPr>
            <p:nvPr>
              <p:custDataLst>
                <p:tags r:id="rId31"/>
              </p:custDataLst>
            </p:nvPr>
          </p:nvCxnSpPr>
          <p:spPr bwMode="auto">
            <a:xfrm>
              <a:off x="5399800" y="3527561"/>
              <a:ext cx="0" cy="10800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</p:grpSp>
      <p:sp>
        <p:nvSpPr>
          <p:cNvPr id="564" name="Text Box 18">
            <a:extLst>
              <a:ext uri="{FF2B5EF4-FFF2-40B4-BE49-F238E27FC236}">
                <a16:creationId xmlns:a16="http://schemas.microsoft.com/office/drawing/2014/main" id="{2EB9C4B0-AA37-4EFC-9648-B4729B91595C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4464000" y="3204000"/>
            <a:ext cx="576000" cy="504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lIns="0" tIns="0" rIns="0" bIns="0" anchor="t" anchorCtr="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 dirty="0">
                <a:latin typeface="+mn-ea"/>
              </a:rPr>
              <a:t>单</a:t>
            </a:r>
            <a:r>
              <a:rPr lang="en-US" altLang="zh-CN" sz="1200" b="1" dirty="0">
                <a:latin typeface="+mn-ea"/>
              </a:rPr>
              <a:t>/</a:t>
            </a:r>
            <a:r>
              <a:rPr lang="zh-CN" altLang="en-US" sz="1200" b="1" dirty="0">
                <a:latin typeface="+mn-ea"/>
              </a:rPr>
              <a:t>多</a:t>
            </a:r>
            <a:r>
              <a:rPr lang="en-US" altLang="zh-CN" sz="1200" b="1" dirty="0">
                <a:latin typeface="+mn-ea"/>
              </a:rPr>
              <a:t>T</a:t>
            </a:r>
            <a:r>
              <a:rPr lang="en-US" altLang="zh-CN" sz="1200" b="1" baseline="-25000" dirty="0">
                <a:latin typeface="+mn-ea"/>
              </a:rPr>
              <a:t>C</a:t>
            </a:r>
            <a:endParaRPr lang="en-US" altLang="zh-CN" sz="1200" b="1" dirty="0">
              <a:latin typeface="+mn-ea"/>
            </a:endParaRP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1" dirty="0">
                <a:latin typeface="+mn-ea"/>
              </a:rPr>
              <a:t>DP</a:t>
            </a:r>
            <a:r>
              <a:rPr lang="zh-CN" altLang="en-US" sz="1200" b="1" dirty="0">
                <a:latin typeface="+mn-ea"/>
              </a:rPr>
              <a:t>总</a:t>
            </a:r>
            <a:r>
              <a:rPr lang="en-US" altLang="zh-CN" sz="1200" b="1" dirty="0">
                <a:latin typeface="+mn-ea"/>
              </a:rPr>
              <a:t>/</a:t>
            </a:r>
            <a:r>
              <a:rPr lang="zh-CN" altLang="en-US" sz="1200" b="1" dirty="0">
                <a:latin typeface="+mn-ea"/>
              </a:rPr>
              <a:t>专</a:t>
            </a:r>
            <a:endParaRPr lang="en-US" altLang="zh-CN" sz="1200" b="1" dirty="0">
              <a:latin typeface="+mn-ea"/>
            </a:endParaRPr>
          </a:p>
          <a:p>
            <a:pPr algn="ctr">
              <a:lnSpc>
                <a:spcPct val="90000"/>
              </a:lnSpc>
            </a:pPr>
            <a:r>
              <a:rPr lang="en-US" altLang="zh-CN" sz="1200" b="1" dirty="0">
                <a:latin typeface="+mn-ea"/>
              </a:rPr>
              <a:t>CU</a:t>
            </a:r>
            <a:r>
              <a:rPr lang="zh-CN" altLang="en-US" sz="1200" b="1" dirty="0">
                <a:latin typeface="+mn-ea"/>
              </a:rPr>
              <a:t>硬</a:t>
            </a:r>
            <a:r>
              <a:rPr lang="en-US" altLang="zh-CN" sz="1200" b="1" dirty="0">
                <a:latin typeface="+mn-ea"/>
              </a:rPr>
              <a:t>/</a:t>
            </a:r>
            <a:r>
              <a:rPr lang="zh-CN" altLang="en-US" sz="1200" b="1" dirty="0">
                <a:latin typeface="+mn-ea"/>
              </a:rPr>
              <a:t>微</a:t>
            </a:r>
          </a:p>
        </p:txBody>
      </p:sp>
      <p:grpSp>
        <p:nvGrpSpPr>
          <p:cNvPr id="565" name="组合 564">
            <a:extLst>
              <a:ext uri="{FF2B5EF4-FFF2-40B4-BE49-F238E27FC236}">
                <a16:creationId xmlns:a16="http://schemas.microsoft.com/office/drawing/2014/main" id="{83C67F89-5F11-4FA4-A6D6-D7AEB77D19A1}"/>
              </a:ext>
            </a:extLst>
          </p:cNvPr>
          <p:cNvGrpSpPr/>
          <p:nvPr/>
        </p:nvGrpSpPr>
        <p:grpSpPr>
          <a:xfrm>
            <a:off x="8172000" y="3204000"/>
            <a:ext cx="720000" cy="1476000"/>
            <a:chOff x="8172000" y="3204000"/>
            <a:chExt cx="720000" cy="1476000"/>
          </a:xfrm>
        </p:grpSpPr>
        <p:cxnSp>
          <p:nvCxnSpPr>
            <p:cNvPr id="566" name="直接箭头连接符 565">
              <a:extLst>
                <a:ext uri="{FF2B5EF4-FFF2-40B4-BE49-F238E27FC236}">
                  <a16:creationId xmlns:a16="http://schemas.microsoft.com/office/drawing/2014/main" id="{5BD10C68-7DD6-4081-8D54-15ECCB9F16A5}"/>
                </a:ext>
              </a:extLst>
            </p:cNvPr>
            <p:cNvCxnSpPr/>
            <p:nvPr>
              <p:custDataLst>
                <p:tags r:id="rId7"/>
              </p:custDataLst>
            </p:nvPr>
          </p:nvCxnSpPr>
          <p:spPr bwMode="auto">
            <a:xfrm flipH="1">
              <a:off x="8568000" y="3204000"/>
              <a:ext cx="3240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567" name="Text Box 392">
              <a:extLst>
                <a:ext uri="{FF2B5EF4-FFF2-40B4-BE49-F238E27FC236}">
                  <a16:creationId xmlns:a16="http://schemas.microsoft.com/office/drawing/2014/main" id="{E8FC2C90-F90B-4090-814C-51541EFB6599}"/>
                </a:ext>
              </a:extLst>
            </p:cNvPr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8460000" y="4356000"/>
              <a:ext cx="360000" cy="324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t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200" b="1" dirty="0">
                  <a:latin typeface="宋体" panose="02010600030101010101" pitchFamily="2" charset="-122"/>
                </a:rPr>
                <a:t>INTR</a:t>
              </a:r>
            </a:p>
            <a:p>
              <a:pPr algn="ctr"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200" b="1" dirty="0">
                  <a:latin typeface="宋体" panose="02010600030101010101" pitchFamily="2" charset="-122"/>
                </a:rPr>
                <a:t>NMI</a:t>
              </a:r>
            </a:p>
          </p:txBody>
        </p:sp>
        <p:cxnSp>
          <p:nvCxnSpPr>
            <p:cNvPr id="568" name="直接箭头连接符 567">
              <a:extLst>
                <a:ext uri="{FF2B5EF4-FFF2-40B4-BE49-F238E27FC236}">
                  <a16:creationId xmlns:a16="http://schemas.microsoft.com/office/drawing/2014/main" id="{CED9098D-F873-4766-B07E-89221F1EA6C8}"/>
                </a:ext>
              </a:extLst>
            </p:cNvPr>
            <p:cNvCxnSpPr/>
            <p:nvPr>
              <p:custDataLst>
                <p:tags r:id="rId9"/>
              </p:custDataLst>
            </p:nvPr>
          </p:nvCxnSpPr>
          <p:spPr bwMode="auto">
            <a:xfrm flipH="1">
              <a:off x="8568000" y="3312000"/>
              <a:ext cx="2520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569" name="直接箭头连接符 568">
              <a:extLst>
                <a:ext uri="{FF2B5EF4-FFF2-40B4-BE49-F238E27FC236}">
                  <a16:creationId xmlns:a16="http://schemas.microsoft.com/office/drawing/2014/main" id="{5FB2F6E7-5F29-4303-AC1B-4ABA2C4CB3D5}"/>
                </a:ext>
              </a:extLst>
            </p:cNvPr>
            <p:cNvCxnSpPr>
              <a:cxnSpLocks/>
            </p:cNvCxnSpPr>
            <p:nvPr>
              <p:custDataLst>
                <p:tags r:id="rId10"/>
              </p:custDataLst>
            </p:nvPr>
          </p:nvCxnSpPr>
          <p:spPr bwMode="auto">
            <a:xfrm flipH="1" flipV="1">
              <a:off x="8820000" y="3312000"/>
              <a:ext cx="0" cy="104400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570" name="直接箭头连接符 569">
              <a:extLst>
                <a:ext uri="{FF2B5EF4-FFF2-40B4-BE49-F238E27FC236}">
                  <a16:creationId xmlns:a16="http://schemas.microsoft.com/office/drawing/2014/main" id="{9A242D2A-735B-4DCD-8DB6-5FA0596F5404}"/>
                </a:ext>
              </a:extLst>
            </p:cNvPr>
            <p:cNvCxnSpPr>
              <a:cxnSpLocks/>
            </p:cNvCxnSpPr>
            <p:nvPr>
              <p:custDataLst>
                <p:tags r:id="rId11"/>
              </p:custDataLst>
            </p:nvPr>
          </p:nvCxnSpPr>
          <p:spPr bwMode="auto">
            <a:xfrm flipV="1">
              <a:off x="8388000" y="4356000"/>
              <a:ext cx="4320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571" name="直接箭头连接符 570">
              <a:extLst>
                <a:ext uri="{FF2B5EF4-FFF2-40B4-BE49-F238E27FC236}">
                  <a16:creationId xmlns:a16="http://schemas.microsoft.com/office/drawing/2014/main" id="{7E6D589B-E388-42FC-8632-5152EE6313DB}"/>
                </a:ext>
              </a:extLst>
            </p:cNvPr>
            <p:cNvCxnSpPr>
              <a:cxnSpLocks/>
            </p:cNvCxnSpPr>
            <p:nvPr>
              <p:custDataLst>
                <p:tags r:id="rId12"/>
              </p:custDataLst>
            </p:nvPr>
          </p:nvCxnSpPr>
          <p:spPr bwMode="auto">
            <a:xfrm flipV="1">
              <a:off x="8172000" y="4680000"/>
              <a:ext cx="7200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572" name="直接箭头连接符 571">
              <a:extLst>
                <a:ext uri="{FF2B5EF4-FFF2-40B4-BE49-F238E27FC236}">
                  <a16:creationId xmlns:a16="http://schemas.microsoft.com/office/drawing/2014/main" id="{EABE015A-435B-453E-8147-4459F4BBE325}"/>
                </a:ext>
              </a:extLst>
            </p:cNvPr>
            <p:cNvCxnSpPr>
              <a:cxnSpLocks/>
            </p:cNvCxnSpPr>
            <p:nvPr>
              <p:custDataLst>
                <p:tags r:id="rId13"/>
              </p:custDataLst>
            </p:nvPr>
          </p:nvCxnSpPr>
          <p:spPr bwMode="auto">
            <a:xfrm flipH="1" flipV="1">
              <a:off x="8892000" y="3204000"/>
              <a:ext cx="0" cy="147600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082602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4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4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4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4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4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9" dur="5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4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4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3" dur="5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4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4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8" grpId="0" bldLvl="0" animBg="1"/>
      <p:bldP spid="469" grpId="0" bldLvl="0" animBg="1"/>
      <p:bldP spid="56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t>31</a:t>
            </a:fld>
            <a:endParaRPr lang="en-US" altLang="zh-CN" dirty="0"/>
          </a:p>
        </p:txBody>
      </p:sp>
      <p:sp>
        <p:nvSpPr>
          <p:cNvPr id="37" name="AutoShape 62">
            <a:hlinkClick r:id="rId207" action="ppaction://hlinksldjump"/>
          </p:cNvPr>
          <p:cNvSpPr>
            <a:spLocks noChangeArrowheads="1"/>
          </p:cNvSpPr>
          <p:nvPr/>
        </p:nvSpPr>
        <p:spPr bwMode="auto">
          <a:xfrm rot="16200000">
            <a:off x="5076404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en-US" altLang="zh-CN" sz="1600" u="none" dirty="0">
                <a:solidFill>
                  <a:schemeClr val="bg2"/>
                </a:solidFill>
                <a:latin typeface="+mn-ea"/>
                <a:ea typeface="+mn-ea"/>
              </a:rPr>
              <a:t>25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829" name="AutoShape 50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37F46681-6401-4172-AE3F-49E21C54B620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2988518" y="652445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" name="Text Box 5">
            <a:extLst>
              <a:ext uri="{FF2B5EF4-FFF2-40B4-BE49-F238E27FC236}">
                <a16:creationId xmlns:a16="http://schemas.microsoft.com/office/drawing/2014/main" id="{1CFB7F48-853D-4AB2-A0AB-74BAA1E0C8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1" y="332656"/>
            <a:ext cx="6956375" cy="6118021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 *存储系统的组成：     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任务：</a:t>
            </a:r>
            <a:r>
              <a: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</a:rPr>
              <a:t>实现</a:t>
            </a:r>
            <a:r>
              <a:rPr lang="zh-CN" altLang="en-US" sz="1600" b="1" dirty="0">
                <a:latin typeface="宋体" panose="02010600030101010101" pitchFamily="2" charset="-122"/>
              </a:rPr>
              <a:t>信息存储、按逻辑地址访问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层次结构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RAM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的组成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18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主存的组成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组成：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优化：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210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连接：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Cache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的组成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      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提高访问速度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虚拟存储器的组成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 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按逻辑地址访问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2000" b="1" dirty="0">
              <a:latin typeface="宋体" panose="02010600030101010101" pitchFamily="2" charset="-122"/>
            </a:endParaRPr>
          </a:p>
        </p:txBody>
      </p:sp>
      <p:sp>
        <p:nvSpPr>
          <p:cNvPr id="308" name="Text Box 5">
            <a:extLst>
              <a:ext uri="{FF2B5EF4-FFF2-40B4-BE49-F238E27FC236}">
                <a16:creationId xmlns:a16="http://schemas.microsoft.com/office/drawing/2014/main" id="{D83A1A8D-86EE-4E43-8D57-8AB6ADDCB7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1844824"/>
            <a:ext cx="8100584" cy="3854389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 wrap="square" lIns="90000" tIns="46800" rIns="90000" bIns="4680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latin typeface="宋体" panose="02010600030101010101" pitchFamily="2" charset="-122"/>
              </a:rPr>
              <a:t>有</a:t>
            </a:r>
            <a:r>
              <a:rPr lang="en-US" altLang="zh-CN" sz="2000" b="1" dirty="0">
                <a:latin typeface="宋体" panose="02010600030101010101" pitchFamily="2" charset="-122"/>
              </a:rPr>
              <a:t>SRAM/DRAM</a:t>
            </a:r>
            <a:r>
              <a:rPr lang="en-US" altLang="zh-CN" sz="1600" b="1" dirty="0">
                <a:latin typeface="宋体" panose="02010600030101010101" pitchFamily="2" charset="-122"/>
              </a:rPr>
              <a:t>(DRAM</a:t>
            </a:r>
            <a:r>
              <a:rPr lang="zh-CN" altLang="en-US" sz="1600" b="1" dirty="0">
                <a:latin typeface="宋体" panose="02010600030101010101" pitchFamily="2" charset="-122"/>
              </a:rPr>
              <a:t>地址线减半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</a:rPr>
              <a:t>，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latin typeface="宋体" panose="02010600030101010101" pitchFamily="2" charset="-122"/>
              </a:rPr>
              <a:t>读</a:t>
            </a:r>
            <a:r>
              <a:rPr lang="en-US" altLang="zh-CN" sz="2000" b="1" dirty="0">
                <a:latin typeface="宋体" panose="02010600030101010101" pitchFamily="2" charset="-122"/>
              </a:rPr>
              <a:t>/</a:t>
            </a:r>
            <a:r>
              <a:rPr lang="zh-CN" altLang="en-US" sz="2000" b="1" dirty="0">
                <a:latin typeface="宋体" panose="02010600030101010101" pitchFamily="2" charset="-122"/>
              </a:rPr>
              <a:t>写时序不同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altLang="zh-CN" sz="2000" b="1" dirty="0">
                <a:latin typeface="宋体" panose="02010600030101010101" pitchFamily="2" charset="-122"/>
              </a:rPr>
              <a:t>           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单元长度</a:t>
            </a:r>
            <a:r>
              <a:rPr lang="en-US" altLang="zh-CN" sz="1600" b="1" dirty="0">
                <a:latin typeface="宋体" panose="02010600030101010101" pitchFamily="2" charset="-122"/>
              </a:rPr>
              <a:t>&amp;</a:t>
            </a:r>
            <a:r>
              <a:rPr lang="zh-CN" altLang="en-US" sz="1600" b="1" dirty="0">
                <a:latin typeface="宋体" panose="02010600030101010101" pitchFamily="2" charset="-122"/>
              </a:rPr>
              <a:t>个数由</a:t>
            </a:r>
            <a:r>
              <a:rPr lang="en-US" altLang="zh-CN" sz="1600" b="1" dirty="0">
                <a:latin typeface="宋体" panose="02010600030101010101" pitchFamily="2" charset="-122"/>
              </a:rPr>
              <a:t>ISA/</a:t>
            </a:r>
            <a:r>
              <a:rPr lang="zh-CN" altLang="en-US" sz="1600" b="1" dirty="0">
                <a:latin typeface="宋体" panose="02010600030101010101" pitchFamily="2" charset="-122"/>
              </a:rPr>
              <a:t>用户指定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100"/>
              </a:spcBef>
            </a:pPr>
            <a:r>
              <a:rPr lang="en-US" altLang="zh-CN" sz="2000" b="1" dirty="0">
                <a:latin typeface="宋体" panose="02010600030101010101" pitchFamily="2" charset="-122"/>
              </a:rPr>
              <a:t>      ROM+DRAM</a:t>
            </a:r>
            <a:r>
              <a:rPr lang="zh-CN" altLang="en-US" sz="2000" b="1" dirty="0">
                <a:latin typeface="宋体" panose="02010600030101010101" pitchFamily="2" charset="-122"/>
              </a:rPr>
              <a:t>，容量可用芯片扩展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字</a:t>
            </a:r>
            <a:r>
              <a:rPr lang="en-US" altLang="zh-CN" sz="1600" b="1" dirty="0"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</a:rPr>
              <a:t>位</a:t>
            </a:r>
            <a:r>
              <a:rPr lang="en-US" altLang="zh-CN" sz="1600" b="1" dirty="0"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</a:rPr>
              <a:t>字位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latin typeface="宋体" panose="02010600030101010101" pitchFamily="2" charset="-122"/>
              </a:rPr>
              <a:t>      SDRAM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可突发传输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</a:rPr>
              <a:t>、多体交叉</a:t>
            </a:r>
            <a:r>
              <a:rPr lang="en-US" altLang="zh-CN" sz="2000" b="1" dirty="0">
                <a:latin typeface="宋体" panose="02010600030101010101" pitchFamily="2" charset="-122"/>
              </a:rPr>
              <a:t>MEM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交叉</a:t>
            </a:r>
            <a:r>
              <a:rPr lang="en-US" altLang="zh-CN" sz="1600" b="1" dirty="0"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</a:rPr>
              <a:t>并行访问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</a:rPr>
              <a:t>、多种</a:t>
            </a:r>
            <a:r>
              <a:rPr lang="en-US" altLang="zh-CN" sz="2000" b="1" dirty="0">
                <a:latin typeface="宋体" panose="02010600030101010101" pitchFamily="2" charset="-122"/>
              </a:rPr>
              <a:t>MEM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如</a:t>
            </a:r>
            <a:r>
              <a:rPr lang="en-US" altLang="zh-CN" sz="1600" b="1" dirty="0">
                <a:latin typeface="宋体" panose="02010600030101010101" pitchFamily="2" charset="-122"/>
              </a:rPr>
              <a:t>Cache)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2100"/>
              </a:spcBef>
            </a:pPr>
            <a:r>
              <a:rPr lang="zh-CN" altLang="en-US" sz="2000" b="1" dirty="0">
                <a:latin typeface="宋体" panose="02010600030101010101" pitchFamily="2" charset="-122"/>
              </a:rPr>
              <a:t>      数据线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＝</a:t>
            </a:r>
            <a:r>
              <a:rPr lang="en-US" altLang="zh-CN" sz="1600" b="1" dirty="0">
                <a:latin typeface="宋体" panose="02010600030101010101" pitchFamily="2" charset="-122"/>
              </a:rPr>
              <a:t>CPU/</a:t>
            </a:r>
            <a:r>
              <a:rPr lang="zh-CN" altLang="en-US" sz="1600" b="1" dirty="0">
                <a:latin typeface="宋体" panose="02010600030101010101" pitchFamily="2" charset="-122"/>
              </a:rPr>
              <a:t>总线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</a:rPr>
              <a:t>、地址线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＝地址低位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</a:rPr>
              <a:t>、控制线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en-US" altLang="zh-CN" sz="1600" b="1" dirty="0">
                <a:latin typeface="+mn-lt"/>
              </a:rPr>
              <a:t>~</a:t>
            </a:r>
            <a:r>
              <a:rPr lang="zh-CN" altLang="en-US" sz="1600" b="1" dirty="0">
                <a:latin typeface="宋体" panose="02010600030101010101" pitchFamily="2" charset="-122"/>
              </a:rPr>
              <a:t>控制信号逻辑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grpSp>
        <p:nvGrpSpPr>
          <p:cNvPr id="309" name="组合 308">
            <a:extLst>
              <a:ext uri="{FF2B5EF4-FFF2-40B4-BE49-F238E27FC236}">
                <a16:creationId xmlns:a16="http://schemas.microsoft.com/office/drawing/2014/main" id="{4FAB93F7-6496-4DC5-A51F-22E42FBB5667}"/>
              </a:ext>
            </a:extLst>
          </p:cNvPr>
          <p:cNvGrpSpPr/>
          <p:nvPr/>
        </p:nvGrpSpPr>
        <p:grpSpPr>
          <a:xfrm>
            <a:off x="3239968" y="1124712"/>
            <a:ext cx="4392000" cy="325512"/>
            <a:chOff x="2663904" y="2566471"/>
            <a:chExt cx="4392000" cy="325512"/>
          </a:xfrm>
        </p:grpSpPr>
        <p:sp>
          <p:nvSpPr>
            <p:cNvPr id="310" name="Text Box 451">
              <a:extLst>
                <a:ext uri="{FF2B5EF4-FFF2-40B4-BE49-F238E27FC236}">
                  <a16:creationId xmlns:a16="http://schemas.microsoft.com/office/drawing/2014/main" id="{C6372BE4-73F1-429C-A26B-7C407B4182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3904" y="2566471"/>
              <a:ext cx="792000" cy="288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字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/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次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)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311" name="Text Box 451">
              <a:extLst>
                <a:ext uri="{FF2B5EF4-FFF2-40B4-BE49-F238E27FC236}">
                  <a16:creationId xmlns:a16="http://schemas.microsoft.com/office/drawing/2014/main" id="{8C8BA904-2BB2-4D0F-87CF-AB3CEB2663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3904" y="2603983"/>
              <a:ext cx="792000" cy="288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块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/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次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)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312" name="Text Box 451">
              <a:extLst>
                <a:ext uri="{FF2B5EF4-FFF2-40B4-BE49-F238E27FC236}">
                  <a16:creationId xmlns:a16="http://schemas.microsoft.com/office/drawing/2014/main" id="{FACA835E-7789-4646-A342-65D1779EDD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63904" y="2603983"/>
              <a:ext cx="792000" cy="288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页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/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次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)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313" name="组合 312">
            <a:extLst>
              <a:ext uri="{FF2B5EF4-FFF2-40B4-BE49-F238E27FC236}">
                <a16:creationId xmlns:a16="http://schemas.microsoft.com/office/drawing/2014/main" id="{5C97F841-483D-456D-85BF-01687BE55C1F}"/>
              </a:ext>
            </a:extLst>
          </p:cNvPr>
          <p:cNvGrpSpPr/>
          <p:nvPr/>
        </p:nvGrpSpPr>
        <p:grpSpPr>
          <a:xfrm>
            <a:off x="2339752" y="836712"/>
            <a:ext cx="6192200" cy="576064"/>
            <a:chOff x="2627784" y="756000"/>
            <a:chExt cx="6192200" cy="576064"/>
          </a:xfrm>
        </p:grpSpPr>
        <p:sp>
          <p:nvSpPr>
            <p:cNvPr id="314" name="Rectangle 141">
              <a:extLst>
                <a:ext uri="{FF2B5EF4-FFF2-40B4-BE49-F238E27FC236}">
                  <a16:creationId xmlns:a16="http://schemas.microsoft.com/office/drawing/2014/main" id="{F467FAF8-571E-44E3-9480-191BD2534B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7984" y="756000"/>
              <a:ext cx="4392000" cy="57606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5" name="Text Box 81">
              <a:extLst>
                <a:ext uri="{FF2B5EF4-FFF2-40B4-BE49-F238E27FC236}">
                  <a16:creationId xmlns:a16="http://schemas.microsoft.com/office/drawing/2014/main" id="{48B1E51E-EDCE-43D7-8DE2-773D4ABF86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9992" y="828000"/>
              <a:ext cx="720000" cy="432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 dirty="0">
                  <a:latin typeface="宋体" panose="02010600030101010101" pitchFamily="2" charset="-122"/>
                </a:rPr>
                <a:t>Cache</a:t>
              </a:r>
            </a:p>
          </p:txBody>
        </p:sp>
        <p:sp>
          <p:nvSpPr>
            <p:cNvPr id="316" name="Text Box 82">
              <a:extLst>
                <a:ext uri="{FF2B5EF4-FFF2-40B4-BE49-F238E27FC236}">
                  <a16:creationId xmlns:a16="http://schemas.microsoft.com/office/drawing/2014/main" id="{030863BD-34FC-4B28-A796-B4EDD12BDF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28000" y="792000"/>
              <a:ext cx="792088" cy="504478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0" tIns="0" rIns="0" bIns="0" anchor="ctr"/>
            <a:lstStyle/>
            <a:p>
              <a:pPr algn="ctr"/>
              <a:r>
                <a:rPr lang="zh-CN" altLang="en-US" sz="1800" b="1" u="none" dirty="0">
                  <a:latin typeface="宋体" panose="02010600030101010101" pitchFamily="2" charset="-122"/>
                </a:rPr>
                <a:t> 主存</a:t>
              </a:r>
            </a:p>
          </p:txBody>
        </p:sp>
        <p:sp>
          <p:nvSpPr>
            <p:cNvPr id="317" name="Text Box 83">
              <a:extLst>
                <a:ext uri="{FF2B5EF4-FFF2-40B4-BE49-F238E27FC236}">
                  <a16:creationId xmlns:a16="http://schemas.microsoft.com/office/drawing/2014/main" id="{F6012AF1-9D23-440C-9CCD-66435F0384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7784" y="828000"/>
              <a:ext cx="864096" cy="432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2700">
              <a:solidFill>
                <a:schemeClr val="tx1"/>
              </a:solidFill>
              <a:prstDash val="sysDash"/>
              <a:miter lim="800000"/>
            </a:ln>
          </p:spPr>
          <p:txBody>
            <a:bodyPr lIns="0" tIns="0" rIns="0" bIns="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u="none" baseline="-18000" dirty="0">
                  <a:latin typeface="宋体" panose="02010600030101010101" pitchFamily="2" charset="-122"/>
                </a:rPr>
                <a:t> </a:t>
              </a:r>
              <a:r>
                <a:rPr lang="en-US" altLang="zh-CN" sz="1800" b="1" u="none" dirty="0">
                  <a:latin typeface="宋体" panose="02010600030101010101" pitchFamily="2" charset="-122"/>
                </a:rPr>
                <a:t>CPU</a:t>
              </a:r>
            </a:p>
          </p:txBody>
        </p:sp>
        <p:cxnSp>
          <p:nvCxnSpPr>
            <p:cNvPr id="318" name="直接连接符 317">
              <a:extLst>
                <a:ext uri="{FF2B5EF4-FFF2-40B4-BE49-F238E27FC236}">
                  <a16:creationId xmlns:a16="http://schemas.microsoft.com/office/drawing/2014/main" id="{5CA947BF-E092-4C00-B9E2-C98F0651F3A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491880" y="1044000"/>
              <a:ext cx="1008112" cy="0"/>
            </a:xfrm>
            <a:prstGeom prst="line">
              <a:avLst/>
            </a:prstGeom>
            <a:solidFill>
              <a:schemeClr val="accent1"/>
            </a:solidFill>
            <a:ln w="3175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19" name="直接连接符 318">
              <a:extLst>
                <a:ext uri="{FF2B5EF4-FFF2-40B4-BE49-F238E27FC236}">
                  <a16:creationId xmlns:a16="http://schemas.microsoft.com/office/drawing/2014/main" id="{F2B5CEDB-6FEE-4B3C-97C0-7792D4BC1B4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214764" y="1050569"/>
              <a:ext cx="1008000" cy="0"/>
            </a:xfrm>
            <a:prstGeom prst="line">
              <a:avLst/>
            </a:prstGeom>
            <a:solidFill>
              <a:schemeClr val="accent1"/>
            </a:solidFill>
            <a:ln w="3175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20" name="Text Box 82">
              <a:extLst>
                <a:ext uri="{FF2B5EF4-FFF2-40B4-BE49-F238E27FC236}">
                  <a16:creationId xmlns:a16="http://schemas.microsoft.com/office/drawing/2014/main" id="{D83B3728-A885-47B4-99AC-B3614B6FB7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56000" y="792000"/>
              <a:ext cx="792088" cy="504304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0" tIns="0" rIns="0" bIns="0" anchor="ctr"/>
            <a:lstStyle/>
            <a:p>
              <a:pPr algn="ctr"/>
              <a:r>
                <a:rPr lang="zh-CN" altLang="en-US" sz="1800" b="1" dirty="0">
                  <a:latin typeface="宋体" panose="02010600030101010101" pitchFamily="2" charset="-122"/>
                </a:rPr>
                <a:t> 辅存</a:t>
              </a:r>
              <a:endParaRPr lang="zh-CN" altLang="en-US" sz="18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321" name="直接连接符 320">
              <a:extLst>
                <a:ext uri="{FF2B5EF4-FFF2-40B4-BE49-F238E27FC236}">
                  <a16:creationId xmlns:a16="http://schemas.microsoft.com/office/drawing/2014/main" id="{B1345DA6-233E-4850-9066-25D4455EEA9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020000" y="1044000"/>
              <a:ext cx="936000" cy="0"/>
            </a:xfrm>
            <a:prstGeom prst="line">
              <a:avLst/>
            </a:prstGeom>
            <a:solidFill>
              <a:schemeClr val="accent1"/>
            </a:solidFill>
            <a:ln w="31750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22" name="Text Box 83">
              <a:extLst>
                <a:ext uri="{FF2B5EF4-FFF2-40B4-BE49-F238E27FC236}">
                  <a16:creationId xmlns:a16="http://schemas.microsoft.com/office/drawing/2014/main" id="{E5C80039-B0E1-4384-BE1B-97E4FA0EB7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28000" y="792000"/>
              <a:ext cx="180019" cy="499682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vert="eaVert"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200" b="1" u="none" dirty="0">
                  <a:latin typeface="宋体" panose="02010600030101010101" pitchFamily="2" charset="-122"/>
                </a:rPr>
                <a:t>控制器</a:t>
              </a:r>
              <a:endParaRPr lang="en-US" altLang="zh-CN" sz="12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323" name="Text Box 83">
              <a:extLst>
                <a:ext uri="{FF2B5EF4-FFF2-40B4-BE49-F238E27FC236}">
                  <a16:creationId xmlns:a16="http://schemas.microsoft.com/office/drawing/2014/main" id="{1F88F574-F24D-4233-9AD7-4E638BA4FF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56000" y="792000"/>
              <a:ext cx="180020" cy="503163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vert="eaVert"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200" b="1" u="none" dirty="0">
                  <a:latin typeface="宋体" panose="02010600030101010101" pitchFamily="2" charset="-122"/>
                </a:rPr>
                <a:t>适配器</a:t>
              </a:r>
              <a:endParaRPr lang="en-US" altLang="zh-CN" sz="12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324" name="Text Box 451">
              <a:extLst>
                <a:ext uri="{FF2B5EF4-FFF2-40B4-BE49-F238E27FC236}">
                  <a16:creationId xmlns:a16="http://schemas.microsoft.com/office/drawing/2014/main" id="{731E633B-285B-4A90-BC1D-DF2C588DA5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2000" y="792000"/>
              <a:ext cx="864000" cy="252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CPU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总线</a:t>
              </a:r>
            </a:p>
          </p:txBody>
        </p:sp>
        <p:sp>
          <p:nvSpPr>
            <p:cNvPr id="325" name="Text Box 451">
              <a:extLst>
                <a:ext uri="{FF2B5EF4-FFF2-40B4-BE49-F238E27FC236}">
                  <a16:creationId xmlns:a16="http://schemas.microsoft.com/office/drawing/2014/main" id="{F5408016-22E4-4C21-BB04-D86AF5EE7F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6000" y="792000"/>
              <a:ext cx="936000" cy="252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HOST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总线</a:t>
              </a:r>
            </a:p>
          </p:txBody>
        </p:sp>
        <p:sp>
          <p:nvSpPr>
            <p:cNvPr id="326" name="Text Box 451">
              <a:extLst>
                <a:ext uri="{FF2B5EF4-FFF2-40B4-BE49-F238E27FC236}">
                  <a16:creationId xmlns:a16="http://schemas.microsoft.com/office/drawing/2014/main" id="{650BAB43-F8CA-4BF7-8B76-4EF287DAB3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56000" y="792000"/>
              <a:ext cx="864000" cy="252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I/O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总线</a:t>
              </a:r>
            </a:p>
          </p:txBody>
        </p:sp>
        <p:sp>
          <p:nvSpPr>
            <p:cNvPr id="327" name="Text Box 83">
              <a:extLst>
                <a:ext uri="{FF2B5EF4-FFF2-40B4-BE49-F238E27FC236}">
                  <a16:creationId xmlns:a16="http://schemas.microsoft.com/office/drawing/2014/main" id="{17387B91-6C1F-40FD-AA92-0F722F3C7E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31840" y="936000"/>
              <a:ext cx="360040" cy="216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MMU</a:t>
              </a:r>
            </a:p>
          </p:txBody>
        </p:sp>
      </p:grpSp>
      <p:grpSp>
        <p:nvGrpSpPr>
          <p:cNvPr id="328" name="组合 327">
            <a:extLst>
              <a:ext uri="{FF2B5EF4-FFF2-40B4-BE49-F238E27FC236}">
                <a16:creationId xmlns:a16="http://schemas.microsoft.com/office/drawing/2014/main" id="{2F1CFDE6-EE69-4980-B10A-B1056B253E89}"/>
              </a:ext>
            </a:extLst>
          </p:cNvPr>
          <p:cNvGrpSpPr/>
          <p:nvPr/>
        </p:nvGrpSpPr>
        <p:grpSpPr>
          <a:xfrm>
            <a:off x="4248184" y="1556792"/>
            <a:ext cx="1980000" cy="1078024"/>
            <a:chOff x="4771248" y="4501976"/>
            <a:chExt cx="1980000" cy="1078024"/>
          </a:xfrm>
        </p:grpSpPr>
        <p:sp>
          <p:nvSpPr>
            <p:cNvPr id="329" name="Text Box 179">
              <a:extLst>
                <a:ext uri="{FF2B5EF4-FFF2-40B4-BE49-F238E27FC236}">
                  <a16:creationId xmlns:a16="http://schemas.microsoft.com/office/drawing/2014/main" id="{1593CC86-45A3-4E45-83D5-7913B82199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71248" y="4572000"/>
              <a:ext cx="432000" cy="21590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r">
                <a:lnSpc>
                  <a:spcPct val="90000"/>
                </a:lnSpc>
              </a:pPr>
              <a:r>
                <a:rPr lang="zh-CN" altLang="en-US" sz="1400" dirty="0">
                  <a:latin typeface="宋体" panose="02010600030101010101" pitchFamily="2" charset="-122"/>
                </a:rPr>
                <a:t>地址</a:t>
              </a:r>
            </a:p>
          </p:txBody>
        </p:sp>
        <p:sp>
          <p:nvSpPr>
            <p:cNvPr id="330" name="Rectangle 180">
              <a:extLst>
                <a:ext uri="{FF2B5EF4-FFF2-40B4-BE49-F238E27FC236}">
                  <a16:creationId xmlns:a16="http://schemas.microsoft.com/office/drawing/2014/main" id="{617D081F-C6C9-4AA9-BDFD-ED5AB7F7DC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5248" y="4501976"/>
              <a:ext cx="1476000" cy="1044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1" name="Line 181">
              <a:extLst>
                <a:ext uri="{FF2B5EF4-FFF2-40B4-BE49-F238E27FC236}">
                  <a16:creationId xmlns:a16="http://schemas.microsoft.com/office/drawing/2014/main" id="{32FBDC16-173B-4D79-93CD-CCE6B2D695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79248" y="4572000"/>
              <a:ext cx="180000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2" name="Text Box 183">
              <a:extLst>
                <a:ext uri="{FF2B5EF4-FFF2-40B4-BE49-F238E27FC236}">
                  <a16:creationId xmlns:a16="http://schemas.microsoft.com/office/drawing/2014/main" id="{D2D7DEE2-7B7D-403B-85B6-0C212B7150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59248" y="4536000"/>
              <a:ext cx="720000" cy="360000"/>
            </a:xfrm>
            <a:prstGeom prst="rect">
              <a:avLst/>
            </a:prstGeom>
            <a:solidFill>
              <a:srgbClr val="99CCFF">
                <a:alpha val="9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存储矩阵</a:t>
              </a:r>
            </a:p>
          </p:txBody>
        </p:sp>
        <p:sp>
          <p:nvSpPr>
            <p:cNvPr id="333" name="Text Box 185">
              <a:extLst>
                <a:ext uri="{FF2B5EF4-FFF2-40B4-BE49-F238E27FC236}">
                  <a16:creationId xmlns:a16="http://schemas.microsoft.com/office/drawing/2014/main" id="{E9049875-6102-46C3-A1BD-B4A9A93D93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83248" y="4536000"/>
              <a:ext cx="396000" cy="396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0" tIns="0" rIns="0" bIns="0" anchor="ctr" anchorCtr="1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X</a:t>
              </a:r>
              <a:r>
                <a:rPr lang="zh-CN" altLang="en-US" sz="1400" b="1" dirty="0">
                  <a:latin typeface="宋体" panose="02010600030101010101" pitchFamily="2" charset="-122"/>
                </a:rPr>
                <a:t>译码器</a:t>
              </a:r>
            </a:p>
          </p:txBody>
        </p:sp>
        <p:sp>
          <p:nvSpPr>
            <p:cNvPr id="334" name="Line 186">
              <a:extLst>
                <a:ext uri="{FF2B5EF4-FFF2-40B4-BE49-F238E27FC236}">
                  <a16:creationId xmlns:a16="http://schemas.microsoft.com/office/drawing/2014/main" id="{29878A1E-4C03-43EB-A006-F1CF90EA9B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79248" y="4644000"/>
              <a:ext cx="180000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5" name="Line 187">
              <a:extLst>
                <a:ext uri="{FF2B5EF4-FFF2-40B4-BE49-F238E27FC236}">
                  <a16:creationId xmlns:a16="http://schemas.microsoft.com/office/drawing/2014/main" id="{E5A77C77-31FB-4448-B80D-E7A86BEB1D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79248" y="4860000"/>
              <a:ext cx="180000" cy="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6" name="Text Box 196">
              <a:extLst>
                <a:ext uri="{FF2B5EF4-FFF2-40B4-BE49-F238E27FC236}">
                  <a16:creationId xmlns:a16="http://schemas.microsoft.com/office/drawing/2014/main" id="{31AA8C91-DEF2-4CA2-87DA-E45D213F3B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71248" y="5004000"/>
              <a:ext cx="432000" cy="21590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dirty="0">
                  <a:latin typeface="宋体" panose="02010600030101010101" pitchFamily="2" charset="-122"/>
                </a:rPr>
                <a:t>数据</a:t>
              </a:r>
            </a:p>
          </p:txBody>
        </p:sp>
        <p:sp>
          <p:nvSpPr>
            <p:cNvPr id="337" name="Text Box 192">
              <a:extLst>
                <a:ext uri="{FF2B5EF4-FFF2-40B4-BE49-F238E27FC236}">
                  <a16:creationId xmlns:a16="http://schemas.microsoft.com/office/drawing/2014/main" id="{A6E8DD82-6FF1-495F-82C0-75CDAC1BA3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79248" y="4644000"/>
              <a:ext cx="180000" cy="21600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vert="eaVert"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rgbClr val="C00000"/>
                  </a:solidFill>
                  <a:latin typeface="+mn-ea"/>
                  <a:ea typeface="+mn-ea"/>
                </a:rPr>
                <a:t>…</a:t>
              </a:r>
            </a:p>
          </p:txBody>
        </p:sp>
        <p:sp>
          <p:nvSpPr>
            <p:cNvPr id="338" name="Text Box 184">
              <a:extLst>
                <a:ext uri="{FF2B5EF4-FFF2-40B4-BE49-F238E27FC236}">
                  <a16:creationId xmlns:a16="http://schemas.microsoft.com/office/drawing/2014/main" id="{3543BD47-24AB-4298-9AEA-AF390ACAD0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31248" y="5004000"/>
              <a:ext cx="576000" cy="180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I/O</a:t>
              </a:r>
              <a:r>
                <a:rPr lang="zh-CN" altLang="en-US" sz="1400" b="1" dirty="0">
                  <a:latin typeface="宋体" panose="02010600030101010101" pitchFamily="2" charset="-122"/>
                </a:rPr>
                <a:t>门</a:t>
              </a:r>
            </a:p>
          </p:txBody>
        </p:sp>
        <p:sp>
          <p:nvSpPr>
            <p:cNvPr id="339" name="Text Box 184">
              <a:extLst>
                <a:ext uri="{FF2B5EF4-FFF2-40B4-BE49-F238E27FC236}">
                  <a16:creationId xmlns:a16="http://schemas.microsoft.com/office/drawing/2014/main" id="{B4439CD3-56BC-41C6-BB2E-FFD5E76765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83248" y="5004000"/>
              <a:ext cx="504000" cy="180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读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/</a:t>
              </a:r>
              <a:r>
                <a:rPr lang="zh-CN" altLang="en-US" sz="1400" b="1" dirty="0">
                  <a:latin typeface="宋体" panose="02010600030101010101" pitchFamily="2" charset="-122"/>
                </a:rPr>
                <a:t>写</a:t>
              </a:r>
            </a:p>
          </p:txBody>
        </p:sp>
        <p:sp>
          <p:nvSpPr>
            <p:cNvPr id="340" name="Text Box 192">
              <a:extLst>
                <a:ext uri="{FF2B5EF4-FFF2-40B4-BE49-F238E27FC236}">
                  <a16:creationId xmlns:a16="http://schemas.microsoft.com/office/drawing/2014/main" id="{41E4DF54-FFDB-4C53-9BEE-0E788C6697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7248" y="4896000"/>
              <a:ext cx="216000" cy="14400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solidFill>
                    <a:schemeClr val="accent2"/>
                  </a:solidFill>
                  <a:latin typeface="+mn-ea"/>
                  <a:ea typeface="+mn-ea"/>
                </a:rPr>
                <a:t>…</a:t>
              </a:r>
            </a:p>
          </p:txBody>
        </p:sp>
        <p:sp>
          <p:nvSpPr>
            <p:cNvPr id="341" name="Line 189">
              <a:extLst>
                <a:ext uri="{FF2B5EF4-FFF2-40B4-BE49-F238E27FC236}">
                  <a16:creationId xmlns:a16="http://schemas.microsoft.com/office/drawing/2014/main" id="{84C63668-9C84-45F7-945D-DD5C4C1EDB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03248" y="4904062"/>
              <a:ext cx="0" cy="108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2" name="Line 189">
              <a:extLst>
                <a:ext uri="{FF2B5EF4-FFF2-40B4-BE49-F238E27FC236}">
                  <a16:creationId xmlns:a16="http://schemas.microsoft.com/office/drawing/2014/main" id="{02BF9769-DE82-4054-9D00-F529E59B24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11248" y="4896000"/>
              <a:ext cx="0" cy="108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3" name="Line 189">
              <a:extLst>
                <a:ext uri="{FF2B5EF4-FFF2-40B4-BE49-F238E27FC236}">
                  <a16:creationId xmlns:a16="http://schemas.microsoft.com/office/drawing/2014/main" id="{ED247B53-728B-4B17-8599-4AFAD8C2EA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35248" y="4896000"/>
              <a:ext cx="0" cy="108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4" name="Line 189">
              <a:extLst>
                <a:ext uri="{FF2B5EF4-FFF2-40B4-BE49-F238E27FC236}">
                  <a16:creationId xmlns:a16="http://schemas.microsoft.com/office/drawing/2014/main" id="{907CBB23-9EA7-430E-B3D3-F94651BA6E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87248" y="5112000"/>
              <a:ext cx="144000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5" name="Line 194">
              <a:extLst>
                <a:ext uri="{FF2B5EF4-FFF2-40B4-BE49-F238E27FC236}">
                  <a16:creationId xmlns:a16="http://schemas.microsoft.com/office/drawing/2014/main" id="{6EF7B17C-B06F-461E-B4C1-7E5E898F49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03248" y="4680000"/>
              <a:ext cx="180000" cy="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6" name="Line 194">
              <a:extLst>
                <a:ext uri="{FF2B5EF4-FFF2-40B4-BE49-F238E27FC236}">
                  <a16:creationId xmlns:a16="http://schemas.microsoft.com/office/drawing/2014/main" id="{1698C3C2-55C6-472C-8D2D-5E6C6AB51F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7248" y="5112000"/>
              <a:ext cx="216000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  <a:headEnd type="triangle" w="med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7" name="Text Box 184">
              <a:extLst>
                <a:ext uri="{FF2B5EF4-FFF2-40B4-BE49-F238E27FC236}">
                  <a16:creationId xmlns:a16="http://schemas.microsoft.com/office/drawing/2014/main" id="{552D06D4-6073-4DFF-AA67-40381BA389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59248" y="5292000"/>
              <a:ext cx="720000" cy="180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Y</a:t>
              </a:r>
              <a:r>
                <a:rPr lang="zh-CN" altLang="en-US" sz="1400" b="1" dirty="0">
                  <a:latin typeface="宋体" panose="02010600030101010101" pitchFamily="2" charset="-122"/>
                </a:rPr>
                <a:t>译码器</a:t>
              </a:r>
            </a:p>
          </p:txBody>
        </p:sp>
        <p:sp>
          <p:nvSpPr>
            <p:cNvPr id="348" name="Text Box 197">
              <a:extLst>
                <a:ext uri="{FF2B5EF4-FFF2-40B4-BE49-F238E27FC236}">
                  <a16:creationId xmlns:a16="http://schemas.microsoft.com/office/drawing/2014/main" id="{203E488F-95E1-4C61-9E9D-97FE9E4535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71248" y="5292000"/>
              <a:ext cx="432000" cy="18000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r">
                <a:lnSpc>
                  <a:spcPct val="90000"/>
                </a:lnSpc>
              </a:pPr>
              <a:r>
                <a:rPr lang="zh-CN" altLang="en-US" sz="1400" dirty="0">
                  <a:latin typeface="宋体" panose="02010600030101010101" pitchFamily="2" charset="-122"/>
                </a:rPr>
                <a:t>命令</a:t>
              </a:r>
            </a:p>
          </p:txBody>
        </p:sp>
        <p:sp>
          <p:nvSpPr>
            <p:cNvPr id="349" name="Line 189">
              <a:extLst>
                <a:ext uri="{FF2B5EF4-FFF2-40B4-BE49-F238E27FC236}">
                  <a16:creationId xmlns:a16="http://schemas.microsoft.com/office/drawing/2014/main" id="{C3192D51-CA55-4842-90DF-1BF4C50CDA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03248" y="5184000"/>
              <a:ext cx="0" cy="10800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0" name="Line 190">
              <a:extLst>
                <a:ext uri="{FF2B5EF4-FFF2-40B4-BE49-F238E27FC236}">
                  <a16:creationId xmlns:a16="http://schemas.microsoft.com/office/drawing/2014/main" id="{D96053C3-06E8-4FB3-A192-A0EABD01B1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11248" y="5184000"/>
              <a:ext cx="0" cy="10800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0" name="Line 191">
              <a:extLst>
                <a:ext uri="{FF2B5EF4-FFF2-40B4-BE49-F238E27FC236}">
                  <a16:creationId xmlns:a16="http://schemas.microsoft.com/office/drawing/2014/main" id="{4B8C4D0E-B9C4-4FC5-8CF7-4296956452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35248" y="5184000"/>
              <a:ext cx="0" cy="10800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1" name="Text Box 192">
              <a:extLst>
                <a:ext uri="{FF2B5EF4-FFF2-40B4-BE49-F238E27FC236}">
                  <a16:creationId xmlns:a16="http://schemas.microsoft.com/office/drawing/2014/main" id="{D2E686CF-0FF7-454E-8218-3846896663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7248" y="5184000"/>
              <a:ext cx="216000" cy="14400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solidFill>
                    <a:srgbClr val="C00000"/>
                  </a:solidFill>
                  <a:latin typeface="+mn-ea"/>
                  <a:ea typeface="+mn-ea"/>
                </a:rPr>
                <a:t>…</a:t>
              </a:r>
            </a:p>
          </p:txBody>
        </p:sp>
        <p:sp>
          <p:nvSpPr>
            <p:cNvPr id="382" name="Text Box 184">
              <a:extLst>
                <a:ext uri="{FF2B5EF4-FFF2-40B4-BE49-F238E27FC236}">
                  <a16:creationId xmlns:a16="http://schemas.microsoft.com/office/drawing/2014/main" id="{59558CC8-2B21-4F5D-8CD2-942DF2ADEA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83248" y="5292000"/>
              <a:ext cx="432000" cy="180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控制</a:t>
              </a:r>
            </a:p>
          </p:txBody>
        </p:sp>
        <p:sp>
          <p:nvSpPr>
            <p:cNvPr id="383" name="Line 194">
              <a:extLst>
                <a:ext uri="{FF2B5EF4-FFF2-40B4-BE49-F238E27FC236}">
                  <a16:creationId xmlns:a16="http://schemas.microsoft.com/office/drawing/2014/main" id="{F9133D27-CBAC-4794-A749-645805DDC8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03248" y="5328000"/>
              <a:ext cx="180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4" name="Line 194">
              <a:extLst>
                <a:ext uri="{FF2B5EF4-FFF2-40B4-BE49-F238E27FC236}">
                  <a16:creationId xmlns:a16="http://schemas.microsoft.com/office/drawing/2014/main" id="{870C6F9C-738A-447E-8036-BB3CDA9AE8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03248" y="5436000"/>
              <a:ext cx="180000" cy="0"/>
            </a:xfrm>
            <a:prstGeom prst="line">
              <a:avLst/>
            </a:prstGeom>
            <a:noFill/>
            <a:ln w="12700">
              <a:solidFill>
                <a:srgbClr val="FF3399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5" name="Line 194">
              <a:extLst>
                <a:ext uri="{FF2B5EF4-FFF2-40B4-BE49-F238E27FC236}">
                  <a16:creationId xmlns:a16="http://schemas.microsoft.com/office/drawing/2014/main" id="{B12356CC-8B48-4590-BDEA-7CDD842408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336000" y="5472000"/>
              <a:ext cx="0" cy="108000"/>
            </a:xfrm>
            <a:prstGeom prst="line">
              <a:avLst/>
            </a:prstGeom>
            <a:noFill/>
            <a:ln w="15875">
              <a:solidFill>
                <a:srgbClr val="C00000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86" name="组合 385">
            <a:extLst>
              <a:ext uri="{FF2B5EF4-FFF2-40B4-BE49-F238E27FC236}">
                <a16:creationId xmlns:a16="http://schemas.microsoft.com/office/drawing/2014/main" id="{88700196-2B00-425E-8CB4-5DEAE37A2E40}"/>
              </a:ext>
            </a:extLst>
          </p:cNvPr>
          <p:cNvGrpSpPr/>
          <p:nvPr/>
        </p:nvGrpSpPr>
        <p:grpSpPr>
          <a:xfrm>
            <a:off x="395536" y="3861048"/>
            <a:ext cx="3204000" cy="1260000"/>
            <a:chOff x="1512000" y="2196000"/>
            <a:chExt cx="3204000" cy="1260000"/>
          </a:xfrm>
        </p:grpSpPr>
        <p:sp>
          <p:nvSpPr>
            <p:cNvPr id="387" name="Text Box 140">
              <a:extLst>
                <a:ext uri="{FF2B5EF4-FFF2-40B4-BE49-F238E27FC236}">
                  <a16:creationId xmlns:a16="http://schemas.microsoft.com/office/drawing/2014/main" id="{F9441C51-D107-40E5-A3E4-6F8A2D6AE836}"/>
                </a:ext>
              </a:extLst>
            </p:cNvPr>
            <p:cNvSpPr txBox="1">
              <a:spLocks noChangeArrowheads="1"/>
            </p:cNvSpPr>
            <p:nvPr>
              <p:custDataLst>
                <p:tags r:id="rId160"/>
              </p:custDataLst>
            </p:nvPr>
          </p:nvSpPr>
          <p:spPr bwMode="auto">
            <a:xfrm>
              <a:off x="2016000" y="2196000"/>
              <a:ext cx="360000" cy="144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>
                <a:lnSpc>
                  <a:spcPct val="90000"/>
                </a:lnSpc>
              </a:pPr>
              <a:r>
                <a:rPr lang="en-US" altLang="zh-CN" sz="1400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400" u="none" baseline="-18000" dirty="0">
                  <a:latin typeface="宋体" panose="02010600030101010101" pitchFamily="2" charset="-122"/>
                </a:rPr>
                <a:t>1</a:t>
              </a:r>
              <a:r>
                <a:rPr lang="en-US" altLang="zh-CN" sz="1400" u="none" baseline="-18000" dirty="0"/>
                <a:t>~</a:t>
              </a:r>
              <a:r>
                <a:rPr lang="en-US" altLang="zh-CN" sz="1400" u="none" baseline="-18000" dirty="0"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388" name="Rectangle 141">
              <a:extLst>
                <a:ext uri="{FF2B5EF4-FFF2-40B4-BE49-F238E27FC236}">
                  <a16:creationId xmlns:a16="http://schemas.microsoft.com/office/drawing/2014/main" id="{FD8C167F-A62F-401F-9102-1A07731900EA}"/>
                </a:ext>
              </a:extLst>
            </p:cNvPr>
            <p:cNvSpPr>
              <a:spLocks noChangeArrowheads="1"/>
            </p:cNvSpPr>
            <p:nvPr>
              <p:custDataLst>
                <p:tags r:id="rId161"/>
              </p:custDataLst>
            </p:nvPr>
          </p:nvSpPr>
          <p:spPr bwMode="auto">
            <a:xfrm>
              <a:off x="1548307" y="2412000"/>
              <a:ext cx="3096000" cy="1044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" name="Text Box 162">
              <a:extLst>
                <a:ext uri="{FF2B5EF4-FFF2-40B4-BE49-F238E27FC236}">
                  <a16:creationId xmlns:a16="http://schemas.microsoft.com/office/drawing/2014/main" id="{1F0F8030-756C-487D-B3F5-7DC6EF0EB6DD}"/>
                </a:ext>
              </a:extLst>
            </p:cNvPr>
            <p:cNvSpPr txBox="1">
              <a:spLocks noChangeArrowheads="1"/>
            </p:cNvSpPr>
            <p:nvPr>
              <p:custDataLst>
                <p:tags r:id="rId162"/>
              </p:custDataLst>
            </p:nvPr>
          </p:nvSpPr>
          <p:spPr bwMode="auto">
            <a:xfrm>
              <a:off x="4320000" y="2196000"/>
              <a:ext cx="396000" cy="144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u="none" dirty="0">
                  <a:latin typeface="宋体" panose="02010600030101010101" pitchFamily="2" charset="-122"/>
                </a:rPr>
                <a:t>WE#</a:t>
              </a:r>
            </a:p>
          </p:txBody>
        </p:sp>
        <p:sp>
          <p:nvSpPr>
            <p:cNvPr id="390" name="Text Box 164">
              <a:extLst>
                <a:ext uri="{FF2B5EF4-FFF2-40B4-BE49-F238E27FC236}">
                  <a16:creationId xmlns:a16="http://schemas.microsoft.com/office/drawing/2014/main" id="{9551405A-7C8B-47AB-89D5-C2F84F0893F6}"/>
                </a:ext>
              </a:extLst>
            </p:cNvPr>
            <p:cNvSpPr txBox="1">
              <a:spLocks noChangeArrowheads="1"/>
            </p:cNvSpPr>
            <p:nvPr>
              <p:custDataLst>
                <p:tags r:id="rId163"/>
              </p:custDataLst>
            </p:nvPr>
          </p:nvSpPr>
          <p:spPr bwMode="auto">
            <a:xfrm>
              <a:off x="1692000" y="2448000"/>
              <a:ext cx="2808000" cy="180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存储器控制部件</a:t>
              </a:r>
            </a:p>
          </p:txBody>
        </p:sp>
        <p:sp>
          <p:nvSpPr>
            <p:cNvPr id="391" name="Text Box 140">
              <a:extLst>
                <a:ext uri="{FF2B5EF4-FFF2-40B4-BE49-F238E27FC236}">
                  <a16:creationId xmlns:a16="http://schemas.microsoft.com/office/drawing/2014/main" id="{3CBA20DF-5943-40CC-8149-A01652D54E50}"/>
                </a:ext>
              </a:extLst>
            </p:cNvPr>
            <p:cNvSpPr txBox="1">
              <a:spLocks noChangeArrowheads="1"/>
            </p:cNvSpPr>
            <p:nvPr>
              <p:custDataLst>
                <p:tags r:id="rId164"/>
              </p:custDataLst>
            </p:nvPr>
          </p:nvSpPr>
          <p:spPr bwMode="auto">
            <a:xfrm>
              <a:off x="1512000" y="2196000"/>
              <a:ext cx="468000" cy="144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400" u="none" baseline="-18000" dirty="0">
                  <a:latin typeface="宋体" panose="02010600030101010101" pitchFamily="2" charset="-122"/>
                </a:rPr>
                <a:t>11</a:t>
              </a:r>
              <a:r>
                <a:rPr lang="en-US" altLang="zh-CN" sz="1400" u="none" baseline="-18000" dirty="0"/>
                <a:t>~</a:t>
              </a:r>
              <a:r>
                <a:rPr lang="en-US" altLang="zh-CN" sz="1400" u="none" baseline="-18000" dirty="0">
                  <a:latin typeface="宋体" panose="02010600030101010101" pitchFamily="2" charset="-122"/>
                </a:rPr>
                <a:t>2</a:t>
              </a:r>
            </a:p>
          </p:txBody>
        </p:sp>
        <p:sp>
          <p:nvSpPr>
            <p:cNvPr id="392" name="Text Box 140">
              <a:extLst>
                <a:ext uri="{FF2B5EF4-FFF2-40B4-BE49-F238E27FC236}">
                  <a16:creationId xmlns:a16="http://schemas.microsoft.com/office/drawing/2014/main" id="{07AED616-24BC-46F5-B639-808A38B1AB5B}"/>
                </a:ext>
              </a:extLst>
            </p:cNvPr>
            <p:cNvSpPr txBox="1">
              <a:spLocks noChangeArrowheads="1"/>
            </p:cNvSpPr>
            <p:nvPr>
              <p:custDataLst>
                <p:tags r:id="rId165"/>
              </p:custDataLst>
            </p:nvPr>
          </p:nvSpPr>
          <p:spPr bwMode="auto">
            <a:xfrm>
              <a:off x="2664000" y="2196000"/>
              <a:ext cx="360000" cy="144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>
                <a:lnSpc>
                  <a:spcPct val="90000"/>
                </a:lnSpc>
              </a:pPr>
              <a:r>
                <a:rPr lang="en-US" altLang="zh-CN" sz="1400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400" u="none" baseline="-18000" dirty="0">
                  <a:latin typeface="宋体" panose="02010600030101010101" pitchFamily="2" charset="-122"/>
                </a:rPr>
                <a:t>7</a:t>
              </a:r>
              <a:r>
                <a:rPr lang="en-US" altLang="zh-CN" sz="1400" u="none" baseline="-18000" dirty="0"/>
                <a:t>~</a:t>
              </a:r>
              <a:r>
                <a:rPr lang="en-US" altLang="zh-CN" sz="1400" u="none" baseline="-18000" dirty="0"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393" name="Text Box 162">
              <a:extLst>
                <a:ext uri="{FF2B5EF4-FFF2-40B4-BE49-F238E27FC236}">
                  <a16:creationId xmlns:a16="http://schemas.microsoft.com/office/drawing/2014/main" id="{26A1EB40-A970-4388-9591-4B5D0A2455D8}"/>
                </a:ext>
              </a:extLst>
            </p:cNvPr>
            <p:cNvSpPr txBox="1">
              <a:spLocks noChangeArrowheads="1"/>
            </p:cNvSpPr>
            <p:nvPr>
              <p:custDataLst>
                <p:tags r:id="rId166"/>
              </p:custDataLst>
            </p:nvPr>
          </p:nvSpPr>
          <p:spPr bwMode="auto">
            <a:xfrm>
              <a:off x="3780147" y="2196000"/>
              <a:ext cx="396000" cy="144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u="none" dirty="0">
                  <a:latin typeface="宋体" panose="02010600030101010101" pitchFamily="2" charset="-122"/>
                </a:rPr>
                <a:t>CS#</a:t>
              </a:r>
            </a:p>
          </p:txBody>
        </p:sp>
        <p:sp>
          <p:nvSpPr>
            <p:cNvPr id="394" name="Text Box 162">
              <a:extLst>
                <a:ext uri="{FF2B5EF4-FFF2-40B4-BE49-F238E27FC236}">
                  <a16:creationId xmlns:a16="http://schemas.microsoft.com/office/drawing/2014/main" id="{A0FEC6A7-A6A4-451F-B55B-2DB482BB4143}"/>
                </a:ext>
              </a:extLst>
            </p:cNvPr>
            <p:cNvSpPr txBox="1">
              <a:spLocks noChangeArrowheads="1"/>
            </p:cNvSpPr>
            <p:nvPr>
              <p:custDataLst>
                <p:tags r:id="rId167"/>
              </p:custDataLst>
            </p:nvPr>
          </p:nvSpPr>
          <p:spPr bwMode="auto">
            <a:xfrm>
              <a:off x="3240000" y="2196000"/>
              <a:ext cx="360045" cy="144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u="none" dirty="0">
                  <a:solidFill>
                    <a:srgbClr val="C00000"/>
                  </a:solidFill>
                  <a:latin typeface="宋体" panose="02010600030101010101" pitchFamily="2" charset="-122"/>
                </a:rPr>
                <a:t>CLK</a:t>
              </a:r>
            </a:p>
          </p:txBody>
        </p:sp>
        <p:cxnSp>
          <p:nvCxnSpPr>
            <p:cNvPr id="395" name="直接箭头连接符 394">
              <a:extLst>
                <a:ext uri="{FF2B5EF4-FFF2-40B4-BE49-F238E27FC236}">
                  <a16:creationId xmlns:a16="http://schemas.microsoft.com/office/drawing/2014/main" id="{986FF9A3-378A-49CF-A0BB-D76B244D3D11}"/>
                </a:ext>
              </a:extLst>
            </p:cNvPr>
            <p:cNvCxnSpPr/>
            <p:nvPr>
              <p:custDataLst>
                <p:tags r:id="rId168"/>
              </p:custDataLst>
            </p:nvPr>
          </p:nvCxnSpPr>
          <p:spPr bwMode="auto">
            <a:xfrm>
              <a:off x="1620000" y="3420000"/>
              <a:ext cx="2376000" cy="1270"/>
            </a:xfrm>
            <a:prstGeom prst="straightConnector1">
              <a:avLst/>
            </a:prstGeom>
            <a:noFill/>
            <a:ln w="1587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96" name="Text Box 146">
              <a:extLst>
                <a:ext uri="{FF2B5EF4-FFF2-40B4-BE49-F238E27FC236}">
                  <a16:creationId xmlns:a16="http://schemas.microsoft.com/office/drawing/2014/main" id="{46867649-23D4-406D-BE89-CD1FAF6C1966}"/>
                </a:ext>
              </a:extLst>
            </p:cNvPr>
            <p:cNvSpPr txBox="1">
              <a:spLocks noChangeArrowheads="1"/>
            </p:cNvSpPr>
            <p:nvPr>
              <p:custDataLst>
                <p:tags r:id="rId169"/>
              </p:custDataLst>
            </p:nvPr>
          </p:nvSpPr>
          <p:spPr bwMode="auto">
            <a:xfrm>
              <a:off x="1692000" y="2628020"/>
              <a:ext cx="144145" cy="144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w</a:t>
              </a:r>
              <a:endParaRPr lang="en-US" altLang="zh-CN" sz="1400" b="1" u="none" baseline="-18000" dirty="0">
                <a:latin typeface="宋体" panose="02010600030101010101" pitchFamily="2" charset="-122"/>
              </a:endParaRPr>
            </a:p>
          </p:txBody>
        </p:sp>
        <p:cxnSp>
          <p:nvCxnSpPr>
            <p:cNvPr id="397" name="直接箭头连接符 396">
              <a:extLst>
                <a:ext uri="{FF2B5EF4-FFF2-40B4-BE49-F238E27FC236}">
                  <a16:creationId xmlns:a16="http://schemas.microsoft.com/office/drawing/2014/main" id="{0BF9D12B-32D5-464C-AE4B-602403C8F37A}"/>
                </a:ext>
              </a:extLst>
            </p:cNvPr>
            <p:cNvCxnSpPr/>
            <p:nvPr>
              <p:custDataLst>
                <p:tags r:id="rId170"/>
              </p:custDataLst>
            </p:nvPr>
          </p:nvCxnSpPr>
          <p:spPr bwMode="auto">
            <a:xfrm flipH="1">
              <a:off x="1836000" y="2664000"/>
              <a:ext cx="71755" cy="71764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398" name="直接箭头连接符 397">
              <a:extLst>
                <a:ext uri="{FF2B5EF4-FFF2-40B4-BE49-F238E27FC236}">
                  <a16:creationId xmlns:a16="http://schemas.microsoft.com/office/drawing/2014/main" id="{6F40F2D0-343C-41F1-87FD-960A09FBD12F}"/>
                </a:ext>
              </a:extLst>
            </p:cNvPr>
            <p:cNvCxnSpPr/>
            <p:nvPr>
              <p:custDataLst>
                <p:tags r:id="rId171"/>
              </p:custDataLst>
            </p:nvPr>
          </p:nvCxnSpPr>
          <p:spPr bwMode="auto">
            <a:xfrm>
              <a:off x="1872000" y="2628020"/>
              <a:ext cx="0" cy="14400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99" name="直接箭头连接符 398">
              <a:extLst>
                <a:ext uri="{FF2B5EF4-FFF2-40B4-BE49-F238E27FC236}">
                  <a16:creationId xmlns:a16="http://schemas.microsoft.com/office/drawing/2014/main" id="{F42DC620-D1B2-4A33-BD89-95DC67D18C99}"/>
                </a:ext>
              </a:extLst>
            </p:cNvPr>
            <p:cNvCxnSpPr/>
            <p:nvPr>
              <p:custDataLst>
                <p:tags r:id="rId172"/>
              </p:custDataLst>
            </p:nvPr>
          </p:nvCxnSpPr>
          <p:spPr bwMode="auto">
            <a:xfrm>
              <a:off x="2196000" y="2628020"/>
              <a:ext cx="0" cy="144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00" name="直接箭头连接符 399">
              <a:extLst>
                <a:ext uri="{FF2B5EF4-FFF2-40B4-BE49-F238E27FC236}">
                  <a16:creationId xmlns:a16="http://schemas.microsoft.com/office/drawing/2014/main" id="{1C850A09-9C4A-499E-940B-288C868833AB}"/>
                </a:ext>
              </a:extLst>
            </p:cNvPr>
            <p:cNvCxnSpPr/>
            <p:nvPr>
              <p:custDataLst>
                <p:tags r:id="rId173"/>
              </p:custDataLst>
            </p:nvPr>
          </p:nvCxnSpPr>
          <p:spPr bwMode="auto">
            <a:xfrm flipH="1" flipV="1">
              <a:off x="1872000" y="3312000"/>
              <a:ext cx="0" cy="108000"/>
            </a:xfrm>
            <a:prstGeom prst="straightConnector1">
              <a:avLst/>
            </a:prstGeom>
            <a:noFill/>
            <a:ln w="15875" cap="sq" cmpd="sng" algn="ctr">
              <a:solidFill>
                <a:srgbClr val="C00000"/>
              </a:solidFill>
              <a:prstDash val="solid"/>
              <a:round/>
              <a:headEnd type="oval" w="sm" len="sm"/>
              <a:tailEnd type="triangle" w="med" len="sm"/>
            </a:ln>
            <a:effectLst/>
          </p:spPr>
        </p:cxnSp>
        <p:cxnSp>
          <p:nvCxnSpPr>
            <p:cNvPr id="401" name="直接箭头连接符 400">
              <a:extLst>
                <a:ext uri="{FF2B5EF4-FFF2-40B4-BE49-F238E27FC236}">
                  <a16:creationId xmlns:a16="http://schemas.microsoft.com/office/drawing/2014/main" id="{682619D7-CB93-4C15-B89C-3DB12D3F52E5}"/>
                </a:ext>
              </a:extLst>
            </p:cNvPr>
            <p:cNvCxnSpPr/>
            <p:nvPr>
              <p:custDataLst>
                <p:tags r:id="rId174"/>
              </p:custDataLst>
            </p:nvPr>
          </p:nvCxnSpPr>
          <p:spPr bwMode="auto">
            <a:xfrm>
              <a:off x="2196000" y="3312000"/>
              <a:ext cx="0" cy="72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02" name="直接箭头连接符 401">
              <a:extLst>
                <a:ext uri="{FF2B5EF4-FFF2-40B4-BE49-F238E27FC236}">
                  <a16:creationId xmlns:a16="http://schemas.microsoft.com/office/drawing/2014/main" id="{48460182-7348-4712-83CC-B3A45A8C29C4}"/>
                </a:ext>
              </a:extLst>
            </p:cNvPr>
            <p:cNvCxnSpPr/>
            <p:nvPr>
              <p:custDataLst>
                <p:tags r:id="rId175"/>
              </p:custDataLst>
            </p:nvPr>
          </p:nvCxnSpPr>
          <p:spPr bwMode="auto">
            <a:xfrm>
              <a:off x="2196000" y="3384000"/>
              <a:ext cx="2376000" cy="127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03" name="直接箭头连接符 402">
              <a:extLst>
                <a:ext uri="{FF2B5EF4-FFF2-40B4-BE49-F238E27FC236}">
                  <a16:creationId xmlns:a16="http://schemas.microsoft.com/office/drawing/2014/main" id="{FDF665F3-3FD2-4DE6-BA78-C53A919B93E6}"/>
                </a:ext>
              </a:extLst>
            </p:cNvPr>
            <p:cNvCxnSpPr/>
            <p:nvPr>
              <p:custDataLst>
                <p:tags r:id="rId176"/>
              </p:custDataLst>
            </p:nvPr>
          </p:nvCxnSpPr>
          <p:spPr bwMode="auto">
            <a:xfrm>
              <a:off x="1620000" y="2340000"/>
              <a:ext cx="0" cy="1080000"/>
            </a:xfrm>
            <a:prstGeom prst="straightConnector1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04" name="Text Box 146">
              <a:extLst>
                <a:ext uri="{FF2B5EF4-FFF2-40B4-BE49-F238E27FC236}">
                  <a16:creationId xmlns:a16="http://schemas.microsoft.com/office/drawing/2014/main" id="{76FB9C83-3489-4FF4-AECA-16934EAA33C7}"/>
                </a:ext>
              </a:extLst>
            </p:cNvPr>
            <p:cNvSpPr txBox="1">
              <a:spLocks noChangeArrowheads="1"/>
            </p:cNvSpPr>
            <p:nvPr>
              <p:custDataLst>
                <p:tags r:id="rId177"/>
              </p:custDataLst>
            </p:nvPr>
          </p:nvSpPr>
          <p:spPr bwMode="auto">
            <a:xfrm>
              <a:off x="2412000" y="2628020"/>
              <a:ext cx="144145" cy="144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w</a:t>
              </a:r>
              <a:endParaRPr lang="en-US" altLang="zh-CN" sz="1400" b="1" u="none" baseline="-18000" dirty="0">
                <a:latin typeface="宋体" panose="02010600030101010101" pitchFamily="2" charset="-122"/>
              </a:endParaRPr>
            </a:p>
          </p:txBody>
        </p:sp>
        <p:cxnSp>
          <p:nvCxnSpPr>
            <p:cNvPr id="405" name="直接箭头连接符 404">
              <a:extLst>
                <a:ext uri="{FF2B5EF4-FFF2-40B4-BE49-F238E27FC236}">
                  <a16:creationId xmlns:a16="http://schemas.microsoft.com/office/drawing/2014/main" id="{ED87E5B4-DAA8-4E91-A5C9-A81966FB18F8}"/>
                </a:ext>
              </a:extLst>
            </p:cNvPr>
            <p:cNvCxnSpPr/>
            <p:nvPr>
              <p:custDataLst>
                <p:tags r:id="rId178"/>
              </p:custDataLst>
            </p:nvPr>
          </p:nvCxnSpPr>
          <p:spPr bwMode="auto">
            <a:xfrm flipH="1">
              <a:off x="2556000" y="2664000"/>
              <a:ext cx="71755" cy="71764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406" name="直接箭头连接符 405">
              <a:extLst>
                <a:ext uri="{FF2B5EF4-FFF2-40B4-BE49-F238E27FC236}">
                  <a16:creationId xmlns:a16="http://schemas.microsoft.com/office/drawing/2014/main" id="{BC92AC17-3903-46EF-B1B1-1BB7DC4F8488}"/>
                </a:ext>
              </a:extLst>
            </p:cNvPr>
            <p:cNvCxnSpPr/>
            <p:nvPr>
              <p:custDataLst>
                <p:tags r:id="rId179"/>
              </p:custDataLst>
            </p:nvPr>
          </p:nvCxnSpPr>
          <p:spPr bwMode="auto">
            <a:xfrm>
              <a:off x="2592000" y="2628020"/>
              <a:ext cx="0" cy="14400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07" name="直接箭头连接符 406">
              <a:extLst>
                <a:ext uri="{FF2B5EF4-FFF2-40B4-BE49-F238E27FC236}">
                  <a16:creationId xmlns:a16="http://schemas.microsoft.com/office/drawing/2014/main" id="{3A66DD79-04C0-423A-881F-CEA7F1E946B3}"/>
                </a:ext>
              </a:extLst>
            </p:cNvPr>
            <p:cNvCxnSpPr/>
            <p:nvPr>
              <p:custDataLst>
                <p:tags r:id="rId180"/>
              </p:custDataLst>
            </p:nvPr>
          </p:nvCxnSpPr>
          <p:spPr bwMode="auto">
            <a:xfrm>
              <a:off x="2916000" y="2628020"/>
              <a:ext cx="0" cy="144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08" name="直接箭头连接符 407">
              <a:extLst>
                <a:ext uri="{FF2B5EF4-FFF2-40B4-BE49-F238E27FC236}">
                  <a16:creationId xmlns:a16="http://schemas.microsoft.com/office/drawing/2014/main" id="{6448EA19-712C-487C-9343-1E9A45D39143}"/>
                </a:ext>
              </a:extLst>
            </p:cNvPr>
            <p:cNvCxnSpPr/>
            <p:nvPr>
              <p:custDataLst>
                <p:tags r:id="rId181"/>
              </p:custDataLst>
            </p:nvPr>
          </p:nvCxnSpPr>
          <p:spPr bwMode="auto">
            <a:xfrm flipH="1" flipV="1">
              <a:off x="2592000" y="3312000"/>
              <a:ext cx="0" cy="108000"/>
            </a:xfrm>
            <a:prstGeom prst="straightConnector1">
              <a:avLst/>
            </a:prstGeom>
            <a:noFill/>
            <a:ln w="15875" cap="sq" cmpd="sng" algn="ctr">
              <a:solidFill>
                <a:srgbClr val="C00000"/>
              </a:solidFill>
              <a:prstDash val="solid"/>
              <a:round/>
              <a:headEnd type="oval" w="sm" len="sm"/>
              <a:tailEnd type="triangle" w="med" len="sm"/>
            </a:ln>
            <a:effectLst/>
          </p:spPr>
        </p:cxnSp>
        <p:cxnSp>
          <p:nvCxnSpPr>
            <p:cNvPr id="409" name="直接箭头连接符 408">
              <a:extLst>
                <a:ext uri="{FF2B5EF4-FFF2-40B4-BE49-F238E27FC236}">
                  <a16:creationId xmlns:a16="http://schemas.microsoft.com/office/drawing/2014/main" id="{26830589-A7A3-4274-A66F-D6603F9EBD95}"/>
                </a:ext>
              </a:extLst>
            </p:cNvPr>
            <p:cNvCxnSpPr/>
            <p:nvPr>
              <p:custDataLst>
                <p:tags r:id="rId182"/>
              </p:custDataLst>
            </p:nvPr>
          </p:nvCxnSpPr>
          <p:spPr bwMode="auto">
            <a:xfrm>
              <a:off x="2916000" y="3312000"/>
              <a:ext cx="0" cy="72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sp>
          <p:nvSpPr>
            <p:cNvPr id="410" name="Text Box 146">
              <a:extLst>
                <a:ext uri="{FF2B5EF4-FFF2-40B4-BE49-F238E27FC236}">
                  <a16:creationId xmlns:a16="http://schemas.microsoft.com/office/drawing/2014/main" id="{C40B846B-742E-4576-8386-B1FBBEAAB8A3}"/>
                </a:ext>
              </a:extLst>
            </p:cNvPr>
            <p:cNvSpPr txBox="1">
              <a:spLocks noChangeArrowheads="1"/>
            </p:cNvSpPr>
            <p:nvPr>
              <p:custDataLst>
                <p:tags r:id="rId183"/>
              </p:custDataLst>
            </p:nvPr>
          </p:nvSpPr>
          <p:spPr bwMode="auto">
            <a:xfrm>
              <a:off x="3132000" y="2628020"/>
              <a:ext cx="144145" cy="144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w</a:t>
              </a:r>
              <a:endParaRPr lang="en-US" altLang="zh-CN" sz="1400" b="1" u="none" baseline="-18000" dirty="0">
                <a:latin typeface="宋体" panose="02010600030101010101" pitchFamily="2" charset="-122"/>
              </a:endParaRPr>
            </a:p>
          </p:txBody>
        </p:sp>
        <p:cxnSp>
          <p:nvCxnSpPr>
            <p:cNvPr id="411" name="直接箭头连接符 410">
              <a:extLst>
                <a:ext uri="{FF2B5EF4-FFF2-40B4-BE49-F238E27FC236}">
                  <a16:creationId xmlns:a16="http://schemas.microsoft.com/office/drawing/2014/main" id="{C1348DD1-1639-4A39-8664-C48FF7CC3021}"/>
                </a:ext>
              </a:extLst>
            </p:cNvPr>
            <p:cNvCxnSpPr/>
            <p:nvPr>
              <p:custDataLst>
                <p:tags r:id="rId184"/>
              </p:custDataLst>
            </p:nvPr>
          </p:nvCxnSpPr>
          <p:spPr bwMode="auto">
            <a:xfrm flipH="1">
              <a:off x="3276000" y="2664000"/>
              <a:ext cx="71755" cy="71764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412" name="直接箭头连接符 411">
              <a:extLst>
                <a:ext uri="{FF2B5EF4-FFF2-40B4-BE49-F238E27FC236}">
                  <a16:creationId xmlns:a16="http://schemas.microsoft.com/office/drawing/2014/main" id="{07B14CA1-7B5A-4BAA-A674-38426ED88F41}"/>
                </a:ext>
              </a:extLst>
            </p:cNvPr>
            <p:cNvCxnSpPr/>
            <p:nvPr>
              <p:custDataLst>
                <p:tags r:id="rId185"/>
              </p:custDataLst>
            </p:nvPr>
          </p:nvCxnSpPr>
          <p:spPr bwMode="auto">
            <a:xfrm>
              <a:off x="3312000" y="2628020"/>
              <a:ext cx="0" cy="14400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13" name="直接箭头连接符 412">
              <a:extLst>
                <a:ext uri="{FF2B5EF4-FFF2-40B4-BE49-F238E27FC236}">
                  <a16:creationId xmlns:a16="http://schemas.microsoft.com/office/drawing/2014/main" id="{76933167-0A61-44FD-A50A-9BC6E1F8D86F}"/>
                </a:ext>
              </a:extLst>
            </p:cNvPr>
            <p:cNvCxnSpPr/>
            <p:nvPr>
              <p:custDataLst>
                <p:tags r:id="rId186"/>
              </p:custDataLst>
            </p:nvPr>
          </p:nvCxnSpPr>
          <p:spPr bwMode="auto">
            <a:xfrm>
              <a:off x="3636000" y="2628020"/>
              <a:ext cx="0" cy="144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14" name="直接箭头连接符 413">
              <a:extLst>
                <a:ext uri="{FF2B5EF4-FFF2-40B4-BE49-F238E27FC236}">
                  <a16:creationId xmlns:a16="http://schemas.microsoft.com/office/drawing/2014/main" id="{6D3F0CC8-492B-48AD-8434-70630D3B074E}"/>
                </a:ext>
              </a:extLst>
            </p:cNvPr>
            <p:cNvCxnSpPr/>
            <p:nvPr>
              <p:custDataLst>
                <p:tags r:id="rId187"/>
              </p:custDataLst>
            </p:nvPr>
          </p:nvCxnSpPr>
          <p:spPr bwMode="auto">
            <a:xfrm flipH="1" flipV="1">
              <a:off x="3312000" y="3312000"/>
              <a:ext cx="0" cy="108000"/>
            </a:xfrm>
            <a:prstGeom prst="straightConnector1">
              <a:avLst/>
            </a:prstGeom>
            <a:noFill/>
            <a:ln w="15875" cap="sq" cmpd="sng" algn="ctr">
              <a:solidFill>
                <a:srgbClr val="C00000"/>
              </a:solidFill>
              <a:prstDash val="solid"/>
              <a:round/>
              <a:headEnd type="oval" w="sm" len="sm"/>
              <a:tailEnd type="triangle" w="med" len="sm"/>
            </a:ln>
            <a:effectLst/>
          </p:spPr>
        </p:cxnSp>
        <p:cxnSp>
          <p:nvCxnSpPr>
            <p:cNvPr id="415" name="直接箭头连接符 414">
              <a:extLst>
                <a:ext uri="{FF2B5EF4-FFF2-40B4-BE49-F238E27FC236}">
                  <a16:creationId xmlns:a16="http://schemas.microsoft.com/office/drawing/2014/main" id="{937D21AC-2FF3-4784-93C8-F5CF73850B0A}"/>
                </a:ext>
              </a:extLst>
            </p:cNvPr>
            <p:cNvCxnSpPr/>
            <p:nvPr>
              <p:custDataLst>
                <p:tags r:id="rId188"/>
              </p:custDataLst>
            </p:nvPr>
          </p:nvCxnSpPr>
          <p:spPr bwMode="auto">
            <a:xfrm>
              <a:off x="3636000" y="3312000"/>
              <a:ext cx="0" cy="72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sp>
          <p:nvSpPr>
            <p:cNvPr id="416" name="Text Box 146">
              <a:extLst>
                <a:ext uri="{FF2B5EF4-FFF2-40B4-BE49-F238E27FC236}">
                  <a16:creationId xmlns:a16="http://schemas.microsoft.com/office/drawing/2014/main" id="{F9C8D570-4F51-41EC-A724-153AE43835E5}"/>
                </a:ext>
              </a:extLst>
            </p:cNvPr>
            <p:cNvSpPr txBox="1">
              <a:spLocks noChangeArrowheads="1"/>
            </p:cNvSpPr>
            <p:nvPr>
              <p:custDataLst>
                <p:tags r:id="rId189"/>
              </p:custDataLst>
            </p:nvPr>
          </p:nvSpPr>
          <p:spPr bwMode="auto">
            <a:xfrm>
              <a:off x="3852000" y="2628020"/>
              <a:ext cx="144145" cy="144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w</a:t>
              </a:r>
              <a:endParaRPr lang="en-US" altLang="zh-CN" sz="1400" b="1" u="none" baseline="-18000" dirty="0">
                <a:latin typeface="宋体" panose="02010600030101010101" pitchFamily="2" charset="-122"/>
              </a:endParaRPr>
            </a:p>
          </p:txBody>
        </p:sp>
        <p:cxnSp>
          <p:nvCxnSpPr>
            <p:cNvPr id="417" name="直接箭头连接符 416">
              <a:extLst>
                <a:ext uri="{FF2B5EF4-FFF2-40B4-BE49-F238E27FC236}">
                  <a16:creationId xmlns:a16="http://schemas.microsoft.com/office/drawing/2014/main" id="{7D6A6814-A2EC-47F5-956F-AD4F64DB5284}"/>
                </a:ext>
              </a:extLst>
            </p:cNvPr>
            <p:cNvCxnSpPr/>
            <p:nvPr>
              <p:custDataLst>
                <p:tags r:id="rId190"/>
              </p:custDataLst>
            </p:nvPr>
          </p:nvCxnSpPr>
          <p:spPr bwMode="auto">
            <a:xfrm flipH="1">
              <a:off x="3996000" y="2664000"/>
              <a:ext cx="71755" cy="71764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  <p:cxnSp>
          <p:nvCxnSpPr>
            <p:cNvPr id="418" name="直接箭头连接符 417">
              <a:extLst>
                <a:ext uri="{FF2B5EF4-FFF2-40B4-BE49-F238E27FC236}">
                  <a16:creationId xmlns:a16="http://schemas.microsoft.com/office/drawing/2014/main" id="{B7BDCED3-C529-439C-918C-1B019FA4A987}"/>
                </a:ext>
              </a:extLst>
            </p:cNvPr>
            <p:cNvCxnSpPr/>
            <p:nvPr>
              <p:custDataLst>
                <p:tags r:id="rId191"/>
              </p:custDataLst>
            </p:nvPr>
          </p:nvCxnSpPr>
          <p:spPr bwMode="auto">
            <a:xfrm>
              <a:off x="4032000" y="2628020"/>
              <a:ext cx="0" cy="14400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19" name="直接箭头连接符 418">
              <a:extLst>
                <a:ext uri="{FF2B5EF4-FFF2-40B4-BE49-F238E27FC236}">
                  <a16:creationId xmlns:a16="http://schemas.microsoft.com/office/drawing/2014/main" id="{AD5BDA66-CE47-4087-9F8A-10A35F1967C8}"/>
                </a:ext>
              </a:extLst>
            </p:cNvPr>
            <p:cNvCxnSpPr/>
            <p:nvPr>
              <p:custDataLst>
                <p:tags r:id="rId192"/>
              </p:custDataLst>
            </p:nvPr>
          </p:nvCxnSpPr>
          <p:spPr bwMode="auto">
            <a:xfrm>
              <a:off x="4356000" y="2628020"/>
              <a:ext cx="0" cy="144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20" name="直接箭头连接符 419">
              <a:extLst>
                <a:ext uri="{FF2B5EF4-FFF2-40B4-BE49-F238E27FC236}">
                  <a16:creationId xmlns:a16="http://schemas.microsoft.com/office/drawing/2014/main" id="{EAB7A44D-DCEC-4350-8716-D02A705ABE45}"/>
                </a:ext>
              </a:extLst>
            </p:cNvPr>
            <p:cNvCxnSpPr/>
            <p:nvPr>
              <p:custDataLst>
                <p:tags r:id="rId193"/>
              </p:custDataLst>
            </p:nvPr>
          </p:nvCxnSpPr>
          <p:spPr bwMode="auto">
            <a:xfrm flipH="1" flipV="1">
              <a:off x="3996000" y="3312000"/>
              <a:ext cx="0" cy="108000"/>
            </a:xfrm>
            <a:prstGeom prst="straightConnector1">
              <a:avLst/>
            </a:prstGeom>
            <a:noFill/>
            <a:ln w="1587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21" name="直接箭头连接符 420">
              <a:extLst>
                <a:ext uri="{FF2B5EF4-FFF2-40B4-BE49-F238E27FC236}">
                  <a16:creationId xmlns:a16="http://schemas.microsoft.com/office/drawing/2014/main" id="{795E6F40-7F41-4640-884B-B819254EA39C}"/>
                </a:ext>
              </a:extLst>
            </p:cNvPr>
            <p:cNvCxnSpPr/>
            <p:nvPr>
              <p:custDataLst>
                <p:tags r:id="rId194"/>
              </p:custDataLst>
            </p:nvPr>
          </p:nvCxnSpPr>
          <p:spPr bwMode="auto">
            <a:xfrm>
              <a:off x="4356000" y="3312000"/>
              <a:ext cx="0" cy="72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422" name="直接箭头连接符 421">
              <a:extLst>
                <a:ext uri="{FF2B5EF4-FFF2-40B4-BE49-F238E27FC236}">
                  <a16:creationId xmlns:a16="http://schemas.microsoft.com/office/drawing/2014/main" id="{6984B75F-AFB9-4940-9770-7342C7FBBAC1}"/>
                </a:ext>
              </a:extLst>
            </p:cNvPr>
            <p:cNvCxnSpPr/>
            <p:nvPr>
              <p:custDataLst>
                <p:tags r:id="rId195"/>
              </p:custDataLst>
            </p:nvPr>
          </p:nvCxnSpPr>
          <p:spPr bwMode="auto">
            <a:xfrm>
              <a:off x="4572000" y="2340000"/>
              <a:ext cx="0" cy="1044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23" name="直接箭头连接符 422">
              <a:extLst>
                <a:ext uri="{FF2B5EF4-FFF2-40B4-BE49-F238E27FC236}">
                  <a16:creationId xmlns:a16="http://schemas.microsoft.com/office/drawing/2014/main" id="{9E4E4FA4-79B4-411B-9299-518BA01B7713}"/>
                </a:ext>
              </a:extLst>
            </p:cNvPr>
            <p:cNvCxnSpPr/>
            <p:nvPr>
              <p:custDataLst>
                <p:tags r:id="rId196"/>
              </p:custDataLst>
            </p:nvPr>
          </p:nvCxnSpPr>
          <p:spPr bwMode="auto">
            <a:xfrm>
              <a:off x="2088000" y="2340000"/>
              <a:ext cx="0" cy="10800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24" name="直接箭头连接符 423">
              <a:extLst>
                <a:ext uri="{FF2B5EF4-FFF2-40B4-BE49-F238E27FC236}">
                  <a16:creationId xmlns:a16="http://schemas.microsoft.com/office/drawing/2014/main" id="{5054C83A-23EB-48BD-8366-FD7808AA8E65}"/>
                </a:ext>
              </a:extLst>
            </p:cNvPr>
            <p:cNvCxnSpPr/>
            <p:nvPr>
              <p:custDataLst>
                <p:tags r:id="rId197"/>
              </p:custDataLst>
            </p:nvPr>
          </p:nvCxnSpPr>
          <p:spPr bwMode="auto">
            <a:xfrm>
              <a:off x="2736000" y="2340000"/>
              <a:ext cx="0" cy="108000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25" name="直接箭头连接符 424">
              <a:extLst>
                <a:ext uri="{FF2B5EF4-FFF2-40B4-BE49-F238E27FC236}">
                  <a16:creationId xmlns:a16="http://schemas.microsoft.com/office/drawing/2014/main" id="{D5A6178D-A476-4604-8AAF-EC6DC43E8F62}"/>
                </a:ext>
              </a:extLst>
            </p:cNvPr>
            <p:cNvCxnSpPr/>
            <p:nvPr>
              <p:custDataLst>
                <p:tags r:id="rId198"/>
              </p:custDataLst>
            </p:nvPr>
          </p:nvCxnSpPr>
          <p:spPr bwMode="auto">
            <a:xfrm>
              <a:off x="3420000" y="2340000"/>
              <a:ext cx="0" cy="10800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26" name="直接箭头连接符 425">
              <a:extLst>
                <a:ext uri="{FF2B5EF4-FFF2-40B4-BE49-F238E27FC236}">
                  <a16:creationId xmlns:a16="http://schemas.microsoft.com/office/drawing/2014/main" id="{916C6ED8-D100-4D36-951C-76235F7EE1C2}"/>
                </a:ext>
              </a:extLst>
            </p:cNvPr>
            <p:cNvCxnSpPr/>
            <p:nvPr>
              <p:custDataLst>
                <p:tags r:id="rId199"/>
              </p:custDataLst>
            </p:nvPr>
          </p:nvCxnSpPr>
          <p:spPr bwMode="auto">
            <a:xfrm>
              <a:off x="3996000" y="2340000"/>
              <a:ext cx="0" cy="108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27" name="Text Box 146">
              <a:extLst>
                <a:ext uri="{FF2B5EF4-FFF2-40B4-BE49-F238E27FC236}">
                  <a16:creationId xmlns:a16="http://schemas.microsoft.com/office/drawing/2014/main" id="{B9C72207-C522-4859-BE34-0C4648A9A595}"/>
                </a:ext>
              </a:extLst>
            </p:cNvPr>
            <p:cNvSpPr txBox="1">
              <a:spLocks noChangeArrowheads="1"/>
            </p:cNvSpPr>
            <p:nvPr>
              <p:custDataLst>
                <p:tags r:id="rId200"/>
              </p:custDataLst>
            </p:nvPr>
          </p:nvSpPr>
          <p:spPr bwMode="auto">
            <a:xfrm>
              <a:off x="2556000" y="2304000"/>
              <a:ext cx="144145" cy="144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w</a:t>
              </a:r>
              <a:endParaRPr lang="en-US" altLang="zh-CN" sz="1400" b="1" u="none" baseline="-18000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428" name="直接箭头连接符 427">
              <a:extLst>
                <a:ext uri="{FF2B5EF4-FFF2-40B4-BE49-F238E27FC236}">
                  <a16:creationId xmlns:a16="http://schemas.microsoft.com/office/drawing/2014/main" id="{B4E3A694-C2BE-4FD4-AC9F-C753D5D3670E}"/>
                </a:ext>
              </a:extLst>
            </p:cNvPr>
            <p:cNvCxnSpPr/>
            <p:nvPr>
              <p:custDataLst>
                <p:tags r:id="rId201"/>
              </p:custDataLst>
            </p:nvPr>
          </p:nvCxnSpPr>
          <p:spPr bwMode="auto">
            <a:xfrm flipH="1">
              <a:off x="2700000" y="2376000"/>
              <a:ext cx="71755" cy="71764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</p:cxnSp>
        <p:sp>
          <p:nvSpPr>
            <p:cNvPr id="429" name="Text Box 143">
              <a:extLst>
                <a:ext uri="{FF2B5EF4-FFF2-40B4-BE49-F238E27FC236}">
                  <a16:creationId xmlns:a16="http://schemas.microsoft.com/office/drawing/2014/main" id="{0D26E132-3F8B-4844-BCFE-5067D483F118}"/>
                </a:ext>
              </a:extLst>
            </p:cNvPr>
            <p:cNvSpPr txBox="1">
              <a:spLocks noChangeArrowheads="1"/>
            </p:cNvSpPr>
            <p:nvPr>
              <p:custDataLst>
                <p:tags r:id="rId202"/>
              </p:custDataLst>
            </p:nvPr>
          </p:nvSpPr>
          <p:spPr bwMode="auto">
            <a:xfrm>
              <a:off x="1692000" y="2772000"/>
              <a:ext cx="648000" cy="540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t" anchorCtr="0"/>
            <a:lstStyle/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400" b="1" u="none" baseline="-18000" dirty="0">
                  <a:latin typeface="宋体" panose="02010600030101010101" pitchFamily="2" charset="-122"/>
                </a:rPr>
                <a:t>7</a:t>
              </a:r>
              <a:r>
                <a:rPr lang="en-US" altLang="zh-CN" sz="1400" b="1" u="none" baseline="-18000" dirty="0"/>
                <a:t>~</a:t>
              </a:r>
              <a:r>
                <a:rPr lang="en-US" altLang="zh-CN" sz="1400" b="1" u="none" baseline="-18000" dirty="0">
                  <a:latin typeface="宋体" panose="02010600030101010101" pitchFamily="2" charset="-122"/>
                </a:rPr>
                <a:t>0</a:t>
              </a:r>
              <a:r>
                <a:rPr lang="en-US" altLang="zh-CN" sz="1400" b="1" u="none" baseline="-25000" dirty="0">
                  <a:latin typeface="宋体" panose="02010600030101010101" pitchFamily="2" charset="-122"/>
                </a:rPr>
                <a:t> 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CS#</a:t>
              </a: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solidFill>
                    <a:srgbClr val="FF0000"/>
                  </a:solidFill>
                  <a:latin typeface="宋体" panose="02010600030101010101" pitchFamily="2" charset="-122"/>
                </a:rPr>
                <a:t>M</a:t>
              </a:r>
              <a:r>
                <a:rPr lang="en-US" altLang="zh-CN" sz="1600" b="1" u="none" baseline="-18000" dirty="0">
                  <a:solidFill>
                    <a:srgbClr val="FF0000"/>
                  </a:solidFill>
                  <a:latin typeface="宋体" panose="02010600030101010101" pitchFamily="2" charset="-122"/>
                </a:rPr>
                <a:t>3</a:t>
              </a: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400" b="1" u="none" baseline="-18000" dirty="0">
                  <a:latin typeface="宋体" panose="02010600030101010101" pitchFamily="2" charset="-122"/>
                </a:rPr>
                <a:t>9</a:t>
              </a:r>
              <a:r>
                <a:rPr lang="en-US" altLang="zh-CN" sz="1400" b="1" u="none" baseline="-18000" dirty="0"/>
                <a:t>~</a:t>
              </a:r>
              <a:r>
                <a:rPr lang="en-US" altLang="zh-CN" sz="1400" b="1" u="none" baseline="-18000" dirty="0">
                  <a:latin typeface="宋体" panose="02010600030101010101" pitchFamily="2" charset="-122"/>
                </a:rPr>
                <a:t>0</a:t>
              </a:r>
              <a:r>
                <a:rPr lang="en-US" altLang="zh-CN" sz="1400" b="1" u="none" baseline="-25000" dirty="0">
                  <a:latin typeface="宋体" panose="02010600030101010101" pitchFamily="2" charset="-122"/>
                </a:rPr>
                <a:t> 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WE#</a:t>
              </a:r>
            </a:p>
          </p:txBody>
        </p:sp>
        <p:sp>
          <p:nvSpPr>
            <p:cNvPr id="430" name="Text Box 143">
              <a:extLst>
                <a:ext uri="{FF2B5EF4-FFF2-40B4-BE49-F238E27FC236}">
                  <a16:creationId xmlns:a16="http://schemas.microsoft.com/office/drawing/2014/main" id="{49ECC9E8-991F-486E-AF54-C461E6EFD350}"/>
                </a:ext>
              </a:extLst>
            </p:cNvPr>
            <p:cNvSpPr txBox="1">
              <a:spLocks noChangeArrowheads="1"/>
            </p:cNvSpPr>
            <p:nvPr>
              <p:custDataLst>
                <p:tags r:id="rId203"/>
              </p:custDataLst>
            </p:nvPr>
          </p:nvSpPr>
          <p:spPr bwMode="auto">
            <a:xfrm>
              <a:off x="2412000" y="2772000"/>
              <a:ext cx="648000" cy="540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t" anchorCtr="0"/>
            <a:lstStyle/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400" b="1" u="none" baseline="-18000" dirty="0">
                  <a:latin typeface="宋体" panose="02010600030101010101" pitchFamily="2" charset="-122"/>
                </a:rPr>
                <a:t>7</a:t>
              </a:r>
              <a:r>
                <a:rPr lang="en-US" altLang="zh-CN" sz="1400" b="1" u="none" baseline="-18000" dirty="0"/>
                <a:t>~</a:t>
              </a:r>
              <a:r>
                <a:rPr lang="en-US" altLang="zh-CN" sz="1400" b="1" u="none" baseline="-18000" dirty="0">
                  <a:latin typeface="宋体" panose="02010600030101010101" pitchFamily="2" charset="-122"/>
                </a:rPr>
                <a:t>0</a:t>
              </a:r>
              <a:r>
                <a:rPr lang="en-US" altLang="zh-CN" sz="1400" b="1" u="none" baseline="-25000" dirty="0">
                  <a:latin typeface="宋体" panose="02010600030101010101" pitchFamily="2" charset="-122"/>
                </a:rPr>
                <a:t> 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CS#</a:t>
              </a: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solidFill>
                    <a:srgbClr val="FF0000"/>
                  </a:solidFill>
                  <a:latin typeface="宋体" panose="02010600030101010101" pitchFamily="2" charset="-122"/>
                </a:rPr>
                <a:t>M</a:t>
              </a:r>
              <a:r>
                <a:rPr lang="en-US" altLang="zh-CN" sz="1600" b="1" u="none" baseline="-18000" dirty="0">
                  <a:solidFill>
                    <a:srgbClr val="FF0000"/>
                  </a:solidFill>
                  <a:latin typeface="宋体" panose="02010600030101010101" pitchFamily="2" charset="-122"/>
                </a:rPr>
                <a:t>2</a:t>
              </a: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400" b="1" u="none" baseline="-18000" dirty="0">
                  <a:latin typeface="宋体" panose="02010600030101010101" pitchFamily="2" charset="-122"/>
                </a:rPr>
                <a:t>9</a:t>
              </a:r>
              <a:r>
                <a:rPr lang="en-US" altLang="zh-CN" sz="1400" b="1" u="none" baseline="-18000" dirty="0"/>
                <a:t>~</a:t>
              </a:r>
              <a:r>
                <a:rPr lang="en-US" altLang="zh-CN" sz="1400" b="1" u="none" baseline="-18000" dirty="0">
                  <a:latin typeface="宋体" panose="02010600030101010101" pitchFamily="2" charset="-122"/>
                </a:rPr>
                <a:t>0</a:t>
              </a:r>
              <a:r>
                <a:rPr lang="en-US" altLang="zh-CN" sz="1400" b="1" u="none" baseline="-25000" dirty="0">
                  <a:latin typeface="宋体" panose="02010600030101010101" pitchFamily="2" charset="-122"/>
                </a:rPr>
                <a:t> 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WE#</a:t>
              </a:r>
            </a:p>
          </p:txBody>
        </p:sp>
        <p:sp>
          <p:nvSpPr>
            <p:cNvPr id="431" name="Text Box 143">
              <a:extLst>
                <a:ext uri="{FF2B5EF4-FFF2-40B4-BE49-F238E27FC236}">
                  <a16:creationId xmlns:a16="http://schemas.microsoft.com/office/drawing/2014/main" id="{AE48AA9E-FA7D-40F5-BE59-EBAF518958E7}"/>
                </a:ext>
              </a:extLst>
            </p:cNvPr>
            <p:cNvSpPr txBox="1">
              <a:spLocks noChangeArrowheads="1"/>
            </p:cNvSpPr>
            <p:nvPr>
              <p:custDataLst>
                <p:tags r:id="rId204"/>
              </p:custDataLst>
            </p:nvPr>
          </p:nvSpPr>
          <p:spPr bwMode="auto">
            <a:xfrm>
              <a:off x="3132000" y="2772000"/>
              <a:ext cx="648000" cy="540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t" anchorCtr="0"/>
            <a:lstStyle/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400" b="1" u="none" baseline="-18000" dirty="0">
                  <a:latin typeface="宋体" panose="02010600030101010101" pitchFamily="2" charset="-122"/>
                </a:rPr>
                <a:t>7</a:t>
              </a:r>
              <a:r>
                <a:rPr lang="en-US" altLang="zh-CN" sz="1400" b="1" u="none" baseline="-18000" dirty="0"/>
                <a:t>~</a:t>
              </a:r>
              <a:r>
                <a:rPr lang="en-US" altLang="zh-CN" sz="1400" b="1" u="none" baseline="-18000" dirty="0">
                  <a:latin typeface="宋体" panose="02010600030101010101" pitchFamily="2" charset="-122"/>
                </a:rPr>
                <a:t>0</a:t>
              </a:r>
              <a:r>
                <a:rPr lang="en-US" altLang="zh-CN" sz="1400" b="1" u="none" baseline="-25000" dirty="0">
                  <a:latin typeface="宋体" panose="02010600030101010101" pitchFamily="2" charset="-122"/>
                </a:rPr>
                <a:t> 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CS#</a:t>
              </a: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solidFill>
                    <a:srgbClr val="FF0000"/>
                  </a:solidFill>
                  <a:latin typeface="宋体" panose="02010600030101010101" pitchFamily="2" charset="-122"/>
                </a:rPr>
                <a:t>M</a:t>
              </a:r>
              <a:r>
                <a:rPr lang="en-US" altLang="zh-CN" sz="1600" b="1" u="none" baseline="-18000" dirty="0">
                  <a:solidFill>
                    <a:srgbClr val="FF0000"/>
                  </a:solidFill>
                  <a:latin typeface="宋体" panose="02010600030101010101" pitchFamily="2" charset="-122"/>
                </a:rPr>
                <a:t>1</a:t>
              </a: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400" b="1" u="none" baseline="-18000" dirty="0">
                  <a:latin typeface="宋体" panose="02010600030101010101" pitchFamily="2" charset="-122"/>
                </a:rPr>
                <a:t>9</a:t>
              </a:r>
              <a:r>
                <a:rPr lang="en-US" altLang="zh-CN" sz="1400" b="1" u="none" baseline="-18000" dirty="0"/>
                <a:t>~</a:t>
              </a:r>
              <a:r>
                <a:rPr lang="en-US" altLang="zh-CN" sz="1400" b="1" u="none" baseline="-18000" dirty="0">
                  <a:latin typeface="宋体" panose="02010600030101010101" pitchFamily="2" charset="-122"/>
                </a:rPr>
                <a:t>0</a:t>
              </a:r>
              <a:r>
                <a:rPr lang="en-US" altLang="zh-CN" sz="1400" b="1" u="none" baseline="-25000" dirty="0">
                  <a:latin typeface="宋体" panose="02010600030101010101" pitchFamily="2" charset="-122"/>
                </a:rPr>
                <a:t> 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WE#</a:t>
              </a:r>
            </a:p>
          </p:txBody>
        </p:sp>
        <p:sp>
          <p:nvSpPr>
            <p:cNvPr id="432" name="Text Box 143">
              <a:extLst>
                <a:ext uri="{FF2B5EF4-FFF2-40B4-BE49-F238E27FC236}">
                  <a16:creationId xmlns:a16="http://schemas.microsoft.com/office/drawing/2014/main" id="{698C5212-329B-485D-AFED-AC4F0585BAF6}"/>
                </a:ext>
              </a:extLst>
            </p:cNvPr>
            <p:cNvSpPr txBox="1">
              <a:spLocks noChangeArrowheads="1"/>
            </p:cNvSpPr>
            <p:nvPr>
              <p:custDataLst>
                <p:tags r:id="rId205"/>
              </p:custDataLst>
            </p:nvPr>
          </p:nvSpPr>
          <p:spPr bwMode="auto">
            <a:xfrm>
              <a:off x="3852000" y="2772000"/>
              <a:ext cx="648000" cy="540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t" anchorCtr="0"/>
            <a:lstStyle/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400" b="1" u="none" baseline="-18000" dirty="0">
                  <a:latin typeface="宋体" panose="02010600030101010101" pitchFamily="2" charset="-122"/>
                </a:rPr>
                <a:t>7</a:t>
              </a:r>
              <a:r>
                <a:rPr lang="en-US" altLang="zh-CN" sz="1400" b="1" u="none" baseline="-18000" dirty="0"/>
                <a:t>~</a:t>
              </a:r>
              <a:r>
                <a:rPr lang="en-US" altLang="zh-CN" sz="1400" b="1" u="none" baseline="-18000" dirty="0">
                  <a:latin typeface="宋体" panose="02010600030101010101" pitchFamily="2" charset="-122"/>
                </a:rPr>
                <a:t>0</a:t>
              </a:r>
              <a:r>
                <a:rPr lang="en-US" altLang="zh-CN" sz="1400" b="1" u="none" baseline="-25000" dirty="0">
                  <a:latin typeface="宋体" panose="02010600030101010101" pitchFamily="2" charset="-122"/>
                </a:rPr>
                <a:t> 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CS#</a:t>
              </a: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solidFill>
                    <a:srgbClr val="FF0000"/>
                  </a:solidFill>
                  <a:latin typeface="宋体" panose="02010600030101010101" pitchFamily="2" charset="-122"/>
                </a:rPr>
                <a:t>M</a:t>
              </a:r>
              <a:r>
                <a:rPr lang="en-US" altLang="zh-CN" sz="1600" b="1" u="none" baseline="-18000" dirty="0">
                  <a:solidFill>
                    <a:srgbClr val="FF0000"/>
                  </a:solidFill>
                  <a:latin typeface="宋体" panose="02010600030101010101" pitchFamily="2" charset="-122"/>
                </a:rPr>
                <a:t>0</a:t>
              </a:r>
            </a:p>
            <a:p>
              <a:pPr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400" b="1" u="none" baseline="-18000" dirty="0">
                  <a:latin typeface="宋体" panose="02010600030101010101" pitchFamily="2" charset="-122"/>
                </a:rPr>
                <a:t>9</a:t>
              </a:r>
              <a:r>
                <a:rPr lang="en-US" altLang="zh-CN" sz="1400" b="1" u="none" baseline="-18000" dirty="0"/>
                <a:t>~</a:t>
              </a:r>
              <a:r>
                <a:rPr lang="en-US" altLang="zh-CN" sz="1400" b="1" u="none" baseline="-18000" dirty="0">
                  <a:latin typeface="宋体" panose="02010600030101010101" pitchFamily="2" charset="-122"/>
                </a:rPr>
                <a:t>0</a:t>
              </a:r>
              <a:r>
                <a:rPr lang="en-US" altLang="zh-CN" sz="1400" b="1" u="none" baseline="-25000" dirty="0">
                  <a:latin typeface="宋体" panose="02010600030101010101" pitchFamily="2" charset="-122"/>
                </a:rPr>
                <a:t> 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WE#</a:t>
              </a:r>
            </a:p>
          </p:txBody>
        </p:sp>
      </p:grpSp>
      <p:grpSp>
        <p:nvGrpSpPr>
          <p:cNvPr id="433" name="组合 432">
            <a:extLst>
              <a:ext uri="{FF2B5EF4-FFF2-40B4-BE49-F238E27FC236}">
                <a16:creationId xmlns:a16="http://schemas.microsoft.com/office/drawing/2014/main" id="{AE867A05-B69F-468B-92E4-4D2E67AAA32B}"/>
              </a:ext>
            </a:extLst>
          </p:cNvPr>
          <p:cNvGrpSpPr/>
          <p:nvPr/>
        </p:nvGrpSpPr>
        <p:grpSpPr>
          <a:xfrm>
            <a:off x="3635896" y="3933056"/>
            <a:ext cx="2411510" cy="1296000"/>
            <a:chOff x="4824000" y="2232000"/>
            <a:chExt cx="2411510" cy="1296000"/>
          </a:xfrm>
        </p:grpSpPr>
        <p:grpSp>
          <p:nvGrpSpPr>
            <p:cNvPr id="434" name="组合 433">
              <a:extLst>
                <a:ext uri="{FF2B5EF4-FFF2-40B4-BE49-F238E27FC236}">
                  <a16:creationId xmlns:a16="http://schemas.microsoft.com/office/drawing/2014/main" id="{52883D90-54A1-4356-A3C1-47887B9706B6}"/>
                </a:ext>
              </a:extLst>
            </p:cNvPr>
            <p:cNvGrpSpPr/>
            <p:nvPr/>
          </p:nvGrpSpPr>
          <p:grpSpPr>
            <a:xfrm>
              <a:off x="4824000" y="2232000"/>
              <a:ext cx="2411510" cy="1152000"/>
              <a:chOff x="4824000" y="2232000"/>
              <a:chExt cx="2411510" cy="1152000"/>
            </a:xfrm>
          </p:grpSpPr>
          <p:sp>
            <p:nvSpPr>
              <p:cNvPr id="451" name="Rectangle 784">
                <a:extLst>
                  <a:ext uri="{FF2B5EF4-FFF2-40B4-BE49-F238E27FC236}">
                    <a16:creationId xmlns:a16="http://schemas.microsoft.com/office/drawing/2014/main" id="{D93AB2D2-3617-4BED-8F88-20F956E155DF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69"/>
                </p:custDataLst>
              </p:nvPr>
            </p:nvSpPr>
            <p:spPr bwMode="auto">
              <a:xfrm>
                <a:off x="5257671" y="2592000"/>
                <a:ext cx="864000" cy="144145"/>
              </a:xfrm>
              <a:prstGeom prst="rect">
                <a:avLst/>
              </a:prstGeom>
              <a:solidFill>
                <a:srgbClr val="99CCFF"/>
              </a:solidFill>
              <a:ln w="15875">
                <a:noFill/>
                <a:prstDash val="sysDash"/>
                <a:miter lim="800000"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zh-CN" altLang="en-US" sz="1400" u="none" dirty="0"/>
                  <a:t>响应</a:t>
                </a:r>
              </a:p>
            </p:txBody>
          </p:sp>
          <p:sp>
            <p:nvSpPr>
              <p:cNvPr id="452" name="Text Box 108">
                <a:extLst>
                  <a:ext uri="{FF2B5EF4-FFF2-40B4-BE49-F238E27FC236}">
                    <a16:creationId xmlns:a16="http://schemas.microsoft.com/office/drawing/2014/main" id="{09F4D9C5-005D-42A6-B408-3B2CA5801297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70"/>
                </p:custDataLst>
              </p:nvPr>
            </p:nvSpPr>
            <p:spPr bwMode="auto">
              <a:xfrm>
                <a:off x="4824000" y="2232195"/>
                <a:ext cx="360000" cy="10440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0" tIns="0" rIns="0" bIns="0"/>
              <a:lstStyle/>
              <a:p>
                <a:pPr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400" u="none" dirty="0">
                    <a:latin typeface="宋体" panose="02010600030101010101" pitchFamily="2" charset="-122"/>
                  </a:rPr>
                  <a:t>CLK</a:t>
                </a:r>
              </a:p>
              <a:p>
                <a:pPr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400" u="none" dirty="0">
                    <a:latin typeface="宋体" panose="02010600030101010101" pitchFamily="2" charset="-122"/>
                  </a:rPr>
                  <a:t>CS#</a:t>
                </a:r>
              </a:p>
              <a:p>
                <a:pPr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sz="1400" u="none" dirty="0">
                    <a:latin typeface="宋体" panose="02010600030101010101" pitchFamily="2" charset="-122"/>
                  </a:rPr>
                  <a:t>体</a:t>
                </a:r>
                <a:r>
                  <a:rPr lang="en-US" altLang="zh-CN" sz="1400" u="none" dirty="0">
                    <a:latin typeface="宋体" panose="02010600030101010101" pitchFamily="2" charset="-122"/>
                  </a:rPr>
                  <a:t>M</a:t>
                </a:r>
                <a:r>
                  <a:rPr lang="en-US" altLang="zh-CN" sz="1400" u="none" baseline="-14000" dirty="0">
                    <a:latin typeface="宋体" panose="02010600030101010101" pitchFamily="2" charset="-122"/>
                  </a:rPr>
                  <a:t>0</a:t>
                </a:r>
              </a:p>
              <a:p>
                <a:pPr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sz="1400" u="none" dirty="0">
                    <a:latin typeface="宋体" panose="02010600030101010101" pitchFamily="2" charset="-122"/>
                  </a:rPr>
                  <a:t>体</a:t>
                </a:r>
                <a:r>
                  <a:rPr lang="en-US" altLang="zh-CN" sz="1400" u="none" dirty="0">
                    <a:latin typeface="宋体" panose="02010600030101010101" pitchFamily="2" charset="-122"/>
                  </a:rPr>
                  <a:t>M</a:t>
                </a:r>
                <a:r>
                  <a:rPr lang="en-US" altLang="zh-CN" sz="1400" u="none" baseline="-14000" dirty="0">
                    <a:latin typeface="宋体" panose="02010600030101010101" pitchFamily="2" charset="-122"/>
                  </a:rPr>
                  <a:t>1</a:t>
                </a:r>
              </a:p>
              <a:p>
                <a:pPr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sz="1400" u="none" dirty="0">
                    <a:latin typeface="宋体" panose="02010600030101010101" pitchFamily="2" charset="-122"/>
                  </a:rPr>
                  <a:t>体</a:t>
                </a:r>
                <a:r>
                  <a:rPr lang="en-US" altLang="zh-CN" sz="1400" u="none" dirty="0">
                    <a:latin typeface="宋体" panose="02010600030101010101" pitchFamily="2" charset="-122"/>
                  </a:rPr>
                  <a:t>M</a:t>
                </a:r>
                <a:r>
                  <a:rPr lang="en-US" altLang="zh-CN" sz="1400" u="none" baseline="-14000" dirty="0">
                    <a:latin typeface="宋体" panose="02010600030101010101" pitchFamily="2" charset="-122"/>
                  </a:rPr>
                  <a:t>2</a:t>
                </a:r>
              </a:p>
              <a:p>
                <a:pPr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sz="1400" u="none" dirty="0">
                    <a:latin typeface="宋体" panose="02010600030101010101" pitchFamily="2" charset="-122"/>
                  </a:rPr>
                  <a:t>体</a:t>
                </a:r>
                <a:r>
                  <a:rPr lang="en-US" altLang="zh-CN" sz="1400" u="none" dirty="0">
                    <a:latin typeface="宋体" panose="02010600030101010101" pitchFamily="2" charset="-122"/>
                  </a:rPr>
                  <a:t>M</a:t>
                </a:r>
                <a:r>
                  <a:rPr lang="en-US" altLang="zh-CN" sz="1400" u="none" baseline="-14000" dirty="0">
                    <a:latin typeface="宋体" panose="02010600030101010101" pitchFamily="2" charset="-122"/>
                  </a:rPr>
                  <a:t>3</a:t>
                </a:r>
              </a:p>
              <a:p>
                <a:pPr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US" altLang="zh-CN" sz="1400" baseline="-14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453" name="直接连接符 452">
                <a:extLst>
                  <a:ext uri="{FF2B5EF4-FFF2-40B4-BE49-F238E27FC236}">
                    <a16:creationId xmlns:a16="http://schemas.microsoft.com/office/drawing/2014/main" id="{B090CEF0-033B-4E5A-8370-5A30ED05D85A}"/>
                  </a:ext>
                </a:extLst>
              </p:cNvPr>
              <p:cNvCxnSpPr/>
              <p:nvPr>
                <p:custDataLst>
                  <p:tags r:id="rId71"/>
                </p:custDataLst>
              </p:nvPr>
            </p:nvCxnSpPr>
            <p:spPr>
              <a:xfrm>
                <a:off x="6984000" y="2375705"/>
                <a:ext cx="0" cy="972000"/>
              </a:xfrm>
              <a:prstGeom prst="line">
                <a:avLst/>
              </a:prstGeom>
              <a:ln w="635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4" name="直接连接符 453">
                <a:extLst>
                  <a:ext uri="{FF2B5EF4-FFF2-40B4-BE49-F238E27FC236}">
                    <a16:creationId xmlns:a16="http://schemas.microsoft.com/office/drawing/2014/main" id="{4E192504-D423-495D-9AC4-166364F8017E}"/>
                  </a:ext>
                </a:extLst>
              </p:cNvPr>
              <p:cNvCxnSpPr/>
              <p:nvPr>
                <p:custDataLst>
                  <p:tags r:id="rId72"/>
                </p:custDataLst>
              </p:nvPr>
            </p:nvCxnSpPr>
            <p:spPr>
              <a:xfrm>
                <a:off x="5255766" y="2375705"/>
                <a:ext cx="0" cy="972000"/>
              </a:xfrm>
              <a:prstGeom prst="line">
                <a:avLst/>
              </a:prstGeom>
              <a:ln w="635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5" name="直接连接符 454">
                <a:extLst>
                  <a:ext uri="{FF2B5EF4-FFF2-40B4-BE49-F238E27FC236}">
                    <a16:creationId xmlns:a16="http://schemas.microsoft.com/office/drawing/2014/main" id="{7D73B229-7E2C-40B3-AE98-0768CA3A1692}"/>
                  </a:ext>
                </a:extLst>
              </p:cNvPr>
              <p:cNvCxnSpPr/>
              <p:nvPr>
                <p:custDataLst>
                  <p:tags r:id="rId73"/>
                </p:custDataLst>
              </p:nvPr>
            </p:nvCxnSpPr>
            <p:spPr>
              <a:xfrm>
                <a:off x="6120000" y="2375705"/>
                <a:ext cx="0" cy="972000"/>
              </a:xfrm>
              <a:prstGeom prst="line">
                <a:avLst/>
              </a:prstGeom>
              <a:ln w="635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6" name="直接连接符 455">
                <a:extLst>
                  <a:ext uri="{FF2B5EF4-FFF2-40B4-BE49-F238E27FC236}">
                    <a16:creationId xmlns:a16="http://schemas.microsoft.com/office/drawing/2014/main" id="{E3F64FC2-F9AB-4A94-86C4-84740DFCF567}"/>
                  </a:ext>
                </a:extLst>
              </p:cNvPr>
              <p:cNvCxnSpPr/>
              <p:nvPr>
                <p:custDataLst>
                  <p:tags r:id="rId74"/>
                </p:custDataLst>
              </p:nvPr>
            </p:nvCxnSpPr>
            <p:spPr>
              <a:xfrm>
                <a:off x="5472000" y="2592000"/>
                <a:ext cx="0" cy="144145"/>
              </a:xfrm>
              <a:prstGeom prst="line">
                <a:avLst/>
              </a:prstGeom>
              <a:ln w="12700">
                <a:solidFill>
                  <a:srgbClr val="FF33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7" name="直接连接符 456">
                <a:extLst>
                  <a:ext uri="{FF2B5EF4-FFF2-40B4-BE49-F238E27FC236}">
                    <a16:creationId xmlns:a16="http://schemas.microsoft.com/office/drawing/2014/main" id="{7ED7D0E7-1113-4D37-B5D5-C0F1D4B8DA50}"/>
                  </a:ext>
                </a:extLst>
              </p:cNvPr>
              <p:cNvCxnSpPr/>
              <p:nvPr>
                <p:custDataLst>
                  <p:tags r:id="rId75"/>
                </p:custDataLst>
              </p:nvPr>
            </p:nvCxnSpPr>
            <p:spPr>
              <a:xfrm>
                <a:off x="5255766" y="2736000"/>
                <a:ext cx="216000" cy="0"/>
              </a:xfrm>
              <a:prstGeom prst="line">
                <a:avLst/>
              </a:prstGeom>
              <a:ln w="12700">
                <a:solidFill>
                  <a:srgbClr val="FF33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8" name="直接连接符 457">
                <a:extLst>
                  <a:ext uri="{FF2B5EF4-FFF2-40B4-BE49-F238E27FC236}">
                    <a16:creationId xmlns:a16="http://schemas.microsoft.com/office/drawing/2014/main" id="{9D9B8750-7CA0-48D1-A3E3-F807081A3474}"/>
                  </a:ext>
                </a:extLst>
              </p:cNvPr>
              <p:cNvCxnSpPr/>
              <p:nvPr>
                <p:custDataLst>
                  <p:tags r:id="rId76"/>
                </p:custDataLst>
              </p:nvPr>
            </p:nvCxnSpPr>
            <p:spPr>
              <a:xfrm>
                <a:off x="5255766" y="2592000"/>
                <a:ext cx="0" cy="144145"/>
              </a:xfrm>
              <a:prstGeom prst="line">
                <a:avLst/>
              </a:prstGeom>
              <a:ln w="12700">
                <a:solidFill>
                  <a:srgbClr val="FF33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9" name="直接连接符 458">
                <a:extLst>
                  <a:ext uri="{FF2B5EF4-FFF2-40B4-BE49-F238E27FC236}">
                    <a16:creationId xmlns:a16="http://schemas.microsoft.com/office/drawing/2014/main" id="{DF70D18F-A889-4E3E-A3D7-0B4523462611}"/>
                  </a:ext>
                </a:extLst>
              </p:cNvPr>
              <p:cNvCxnSpPr/>
              <p:nvPr>
                <p:custDataLst>
                  <p:tags r:id="rId77"/>
                </p:custDataLst>
              </p:nvPr>
            </p:nvCxnSpPr>
            <p:spPr>
              <a:xfrm>
                <a:off x="5184000" y="2592000"/>
                <a:ext cx="72000" cy="0"/>
              </a:xfrm>
              <a:prstGeom prst="line">
                <a:avLst/>
              </a:prstGeom>
              <a:ln w="12700">
                <a:solidFill>
                  <a:srgbClr val="FF33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0" name="直接连接符 459">
                <a:extLst>
                  <a:ext uri="{FF2B5EF4-FFF2-40B4-BE49-F238E27FC236}">
                    <a16:creationId xmlns:a16="http://schemas.microsoft.com/office/drawing/2014/main" id="{6BBA2949-093D-447B-AF8C-734E3A311163}"/>
                  </a:ext>
                </a:extLst>
              </p:cNvPr>
              <p:cNvCxnSpPr/>
              <p:nvPr>
                <p:custDataLst>
                  <p:tags r:id="rId78"/>
                </p:custDataLst>
              </p:nvPr>
            </p:nvCxnSpPr>
            <p:spPr>
              <a:xfrm>
                <a:off x="5472000" y="2592000"/>
                <a:ext cx="648000" cy="0"/>
              </a:xfrm>
              <a:prstGeom prst="line">
                <a:avLst/>
              </a:prstGeom>
              <a:ln w="12700">
                <a:solidFill>
                  <a:srgbClr val="FF33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1" name="直接连接符 460">
                <a:extLst>
                  <a:ext uri="{FF2B5EF4-FFF2-40B4-BE49-F238E27FC236}">
                    <a16:creationId xmlns:a16="http://schemas.microsoft.com/office/drawing/2014/main" id="{647080B7-2E11-4ABB-B8F0-89F8AA781A70}"/>
                  </a:ext>
                </a:extLst>
              </p:cNvPr>
              <p:cNvCxnSpPr/>
              <p:nvPr>
                <p:custDataLst>
                  <p:tags r:id="rId79"/>
                </p:custDataLst>
              </p:nvPr>
            </p:nvCxnSpPr>
            <p:spPr>
              <a:xfrm>
                <a:off x="6120000" y="2592000"/>
                <a:ext cx="0" cy="144145"/>
              </a:xfrm>
              <a:prstGeom prst="line">
                <a:avLst/>
              </a:prstGeom>
              <a:ln w="12700">
                <a:solidFill>
                  <a:srgbClr val="FF3399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2" name="直接连接符 461">
                <a:extLst>
                  <a:ext uri="{FF2B5EF4-FFF2-40B4-BE49-F238E27FC236}">
                    <a16:creationId xmlns:a16="http://schemas.microsoft.com/office/drawing/2014/main" id="{7AC319C7-5EC8-45B6-B220-9B6CCDE24481}"/>
                  </a:ext>
                </a:extLst>
              </p:cNvPr>
              <p:cNvCxnSpPr/>
              <p:nvPr>
                <p:custDataLst>
                  <p:tags r:id="rId80"/>
                </p:custDataLst>
              </p:nvPr>
            </p:nvCxnSpPr>
            <p:spPr>
              <a:xfrm>
                <a:off x="6336000" y="2592000"/>
                <a:ext cx="720000" cy="0"/>
              </a:xfrm>
              <a:prstGeom prst="line">
                <a:avLst/>
              </a:prstGeom>
              <a:ln w="12700">
                <a:solidFill>
                  <a:srgbClr val="FF3399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3" name="直接连接符 462">
                <a:extLst>
                  <a:ext uri="{FF2B5EF4-FFF2-40B4-BE49-F238E27FC236}">
                    <a16:creationId xmlns:a16="http://schemas.microsoft.com/office/drawing/2014/main" id="{0E2E7AE1-9E53-4F60-978D-9E8CC7627D6F}"/>
                  </a:ext>
                </a:extLst>
              </p:cNvPr>
              <p:cNvCxnSpPr/>
              <p:nvPr>
                <p:custDataLst>
                  <p:tags r:id="rId81"/>
                </p:custDataLst>
              </p:nvPr>
            </p:nvCxnSpPr>
            <p:spPr>
              <a:xfrm>
                <a:off x="6336000" y="2592000"/>
                <a:ext cx="0" cy="144145"/>
              </a:xfrm>
              <a:prstGeom prst="line">
                <a:avLst/>
              </a:prstGeom>
              <a:ln w="12700">
                <a:solidFill>
                  <a:srgbClr val="FF3399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4" name="直接连接符 463">
                <a:extLst>
                  <a:ext uri="{FF2B5EF4-FFF2-40B4-BE49-F238E27FC236}">
                    <a16:creationId xmlns:a16="http://schemas.microsoft.com/office/drawing/2014/main" id="{40ACFEEE-A720-48DD-A0C9-3C62D7812372}"/>
                  </a:ext>
                </a:extLst>
              </p:cNvPr>
              <p:cNvCxnSpPr/>
              <p:nvPr>
                <p:custDataLst>
                  <p:tags r:id="rId82"/>
                </p:custDataLst>
              </p:nvPr>
            </p:nvCxnSpPr>
            <p:spPr>
              <a:xfrm>
                <a:off x="6120000" y="2736000"/>
                <a:ext cx="216000" cy="0"/>
              </a:xfrm>
              <a:prstGeom prst="line">
                <a:avLst/>
              </a:prstGeom>
              <a:ln w="12700">
                <a:solidFill>
                  <a:srgbClr val="FF3399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5" name="直接连接符 464">
                <a:extLst>
                  <a:ext uri="{FF2B5EF4-FFF2-40B4-BE49-F238E27FC236}">
                    <a16:creationId xmlns:a16="http://schemas.microsoft.com/office/drawing/2014/main" id="{77EB6411-FE2C-4716-8889-2D489358E2F7}"/>
                  </a:ext>
                </a:extLst>
              </p:cNvPr>
              <p:cNvCxnSpPr/>
              <p:nvPr>
                <p:custDataLst>
                  <p:tags r:id="rId83"/>
                </p:custDataLst>
              </p:nvPr>
            </p:nvCxnSpPr>
            <p:spPr>
              <a:xfrm>
                <a:off x="5184000" y="2376340"/>
                <a:ext cx="72000" cy="0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6" name="直接连接符 465">
                <a:extLst>
                  <a:ext uri="{FF2B5EF4-FFF2-40B4-BE49-F238E27FC236}">
                    <a16:creationId xmlns:a16="http://schemas.microsoft.com/office/drawing/2014/main" id="{3DA2063B-99FD-4F90-BF54-EA4A6BC64106}"/>
                  </a:ext>
                </a:extLst>
              </p:cNvPr>
              <p:cNvCxnSpPr/>
              <p:nvPr>
                <p:custDataLst>
                  <p:tags r:id="rId84"/>
                </p:custDataLst>
              </p:nvPr>
            </p:nvCxnSpPr>
            <p:spPr>
              <a:xfrm>
                <a:off x="5364000" y="2232195"/>
                <a:ext cx="0" cy="144145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7" name="直接连接符 466">
                <a:extLst>
                  <a:ext uri="{FF2B5EF4-FFF2-40B4-BE49-F238E27FC236}">
                    <a16:creationId xmlns:a16="http://schemas.microsoft.com/office/drawing/2014/main" id="{623B56FE-B82A-43D3-9394-E812B300A50C}"/>
                  </a:ext>
                </a:extLst>
              </p:cNvPr>
              <p:cNvCxnSpPr/>
              <p:nvPr>
                <p:custDataLst>
                  <p:tags r:id="rId85"/>
                </p:custDataLst>
              </p:nvPr>
            </p:nvCxnSpPr>
            <p:spPr>
              <a:xfrm>
                <a:off x="5255766" y="2232195"/>
                <a:ext cx="108000" cy="0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8" name="直接连接符 467">
                <a:extLst>
                  <a:ext uri="{FF2B5EF4-FFF2-40B4-BE49-F238E27FC236}">
                    <a16:creationId xmlns:a16="http://schemas.microsoft.com/office/drawing/2014/main" id="{1B9423AF-636C-41C2-8C25-E3DDE7DABD7F}"/>
                  </a:ext>
                </a:extLst>
              </p:cNvPr>
              <p:cNvCxnSpPr/>
              <p:nvPr>
                <p:custDataLst>
                  <p:tags r:id="rId86"/>
                </p:custDataLst>
              </p:nvPr>
            </p:nvCxnSpPr>
            <p:spPr>
              <a:xfrm>
                <a:off x="5255766" y="2232195"/>
                <a:ext cx="0" cy="144145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9" name="直接连接符 468">
                <a:extLst>
                  <a:ext uri="{FF2B5EF4-FFF2-40B4-BE49-F238E27FC236}">
                    <a16:creationId xmlns:a16="http://schemas.microsoft.com/office/drawing/2014/main" id="{41BCB96B-5809-458C-BB6B-B971444F3B05}"/>
                  </a:ext>
                </a:extLst>
              </p:cNvPr>
              <p:cNvCxnSpPr/>
              <p:nvPr>
                <p:custDataLst>
                  <p:tags r:id="rId87"/>
                </p:custDataLst>
              </p:nvPr>
            </p:nvCxnSpPr>
            <p:spPr>
              <a:xfrm>
                <a:off x="5364000" y="2376340"/>
                <a:ext cx="108000" cy="0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0" name="直接连接符 469">
                <a:extLst>
                  <a:ext uri="{FF2B5EF4-FFF2-40B4-BE49-F238E27FC236}">
                    <a16:creationId xmlns:a16="http://schemas.microsoft.com/office/drawing/2014/main" id="{5903C272-11A7-406E-BDBC-929323553BD0}"/>
                  </a:ext>
                </a:extLst>
              </p:cNvPr>
              <p:cNvCxnSpPr/>
              <p:nvPr>
                <p:custDataLst>
                  <p:tags r:id="rId88"/>
                </p:custDataLst>
              </p:nvPr>
            </p:nvCxnSpPr>
            <p:spPr>
              <a:xfrm>
                <a:off x="5580000" y="2232195"/>
                <a:ext cx="0" cy="144145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" name="直接连接符 470">
                <a:extLst>
                  <a:ext uri="{FF2B5EF4-FFF2-40B4-BE49-F238E27FC236}">
                    <a16:creationId xmlns:a16="http://schemas.microsoft.com/office/drawing/2014/main" id="{5656FF24-D417-4EF9-8CCA-7BB05570062B}"/>
                  </a:ext>
                </a:extLst>
              </p:cNvPr>
              <p:cNvCxnSpPr/>
              <p:nvPr>
                <p:custDataLst>
                  <p:tags r:id="rId89"/>
                </p:custDataLst>
              </p:nvPr>
            </p:nvCxnSpPr>
            <p:spPr>
              <a:xfrm>
                <a:off x="5472000" y="2232195"/>
                <a:ext cx="108000" cy="0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2" name="直接连接符 471">
                <a:extLst>
                  <a:ext uri="{FF2B5EF4-FFF2-40B4-BE49-F238E27FC236}">
                    <a16:creationId xmlns:a16="http://schemas.microsoft.com/office/drawing/2014/main" id="{0A9219D6-CE47-4517-898A-C9C62D889242}"/>
                  </a:ext>
                </a:extLst>
              </p:cNvPr>
              <p:cNvCxnSpPr/>
              <p:nvPr>
                <p:custDataLst>
                  <p:tags r:id="rId90"/>
                </p:custDataLst>
              </p:nvPr>
            </p:nvCxnSpPr>
            <p:spPr>
              <a:xfrm>
                <a:off x="5472000" y="2232195"/>
                <a:ext cx="0" cy="144145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3" name="直接连接符 472">
                <a:extLst>
                  <a:ext uri="{FF2B5EF4-FFF2-40B4-BE49-F238E27FC236}">
                    <a16:creationId xmlns:a16="http://schemas.microsoft.com/office/drawing/2014/main" id="{A35C6740-2A3F-4E2F-952C-138B55B86DCE}"/>
                  </a:ext>
                </a:extLst>
              </p:cNvPr>
              <p:cNvCxnSpPr/>
              <p:nvPr>
                <p:custDataLst>
                  <p:tags r:id="rId91"/>
                </p:custDataLst>
              </p:nvPr>
            </p:nvCxnSpPr>
            <p:spPr>
              <a:xfrm>
                <a:off x="5580000" y="2376340"/>
                <a:ext cx="108000" cy="0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4" name="直接连接符 473">
                <a:extLst>
                  <a:ext uri="{FF2B5EF4-FFF2-40B4-BE49-F238E27FC236}">
                    <a16:creationId xmlns:a16="http://schemas.microsoft.com/office/drawing/2014/main" id="{94D6AB2D-D736-4B4C-A10C-D1703959F603}"/>
                  </a:ext>
                </a:extLst>
              </p:cNvPr>
              <p:cNvCxnSpPr/>
              <p:nvPr>
                <p:custDataLst>
                  <p:tags r:id="rId92"/>
                </p:custDataLst>
              </p:nvPr>
            </p:nvCxnSpPr>
            <p:spPr>
              <a:xfrm>
                <a:off x="5796000" y="2232195"/>
                <a:ext cx="0" cy="144145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5" name="直接连接符 474">
                <a:extLst>
                  <a:ext uri="{FF2B5EF4-FFF2-40B4-BE49-F238E27FC236}">
                    <a16:creationId xmlns:a16="http://schemas.microsoft.com/office/drawing/2014/main" id="{81D394AE-FE0E-420D-910E-649C62AA806C}"/>
                  </a:ext>
                </a:extLst>
              </p:cNvPr>
              <p:cNvCxnSpPr/>
              <p:nvPr>
                <p:custDataLst>
                  <p:tags r:id="rId93"/>
                </p:custDataLst>
              </p:nvPr>
            </p:nvCxnSpPr>
            <p:spPr>
              <a:xfrm>
                <a:off x="5688000" y="2232195"/>
                <a:ext cx="108000" cy="0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6" name="直接连接符 475">
                <a:extLst>
                  <a:ext uri="{FF2B5EF4-FFF2-40B4-BE49-F238E27FC236}">
                    <a16:creationId xmlns:a16="http://schemas.microsoft.com/office/drawing/2014/main" id="{5593B0F8-4BE4-45BB-84E6-CCFCB2AED27F}"/>
                  </a:ext>
                </a:extLst>
              </p:cNvPr>
              <p:cNvCxnSpPr/>
              <p:nvPr>
                <p:custDataLst>
                  <p:tags r:id="rId94"/>
                </p:custDataLst>
              </p:nvPr>
            </p:nvCxnSpPr>
            <p:spPr>
              <a:xfrm>
                <a:off x="5688000" y="2232195"/>
                <a:ext cx="0" cy="144145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7" name="直接连接符 476">
                <a:extLst>
                  <a:ext uri="{FF2B5EF4-FFF2-40B4-BE49-F238E27FC236}">
                    <a16:creationId xmlns:a16="http://schemas.microsoft.com/office/drawing/2014/main" id="{620393BA-60CE-412D-8D96-7BF50F49F4E5}"/>
                  </a:ext>
                </a:extLst>
              </p:cNvPr>
              <p:cNvCxnSpPr/>
              <p:nvPr>
                <p:custDataLst>
                  <p:tags r:id="rId95"/>
                </p:custDataLst>
              </p:nvPr>
            </p:nvCxnSpPr>
            <p:spPr>
              <a:xfrm>
                <a:off x="5796000" y="2376340"/>
                <a:ext cx="108000" cy="0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8" name="直接连接符 477">
                <a:extLst>
                  <a:ext uri="{FF2B5EF4-FFF2-40B4-BE49-F238E27FC236}">
                    <a16:creationId xmlns:a16="http://schemas.microsoft.com/office/drawing/2014/main" id="{B200489F-97F5-42AE-A92A-F0EF1FBDD6E7}"/>
                  </a:ext>
                </a:extLst>
              </p:cNvPr>
              <p:cNvCxnSpPr/>
              <p:nvPr>
                <p:custDataLst>
                  <p:tags r:id="rId96"/>
                </p:custDataLst>
              </p:nvPr>
            </p:nvCxnSpPr>
            <p:spPr>
              <a:xfrm>
                <a:off x="5904000" y="2232000"/>
                <a:ext cx="108000" cy="0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9" name="直接连接符 478">
                <a:extLst>
                  <a:ext uri="{FF2B5EF4-FFF2-40B4-BE49-F238E27FC236}">
                    <a16:creationId xmlns:a16="http://schemas.microsoft.com/office/drawing/2014/main" id="{716F34B3-A9DE-43C6-A4F1-A15FD5B82EB3}"/>
                  </a:ext>
                </a:extLst>
              </p:cNvPr>
              <p:cNvCxnSpPr/>
              <p:nvPr>
                <p:custDataLst>
                  <p:tags r:id="rId97"/>
                </p:custDataLst>
              </p:nvPr>
            </p:nvCxnSpPr>
            <p:spPr>
              <a:xfrm>
                <a:off x="5904000" y="2232000"/>
                <a:ext cx="0" cy="144145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0" name="直接连接符 479">
                <a:extLst>
                  <a:ext uri="{FF2B5EF4-FFF2-40B4-BE49-F238E27FC236}">
                    <a16:creationId xmlns:a16="http://schemas.microsoft.com/office/drawing/2014/main" id="{35B61DF7-9003-46ED-9E0B-8B4B904F631D}"/>
                  </a:ext>
                </a:extLst>
              </p:cNvPr>
              <p:cNvCxnSpPr/>
              <p:nvPr>
                <p:custDataLst>
                  <p:tags r:id="rId98"/>
                </p:custDataLst>
              </p:nvPr>
            </p:nvCxnSpPr>
            <p:spPr>
              <a:xfrm>
                <a:off x="6012000" y="2232195"/>
                <a:ext cx="0" cy="144145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" name="直接连接符 480">
                <a:extLst>
                  <a:ext uri="{FF2B5EF4-FFF2-40B4-BE49-F238E27FC236}">
                    <a16:creationId xmlns:a16="http://schemas.microsoft.com/office/drawing/2014/main" id="{FBA91431-2873-41BE-B3F7-9B2BE6382397}"/>
                  </a:ext>
                </a:extLst>
              </p:cNvPr>
              <p:cNvCxnSpPr/>
              <p:nvPr>
                <p:custDataLst>
                  <p:tags r:id="rId99"/>
                </p:custDataLst>
              </p:nvPr>
            </p:nvCxnSpPr>
            <p:spPr>
              <a:xfrm>
                <a:off x="6012000" y="2376340"/>
                <a:ext cx="108000" cy="0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2" name="直接连接符 481">
                <a:extLst>
                  <a:ext uri="{FF2B5EF4-FFF2-40B4-BE49-F238E27FC236}">
                    <a16:creationId xmlns:a16="http://schemas.microsoft.com/office/drawing/2014/main" id="{4CF12CA3-A0E8-46EE-8A30-1F2ED3F38CC0}"/>
                  </a:ext>
                </a:extLst>
              </p:cNvPr>
              <p:cNvCxnSpPr/>
              <p:nvPr>
                <p:custDataLst>
                  <p:tags r:id="rId100"/>
                </p:custDataLst>
              </p:nvPr>
            </p:nvCxnSpPr>
            <p:spPr>
              <a:xfrm>
                <a:off x="6228000" y="2232195"/>
                <a:ext cx="0" cy="144145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3" name="直接连接符 482">
                <a:extLst>
                  <a:ext uri="{FF2B5EF4-FFF2-40B4-BE49-F238E27FC236}">
                    <a16:creationId xmlns:a16="http://schemas.microsoft.com/office/drawing/2014/main" id="{40164F25-192D-435C-B403-9D18DD7C694E}"/>
                  </a:ext>
                </a:extLst>
              </p:cNvPr>
              <p:cNvCxnSpPr/>
              <p:nvPr>
                <p:custDataLst>
                  <p:tags r:id="rId101"/>
                </p:custDataLst>
              </p:nvPr>
            </p:nvCxnSpPr>
            <p:spPr>
              <a:xfrm>
                <a:off x="6120291" y="2232195"/>
                <a:ext cx="108000" cy="0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4" name="直接连接符 483">
                <a:extLst>
                  <a:ext uri="{FF2B5EF4-FFF2-40B4-BE49-F238E27FC236}">
                    <a16:creationId xmlns:a16="http://schemas.microsoft.com/office/drawing/2014/main" id="{AFAC3816-BFF5-4C14-8BB9-FA0C5372396C}"/>
                  </a:ext>
                </a:extLst>
              </p:cNvPr>
              <p:cNvCxnSpPr/>
              <p:nvPr>
                <p:custDataLst>
                  <p:tags r:id="rId102"/>
                </p:custDataLst>
              </p:nvPr>
            </p:nvCxnSpPr>
            <p:spPr>
              <a:xfrm>
                <a:off x="6120291" y="2232195"/>
                <a:ext cx="0" cy="144145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直接连接符 484">
                <a:extLst>
                  <a:ext uri="{FF2B5EF4-FFF2-40B4-BE49-F238E27FC236}">
                    <a16:creationId xmlns:a16="http://schemas.microsoft.com/office/drawing/2014/main" id="{438E5248-7325-4D6D-97E7-442ABB8B0C95}"/>
                  </a:ext>
                </a:extLst>
              </p:cNvPr>
              <p:cNvCxnSpPr/>
              <p:nvPr>
                <p:custDataLst>
                  <p:tags r:id="rId103"/>
                </p:custDataLst>
              </p:nvPr>
            </p:nvCxnSpPr>
            <p:spPr>
              <a:xfrm>
                <a:off x="6228000" y="2376340"/>
                <a:ext cx="108000" cy="0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直接连接符 485">
                <a:extLst>
                  <a:ext uri="{FF2B5EF4-FFF2-40B4-BE49-F238E27FC236}">
                    <a16:creationId xmlns:a16="http://schemas.microsoft.com/office/drawing/2014/main" id="{BE095893-CB26-42D2-B591-A7C403B503B4}"/>
                  </a:ext>
                </a:extLst>
              </p:cNvPr>
              <p:cNvCxnSpPr/>
              <p:nvPr>
                <p:custDataLst>
                  <p:tags r:id="rId104"/>
                </p:custDataLst>
              </p:nvPr>
            </p:nvCxnSpPr>
            <p:spPr>
              <a:xfrm>
                <a:off x="6444000" y="2232195"/>
                <a:ext cx="0" cy="144145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直接连接符 486">
                <a:extLst>
                  <a:ext uri="{FF2B5EF4-FFF2-40B4-BE49-F238E27FC236}">
                    <a16:creationId xmlns:a16="http://schemas.microsoft.com/office/drawing/2014/main" id="{E4E69AE6-A867-4394-87D8-BB3BBDECBBD0}"/>
                  </a:ext>
                </a:extLst>
              </p:cNvPr>
              <p:cNvCxnSpPr/>
              <p:nvPr>
                <p:custDataLst>
                  <p:tags r:id="rId105"/>
                </p:custDataLst>
              </p:nvPr>
            </p:nvCxnSpPr>
            <p:spPr>
              <a:xfrm>
                <a:off x="6336000" y="2232195"/>
                <a:ext cx="108000" cy="0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直接连接符 487">
                <a:extLst>
                  <a:ext uri="{FF2B5EF4-FFF2-40B4-BE49-F238E27FC236}">
                    <a16:creationId xmlns:a16="http://schemas.microsoft.com/office/drawing/2014/main" id="{C128259A-5EE8-470F-9C1E-30FB9F4099D0}"/>
                  </a:ext>
                </a:extLst>
              </p:cNvPr>
              <p:cNvCxnSpPr/>
              <p:nvPr>
                <p:custDataLst>
                  <p:tags r:id="rId106"/>
                </p:custDataLst>
              </p:nvPr>
            </p:nvCxnSpPr>
            <p:spPr>
              <a:xfrm>
                <a:off x="6336000" y="2232195"/>
                <a:ext cx="0" cy="144145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直接连接符 488">
                <a:extLst>
                  <a:ext uri="{FF2B5EF4-FFF2-40B4-BE49-F238E27FC236}">
                    <a16:creationId xmlns:a16="http://schemas.microsoft.com/office/drawing/2014/main" id="{39883059-EA30-4D5A-A1FC-97AE735B0C94}"/>
                  </a:ext>
                </a:extLst>
              </p:cNvPr>
              <p:cNvCxnSpPr/>
              <p:nvPr>
                <p:custDataLst>
                  <p:tags r:id="rId107"/>
                </p:custDataLst>
              </p:nvPr>
            </p:nvCxnSpPr>
            <p:spPr>
              <a:xfrm>
                <a:off x="6444000" y="2376340"/>
                <a:ext cx="108000" cy="0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0" name="直接连接符 489">
                <a:extLst>
                  <a:ext uri="{FF2B5EF4-FFF2-40B4-BE49-F238E27FC236}">
                    <a16:creationId xmlns:a16="http://schemas.microsoft.com/office/drawing/2014/main" id="{ED30333F-29C9-4292-AB00-BF1D1668E90A}"/>
                  </a:ext>
                </a:extLst>
              </p:cNvPr>
              <p:cNvCxnSpPr/>
              <p:nvPr>
                <p:custDataLst>
                  <p:tags r:id="rId108"/>
                </p:custDataLst>
              </p:nvPr>
            </p:nvCxnSpPr>
            <p:spPr>
              <a:xfrm>
                <a:off x="6660000" y="2232195"/>
                <a:ext cx="0" cy="144145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1" name="直接连接符 490">
                <a:extLst>
                  <a:ext uri="{FF2B5EF4-FFF2-40B4-BE49-F238E27FC236}">
                    <a16:creationId xmlns:a16="http://schemas.microsoft.com/office/drawing/2014/main" id="{4F5D7BDD-4AED-45B6-9D8E-54B8D270739D}"/>
                  </a:ext>
                </a:extLst>
              </p:cNvPr>
              <p:cNvCxnSpPr/>
              <p:nvPr>
                <p:custDataLst>
                  <p:tags r:id="rId109"/>
                </p:custDataLst>
              </p:nvPr>
            </p:nvCxnSpPr>
            <p:spPr>
              <a:xfrm>
                <a:off x="6552000" y="2232195"/>
                <a:ext cx="108000" cy="0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直接连接符 491">
                <a:extLst>
                  <a:ext uri="{FF2B5EF4-FFF2-40B4-BE49-F238E27FC236}">
                    <a16:creationId xmlns:a16="http://schemas.microsoft.com/office/drawing/2014/main" id="{563BB0D2-F1B4-4A88-9DC7-12AFDD50EB46}"/>
                  </a:ext>
                </a:extLst>
              </p:cNvPr>
              <p:cNvCxnSpPr/>
              <p:nvPr>
                <p:custDataLst>
                  <p:tags r:id="rId110"/>
                </p:custDataLst>
              </p:nvPr>
            </p:nvCxnSpPr>
            <p:spPr>
              <a:xfrm>
                <a:off x="6552000" y="2232195"/>
                <a:ext cx="0" cy="144145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直接连接符 492">
                <a:extLst>
                  <a:ext uri="{FF2B5EF4-FFF2-40B4-BE49-F238E27FC236}">
                    <a16:creationId xmlns:a16="http://schemas.microsoft.com/office/drawing/2014/main" id="{5B8BEB39-F63D-4F26-A86E-026BE3C0271C}"/>
                  </a:ext>
                </a:extLst>
              </p:cNvPr>
              <p:cNvCxnSpPr/>
              <p:nvPr>
                <p:custDataLst>
                  <p:tags r:id="rId111"/>
                </p:custDataLst>
              </p:nvPr>
            </p:nvCxnSpPr>
            <p:spPr>
              <a:xfrm>
                <a:off x="6660000" y="2376340"/>
                <a:ext cx="108000" cy="0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直接连接符 493">
                <a:extLst>
                  <a:ext uri="{FF2B5EF4-FFF2-40B4-BE49-F238E27FC236}">
                    <a16:creationId xmlns:a16="http://schemas.microsoft.com/office/drawing/2014/main" id="{0D604244-B57E-40C2-BBA8-C7B5E9DB50AB}"/>
                  </a:ext>
                </a:extLst>
              </p:cNvPr>
              <p:cNvCxnSpPr/>
              <p:nvPr>
                <p:custDataLst>
                  <p:tags r:id="rId112"/>
                </p:custDataLst>
              </p:nvPr>
            </p:nvCxnSpPr>
            <p:spPr>
              <a:xfrm>
                <a:off x="6876000" y="2232195"/>
                <a:ext cx="0" cy="144145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直接连接符 494">
                <a:extLst>
                  <a:ext uri="{FF2B5EF4-FFF2-40B4-BE49-F238E27FC236}">
                    <a16:creationId xmlns:a16="http://schemas.microsoft.com/office/drawing/2014/main" id="{35B4B6F9-19FE-4E0D-93DF-FF100D60266F}"/>
                  </a:ext>
                </a:extLst>
              </p:cNvPr>
              <p:cNvCxnSpPr/>
              <p:nvPr>
                <p:custDataLst>
                  <p:tags r:id="rId113"/>
                </p:custDataLst>
              </p:nvPr>
            </p:nvCxnSpPr>
            <p:spPr>
              <a:xfrm>
                <a:off x="6768000" y="2232195"/>
                <a:ext cx="108000" cy="0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直接连接符 495">
                <a:extLst>
                  <a:ext uri="{FF2B5EF4-FFF2-40B4-BE49-F238E27FC236}">
                    <a16:creationId xmlns:a16="http://schemas.microsoft.com/office/drawing/2014/main" id="{7D0E6357-8EAF-4430-B117-90428B8F54C0}"/>
                  </a:ext>
                </a:extLst>
              </p:cNvPr>
              <p:cNvCxnSpPr/>
              <p:nvPr>
                <p:custDataLst>
                  <p:tags r:id="rId114"/>
                </p:custDataLst>
              </p:nvPr>
            </p:nvCxnSpPr>
            <p:spPr>
              <a:xfrm>
                <a:off x="6768000" y="2232195"/>
                <a:ext cx="0" cy="144145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直接连接符 496">
                <a:extLst>
                  <a:ext uri="{FF2B5EF4-FFF2-40B4-BE49-F238E27FC236}">
                    <a16:creationId xmlns:a16="http://schemas.microsoft.com/office/drawing/2014/main" id="{DC2150DE-0BE5-418D-BAEC-D9EB3E4B96BC}"/>
                  </a:ext>
                </a:extLst>
              </p:cNvPr>
              <p:cNvCxnSpPr/>
              <p:nvPr>
                <p:custDataLst>
                  <p:tags r:id="rId115"/>
                </p:custDataLst>
              </p:nvPr>
            </p:nvCxnSpPr>
            <p:spPr>
              <a:xfrm>
                <a:off x="6876000" y="2376340"/>
                <a:ext cx="108000" cy="0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8" name="直接连接符 497">
                <a:extLst>
                  <a:ext uri="{FF2B5EF4-FFF2-40B4-BE49-F238E27FC236}">
                    <a16:creationId xmlns:a16="http://schemas.microsoft.com/office/drawing/2014/main" id="{C28ADB14-735D-4166-B04C-9C58B19F8194}"/>
                  </a:ext>
                </a:extLst>
              </p:cNvPr>
              <p:cNvCxnSpPr/>
              <p:nvPr>
                <p:custDataLst>
                  <p:tags r:id="rId116"/>
                </p:custDataLst>
              </p:nvPr>
            </p:nvCxnSpPr>
            <p:spPr>
              <a:xfrm>
                <a:off x="6984000" y="2232195"/>
                <a:ext cx="0" cy="144145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9" name="直接连接符 498">
                <a:extLst>
                  <a:ext uri="{FF2B5EF4-FFF2-40B4-BE49-F238E27FC236}">
                    <a16:creationId xmlns:a16="http://schemas.microsoft.com/office/drawing/2014/main" id="{44955096-E955-41C6-840D-52C82994EAB5}"/>
                  </a:ext>
                </a:extLst>
              </p:cNvPr>
              <p:cNvCxnSpPr/>
              <p:nvPr>
                <p:custDataLst>
                  <p:tags r:id="rId117"/>
                </p:custDataLst>
              </p:nvPr>
            </p:nvCxnSpPr>
            <p:spPr>
              <a:xfrm>
                <a:off x="6984000" y="2232195"/>
                <a:ext cx="72000" cy="0"/>
              </a:xfrm>
              <a:prstGeom prst="line">
                <a:avLst/>
              </a:prstGeom>
              <a:ln w="127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0" name="Rectangle 784">
                <a:extLst>
                  <a:ext uri="{FF2B5EF4-FFF2-40B4-BE49-F238E27FC236}">
                    <a16:creationId xmlns:a16="http://schemas.microsoft.com/office/drawing/2014/main" id="{CB9BBE36-54FB-4AD6-BD0D-E3D1568B9720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18"/>
                </p:custDataLst>
              </p:nvPr>
            </p:nvSpPr>
            <p:spPr bwMode="auto">
              <a:xfrm>
                <a:off x="5472000" y="2772000"/>
                <a:ext cx="864000" cy="144145"/>
              </a:xfrm>
              <a:prstGeom prst="rect">
                <a:avLst/>
              </a:prstGeom>
              <a:solidFill>
                <a:srgbClr val="99CCFF"/>
              </a:solidFill>
              <a:ln w="15875">
                <a:noFill/>
                <a:prstDash val="sysDash"/>
                <a:miter lim="800000"/>
              </a:ln>
              <a:effectLst/>
            </p:spPr>
            <p:txBody>
              <a:bodyPr wrap="none" anchor="ctr"/>
              <a:lstStyle/>
              <a:p>
                <a:pPr algn="ctr"/>
                <a:endParaRPr lang="zh-CN" altLang="en-US" sz="1400" u="none" dirty="0"/>
              </a:p>
            </p:txBody>
          </p:sp>
          <p:cxnSp>
            <p:nvCxnSpPr>
              <p:cNvPr id="501" name="直接连接符 500">
                <a:extLst>
                  <a:ext uri="{FF2B5EF4-FFF2-40B4-BE49-F238E27FC236}">
                    <a16:creationId xmlns:a16="http://schemas.microsoft.com/office/drawing/2014/main" id="{AECB5F7D-7611-406C-9C99-0FB92CF857EE}"/>
                  </a:ext>
                </a:extLst>
              </p:cNvPr>
              <p:cNvCxnSpPr/>
              <p:nvPr>
                <p:custDataLst>
                  <p:tags r:id="rId119"/>
                </p:custDataLst>
              </p:nvPr>
            </p:nvCxnSpPr>
            <p:spPr>
              <a:xfrm>
                <a:off x="5688000" y="2772000"/>
                <a:ext cx="0" cy="144145"/>
              </a:xfrm>
              <a:prstGeom prst="line">
                <a:avLst/>
              </a:prstGeom>
              <a:ln w="12700">
                <a:solidFill>
                  <a:srgbClr val="FF33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直接连接符 501">
                <a:extLst>
                  <a:ext uri="{FF2B5EF4-FFF2-40B4-BE49-F238E27FC236}">
                    <a16:creationId xmlns:a16="http://schemas.microsoft.com/office/drawing/2014/main" id="{89AA69EA-0D57-4B3B-BFE7-BC0E0D1EDB62}"/>
                  </a:ext>
                </a:extLst>
              </p:cNvPr>
              <p:cNvCxnSpPr/>
              <p:nvPr>
                <p:custDataLst>
                  <p:tags r:id="rId120"/>
                </p:custDataLst>
              </p:nvPr>
            </p:nvCxnSpPr>
            <p:spPr>
              <a:xfrm>
                <a:off x="5472000" y="2915510"/>
                <a:ext cx="216000" cy="0"/>
              </a:xfrm>
              <a:prstGeom prst="line">
                <a:avLst/>
              </a:prstGeom>
              <a:ln w="12700">
                <a:solidFill>
                  <a:srgbClr val="FF33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直接连接符 502">
                <a:extLst>
                  <a:ext uri="{FF2B5EF4-FFF2-40B4-BE49-F238E27FC236}">
                    <a16:creationId xmlns:a16="http://schemas.microsoft.com/office/drawing/2014/main" id="{41D0F7C3-7392-4174-AAAA-CE041867F46C}"/>
                  </a:ext>
                </a:extLst>
              </p:cNvPr>
              <p:cNvCxnSpPr/>
              <p:nvPr>
                <p:custDataLst>
                  <p:tags r:id="rId121"/>
                </p:custDataLst>
              </p:nvPr>
            </p:nvCxnSpPr>
            <p:spPr>
              <a:xfrm>
                <a:off x="5472000" y="2772000"/>
                <a:ext cx="0" cy="144145"/>
              </a:xfrm>
              <a:prstGeom prst="line">
                <a:avLst/>
              </a:prstGeom>
              <a:ln w="12700">
                <a:solidFill>
                  <a:srgbClr val="FF33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直接连接符 503">
                <a:extLst>
                  <a:ext uri="{FF2B5EF4-FFF2-40B4-BE49-F238E27FC236}">
                    <a16:creationId xmlns:a16="http://schemas.microsoft.com/office/drawing/2014/main" id="{3077CBD5-AFF4-49F9-B232-45119CB9E7A3}"/>
                  </a:ext>
                </a:extLst>
              </p:cNvPr>
              <p:cNvCxnSpPr/>
              <p:nvPr>
                <p:custDataLst>
                  <p:tags r:id="rId122"/>
                </p:custDataLst>
              </p:nvPr>
            </p:nvCxnSpPr>
            <p:spPr>
              <a:xfrm>
                <a:off x="5184000" y="2772000"/>
                <a:ext cx="288000" cy="0"/>
              </a:xfrm>
              <a:prstGeom prst="line">
                <a:avLst/>
              </a:prstGeom>
              <a:ln w="12700">
                <a:solidFill>
                  <a:srgbClr val="FF33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直接连接符 504">
                <a:extLst>
                  <a:ext uri="{FF2B5EF4-FFF2-40B4-BE49-F238E27FC236}">
                    <a16:creationId xmlns:a16="http://schemas.microsoft.com/office/drawing/2014/main" id="{BB63E66B-98AD-4924-ACE8-0325B199ABAE}"/>
                  </a:ext>
                </a:extLst>
              </p:cNvPr>
              <p:cNvCxnSpPr/>
              <p:nvPr>
                <p:custDataLst>
                  <p:tags r:id="rId123"/>
                </p:custDataLst>
              </p:nvPr>
            </p:nvCxnSpPr>
            <p:spPr>
              <a:xfrm>
                <a:off x="5688000" y="2772000"/>
                <a:ext cx="648000" cy="0"/>
              </a:xfrm>
              <a:prstGeom prst="line">
                <a:avLst/>
              </a:prstGeom>
              <a:ln w="12700">
                <a:solidFill>
                  <a:srgbClr val="FF33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6" name="直接连接符 505">
                <a:extLst>
                  <a:ext uri="{FF2B5EF4-FFF2-40B4-BE49-F238E27FC236}">
                    <a16:creationId xmlns:a16="http://schemas.microsoft.com/office/drawing/2014/main" id="{E3F884FE-42CC-4810-A84E-95E9D430C778}"/>
                  </a:ext>
                </a:extLst>
              </p:cNvPr>
              <p:cNvCxnSpPr/>
              <p:nvPr>
                <p:custDataLst>
                  <p:tags r:id="rId124"/>
                </p:custDataLst>
              </p:nvPr>
            </p:nvCxnSpPr>
            <p:spPr>
              <a:xfrm>
                <a:off x="6336000" y="2772000"/>
                <a:ext cx="0" cy="144145"/>
              </a:xfrm>
              <a:prstGeom prst="line">
                <a:avLst/>
              </a:prstGeom>
              <a:ln w="12700">
                <a:solidFill>
                  <a:srgbClr val="FF3399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7" name="直接连接符 506">
                <a:extLst>
                  <a:ext uri="{FF2B5EF4-FFF2-40B4-BE49-F238E27FC236}">
                    <a16:creationId xmlns:a16="http://schemas.microsoft.com/office/drawing/2014/main" id="{951A04DD-BFD7-40DB-BD48-A343B17BE31D}"/>
                  </a:ext>
                </a:extLst>
              </p:cNvPr>
              <p:cNvCxnSpPr/>
              <p:nvPr>
                <p:custDataLst>
                  <p:tags r:id="rId125"/>
                </p:custDataLst>
              </p:nvPr>
            </p:nvCxnSpPr>
            <p:spPr>
              <a:xfrm>
                <a:off x="6552000" y="2772000"/>
                <a:ext cx="504000" cy="0"/>
              </a:xfrm>
              <a:prstGeom prst="line">
                <a:avLst/>
              </a:prstGeom>
              <a:ln w="12700">
                <a:solidFill>
                  <a:srgbClr val="FF3399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8" name="直接连接符 507">
                <a:extLst>
                  <a:ext uri="{FF2B5EF4-FFF2-40B4-BE49-F238E27FC236}">
                    <a16:creationId xmlns:a16="http://schemas.microsoft.com/office/drawing/2014/main" id="{977074E3-2475-4D79-8C10-4C2956392995}"/>
                  </a:ext>
                </a:extLst>
              </p:cNvPr>
              <p:cNvCxnSpPr/>
              <p:nvPr>
                <p:custDataLst>
                  <p:tags r:id="rId126"/>
                </p:custDataLst>
              </p:nvPr>
            </p:nvCxnSpPr>
            <p:spPr>
              <a:xfrm>
                <a:off x="6552000" y="2772000"/>
                <a:ext cx="0" cy="144145"/>
              </a:xfrm>
              <a:prstGeom prst="line">
                <a:avLst/>
              </a:prstGeom>
              <a:ln w="12700">
                <a:solidFill>
                  <a:srgbClr val="FF3399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9" name="直接连接符 508">
                <a:extLst>
                  <a:ext uri="{FF2B5EF4-FFF2-40B4-BE49-F238E27FC236}">
                    <a16:creationId xmlns:a16="http://schemas.microsoft.com/office/drawing/2014/main" id="{FC6533C1-711A-4FC8-909E-3622F49F5D03}"/>
                  </a:ext>
                </a:extLst>
              </p:cNvPr>
              <p:cNvCxnSpPr/>
              <p:nvPr>
                <p:custDataLst>
                  <p:tags r:id="rId127"/>
                </p:custDataLst>
              </p:nvPr>
            </p:nvCxnSpPr>
            <p:spPr>
              <a:xfrm>
                <a:off x="6336000" y="2915510"/>
                <a:ext cx="216000" cy="0"/>
              </a:xfrm>
              <a:prstGeom prst="line">
                <a:avLst/>
              </a:prstGeom>
              <a:ln w="12700">
                <a:solidFill>
                  <a:srgbClr val="FF3399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0" name="Rectangle 784">
                <a:extLst>
                  <a:ext uri="{FF2B5EF4-FFF2-40B4-BE49-F238E27FC236}">
                    <a16:creationId xmlns:a16="http://schemas.microsoft.com/office/drawing/2014/main" id="{EF8695A5-18B1-486A-8799-CB5975D69131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28"/>
                </p:custDataLst>
              </p:nvPr>
            </p:nvSpPr>
            <p:spPr bwMode="auto">
              <a:xfrm>
                <a:off x="5688000" y="2952000"/>
                <a:ext cx="864000" cy="144145"/>
              </a:xfrm>
              <a:prstGeom prst="rect">
                <a:avLst/>
              </a:prstGeom>
              <a:solidFill>
                <a:srgbClr val="99CCFF"/>
              </a:solidFill>
              <a:ln w="15875">
                <a:noFill/>
                <a:prstDash val="sysDash"/>
                <a:miter lim="800000"/>
              </a:ln>
              <a:effectLst/>
            </p:spPr>
            <p:txBody>
              <a:bodyPr wrap="none" anchor="ctr"/>
              <a:lstStyle/>
              <a:p>
                <a:pPr algn="ctr"/>
                <a:endParaRPr lang="zh-CN" altLang="en-US" sz="1400" u="none" dirty="0"/>
              </a:p>
            </p:txBody>
          </p:sp>
          <p:cxnSp>
            <p:nvCxnSpPr>
              <p:cNvPr id="511" name="直接连接符 510">
                <a:extLst>
                  <a:ext uri="{FF2B5EF4-FFF2-40B4-BE49-F238E27FC236}">
                    <a16:creationId xmlns:a16="http://schemas.microsoft.com/office/drawing/2014/main" id="{F657160E-5522-4ED9-A9EC-4B817EF338C8}"/>
                  </a:ext>
                </a:extLst>
              </p:cNvPr>
              <p:cNvCxnSpPr/>
              <p:nvPr>
                <p:custDataLst>
                  <p:tags r:id="rId129"/>
                </p:custDataLst>
              </p:nvPr>
            </p:nvCxnSpPr>
            <p:spPr>
              <a:xfrm>
                <a:off x="5904000" y="2952000"/>
                <a:ext cx="0" cy="144145"/>
              </a:xfrm>
              <a:prstGeom prst="line">
                <a:avLst/>
              </a:prstGeom>
              <a:ln w="12700">
                <a:solidFill>
                  <a:srgbClr val="FF33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2" name="直接连接符 511">
                <a:extLst>
                  <a:ext uri="{FF2B5EF4-FFF2-40B4-BE49-F238E27FC236}">
                    <a16:creationId xmlns:a16="http://schemas.microsoft.com/office/drawing/2014/main" id="{8F4A3A09-BEE1-462C-9804-2568B3834F73}"/>
                  </a:ext>
                </a:extLst>
              </p:cNvPr>
              <p:cNvCxnSpPr/>
              <p:nvPr>
                <p:custDataLst>
                  <p:tags r:id="rId130"/>
                </p:custDataLst>
              </p:nvPr>
            </p:nvCxnSpPr>
            <p:spPr>
              <a:xfrm>
                <a:off x="5688000" y="3095510"/>
                <a:ext cx="216000" cy="0"/>
              </a:xfrm>
              <a:prstGeom prst="line">
                <a:avLst/>
              </a:prstGeom>
              <a:ln w="12700">
                <a:solidFill>
                  <a:srgbClr val="FF33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3" name="直接连接符 512">
                <a:extLst>
                  <a:ext uri="{FF2B5EF4-FFF2-40B4-BE49-F238E27FC236}">
                    <a16:creationId xmlns:a16="http://schemas.microsoft.com/office/drawing/2014/main" id="{B670A596-BC20-4C93-8699-8F645ABDEDDC}"/>
                  </a:ext>
                </a:extLst>
              </p:cNvPr>
              <p:cNvCxnSpPr/>
              <p:nvPr>
                <p:custDataLst>
                  <p:tags r:id="rId131"/>
                </p:custDataLst>
              </p:nvPr>
            </p:nvCxnSpPr>
            <p:spPr>
              <a:xfrm>
                <a:off x="5688000" y="2952000"/>
                <a:ext cx="0" cy="144145"/>
              </a:xfrm>
              <a:prstGeom prst="line">
                <a:avLst/>
              </a:prstGeom>
              <a:ln w="12700">
                <a:solidFill>
                  <a:srgbClr val="FF33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4" name="直接连接符 513">
                <a:extLst>
                  <a:ext uri="{FF2B5EF4-FFF2-40B4-BE49-F238E27FC236}">
                    <a16:creationId xmlns:a16="http://schemas.microsoft.com/office/drawing/2014/main" id="{A7F1FEE8-580C-4EDE-AF48-241E7DF21931}"/>
                  </a:ext>
                </a:extLst>
              </p:cNvPr>
              <p:cNvCxnSpPr/>
              <p:nvPr>
                <p:custDataLst>
                  <p:tags r:id="rId132"/>
                </p:custDataLst>
              </p:nvPr>
            </p:nvCxnSpPr>
            <p:spPr>
              <a:xfrm>
                <a:off x="5184000" y="2952000"/>
                <a:ext cx="504000" cy="0"/>
              </a:xfrm>
              <a:prstGeom prst="line">
                <a:avLst/>
              </a:prstGeom>
              <a:ln w="12700">
                <a:solidFill>
                  <a:srgbClr val="FF33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5" name="直接连接符 514">
                <a:extLst>
                  <a:ext uri="{FF2B5EF4-FFF2-40B4-BE49-F238E27FC236}">
                    <a16:creationId xmlns:a16="http://schemas.microsoft.com/office/drawing/2014/main" id="{1E149E7D-F285-44F4-A6D6-60CAF3D469DD}"/>
                  </a:ext>
                </a:extLst>
              </p:cNvPr>
              <p:cNvCxnSpPr/>
              <p:nvPr>
                <p:custDataLst>
                  <p:tags r:id="rId133"/>
                </p:custDataLst>
              </p:nvPr>
            </p:nvCxnSpPr>
            <p:spPr>
              <a:xfrm>
                <a:off x="5904000" y="2952000"/>
                <a:ext cx="648000" cy="0"/>
              </a:xfrm>
              <a:prstGeom prst="line">
                <a:avLst/>
              </a:prstGeom>
              <a:ln w="12700">
                <a:solidFill>
                  <a:srgbClr val="FF33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6" name="直接连接符 515">
                <a:extLst>
                  <a:ext uri="{FF2B5EF4-FFF2-40B4-BE49-F238E27FC236}">
                    <a16:creationId xmlns:a16="http://schemas.microsoft.com/office/drawing/2014/main" id="{EED7A14D-5348-4CAB-9DD5-2C5B44894E7A}"/>
                  </a:ext>
                </a:extLst>
              </p:cNvPr>
              <p:cNvCxnSpPr/>
              <p:nvPr>
                <p:custDataLst>
                  <p:tags r:id="rId134"/>
                </p:custDataLst>
              </p:nvPr>
            </p:nvCxnSpPr>
            <p:spPr>
              <a:xfrm>
                <a:off x="6552000" y="2952000"/>
                <a:ext cx="0" cy="144145"/>
              </a:xfrm>
              <a:prstGeom prst="line">
                <a:avLst/>
              </a:prstGeom>
              <a:ln w="12700">
                <a:solidFill>
                  <a:srgbClr val="FF3399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7" name="直接连接符 516">
                <a:extLst>
                  <a:ext uri="{FF2B5EF4-FFF2-40B4-BE49-F238E27FC236}">
                    <a16:creationId xmlns:a16="http://schemas.microsoft.com/office/drawing/2014/main" id="{63476637-CFF1-4178-883F-85733492B94A}"/>
                  </a:ext>
                </a:extLst>
              </p:cNvPr>
              <p:cNvCxnSpPr/>
              <p:nvPr>
                <p:custDataLst>
                  <p:tags r:id="rId135"/>
                </p:custDataLst>
              </p:nvPr>
            </p:nvCxnSpPr>
            <p:spPr>
              <a:xfrm>
                <a:off x="6768000" y="2952000"/>
                <a:ext cx="288000" cy="0"/>
              </a:xfrm>
              <a:prstGeom prst="line">
                <a:avLst/>
              </a:prstGeom>
              <a:ln w="12700">
                <a:solidFill>
                  <a:srgbClr val="FF3399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8" name="直接连接符 517">
                <a:extLst>
                  <a:ext uri="{FF2B5EF4-FFF2-40B4-BE49-F238E27FC236}">
                    <a16:creationId xmlns:a16="http://schemas.microsoft.com/office/drawing/2014/main" id="{1D236B3F-D47A-4157-986B-E6C8869D47A0}"/>
                  </a:ext>
                </a:extLst>
              </p:cNvPr>
              <p:cNvCxnSpPr/>
              <p:nvPr>
                <p:custDataLst>
                  <p:tags r:id="rId136"/>
                </p:custDataLst>
              </p:nvPr>
            </p:nvCxnSpPr>
            <p:spPr>
              <a:xfrm>
                <a:off x="6768000" y="2952000"/>
                <a:ext cx="0" cy="144145"/>
              </a:xfrm>
              <a:prstGeom prst="line">
                <a:avLst/>
              </a:prstGeom>
              <a:ln w="12700">
                <a:solidFill>
                  <a:srgbClr val="FF3399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9" name="直接连接符 518">
                <a:extLst>
                  <a:ext uri="{FF2B5EF4-FFF2-40B4-BE49-F238E27FC236}">
                    <a16:creationId xmlns:a16="http://schemas.microsoft.com/office/drawing/2014/main" id="{B4760B0D-DC3E-41DE-8EAB-5A58DEA24769}"/>
                  </a:ext>
                </a:extLst>
              </p:cNvPr>
              <p:cNvCxnSpPr/>
              <p:nvPr>
                <p:custDataLst>
                  <p:tags r:id="rId137"/>
                </p:custDataLst>
              </p:nvPr>
            </p:nvCxnSpPr>
            <p:spPr>
              <a:xfrm>
                <a:off x="6552000" y="3095510"/>
                <a:ext cx="216000" cy="0"/>
              </a:xfrm>
              <a:prstGeom prst="line">
                <a:avLst/>
              </a:prstGeom>
              <a:ln w="12700">
                <a:solidFill>
                  <a:srgbClr val="FF3399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0" name="Rectangle 784">
                <a:extLst>
                  <a:ext uri="{FF2B5EF4-FFF2-40B4-BE49-F238E27FC236}">
                    <a16:creationId xmlns:a16="http://schemas.microsoft.com/office/drawing/2014/main" id="{EE805F81-7155-4B7F-816E-236A564BCEDB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38"/>
                </p:custDataLst>
              </p:nvPr>
            </p:nvSpPr>
            <p:spPr bwMode="auto">
              <a:xfrm>
                <a:off x="5904000" y="3132000"/>
                <a:ext cx="864000" cy="144145"/>
              </a:xfrm>
              <a:prstGeom prst="rect">
                <a:avLst/>
              </a:prstGeom>
              <a:solidFill>
                <a:srgbClr val="99CCFF"/>
              </a:solidFill>
              <a:ln w="15875">
                <a:noFill/>
                <a:prstDash val="sysDash"/>
                <a:miter lim="800000"/>
              </a:ln>
              <a:effectLst/>
            </p:spPr>
            <p:txBody>
              <a:bodyPr wrap="none" anchor="ctr"/>
              <a:lstStyle/>
              <a:p>
                <a:pPr algn="ctr"/>
                <a:endParaRPr lang="zh-CN" altLang="en-US" sz="1400" u="none" dirty="0"/>
              </a:p>
            </p:txBody>
          </p:sp>
          <p:cxnSp>
            <p:nvCxnSpPr>
              <p:cNvPr id="521" name="直接连接符 520">
                <a:extLst>
                  <a:ext uri="{FF2B5EF4-FFF2-40B4-BE49-F238E27FC236}">
                    <a16:creationId xmlns:a16="http://schemas.microsoft.com/office/drawing/2014/main" id="{7515A95B-C2A4-4033-BC32-4C888E891C93}"/>
                  </a:ext>
                </a:extLst>
              </p:cNvPr>
              <p:cNvCxnSpPr/>
              <p:nvPr>
                <p:custDataLst>
                  <p:tags r:id="rId139"/>
                </p:custDataLst>
              </p:nvPr>
            </p:nvCxnSpPr>
            <p:spPr>
              <a:xfrm>
                <a:off x="6120000" y="3132000"/>
                <a:ext cx="0" cy="144145"/>
              </a:xfrm>
              <a:prstGeom prst="line">
                <a:avLst/>
              </a:prstGeom>
              <a:ln w="12700">
                <a:solidFill>
                  <a:srgbClr val="FF33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2" name="直接连接符 521">
                <a:extLst>
                  <a:ext uri="{FF2B5EF4-FFF2-40B4-BE49-F238E27FC236}">
                    <a16:creationId xmlns:a16="http://schemas.microsoft.com/office/drawing/2014/main" id="{EFD4D9FA-DF77-4D1D-A83D-87AC75D98F9C}"/>
                  </a:ext>
                </a:extLst>
              </p:cNvPr>
              <p:cNvCxnSpPr/>
              <p:nvPr>
                <p:custDataLst>
                  <p:tags r:id="rId140"/>
                </p:custDataLst>
              </p:nvPr>
            </p:nvCxnSpPr>
            <p:spPr>
              <a:xfrm>
                <a:off x="5904000" y="3275510"/>
                <a:ext cx="216000" cy="0"/>
              </a:xfrm>
              <a:prstGeom prst="line">
                <a:avLst/>
              </a:prstGeom>
              <a:ln w="12700">
                <a:solidFill>
                  <a:srgbClr val="FF33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3" name="直接连接符 522">
                <a:extLst>
                  <a:ext uri="{FF2B5EF4-FFF2-40B4-BE49-F238E27FC236}">
                    <a16:creationId xmlns:a16="http://schemas.microsoft.com/office/drawing/2014/main" id="{63E7DE1F-96BA-4559-A863-14509091F62A}"/>
                  </a:ext>
                </a:extLst>
              </p:cNvPr>
              <p:cNvCxnSpPr/>
              <p:nvPr>
                <p:custDataLst>
                  <p:tags r:id="rId141"/>
                </p:custDataLst>
              </p:nvPr>
            </p:nvCxnSpPr>
            <p:spPr>
              <a:xfrm>
                <a:off x="5904000" y="3132000"/>
                <a:ext cx="0" cy="144145"/>
              </a:xfrm>
              <a:prstGeom prst="line">
                <a:avLst/>
              </a:prstGeom>
              <a:ln w="12700">
                <a:solidFill>
                  <a:srgbClr val="FF33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4" name="直接连接符 523">
                <a:extLst>
                  <a:ext uri="{FF2B5EF4-FFF2-40B4-BE49-F238E27FC236}">
                    <a16:creationId xmlns:a16="http://schemas.microsoft.com/office/drawing/2014/main" id="{2766E4E1-7678-458D-9B9D-D99ADBB7B5BC}"/>
                  </a:ext>
                </a:extLst>
              </p:cNvPr>
              <p:cNvCxnSpPr/>
              <p:nvPr>
                <p:custDataLst>
                  <p:tags r:id="rId142"/>
                </p:custDataLst>
              </p:nvPr>
            </p:nvCxnSpPr>
            <p:spPr>
              <a:xfrm>
                <a:off x="5184000" y="3132000"/>
                <a:ext cx="720000" cy="0"/>
              </a:xfrm>
              <a:prstGeom prst="line">
                <a:avLst/>
              </a:prstGeom>
              <a:ln w="12700">
                <a:solidFill>
                  <a:srgbClr val="FF33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5" name="直接连接符 524">
                <a:extLst>
                  <a:ext uri="{FF2B5EF4-FFF2-40B4-BE49-F238E27FC236}">
                    <a16:creationId xmlns:a16="http://schemas.microsoft.com/office/drawing/2014/main" id="{24AC2938-8C0B-4D44-BF02-4E04E6F7B5CC}"/>
                  </a:ext>
                </a:extLst>
              </p:cNvPr>
              <p:cNvCxnSpPr/>
              <p:nvPr>
                <p:custDataLst>
                  <p:tags r:id="rId143"/>
                </p:custDataLst>
              </p:nvPr>
            </p:nvCxnSpPr>
            <p:spPr>
              <a:xfrm>
                <a:off x="6120000" y="3132000"/>
                <a:ext cx="648000" cy="0"/>
              </a:xfrm>
              <a:prstGeom prst="line">
                <a:avLst/>
              </a:prstGeom>
              <a:ln w="12700">
                <a:solidFill>
                  <a:srgbClr val="FF33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6" name="直接连接符 525">
                <a:extLst>
                  <a:ext uri="{FF2B5EF4-FFF2-40B4-BE49-F238E27FC236}">
                    <a16:creationId xmlns:a16="http://schemas.microsoft.com/office/drawing/2014/main" id="{3564D55C-651F-4DE7-9B37-20279BF44F1C}"/>
                  </a:ext>
                </a:extLst>
              </p:cNvPr>
              <p:cNvCxnSpPr/>
              <p:nvPr>
                <p:custDataLst>
                  <p:tags r:id="rId144"/>
                </p:custDataLst>
              </p:nvPr>
            </p:nvCxnSpPr>
            <p:spPr>
              <a:xfrm>
                <a:off x="6768000" y="3132000"/>
                <a:ext cx="0" cy="144145"/>
              </a:xfrm>
              <a:prstGeom prst="line">
                <a:avLst/>
              </a:prstGeom>
              <a:ln w="12700">
                <a:solidFill>
                  <a:srgbClr val="FF3399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7" name="直接连接符 526">
                <a:extLst>
                  <a:ext uri="{FF2B5EF4-FFF2-40B4-BE49-F238E27FC236}">
                    <a16:creationId xmlns:a16="http://schemas.microsoft.com/office/drawing/2014/main" id="{E95B8D69-7B40-46CE-B786-424FF27E9999}"/>
                  </a:ext>
                </a:extLst>
              </p:cNvPr>
              <p:cNvCxnSpPr/>
              <p:nvPr>
                <p:custDataLst>
                  <p:tags r:id="rId145"/>
                </p:custDataLst>
              </p:nvPr>
            </p:nvCxnSpPr>
            <p:spPr>
              <a:xfrm>
                <a:off x="6984000" y="3132000"/>
                <a:ext cx="72000" cy="0"/>
              </a:xfrm>
              <a:prstGeom prst="line">
                <a:avLst/>
              </a:prstGeom>
              <a:ln w="12700">
                <a:solidFill>
                  <a:srgbClr val="FF3399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8" name="直接连接符 527">
                <a:extLst>
                  <a:ext uri="{FF2B5EF4-FFF2-40B4-BE49-F238E27FC236}">
                    <a16:creationId xmlns:a16="http://schemas.microsoft.com/office/drawing/2014/main" id="{3E9EC810-93BC-4886-B7B8-9180AC6B3C73}"/>
                  </a:ext>
                </a:extLst>
              </p:cNvPr>
              <p:cNvCxnSpPr/>
              <p:nvPr>
                <p:custDataLst>
                  <p:tags r:id="rId146"/>
                </p:custDataLst>
              </p:nvPr>
            </p:nvCxnSpPr>
            <p:spPr>
              <a:xfrm>
                <a:off x="6984000" y="3132000"/>
                <a:ext cx="0" cy="144145"/>
              </a:xfrm>
              <a:prstGeom prst="line">
                <a:avLst/>
              </a:prstGeom>
              <a:ln w="12700">
                <a:solidFill>
                  <a:srgbClr val="FF3399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9" name="直接连接符 528">
                <a:extLst>
                  <a:ext uri="{FF2B5EF4-FFF2-40B4-BE49-F238E27FC236}">
                    <a16:creationId xmlns:a16="http://schemas.microsoft.com/office/drawing/2014/main" id="{5D08D9A6-B004-480C-AC4D-36C49DEDECAF}"/>
                  </a:ext>
                </a:extLst>
              </p:cNvPr>
              <p:cNvCxnSpPr/>
              <p:nvPr>
                <p:custDataLst>
                  <p:tags r:id="rId147"/>
                </p:custDataLst>
              </p:nvPr>
            </p:nvCxnSpPr>
            <p:spPr>
              <a:xfrm>
                <a:off x="6768000" y="3275510"/>
                <a:ext cx="216000" cy="0"/>
              </a:xfrm>
              <a:prstGeom prst="line">
                <a:avLst/>
              </a:prstGeom>
              <a:ln w="12700">
                <a:solidFill>
                  <a:srgbClr val="FF3399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0" name="直接连接符 529">
                <a:extLst>
                  <a:ext uri="{FF2B5EF4-FFF2-40B4-BE49-F238E27FC236}">
                    <a16:creationId xmlns:a16="http://schemas.microsoft.com/office/drawing/2014/main" id="{78D22EEA-01D7-4FB1-9A91-5BDBA644E420}"/>
                  </a:ext>
                </a:extLst>
              </p:cNvPr>
              <p:cNvCxnSpPr/>
              <p:nvPr>
                <p:custDataLst>
                  <p:tags r:id="rId148"/>
                </p:custDataLst>
              </p:nvPr>
            </p:nvCxnSpPr>
            <p:spPr>
              <a:xfrm>
                <a:off x="5184000" y="3312000"/>
                <a:ext cx="1908000" cy="0"/>
              </a:xfrm>
              <a:prstGeom prst="line">
                <a:avLst/>
              </a:prstGeom>
              <a:ln w="952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1" name="Text Box 213">
                <a:extLst>
                  <a:ext uri="{FF2B5EF4-FFF2-40B4-BE49-F238E27FC236}">
                    <a16:creationId xmlns:a16="http://schemas.microsoft.com/office/drawing/2014/main" id="{72307B3E-C504-47BD-B15B-4F716A0B40E5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49"/>
                </p:custDataLst>
              </p:nvPr>
            </p:nvSpPr>
            <p:spPr bwMode="auto">
              <a:xfrm>
                <a:off x="5580000" y="2376000"/>
                <a:ext cx="1152000" cy="17970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 anchor="ctr" anchorCtr="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400" u="none" dirty="0">
                    <a:latin typeface="+mn-ea"/>
                    <a:ea typeface="+mn-ea"/>
                  </a:rPr>
                  <a:t>T</a:t>
                </a:r>
                <a:r>
                  <a:rPr lang="en-US" altLang="zh-CN" sz="1400" u="none" baseline="-16000" dirty="0">
                    <a:latin typeface="+mn-ea"/>
                    <a:ea typeface="+mn-ea"/>
                  </a:rPr>
                  <a:t>M</a:t>
                </a:r>
                <a:r>
                  <a:rPr lang="en-US" altLang="zh-CN" sz="1400" u="none" dirty="0">
                    <a:latin typeface="+mn-ea"/>
                    <a:ea typeface="+mn-ea"/>
                  </a:rPr>
                  <a:t>       </a:t>
                </a:r>
                <a:r>
                  <a:rPr lang="en-US" altLang="zh-CN" sz="1400" u="none" spc="200" dirty="0">
                    <a:latin typeface="+mn-ea"/>
                    <a:ea typeface="+mn-ea"/>
                  </a:rPr>
                  <a:t> </a:t>
                </a:r>
                <a:r>
                  <a:rPr lang="en-US" altLang="zh-CN" sz="1400" u="none" dirty="0" err="1">
                    <a:latin typeface="+mn-ea"/>
                    <a:ea typeface="+mn-ea"/>
                  </a:rPr>
                  <a:t>T</a:t>
                </a:r>
                <a:r>
                  <a:rPr lang="en-US" altLang="zh-CN" sz="1400" u="none" baseline="-16000" dirty="0" err="1">
                    <a:latin typeface="+mn-ea"/>
                    <a:ea typeface="+mn-ea"/>
                  </a:rPr>
                  <a:t>M</a:t>
                </a:r>
                <a:endParaRPr lang="en-US" altLang="zh-CN" sz="1400" u="none" baseline="-16000" dirty="0">
                  <a:latin typeface="+mn-ea"/>
                  <a:ea typeface="+mn-ea"/>
                </a:endParaRPr>
              </a:p>
            </p:txBody>
          </p:sp>
          <p:cxnSp>
            <p:nvCxnSpPr>
              <p:cNvPr id="532" name="直接连接符 531">
                <a:extLst>
                  <a:ext uri="{FF2B5EF4-FFF2-40B4-BE49-F238E27FC236}">
                    <a16:creationId xmlns:a16="http://schemas.microsoft.com/office/drawing/2014/main" id="{3E5A403D-9D6C-47E4-8E5A-6AB7A1E67148}"/>
                  </a:ext>
                </a:extLst>
              </p:cNvPr>
              <p:cNvCxnSpPr/>
              <p:nvPr>
                <p:custDataLst>
                  <p:tags r:id="rId150"/>
                </p:custDataLst>
              </p:nvPr>
            </p:nvCxnSpPr>
            <p:spPr>
              <a:xfrm>
                <a:off x="5796000" y="2448000"/>
                <a:ext cx="324000" cy="0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solid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3" name="直接连接符 532">
                <a:extLst>
                  <a:ext uri="{FF2B5EF4-FFF2-40B4-BE49-F238E27FC236}">
                    <a16:creationId xmlns:a16="http://schemas.microsoft.com/office/drawing/2014/main" id="{947DD725-C0A9-42AB-AE8D-4511061A7761}"/>
                  </a:ext>
                </a:extLst>
              </p:cNvPr>
              <p:cNvCxnSpPr/>
              <p:nvPr>
                <p:custDataLst>
                  <p:tags r:id="rId151"/>
                </p:custDataLst>
              </p:nvPr>
            </p:nvCxnSpPr>
            <p:spPr>
              <a:xfrm flipH="1">
                <a:off x="5255766" y="2448000"/>
                <a:ext cx="324000" cy="0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solid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4" name="直接连接符 533">
                <a:extLst>
                  <a:ext uri="{FF2B5EF4-FFF2-40B4-BE49-F238E27FC236}">
                    <a16:creationId xmlns:a16="http://schemas.microsoft.com/office/drawing/2014/main" id="{28ACBD38-13CE-45AF-8387-4B4B1F9975C8}"/>
                  </a:ext>
                </a:extLst>
              </p:cNvPr>
              <p:cNvCxnSpPr/>
              <p:nvPr>
                <p:custDataLst>
                  <p:tags r:id="rId152"/>
                </p:custDataLst>
              </p:nvPr>
            </p:nvCxnSpPr>
            <p:spPr>
              <a:xfrm>
                <a:off x="6660000" y="2448000"/>
                <a:ext cx="324000" cy="0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solid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5" name="直接连接符 534">
                <a:extLst>
                  <a:ext uri="{FF2B5EF4-FFF2-40B4-BE49-F238E27FC236}">
                    <a16:creationId xmlns:a16="http://schemas.microsoft.com/office/drawing/2014/main" id="{D4993C6A-1BE5-485E-9087-BB7E3553CFFB}"/>
                  </a:ext>
                </a:extLst>
              </p:cNvPr>
              <p:cNvCxnSpPr/>
              <p:nvPr>
                <p:custDataLst>
                  <p:tags r:id="rId153"/>
                </p:custDataLst>
              </p:nvPr>
            </p:nvCxnSpPr>
            <p:spPr>
              <a:xfrm flipH="1">
                <a:off x="6120000" y="2448000"/>
                <a:ext cx="324000" cy="0"/>
              </a:xfrm>
              <a:prstGeom prst="line">
                <a:avLst/>
              </a:prstGeom>
              <a:ln w="9525">
                <a:solidFill>
                  <a:schemeClr val="tx1"/>
                </a:solidFill>
                <a:prstDash val="solid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6" name="Text Box 231">
                <a:extLst>
                  <a:ext uri="{FF2B5EF4-FFF2-40B4-BE49-F238E27FC236}">
                    <a16:creationId xmlns:a16="http://schemas.microsoft.com/office/drawing/2014/main" id="{858BE77F-E6E1-4FA1-80E0-1CAB4BBE4ED8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54"/>
                </p:custDataLst>
              </p:nvPr>
            </p:nvSpPr>
            <p:spPr bwMode="auto">
              <a:xfrm>
                <a:off x="7092000" y="3204000"/>
                <a:ext cx="143510" cy="1800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0" tIns="0" rIns="36000" bIns="0" anchor="ctr" anchorCtr="0"/>
              <a:lstStyle/>
              <a:p>
                <a:pPr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latin typeface="+mn-ea"/>
                    <a:ea typeface="+mn-ea"/>
                  </a:rPr>
                  <a:t>t</a:t>
                </a:r>
              </a:p>
            </p:txBody>
          </p:sp>
          <p:cxnSp>
            <p:nvCxnSpPr>
              <p:cNvPr id="537" name="直接连接符 536">
                <a:extLst>
                  <a:ext uri="{FF2B5EF4-FFF2-40B4-BE49-F238E27FC236}">
                    <a16:creationId xmlns:a16="http://schemas.microsoft.com/office/drawing/2014/main" id="{9F1A1D3C-2D74-4F66-8F56-4A1ADA462970}"/>
                  </a:ext>
                </a:extLst>
              </p:cNvPr>
              <p:cNvCxnSpPr/>
              <p:nvPr>
                <p:custDataLst>
                  <p:tags r:id="rId155"/>
                </p:custDataLst>
              </p:nvPr>
            </p:nvCxnSpPr>
            <p:spPr>
              <a:xfrm>
                <a:off x="6984000" y="2412000"/>
                <a:ext cx="0" cy="144145"/>
              </a:xfrm>
              <a:prstGeom prst="line">
                <a:avLst/>
              </a:prstGeom>
              <a:ln w="12700">
                <a:solidFill>
                  <a:srgbClr val="FF33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8" name="直接连接符 537">
                <a:extLst>
                  <a:ext uri="{FF2B5EF4-FFF2-40B4-BE49-F238E27FC236}">
                    <a16:creationId xmlns:a16="http://schemas.microsoft.com/office/drawing/2014/main" id="{DCF2008C-10D4-43A7-A09F-5F91BC9AD59B}"/>
                  </a:ext>
                </a:extLst>
              </p:cNvPr>
              <p:cNvCxnSpPr/>
              <p:nvPr>
                <p:custDataLst>
                  <p:tags r:id="rId156"/>
                </p:custDataLst>
              </p:nvPr>
            </p:nvCxnSpPr>
            <p:spPr>
              <a:xfrm>
                <a:off x="5256401" y="2556000"/>
                <a:ext cx="1728000" cy="0"/>
              </a:xfrm>
              <a:prstGeom prst="line">
                <a:avLst/>
              </a:prstGeom>
              <a:ln w="12700">
                <a:solidFill>
                  <a:srgbClr val="FF33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9" name="直接连接符 538">
                <a:extLst>
                  <a:ext uri="{FF2B5EF4-FFF2-40B4-BE49-F238E27FC236}">
                    <a16:creationId xmlns:a16="http://schemas.microsoft.com/office/drawing/2014/main" id="{76412F4E-B9C4-48F7-A231-24C61CD4DC36}"/>
                  </a:ext>
                </a:extLst>
              </p:cNvPr>
              <p:cNvCxnSpPr/>
              <p:nvPr>
                <p:custDataLst>
                  <p:tags r:id="rId157"/>
                </p:custDataLst>
              </p:nvPr>
            </p:nvCxnSpPr>
            <p:spPr>
              <a:xfrm>
                <a:off x="5256401" y="2412000"/>
                <a:ext cx="0" cy="144145"/>
              </a:xfrm>
              <a:prstGeom prst="line">
                <a:avLst/>
              </a:prstGeom>
              <a:ln w="12700">
                <a:solidFill>
                  <a:srgbClr val="FF33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0" name="直接连接符 539">
                <a:extLst>
                  <a:ext uri="{FF2B5EF4-FFF2-40B4-BE49-F238E27FC236}">
                    <a16:creationId xmlns:a16="http://schemas.microsoft.com/office/drawing/2014/main" id="{A84DDA1B-D07B-44ED-B889-AE90789A6B72}"/>
                  </a:ext>
                </a:extLst>
              </p:cNvPr>
              <p:cNvCxnSpPr/>
              <p:nvPr>
                <p:custDataLst>
                  <p:tags r:id="rId158"/>
                </p:custDataLst>
              </p:nvPr>
            </p:nvCxnSpPr>
            <p:spPr>
              <a:xfrm>
                <a:off x="5184000" y="2412000"/>
                <a:ext cx="72000" cy="0"/>
              </a:xfrm>
              <a:prstGeom prst="line">
                <a:avLst/>
              </a:prstGeom>
              <a:ln w="12700">
                <a:solidFill>
                  <a:srgbClr val="FF33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1" name="直接连接符 540">
                <a:extLst>
                  <a:ext uri="{FF2B5EF4-FFF2-40B4-BE49-F238E27FC236}">
                    <a16:creationId xmlns:a16="http://schemas.microsoft.com/office/drawing/2014/main" id="{AC343FEE-1D97-46E0-8913-06D399049C07}"/>
                  </a:ext>
                </a:extLst>
              </p:cNvPr>
              <p:cNvCxnSpPr/>
              <p:nvPr>
                <p:custDataLst>
                  <p:tags r:id="rId159"/>
                </p:custDataLst>
              </p:nvPr>
            </p:nvCxnSpPr>
            <p:spPr>
              <a:xfrm>
                <a:off x="6984000" y="2412000"/>
                <a:ext cx="72000" cy="0"/>
              </a:xfrm>
              <a:prstGeom prst="line">
                <a:avLst/>
              </a:prstGeom>
              <a:ln w="12700">
                <a:solidFill>
                  <a:srgbClr val="FF33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35" name="组合 434">
              <a:extLst>
                <a:ext uri="{FF2B5EF4-FFF2-40B4-BE49-F238E27FC236}">
                  <a16:creationId xmlns:a16="http://schemas.microsoft.com/office/drawing/2014/main" id="{1B190C62-9337-4A6E-9A20-899B39DDB23F}"/>
                </a:ext>
              </a:extLst>
            </p:cNvPr>
            <p:cNvGrpSpPr/>
            <p:nvPr/>
          </p:nvGrpSpPr>
          <p:grpSpPr>
            <a:xfrm>
              <a:off x="4824000" y="2664000"/>
              <a:ext cx="2232000" cy="864000"/>
              <a:chOff x="4824000" y="2664000"/>
              <a:chExt cx="2232000" cy="864000"/>
            </a:xfrm>
          </p:grpSpPr>
          <p:sp>
            <p:nvSpPr>
              <p:cNvPr id="436" name="六边形 435">
                <a:extLst>
                  <a:ext uri="{FF2B5EF4-FFF2-40B4-BE49-F238E27FC236}">
                    <a16:creationId xmlns:a16="http://schemas.microsoft.com/office/drawing/2014/main" id="{74176748-66E9-42B0-8D0D-05393F4F17FE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 bwMode="auto">
              <a:xfrm>
                <a:off x="6120000" y="3384000"/>
                <a:ext cx="216000" cy="144000"/>
              </a:xfrm>
              <a:prstGeom prst="hexagon">
                <a:avLst>
                  <a:gd name="adj" fmla="val 23111"/>
                  <a:gd name="vf" fmla="val 115470"/>
                </a:avLst>
              </a:prstGeom>
              <a:solidFill>
                <a:srgbClr val="CCECFF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square" lIns="0" tIns="0" rIns="0" bIns="0" numCol="1" rtlCol="0" anchor="ctr" anchorCtr="1" compatLnSpc="1"/>
              <a:lstStyle/>
              <a:p>
                <a:pPr marL="0" marR="0" indent="0" algn="l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1" lang="en-US" altLang="zh-CN" sz="1200" b="1" i="0" u="none" strike="noStrike" cap="none" spc="-80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宋体" panose="02010600030101010101" pitchFamily="2" charset="-122"/>
                  </a:rPr>
                  <a:t>D0</a:t>
                </a:r>
              </a:p>
            </p:txBody>
          </p:sp>
          <p:sp>
            <p:nvSpPr>
              <p:cNvPr id="437" name="六边形 436">
                <a:extLst>
                  <a:ext uri="{FF2B5EF4-FFF2-40B4-BE49-F238E27FC236}">
                    <a16:creationId xmlns:a16="http://schemas.microsoft.com/office/drawing/2014/main" id="{EE05B058-D46E-4EFD-87D2-8C82B848DB9B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 bwMode="auto">
              <a:xfrm>
                <a:off x="6336000" y="3384000"/>
                <a:ext cx="216000" cy="144000"/>
              </a:xfrm>
              <a:prstGeom prst="hexagon">
                <a:avLst>
                  <a:gd name="adj" fmla="val 23111"/>
                  <a:gd name="vf" fmla="val 115470"/>
                </a:avLst>
              </a:prstGeom>
              <a:solidFill>
                <a:srgbClr val="CCECFF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square" lIns="0" tIns="0" rIns="0" bIns="0" numCol="1" rtlCol="0" anchor="ctr" anchorCtr="1" compatLnSpc="1"/>
              <a:lstStyle/>
              <a:p>
                <a:pPr marL="0" marR="0" indent="0" algn="l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1" lang="en-US" altLang="zh-CN" sz="1200" b="1" i="0" u="none" strike="noStrike" cap="none" spc="-80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宋体" panose="02010600030101010101" pitchFamily="2" charset="-122"/>
                  </a:rPr>
                  <a:t>D1</a:t>
                </a:r>
              </a:p>
            </p:txBody>
          </p:sp>
          <p:sp>
            <p:nvSpPr>
              <p:cNvPr id="438" name="六边形 437">
                <a:extLst>
                  <a:ext uri="{FF2B5EF4-FFF2-40B4-BE49-F238E27FC236}">
                    <a16:creationId xmlns:a16="http://schemas.microsoft.com/office/drawing/2014/main" id="{5FD4D309-6E94-42B0-B615-73C77BF960AB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 bwMode="auto">
              <a:xfrm>
                <a:off x="6552000" y="3384000"/>
                <a:ext cx="216000" cy="144000"/>
              </a:xfrm>
              <a:prstGeom prst="hexagon">
                <a:avLst>
                  <a:gd name="adj" fmla="val 23111"/>
                  <a:gd name="vf" fmla="val 115470"/>
                </a:avLst>
              </a:prstGeom>
              <a:solidFill>
                <a:srgbClr val="CCECFF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square" lIns="0" tIns="0" rIns="0" bIns="0" numCol="1" rtlCol="0" anchor="ctr" anchorCtr="1" compatLnSpc="1"/>
              <a:lstStyle/>
              <a:p>
                <a:pPr marL="0" marR="0" indent="0" algn="l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1" lang="en-US" altLang="zh-CN" sz="1200" b="1" i="0" u="none" strike="noStrike" cap="none" spc="-80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宋体" panose="02010600030101010101" pitchFamily="2" charset="-122"/>
                  </a:rPr>
                  <a:t>D2</a:t>
                </a:r>
              </a:p>
            </p:txBody>
          </p:sp>
          <p:sp>
            <p:nvSpPr>
              <p:cNvPr id="439" name="六边形 438">
                <a:extLst>
                  <a:ext uri="{FF2B5EF4-FFF2-40B4-BE49-F238E27FC236}">
                    <a16:creationId xmlns:a16="http://schemas.microsoft.com/office/drawing/2014/main" id="{892F5F30-D172-49C8-BD0F-2636D1FE2561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 bwMode="auto">
              <a:xfrm>
                <a:off x="6768000" y="3384000"/>
                <a:ext cx="216000" cy="144000"/>
              </a:xfrm>
              <a:prstGeom prst="hexagon">
                <a:avLst>
                  <a:gd name="adj" fmla="val 23111"/>
                  <a:gd name="vf" fmla="val 115470"/>
                </a:avLst>
              </a:prstGeom>
              <a:solidFill>
                <a:srgbClr val="CCECFF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square" lIns="0" tIns="0" rIns="0" bIns="0" numCol="1" rtlCol="0" anchor="ctr" anchorCtr="1" compatLnSpc="1"/>
              <a:lstStyle/>
              <a:p>
                <a:pPr marL="0" marR="0" indent="0" algn="l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1" lang="en-US" altLang="zh-CN" sz="1200" b="1" i="0" u="none" strike="noStrike" cap="none" spc="-80" normalizeH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宋体" panose="02010600030101010101" pitchFamily="2" charset="-122"/>
                  </a:rPr>
                  <a:t>D3</a:t>
                </a:r>
              </a:p>
            </p:txBody>
          </p:sp>
          <p:sp>
            <p:nvSpPr>
              <p:cNvPr id="440" name="Text Box 252">
                <a:extLst>
                  <a:ext uri="{FF2B5EF4-FFF2-40B4-BE49-F238E27FC236}">
                    <a16:creationId xmlns:a16="http://schemas.microsoft.com/office/drawing/2014/main" id="{CA9AB3A5-D547-4279-8A09-92B2BA65B0CE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58"/>
                </p:custDataLst>
              </p:nvPr>
            </p:nvSpPr>
            <p:spPr bwMode="auto">
              <a:xfrm>
                <a:off x="4824000" y="3348000"/>
                <a:ext cx="360000" cy="1800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0" rIns="18000" bIns="0" anchor="ctr" anchorCtr="0"/>
              <a:lstStyle/>
              <a:p>
                <a:pPr algn="ctr">
                  <a:lnSpc>
                    <a:spcPct val="90000"/>
                  </a:lnSpc>
                  <a:spcAft>
                    <a:spcPts val="0"/>
                  </a:spcAft>
                </a:pPr>
                <a:r>
                  <a:rPr lang="en-US" altLang="zh-CN" sz="1400" b="1" u="none" dirty="0">
                    <a:latin typeface="宋体" panose="02010600030101010101" pitchFamily="2" charset="-122"/>
                  </a:rPr>
                  <a:t>D</a:t>
                </a:r>
                <a:r>
                  <a:rPr lang="en-US" altLang="zh-CN" sz="1400" b="1" u="none" baseline="-18000" dirty="0">
                    <a:latin typeface="宋体" panose="02010600030101010101" pitchFamily="2" charset="-122"/>
                  </a:rPr>
                  <a:t>7</a:t>
                </a:r>
                <a:r>
                  <a:rPr lang="en-US" altLang="zh-CN" sz="1400" b="1" u="none" baseline="-18000" dirty="0">
                    <a:latin typeface="+mn-lt"/>
                  </a:rPr>
                  <a:t>~</a:t>
                </a:r>
                <a:r>
                  <a:rPr lang="en-US" altLang="zh-CN" sz="1400" b="1" u="none" baseline="-18000" dirty="0">
                    <a:latin typeface="宋体" panose="02010600030101010101" pitchFamily="2" charset="-122"/>
                  </a:rPr>
                  <a:t>0</a:t>
                </a:r>
              </a:p>
            </p:txBody>
          </p:sp>
          <p:cxnSp>
            <p:nvCxnSpPr>
              <p:cNvPr id="441" name="直接连接符 440">
                <a:extLst>
                  <a:ext uri="{FF2B5EF4-FFF2-40B4-BE49-F238E27FC236}">
                    <a16:creationId xmlns:a16="http://schemas.microsoft.com/office/drawing/2014/main" id="{B48649CE-E90C-4447-8728-4BCFCA76FCA4}"/>
                  </a:ext>
                </a:extLst>
              </p:cNvPr>
              <p:cNvCxnSpPr/>
              <p:nvPr>
                <p:custDataLst>
                  <p:tags r:id="rId59"/>
                </p:custDataLst>
              </p:nvPr>
            </p:nvCxnSpPr>
            <p:spPr>
              <a:xfrm>
                <a:off x="5184000" y="3456000"/>
                <a:ext cx="936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olid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2" name="直接连接符 441">
                <a:extLst>
                  <a:ext uri="{FF2B5EF4-FFF2-40B4-BE49-F238E27FC236}">
                    <a16:creationId xmlns:a16="http://schemas.microsoft.com/office/drawing/2014/main" id="{5DEDF85F-ABEF-4960-995D-49207C839035}"/>
                  </a:ext>
                </a:extLst>
              </p:cNvPr>
              <p:cNvCxnSpPr/>
              <p:nvPr>
                <p:custDataLst>
                  <p:tags r:id="rId60"/>
                </p:custDataLst>
              </p:nvPr>
            </p:nvCxnSpPr>
            <p:spPr>
              <a:xfrm>
                <a:off x="6984000" y="3456000"/>
                <a:ext cx="72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olid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3" name="直接连接符 442">
                <a:extLst>
                  <a:ext uri="{FF2B5EF4-FFF2-40B4-BE49-F238E27FC236}">
                    <a16:creationId xmlns:a16="http://schemas.microsoft.com/office/drawing/2014/main" id="{F9EDEA4E-1101-4672-B76A-8C425752C676}"/>
                  </a:ext>
                </a:extLst>
              </p:cNvPr>
              <p:cNvCxnSpPr/>
              <p:nvPr>
                <p:custDataLst>
                  <p:tags r:id="rId61"/>
                </p:custDataLst>
              </p:nvPr>
            </p:nvCxnSpPr>
            <p:spPr>
              <a:xfrm>
                <a:off x="6120000" y="2664000"/>
                <a:ext cx="108000" cy="0"/>
              </a:xfrm>
              <a:prstGeom prst="line">
                <a:avLst/>
              </a:prstGeom>
              <a:ln w="9525">
                <a:solidFill>
                  <a:schemeClr val="accent2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4" name="直接连接符 443">
                <a:extLst>
                  <a:ext uri="{FF2B5EF4-FFF2-40B4-BE49-F238E27FC236}">
                    <a16:creationId xmlns:a16="http://schemas.microsoft.com/office/drawing/2014/main" id="{4777D1E5-C1C0-4B4A-8059-500EE69AC66A}"/>
                  </a:ext>
                </a:extLst>
              </p:cNvPr>
              <p:cNvCxnSpPr/>
              <p:nvPr>
                <p:custDataLst>
                  <p:tags r:id="rId62"/>
                </p:custDataLst>
              </p:nvPr>
            </p:nvCxnSpPr>
            <p:spPr>
              <a:xfrm>
                <a:off x="6227043" y="2664000"/>
                <a:ext cx="0" cy="720000"/>
              </a:xfrm>
              <a:prstGeom prst="line">
                <a:avLst/>
              </a:prstGeom>
              <a:ln w="9525">
                <a:solidFill>
                  <a:schemeClr val="accent2"/>
                </a:solidFill>
                <a:prstDash val="sysDash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5" name="直接连接符 444">
                <a:extLst>
                  <a:ext uri="{FF2B5EF4-FFF2-40B4-BE49-F238E27FC236}">
                    <a16:creationId xmlns:a16="http://schemas.microsoft.com/office/drawing/2014/main" id="{1B11B032-362D-479E-92AD-47189A742537}"/>
                  </a:ext>
                </a:extLst>
              </p:cNvPr>
              <p:cNvCxnSpPr/>
              <p:nvPr>
                <p:custDataLst>
                  <p:tags r:id="rId63"/>
                </p:custDataLst>
              </p:nvPr>
            </p:nvCxnSpPr>
            <p:spPr>
              <a:xfrm>
                <a:off x="6336000" y="2844000"/>
                <a:ext cx="108000" cy="0"/>
              </a:xfrm>
              <a:prstGeom prst="line">
                <a:avLst/>
              </a:prstGeom>
              <a:ln w="9525">
                <a:solidFill>
                  <a:schemeClr val="accent2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6" name="直接连接符 445">
                <a:extLst>
                  <a:ext uri="{FF2B5EF4-FFF2-40B4-BE49-F238E27FC236}">
                    <a16:creationId xmlns:a16="http://schemas.microsoft.com/office/drawing/2014/main" id="{2534BBF0-C732-4469-A6F9-43E562FA0B43}"/>
                  </a:ext>
                </a:extLst>
              </p:cNvPr>
              <p:cNvCxnSpPr/>
              <p:nvPr>
                <p:custDataLst>
                  <p:tags r:id="rId64"/>
                </p:custDataLst>
              </p:nvPr>
            </p:nvCxnSpPr>
            <p:spPr>
              <a:xfrm>
                <a:off x="6444000" y="2844000"/>
                <a:ext cx="0" cy="540000"/>
              </a:xfrm>
              <a:prstGeom prst="line">
                <a:avLst/>
              </a:prstGeom>
              <a:ln w="9525">
                <a:solidFill>
                  <a:schemeClr val="accent2"/>
                </a:solidFill>
                <a:prstDash val="sysDash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7" name="直接连接符 446">
                <a:extLst>
                  <a:ext uri="{FF2B5EF4-FFF2-40B4-BE49-F238E27FC236}">
                    <a16:creationId xmlns:a16="http://schemas.microsoft.com/office/drawing/2014/main" id="{CD3F325F-ADE3-4BA0-AE58-D74D3902DDCC}"/>
                  </a:ext>
                </a:extLst>
              </p:cNvPr>
              <p:cNvCxnSpPr/>
              <p:nvPr>
                <p:custDataLst>
                  <p:tags r:id="rId65"/>
                </p:custDataLst>
              </p:nvPr>
            </p:nvCxnSpPr>
            <p:spPr>
              <a:xfrm>
                <a:off x="6552000" y="3024000"/>
                <a:ext cx="108000" cy="0"/>
              </a:xfrm>
              <a:prstGeom prst="line">
                <a:avLst/>
              </a:prstGeom>
              <a:ln w="9525">
                <a:solidFill>
                  <a:schemeClr val="accent2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8" name="直接连接符 447">
                <a:extLst>
                  <a:ext uri="{FF2B5EF4-FFF2-40B4-BE49-F238E27FC236}">
                    <a16:creationId xmlns:a16="http://schemas.microsoft.com/office/drawing/2014/main" id="{B4D46855-2749-4D1F-B64F-C26CCB480683}"/>
                  </a:ext>
                </a:extLst>
              </p:cNvPr>
              <p:cNvCxnSpPr/>
              <p:nvPr>
                <p:custDataLst>
                  <p:tags r:id="rId66"/>
                </p:custDataLst>
              </p:nvPr>
            </p:nvCxnSpPr>
            <p:spPr>
              <a:xfrm>
                <a:off x="6660000" y="3024000"/>
                <a:ext cx="0" cy="360000"/>
              </a:xfrm>
              <a:prstGeom prst="line">
                <a:avLst/>
              </a:prstGeom>
              <a:ln w="9525">
                <a:solidFill>
                  <a:schemeClr val="accent2"/>
                </a:solidFill>
                <a:prstDash val="sysDash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9" name="直接连接符 448">
                <a:extLst>
                  <a:ext uri="{FF2B5EF4-FFF2-40B4-BE49-F238E27FC236}">
                    <a16:creationId xmlns:a16="http://schemas.microsoft.com/office/drawing/2014/main" id="{A2A9FF7C-F186-40C5-8A99-0AEC88CCEE9E}"/>
                  </a:ext>
                </a:extLst>
              </p:cNvPr>
              <p:cNvCxnSpPr/>
              <p:nvPr>
                <p:custDataLst>
                  <p:tags r:id="rId67"/>
                </p:custDataLst>
              </p:nvPr>
            </p:nvCxnSpPr>
            <p:spPr>
              <a:xfrm>
                <a:off x="6768000" y="3204000"/>
                <a:ext cx="108000" cy="0"/>
              </a:xfrm>
              <a:prstGeom prst="line">
                <a:avLst/>
              </a:prstGeom>
              <a:ln w="9525">
                <a:solidFill>
                  <a:schemeClr val="accent2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0" name="直接连接符 449">
                <a:extLst>
                  <a:ext uri="{FF2B5EF4-FFF2-40B4-BE49-F238E27FC236}">
                    <a16:creationId xmlns:a16="http://schemas.microsoft.com/office/drawing/2014/main" id="{5D4E6EB1-6D53-4285-8CF9-90D120A8B9F1}"/>
                  </a:ext>
                </a:extLst>
              </p:cNvPr>
              <p:cNvCxnSpPr/>
              <p:nvPr>
                <p:custDataLst>
                  <p:tags r:id="rId68"/>
                </p:custDataLst>
              </p:nvPr>
            </p:nvCxnSpPr>
            <p:spPr>
              <a:xfrm>
                <a:off x="6876000" y="3204000"/>
                <a:ext cx="0" cy="180000"/>
              </a:xfrm>
              <a:prstGeom prst="line">
                <a:avLst/>
              </a:prstGeom>
              <a:ln w="9525">
                <a:solidFill>
                  <a:schemeClr val="accent2"/>
                </a:solidFill>
                <a:prstDash val="sysDash"/>
                <a:tailEnd type="triangl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42" name="组合 541">
            <a:extLst>
              <a:ext uri="{FF2B5EF4-FFF2-40B4-BE49-F238E27FC236}">
                <a16:creationId xmlns:a16="http://schemas.microsoft.com/office/drawing/2014/main" id="{05E33FC7-AE7F-4C6A-85BF-383F0E072525}"/>
              </a:ext>
            </a:extLst>
          </p:cNvPr>
          <p:cNvGrpSpPr/>
          <p:nvPr/>
        </p:nvGrpSpPr>
        <p:grpSpPr>
          <a:xfrm>
            <a:off x="6372496" y="1556792"/>
            <a:ext cx="2664000" cy="1116000"/>
            <a:chOff x="1907560" y="1872000"/>
            <a:chExt cx="2664000" cy="1116000"/>
          </a:xfrm>
        </p:grpSpPr>
        <p:sp>
          <p:nvSpPr>
            <p:cNvPr id="543" name="Line 660">
              <a:extLst>
                <a:ext uri="{FF2B5EF4-FFF2-40B4-BE49-F238E27FC236}">
                  <a16:creationId xmlns:a16="http://schemas.microsoft.com/office/drawing/2014/main" id="{8F2C1917-D4FE-4634-9474-D836BE4B38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1560" y="2304000"/>
              <a:ext cx="360000" cy="0"/>
            </a:xfrm>
            <a:prstGeom prst="line">
              <a:avLst/>
            </a:prstGeom>
            <a:noFill/>
            <a:ln w="15875" cap="sq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4" name="Line 661">
              <a:extLst>
                <a:ext uri="{FF2B5EF4-FFF2-40B4-BE49-F238E27FC236}">
                  <a16:creationId xmlns:a16="http://schemas.microsoft.com/office/drawing/2014/main" id="{55EA1FE9-0998-4CC7-BC22-1FD7B3DC59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11560" y="2898000"/>
              <a:ext cx="1404000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5" name="Line 662">
              <a:extLst>
                <a:ext uri="{FF2B5EF4-FFF2-40B4-BE49-F238E27FC236}">
                  <a16:creationId xmlns:a16="http://schemas.microsoft.com/office/drawing/2014/main" id="{BD0000F2-A9CF-497D-BEBC-A01946E5B9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14675" y="2484000"/>
              <a:ext cx="1080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6" name="Line 663">
              <a:extLst>
                <a:ext uri="{FF2B5EF4-FFF2-40B4-BE49-F238E27FC236}">
                  <a16:creationId xmlns:a16="http://schemas.microsoft.com/office/drawing/2014/main" id="{1C75C33A-72B8-4C73-A130-7436149A1D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95864" y="2304000"/>
              <a:ext cx="142875" cy="180000"/>
            </a:xfrm>
            <a:prstGeom prst="line">
              <a:avLst/>
            </a:prstGeom>
            <a:noFill/>
            <a:ln w="15875" cap="sq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7" name="Line 664">
              <a:extLst>
                <a:ext uri="{FF2B5EF4-FFF2-40B4-BE49-F238E27FC236}">
                  <a16:creationId xmlns:a16="http://schemas.microsoft.com/office/drawing/2014/main" id="{CCD87362-BECB-4678-B544-A77ED2C523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39864" y="2304000"/>
              <a:ext cx="32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548" name="Line 677">
              <a:extLst>
                <a:ext uri="{FF2B5EF4-FFF2-40B4-BE49-F238E27FC236}">
                  <a16:creationId xmlns:a16="http://schemas.microsoft.com/office/drawing/2014/main" id="{B169AB42-B55D-4452-96E7-98E0E71536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91560" y="2898000"/>
              <a:ext cx="72000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549" name="Text Box 681">
              <a:extLst>
                <a:ext uri="{FF2B5EF4-FFF2-40B4-BE49-F238E27FC236}">
                  <a16:creationId xmlns:a16="http://schemas.microsoft.com/office/drawing/2014/main" id="{59E24A0C-977A-484E-882A-C74A823C45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5864" y="1872000"/>
              <a:ext cx="252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70000"/>
                </a:lnSpc>
              </a:pPr>
              <a:r>
                <a:rPr lang="en-US" altLang="zh-CN" sz="1600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600" u="none" baseline="-20000" dirty="0" err="1">
                  <a:latin typeface="宋体" panose="02010600030101010101" pitchFamily="2" charset="-122"/>
                </a:rPr>
                <a:t>A</a:t>
              </a:r>
              <a:endParaRPr lang="en-US" altLang="zh-CN" sz="1600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550" name="Line 682">
              <a:extLst>
                <a:ext uri="{FF2B5EF4-FFF2-40B4-BE49-F238E27FC236}">
                  <a16:creationId xmlns:a16="http://schemas.microsoft.com/office/drawing/2014/main" id="{16A083A9-1822-4524-B08B-F904BE35E4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47864" y="1944000"/>
              <a:ext cx="540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1" name="Line 683">
              <a:extLst>
                <a:ext uri="{FF2B5EF4-FFF2-40B4-BE49-F238E27FC236}">
                  <a16:creationId xmlns:a16="http://schemas.microsoft.com/office/drawing/2014/main" id="{406FDFDD-9DE9-4A50-8B01-5EAA47FF6D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555776" y="1944000"/>
              <a:ext cx="540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2" name="Text Box 689">
              <a:extLst>
                <a:ext uri="{FF2B5EF4-FFF2-40B4-BE49-F238E27FC236}">
                  <a16:creationId xmlns:a16="http://schemas.microsoft.com/office/drawing/2014/main" id="{8F0533DF-1D4C-4081-87B2-CA617054B5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2414" y="2283200"/>
              <a:ext cx="360000" cy="144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u="none" dirty="0">
                  <a:latin typeface="宋体" panose="02010600030101010101" pitchFamily="2" charset="-122"/>
                </a:rPr>
                <a:t>CS#</a:t>
              </a:r>
              <a:endParaRPr lang="en-US" altLang="zh-CN" sz="1600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553" name="Text Box 691">
              <a:extLst>
                <a:ext uri="{FF2B5EF4-FFF2-40B4-BE49-F238E27FC236}">
                  <a16:creationId xmlns:a16="http://schemas.microsoft.com/office/drawing/2014/main" id="{8025880D-B63E-465B-8735-0D44C83D5A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7560" y="2808000"/>
              <a:ext cx="504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u="none" baseline="-16000" dirty="0">
                  <a:latin typeface="宋体" panose="02010600030101010101" pitchFamily="2" charset="-122"/>
                </a:rPr>
                <a:t>3</a:t>
              </a:r>
              <a:r>
                <a:rPr lang="en-US" altLang="zh-CN" sz="1600" u="none" dirty="0">
                  <a:latin typeface="+mn-lt"/>
                </a:rPr>
                <a:t>~</a:t>
              </a:r>
              <a:r>
                <a:rPr lang="en-US" altLang="zh-CN" sz="1600" u="none" dirty="0">
                  <a:latin typeface="宋体" panose="02010600030101010101" pitchFamily="2" charset="-122"/>
                </a:rPr>
                <a:t>D</a:t>
              </a:r>
              <a:r>
                <a:rPr lang="en-US" altLang="zh-CN" sz="1600" u="none" baseline="-16000" dirty="0"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554" name="Line 692">
              <a:extLst>
                <a:ext uri="{FF2B5EF4-FFF2-40B4-BE49-F238E27FC236}">
                  <a16:creationId xmlns:a16="http://schemas.microsoft.com/office/drawing/2014/main" id="{2493C421-FCF5-45B9-A3DB-0EF7AF02B7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16000" y="2556000"/>
              <a:ext cx="1080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5" name="Text Box 694">
              <a:extLst>
                <a:ext uri="{FF2B5EF4-FFF2-40B4-BE49-F238E27FC236}">
                  <a16:creationId xmlns:a16="http://schemas.microsoft.com/office/drawing/2014/main" id="{172EDF1C-F810-4C3E-861E-43AF7D17E6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1560" y="2547208"/>
              <a:ext cx="360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600" u="none" dirty="0">
                  <a:latin typeface="宋体" panose="02010600030101010101" pitchFamily="2" charset="-122"/>
                </a:rPr>
                <a:t>WE#</a:t>
              </a:r>
              <a:endParaRPr lang="en-US" altLang="zh-CN" sz="1600" u="none" baseline="-20000" dirty="0">
                <a:latin typeface="宋体" panose="02010600030101010101" pitchFamily="2" charset="-122"/>
              </a:endParaRPr>
            </a:p>
          </p:txBody>
        </p:sp>
        <p:sp>
          <p:nvSpPr>
            <p:cNvPr id="556" name="Line 706">
              <a:extLst>
                <a:ext uri="{FF2B5EF4-FFF2-40B4-BE49-F238E27FC236}">
                  <a16:creationId xmlns:a16="http://schemas.microsoft.com/office/drawing/2014/main" id="{5FE9B23F-5C88-40FC-95AF-D9156DD218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54882" y="1872000"/>
              <a:ext cx="0" cy="1116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7" name="Text Box 707">
              <a:extLst>
                <a:ext uri="{FF2B5EF4-FFF2-40B4-BE49-F238E27FC236}">
                  <a16:creationId xmlns:a16="http://schemas.microsoft.com/office/drawing/2014/main" id="{E90812C5-C3B5-4FDE-B78F-4A3D9E5E61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9864" y="2304000"/>
              <a:ext cx="288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>
                <a:lnSpc>
                  <a:spcPct val="70000"/>
                </a:lnSpc>
              </a:pPr>
              <a:r>
                <a:rPr lang="en-US" altLang="zh-CN" sz="1600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600" u="none" baseline="-18000" dirty="0" err="1">
                  <a:latin typeface="宋体" panose="02010600030101010101" pitchFamily="2" charset="-122"/>
                </a:rPr>
                <a:t>CO</a:t>
              </a:r>
              <a:endParaRPr lang="en-US" altLang="zh-CN" sz="1600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558" name="Line 708">
              <a:extLst>
                <a:ext uri="{FF2B5EF4-FFF2-40B4-BE49-F238E27FC236}">
                  <a16:creationId xmlns:a16="http://schemas.microsoft.com/office/drawing/2014/main" id="{6F27275F-CD76-4A41-BCD0-28F7C1675F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7864" y="2376000"/>
              <a:ext cx="360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9" name="Line 709">
              <a:extLst>
                <a:ext uri="{FF2B5EF4-FFF2-40B4-BE49-F238E27FC236}">
                  <a16:creationId xmlns:a16="http://schemas.microsoft.com/office/drawing/2014/main" id="{722DF40F-D298-4643-9CE2-CC45BD6F35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843808" y="2376000"/>
              <a:ext cx="360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0" name="Line 714">
              <a:extLst>
                <a:ext uri="{FF2B5EF4-FFF2-40B4-BE49-F238E27FC236}">
                  <a16:creationId xmlns:a16="http://schemas.microsoft.com/office/drawing/2014/main" id="{5A2D95C2-D81D-4EB9-947D-7983A5AA0E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2941" y="2304000"/>
              <a:ext cx="142875" cy="180000"/>
            </a:xfrm>
            <a:prstGeom prst="line">
              <a:avLst/>
            </a:prstGeom>
            <a:noFill/>
            <a:ln w="15875" cap="sq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1" name="Line 660">
              <a:extLst>
                <a:ext uri="{FF2B5EF4-FFF2-40B4-BE49-F238E27FC236}">
                  <a16:creationId xmlns:a16="http://schemas.microsoft.com/office/drawing/2014/main" id="{B6763B9E-F7DF-4155-A686-6750B67FBE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11560" y="2736000"/>
              <a:ext cx="360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2" name="Line 660">
              <a:extLst>
                <a:ext uri="{FF2B5EF4-FFF2-40B4-BE49-F238E27FC236}">
                  <a16:creationId xmlns:a16="http://schemas.microsoft.com/office/drawing/2014/main" id="{783CB79E-7996-49BB-B9D1-D2F0907DF9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39864" y="2736000"/>
              <a:ext cx="324000" cy="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563" name="Line 714">
              <a:extLst>
                <a:ext uri="{FF2B5EF4-FFF2-40B4-BE49-F238E27FC236}">
                  <a16:creationId xmlns:a16="http://schemas.microsoft.com/office/drawing/2014/main" id="{7AE3A805-C365-4CC7-B435-29B2195DD6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5864" y="2556000"/>
              <a:ext cx="142875" cy="180000"/>
            </a:xfrm>
            <a:prstGeom prst="line">
              <a:avLst/>
            </a:prstGeom>
            <a:noFill/>
            <a:ln w="15875" cap="sq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4" name="Line 680">
              <a:extLst>
                <a:ext uri="{FF2B5EF4-FFF2-40B4-BE49-F238E27FC236}">
                  <a16:creationId xmlns:a16="http://schemas.microsoft.com/office/drawing/2014/main" id="{17F9BC8D-EA27-4D4C-B104-A7CF21D540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7864" y="1872000"/>
              <a:ext cx="0" cy="936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5" name="Line 663">
              <a:extLst>
                <a:ext uri="{FF2B5EF4-FFF2-40B4-BE49-F238E27FC236}">
                  <a16:creationId xmlns:a16="http://schemas.microsoft.com/office/drawing/2014/main" id="{16E21587-F613-43D2-A340-E7EFA1C6B4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71342" y="2556000"/>
              <a:ext cx="142875" cy="180000"/>
            </a:xfrm>
            <a:prstGeom prst="line">
              <a:avLst/>
            </a:prstGeom>
            <a:noFill/>
            <a:ln w="15875" cap="sq">
              <a:solidFill>
                <a:srgbClr val="FF3399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6" name="Line 678">
              <a:extLst>
                <a:ext uri="{FF2B5EF4-FFF2-40B4-BE49-F238E27FC236}">
                  <a16:creationId xmlns:a16="http://schemas.microsoft.com/office/drawing/2014/main" id="{B6E42496-A37F-4E79-975D-A5374006F3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43808" y="2304000"/>
              <a:ext cx="0" cy="684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7" name="Line 678">
              <a:extLst>
                <a:ext uri="{FF2B5EF4-FFF2-40B4-BE49-F238E27FC236}">
                  <a16:creationId xmlns:a16="http://schemas.microsoft.com/office/drawing/2014/main" id="{672959B8-6AC1-43FE-9C20-36861E0701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19560" y="2628000"/>
              <a:ext cx="0" cy="180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8" name="Line 680">
              <a:extLst>
                <a:ext uri="{FF2B5EF4-FFF2-40B4-BE49-F238E27FC236}">
                  <a16:creationId xmlns:a16="http://schemas.microsoft.com/office/drawing/2014/main" id="{01711827-287B-44E5-916E-5E82C6FA8E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7864" y="2304000"/>
              <a:ext cx="0" cy="504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9" name="Text Box 365">
              <a:extLst>
                <a:ext uri="{FF2B5EF4-FFF2-40B4-BE49-F238E27FC236}">
                  <a16:creationId xmlns:a16="http://schemas.microsoft.com/office/drawing/2014/main" id="{B0C3FDD6-7D4B-49B0-823B-26CF4D9137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55808" y="2340000"/>
              <a:ext cx="288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>
                <a:lnSpc>
                  <a:spcPct val="70000"/>
                </a:lnSpc>
              </a:pPr>
              <a:r>
                <a:rPr lang="en-US" altLang="zh-CN" sz="1600" u="none" dirty="0" err="1">
                  <a:latin typeface="宋体" panose="02010600030101010101" pitchFamily="2" charset="-122"/>
                </a:rPr>
                <a:t>t</a:t>
              </a:r>
              <a:r>
                <a:rPr lang="en-US" altLang="zh-CN" sz="1600" u="none" baseline="-18000" dirty="0" err="1">
                  <a:latin typeface="宋体" panose="02010600030101010101" pitchFamily="2" charset="-122"/>
                </a:rPr>
                <a:t>AW</a:t>
              </a:r>
              <a:endParaRPr lang="en-US" altLang="zh-CN" sz="1600" u="none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570" name="Line 663">
              <a:extLst>
                <a:ext uri="{FF2B5EF4-FFF2-40B4-BE49-F238E27FC236}">
                  <a16:creationId xmlns:a16="http://schemas.microsoft.com/office/drawing/2014/main" id="{8A6D5EF5-9C78-4205-8698-C876295C5A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27326" y="2556000"/>
              <a:ext cx="142875" cy="180000"/>
            </a:xfrm>
            <a:prstGeom prst="line">
              <a:avLst/>
            </a:prstGeom>
            <a:noFill/>
            <a:ln w="12700" cap="sq">
              <a:solidFill>
                <a:srgbClr val="FF3399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1" name="AutoShape 215">
              <a:extLst>
                <a:ext uri="{FF2B5EF4-FFF2-40B4-BE49-F238E27FC236}">
                  <a16:creationId xmlns:a16="http://schemas.microsoft.com/office/drawing/2014/main" id="{0C84BF12-878B-4903-A8C2-DF60F4F84C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5864" y="2808000"/>
              <a:ext cx="576000" cy="180000"/>
            </a:xfrm>
            <a:prstGeom prst="hexagon">
              <a:avLst>
                <a:gd name="adj" fmla="val 36933"/>
                <a:gd name="vf" fmla="val 115470"/>
              </a:avLst>
            </a:prstGeom>
            <a:noFill/>
            <a:ln w="15875" algn="ctr">
              <a:solidFill>
                <a:schemeClr val="accent2"/>
              </a:solidFill>
              <a:miter lim="800000"/>
            </a:ln>
            <a:effectLst/>
          </p:spPr>
          <p:txBody>
            <a:bodyPr lIns="0" tIns="0" rIns="0" bIns="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zh-CN" altLang="en-US" sz="1600" u="none" dirty="0">
                  <a:latin typeface="+mn-ea"/>
                  <a:ea typeface="+mn-ea"/>
                </a:rPr>
                <a:t>输出</a:t>
              </a:r>
            </a:p>
          </p:txBody>
        </p:sp>
        <p:sp>
          <p:nvSpPr>
            <p:cNvPr id="572" name="AutoShape 215">
              <a:extLst>
                <a:ext uri="{FF2B5EF4-FFF2-40B4-BE49-F238E27FC236}">
                  <a16:creationId xmlns:a16="http://schemas.microsoft.com/office/drawing/2014/main" id="{7CC0CD5B-6152-4524-BC8D-41BCFA682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5864" y="2052000"/>
              <a:ext cx="1656000" cy="180000"/>
            </a:xfrm>
            <a:prstGeom prst="hexagon">
              <a:avLst>
                <a:gd name="adj" fmla="val 36933"/>
                <a:gd name="vf" fmla="val 115470"/>
              </a:avLst>
            </a:prstGeom>
            <a:noFill/>
            <a:ln w="15875" algn="ctr">
              <a:solidFill>
                <a:srgbClr val="C00000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zh-CN" altLang="en-US" sz="1600" b="1" u="none" dirty="0">
                <a:latin typeface="+mn-ea"/>
                <a:ea typeface="+mn-ea"/>
              </a:endParaRPr>
            </a:p>
          </p:txBody>
        </p:sp>
        <p:sp>
          <p:nvSpPr>
            <p:cNvPr id="573" name="AutoShape 215">
              <a:extLst>
                <a:ext uri="{FF2B5EF4-FFF2-40B4-BE49-F238E27FC236}">
                  <a16:creationId xmlns:a16="http://schemas.microsoft.com/office/drawing/2014/main" id="{893859E1-9FDC-42DA-8DDF-6185129D56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9560" y="2052000"/>
              <a:ext cx="216000" cy="180000"/>
            </a:xfrm>
            <a:prstGeom prst="hexagon">
              <a:avLst>
                <a:gd name="adj" fmla="val 36933"/>
                <a:gd name="vf" fmla="val 115470"/>
              </a:avLst>
            </a:prstGeom>
            <a:noFill/>
            <a:ln w="15875" algn="ctr">
              <a:solidFill>
                <a:srgbClr val="C00000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zh-CN" altLang="en-US" sz="1600" b="1" u="none" dirty="0">
                <a:latin typeface="+mn-ea"/>
                <a:ea typeface="+mn-ea"/>
              </a:endParaRPr>
            </a:p>
          </p:txBody>
        </p:sp>
        <p:sp>
          <p:nvSpPr>
            <p:cNvPr id="574" name="Text Box 691">
              <a:extLst>
                <a:ext uri="{FF2B5EF4-FFF2-40B4-BE49-F238E27FC236}">
                  <a16:creationId xmlns:a16="http://schemas.microsoft.com/office/drawing/2014/main" id="{42E71F30-AB52-4EE8-B05D-129550562D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3560" y="2052000"/>
              <a:ext cx="108000" cy="18000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endParaRPr lang="en-US" altLang="zh-CN" sz="1600" b="1" u="none" baseline="-16000" dirty="0">
                <a:latin typeface="宋体" panose="02010600030101010101" pitchFamily="2" charset="-122"/>
              </a:endParaRPr>
            </a:p>
          </p:txBody>
        </p:sp>
        <p:sp>
          <p:nvSpPr>
            <p:cNvPr id="575" name="AutoShape 215">
              <a:extLst>
                <a:ext uri="{FF2B5EF4-FFF2-40B4-BE49-F238E27FC236}">
                  <a16:creationId xmlns:a16="http://schemas.microsoft.com/office/drawing/2014/main" id="{536003DD-9CB2-4E95-9C05-E07687F3D5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864" y="2052000"/>
              <a:ext cx="324000" cy="180000"/>
            </a:xfrm>
            <a:prstGeom prst="hexagon">
              <a:avLst>
                <a:gd name="adj" fmla="val 36933"/>
                <a:gd name="vf" fmla="val 115470"/>
              </a:avLst>
            </a:prstGeom>
            <a:noFill/>
            <a:ln w="15875" algn="ctr">
              <a:solidFill>
                <a:srgbClr val="C00000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endParaRPr lang="zh-CN" altLang="en-US" sz="1600" b="1" u="none" dirty="0">
                <a:latin typeface="+mn-ea"/>
                <a:ea typeface="+mn-ea"/>
              </a:endParaRPr>
            </a:p>
          </p:txBody>
        </p:sp>
        <p:sp>
          <p:nvSpPr>
            <p:cNvPr id="576" name="Text Box 691">
              <a:extLst>
                <a:ext uri="{FF2B5EF4-FFF2-40B4-BE49-F238E27FC236}">
                  <a16:creationId xmlns:a16="http://schemas.microsoft.com/office/drawing/2014/main" id="{BBFC6344-EBE6-4939-A5FC-2EE35BBC23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3560" y="2050072"/>
              <a:ext cx="108000" cy="18000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endParaRPr lang="en-US" altLang="zh-CN" sz="1600" b="1" u="none" baseline="-16000" dirty="0">
                <a:latin typeface="宋体" panose="02010600030101010101" pitchFamily="2" charset="-122"/>
              </a:endParaRPr>
            </a:p>
          </p:txBody>
        </p:sp>
        <p:sp>
          <p:nvSpPr>
            <p:cNvPr id="577" name="Text Box 691">
              <a:extLst>
                <a:ext uri="{FF2B5EF4-FFF2-40B4-BE49-F238E27FC236}">
                  <a16:creationId xmlns:a16="http://schemas.microsoft.com/office/drawing/2014/main" id="{092CB3AE-70D2-4B82-8A28-CEB5726D0A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7560" y="2052000"/>
              <a:ext cx="504000" cy="180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u="none" baseline="-16000" dirty="0">
                  <a:latin typeface="宋体" panose="02010600030101010101" pitchFamily="2" charset="-122"/>
                </a:rPr>
                <a:t>7</a:t>
              </a:r>
              <a:r>
                <a:rPr lang="en-US" altLang="zh-CN" sz="1600" u="none" dirty="0">
                  <a:latin typeface="+mn-lt"/>
                </a:rPr>
                <a:t>~</a:t>
              </a:r>
              <a:r>
                <a:rPr lang="en-US" altLang="zh-CN" sz="1600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600" u="none" baseline="-16000" dirty="0"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830" name="Line 692">
              <a:extLst>
                <a:ext uri="{FF2B5EF4-FFF2-40B4-BE49-F238E27FC236}">
                  <a16:creationId xmlns:a16="http://schemas.microsoft.com/office/drawing/2014/main" id="{1E15A526-C74A-4010-9085-80C5BDA44D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71542" y="2556000"/>
              <a:ext cx="144000" cy="0"/>
            </a:xfrm>
            <a:prstGeom prst="line">
              <a:avLst/>
            </a:prstGeom>
            <a:noFill/>
            <a:ln w="12700" cap="sq">
              <a:solidFill>
                <a:srgbClr val="FF3399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cxnSp>
        <p:nvCxnSpPr>
          <p:cNvPr id="831" name="直接箭头连接符 830">
            <a:extLst>
              <a:ext uri="{FF2B5EF4-FFF2-40B4-BE49-F238E27FC236}">
                <a16:creationId xmlns:a16="http://schemas.microsoft.com/office/drawing/2014/main" id="{8D6C0968-32C6-48ED-A383-4BD4F645C874}"/>
              </a:ext>
            </a:extLst>
          </p:cNvPr>
          <p:cNvCxnSpPr/>
          <p:nvPr/>
        </p:nvCxnSpPr>
        <p:spPr bwMode="auto">
          <a:xfrm flipH="1" flipV="1">
            <a:off x="3563888" y="1342800"/>
            <a:ext cx="900000" cy="216000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sm" len="sm"/>
          </a:ln>
          <a:effectLst/>
        </p:spPr>
      </p:cxnSp>
      <p:grpSp>
        <p:nvGrpSpPr>
          <p:cNvPr id="832" name="组合 831">
            <a:extLst>
              <a:ext uri="{FF2B5EF4-FFF2-40B4-BE49-F238E27FC236}">
                <a16:creationId xmlns:a16="http://schemas.microsoft.com/office/drawing/2014/main" id="{75AEA9BF-5FE2-48C9-90B7-0B12D731EABE}"/>
              </a:ext>
            </a:extLst>
          </p:cNvPr>
          <p:cNvGrpSpPr/>
          <p:nvPr/>
        </p:nvGrpSpPr>
        <p:grpSpPr>
          <a:xfrm>
            <a:off x="6156176" y="4005064"/>
            <a:ext cx="2880000" cy="1116000"/>
            <a:chOff x="2520000" y="4032000"/>
            <a:chExt cx="2880000" cy="1116000"/>
          </a:xfrm>
        </p:grpSpPr>
        <p:sp>
          <p:nvSpPr>
            <p:cNvPr id="833" name="Rectangle 141">
              <a:extLst>
                <a:ext uri="{FF2B5EF4-FFF2-40B4-BE49-F238E27FC236}">
                  <a16:creationId xmlns:a16="http://schemas.microsoft.com/office/drawing/2014/main" id="{3ABE22CD-4647-4E85-AB78-2AD7E540EE3D}"/>
                </a:ext>
              </a:extLst>
            </p:cNvPr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2520000" y="4248000"/>
              <a:ext cx="2448000" cy="900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4" name="Text Box 162">
              <a:extLst>
                <a:ext uri="{FF2B5EF4-FFF2-40B4-BE49-F238E27FC236}">
                  <a16:creationId xmlns:a16="http://schemas.microsoft.com/office/drawing/2014/main" id="{2B6FC34C-2AAD-42F7-A2F5-4BBEAA56ECB7}"/>
                </a:ext>
              </a:extLst>
            </p:cNvPr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5040000" y="4248880"/>
              <a:ext cx="324000" cy="144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>
                <a:lnSpc>
                  <a:spcPct val="90000"/>
                </a:lnSpc>
              </a:pPr>
              <a:r>
                <a:rPr lang="en-US" altLang="zh-CN" sz="1400" u="none" dirty="0">
                  <a:latin typeface="宋体" panose="02010600030101010101" pitchFamily="2" charset="-122"/>
                </a:rPr>
                <a:t>WE#</a:t>
              </a:r>
            </a:p>
          </p:txBody>
        </p:sp>
        <p:sp>
          <p:nvSpPr>
            <p:cNvPr id="835" name="Text Box 140">
              <a:extLst>
                <a:ext uri="{FF2B5EF4-FFF2-40B4-BE49-F238E27FC236}">
                  <a16:creationId xmlns:a16="http://schemas.microsoft.com/office/drawing/2014/main" id="{8F6DB61C-261F-45A1-A9AC-A0701DBB5E88}"/>
                </a:ext>
              </a:extLst>
            </p:cNvPr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5040000" y="4999845"/>
              <a:ext cx="360000" cy="144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>
                <a:lnSpc>
                  <a:spcPct val="90000"/>
                </a:lnSpc>
              </a:pPr>
              <a:r>
                <a:rPr lang="en-US" altLang="zh-CN" sz="1400" u="none" dirty="0">
                  <a:latin typeface="宋体" panose="02010600030101010101" pitchFamily="2" charset="-122"/>
                </a:rPr>
                <a:t>A</a:t>
              </a:r>
              <a:r>
                <a:rPr lang="en-US" altLang="zh-CN" sz="1400" u="none" baseline="-18000" dirty="0">
                  <a:latin typeface="宋体" panose="02010600030101010101" pitchFamily="2" charset="-122"/>
                </a:rPr>
                <a:t>11</a:t>
              </a:r>
              <a:r>
                <a:rPr lang="en-US" altLang="zh-CN" sz="1400" u="none" baseline="-18000" dirty="0"/>
                <a:t>~</a:t>
              </a:r>
              <a:r>
                <a:rPr lang="en-US" altLang="zh-CN" sz="1400" u="none" baseline="-18000" dirty="0">
                  <a:latin typeface="宋体" panose="02010600030101010101" pitchFamily="2" charset="-122"/>
                </a:rPr>
                <a:t>2</a:t>
              </a:r>
            </a:p>
          </p:txBody>
        </p:sp>
        <p:sp>
          <p:nvSpPr>
            <p:cNvPr id="836" name="Text Box 140">
              <a:extLst>
                <a:ext uri="{FF2B5EF4-FFF2-40B4-BE49-F238E27FC236}">
                  <a16:creationId xmlns:a16="http://schemas.microsoft.com/office/drawing/2014/main" id="{7A2BD9ED-20FD-4DBE-B3B0-FA9922D33F07}"/>
                </a:ext>
              </a:extLst>
            </p:cNvPr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4391824" y="4032000"/>
              <a:ext cx="576000" cy="144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>
                <a:lnSpc>
                  <a:spcPct val="90000"/>
                </a:lnSpc>
              </a:pPr>
              <a:r>
                <a:rPr lang="en-US" altLang="zh-CN" sz="1400" u="none" dirty="0">
                  <a:latin typeface="宋体" panose="02010600030101010101" pitchFamily="2" charset="-122"/>
                </a:rPr>
                <a:t>D0 </a:t>
              </a:r>
              <a:r>
                <a:rPr lang="en-US" altLang="zh-CN" sz="1400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DM</a:t>
              </a:r>
              <a:r>
                <a:rPr lang="en-US" altLang="zh-CN" sz="1400" u="none" baseline="-18000" dirty="0">
                  <a:solidFill>
                    <a:srgbClr val="990099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837" name="Text Box 162">
              <a:extLst>
                <a:ext uri="{FF2B5EF4-FFF2-40B4-BE49-F238E27FC236}">
                  <a16:creationId xmlns:a16="http://schemas.microsoft.com/office/drawing/2014/main" id="{80D99AF1-0792-498D-9C9F-CA1B070990C9}"/>
                </a:ext>
              </a:extLst>
            </p:cNvPr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5040000" y="4428000"/>
              <a:ext cx="324000" cy="144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>
                <a:lnSpc>
                  <a:spcPct val="90000"/>
                </a:lnSpc>
              </a:pPr>
              <a:r>
                <a:rPr lang="en-US" altLang="zh-CN" sz="1400" u="none" dirty="0">
                  <a:latin typeface="宋体" panose="02010600030101010101" pitchFamily="2" charset="-122"/>
                </a:rPr>
                <a:t>CS#</a:t>
              </a:r>
            </a:p>
          </p:txBody>
        </p:sp>
        <p:cxnSp>
          <p:nvCxnSpPr>
            <p:cNvPr id="838" name="直接箭头连接符 837">
              <a:extLst>
                <a:ext uri="{FF2B5EF4-FFF2-40B4-BE49-F238E27FC236}">
                  <a16:creationId xmlns:a16="http://schemas.microsoft.com/office/drawing/2014/main" id="{DB0E2FF3-9C4C-45BF-BA93-926449066DE4}"/>
                </a:ext>
              </a:extLst>
            </p:cNvPr>
            <p:cNvCxnSpPr/>
            <p:nvPr>
              <p:custDataLst>
                <p:tags r:id="rId6"/>
              </p:custDataLst>
            </p:nvPr>
          </p:nvCxnSpPr>
          <p:spPr bwMode="auto">
            <a:xfrm>
              <a:off x="2736000" y="5076000"/>
              <a:ext cx="2304000" cy="1270"/>
            </a:xfrm>
            <a:prstGeom prst="straightConnector1">
              <a:avLst/>
            </a:prstGeom>
            <a:noFill/>
            <a:ln w="1587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39" name="直接箭头连接符 838">
              <a:extLst>
                <a:ext uri="{FF2B5EF4-FFF2-40B4-BE49-F238E27FC236}">
                  <a16:creationId xmlns:a16="http://schemas.microsoft.com/office/drawing/2014/main" id="{D1FB3761-853E-4EED-95DE-B8E07EEA55C3}"/>
                </a:ext>
              </a:extLst>
            </p:cNvPr>
            <p:cNvCxnSpPr/>
            <p:nvPr>
              <p:custDataLst>
                <p:tags r:id="rId7"/>
              </p:custDataLst>
            </p:nvPr>
          </p:nvCxnSpPr>
          <p:spPr bwMode="auto">
            <a:xfrm flipH="1" flipV="1">
              <a:off x="2736000" y="4968000"/>
              <a:ext cx="0" cy="108000"/>
            </a:xfrm>
            <a:prstGeom prst="straightConnector1">
              <a:avLst/>
            </a:prstGeom>
            <a:noFill/>
            <a:ln w="15875" cap="sq" cmpd="sng" algn="ctr">
              <a:solidFill>
                <a:srgbClr val="C00000"/>
              </a:solidFill>
              <a:prstDash val="solid"/>
              <a:round/>
              <a:headEnd type="none" w="sm" len="sm"/>
              <a:tailEnd type="triangle" w="med" len="sm"/>
            </a:ln>
            <a:effectLst/>
          </p:spPr>
        </p:cxnSp>
        <p:cxnSp>
          <p:nvCxnSpPr>
            <p:cNvPr id="840" name="直接箭头连接符 839">
              <a:extLst>
                <a:ext uri="{FF2B5EF4-FFF2-40B4-BE49-F238E27FC236}">
                  <a16:creationId xmlns:a16="http://schemas.microsoft.com/office/drawing/2014/main" id="{437820E4-86D3-4AFA-A9C1-B32B7EB9FADF}"/>
                </a:ext>
              </a:extLst>
            </p:cNvPr>
            <p:cNvCxnSpPr/>
            <p:nvPr>
              <p:custDataLst>
                <p:tags r:id="rId8"/>
              </p:custDataLst>
            </p:nvPr>
          </p:nvCxnSpPr>
          <p:spPr bwMode="auto">
            <a:xfrm>
              <a:off x="2988000" y="4968000"/>
              <a:ext cx="0" cy="72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41" name="直接箭头连接符 840">
              <a:extLst>
                <a:ext uri="{FF2B5EF4-FFF2-40B4-BE49-F238E27FC236}">
                  <a16:creationId xmlns:a16="http://schemas.microsoft.com/office/drawing/2014/main" id="{46250836-765E-436C-8359-D71AF306F890}"/>
                </a:ext>
              </a:extLst>
            </p:cNvPr>
            <p:cNvCxnSpPr/>
            <p:nvPr>
              <p:custDataLst>
                <p:tags r:id="rId9"/>
              </p:custDataLst>
            </p:nvPr>
          </p:nvCxnSpPr>
          <p:spPr bwMode="auto">
            <a:xfrm>
              <a:off x="2988000" y="5040000"/>
              <a:ext cx="1908000" cy="127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42" name="直接箭头连接符 841">
              <a:extLst>
                <a:ext uri="{FF2B5EF4-FFF2-40B4-BE49-F238E27FC236}">
                  <a16:creationId xmlns:a16="http://schemas.microsoft.com/office/drawing/2014/main" id="{82E43AAA-E7C0-4905-B9D2-1A2075F4DD15}"/>
                </a:ext>
              </a:extLst>
            </p:cNvPr>
            <p:cNvCxnSpPr/>
            <p:nvPr>
              <p:custDataLst>
                <p:tags r:id="rId10"/>
              </p:custDataLst>
            </p:nvPr>
          </p:nvCxnSpPr>
          <p:spPr bwMode="auto">
            <a:xfrm flipH="1" flipV="1">
              <a:off x="3312000" y="4968000"/>
              <a:ext cx="0" cy="108000"/>
            </a:xfrm>
            <a:prstGeom prst="straightConnector1">
              <a:avLst/>
            </a:prstGeom>
            <a:noFill/>
            <a:ln w="15875" cap="sq" cmpd="sng" algn="ctr">
              <a:solidFill>
                <a:srgbClr val="C00000"/>
              </a:solidFill>
              <a:prstDash val="solid"/>
              <a:round/>
              <a:headEnd type="oval" w="sm" len="sm"/>
              <a:tailEnd type="triangle" w="med" len="sm"/>
            </a:ln>
            <a:effectLst/>
          </p:spPr>
        </p:cxnSp>
        <p:cxnSp>
          <p:nvCxnSpPr>
            <p:cNvPr id="843" name="直接箭头连接符 842">
              <a:extLst>
                <a:ext uri="{FF2B5EF4-FFF2-40B4-BE49-F238E27FC236}">
                  <a16:creationId xmlns:a16="http://schemas.microsoft.com/office/drawing/2014/main" id="{36609077-478E-47A2-A753-106429B97AF9}"/>
                </a:ext>
              </a:extLst>
            </p:cNvPr>
            <p:cNvCxnSpPr/>
            <p:nvPr>
              <p:custDataLst>
                <p:tags r:id="rId11"/>
              </p:custDataLst>
            </p:nvPr>
          </p:nvCxnSpPr>
          <p:spPr bwMode="auto">
            <a:xfrm>
              <a:off x="3564000" y="4968000"/>
              <a:ext cx="0" cy="72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844" name="直接箭头连接符 843">
              <a:extLst>
                <a:ext uri="{FF2B5EF4-FFF2-40B4-BE49-F238E27FC236}">
                  <a16:creationId xmlns:a16="http://schemas.microsoft.com/office/drawing/2014/main" id="{E3565E0F-7864-4A92-B8B8-7A6EE3B6E128}"/>
                </a:ext>
              </a:extLst>
            </p:cNvPr>
            <p:cNvCxnSpPr/>
            <p:nvPr>
              <p:custDataLst>
                <p:tags r:id="rId12"/>
              </p:custDataLst>
            </p:nvPr>
          </p:nvCxnSpPr>
          <p:spPr bwMode="auto">
            <a:xfrm flipH="1" flipV="1">
              <a:off x="3888000" y="4968000"/>
              <a:ext cx="0" cy="108000"/>
            </a:xfrm>
            <a:prstGeom prst="straightConnector1">
              <a:avLst/>
            </a:prstGeom>
            <a:noFill/>
            <a:ln w="15875" cap="sq" cmpd="sng" algn="ctr">
              <a:solidFill>
                <a:srgbClr val="C00000"/>
              </a:solidFill>
              <a:prstDash val="solid"/>
              <a:round/>
              <a:headEnd type="oval" w="sm" len="sm"/>
              <a:tailEnd type="triangle" w="med" len="sm"/>
            </a:ln>
            <a:effectLst/>
          </p:spPr>
        </p:cxnSp>
        <p:cxnSp>
          <p:nvCxnSpPr>
            <p:cNvPr id="845" name="直接箭头连接符 844">
              <a:extLst>
                <a:ext uri="{FF2B5EF4-FFF2-40B4-BE49-F238E27FC236}">
                  <a16:creationId xmlns:a16="http://schemas.microsoft.com/office/drawing/2014/main" id="{E1DEDB67-0683-4559-98C0-C25C75E5FB1B}"/>
                </a:ext>
              </a:extLst>
            </p:cNvPr>
            <p:cNvCxnSpPr/>
            <p:nvPr>
              <p:custDataLst>
                <p:tags r:id="rId13"/>
              </p:custDataLst>
            </p:nvPr>
          </p:nvCxnSpPr>
          <p:spPr bwMode="auto">
            <a:xfrm>
              <a:off x="4140000" y="4968000"/>
              <a:ext cx="0" cy="72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846" name="直接箭头连接符 845">
              <a:extLst>
                <a:ext uri="{FF2B5EF4-FFF2-40B4-BE49-F238E27FC236}">
                  <a16:creationId xmlns:a16="http://schemas.microsoft.com/office/drawing/2014/main" id="{03035CAB-47EF-4C77-8CDB-106C8135FA5D}"/>
                </a:ext>
              </a:extLst>
            </p:cNvPr>
            <p:cNvCxnSpPr/>
            <p:nvPr>
              <p:custDataLst>
                <p:tags r:id="rId14"/>
              </p:custDataLst>
            </p:nvPr>
          </p:nvCxnSpPr>
          <p:spPr bwMode="auto">
            <a:xfrm flipH="1" flipV="1">
              <a:off x="4464000" y="4968000"/>
              <a:ext cx="0" cy="108000"/>
            </a:xfrm>
            <a:prstGeom prst="straightConnector1">
              <a:avLst/>
            </a:prstGeom>
            <a:noFill/>
            <a:ln w="15875" cap="sq" cmpd="sng" algn="ctr">
              <a:solidFill>
                <a:srgbClr val="C00000"/>
              </a:solidFill>
              <a:prstDash val="solid"/>
              <a:round/>
              <a:headEnd type="oval" w="sm" len="sm"/>
              <a:tailEnd type="triangle" w="med" len="sm"/>
            </a:ln>
            <a:effectLst/>
          </p:spPr>
        </p:cxnSp>
        <p:cxnSp>
          <p:nvCxnSpPr>
            <p:cNvPr id="847" name="直接箭头连接符 846">
              <a:extLst>
                <a:ext uri="{FF2B5EF4-FFF2-40B4-BE49-F238E27FC236}">
                  <a16:creationId xmlns:a16="http://schemas.microsoft.com/office/drawing/2014/main" id="{FA709BB4-DB02-4CA5-95B6-A6C989A7D52D}"/>
                </a:ext>
              </a:extLst>
            </p:cNvPr>
            <p:cNvCxnSpPr/>
            <p:nvPr>
              <p:custDataLst>
                <p:tags r:id="rId15"/>
              </p:custDataLst>
            </p:nvPr>
          </p:nvCxnSpPr>
          <p:spPr bwMode="auto">
            <a:xfrm>
              <a:off x="4716000" y="4968000"/>
              <a:ext cx="0" cy="72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oval" w="sm" len="sm"/>
            </a:ln>
            <a:effectLst/>
          </p:spPr>
        </p:cxnSp>
        <p:cxnSp>
          <p:nvCxnSpPr>
            <p:cNvPr id="848" name="直接箭头连接符 847">
              <a:extLst>
                <a:ext uri="{FF2B5EF4-FFF2-40B4-BE49-F238E27FC236}">
                  <a16:creationId xmlns:a16="http://schemas.microsoft.com/office/drawing/2014/main" id="{B1048E07-3019-4615-B1EF-2C6396107AA2}"/>
                </a:ext>
              </a:extLst>
            </p:cNvPr>
            <p:cNvCxnSpPr/>
            <p:nvPr>
              <p:custDataLst>
                <p:tags r:id="rId16"/>
              </p:custDataLst>
            </p:nvPr>
          </p:nvCxnSpPr>
          <p:spPr bwMode="auto">
            <a:xfrm>
              <a:off x="4896000" y="4500000"/>
              <a:ext cx="0" cy="540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49" name="直接箭头连接符 848">
              <a:extLst>
                <a:ext uri="{FF2B5EF4-FFF2-40B4-BE49-F238E27FC236}">
                  <a16:creationId xmlns:a16="http://schemas.microsoft.com/office/drawing/2014/main" id="{103EB2C2-A9DF-421B-B3CB-949E85751721}"/>
                </a:ext>
              </a:extLst>
            </p:cNvPr>
            <p:cNvCxnSpPr>
              <a:cxnSpLocks/>
            </p:cNvCxnSpPr>
            <p:nvPr>
              <p:custDataLst>
                <p:tags r:id="rId17"/>
              </p:custDataLst>
            </p:nvPr>
          </p:nvCxnSpPr>
          <p:spPr bwMode="auto">
            <a:xfrm flipH="1">
              <a:off x="2914375" y="4320000"/>
              <a:ext cx="2124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850" name="组合 849">
              <a:extLst>
                <a:ext uri="{FF2B5EF4-FFF2-40B4-BE49-F238E27FC236}">
                  <a16:creationId xmlns:a16="http://schemas.microsoft.com/office/drawing/2014/main" id="{B609A8E7-AE3D-4C4B-A8A9-B4068D96B82E}"/>
                </a:ext>
              </a:extLst>
            </p:cNvPr>
            <p:cNvGrpSpPr/>
            <p:nvPr/>
          </p:nvGrpSpPr>
          <p:grpSpPr>
            <a:xfrm>
              <a:off x="4320000" y="4176000"/>
              <a:ext cx="504000" cy="792000"/>
              <a:chOff x="5292000" y="3492000"/>
              <a:chExt cx="504000" cy="792000"/>
            </a:xfrm>
          </p:grpSpPr>
          <p:cxnSp>
            <p:nvCxnSpPr>
              <p:cNvPr id="882" name="直接箭头连接符 881">
                <a:extLst>
                  <a:ext uri="{FF2B5EF4-FFF2-40B4-BE49-F238E27FC236}">
                    <a16:creationId xmlns:a16="http://schemas.microsoft.com/office/drawing/2014/main" id="{939E7273-584B-4940-9BB3-CA598427F59F}"/>
                  </a:ext>
                </a:extLst>
              </p:cNvPr>
              <p:cNvCxnSpPr/>
              <p:nvPr>
                <p:custDataLst>
                  <p:tags r:id="rId46"/>
                </p:custDataLst>
              </p:nvPr>
            </p:nvCxnSpPr>
            <p:spPr bwMode="auto">
              <a:xfrm>
                <a:off x="5436000" y="3492000"/>
                <a:ext cx="0" cy="50400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883" name="Text Box 143">
                <a:extLst>
                  <a:ext uri="{FF2B5EF4-FFF2-40B4-BE49-F238E27FC236}">
                    <a16:creationId xmlns:a16="http://schemas.microsoft.com/office/drawing/2014/main" id="{6F7B5551-F26A-4696-B7E2-911511651BCB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47"/>
                </p:custDataLst>
              </p:nvPr>
            </p:nvSpPr>
            <p:spPr bwMode="auto">
              <a:xfrm>
                <a:off x="5292000" y="3996000"/>
                <a:ext cx="504000" cy="288000"/>
              </a:xfrm>
              <a:prstGeom prst="rect">
                <a:avLst/>
              </a:prstGeom>
              <a:solidFill>
                <a:srgbClr val="99CC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solidFill>
                      <a:srgbClr val="FF0000"/>
                    </a:solidFill>
                    <a:latin typeface="宋体" panose="02010600030101010101" pitchFamily="2" charset="-122"/>
                  </a:rPr>
                  <a:t>M</a:t>
                </a:r>
                <a:r>
                  <a:rPr lang="en-US" altLang="zh-CN" sz="1600" b="1" u="none" baseline="-18000" dirty="0">
                    <a:solidFill>
                      <a:srgbClr val="FF0000"/>
                    </a:solidFill>
                    <a:latin typeface="宋体" panose="02010600030101010101" pitchFamily="2" charset="-122"/>
                  </a:rPr>
                  <a:t>3</a:t>
                </a:r>
              </a:p>
            </p:txBody>
          </p:sp>
          <p:cxnSp>
            <p:nvCxnSpPr>
              <p:cNvPr id="884" name="直接箭头连接符 883">
                <a:extLst>
                  <a:ext uri="{FF2B5EF4-FFF2-40B4-BE49-F238E27FC236}">
                    <a16:creationId xmlns:a16="http://schemas.microsoft.com/office/drawing/2014/main" id="{72722E07-1FCE-4B2B-8840-1E46B22CCFBD}"/>
                  </a:ext>
                </a:extLst>
              </p:cNvPr>
              <p:cNvCxnSpPr/>
              <p:nvPr>
                <p:custDataLst>
                  <p:tags r:id="rId48"/>
                </p:custDataLst>
              </p:nvPr>
            </p:nvCxnSpPr>
            <p:spPr bwMode="auto">
              <a:xfrm>
                <a:off x="5686455" y="3888435"/>
                <a:ext cx="0" cy="10800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85" name="直接箭头连接符 884">
                <a:extLst>
                  <a:ext uri="{FF2B5EF4-FFF2-40B4-BE49-F238E27FC236}">
                    <a16:creationId xmlns:a16="http://schemas.microsoft.com/office/drawing/2014/main" id="{9E1835C8-3062-43B2-B369-EED1AE597FEA}"/>
                  </a:ext>
                </a:extLst>
              </p:cNvPr>
              <p:cNvCxnSpPr/>
              <p:nvPr>
                <p:custDataLst>
                  <p:tags r:id="rId49"/>
                </p:custDataLst>
              </p:nvPr>
            </p:nvCxnSpPr>
            <p:spPr bwMode="auto">
              <a:xfrm>
                <a:off x="5614455" y="3636000"/>
                <a:ext cx="0" cy="10800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3399"/>
                </a:solidFill>
                <a:prstDash val="solid"/>
                <a:round/>
                <a:headEnd type="oval" w="sm" len="sm"/>
                <a:tailEnd type="none" w="med" len="med"/>
              </a:ln>
              <a:effectLst/>
            </p:spPr>
          </p:cxnSp>
          <p:sp>
            <p:nvSpPr>
              <p:cNvPr id="886" name="Text Box 381">
                <a:extLst>
                  <a:ext uri="{FF2B5EF4-FFF2-40B4-BE49-F238E27FC236}">
                    <a16:creationId xmlns:a16="http://schemas.microsoft.com/office/drawing/2014/main" id="{4371FD55-43A2-4A7A-8063-72175B776C1E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50"/>
                </p:custDataLst>
              </p:nvPr>
            </p:nvSpPr>
            <p:spPr bwMode="auto">
              <a:xfrm>
                <a:off x="5580000" y="3744290"/>
                <a:ext cx="216000" cy="1440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0" rIns="18000" bIns="0" anchor="ctr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400" b="1" u="none">
                    <a:latin typeface="宋体" panose="02010600030101010101" pitchFamily="2" charset="-122"/>
                  </a:rPr>
                  <a:t>&amp;</a:t>
                </a:r>
              </a:p>
            </p:txBody>
          </p:sp>
          <p:sp>
            <p:nvSpPr>
              <p:cNvPr id="887" name="Oval 382">
                <a:extLst>
                  <a:ext uri="{FF2B5EF4-FFF2-40B4-BE49-F238E27FC236}">
                    <a16:creationId xmlns:a16="http://schemas.microsoft.com/office/drawing/2014/main" id="{3835AA66-C130-4BB6-8998-DD4274300273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51"/>
                </p:custDataLst>
              </p:nvPr>
            </p:nvSpPr>
            <p:spPr bwMode="auto">
              <a:xfrm>
                <a:off x="5661255" y="3887800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88" name="Oval 382">
                <a:extLst>
                  <a:ext uri="{FF2B5EF4-FFF2-40B4-BE49-F238E27FC236}">
                    <a16:creationId xmlns:a16="http://schemas.microsoft.com/office/drawing/2014/main" id="{A58711BF-EB11-4BAC-9925-0AA743B2DD75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52"/>
                </p:custDataLst>
              </p:nvPr>
            </p:nvSpPr>
            <p:spPr bwMode="auto">
              <a:xfrm>
                <a:off x="5589255" y="3682800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cxnSp>
            <p:nvCxnSpPr>
              <p:cNvPr id="889" name="直接箭头连接符 888">
                <a:extLst>
                  <a:ext uri="{FF2B5EF4-FFF2-40B4-BE49-F238E27FC236}">
                    <a16:creationId xmlns:a16="http://schemas.microsoft.com/office/drawing/2014/main" id="{40EB5F86-32FA-48C8-9A41-492689EEF5C2}"/>
                  </a:ext>
                </a:extLst>
              </p:cNvPr>
              <p:cNvCxnSpPr/>
              <p:nvPr>
                <p:custDataLst>
                  <p:tags r:id="rId53"/>
                </p:custDataLst>
              </p:nvPr>
            </p:nvCxnSpPr>
            <p:spPr bwMode="auto">
              <a:xfrm>
                <a:off x="5758455" y="3492000"/>
                <a:ext cx="0" cy="25200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851" name="组合 850">
              <a:extLst>
                <a:ext uri="{FF2B5EF4-FFF2-40B4-BE49-F238E27FC236}">
                  <a16:creationId xmlns:a16="http://schemas.microsoft.com/office/drawing/2014/main" id="{F856A01D-8BF5-4368-A1BE-1A86DB151A7A}"/>
                </a:ext>
              </a:extLst>
            </p:cNvPr>
            <p:cNvGrpSpPr/>
            <p:nvPr/>
          </p:nvGrpSpPr>
          <p:grpSpPr>
            <a:xfrm>
              <a:off x="3744000" y="4176000"/>
              <a:ext cx="504000" cy="792000"/>
              <a:chOff x="5292000" y="3492000"/>
              <a:chExt cx="504000" cy="792000"/>
            </a:xfrm>
          </p:grpSpPr>
          <p:cxnSp>
            <p:nvCxnSpPr>
              <p:cNvPr id="874" name="直接箭头连接符 873">
                <a:extLst>
                  <a:ext uri="{FF2B5EF4-FFF2-40B4-BE49-F238E27FC236}">
                    <a16:creationId xmlns:a16="http://schemas.microsoft.com/office/drawing/2014/main" id="{5AC31675-9691-4362-9EE1-4637D77F7AB6}"/>
                  </a:ext>
                </a:extLst>
              </p:cNvPr>
              <p:cNvCxnSpPr/>
              <p:nvPr>
                <p:custDataLst>
                  <p:tags r:id="rId38"/>
                </p:custDataLst>
              </p:nvPr>
            </p:nvCxnSpPr>
            <p:spPr bwMode="auto">
              <a:xfrm>
                <a:off x="5436000" y="3492000"/>
                <a:ext cx="0" cy="50400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875" name="Text Box 143">
                <a:extLst>
                  <a:ext uri="{FF2B5EF4-FFF2-40B4-BE49-F238E27FC236}">
                    <a16:creationId xmlns:a16="http://schemas.microsoft.com/office/drawing/2014/main" id="{305166DF-E45A-4CAC-9D20-147CD52CA2D4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39"/>
                </p:custDataLst>
              </p:nvPr>
            </p:nvSpPr>
            <p:spPr bwMode="auto">
              <a:xfrm>
                <a:off x="5292000" y="3996000"/>
                <a:ext cx="504000" cy="288000"/>
              </a:xfrm>
              <a:prstGeom prst="rect">
                <a:avLst/>
              </a:prstGeom>
              <a:solidFill>
                <a:srgbClr val="99CC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solidFill>
                      <a:srgbClr val="FF0000"/>
                    </a:solidFill>
                    <a:latin typeface="宋体" panose="02010600030101010101" pitchFamily="2" charset="-122"/>
                  </a:rPr>
                  <a:t>M</a:t>
                </a:r>
                <a:r>
                  <a:rPr lang="en-US" altLang="zh-CN" sz="1600" b="1" u="none" baseline="-18000" dirty="0">
                    <a:solidFill>
                      <a:srgbClr val="FF0000"/>
                    </a:solidFill>
                    <a:latin typeface="宋体" panose="02010600030101010101" pitchFamily="2" charset="-122"/>
                  </a:rPr>
                  <a:t>3</a:t>
                </a:r>
              </a:p>
            </p:txBody>
          </p:sp>
          <p:cxnSp>
            <p:nvCxnSpPr>
              <p:cNvPr id="876" name="直接箭头连接符 875">
                <a:extLst>
                  <a:ext uri="{FF2B5EF4-FFF2-40B4-BE49-F238E27FC236}">
                    <a16:creationId xmlns:a16="http://schemas.microsoft.com/office/drawing/2014/main" id="{DF863F20-43CA-4273-B4C4-B2A8D7FF1BB8}"/>
                  </a:ext>
                </a:extLst>
              </p:cNvPr>
              <p:cNvCxnSpPr/>
              <p:nvPr>
                <p:custDataLst>
                  <p:tags r:id="rId40"/>
                </p:custDataLst>
              </p:nvPr>
            </p:nvCxnSpPr>
            <p:spPr bwMode="auto">
              <a:xfrm>
                <a:off x="5686455" y="3888435"/>
                <a:ext cx="0" cy="10800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77" name="直接箭头连接符 876">
                <a:extLst>
                  <a:ext uri="{FF2B5EF4-FFF2-40B4-BE49-F238E27FC236}">
                    <a16:creationId xmlns:a16="http://schemas.microsoft.com/office/drawing/2014/main" id="{0845B237-3E57-4A10-ACD3-7DB4206D0DCB}"/>
                  </a:ext>
                </a:extLst>
              </p:cNvPr>
              <p:cNvCxnSpPr/>
              <p:nvPr>
                <p:custDataLst>
                  <p:tags r:id="rId41"/>
                </p:custDataLst>
              </p:nvPr>
            </p:nvCxnSpPr>
            <p:spPr bwMode="auto">
              <a:xfrm>
                <a:off x="5614455" y="3636000"/>
                <a:ext cx="0" cy="10800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3399"/>
                </a:solidFill>
                <a:prstDash val="solid"/>
                <a:round/>
                <a:headEnd type="oval" w="sm" len="sm"/>
                <a:tailEnd type="none" w="med" len="med"/>
              </a:ln>
              <a:effectLst/>
            </p:spPr>
          </p:cxnSp>
          <p:sp>
            <p:nvSpPr>
              <p:cNvPr id="878" name="Text Box 381">
                <a:extLst>
                  <a:ext uri="{FF2B5EF4-FFF2-40B4-BE49-F238E27FC236}">
                    <a16:creationId xmlns:a16="http://schemas.microsoft.com/office/drawing/2014/main" id="{7CEA61A4-23FF-4892-9CD8-168EA429143E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42"/>
                </p:custDataLst>
              </p:nvPr>
            </p:nvSpPr>
            <p:spPr bwMode="auto">
              <a:xfrm>
                <a:off x="5580000" y="3744290"/>
                <a:ext cx="216000" cy="1440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0" rIns="18000" bIns="0" anchor="ctr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400" b="1" u="none">
                    <a:latin typeface="宋体" panose="02010600030101010101" pitchFamily="2" charset="-122"/>
                  </a:rPr>
                  <a:t>&amp;</a:t>
                </a:r>
              </a:p>
            </p:txBody>
          </p:sp>
          <p:sp>
            <p:nvSpPr>
              <p:cNvPr id="879" name="Oval 382">
                <a:extLst>
                  <a:ext uri="{FF2B5EF4-FFF2-40B4-BE49-F238E27FC236}">
                    <a16:creationId xmlns:a16="http://schemas.microsoft.com/office/drawing/2014/main" id="{1273F534-82BC-44D2-8B84-617DB91A659F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43"/>
                </p:custDataLst>
              </p:nvPr>
            </p:nvSpPr>
            <p:spPr bwMode="auto">
              <a:xfrm>
                <a:off x="5661255" y="3887800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80" name="Oval 382">
                <a:extLst>
                  <a:ext uri="{FF2B5EF4-FFF2-40B4-BE49-F238E27FC236}">
                    <a16:creationId xmlns:a16="http://schemas.microsoft.com/office/drawing/2014/main" id="{59F9C70A-C77F-4BC6-BA92-0868C88BFC2D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44"/>
                </p:custDataLst>
              </p:nvPr>
            </p:nvSpPr>
            <p:spPr bwMode="auto">
              <a:xfrm>
                <a:off x="5589255" y="3682800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cxnSp>
            <p:nvCxnSpPr>
              <p:cNvPr id="881" name="直接箭头连接符 880">
                <a:extLst>
                  <a:ext uri="{FF2B5EF4-FFF2-40B4-BE49-F238E27FC236}">
                    <a16:creationId xmlns:a16="http://schemas.microsoft.com/office/drawing/2014/main" id="{3731C4FD-C635-40AA-8B54-29C28065C565}"/>
                  </a:ext>
                </a:extLst>
              </p:cNvPr>
              <p:cNvCxnSpPr/>
              <p:nvPr>
                <p:custDataLst>
                  <p:tags r:id="rId45"/>
                </p:custDataLst>
              </p:nvPr>
            </p:nvCxnSpPr>
            <p:spPr bwMode="auto">
              <a:xfrm>
                <a:off x="5758455" y="3492000"/>
                <a:ext cx="0" cy="25200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852" name="组合 851">
              <a:extLst>
                <a:ext uri="{FF2B5EF4-FFF2-40B4-BE49-F238E27FC236}">
                  <a16:creationId xmlns:a16="http://schemas.microsoft.com/office/drawing/2014/main" id="{20CDE1C2-06A7-43E0-AB7C-1431F7E88FE8}"/>
                </a:ext>
              </a:extLst>
            </p:cNvPr>
            <p:cNvGrpSpPr/>
            <p:nvPr/>
          </p:nvGrpSpPr>
          <p:grpSpPr>
            <a:xfrm>
              <a:off x="3168000" y="4176000"/>
              <a:ext cx="504000" cy="792000"/>
              <a:chOff x="5292000" y="3492000"/>
              <a:chExt cx="504000" cy="792000"/>
            </a:xfrm>
          </p:grpSpPr>
          <p:cxnSp>
            <p:nvCxnSpPr>
              <p:cNvPr id="866" name="直接箭头连接符 865">
                <a:extLst>
                  <a:ext uri="{FF2B5EF4-FFF2-40B4-BE49-F238E27FC236}">
                    <a16:creationId xmlns:a16="http://schemas.microsoft.com/office/drawing/2014/main" id="{1D20E421-5B18-42E4-9F86-31C15B8A75B8}"/>
                  </a:ext>
                </a:extLst>
              </p:cNvPr>
              <p:cNvCxnSpPr/>
              <p:nvPr>
                <p:custDataLst>
                  <p:tags r:id="rId30"/>
                </p:custDataLst>
              </p:nvPr>
            </p:nvCxnSpPr>
            <p:spPr bwMode="auto">
              <a:xfrm>
                <a:off x="5436000" y="3492000"/>
                <a:ext cx="0" cy="50400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867" name="Text Box 143">
                <a:extLst>
                  <a:ext uri="{FF2B5EF4-FFF2-40B4-BE49-F238E27FC236}">
                    <a16:creationId xmlns:a16="http://schemas.microsoft.com/office/drawing/2014/main" id="{2C1F4AC5-070D-4C79-8019-7853B5D4291E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31"/>
                </p:custDataLst>
              </p:nvPr>
            </p:nvSpPr>
            <p:spPr bwMode="auto">
              <a:xfrm>
                <a:off x="5292000" y="3996000"/>
                <a:ext cx="504000" cy="288000"/>
              </a:xfrm>
              <a:prstGeom prst="rect">
                <a:avLst/>
              </a:prstGeom>
              <a:solidFill>
                <a:srgbClr val="99CC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solidFill>
                      <a:srgbClr val="FF0000"/>
                    </a:solidFill>
                    <a:latin typeface="宋体" panose="02010600030101010101" pitchFamily="2" charset="-122"/>
                  </a:rPr>
                  <a:t>M</a:t>
                </a:r>
                <a:r>
                  <a:rPr lang="en-US" altLang="zh-CN" sz="1600" b="1" u="none" baseline="-18000" dirty="0">
                    <a:solidFill>
                      <a:srgbClr val="FF0000"/>
                    </a:solidFill>
                    <a:latin typeface="宋体" panose="02010600030101010101" pitchFamily="2" charset="-122"/>
                  </a:rPr>
                  <a:t>3</a:t>
                </a:r>
              </a:p>
            </p:txBody>
          </p:sp>
          <p:cxnSp>
            <p:nvCxnSpPr>
              <p:cNvPr id="868" name="直接箭头连接符 867">
                <a:extLst>
                  <a:ext uri="{FF2B5EF4-FFF2-40B4-BE49-F238E27FC236}">
                    <a16:creationId xmlns:a16="http://schemas.microsoft.com/office/drawing/2014/main" id="{DACB51D5-2A9F-4AC2-BB59-A465A0F00D76}"/>
                  </a:ext>
                </a:extLst>
              </p:cNvPr>
              <p:cNvCxnSpPr/>
              <p:nvPr>
                <p:custDataLst>
                  <p:tags r:id="rId32"/>
                </p:custDataLst>
              </p:nvPr>
            </p:nvCxnSpPr>
            <p:spPr bwMode="auto">
              <a:xfrm>
                <a:off x="5686455" y="3888435"/>
                <a:ext cx="0" cy="10800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69" name="直接箭头连接符 868">
                <a:extLst>
                  <a:ext uri="{FF2B5EF4-FFF2-40B4-BE49-F238E27FC236}">
                    <a16:creationId xmlns:a16="http://schemas.microsoft.com/office/drawing/2014/main" id="{C24A869B-C2DF-4D6C-ACF0-573A8240B3B3}"/>
                  </a:ext>
                </a:extLst>
              </p:cNvPr>
              <p:cNvCxnSpPr/>
              <p:nvPr>
                <p:custDataLst>
                  <p:tags r:id="rId33"/>
                </p:custDataLst>
              </p:nvPr>
            </p:nvCxnSpPr>
            <p:spPr bwMode="auto">
              <a:xfrm>
                <a:off x="5614455" y="3636000"/>
                <a:ext cx="0" cy="10800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3399"/>
                </a:solidFill>
                <a:prstDash val="solid"/>
                <a:round/>
                <a:headEnd type="oval" w="sm" len="sm"/>
                <a:tailEnd type="none" w="med" len="med"/>
              </a:ln>
              <a:effectLst/>
            </p:spPr>
          </p:cxnSp>
          <p:sp>
            <p:nvSpPr>
              <p:cNvPr id="870" name="Text Box 381">
                <a:extLst>
                  <a:ext uri="{FF2B5EF4-FFF2-40B4-BE49-F238E27FC236}">
                    <a16:creationId xmlns:a16="http://schemas.microsoft.com/office/drawing/2014/main" id="{36CE09DF-7DA1-4CC4-95FC-075BF5673E0D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34"/>
                </p:custDataLst>
              </p:nvPr>
            </p:nvSpPr>
            <p:spPr bwMode="auto">
              <a:xfrm>
                <a:off x="5580000" y="3744290"/>
                <a:ext cx="216000" cy="1440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0" rIns="18000" bIns="0" anchor="ctr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400" b="1" u="none">
                    <a:latin typeface="宋体" panose="02010600030101010101" pitchFamily="2" charset="-122"/>
                  </a:rPr>
                  <a:t>&amp;</a:t>
                </a:r>
              </a:p>
            </p:txBody>
          </p:sp>
          <p:sp>
            <p:nvSpPr>
              <p:cNvPr id="871" name="Oval 382">
                <a:extLst>
                  <a:ext uri="{FF2B5EF4-FFF2-40B4-BE49-F238E27FC236}">
                    <a16:creationId xmlns:a16="http://schemas.microsoft.com/office/drawing/2014/main" id="{B2EC4983-3D26-4CB8-8A31-42BE7045D85A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35"/>
                </p:custDataLst>
              </p:nvPr>
            </p:nvSpPr>
            <p:spPr bwMode="auto">
              <a:xfrm>
                <a:off x="5661255" y="3887800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72" name="Oval 382">
                <a:extLst>
                  <a:ext uri="{FF2B5EF4-FFF2-40B4-BE49-F238E27FC236}">
                    <a16:creationId xmlns:a16="http://schemas.microsoft.com/office/drawing/2014/main" id="{45CDB7B5-42E9-4887-B8A6-02E38091BD0A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36"/>
                </p:custDataLst>
              </p:nvPr>
            </p:nvSpPr>
            <p:spPr bwMode="auto">
              <a:xfrm>
                <a:off x="5589255" y="3682800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cxnSp>
            <p:nvCxnSpPr>
              <p:cNvPr id="873" name="直接箭头连接符 872">
                <a:extLst>
                  <a:ext uri="{FF2B5EF4-FFF2-40B4-BE49-F238E27FC236}">
                    <a16:creationId xmlns:a16="http://schemas.microsoft.com/office/drawing/2014/main" id="{85316673-7EAC-43A6-BAE9-853CE1E6C4B0}"/>
                  </a:ext>
                </a:extLst>
              </p:cNvPr>
              <p:cNvCxnSpPr/>
              <p:nvPr>
                <p:custDataLst>
                  <p:tags r:id="rId37"/>
                </p:custDataLst>
              </p:nvPr>
            </p:nvCxnSpPr>
            <p:spPr bwMode="auto">
              <a:xfrm>
                <a:off x="5758455" y="3492000"/>
                <a:ext cx="0" cy="25200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853" name="组合 852">
              <a:extLst>
                <a:ext uri="{FF2B5EF4-FFF2-40B4-BE49-F238E27FC236}">
                  <a16:creationId xmlns:a16="http://schemas.microsoft.com/office/drawing/2014/main" id="{EA0B84F6-43B9-45B3-B13E-3B081BC7594C}"/>
                </a:ext>
              </a:extLst>
            </p:cNvPr>
            <p:cNvGrpSpPr/>
            <p:nvPr/>
          </p:nvGrpSpPr>
          <p:grpSpPr>
            <a:xfrm>
              <a:off x="2592000" y="4176000"/>
              <a:ext cx="504000" cy="792000"/>
              <a:chOff x="5292000" y="3492000"/>
              <a:chExt cx="504000" cy="792000"/>
            </a:xfrm>
          </p:grpSpPr>
          <p:cxnSp>
            <p:nvCxnSpPr>
              <p:cNvPr id="858" name="直接箭头连接符 857">
                <a:extLst>
                  <a:ext uri="{FF2B5EF4-FFF2-40B4-BE49-F238E27FC236}">
                    <a16:creationId xmlns:a16="http://schemas.microsoft.com/office/drawing/2014/main" id="{35E3C4A4-CA6C-4BFB-93A2-C53C3A4589CA}"/>
                  </a:ext>
                </a:extLst>
              </p:cNvPr>
              <p:cNvCxnSpPr/>
              <p:nvPr>
                <p:custDataLst>
                  <p:tags r:id="rId22"/>
                </p:custDataLst>
              </p:nvPr>
            </p:nvCxnSpPr>
            <p:spPr bwMode="auto">
              <a:xfrm>
                <a:off x="5436000" y="3492000"/>
                <a:ext cx="0" cy="504000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859" name="Text Box 143">
                <a:extLst>
                  <a:ext uri="{FF2B5EF4-FFF2-40B4-BE49-F238E27FC236}">
                    <a16:creationId xmlns:a16="http://schemas.microsoft.com/office/drawing/2014/main" id="{F64013E8-47A2-42FD-9BE7-F19F865A1A80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3"/>
                </p:custDataLst>
              </p:nvPr>
            </p:nvSpPr>
            <p:spPr bwMode="auto">
              <a:xfrm>
                <a:off x="5292000" y="3996000"/>
                <a:ext cx="504000" cy="288000"/>
              </a:xfrm>
              <a:prstGeom prst="rect">
                <a:avLst/>
              </a:prstGeom>
              <a:solidFill>
                <a:srgbClr val="99CC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600" b="1" u="none" dirty="0">
                    <a:solidFill>
                      <a:srgbClr val="FF0000"/>
                    </a:solidFill>
                    <a:latin typeface="宋体" panose="02010600030101010101" pitchFamily="2" charset="-122"/>
                  </a:rPr>
                  <a:t>M</a:t>
                </a:r>
                <a:r>
                  <a:rPr lang="en-US" altLang="zh-CN" sz="1600" b="1" u="none" baseline="-18000" dirty="0">
                    <a:solidFill>
                      <a:srgbClr val="FF0000"/>
                    </a:solidFill>
                    <a:latin typeface="宋体" panose="02010600030101010101" pitchFamily="2" charset="-122"/>
                  </a:rPr>
                  <a:t>3</a:t>
                </a:r>
              </a:p>
            </p:txBody>
          </p:sp>
          <p:cxnSp>
            <p:nvCxnSpPr>
              <p:cNvPr id="860" name="直接箭头连接符 859">
                <a:extLst>
                  <a:ext uri="{FF2B5EF4-FFF2-40B4-BE49-F238E27FC236}">
                    <a16:creationId xmlns:a16="http://schemas.microsoft.com/office/drawing/2014/main" id="{28FABCA5-2DFD-48A2-B142-E15CF99E0490}"/>
                  </a:ext>
                </a:extLst>
              </p:cNvPr>
              <p:cNvCxnSpPr/>
              <p:nvPr>
                <p:custDataLst>
                  <p:tags r:id="rId24"/>
                </p:custDataLst>
              </p:nvPr>
            </p:nvCxnSpPr>
            <p:spPr bwMode="auto">
              <a:xfrm>
                <a:off x="5686455" y="3888435"/>
                <a:ext cx="0" cy="10800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861" name="直接箭头连接符 860">
                <a:extLst>
                  <a:ext uri="{FF2B5EF4-FFF2-40B4-BE49-F238E27FC236}">
                    <a16:creationId xmlns:a16="http://schemas.microsoft.com/office/drawing/2014/main" id="{7BEB6800-2CAC-4E01-800D-371BF17CECAD}"/>
                  </a:ext>
                </a:extLst>
              </p:cNvPr>
              <p:cNvCxnSpPr/>
              <p:nvPr>
                <p:custDataLst>
                  <p:tags r:id="rId25"/>
                </p:custDataLst>
              </p:nvPr>
            </p:nvCxnSpPr>
            <p:spPr bwMode="auto">
              <a:xfrm>
                <a:off x="5614455" y="3636000"/>
                <a:ext cx="0" cy="10800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sm" len="sm"/>
                <a:tailEnd type="none" w="med" len="med"/>
              </a:ln>
              <a:effectLst/>
            </p:spPr>
          </p:cxnSp>
          <p:sp>
            <p:nvSpPr>
              <p:cNvPr id="862" name="Text Box 381">
                <a:extLst>
                  <a:ext uri="{FF2B5EF4-FFF2-40B4-BE49-F238E27FC236}">
                    <a16:creationId xmlns:a16="http://schemas.microsoft.com/office/drawing/2014/main" id="{24568C1D-2A19-4CE7-8A31-5BD1C974FC6C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6"/>
                </p:custDataLst>
              </p:nvPr>
            </p:nvSpPr>
            <p:spPr bwMode="auto">
              <a:xfrm>
                <a:off x="5580000" y="3744290"/>
                <a:ext cx="216000" cy="1440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0" rIns="18000" bIns="0" anchor="ctr"/>
              <a:lstStyle/>
              <a:p>
                <a:pPr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1400" b="1" u="none">
                    <a:latin typeface="宋体" panose="02010600030101010101" pitchFamily="2" charset="-122"/>
                  </a:rPr>
                  <a:t>&amp;</a:t>
                </a:r>
              </a:p>
            </p:txBody>
          </p:sp>
          <p:sp>
            <p:nvSpPr>
              <p:cNvPr id="863" name="Oval 382">
                <a:extLst>
                  <a:ext uri="{FF2B5EF4-FFF2-40B4-BE49-F238E27FC236}">
                    <a16:creationId xmlns:a16="http://schemas.microsoft.com/office/drawing/2014/main" id="{8040B76C-5CD0-4447-B362-231FDD025FF4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27"/>
                </p:custDataLst>
              </p:nvPr>
            </p:nvSpPr>
            <p:spPr bwMode="auto">
              <a:xfrm>
                <a:off x="5661255" y="3887800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64" name="Oval 382">
                <a:extLst>
                  <a:ext uri="{FF2B5EF4-FFF2-40B4-BE49-F238E27FC236}">
                    <a16:creationId xmlns:a16="http://schemas.microsoft.com/office/drawing/2014/main" id="{2967D5A0-B0B1-4ABC-821B-5AF93B003B2C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28"/>
                </p:custDataLst>
              </p:nvPr>
            </p:nvSpPr>
            <p:spPr bwMode="auto">
              <a:xfrm>
                <a:off x="5589255" y="3682800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cxnSp>
            <p:nvCxnSpPr>
              <p:cNvPr id="865" name="直接箭头连接符 864">
                <a:extLst>
                  <a:ext uri="{FF2B5EF4-FFF2-40B4-BE49-F238E27FC236}">
                    <a16:creationId xmlns:a16="http://schemas.microsoft.com/office/drawing/2014/main" id="{E10102E9-1C1D-4F72-A71B-92FE52A8E827}"/>
                  </a:ext>
                </a:extLst>
              </p:cNvPr>
              <p:cNvCxnSpPr/>
              <p:nvPr>
                <p:custDataLst>
                  <p:tags r:id="rId29"/>
                </p:custDataLst>
              </p:nvPr>
            </p:nvCxnSpPr>
            <p:spPr bwMode="auto">
              <a:xfrm>
                <a:off x="5758455" y="3492000"/>
                <a:ext cx="0" cy="25200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cxnSp>
          <p:nvCxnSpPr>
            <p:cNvPr id="854" name="直接箭头连接符 853">
              <a:extLst>
                <a:ext uri="{FF2B5EF4-FFF2-40B4-BE49-F238E27FC236}">
                  <a16:creationId xmlns:a16="http://schemas.microsoft.com/office/drawing/2014/main" id="{C3F85331-4CE0-4FB3-AD5E-F575FEB3014D}"/>
                </a:ext>
              </a:extLst>
            </p:cNvPr>
            <p:cNvCxnSpPr>
              <a:cxnSpLocks/>
            </p:cNvCxnSpPr>
            <p:nvPr>
              <p:custDataLst>
                <p:tags r:id="rId18"/>
              </p:custDataLst>
            </p:nvPr>
          </p:nvCxnSpPr>
          <p:spPr bwMode="auto">
            <a:xfrm flipH="1">
              <a:off x="4895765" y="4500000"/>
              <a:ext cx="144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55" name="Text Box 140">
              <a:extLst>
                <a:ext uri="{FF2B5EF4-FFF2-40B4-BE49-F238E27FC236}">
                  <a16:creationId xmlns:a16="http://schemas.microsoft.com/office/drawing/2014/main" id="{534E2927-4939-4E88-8279-4F77C9E10BE3}"/>
                </a:ext>
              </a:extLst>
            </p:cNvPr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3779824" y="4032000"/>
              <a:ext cx="576000" cy="144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u="none" dirty="0">
                  <a:latin typeface="宋体" panose="02010600030101010101" pitchFamily="2" charset="-122"/>
                </a:rPr>
                <a:t>D1 </a:t>
              </a:r>
              <a:r>
                <a:rPr lang="en-US" altLang="zh-CN" sz="1400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DM</a:t>
              </a:r>
              <a:r>
                <a:rPr lang="en-US" altLang="zh-CN" sz="1400" u="none" baseline="-18000" dirty="0">
                  <a:solidFill>
                    <a:srgbClr val="990099"/>
                  </a:solidFill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856" name="Text Box 140">
              <a:extLst>
                <a:ext uri="{FF2B5EF4-FFF2-40B4-BE49-F238E27FC236}">
                  <a16:creationId xmlns:a16="http://schemas.microsoft.com/office/drawing/2014/main" id="{98BDB056-B9CA-45FB-82B6-C7B64FF0E3E4}"/>
                </a:ext>
              </a:extLst>
            </p:cNvPr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3239824" y="4032000"/>
              <a:ext cx="576000" cy="144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>
                <a:lnSpc>
                  <a:spcPct val="90000"/>
                </a:lnSpc>
              </a:pPr>
              <a:r>
                <a:rPr lang="en-US" altLang="zh-CN" sz="1400" u="none" dirty="0">
                  <a:latin typeface="宋体" panose="02010600030101010101" pitchFamily="2" charset="-122"/>
                </a:rPr>
                <a:t>D2 </a:t>
              </a:r>
              <a:r>
                <a:rPr lang="en-US" altLang="zh-CN" sz="1400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DM</a:t>
              </a:r>
              <a:r>
                <a:rPr lang="en-US" altLang="zh-CN" sz="1400" u="none" baseline="-18000" dirty="0">
                  <a:solidFill>
                    <a:srgbClr val="990099"/>
                  </a:solidFill>
                  <a:latin typeface="宋体" panose="02010600030101010101" pitchFamily="2" charset="-122"/>
                </a:rPr>
                <a:t>2</a:t>
              </a:r>
            </a:p>
          </p:txBody>
        </p:sp>
        <p:sp>
          <p:nvSpPr>
            <p:cNvPr id="857" name="Text Box 140">
              <a:extLst>
                <a:ext uri="{FF2B5EF4-FFF2-40B4-BE49-F238E27FC236}">
                  <a16:creationId xmlns:a16="http://schemas.microsoft.com/office/drawing/2014/main" id="{62A0C9D6-FE9A-4117-9C84-702630D654DC}"/>
                </a:ext>
              </a:extLst>
            </p:cNvPr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2664000" y="4032000"/>
              <a:ext cx="576000" cy="144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>
                <a:lnSpc>
                  <a:spcPct val="90000"/>
                </a:lnSpc>
              </a:pPr>
              <a:r>
                <a:rPr lang="en-US" altLang="zh-CN" sz="1400" u="none" dirty="0">
                  <a:latin typeface="宋体" panose="02010600030101010101" pitchFamily="2" charset="-122"/>
                </a:rPr>
                <a:t>D3 </a:t>
              </a:r>
              <a:r>
                <a:rPr lang="en-US" altLang="zh-CN" sz="1400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DM</a:t>
              </a:r>
              <a:r>
                <a:rPr lang="en-US" altLang="zh-CN" sz="1400" u="none" baseline="-18000" dirty="0">
                  <a:solidFill>
                    <a:srgbClr val="990099"/>
                  </a:solidFill>
                  <a:latin typeface="宋体" panose="02010600030101010101" pitchFamily="2" charset="-122"/>
                </a:rPr>
                <a:t>3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30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0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3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3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3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3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3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9"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5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7" dur="500"/>
                                        <p:tgtEl>
                                          <p:spTgt spid="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2" dur="500"/>
                                        <p:tgtEl>
                                          <p:spTgt spid="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/>
                                        <p:tgtEl>
                                          <p:spTgt spid="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30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3C247DB-6613-4575-82B0-DD8897055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t>32</a:t>
            </a:fld>
            <a:endParaRPr lang="en-US" altLang="zh-CN" dirty="0"/>
          </a:p>
        </p:txBody>
      </p:sp>
      <p:sp>
        <p:nvSpPr>
          <p:cNvPr id="205" name="AutoShape 301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885F1E6F-0300-44E6-9C63-28D7037026E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2987824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0" name="Text Box 5">
            <a:extLst>
              <a:ext uri="{FF2B5EF4-FFF2-40B4-BE49-F238E27FC236}">
                <a16:creationId xmlns:a16="http://schemas.microsoft.com/office/drawing/2014/main" id="{81510C0F-B25F-4371-9B0C-9B13899DEF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332656"/>
            <a:ext cx="7091525" cy="6079549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 *存储系统的组成</a:t>
            </a: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续</a:t>
            </a: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： 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任务：</a:t>
            </a:r>
            <a:r>
              <a: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</a:rPr>
              <a:t>实现</a:t>
            </a:r>
            <a:r>
              <a:rPr lang="zh-CN" altLang="en-US" sz="1600" b="1" dirty="0">
                <a:latin typeface="宋体" panose="02010600030101010101" pitchFamily="2" charset="-122"/>
              </a:rPr>
              <a:t>信息存储、按逻辑地址访问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Cache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的组成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      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提高访存速度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思想：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组成：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工作过程：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实现：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虚拟存储器的组成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 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按逻辑地址访问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思想：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组成：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工作过程：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210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实现：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sp>
        <p:nvSpPr>
          <p:cNvPr id="206" name="Text Box 5">
            <a:extLst>
              <a:ext uri="{FF2B5EF4-FFF2-40B4-BE49-F238E27FC236}">
                <a16:creationId xmlns:a16="http://schemas.microsoft.com/office/drawing/2014/main" id="{6BA655C8-6199-42A1-ADD0-1D7597322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80" y="1124744"/>
            <a:ext cx="7128792" cy="5548575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 wrap="square" tIns="1080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latin typeface="宋体" panose="02010600030101010101" pitchFamily="2" charset="-122"/>
              </a:rPr>
              <a:t>用</a:t>
            </a:r>
            <a:r>
              <a:rPr lang="en-US" altLang="zh-CN" sz="2000" b="1" dirty="0">
                <a:solidFill>
                  <a:srgbClr val="0070C0"/>
                </a:solidFill>
                <a:latin typeface="宋体" panose="02010600030101010101" pitchFamily="2" charset="-122"/>
              </a:rPr>
              <a:t>SRAM</a:t>
            </a:r>
            <a:r>
              <a:rPr lang="zh-CN" altLang="en-US" sz="2000" b="1" dirty="0">
                <a:latin typeface="宋体" panose="02010600030101010101" pitchFamily="2" charset="-122"/>
              </a:rPr>
              <a:t>提速，按</a:t>
            </a:r>
            <a:r>
              <a:rPr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</a:rPr>
              <a:t>块</a:t>
            </a:r>
            <a:r>
              <a:rPr lang="zh-CN" altLang="en-US" sz="2000" b="1" dirty="0">
                <a:latin typeface="宋体" panose="02010600030101010101" pitchFamily="2" charset="-122"/>
              </a:rPr>
              <a:t>与主存交换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latin typeface="宋体" panose="02010600030101010101" pitchFamily="2" charset="-122"/>
              </a:rPr>
              <a:t>＝行的数组＋控制机构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地址变换</a:t>
            </a:r>
            <a:r>
              <a:rPr lang="en-US" altLang="zh-CN" sz="1600" b="1" dirty="0">
                <a:latin typeface="宋体" panose="02010600030101010101" pitchFamily="2" charset="-122"/>
              </a:rPr>
              <a:t>+</a:t>
            </a:r>
            <a:r>
              <a:rPr lang="zh-CN" altLang="en-US" sz="1600" b="1" dirty="0">
                <a:latin typeface="宋体" panose="02010600030101010101" pitchFamily="2" charset="-122"/>
              </a:rPr>
              <a:t>层次管理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latin typeface="宋体" panose="02010600030101010101" pitchFamily="2" charset="-122"/>
              </a:rPr>
              <a:t>    变换＋访问</a:t>
            </a:r>
            <a:r>
              <a:rPr lang="en-US" altLang="zh-CN" sz="2000" b="1" dirty="0">
                <a:latin typeface="宋体" panose="02010600030101010101" pitchFamily="2" charset="-122"/>
              </a:rPr>
              <a:t>[</a:t>
            </a:r>
            <a:r>
              <a:rPr lang="zh-CN" altLang="en-US" sz="2000" b="1" dirty="0">
                <a:latin typeface="宋体" panose="02010600030101010101" pitchFamily="2" charset="-122"/>
              </a:rPr>
              <a:t>＋写回</a:t>
            </a:r>
            <a:r>
              <a:rPr lang="en-US" altLang="zh-CN" sz="2000" b="1" dirty="0">
                <a:latin typeface="宋体" panose="02010600030101010101" pitchFamily="2" charset="-122"/>
              </a:rPr>
              <a:t>]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latin typeface="宋体" panose="02010600030101010101" pitchFamily="2" charset="-122"/>
              </a:rPr>
              <a:t>包括映射方式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含查找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</a:rPr>
              <a:t>、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latin typeface="宋体" panose="02010600030101010101" pitchFamily="2" charset="-122"/>
              </a:rPr>
              <a:t>    </a:t>
            </a:r>
            <a:r>
              <a:rPr lang="zh-CN" altLang="en-US" sz="2000" b="1" dirty="0">
                <a:latin typeface="宋体" panose="02010600030101010101" pitchFamily="2" charset="-122"/>
              </a:rPr>
              <a:t>替换算法、写策略</a:t>
            </a:r>
            <a:endParaRPr lang="en-US" altLang="zh-CN" sz="16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latin typeface="宋体" panose="02010600030101010101" pitchFamily="2" charset="-122"/>
              </a:rPr>
              <a:t>用</a:t>
            </a:r>
            <a:r>
              <a:rPr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辅存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交换区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</a:rPr>
              <a:t>扩展主存空间，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latin typeface="宋体" panose="02010600030101010101" pitchFamily="2" charset="-122"/>
              </a:rPr>
              <a:t>程序按</a:t>
            </a:r>
            <a:r>
              <a:rPr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</a:rPr>
              <a:t>段</a:t>
            </a:r>
            <a:r>
              <a:rPr lang="en-US" altLang="zh-CN" sz="2000" b="1" dirty="0">
                <a:solidFill>
                  <a:srgbClr val="0070C0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</a:rPr>
              <a:t>页</a:t>
            </a:r>
            <a:r>
              <a:rPr lang="zh-CN" altLang="en-US" sz="2000" b="1" dirty="0">
                <a:latin typeface="宋体" panose="02010600030101010101" pitchFamily="2" charset="-122"/>
              </a:rPr>
              <a:t>交换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程序的一部分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latin typeface="宋体" panose="02010600030101010101" pitchFamily="2" charset="-122"/>
              </a:rPr>
              <a:t>＝主存＋辅存＋</a:t>
            </a:r>
            <a:r>
              <a:rPr lang="en-US" altLang="zh-CN" sz="2000" b="1" dirty="0">
                <a:latin typeface="宋体" panose="02010600030101010101" pitchFamily="2" charset="-122"/>
              </a:rPr>
              <a:t>MMU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地址变换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</a:rPr>
              <a:t>＋软件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主存管理</a:t>
            </a:r>
            <a:r>
              <a:rPr lang="en-US" altLang="zh-CN" sz="1600" b="1" dirty="0">
                <a:latin typeface="宋体" panose="02010600030101010101" pitchFamily="2" charset="-122"/>
              </a:rPr>
              <a:t>&amp;</a:t>
            </a:r>
            <a:r>
              <a:rPr lang="zh-CN" altLang="en-US" sz="1600" b="1" dirty="0">
                <a:latin typeface="宋体" panose="02010600030101010101" pitchFamily="2" charset="-122"/>
              </a:rPr>
              <a:t>层次管理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latin typeface="宋体" panose="02010600030101010101" pitchFamily="2" charset="-122"/>
              </a:rPr>
              <a:t>    </a:t>
            </a:r>
            <a:r>
              <a:rPr lang="zh-CN" altLang="en-US" sz="2000" b="1" dirty="0">
                <a:latin typeface="宋体" panose="02010600030101010101" pitchFamily="2" charset="-122"/>
              </a:rPr>
              <a:t>地址变换</a:t>
            </a:r>
            <a:r>
              <a:rPr lang="en-US" altLang="zh-CN" sz="2000" b="1" dirty="0">
                <a:latin typeface="宋体" panose="02010600030101010101" pitchFamily="2" charset="-122"/>
              </a:rPr>
              <a:t>[</a:t>
            </a:r>
            <a:r>
              <a:rPr lang="zh-CN" altLang="en-US" sz="2000" b="1" dirty="0">
                <a:latin typeface="宋体" panose="02010600030101010101" pitchFamily="2" charset="-122"/>
              </a:rPr>
              <a:t>＋层次管理</a:t>
            </a:r>
            <a:r>
              <a:rPr lang="en-US" altLang="zh-CN" sz="2000" b="1" dirty="0">
                <a:latin typeface="宋体" panose="02010600030101010101" pitchFamily="2" charset="-122"/>
              </a:rPr>
              <a:t>]</a:t>
            </a:r>
            <a:r>
              <a:rPr lang="zh-CN" altLang="en-US" sz="2000" b="1" dirty="0">
                <a:latin typeface="宋体" panose="02010600030101010101" pitchFamily="2" charset="-122"/>
              </a:rPr>
              <a:t>＋访问主存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2100"/>
              </a:spcBef>
            </a:pPr>
            <a:r>
              <a:rPr lang="zh-CN" altLang="en-US" sz="2000" b="1" dirty="0">
                <a:latin typeface="宋体" panose="02010600030101010101" pitchFamily="2" charset="-122"/>
              </a:rPr>
              <a:t>变换过程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访问表项</a:t>
            </a:r>
            <a:r>
              <a:rPr lang="en-US" altLang="zh-CN" sz="1600" b="1" dirty="0">
                <a:latin typeface="宋体" panose="02010600030101010101" pitchFamily="2" charset="-122"/>
              </a:rPr>
              <a:t>+…)</a:t>
            </a:r>
            <a:r>
              <a:rPr lang="zh-CN" altLang="en-US" sz="2000" b="1" dirty="0">
                <a:latin typeface="宋体" panose="02010600030101010101" pitchFamily="2" charset="-122"/>
              </a:rPr>
              <a:t>、优化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增加</a:t>
            </a:r>
            <a:r>
              <a:rPr lang="en-US" altLang="zh-CN" sz="1600" b="1" dirty="0">
                <a:latin typeface="宋体" panose="02010600030101010101" pitchFamily="2" charset="-122"/>
              </a:rPr>
              <a:t>TLB)</a:t>
            </a: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altLang="zh-CN" sz="1600" b="1" dirty="0">
                <a:latin typeface="宋体" panose="02010600030101010101" pitchFamily="2" charset="-122"/>
              </a:rPr>
              <a:t>                </a:t>
            </a:r>
            <a:r>
              <a:rPr lang="en-US" altLang="zh-CN" sz="1600" dirty="0">
                <a:latin typeface="宋体" panose="02010600030101010101" pitchFamily="2" charset="-122"/>
              </a:rPr>
              <a:t>└</a:t>
            </a:r>
            <a:r>
              <a:rPr lang="en-US" altLang="zh-CN" sz="1600" b="1" dirty="0">
                <a:latin typeface="宋体" panose="02010600030101010101" pitchFamily="2" charset="-122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</a:rPr>
              <a:t>映射表由软件组织，缺页由软件处理</a:t>
            </a:r>
            <a:endParaRPr lang="en-US" altLang="zh-CN" sz="1600" b="1" dirty="0">
              <a:latin typeface="宋体" panose="02010600030101010101" pitchFamily="2" charset="-122"/>
            </a:endParaRPr>
          </a:p>
        </p:txBody>
      </p:sp>
      <p:grpSp>
        <p:nvGrpSpPr>
          <p:cNvPr id="207" name="组合 206">
            <a:extLst>
              <a:ext uri="{FF2B5EF4-FFF2-40B4-BE49-F238E27FC236}">
                <a16:creationId xmlns:a16="http://schemas.microsoft.com/office/drawing/2014/main" id="{9769CCD0-9A4E-4934-B564-B17FE6DA42AF}"/>
              </a:ext>
            </a:extLst>
          </p:cNvPr>
          <p:cNvGrpSpPr/>
          <p:nvPr/>
        </p:nvGrpSpPr>
        <p:grpSpPr>
          <a:xfrm>
            <a:off x="5868144" y="1268760"/>
            <a:ext cx="3024184" cy="253552"/>
            <a:chOff x="1979870" y="6018616"/>
            <a:chExt cx="3024184" cy="290704"/>
          </a:xfrm>
        </p:grpSpPr>
        <p:sp>
          <p:nvSpPr>
            <p:cNvPr id="208" name="Text Box 1364">
              <a:extLst>
                <a:ext uri="{FF2B5EF4-FFF2-40B4-BE49-F238E27FC236}">
                  <a16:creationId xmlns:a16="http://schemas.microsoft.com/office/drawing/2014/main" id="{C32504C3-F629-4CEC-8846-FBC5CED236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9870" y="6020395"/>
              <a:ext cx="756000" cy="288925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行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结构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: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09" name="Text Box 1367">
              <a:extLst>
                <a:ext uri="{FF2B5EF4-FFF2-40B4-BE49-F238E27FC236}">
                  <a16:creationId xmlns:a16="http://schemas.microsoft.com/office/drawing/2014/main" id="{F6356634-4090-4AAC-AC99-1B50EFF73F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2054" y="6020395"/>
              <a:ext cx="216000" cy="288925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V</a:t>
              </a:r>
              <a:endParaRPr lang="zh-CN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10" name="Text Box 1368">
              <a:extLst>
                <a:ext uri="{FF2B5EF4-FFF2-40B4-BE49-F238E27FC236}">
                  <a16:creationId xmlns:a16="http://schemas.microsoft.com/office/drawing/2014/main" id="{8DB64F2A-431B-4B2D-97AA-A58900437A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8054" y="6020395"/>
              <a:ext cx="540000" cy="288925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Tag</a:t>
              </a:r>
              <a:endParaRPr lang="zh-CN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11" name="Text Box 1369">
              <a:extLst>
                <a:ext uri="{FF2B5EF4-FFF2-40B4-BE49-F238E27FC236}">
                  <a16:creationId xmlns:a16="http://schemas.microsoft.com/office/drawing/2014/main" id="{E51EB821-E6A1-403D-BB06-872F68D466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0054" y="6020395"/>
              <a:ext cx="864000" cy="288925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缓存块</a:t>
              </a:r>
              <a:endParaRPr lang="zh-CN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12" name="Text Box 1375">
              <a:extLst>
                <a:ext uri="{FF2B5EF4-FFF2-40B4-BE49-F238E27FC236}">
                  <a16:creationId xmlns:a16="http://schemas.microsoft.com/office/drawing/2014/main" id="{BB61FE49-0DD7-48A6-A824-A876BAEA7F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4054" y="6020395"/>
              <a:ext cx="216024" cy="288925"/>
            </a:xfrm>
            <a:prstGeom prst="rect">
              <a:avLst/>
            </a:prstGeom>
            <a:solidFill>
              <a:srgbClr val="CCFFCC"/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solidFill>
                    <a:srgbClr val="FF3399"/>
                  </a:solidFill>
                  <a:latin typeface="宋体" panose="02010600030101010101" pitchFamily="2" charset="-122"/>
                </a:rPr>
                <a:t>M</a:t>
              </a:r>
            </a:p>
          </p:txBody>
        </p:sp>
        <p:sp>
          <p:nvSpPr>
            <p:cNvPr id="213" name="Text Box 1375">
              <a:extLst>
                <a:ext uri="{FF2B5EF4-FFF2-40B4-BE49-F238E27FC236}">
                  <a16:creationId xmlns:a16="http://schemas.microsoft.com/office/drawing/2014/main" id="{1457C2B0-B7D0-440D-8052-8C919D4F68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8054" y="6018616"/>
              <a:ext cx="396000" cy="287015"/>
            </a:xfrm>
            <a:prstGeom prst="rect">
              <a:avLst/>
            </a:prstGeom>
            <a:solidFill>
              <a:srgbClr val="CCFFCC"/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LRU</a:t>
              </a:r>
              <a:endParaRPr lang="en-US" altLang="zh-CN" sz="1600" b="1" u="none" dirty="0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214" name="组合 213">
            <a:extLst>
              <a:ext uri="{FF2B5EF4-FFF2-40B4-BE49-F238E27FC236}">
                <a16:creationId xmlns:a16="http://schemas.microsoft.com/office/drawing/2014/main" id="{0B43D4B0-D7C0-4542-BCFE-92B34C15ABF2}"/>
              </a:ext>
            </a:extLst>
          </p:cNvPr>
          <p:cNvGrpSpPr/>
          <p:nvPr/>
        </p:nvGrpSpPr>
        <p:grpSpPr>
          <a:xfrm>
            <a:off x="1116000" y="4941168"/>
            <a:ext cx="3780000" cy="900000"/>
            <a:chOff x="2232000" y="5437672"/>
            <a:chExt cx="3780000" cy="900000"/>
          </a:xfrm>
        </p:grpSpPr>
        <p:sp>
          <p:nvSpPr>
            <p:cNvPr id="215" name="Text Box 24" descr="宽上对角线">
              <a:extLst>
                <a:ext uri="{FF2B5EF4-FFF2-40B4-BE49-F238E27FC236}">
                  <a16:creationId xmlns:a16="http://schemas.microsoft.com/office/drawing/2014/main" id="{912646AE-3094-46D4-927F-838EB2B146BB}"/>
                </a:ext>
              </a:extLst>
            </p:cNvPr>
            <p:cNvSpPr txBox="1">
              <a:spLocks noChangeArrowheads="1"/>
            </p:cNvSpPr>
            <p:nvPr>
              <p:custDataLst>
                <p:tags r:id="rId69"/>
              </p:custDataLst>
            </p:nvPr>
          </p:nvSpPr>
          <p:spPr bwMode="auto">
            <a:xfrm>
              <a:off x="2519999" y="5473672"/>
              <a:ext cx="3384000" cy="864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44000" rIns="18000" bIns="10800" anchor="t" anchorCtr="0"/>
            <a:lstStyle/>
            <a:p>
              <a:endParaRPr lang="en-US" altLang="zh-CN" sz="1800" b="1" u="none" dirty="0">
                <a:latin typeface="+mn-ea"/>
                <a:ea typeface="+mn-ea"/>
              </a:endParaRPr>
            </a:p>
          </p:txBody>
        </p:sp>
        <p:sp>
          <p:nvSpPr>
            <p:cNvPr id="216" name="Text Box 118">
              <a:extLst>
                <a:ext uri="{FF2B5EF4-FFF2-40B4-BE49-F238E27FC236}">
                  <a16:creationId xmlns:a16="http://schemas.microsoft.com/office/drawing/2014/main" id="{FCF0C751-1B9E-4F5A-8058-37E3EB673989}"/>
                </a:ext>
              </a:extLst>
            </p:cNvPr>
            <p:cNvSpPr txBox="1">
              <a:spLocks noChangeArrowheads="1"/>
            </p:cNvSpPr>
            <p:nvPr>
              <p:custDataLst>
                <p:tags r:id="rId70"/>
              </p:custDataLst>
            </p:nvPr>
          </p:nvSpPr>
          <p:spPr bwMode="auto">
            <a:xfrm>
              <a:off x="3312000" y="5976000"/>
              <a:ext cx="504000" cy="288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主存</a:t>
              </a:r>
            </a:p>
          </p:txBody>
        </p:sp>
        <p:sp>
          <p:nvSpPr>
            <p:cNvPr id="217" name="Text Box 176">
              <a:extLst>
                <a:ext uri="{FF2B5EF4-FFF2-40B4-BE49-F238E27FC236}">
                  <a16:creationId xmlns:a16="http://schemas.microsoft.com/office/drawing/2014/main" id="{1F9D173B-981F-49FC-B177-C41B62E1DFC6}"/>
                </a:ext>
              </a:extLst>
            </p:cNvPr>
            <p:cNvSpPr txBox="1">
              <a:spLocks noChangeArrowheads="1"/>
            </p:cNvSpPr>
            <p:nvPr>
              <p:custDataLst>
                <p:tags r:id="rId71"/>
              </p:custDataLst>
            </p:nvPr>
          </p:nvSpPr>
          <p:spPr bwMode="auto">
            <a:xfrm>
              <a:off x="2232000" y="5437672"/>
              <a:ext cx="216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u="none" dirty="0">
                  <a:solidFill>
                    <a:schemeClr val="tx1"/>
                  </a:solidFill>
                  <a:latin typeface="宋体" panose="02010600030101010101" pitchFamily="2" charset="-122"/>
                </a:rPr>
                <a:t>VA</a:t>
              </a:r>
              <a:endParaRPr lang="zh-CN" altLang="en-US" sz="1400" b="1" u="none" dirty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218" name="直接箭头连接符 217">
              <a:extLst>
                <a:ext uri="{FF2B5EF4-FFF2-40B4-BE49-F238E27FC236}">
                  <a16:creationId xmlns:a16="http://schemas.microsoft.com/office/drawing/2014/main" id="{51BDA04B-D61D-4448-84BA-110C98177C4F}"/>
                </a:ext>
              </a:extLst>
            </p:cNvPr>
            <p:cNvCxnSpPr/>
            <p:nvPr>
              <p:custDataLst>
                <p:tags r:id="rId72"/>
              </p:custDataLst>
            </p:nvPr>
          </p:nvCxnSpPr>
          <p:spPr bwMode="auto">
            <a:xfrm>
              <a:off x="2412000" y="6120000"/>
              <a:ext cx="900000" cy="635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19" name="直接箭头连接符 218">
              <a:extLst>
                <a:ext uri="{FF2B5EF4-FFF2-40B4-BE49-F238E27FC236}">
                  <a16:creationId xmlns:a16="http://schemas.microsoft.com/office/drawing/2014/main" id="{653F9ABC-1DE4-45AA-BE51-5C5CE7AD0E4C}"/>
                </a:ext>
              </a:extLst>
            </p:cNvPr>
            <p:cNvCxnSpPr/>
            <p:nvPr>
              <p:custDataLst>
                <p:tags r:id="rId73"/>
              </p:custDataLst>
            </p:nvPr>
          </p:nvCxnSpPr>
          <p:spPr bwMode="auto">
            <a:xfrm>
              <a:off x="2412000" y="6192000"/>
              <a:ext cx="900000" cy="635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triangle" w="med" len="sm"/>
              <a:tailEnd type="triangle" w="med" len="sm"/>
            </a:ln>
            <a:effectLst/>
          </p:spPr>
        </p:cxnSp>
        <p:sp>
          <p:nvSpPr>
            <p:cNvPr id="220" name="Text Box 212">
              <a:extLst>
                <a:ext uri="{FF2B5EF4-FFF2-40B4-BE49-F238E27FC236}">
                  <a16:creationId xmlns:a16="http://schemas.microsoft.com/office/drawing/2014/main" id="{94B668AF-0E76-4FCE-A746-275C0D4A0BE2}"/>
                </a:ext>
              </a:extLst>
            </p:cNvPr>
            <p:cNvSpPr txBox="1">
              <a:spLocks noChangeArrowheads="1"/>
            </p:cNvSpPr>
            <p:nvPr>
              <p:custDataLst>
                <p:tags r:id="rId74"/>
              </p:custDataLst>
            </p:nvPr>
          </p:nvSpPr>
          <p:spPr bwMode="auto">
            <a:xfrm>
              <a:off x="2952000" y="5868000"/>
              <a:ext cx="144000" cy="179705"/>
            </a:xfrm>
            <a:prstGeom prst="rect">
              <a:avLst/>
            </a:prstGeom>
            <a:solidFill>
              <a:schemeClr val="bg1"/>
            </a:solidFill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T</a:t>
              </a:r>
              <a:endParaRPr lang="zh-CN" altLang="en-US" sz="1400" b="1" u="none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221" name="Text Box 221">
              <a:extLst>
                <a:ext uri="{FF2B5EF4-FFF2-40B4-BE49-F238E27FC236}">
                  <a16:creationId xmlns:a16="http://schemas.microsoft.com/office/drawing/2014/main" id="{06EC91EC-044E-4C78-8CA7-1E664FDB07B6}"/>
                </a:ext>
              </a:extLst>
            </p:cNvPr>
            <p:cNvSpPr txBox="1">
              <a:spLocks noChangeArrowheads="1"/>
            </p:cNvSpPr>
            <p:nvPr>
              <p:custDataLst>
                <p:tags r:id="rId75"/>
              </p:custDataLst>
            </p:nvPr>
          </p:nvSpPr>
          <p:spPr bwMode="auto">
            <a:xfrm>
              <a:off x="3852000" y="5579856"/>
              <a:ext cx="144000" cy="179705"/>
            </a:xfrm>
            <a:prstGeom prst="rect">
              <a:avLst/>
            </a:prstGeom>
            <a:solidFill>
              <a:schemeClr val="bg1"/>
            </a:solidFill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F</a:t>
              </a:r>
              <a:endParaRPr lang="zh-CN" altLang="en-US" sz="1400" b="1" u="none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222" name="直接箭头连接符 55">
              <a:extLst>
                <a:ext uri="{FF2B5EF4-FFF2-40B4-BE49-F238E27FC236}">
                  <a16:creationId xmlns:a16="http://schemas.microsoft.com/office/drawing/2014/main" id="{6C1A7009-A23D-4B04-A891-7C19ECFE9BBA}"/>
                </a:ext>
              </a:extLst>
            </p:cNvPr>
            <p:cNvCxnSpPr/>
            <p:nvPr>
              <p:custDataLst>
                <p:tags r:id="rId76"/>
              </p:custDataLst>
            </p:nvPr>
          </p:nvCxnSpPr>
          <p:spPr bwMode="auto">
            <a:xfrm>
              <a:off x="2916000" y="5868146"/>
              <a:ext cx="0" cy="180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sm"/>
              <a:tailEnd type="none" w="med" len="sm"/>
            </a:ln>
            <a:effectLst/>
          </p:spPr>
        </p:cxnSp>
        <p:cxnSp>
          <p:nvCxnSpPr>
            <p:cNvPr id="223" name="直接箭头连接符 55">
              <a:extLst>
                <a:ext uri="{FF2B5EF4-FFF2-40B4-BE49-F238E27FC236}">
                  <a16:creationId xmlns:a16="http://schemas.microsoft.com/office/drawing/2014/main" id="{18F66162-39CB-4B5E-991A-95D948537B14}"/>
                </a:ext>
              </a:extLst>
            </p:cNvPr>
            <p:cNvCxnSpPr/>
            <p:nvPr>
              <p:custDataLst>
                <p:tags r:id="rId77"/>
              </p:custDataLst>
            </p:nvPr>
          </p:nvCxnSpPr>
          <p:spPr bwMode="auto">
            <a:xfrm>
              <a:off x="3276000" y="5544296"/>
              <a:ext cx="0" cy="10795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oval" w="sm" len="sm"/>
              <a:tailEnd type="triangle" w="med" len="sm"/>
            </a:ln>
            <a:effectLst/>
          </p:spPr>
        </p:cxnSp>
        <p:cxnSp>
          <p:nvCxnSpPr>
            <p:cNvPr id="224" name="直接箭头连接符 223">
              <a:extLst>
                <a:ext uri="{FF2B5EF4-FFF2-40B4-BE49-F238E27FC236}">
                  <a16:creationId xmlns:a16="http://schemas.microsoft.com/office/drawing/2014/main" id="{78797853-A3CB-4A6E-BB21-912B9739BC0F}"/>
                </a:ext>
              </a:extLst>
            </p:cNvPr>
            <p:cNvCxnSpPr/>
            <p:nvPr>
              <p:custDataLst>
                <p:tags r:id="rId78"/>
              </p:custDataLst>
            </p:nvPr>
          </p:nvCxnSpPr>
          <p:spPr bwMode="auto">
            <a:xfrm>
              <a:off x="3815714" y="5760196"/>
              <a:ext cx="324000" cy="635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25" name="Text Box 230">
              <a:extLst>
                <a:ext uri="{FF2B5EF4-FFF2-40B4-BE49-F238E27FC236}">
                  <a16:creationId xmlns:a16="http://schemas.microsoft.com/office/drawing/2014/main" id="{13473713-67FE-40A0-B4C1-3C084D57F235}"/>
                </a:ext>
              </a:extLst>
            </p:cNvPr>
            <p:cNvSpPr txBox="1">
              <a:spLocks noChangeArrowheads="1"/>
            </p:cNvSpPr>
            <p:nvPr>
              <p:custDataLst>
                <p:tags r:id="rId79"/>
              </p:custDataLst>
            </p:nvPr>
          </p:nvSpPr>
          <p:spPr bwMode="auto">
            <a:xfrm>
              <a:off x="4140000" y="5868000"/>
              <a:ext cx="792000" cy="2159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u="none" dirty="0">
                  <a:latin typeface="宋体" panose="02010600030101010101" pitchFamily="2" charset="-122"/>
                </a:rPr>
                <a:t>主存管理</a:t>
              </a:r>
            </a:p>
          </p:txBody>
        </p:sp>
        <p:cxnSp>
          <p:nvCxnSpPr>
            <p:cNvPr id="226" name="直接箭头连接符 55">
              <a:extLst>
                <a:ext uri="{FF2B5EF4-FFF2-40B4-BE49-F238E27FC236}">
                  <a16:creationId xmlns:a16="http://schemas.microsoft.com/office/drawing/2014/main" id="{0C0945E8-C85B-4056-B722-2A224E7CB820}"/>
                </a:ext>
              </a:extLst>
            </p:cNvPr>
            <p:cNvCxnSpPr/>
            <p:nvPr>
              <p:custDataLst>
                <p:tags r:id="rId80"/>
              </p:custDataLst>
            </p:nvPr>
          </p:nvCxnSpPr>
          <p:spPr bwMode="auto">
            <a:xfrm>
              <a:off x="5076000" y="5544000"/>
              <a:ext cx="0" cy="108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sm" len="sm"/>
              <a:tailEnd type="triangle" w="med" len="sm"/>
            </a:ln>
            <a:effectLst/>
          </p:spPr>
        </p:cxnSp>
        <p:cxnSp>
          <p:nvCxnSpPr>
            <p:cNvPr id="227" name="直接箭头连接符 226">
              <a:extLst>
                <a:ext uri="{FF2B5EF4-FFF2-40B4-BE49-F238E27FC236}">
                  <a16:creationId xmlns:a16="http://schemas.microsoft.com/office/drawing/2014/main" id="{725A29CA-E0E1-4F31-9CAF-8517A40CB41B}"/>
                </a:ext>
              </a:extLst>
            </p:cNvPr>
            <p:cNvCxnSpPr/>
            <p:nvPr>
              <p:custDataLst>
                <p:tags r:id="rId81"/>
              </p:custDataLst>
            </p:nvPr>
          </p:nvCxnSpPr>
          <p:spPr bwMode="auto">
            <a:xfrm flipH="1">
              <a:off x="3816000" y="6048000"/>
              <a:ext cx="324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28" name="直接箭头连接符 227">
              <a:extLst>
                <a:ext uri="{FF2B5EF4-FFF2-40B4-BE49-F238E27FC236}">
                  <a16:creationId xmlns:a16="http://schemas.microsoft.com/office/drawing/2014/main" id="{C2E1297F-04DA-45C4-90E4-2AF02E594F2D}"/>
                </a:ext>
              </a:extLst>
            </p:cNvPr>
            <p:cNvCxnSpPr/>
            <p:nvPr>
              <p:custDataLst>
                <p:tags r:id="rId82"/>
              </p:custDataLst>
            </p:nvPr>
          </p:nvCxnSpPr>
          <p:spPr bwMode="auto">
            <a:xfrm>
              <a:off x="3960000" y="5940000"/>
              <a:ext cx="180000" cy="635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29" name="Text Box 119">
              <a:extLst>
                <a:ext uri="{FF2B5EF4-FFF2-40B4-BE49-F238E27FC236}">
                  <a16:creationId xmlns:a16="http://schemas.microsoft.com/office/drawing/2014/main" id="{E991BA3F-1F85-427F-9638-FD151C78E503}"/>
                </a:ext>
              </a:extLst>
            </p:cNvPr>
            <p:cNvSpPr txBox="1">
              <a:spLocks noChangeArrowheads="1"/>
            </p:cNvSpPr>
            <p:nvPr>
              <p:custDataLst>
                <p:tags r:id="rId83"/>
              </p:custDataLst>
            </p:nvPr>
          </p:nvSpPr>
          <p:spPr bwMode="auto">
            <a:xfrm>
              <a:off x="5328000" y="5976000"/>
              <a:ext cx="504000" cy="288000"/>
            </a:xfrm>
            <a:prstGeom prst="rect">
              <a:avLst/>
            </a:prstGeom>
            <a:solidFill>
              <a:srgbClr val="CCE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辅存</a:t>
              </a:r>
            </a:p>
          </p:txBody>
        </p:sp>
        <p:sp>
          <p:nvSpPr>
            <p:cNvPr id="230" name="Text Box 212">
              <a:extLst>
                <a:ext uri="{FF2B5EF4-FFF2-40B4-BE49-F238E27FC236}">
                  <a16:creationId xmlns:a16="http://schemas.microsoft.com/office/drawing/2014/main" id="{5926AD44-CCC1-4523-AE12-3DE2E4D78D15}"/>
                </a:ext>
              </a:extLst>
            </p:cNvPr>
            <p:cNvSpPr txBox="1">
              <a:spLocks noChangeArrowheads="1"/>
            </p:cNvSpPr>
            <p:nvPr>
              <p:custDataLst>
                <p:tags r:id="rId84"/>
              </p:custDataLst>
            </p:nvPr>
          </p:nvSpPr>
          <p:spPr bwMode="auto">
            <a:xfrm>
              <a:off x="5040000" y="5868000"/>
              <a:ext cx="180000" cy="180000"/>
            </a:xfrm>
            <a:prstGeom prst="rect">
              <a:avLst/>
            </a:prstGeom>
            <a:solidFill>
              <a:schemeClr val="bg1"/>
            </a:solidFill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T</a:t>
              </a:r>
              <a:endParaRPr lang="zh-CN" altLang="en-US" sz="14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31" name="Text Box 221">
              <a:extLst>
                <a:ext uri="{FF2B5EF4-FFF2-40B4-BE49-F238E27FC236}">
                  <a16:creationId xmlns:a16="http://schemas.microsoft.com/office/drawing/2014/main" id="{00990D10-E5B8-4A17-B216-011853DB81DA}"/>
                </a:ext>
              </a:extLst>
            </p:cNvPr>
            <p:cNvSpPr txBox="1">
              <a:spLocks noChangeArrowheads="1"/>
            </p:cNvSpPr>
            <p:nvPr>
              <p:custDataLst>
                <p:tags r:id="rId85"/>
              </p:custDataLst>
            </p:nvPr>
          </p:nvSpPr>
          <p:spPr bwMode="auto">
            <a:xfrm>
              <a:off x="5400000" y="5580000"/>
              <a:ext cx="144000" cy="179705"/>
            </a:xfrm>
            <a:prstGeom prst="rect">
              <a:avLst/>
            </a:prstGeom>
            <a:solidFill>
              <a:schemeClr val="bg1"/>
            </a:solidFill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u="none" dirty="0">
                  <a:latin typeface="宋体" panose="02010600030101010101" pitchFamily="2" charset="-122"/>
                </a:rPr>
                <a:t>F</a:t>
              </a:r>
              <a:endParaRPr lang="zh-CN" altLang="en-US" sz="14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232" name="直接箭头连接符 55">
              <a:extLst>
                <a:ext uri="{FF2B5EF4-FFF2-40B4-BE49-F238E27FC236}">
                  <a16:creationId xmlns:a16="http://schemas.microsoft.com/office/drawing/2014/main" id="{2E365598-50D6-4CD9-AC3E-9111B5C41CB5}"/>
                </a:ext>
              </a:extLst>
            </p:cNvPr>
            <p:cNvCxnSpPr/>
            <p:nvPr>
              <p:custDataLst>
                <p:tags r:id="rId86"/>
              </p:custDataLst>
            </p:nvPr>
          </p:nvCxnSpPr>
          <p:spPr bwMode="auto">
            <a:xfrm>
              <a:off x="5004000" y="5867900"/>
              <a:ext cx="0" cy="1800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sm"/>
              <a:tailEnd type="none" w="med" len="sm"/>
            </a:ln>
            <a:effectLst/>
          </p:spPr>
        </p:cxnSp>
        <p:cxnSp>
          <p:nvCxnSpPr>
            <p:cNvPr id="233" name="直接箭头连接符 232">
              <a:extLst>
                <a:ext uri="{FF2B5EF4-FFF2-40B4-BE49-F238E27FC236}">
                  <a16:creationId xmlns:a16="http://schemas.microsoft.com/office/drawing/2014/main" id="{72DCB8E7-EEE2-440F-90A1-8411934A04E8}"/>
                </a:ext>
              </a:extLst>
            </p:cNvPr>
            <p:cNvCxnSpPr/>
            <p:nvPr>
              <p:custDataLst>
                <p:tags r:id="rId87"/>
              </p:custDataLst>
            </p:nvPr>
          </p:nvCxnSpPr>
          <p:spPr bwMode="auto">
            <a:xfrm flipV="1">
              <a:off x="5004000" y="6048000"/>
              <a:ext cx="324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34" name="直接箭头连接符 233">
              <a:extLst>
                <a:ext uri="{FF2B5EF4-FFF2-40B4-BE49-F238E27FC236}">
                  <a16:creationId xmlns:a16="http://schemas.microsoft.com/office/drawing/2014/main" id="{C25A87B5-2A17-4C93-870F-C93DEC728426}"/>
                </a:ext>
              </a:extLst>
            </p:cNvPr>
            <p:cNvCxnSpPr/>
            <p:nvPr>
              <p:custDataLst>
                <p:tags r:id="rId88"/>
              </p:custDataLst>
            </p:nvPr>
          </p:nvCxnSpPr>
          <p:spPr bwMode="auto">
            <a:xfrm>
              <a:off x="3816000" y="6228000"/>
              <a:ext cx="151200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triangle" w="med" len="sm"/>
              <a:tailEnd type="triangle" w="med" len="sm"/>
            </a:ln>
            <a:effectLst/>
          </p:spPr>
        </p:cxnSp>
        <p:cxnSp>
          <p:nvCxnSpPr>
            <p:cNvPr id="235" name="直接箭头连接符 234">
              <a:extLst>
                <a:ext uri="{FF2B5EF4-FFF2-40B4-BE49-F238E27FC236}">
                  <a16:creationId xmlns:a16="http://schemas.microsoft.com/office/drawing/2014/main" id="{DBCAB4D4-20CF-4785-8A85-42215EC00F10}"/>
                </a:ext>
              </a:extLst>
            </p:cNvPr>
            <p:cNvCxnSpPr/>
            <p:nvPr>
              <p:custDataLst>
                <p:tags r:id="rId89"/>
              </p:custDataLst>
            </p:nvPr>
          </p:nvCxnSpPr>
          <p:spPr bwMode="auto">
            <a:xfrm>
              <a:off x="2448000" y="5544000"/>
              <a:ext cx="2628000" cy="635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36" name="Text Box 211">
              <a:extLst>
                <a:ext uri="{FF2B5EF4-FFF2-40B4-BE49-F238E27FC236}">
                  <a16:creationId xmlns:a16="http://schemas.microsoft.com/office/drawing/2014/main" id="{89A762C3-7D77-44B0-A97C-5522577D5437}"/>
                </a:ext>
              </a:extLst>
            </p:cNvPr>
            <p:cNvSpPr txBox="1">
              <a:spLocks noChangeArrowheads="1"/>
            </p:cNvSpPr>
            <p:nvPr>
              <p:custDataLst>
                <p:tags r:id="rId90"/>
              </p:custDataLst>
            </p:nvPr>
          </p:nvSpPr>
          <p:spPr bwMode="auto">
            <a:xfrm>
              <a:off x="2592069" y="5652246"/>
              <a:ext cx="1224280" cy="2159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400" b="1" u="none" dirty="0">
                  <a:latin typeface="宋体" panose="02010600030101010101" pitchFamily="2" charset="-122"/>
                </a:rPr>
                <a:t>虚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-</a:t>
              </a:r>
              <a:r>
                <a:rPr lang="zh-CN" altLang="en-US" sz="1400" b="1" u="none" dirty="0">
                  <a:latin typeface="宋体" panose="02010600030101010101" pitchFamily="2" charset="-122"/>
                </a:rPr>
                <a:t>实地址变换</a:t>
              </a:r>
            </a:p>
          </p:txBody>
        </p:sp>
        <p:sp>
          <p:nvSpPr>
            <p:cNvPr id="237" name="Text Box 211">
              <a:extLst>
                <a:ext uri="{FF2B5EF4-FFF2-40B4-BE49-F238E27FC236}">
                  <a16:creationId xmlns:a16="http://schemas.microsoft.com/office/drawing/2014/main" id="{EE33A4D3-3467-483B-9AA8-0AF6C08FD641}"/>
                </a:ext>
              </a:extLst>
            </p:cNvPr>
            <p:cNvSpPr txBox="1">
              <a:spLocks noChangeArrowheads="1"/>
            </p:cNvSpPr>
            <p:nvPr>
              <p:custDataLst>
                <p:tags r:id="rId91"/>
              </p:custDataLst>
            </p:nvPr>
          </p:nvSpPr>
          <p:spPr bwMode="auto">
            <a:xfrm>
              <a:off x="4140000" y="5652000"/>
              <a:ext cx="1224280" cy="21590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400" b="1" u="none" dirty="0">
                  <a:latin typeface="宋体" panose="02010600030101010101" pitchFamily="2" charset="-122"/>
                </a:rPr>
                <a:t>虚</a:t>
              </a:r>
              <a:r>
                <a:rPr lang="en-US" altLang="zh-CN" sz="1400" b="1" u="none" dirty="0">
                  <a:latin typeface="宋体" panose="02010600030101010101" pitchFamily="2" charset="-122"/>
                </a:rPr>
                <a:t>-</a:t>
              </a:r>
              <a:r>
                <a:rPr lang="zh-CN" altLang="en-US" sz="1400" b="1" u="none" dirty="0">
                  <a:latin typeface="宋体" panose="02010600030101010101" pitchFamily="2" charset="-122"/>
                </a:rPr>
                <a:t>辅地址变换</a:t>
              </a:r>
            </a:p>
          </p:txBody>
        </p:sp>
        <p:cxnSp>
          <p:nvCxnSpPr>
            <p:cNvPr id="238" name="直接箭头连接符 237">
              <a:extLst>
                <a:ext uri="{FF2B5EF4-FFF2-40B4-BE49-F238E27FC236}">
                  <a16:creationId xmlns:a16="http://schemas.microsoft.com/office/drawing/2014/main" id="{E206F40D-7A33-470E-9EE9-3D9C0876220B}"/>
                </a:ext>
              </a:extLst>
            </p:cNvPr>
            <p:cNvCxnSpPr/>
            <p:nvPr>
              <p:custDataLst>
                <p:tags r:id="rId92"/>
              </p:custDataLst>
            </p:nvPr>
          </p:nvCxnSpPr>
          <p:spPr bwMode="auto">
            <a:xfrm>
              <a:off x="2916000" y="6048000"/>
              <a:ext cx="396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39" name="直接箭头连接符 55">
              <a:extLst>
                <a:ext uri="{FF2B5EF4-FFF2-40B4-BE49-F238E27FC236}">
                  <a16:creationId xmlns:a16="http://schemas.microsoft.com/office/drawing/2014/main" id="{436A65EF-A220-44AD-B871-EF6AFC9A11F0}"/>
                </a:ext>
              </a:extLst>
            </p:cNvPr>
            <p:cNvCxnSpPr/>
            <p:nvPr>
              <p:custDataLst>
                <p:tags r:id="rId93"/>
              </p:custDataLst>
            </p:nvPr>
          </p:nvCxnSpPr>
          <p:spPr bwMode="auto">
            <a:xfrm>
              <a:off x="3960000" y="5760000"/>
              <a:ext cx="0" cy="180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none" w="med" len="sm"/>
            </a:ln>
            <a:effectLst/>
          </p:spPr>
        </p:cxnSp>
        <p:cxnSp>
          <p:nvCxnSpPr>
            <p:cNvPr id="240" name="直接箭头连接符 239">
              <a:extLst>
                <a:ext uri="{FF2B5EF4-FFF2-40B4-BE49-F238E27FC236}">
                  <a16:creationId xmlns:a16="http://schemas.microsoft.com/office/drawing/2014/main" id="{7B4B4ECB-CE58-47D2-9A1F-0A2C56B11B28}"/>
                </a:ext>
              </a:extLst>
            </p:cNvPr>
            <p:cNvCxnSpPr/>
            <p:nvPr>
              <p:custDataLst>
                <p:tags r:id="rId94"/>
              </p:custDataLst>
            </p:nvPr>
          </p:nvCxnSpPr>
          <p:spPr bwMode="auto">
            <a:xfrm>
              <a:off x="5364000" y="5764402"/>
              <a:ext cx="648000" cy="635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241" name="组合 240">
            <a:extLst>
              <a:ext uri="{FF2B5EF4-FFF2-40B4-BE49-F238E27FC236}">
                <a16:creationId xmlns:a16="http://schemas.microsoft.com/office/drawing/2014/main" id="{90BD1EAF-A3BC-4DA1-BFDF-3E3EA8D8CD34}"/>
              </a:ext>
            </a:extLst>
          </p:cNvPr>
          <p:cNvGrpSpPr/>
          <p:nvPr/>
        </p:nvGrpSpPr>
        <p:grpSpPr>
          <a:xfrm>
            <a:off x="5292480" y="1916832"/>
            <a:ext cx="3600000" cy="1980000"/>
            <a:chOff x="5148000" y="1548000"/>
            <a:chExt cx="3600000" cy="1980000"/>
          </a:xfrm>
        </p:grpSpPr>
        <p:grpSp>
          <p:nvGrpSpPr>
            <p:cNvPr id="242" name="组合 241">
              <a:extLst>
                <a:ext uri="{FF2B5EF4-FFF2-40B4-BE49-F238E27FC236}">
                  <a16:creationId xmlns:a16="http://schemas.microsoft.com/office/drawing/2014/main" id="{3F1B7DEF-1F20-468C-BF35-4431938A9F16}"/>
                </a:ext>
              </a:extLst>
            </p:cNvPr>
            <p:cNvGrpSpPr/>
            <p:nvPr/>
          </p:nvGrpSpPr>
          <p:grpSpPr>
            <a:xfrm>
              <a:off x="5148000" y="1548000"/>
              <a:ext cx="3600000" cy="1980000"/>
              <a:chOff x="3132272" y="1872000"/>
              <a:chExt cx="3600000" cy="1980000"/>
            </a:xfrm>
          </p:grpSpPr>
          <p:sp>
            <p:nvSpPr>
              <p:cNvPr id="271" name="Rectangle 111">
                <a:extLst>
                  <a:ext uri="{FF2B5EF4-FFF2-40B4-BE49-F238E27FC236}">
                    <a16:creationId xmlns:a16="http://schemas.microsoft.com/office/drawing/2014/main" id="{9B12C71F-EE71-4623-856C-02B5A9B7B7D9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53"/>
                </p:custDataLst>
              </p:nvPr>
            </p:nvSpPr>
            <p:spPr bwMode="auto">
              <a:xfrm>
                <a:off x="4500272" y="1872000"/>
                <a:ext cx="2232000" cy="1512000"/>
              </a:xfrm>
              <a:prstGeom prst="rect">
                <a:avLst/>
              </a:prstGeom>
              <a:solidFill>
                <a:srgbClr val="CCFFFF">
                  <a:alpha val="80000"/>
                </a:srgbClr>
              </a:solidFill>
              <a:ln w="12700">
                <a:solidFill>
                  <a:schemeClr val="tx1"/>
                </a:solidFill>
                <a:prstDash val="sysDash"/>
                <a:miter lim="800000"/>
                <a:tailEnd type="none" w="sm" len="med"/>
              </a:ln>
              <a:effectLst/>
            </p:spPr>
            <p:txBody>
              <a:bodyPr wrap="none" lIns="0" tIns="0" rIns="0" bIns="0" anchor="ctr"/>
              <a:lstStyle/>
              <a:p>
                <a:endParaRPr lang="zh-CN" altLang="en-US" sz="2000"/>
              </a:p>
            </p:txBody>
          </p:sp>
          <p:cxnSp>
            <p:nvCxnSpPr>
              <p:cNvPr id="272" name="直接箭头连接符 271">
                <a:extLst>
                  <a:ext uri="{FF2B5EF4-FFF2-40B4-BE49-F238E27FC236}">
                    <a16:creationId xmlns:a16="http://schemas.microsoft.com/office/drawing/2014/main" id="{6D40D1E5-594E-4A26-8591-E2763BCC038D}"/>
                  </a:ext>
                </a:extLst>
              </p:cNvPr>
              <p:cNvCxnSpPr/>
              <p:nvPr>
                <p:custDataLst>
                  <p:tags r:id="rId54"/>
                </p:custDataLst>
              </p:nvPr>
            </p:nvCxnSpPr>
            <p:spPr bwMode="auto">
              <a:xfrm>
                <a:off x="3708080" y="1872000"/>
                <a:ext cx="0" cy="14400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273" name="Text Box 132">
                <a:extLst>
                  <a:ext uri="{FF2B5EF4-FFF2-40B4-BE49-F238E27FC236}">
                    <a16:creationId xmlns:a16="http://schemas.microsoft.com/office/drawing/2014/main" id="{120EF8D6-BC0F-43D3-BBE8-92C88A3FECDB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55"/>
                </p:custDataLst>
              </p:nvPr>
            </p:nvSpPr>
            <p:spPr bwMode="auto">
              <a:xfrm>
                <a:off x="4176000" y="2304000"/>
                <a:ext cx="144000" cy="1800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0" tIns="0" rIns="0" bIns="0" anchor="ctr" anchorCtr="0"/>
              <a:lstStyle/>
              <a:p>
                <a:pPr algn="ctr"/>
                <a:r>
                  <a:rPr lang="en-US" altLang="zh-CN" sz="1400" b="1" u="none" dirty="0">
                    <a:latin typeface="宋体" panose="02010600030101010101" pitchFamily="2" charset="-122"/>
                  </a:rPr>
                  <a:t>N</a:t>
                </a:r>
                <a:endParaRPr lang="en-US" altLang="zh-CN" sz="14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74" name="Text Box 133">
                <a:extLst>
                  <a:ext uri="{FF2B5EF4-FFF2-40B4-BE49-F238E27FC236}">
                    <a16:creationId xmlns:a16="http://schemas.microsoft.com/office/drawing/2014/main" id="{06FCFC94-C753-4102-9C47-75853B9F2FAF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56"/>
                </p:custDataLst>
              </p:nvPr>
            </p:nvSpPr>
            <p:spPr bwMode="auto">
              <a:xfrm>
                <a:off x="3132272" y="2016000"/>
                <a:ext cx="1152000" cy="216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600" b="1" u="none" dirty="0">
                    <a:solidFill>
                      <a:srgbClr val="FF3399"/>
                    </a:solidFill>
                    <a:latin typeface="宋体" panose="02010600030101010101" pitchFamily="2" charset="-122"/>
                  </a:rPr>
                  <a:t>查找</a:t>
                </a:r>
                <a:r>
                  <a:rPr lang="zh-CN" altLang="en-US" sz="1600" b="1" u="none" dirty="0">
                    <a:latin typeface="宋体" panose="02010600030101010101" pitchFamily="2" charset="-122"/>
                  </a:rPr>
                  <a:t>目标行</a:t>
                </a:r>
                <a:endParaRPr lang="zh-CN" altLang="en-US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75" name="AutoShape 134">
                <a:extLst>
                  <a:ext uri="{FF2B5EF4-FFF2-40B4-BE49-F238E27FC236}">
                    <a16:creationId xmlns:a16="http://schemas.microsoft.com/office/drawing/2014/main" id="{C52E4F16-8E08-44F7-9D64-FD0AC4BA64E0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57"/>
                </p:custDataLst>
              </p:nvPr>
            </p:nvSpPr>
            <p:spPr bwMode="auto">
              <a:xfrm>
                <a:off x="3240000" y="2376000"/>
                <a:ext cx="936000" cy="216000"/>
              </a:xfrm>
              <a:prstGeom prst="flowChartDecision">
                <a:avLst/>
              </a:prstGeom>
              <a:solidFill>
                <a:srgbClr val="FFCC99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lIns="0" tIns="0" rIns="0" bIns="0" anchor="ctr"/>
              <a:lstStyle/>
              <a:p>
                <a:r>
                  <a:rPr lang="zh-CN" altLang="en-US" sz="1600" b="1" u="none" dirty="0"/>
                  <a:t>命中？</a:t>
                </a:r>
              </a:p>
            </p:txBody>
          </p:sp>
          <p:sp>
            <p:nvSpPr>
              <p:cNvPr id="276" name="Text Box 139">
                <a:extLst>
                  <a:ext uri="{FF2B5EF4-FFF2-40B4-BE49-F238E27FC236}">
                    <a16:creationId xmlns:a16="http://schemas.microsoft.com/office/drawing/2014/main" id="{C8B0941B-A024-4D6F-A54A-9694EAF93DD1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58"/>
                </p:custDataLst>
              </p:nvPr>
            </p:nvSpPr>
            <p:spPr bwMode="auto">
              <a:xfrm>
                <a:off x="3564208" y="2592000"/>
                <a:ext cx="144000" cy="1800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0" tIns="0" rIns="0" bIns="0" anchor="ctr" anchorCtr="0"/>
              <a:lstStyle/>
              <a:p>
                <a:pPr algn="ctr"/>
                <a:r>
                  <a:rPr lang="en-US" altLang="zh-CN" sz="1400" b="1" u="none" dirty="0">
                    <a:latin typeface="宋体" panose="02010600030101010101" pitchFamily="2" charset="-122"/>
                  </a:rPr>
                  <a:t>Y</a:t>
                </a:r>
                <a:endParaRPr lang="en-US" altLang="zh-CN" sz="14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77" name="Text Box 143">
                <a:extLst>
                  <a:ext uri="{FF2B5EF4-FFF2-40B4-BE49-F238E27FC236}">
                    <a16:creationId xmlns:a16="http://schemas.microsoft.com/office/drawing/2014/main" id="{80E798F5-900F-4AA1-ADAD-8F05848481B4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59"/>
                </p:custDataLst>
              </p:nvPr>
            </p:nvSpPr>
            <p:spPr bwMode="auto">
              <a:xfrm>
                <a:off x="3132272" y="2808000"/>
                <a:ext cx="1152000" cy="216000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600" b="1" u="none" dirty="0">
                    <a:solidFill>
                      <a:srgbClr val="FF3399"/>
                    </a:solidFill>
                    <a:latin typeface="宋体" panose="02010600030101010101" pitchFamily="2" charset="-122"/>
                  </a:rPr>
                  <a:t>访问</a:t>
                </a:r>
                <a:r>
                  <a:rPr lang="zh-CN" altLang="en-US" sz="1600" b="1" u="none" dirty="0">
                    <a:latin typeface="宋体" panose="02010600030101010101" pitchFamily="2" charset="-122"/>
                  </a:rPr>
                  <a:t>目标行</a:t>
                </a:r>
                <a:endParaRPr lang="zh-CN" altLang="en-US" sz="16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278" name="直接箭头连接符 277">
                <a:extLst>
                  <a:ext uri="{FF2B5EF4-FFF2-40B4-BE49-F238E27FC236}">
                    <a16:creationId xmlns:a16="http://schemas.microsoft.com/office/drawing/2014/main" id="{55060A38-59DA-412D-A6CA-BD56EF7E18EA}"/>
                  </a:ext>
                </a:extLst>
              </p:cNvPr>
              <p:cNvCxnSpPr>
                <a:cxnSpLocks/>
              </p:cNvCxnSpPr>
              <p:nvPr>
                <p:custDataLst>
                  <p:tags r:id="rId60"/>
                </p:custDataLst>
              </p:nvPr>
            </p:nvCxnSpPr>
            <p:spPr bwMode="auto">
              <a:xfrm>
                <a:off x="3707743" y="2592000"/>
                <a:ext cx="0" cy="21600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279" name="直接箭头连接符 278">
                <a:extLst>
                  <a:ext uri="{FF2B5EF4-FFF2-40B4-BE49-F238E27FC236}">
                    <a16:creationId xmlns:a16="http://schemas.microsoft.com/office/drawing/2014/main" id="{C2929457-CFE4-4EA7-BB1B-9F691438556F}"/>
                  </a:ext>
                </a:extLst>
              </p:cNvPr>
              <p:cNvCxnSpPr>
                <a:cxnSpLocks/>
              </p:cNvCxnSpPr>
              <p:nvPr>
                <p:custDataLst>
                  <p:tags r:id="rId61"/>
                </p:custDataLst>
              </p:nvPr>
            </p:nvCxnSpPr>
            <p:spPr bwMode="auto">
              <a:xfrm flipH="1">
                <a:off x="3708000" y="2232000"/>
                <a:ext cx="0" cy="14400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280" name="直接箭头连接符 64">
                <a:extLst>
                  <a:ext uri="{FF2B5EF4-FFF2-40B4-BE49-F238E27FC236}">
                    <a16:creationId xmlns:a16="http://schemas.microsoft.com/office/drawing/2014/main" id="{724902FA-D2A6-4611-9BF1-8C7766D8D6AF}"/>
                  </a:ext>
                </a:extLst>
              </p:cNvPr>
              <p:cNvCxnSpPr>
                <a:cxnSpLocks/>
              </p:cNvCxnSpPr>
              <p:nvPr>
                <p:custDataLst>
                  <p:tags r:id="rId62"/>
                </p:custDataLst>
              </p:nvPr>
            </p:nvCxnSpPr>
            <p:spPr bwMode="auto">
              <a:xfrm flipV="1">
                <a:off x="4176000" y="2484000"/>
                <a:ext cx="216000" cy="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81" name="Line 140">
                <a:extLst>
                  <a:ext uri="{FF2B5EF4-FFF2-40B4-BE49-F238E27FC236}">
                    <a16:creationId xmlns:a16="http://schemas.microsoft.com/office/drawing/2014/main" id="{71720BB3-5AAC-4246-95F6-60D6C4CFEFD2}"/>
                  </a:ext>
                </a:extLst>
              </p:cNvPr>
              <p:cNvSpPr>
                <a:spLocks noChangeShapeType="1"/>
              </p:cNvSpPr>
              <p:nvPr>
                <p:custDataLst>
                  <p:tags r:id="rId63"/>
                </p:custDataLst>
              </p:nvPr>
            </p:nvSpPr>
            <p:spPr bwMode="auto">
              <a:xfrm flipH="1" flipV="1">
                <a:off x="3708208" y="2664000"/>
                <a:ext cx="864000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tailEnd type="triangle" w="med" len="med"/>
              </a:ln>
              <a:effectLst/>
            </p:spPr>
            <p:txBody>
              <a:bodyPr lIns="0" tIns="0" rIns="0" bIns="0"/>
              <a:lstStyle/>
              <a:p>
                <a:endParaRPr lang="zh-CN" altLang="en-US" sz="2000"/>
              </a:p>
            </p:txBody>
          </p:sp>
          <p:sp>
            <p:nvSpPr>
              <p:cNvPr id="282" name="Text Box 128">
                <a:extLst>
                  <a:ext uri="{FF2B5EF4-FFF2-40B4-BE49-F238E27FC236}">
                    <a16:creationId xmlns:a16="http://schemas.microsoft.com/office/drawing/2014/main" id="{456B86CE-06D8-4493-8FDA-A748CF8C5627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64"/>
                </p:custDataLst>
              </p:nvPr>
            </p:nvSpPr>
            <p:spPr bwMode="auto">
              <a:xfrm>
                <a:off x="6264272" y="1872000"/>
                <a:ext cx="432000" cy="3960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u="none" dirty="0">
                    <a:latin typeface="宋体" panose="02010600030101010101" pitchFamily="2" charset="-122"/>
                  </a:rPr>
                  <a:t>缺失</a:t>
                </a:r>
                <a:endParaRPr lang="en-US" altLang="zh-CN" sz="1400" b="1" u="none" dirty="0">
                  <a:latin typeface="宋体" panose="02010600030101010101" pitchFamily="2" charset="-122"/>
                </a:endParaRPr>
              </a:p>
              <a:p>
                <a:pPr algn="ctr">
                  <a:lnSpc>
                    <a:spcPct val="90000"/>
                  </a:lnSpc>
                </a:pPr>
                <a:r>
                  <a:rPr lang="zh-CN" altLang="en-US" sz="1400" b="1" u="none" dirty="0">
                    <a:latin typeface="宋体" panose="02010600030101010101" pitchFamily="2" charset="-122"/>
                  </a:rPr>
                  <a:t>处理</a:t>
                </a:r>
                <a:endParaRPr lang="zh-CN" altLang="en-US" sz="14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83" name="Line 118">
                <a:extLst>
                  <a:ext uri="{FF2B5EF4-FFF2-40B4-BE49-F238E27FC236}">
                    <a16:creationId xmlns:a16="http://schemas.microsoft.com/office/drawing/2014/main" id="{311FC743-8290-4361-8CF6-56AA09F7605F}"/>
                  </a:ext>
                </a:extLst>
              </p:cNvPr>
              <p:cNvSpPr>
                <a:spLocks noChangeShapeType="1"/>
              </p:cNvSpPr>
              <p:nvPr>
                <p:custDataLst>
                  <p:tags r:id="rId65"/>
                </p:custDataLst>
              </p:nvPr>
            </p:nvSpPr>
            <p:spPr bwMode="auto">
              <a:xfrm flipH="1" flipV="1">
                <a:off x="4392272" y="1908000"/>
                <a:ext cx="0" cy="57600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tailEnd type="none" w="sm" len="med"/>
              </a:ln>
              <a:effectLst/>
            </p:spPr>
            <p:txBody>
              <a:bodyPr lIns="0" tIns="0" rIns="0" bIns="0"/>
              <a:lstStyle/>
              <a:p>
                <a:endParaRPr lang="zh-CN" altLang="en-US"/>
              </a:p>
            </p:txBody>
          </p:sp>
          <p:cxnSp>
            <p:nvCxnSpPr>
              <p:cNvPr id="284" name="直接箭头连接符 64">
                <a:extLst>
                  <a:ext uri="{FF2B5EF4-FFF2-40B4-BE49-F238E27FC236}">
                    <a16:creationId xmlns:a16="http://schemas.microsoft.com/office/drawing/2014/main" id="{51DD649D-2413-47AD-953B-0353D28876C4}"/>
                  </a:ext>
                </a:extLst>
              </p:cNvPr>
              <p:cNvCxnSpPr>
                <a:cxnSpLocks/>
              </p:cNvCxnSpPr>
              <p:nvPr>
                <p:custDataLst>
                  <p:tags r:id="rId66"/>
                </p:custDataLst>
              </p:nvPr>
            </p:nvCxnSpPr>
            <p:spPr bwMode="auto">
              <a:xfrm flipV="1">
                <a:off x="4392272" y="1908000"/>
                <a:ext cx="828000" cy="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85" name="直接箭头连接符 284">
                <a:extLst>
                  <a:ext uri="{FF2B5EF4-FFF2-40B4-BE49-F238E27FC236}">
                    <a16:creationId xmlns:a16="http://schemas.microsoft.com/office/drawing/2014/main" id="{DA7D3CBE-CA54-4641-B831-275A537E60E2}"/>
                  </a:ext>
                </a:extLst>
              </p:cNvPr>
              <p:cNvCxnSpPr/>
              <p:nvPr>
                <p:custDataLst>
                  <p:tags r:id="rId67"/>
                </p:custDataLst>
              </p:nvPr>
            </p:nvCxnSpPr>
            <p:spPr bwMode="auto">
              <a:xfrm>
                <a:off x="3708080" y="3024000"/>
                <a:ext cx="1017" cy="82800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286" name="直接箭头连接符 285">
                <a:extLst>
                  <a:ext uri="{FF2B5EF4-FFF2-40B4-BE49-F238E27FC236}">
                    <a16:creationId xmlns:a16="http://schemas.microsoft.com/office/drawing/2014/main" id="{F9CB0619-30DD-4810-BBCE-BDF5A6915F04}"/>
                  </a:ext>
                </a:extLst>
              </p:cNvPr>
              <p:cNvCxnSpPr/>
              <p:nvPr>
                <p:custDataLst>
                  <p:tags r:id="rId68"/>
                </p:custDataLst>
              </p:nvPr>
            </p:nvCxnSpPr>
            <p:spPr bwMode="auto">
              <a:xfrm flipH="1">
                <a:off x="5220272" y="1908000"/>
                <a:ext cx="0" cy="14400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  <p:grpSp>
          <p:nvGrpSpPr>
            <p:cNvPr id="243" name="组合 242">
              <a:extLst>
                <a:ext uri="{FF2B5EF4-FFF2-40B4-BE49-F238E27FC236}">
                  <a16:creationId xmlns:a16="http://schemas.microsoft.com/office/drawing/2014/main" id="{1A47184B-75E0-4651-B7FB-09512B8097E8}"/>
                </a:ext>
              </a:extLst>
            </p:cNvPr>
            <p:cNvGrpSpPr/>
            <p:nvPr/>
          </p:nvGrpSpPr>
          <p:grpSpPr>
            <a:xfrm>
              <a:off x="6552000" y="1656000"/>
              <a:ext cx="2124000" cy="1368000"/>
              <a:chOff x="5112000" y="2736000"/>
              <a:chExt cx="2124000" cy="1368000"/>
            </a:xfrm>
          </p:grpSpPr>
          <p:sp>
            <p:nvSpPr>
              <p:cNvPr id="254" name="AutoShape 114">
                <a:extLst>
                  <a:ext uri="{FF2B5EF4-FFF2-40B4-BE49-F238E27FC236}">
                    <a16:creationId xmlns:a16="http://schemas.microsoft.com/office/drawing/2014/main" id="{5C1511D2-CFEE-4FFE-8D05-8B2CE11D094A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36"/>
                </p:custDataLst>
              </p:nvPr>
            </p:nvSpPr>
            <p:spPr bwMode="auto">
              <a:xfrm>
                <a:off x="5184000" y="2808000"/>
                <a:ext cx="1224000" cy="216000"/>
              </a:xfrm>
              <a:prstGeom prst="flowChartDecision">
                <a:avLst/>
              </a:prstGeom>
              <a:solidFill>
                <a:srgbClr val="FFCC99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600" b="1" u="none" dirty="0">
                    <a:solidFill>
                      <a:srgbClr val="FF3399"/>
                    </a:solidFill>
                    <a:latin typeface="宋体" panose="02010600030101010101" pitchFamily="2" charset="-122"/>
                  </a:rPr>
                  <a:t>有</a:t>
                </a:r>
                <a:r>
                  <a:rPr lang="zh-CN" altLang="en-US" sz="1600" b="1" u="none" dirty="0">
                    <a:latin typeface="宋体" panose="02010600030101010101" pitchFamily="2" charset="-122"/>
                  </a:rPr>
                  <a:t>空行</a:t>
                </a:r>
                <a:r>
                  <a:rPr lang="en-US" altLang="zh-CN" sz="1600" b="1" u="none" dirty="0">
                    <a:latin typeface="宋体" panose="02010600030101010101" pitchFamily="2" charset="-122"/>
                  </a:rPr>
                  <a:t>?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55" name="Text Box 115">
                <a:extLst>
                  <a:ext uri="{FF2B5EF4-FFF2-40B4-BE49-F238E27FC236}">
                    <a16:creationId xmlns:a16="http://schemas.microsoft.com/office/drawing/2014/main" id="{88C1E1F9-DF9D-4EB9-A330-24D1155F364E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37"/>
                </p:custDataLst>
              </p:nvPr>
            </p:nvSpPr>
            <p:spPr bwMode="auto">
              <a:xfrm>
                <a:off x="5256000" y="3816000"/>
                <a:ext cx="1728000" cy="216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600" b="1" u="none" dirty="0">
                    <a:solidFill>
                      <a:srgbClr val="FF3399"/>
                    </a:solidFill>
                    <a:latin typeface="宋体" panose="02010600030101010101" pitchFamily="2" charset="-122"/>
                  </a:rPr>
                  <a:t>调入</a:t>
                </a:r>
                <a:r>
                  <a:rPr lang="zh-CN" altLang="en-US" sz="1600" b="1" u="none" dirty="0">
                    <a:latin typeface="宋体" panose="02010600030101010101" pitchFamily="2" charset="-122"/>
                  </a:rPr>
                  <a:t>目标块</a:t>
                </a:r>
                <a:r>
                  <a:rPr lang="en-US" altLang="zh-CN" sz="1400" b="1" u="none" dirty="0">
                    <a:latin typeface="宋体" panose="02010600030101010101" pitchFamily="2" charset="-122"/>
                  </a:rPr>
                  <a:t>(</a:t>
                </a:r>
                <a:r>
                  <a:rPr lang="zh-CN" altLang="en-US" sz="1400" b="1" u="none" dirty="0">
                    <a:latin typeface="宋体" panose="02010600030101010101" pitchFamily="2" charset="-122"/>
                  </a:rPr>
                  <a:t>到行</a:t>
                </a:r>
                <a:r>
                  <a:rPr lang="en-US" altLang="zh-CN" sz="1400" b="1" u="none" dirty="0" err="1">
                    <a:latin typeface="宋体" panose="02010600030101010101" pitchFamily="2" charset="-122"/>
                  </a:rPr>
                  <a:t>i</a:t>
                </a:r>
                <a:r>
                  <a:rPr lang="en-US" altLang="zh-CN" sz="1400" b="1" u="none" dirty="0">
                    <a:latin typeface="宋体" panose="02010600030101010101" pitchFamily="2" charset="-122"/>
                  </a:rPr>
                  <a:t>)</a:t>
                </a:r>
                <a:endParaRPr lang="en-US" altLang="zh-CN" sz="1600" b="1" u="none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56" name="Text Box 117">
                <a:extLst>
                  <a:ext uri="{FF2B5EF4-FFF2-40B4-BE49-F238E27FC236}">
                    <a16:creationId xmlns:a16="http://schemas.microsoft.com/office/drawing/2014/main" id="{AC21B09C-8475-4A86-9FE8-286638C1CB5F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38"/>
                </p:custDataLst>
              </p:nvPr>
            </p:nvSpPr>
            <p:spPr bwMode="auto">
              <a:xfrm>
                <a:off x="5112000" y="3024000"/>
                <a:ext cx="648000" cy="1800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r"/>
                <a:r>
                  <a:rPr lang="en-US" altLang="zh-CN" sz="1400" b="1" u="none" dirty="0">
                    <a:latin typeface="宋体" panose="02010600030101010101" pitchFamily="2" charset="-122"/>
                  </a:rPr>
                  <a:t>(</a:t>
                </a:r>
                <a:r>
                  <a:rPr lang="zh-CN" altLang="en-US" sz="1400" b="1" u="none" dirty="0">
                    <a:latin typeface="宋体" panose="02010600030101010101" pitchFamily="2" charset="-122"/>
                  </a:rPr>
                  <a:t>行</a:t>
                </a:r>
                <a:r>
                  <a:rPr lang="en-US" altLang="zh-CN" sz="1400" b="1" u="none" dirty="0" err="1">
                    <a:latin typeface="宋体" panose="02010600030101010101" pitchFamily="2" charset="-122"/>
                  </a:rPr>
                  <a:t>i</a:t>
                </a:r>
                <a:r>
                  <a:rPr lang="en-US" altLang="zh-CN" sz="1400" b="1" u="none" dirty="0">
                    <a:latin typeface="宋体" panose="02010600030101010101" pitchFamily="2" charset="-122"/>
                  </a:rPr>
                  <a:t>) Y</a:t>
                </a:r>
                <a:endParaRPr lang="en-US" altLang="zh-CN" sz="14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57" name="Line 118">
                <a:extLst>
                  <a:ext uri="{FF2B5EF4-FFF2-40B4-BE49-F238E27FC236}">
                    <a16:creationId xmlns:a16="http://schemas.microsoft.com/office/drawing/2014/main" id="{2DF93C3F-C129-4884-95E7-4A7E955FD8AB}"/>
                  </a:ext>
                </a:extLst>
              </p:cNvPr>
              <p:cNvSpPr>
                <a:spLocks noChangeShapeType="1"/>
              </p:cNvSpPr>
              <p:nvPr>
                <p:custDataLst>
                  <p:tags r:id="rId39"/>
                </p:custDataLst>
              </p:nvPr>
            </p:nvSpPr>
            <p:spPr bwMode="auto">
              <a:xfrm>
                <a:off x="5148000" y="3420000"/>
                <a:ext cx="0" cy="68400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tailEnd type="none" w="sm" len="med"/>
              </a:ln>
              <a:effectLst/>
            </p:spPr>
            <p:txBody>
              <a:bodyPr lIns="0" tIns="0" rIns="0" bIns="0"/>
              <a:lstStyle/>
              <a:p>
                <a:endParaRPr lang="zh-CN" altLang="en-US"/>
              </a:p>
            </p:txBody>
          </p:sp>
          <p:sp>
            <p:nvSpPr>
              <p:cNvPr id="258" name="Text Box 121">
                <a:extLst>
                  <a:ext uri="{FF2B5EF4-FFF2-40B4-BE49-F238E27FC236}">
                    <a16:creationId xmlns:a16="http://schemas.microsoft.com/office/drawing/2014/main" id="{A0AD0C19-FE2F-4FE7-9558-10F382A97237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40"/>
                </p:custDataLst>
              </p:nvPr>
            </p:nvSpPr>
            <p:spPr bwMode="auto">
              <a:xfrm>
                <a:off x="6480000" y="2736000"/>
                <a:ext cx="144000" cy="1800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/>
                <a:r>
                  <a:rPr lang="en-US" altLang="zh-CN" sz="1400" b="1" u="none" dirty="0">
                    <a:latin typeface="宋体" panose="02010600030101010101" pitchFamily="2" charset="-122"/>
                  </a:rPr>
                  <a:t>N</a:t>
                </a:r>
                <a:endParaRPr lang="en-US" altLang="zh-CN" sz="14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59" name="Text Box 124">
                <a:extLst>
                  <a:ext uri="{FF2B5EF4-FFF2-40B4-BE49-F238E27FC236}">
                    <a16:creationId xmlns:a16="http://schemas.microsoft.com/office/drawing/2014/main" id="{8E1F9243-CC38-453E-A721-BED4A9BB15E4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41"/>
                </p:custDataLst>
              </p:nvPr>
            </p:nvSpPr>
            <p:spPr bwMode="auto">
              <a:xfrm>
                <a:off x="5940000" y="3060000"/>
                <a:ext cx="1296000" cy="216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600" b="1" u="none" dirty="0">
                    <a:solidFill>
                      <a:srgbClr val="FF3399"/>
                    </a:solidFill>
                    <a:latin typeface="宋体" panose="02010600030101010101" pitchFamily="2" charset="-122"/>
                  </a:rPr>
                  <a:t>选出</a:t>
                </a:r>
                <a:r>
                  <a:rPr lang="zh-CN" altLang="en-US" sz="1600" b="1" u="none" dirty="0">
                    <a:latin typeface="宋体" panose="02010600030101010101" pitchFamily="2" charset="-122"/>
                  </a:rPr>
                  <a:t>牺牲行</a:t>
                </a:r>
                <a:r>
                  <a:rPr lang="en-US" altLang="zh-CN" sz="1400" b="1" u="none" dirty="0" err="1">
                    <a:latin typeface="宋体" panose="02010600030101010101" pitchFamily="2" charset="-122"/>
                  </a:rPr>
                  <a:t>i</a:t>
                </a:r>
                <a:endParaRPr lang="en-US" altLang="zh-CN" sz="16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260" name="直接箭头连接符 259">
                <a:extLst>
                  <a:ext uri="{FF2B5EF4-FFF2-40B4-BE49-F238E27FC236}">
                    <a16:creationId xmlns:a16="http://schemas.microsoft.com/office/drawing/2014/main" id="{3C8254C7-7E55-4E67-BB79-ECC9B20186D6}"/>
                  </a:ext>
                </a:extLst>
              </p:cNvPr>
              <p:cNvCxnSpPr>
                <a:cxnSpLocks/>
              </p:cNvCxnSpPr>
              <p:nvPr>
                <p:custDataLst>
                  <p:tags r:id="rId42"/>
                </p:custDataLst>
              </p:nvPr>
            </p:nvCxnSpPr>
            <p:spPr bwMode="auto">
              <a:xfrm>
                <a:off x="5796000" y="3024000"/>
                <a:ext cx="0" cy="79200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261" name="直接箭头连接符 75">
                <a:extLst>
                  <a:ext uri="{FF2B5EF4-FFF2-40B4-BE49-F238E27FC236}">
                    <a16:creationId xmlns:a16="http://schemas.microsoft.com/office/drawing/2014/main" id="{ACB348FC-D507-44D1-889E-DD962115B03E}"/>
                  </a:ext>
                </a:extLst>
              </p:cNvPr>
              <p:cNvCxnSpPr>
                <a:cxnSpLocks/>
              </p:cNvCxnSpPr>
              <p:nvPr>
                <p:custDataLst>
                  <p:tags r:id="rId43"/>
                </p:custDataLst>
              </p:nvPr>
            </p:nvCxnSpPr>
            <p:spPr bwMode="auto">
              <a:xfrm>
                <a:off x="6408000" y="2916000"/>
                <a:ext cx="216000" cy="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62" name="直接箭头连接符 261">
                <a:extLst>
                  <a:ext uri="{FF2B5EF4-FFF2-40B4-BE49-F238E27FC236}">
                    <a16:creationId xmlns:a16="http://schemas.microsoft.com/office/drawing/2014/main" id="{F1568950-2236-43BD-889C-C4D2B3547081}"/>
                  </a:ext>
                </a:extLst>
              </p:cNvPr>
              <p:cNvCxnSpPr>
                <a:cxnSpLocks/>
              </p:cNvCxnSpPr>
              <p:nvPr>
                <p:custDataLst>
                  <p:tags r:id="rId44"/>
                </p:custDataLst>
              </p:nvPr>
            </p:nvCxnSpPr>
            <p:spPr bwMode="auto">
              <a:xfrm>
                <a:off x="6624000" y="3276000"/>
                <a:ext cx="0" cy="14400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263" name="直接箭头连接符 81">
                <a:extLst>
                  <a:ext uri="{FF2B5EF4-FFF2-40B4-BE49-F238E27FC236}">
                    <a16:creationId xmlns:a16="http://schemas.microsoft.com/office/drawing/2014/main" id="{E221B883-3CEA-4C20-AC78-44509650D4E8}"/>
                  </a:ext>
                </a:extLst>
              </p:cNvPr>
              <p:cNvCxnSpPr>
                <a:cxnSpLocks/>
              </p:cNvCxnSpPr>
              <p:nvPr>
                <p:custDataLst>
                  <p:tags r:id="rId45"/>
                </p:custDataLst>
              </p:nvPr>
            </p:nvCxnSpPr>
            <p:spPr bwMode="auto">
              <a:xfrm flipH="1">
                <a:off x="5796160" y="3708000"/>
                <a:ext cx="828000" cy="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264" name="直接箭头连接符 81">
                <a:extLst>
                  <a:ext uri="{FF2B5EF4-FFF2-40B4-BE49-F238E27FC236}">
                    <a16:creationId xmlns:a16="http://schemas.microsoft.com/office/drawing/2014/main" id="{54E72723-DE60-45EB-81F1-F057EFBFF9A8}"/>
                  </a:ext>
                </a:extLst>
              </p:cNvPr>
              <p:cNvCxnSpPr>
                <a:cxnSpLocks/>
              </p:cNvCxnSpPr>
              <p:nvPr>
                <p:custDataLst>
                  <p:tags r:id="rId46"/>
                </p:custDataLst>
              </p:nvPr>
            </p:nvCxnSpPr>
            <p:spPr bwMode="auto">
              <a:xfrm flipH="1">
                <a:off x="5148000" y="4104000"/>
                <a:ext cx="648000" cy="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265" name="Text Box 126">
                <a:extLst>
                  <a:ext uri="{FF2B5EF4-FFF2-40B4-BE49-F238E27FC236}">
                    <a16:creationId xmlns:a16="http://schemas.microsoft.com/office/drawing/2014/main" id="{7B87ABFE-088C-475C-A790-2ED0D8DBC39F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47"/>
                </p:custDataLst>
              </p:nvPr>
            </p:nvSpPr>
            <p:spPr bwMode="auto">
              <a:xfrm>
                <a:off x="5940000" y="3420000"/>
                <a:ext cx="648000" cy="216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9050">
                <a:noFill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/>
                <a:endParaRPr lang="zh-CN" altLang="en-US" sz="18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66" name="Text Box 126">
                <a:extLst>
                  <a:ext uri="{FF2B5EF4-FFF2-40B4-BE49-F238E27FC236}">
                    <a16:creationId xmlns:a16="http://schemas.microsoft.com/office/drawing/2014/main" id="{D04C6454-80D0-4898-956D-F6DBB02717BC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48"/>
                </p:custDataLst>
              </p:nvPr>
            </p:nvSpPr>
            <p:spPr bwMode="auto">
              <a:xfrm>
                <a:off x="6588000" y="3420000"/>
                <a:ext cx="648000" cy="216000"/>
              </a:xfrm>
              <a:prstGeom prst="rect">
                <a:avLst/>
              </a:prstGeom>
              <a:solidFill>
                <a:srgbClr val="CCCCFF"/>
              </a:solidFill>
              <a:ln w="19050">
                <a:noFill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/>
                <a:endParaRPr lang="zh-CN" altLang="en-US" sz="1800" b="1" u="none" baseline="-20000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67" name="Text Box 126">
                <a:extLst>
                  <a:ext uri="{FF2B5EF4-FFF2-40B4-BE49-F238E27FC236}">
                    <a16:creationId xmlns:a16="http://schemas.microsoft.com/office/drawing/2014/main" id="{332A79B7-075D-4B69-9CAB-E3B2660FE2A7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49"/>
                </p:custDataLst>
              </p:nvPr>
            </p:nvSpPr>
            <p:spPr bwMode="auto">
              <a:xfrm>
                <a:off x="5940000" y="3420000"/>
                <a:ext cx="1296000" cy="216000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600" b="1" u="none" dirty="0">
                    <a:solidFill>
                      <a:srgbClr val="FF3399"/>
                    </a:solidFill>
                    <a:latin typeface="宋体" panose="02010600030101010101" pitchFamily="2" charset="-122"/>
                  </a:rPr>
                  <a:t>腾空</a:t>
                </a:r>
                <a:r>
                  <a:rPr lang="zh-CN" altLang="en-US" sz="1600" b="1" u="none" dirty="0">
                    <a:latin typeface="宋体" panose="02010600030101010101" pitchFamily="2" charset="-122"/>
                  </a:rPr>
                  <a:t>行中内容</a:t>
                </a:r>
                <a:endParaRPr lang="zh-CN" altLang="en-US" sz="16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268" name="直接箭头连接符 267">
                <a:extLst>
                  <a:ext uri="{FF2B5EF4-FFF2-40B4-BE49-F238E27FC236}">
                    <a16:creationId xmlns:a16="http://schemas.microsoft.com/office/drawing/2014/main" id="{719405A4-777F-49ED-AEAC-F79A581D246F}"/>
                  </a:ext>
                </a:extLst>
              </p:cNvPr>
              <p:cNvCxnSpPr/>
              <p:nvPr>
                <p:custDataLst>
                  <p:tags r:id="rId50"/>
                </p:custDataLst>
              </p:nvPr>
            </p:nvCxnSpPr>
            <p:spPr bwMode="auto">
              <a:xfrm flipH="1">
                <a:off x="6624000" y="2916000"/>
                <a:ext cx="0" cy="14400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269" name="直接箭头连接符 268">
                <a:extLst>
                  <a:ext uri="{FF2B5EF4-FFF2-40B4-BE49-F238E27FC236}">
                    <a16:creationId xmlns:a16="http://schemas.microsoft.com/office/drawing/2014/main" id="{32C3DA7E-8C3C-4644-9C28-62581EB2F8AF}"/>
                  </a:ext>
                </a:extLst>
              </p:cNvPr>
              <p:cNvCxnSpPr>
                <a:cxnSpLocks/>
              </p:cNvCxnSpPr>
              <p:nvPr>
                <p:custDataLst>
                  <p:tags r:id="rId51"/>
                </p:custDataLst>
              </p:nvPr>
            </p:nvCxnSpPr>
            <p:spPr bwMode="auto">
              <a:xfrm>
                <a:off x="6624000" y="3636000"/>
                <a:ext cx="0" cy="7200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70" name="直接箭头连接符 269">
                <a:extLst>
                  <a:ext uri="{FF2B5EF4-FFF2-40B4-BE49-F238E27FC236}">
                    <a16:creationId xmlns:a16="http://schemas.microsoft.com/office/drawing/2014/main" id="{87DA7237-0324-4FFE-9675-DD1F7F8CB04C}"/>
                  </a:ext>
                </a:extLst>
              </p:cNvPr>
              <p:cNvCxnSpPr>
                <a:cxnSpLocks/>
              </p:cNvCxnSpPr>
              <p:nvPr>
                <p:custDataLst>
                  <p:tags r:id="rId52"/>
                </p:custDataLst>
              </p:nvPr>
            </p:nvCxnSpPr>
            <p:spPr bwMode="auto">
              <a:xfrm>
                <a:off x="5796136" y="4032000"/>
                <a:ext cx="0" cy="7200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</p:grpSp>
        <p:grpSp>
          <p:nvGrpSpPr>
            <p:cNvPr id="244" name="组合 243">
              <a:extLst>
                <a:ext uri="{FF2B5EF4-FFF2-40B4-BE49-F238E27FC236}">
                  <a16:creationId xmlns:a16="http://schemas.microsoft.com/office/drawing/2014/main" id="{352AEEED-3C3E-4422-8831-D3A881EC38CB}"/>
                </a:ext>
              </a:extLst>
            </p:cNvPr>
            <p:cNvGrpSpPr/>
            <p:nvPr/>
          </p:nvGrpSpPr>
          <p:grpSpPr>
            <a:xfrm>
              <a:off x="5255840" y="2700000"/>
              <a:ext cx="1907888" cy="720000"/>
              <a:chOff x="3240112" y="3024000"/>
              <a:chExt cx="1907888" cy="720000"/>
            </a:xfrm>
          </p:grpSpPr>
          <p:sp>
            <p:nvSpPr>
              <p:cNvPr id="245" name="Text Box 105">
                <a:extLst>
                  <a:ext uri="{FF2B5EF4-FFF2-40B4-BE49-F238E27FC236}">
                    <a16:creationId xmlns:a16="http://schemas.microsoft.com/office/drawing/2014/main" id="{86734AF4-E620-41FD-9A22-A2DD1C6D7784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7"/>
                </p:custDataLst>
              </p:nvPr>
            </p:nvSpPr>
            <p:spPr bwMode="auto">
              <a:xfrm>
                <a:off x="3852000" y="3456000"/>
                <a:ext cx="1296000" cy="216000"/>
              </a:xfrm>
              <a:prstGeom prst="rect">
                <a:avLst/>
              </a:prstGeom>
              <a:solidFill>
                <a:srgbClr val="CCCC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600" b="1" u="none" dirty="0">
                    <a:latin typeface="宋体" panose="02010600030101010101" pitchFamily="2" charset="-122"/>
                  </a:rPr>
                  <a:t>数据</a:t>
                </a:r>
                <a:r>
                  <a:rPr lang="zh-CN" altLang="en-US" sz="1600" b="1" u="none" dirty="0">
                    <a:solidFill>
                      <a:srgbClr val="FF3399"/>
                    </a:solidFill>
                    <a:latin typeface="宋体" panose="02010600030101010101" pitchFamily="2" charset="-122"/>
                  </a:rPr>
                  <a:t>写回</a:t>
                </a:r>
                <a:r>
                  <a:rPr lang="zh-CN" altLang="en-US" sz="1600" b="1" u="none" dirty="0">
                    <a:latin typeface="宋体" panose="02010600030101010101" pitchFamily="2" charset="-122"/>
                  </a:rPr>
                  <a:t>主存</a:t>
                </a:r>
              </a:p>
            </p:txBody>
          </p:sp>
          <p:sp>
            <p:nvSpPr>
              <p:cNvPr id="246" name="Text Box 107">
                <a:extLst>
                  <a:ext uri="{FF2B5EF4-FFF2-40B4-BE49-F238E27FC236}">
                    <a16:creationId xmlns:a16="http://schemas.microsoft.com/office/drawing/2014/main" id="{610A8CD7-CD6B-4DB6-B0D2-FF5CD0759D06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8"/>
                </p:custDataLst>
              </p:nvPr>
            </p:nvSpPr>
            <p:spPr bwMode="auto">
              <a:xfrm>
                <a:off x="4176000" y="3096000"/>
                <a:ext cx="144000" cy="1800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/>
                <a:r>
                  <a:rPr lang="en-US" altLang="zh-CN" sz="1400" b="1" u="none" dirty="0">
                    <a:latin typeface="宋体" panose="02010600030101010101" pitchFamily="2" charset="-122"/>
                  </a:rPr>
                  <a:t>Y</a:t>
                </a:r>
                <a:endParaRPr lang="en-US" altLang="zh-CN" sz="14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247" name="直接箭头连接符 82">
                <a:extLst>
                  <a:ext uri="{FF2B5EF4-FFF2-40B4-BE49-F238E27FC236}">
                    <a16:creationId xmlns:a16="http://schemas.microsoft.com/office/drawing/2014/main" id="{741E1132-4A6C-45D2-ACA8-3C5294A47ED3}"/>
                  </a:ext>
                </a:extLst>
              </p:cNvPr>
              <p:cNvCxnSpPr>
                <a:cxnSpLocks/>
              </p:cNvCxnSpPr>
              <p:nvPr>
                <p:custDataLst>
                  <p:tags r:id="rId29"/>
                </p:custDataLst>
              </p:nvPr>
            </p:nvCxnSpPr>
            <p:spPr bwMode="auto">
              <a:xfrm flipH="1">
                <a:off x="4356272" y="3312000"/>
                <a:ext cx="0" cy="14400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ysDash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248" name="Text Box 132">
                <a:extLst>
                  <a:ext uri="{FF2B5EF4-FFF2-40B4-BE49-F238E27FC236}">
                    <a16:creationId xmlns:a16="http://schemas.microsoft.com/office/drawing/2014/main" id="{9B61C09F-2C09-41B1-AB5D-09BA67310F0F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30"/>
                </p:custDataLst>
              </p:nvPr>
            </p:nvSpPr>
            <p:spPr bwMode="auto">
              <a:xfrm>
                <a:off x="3564000" y="3420000"/>
                <a:ext cx="144000" cy="18000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lIns="18000" tIns="10800" rIns="18000" bIns="10800"/>
              <a:lstStyle/>
              <a:p>
                <a:pPr algn="ctr"/>
                <a:r>
                  <a:rPr lang="en-US" altLang="zh-CN" sz="1400" b="1" u="none" dirty="0">
                    <a:latin typeface="宋体" panose="02010600030101010101" pitchFamily="2" charset="-122"/>
                  </a:rPr>
                  <a:t>N</a:t>
                </a:r>
                <a:endParaRPr lang="en-US" altLang="zh-CN" sz="1400" b="1" u="none" baseline="-20000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249" name="直接箭头连接符 129">
                <a:extLst>
                  <a:ext uri="{FF2B5EF4-FFF2-40B4-BE49-F238E27FC236}">
                    <a16:creationId xmlns:a16="http://schemas.microsoft.com/office/drawing/2014/main" id="{7AFEAA35-8B37-4939-AF3B-3DA7FD9028A1}"/>
                  </a:ext>
                </a:extLst>
              </p:cNvPr>
              <p:cNvCxnSpPr>
                <a:cxnSpLocks/>
              </p:cNvCxnSpPr>
              <p:nvPr>
                <p:custDataLst>
                  <p:tags r:id="rId31"/>
                </p:custDataLst>
              </p:nvPr>
            </p:nvCxnSpPr>
            <p:spPr bwMode="auto">
              <a:xfrm flipH="1" flipV="1">
                <a:off x="3707998" y="3744000"/>
                <a:ext cx="648000" cy="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ysDash"/>
                <a:round/>
                <a:headEnd type="none" w="med" len="med"/>
                <a:tailEnd type="triangle"/>
              </a:ln>
              <a:effectLst/>
            </p:spPr>
          </p:cxnSp>
          <p:cxnSp>
            <p:nvCxnSpPr>
              <p:cNvPr id="250" name="直接箭头连接符 249">
                <a:extLst>
                  <a:ext uri="{FF2B5EF4-FFF2-40B4-BE49-F238E27FC236}">
                    <a16:creationId xmlns:a16="http://schemas.microsoft.com/office/drawing/2014/main" id="{F962B105-96C5-4829-839B-97FF6A376F81}"/>
                  </a:ext>
                </a:extLst>
              </p:cNvPr>
              <p:cNvCxnSpPr>
                <a:cxnSpLocks/>
              </p:cNvCxnSpPr>
              <p:nvPr>
                <p:custDataLst>
                  <p:tags r:id="rId32"/>
                </p:custDataLst>
              </p:nvPr>
            </p:nvCxnSpPr>
            <p:spPr bwMode="auto">
              <a:xfrm flipH="1">
                <a:off x="3708040" y="3024000"/>
                <a:ext cx="0" cy="18000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  <p:sp>
            <p:nvSpPr>
              <p:cNvPr id="251" name="AutoShape 103">
                <a:extLst>
                  <a:ext uri="{FF2B5EF4-FFF2-40B4-BE49-F238E27FC236}">
                    <a16:creationId xmlns:a16="http://schemas.microsoft.com/office/drawing/2014/main" id="{7A8022E9-42F6-46AF-AB34-BAABF5001F16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33"/>
                </p:custDataLst>
              </p:nvPr>
            </p:nvSpPr>
            <p:spPr bwMode="auto">
              <a:xfrm>
                <a:off x="3240112" y="3204056"/>
                <a:ext cx="936000" cy="216000"/>
              </a:xfrm>
              <a:prstGeom prst="flowChartDecision">
                <a:avLst/>
              </a:prstGeom>
              <a:solidFill>
                <a:srgbClr val="CCCC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lIns="18000" tIns="10800" rIns="18000" bIns="1080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600" b="1" u="none" dirty="0">
                    <a:solidFill>
                      <a:srgbClr val="FF3399"/>
                    </a:solidFill>
                  </a:rPr>
                  <a:t>是</a:t>
                </a:r>
                <a:r>
                  <a:rPr lang="zh-CN" altLang="en-US" sz="1600" b="1" u="none" dirty="0"/>
                  <a:t>写？</a:t>
                </a:r>
              </a:p>
            </p:txBody>
          </p:sp>
          <p:cxnSp>
            <p:nvCxnSpPr>
              <p:cNvPr id="252" name="直接箭头连接符 82">
                <a:extLst>
                  <a:ext uri="{FF2B5EF4-FFF2-40B4-BE49-F238E27FC236}">
                    <a16:creationId xmlns:a16="http://schemas.microsoft.com/office/drawing/2014/main" id="{914FDA72-C6D9-4C71-B7B0-ABF6DA97E608}"/>
                  </a:ext>
                </a:extLst>
              </p:cNvPr>
              <p:cNvCxnSpPr>
                <a:cxnSpLocks/>
              </p:cNvCxnSpPr>
              <p:nvPr>
                <p:custDataLst>
                  <p:tags r:id="rId34"/>
                </p:custDataLst>
              </p:nvPr>
            </p:nvCxnSpPr>
            <p:spPr bwMode="auto">
              <a:xfrm>
                <a:off x="4140000" y="3312000"/>
                <a:ext cx="216000" cy="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ysDash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253" name="直接箭头连接符 252">
                <a:extLst>
                  <a:ext uri="{FF2B5EF4-FFF2-40B4-BE49-F238E27FC236}">
                    <a16:creationId xmlns:a16="http://schemas.microsoft.com/office/drawing/2014/main" id="{CB26467B-C2D3-4BB1-8278-8C5F3F8488B0}"/>
                  </a:ext>
                </a:extLst>
              </p:cNvPr>
              <p:cNvCxnSpPr>
                <a:cxnSpLocks/>
              </p:cNvCxnSpPr>
              <p:nvPr>
                <p:custDataLst>
                  <p:tags r:id="rId35"/>
                </p:custDataLst>
              </p:nvPr>
            </p:nvCxnSpPr>
            <p:spPr bwMode="auto">
              <a:xfrm>
                <a:off x="4356272" y="3672000"/>
                <a:ext cx="0" cy="7200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tx1"/>
                </a:solidFill>
                <a:prstDash val="sysDash"/>
                <a:round/>
                <a:headEnd type="none" w="med" len="med"/>
                <a:tailEnd type="none"/>
              </a:ln>
              <a:effectLst/>
            </p:spPr>
          </p:cxnSp>
        </p:grpSp>
      </p:grpSp>
      <p:grpSp>
        <p:nvGrpSpPr>
          <p:cNvPr id="287" name="组合 286">
            <a:extLst>
              <a:ext uri="{FF2B5EF4-FFF2-40B4-BE49-F238E27FC236}">
                <a16:creationId xmlns:a16="http://schemas.microsoft.com/office/drawing/2014/main" id="{70015411-FC7C-4A14-90A3-36FD20498925}"/>
              </a:ext>
            </a:extLst>
          </p:cNvPr>
          <p:cNvGrpSpPr/>
          <p:nvPr/>
        </p:nvGrpSpPr>
        <p:grpSpPr>
          <a:xfrm>
            <a:off x="5004048" y="4869160"/>
            <a:ext cx="3960496" cy="1330730"/>
            <a:chOff x="1727504" y="3781270"/>
            <a:chExt cx="3960496" cy="1330730"/>
          </a:xfrm>
        </p:grpSpPr>
        <p:sp>
          <p:nvSpPr>
            <p:cNvPr id="288" name="Text Box 207">
              <a:extLst>
                <a:ext uri="{FF2B5EF4-FFF2-40B4-BE49-F238E27FC236}">
                  <a16:creationId xmlns:a16="http://schemas.microsoft.com/office/drawing/2014/main" id="{B3765214-311F-437C-9C68-0097ECC61539}"/>
                </a:ext>
              </a:extLst>
            </p:cNvPr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27504" y="3889672"/>
              <a:ext cx="1512000" cy="972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89" name="Text Box 207">
              <a:extLst>
                <a:ext uri="{FF2B5EF4-FFF2-40B4-BE49-F238E27FC236}">
                  <a16:creationId xmlns:a16="http://schemas.microsoft.com/office/drawing/2014/main" id="{77415676-5E47-427E-8784-9515A177EFC5}"/>
                </a:ext>
              </a:extLst>
            </p:cNvPr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799504" y="3961672"/>
              <a:ext cx="252000" cy="828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vert="eaVert" lIns="0" tIns="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u="none" dirty="0">
                  <a:latin typeface="宋体" panose="02010600030101010101" pitchFamily="2" charset="-122"/>
                </a:rPr>
                <a:t>CPU</a:t>
              </a:r>
              <a:r>
                <a:rPr lang="zh-CN" altLang="en-US" sz="1600" b="1" u="none" dirty="0">
                  <a:latin typeface="宋体" panose="02010600030101010101" pitchFamily="2" charset="-122"/>
                </a:rPr>
                <a:t>核心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90" name="Text Box 207">
              <a:extLst>
                <a:ext uri="{FF2B5EF4-FFF2-40B4-BE49-F238E27FC236}">
                  <a16:creationId xmlns:a16="http://schemas.microsoft.com/office/drawing/2014/main" id="{142EACD5-52D0-414D-8350-35B94380332A}"/>
                </a:ext>
              </a:extLst>
            </p:cNvPr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4066540" y="3924000"/>
              <a:ext cx="288290" cy="828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vert="eaVert"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主存</a:t>
              </a:r>
              <a:endParaRPr lang="en-US" altLang="zh-CN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291" name="直接箭头连接符 290">
              <a:extLst>
                <a:ext uri="{FF2B5EF4-FFF2-40B4-BE49-F238E27FC236}">
                  <a16:creationId xmlns:a16="http://schemas.microsoft.com/office/drawing/2014/main" id="{61840F76-F009-45B2-B0D7-9E8813BADFE3}"/>
                </a:ext>
              </a:extLst>
            </p:cNvPr>
            <p:cNvCxnSpPr/>
            <p:nvPr>
              <p:custDataLst>
                <p:tags r:id="rId4"/>
              </p:custDataLst>
            </p:nvPr>
          </p:nvCxnSpPr>
          <p:spPr bwMode="auto">
            <a:xfrm>
              <a:off x="3024000" y="3996000"/>
              <a:ext cx="1044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92" name="直接箭头连接符 291">
              <a:extLst>
                <a:ext uri="{FF2B5EF4-FFF2-40B4-BE49-F238E27FC236}">
                  <a16:creationId xmlns:a16="http://schemas.microsoft.com/office/drawing/2014/main" id="{AE68978A-9D0B-425E-9FBB-707A2D849CE8}"/>
                </a:ext>
              </a:extLst>
            </p:cNvPr>
            <p:cNvCxnSpPr/>
            <p:nvPr>
              <p:custDataLst>
                <p:tags r:id="rId5"/>
              </p:custDataLst>
            </p:nvPr>
          </p:nvCxnSpPr>
          <p:spPr bwMode="auto">
            <a:xfrm>
              <a:off x="2052000" y="4464000"/>
              <a:ext cx="575945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93" name="Text Box 47">
              <a:extLst>
                <a:ext uri="{FF2B5EF4-FFF2-40B4-BE49-F238E27FC236}">
                  <a16:creationId xmlns:a16="http://schemas.microsoft.com/office/drawing/2014/main" id="{DAB95C4B-7137-4A72-828E-134FAC45955B}"/>
                </a:ext>
              </a:extLst>
            </p:cNvPr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2088000" y="4248000"/>
              <a:ext cx="467995" cy="2159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①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VA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94" name="Text Box 47">
              <a:extLst>
                <a:ext uri="{FF2B5EF4-FFF2-40B4-BE49-F238E27FC236}">
                  <a16:creationId xmlns:a16="http://schemas.microsoft.com/office/drawing/2014/main" id="{0CFA276F-3C8B-4BC9-96C5-D83A7E5E241A}"/>
                </a:ext>
              </a:extLst>
            </p:cNvPr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3310255" y="3781270"/>
              <a:ext cx="683895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②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PTEA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295" name="直接箭头连接符 294">
              <a:extLst>
                <a:ext uri="{FF2B5EF4-FFF2-40B4-BE49-F238E27FC236}">
                  <a16:creationId xmlns:a16="http://schemas.microsoft.com/office/drawing/2014/main" id="{29094550-D20B-4F45-A3E0-61726FE46AA0}"/>
                </a:ext>
              </a:extLst>
            </p:cNvPr>
            <p:cNvCxnSpPr/>
            <p:nvPr>
              <p:custDataLst>
                <p:tags r:id="rId8"/>
              </p:custDataLst>
            </p:nvPr>
          </p:nvCxnSpPr>
          <p:spPr bwMode="auto">
            <a:xfrm rot="10800000" flipV="1">
              <a:off x="3024000" y="4212000"/>
              <a:ext cx="1044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296" name="Text Box 47">
              <a:extLst>
                <a:ext uri="{FF2B5EF4-FFF2-40B4-BE49-F238E27FC236}">
                  <a16:creationId xmlns:a16="http://schemas.microsoft.com/office/drawing/2014/main" id="{C549C7CE-3765-4256-A2BC-5AA3880E7059}"/>
                </a:ext>
              </a:extLst>
            </p:cNvPr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310255" y="3996000"/>
              <a:ext cx="575945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③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PTE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97" name="Text Box 47">
              <a:extLst>
                <a:ext uri="{FF2B5EF4-FFF2-40B4-BE49-F238E27FC236}">
                  <a16:creationId xmlns:a16="http://schemas.microsoft.com/office/drawing/2014/main" id="{A8568200-9058-4864-B4D5-0798A16CCC81}"/>
                </a:ext>
              </a:extLst>
            </p:cNvPr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3310255" y="4284000"/>
              <a:ext cx="467995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④</a:t>
              </a:r>
              <a:r>
                <a:rPr lang="en-US" altLang="zh-CN" sz="1600" b="1" u="none" dirty="0">
                  <a:latin typeface="宋体" panose="02010600030101010101" pitchFamily="2" charset="-122"/>
                </a:rPr>
                <a:t>PA</a:t>
              </a:r>
              <a:endParaRPr lang="zh-CN" altLang="en-US" sz="1600" b="1" u="none" dirty="0">
                <a:latin typeface="宋体" panose="02010600030101010101" pitchFamily="2" charset="-122"/>
              </a:endParaRPr>
            </a:p>
          </p:txBody>
        </p:sp>
        <p:sp>
          <p:nvSpPr>
            <p:cNvPr id="298" name="Text Box 47">
              <a:extLst>
                <a:ext uri="{FF2B5EF4-FFF2-40B4-BE49-F238E27FC236}">
                  <a16:creationId xmlns:a16="http://schemas.microsoft.com/office/drawing/2014/main" id="{FE364E4C-1DC7-448D-8C72-0ED5B29141D4}"/>
                </a:ext>
              </a:extLst>
            </p:cNvPr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3310255" y="4500000"/>
              <a:ext cx="683895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⑤数据</a:t>
              </a:r>
            </a:p>
          </p:txBody>
        </p:sp>
        <p:sp>
          <p:nvSpPr>
            <p:cNvPr id="299" name="Text Box 47">
              <a:extLst>
                <a:ext uri="{FF2B5EF4-FFF2-40B4-BE49-F238E27FC236}">
                  <a16:creationId xmlns:a16="http://schemas.microsoft.com/office/drawing/2014/main" id="{ACACE9A5-A7E9-491F-83BA-38F4833797FD}"/>
                </a:ext>
              </a:extLst>
            </p:cNvPr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3060000" y="4320000"/>
              <a:ext cx="144000" cy="179705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T</a:t>
              </a:r>
              <a:endParaRPr lang="zh-CN" altLang="en-US" sz="1400" b="1" u="none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300" name="直接箭头连接符 299">
              <a:extLst>
                <a:ext uri="{FF2B5EF4-FFF2-40B4-BE49-F238E27FC236}">
                  <a16:creationId xmlns:a16="http://schemas.microsoft.com/office/drawing/2014/main" id="{5895E5A7-AE64-4DBD-9B03-7A4509E3BD3D}"/>
                </a:ext>
              </a:extLst>
            </p:cNvPr>
            <p:cNvCxnSpPr/>
            <p:nvPr>
              <p:custDataLst>
                <p:tags r:id="rId13"/>
              </p:custDataLst>
            </p:nvPr>
          </p:nvCxnSpPr>
          <p:spPr bwMode="auto">
            <a:xfrm>
              <a:off x="3024000" y="4500000"/>
              <a:ext cx="1044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01" name="Text Box 47">
              <a:extLst>
                <a:ext uri="{FF2B5EF4-FFF2-40B4-BE49-F238E27FC236}">
                  <a16:creationId xmlns:a16="http://schemas.microsoft.com/office/drawing/2014/main" id="{B663CA2A-573C-4858-B18D-373B17C483A9}"/>
                </a:ext>
              </a:extLst>
            </p:cNvPr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3276000" y="4788000"/>
              <a:ext cx="683967" cy="21593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  <a:sym typeface="+mn-ea"/>
                </a:rPr>
                <a:t>④异常</a:t>
              </a:r>
            </a:p>
          </p:txBody>
        </p:sp>
        <p:cxnSp>
          <p:nvCxnSpPr>
            <p:cNvPr id="302" name="直接箭头连接符 301">
              <a:extLst>
                <a:ext uri="{FF2B5EF4-FFF2-40B4-BE49-F238E27FC236}">
                  <a16:creationId xmlns:a16="http://schemas.microsoft.com/office/drawing/2014/main" id="{470149BC-718E-451C-AB9A-743F66D8577A}"/>
                </a:ext>
              </a:extLst>
            </p:cNvPr>
            <p:cNvCxnSpPr/>
            <p:nvPr>
              <p:custDataLst>
                <p:tags r:id="rId15"/>
              </p:custDataLst>
            </p:nvPr>
          </p:nvCxnSpPr>
          <p:spPr bwMode="auto">
            <a:xfrm flipV="1">
              <a:off x="2844000" y="5004000"/>
              <a:ext cx="1116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03" name="Text Box 47">
              <a:extLst>
                <a:ext uri="{FF2B5EF4-FFF2-40B4-BE49-F238E27FC236}">
                  <a16:creationId xmlns:a16="http://schemas.microsoft.com/office/drawing/2014/main" id="{E8C6E988-C94D-4AFC-A60A-7573018C1B9A}"/>
                </a:ext>
              </a:extLst>
            </p:cNvPr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3960000" y="4896000"/>
              <a:ext cx="1728000" cy="216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缺页异常处理程序</a:t>
              </a:r>
            </a:p>
          </p:txBody>
        </p:sp>
        <p:sp>
          <p:nvSpPr>
            <p:cNvPr id="304" name="上箭头 104">
              <a:extLst>
                <a:ext uri="{FF2B5EF4-FFF2-40B4-BE49-F238E27FC236}">
                  <a16:creationId xmlns:a16="http://schemas.microsoft.com/office/drawing/2014/main" id="{ADAE29A0-A39E-476B-ABF3-DE5120197C77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 bwMode="auto">
            <a:xfrm>
              <a:off x="4752000" y="4644000"/>
              <a:ext cx="108000" cy="216000"/>
            </a:xfrm>
            <a:prstGeom prst="upArrow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sng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5" name="Text Box 47">
              <a:extLst>
                <a:ext uri="{FF2B5EF4-FFF2-40B4-BE49-F238E27FC236}">
                  <a16:creationId xmlns:a16="http://schemas.microsoft.com/office/drawing/2014/main" id="{9EA93C7C-527F-431F-A51F-88E7D38A1801}"/>
                </a:ext>
              </a:extLst>
            </p:cNvPr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4428000" y="4067350"/>
              <a:ext cx="864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⑤牺牲页</a:t>
              </a:r>
            </a:p>
          </p:txBody>
        </p:sp>
        <p:sp>
          <p:nvSpPr>
            <p:cNvPr id="306" name="Text Box 207">
              <a:extLst>
                <a:ext uri="{FF2B5EF4-FFF2-40B4-BE49-F238E27FC236}">
                  <a16:creationId xmlns:a16="http://schemas.microsoft.com/office/drawing/2014/main" id="{64A7980E-63CA-45BD-A78F-41A046117710}"/>
                </a:ext>
              </a:extLst>
            </p:cNvPr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5364000" y="3816000"/>
              <a:ext cx="288000" cy="936000"/>
            </a:xfrm>
            <a:prstGeom prst="rect">
              <a:avLst/>
            </a:prstGeom>
            <a:solidFill>
              <a:srgbClr val="CCECFF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vert="eaVert" lIns="0" tIns="0" rIns="0" bIns="0" anchor="ctr"/>
            <a:lstStyle/>
            <a:p>
              <a:pPr algn="ctr"/>
              <a:r>
                <a:rPr lang="zh-CN" altLang="en-US" sz="1800" b="1" u="none" dirty="0">
                  <a:latin typeface="宋体" panose="02010600030101010101" pitchFamily="2" charset="-122"/>
                </a:rPr>
                <a:t>辅存</a:t>
              </a:r>
              <a:endParaRPr lang="en-US" altLang="zh-CN" sz="1800" b="1" u="none" dirty="0">
                <a:latin typeface="宋体" panose="02010600030101010101" pitchFamily="2" charset="-122"/>
              </a:endParaRPr>
            </a:p>
          </p:txBody>
        </p:sp>
        <p:cxnSp>
          <p:nvCxnSpPr>
            <p:cNvPr id="307" name="直接箭头连接符 306">
              <a:extLst>
                <a:ext uri="{FF2B5EF4-FFF2-40B4-BE49-F238E27FC236}">
                  <a16:creationId xmlns:a16="http://schemas.microsoft.com/office/drawing/2014/main" id="{A89104CB-17B4-4781-97EA-0B417F613AF7}"/>
                </a:ext>
              </a:extLst>
            </p:cNvPr>
            <p:cNvCxnSpPr/>
            <p:nvPr>
              <p:custDataLst>
                <p:tags r:id="rId20"/>
              </p:custDataLst>
            </p:nvPr>
          </p:nvCxnSpPr>
          <p:spPr bwMode="auto">
            <a:xfrm flipV="1">
              <a:off x="4355977" y="4284000"/>
              <a:ext cx="1008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308" name="Text Box 47">
              <a:extLst>
                <a:ext uri="{FF2B5EF4-FFF2-40B4-BE49-F238E27FC236}">
                  <a16:creationId xmlns:a16="http://schemas.microsoft.com/office/drawing/2014/main" id="{A1712872-A38A-4D8D-AD3B-E6C44A95B2A8}"/>
                </a:ext>
              </a:extLst>
            </p:cNvPr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4428000" y="4391350"/>
              <a:ext cx="864000" cy="2160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7780" rIns="18000" bIns="0" anchor="ctr"/>
            <a:lstStyle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u="none" dirty="0">
                  <a:latin typeface="宋体" panose="02010600030101010101" pitchFamily="2" charset="-122"/>
                </a:rPr>
                <a:t>⑥目标页</a:t>
              </a:r>
            </a:p>
          </p:txBody>
        </p:sp>
        <p:cxnSp>
          <p:nvCxnSpPr>
            <p:cNvPr id="309" name="直接箭头连接符 308">
              <a:extLst>
                <a:ext uri="{FF2B5EF4-FFF2-40B4-BE49-F238E27FC236}">
                  <a16:creationId xmlns:a16="http://schemas.microsoft.com/office/drawing/2014/main" id="{7AFD7F7E-4CA3-40FC-8B2B-48EEE2E8042B}"/>
                </a:ext>
              </a:extLst>
            </p:cNvPr>
            <p:cNvCxnSpPr/>
            <p:nvPr>
              <p:custDataLst>
                <p:tags r:id="rId22"/>
              </p:custDataLst>
            </p:nvPr>
          </p:nvCxnSpPr>
          <p:spPr bwMode="auto">
            <a:xfrm rot="10800000">
              <a:off x="4356000" y="4608000"/>
              <a:ext cx="1008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310" name="Text Box 47">
              <a:extLst>
                <a:ext uri="{FF2B5EF4-FFF2-40B4-BE49-F238E27FC236}">
                  <a16:creationId xmlns:a16="http://schemas.microsoft.com/office/drawing/2014/main" id="{7A77EACF-4688-4040-A005-751E1B6961FE}"/>
                </a:ext>
              </a:extLst>
            </p:cNvPr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2880000" y="4536000"/>
              <a:ext cx="144000" cy="179705"/>
            </a:xfrm>
            <a:prstGeom prst="rect">
              <a:avLst/>
            </a:prstGeom>
            <a:solidFill>
              <a:srgbClr val="CCCCFF"/>
            </a:solidFill>
            <a:ln w="952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u="none" dirty="0">
                  <a:solidFill>
                    <a:srgbClr val="990099"/>
                  </a:solidFill>
                  <a:latin typeface="宋体" panose="02010600030101010101" pitchFamily="2" charset="-122"/>
                </a:rPr>
                <a:t>F</a:t>
              </a:r>
              <a:endParaRPr lang="zh-CN" altLang="en-US" sz="1400" b="1" u="none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311" name="直接箭头连接符 310">
              <a:extLst>
                <a:ext uri="{FF2B5EF4-FFF2-40B4-BE49-F238E27FC236}">
                  <a16:creationId xmlns:a16="http://schemas.microsoft.com/office/drawing/2014/main" id="{FF35F224-AA79-46A8-8B05-CE11A22F6E6C}"/>
                </a:ext>
              </a:extLst>
            </p:cNvPr>
            <p:cNvCxnSpPr/>
            <p:nvPr>
              <p:custDataLst>
                <p:tags r:id="rId24"/>
              </p:custDataLst>
            </p:nvPr>
          </p:nvCxnSpPr>
          <p:spPr bwMode="auto">
            <a:xfrm flipH="1">
              <a:off x="2052000" y="4716000"/>
              <a:ext cx="201600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  <p:sp>
          <p:nvSpPr>
            <p:cNvPr id="312" name="Text Box 207">
              <a:extLst>
                <a:ext uri="{FF2B5EF4-FFF2-40B4-BE49-F238E27FC236}">
                  <a16:creationId xmlns:a16="http://schemas.microsoft.com/office/drawing/2014/main" id="{B385379C-E58D-45FB-8796-97695848D697}"/>
                </a:ext>
              </a:extLst>
            </p:cNvPr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2628000" y="3961672"/>
              <a:ext cx="396240" cy="57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600" b="1" u="none" dirty="0">
                  <a:latin typeface="宋体" panose="02010600030101010101" pitchFamily="2" charset="-122"/>
                </a:rPr>
                <a:t>MMU</a:t>
              </a:r>
            </a:p>
          </p:txBody>
        </p:sp>
        <p:cxnSp>
          <p:nvCxnSpPr>
            <p:cNvPr id="313" name="直接箭头连接符 312">
              <a:extLst>
                <a:ext uri="{FF2B5EF4-FFF2-40B4-BE49-F238E27FC236}">
                  <a16:creationId xmlns:a16="http://schemas.microsoft.com/office/drawing/2014/main" id="{896B4F24-FE83-4CE7-83B9-A289F0C058CF}"/>
                </a:ext>
              </a:extLst>
            </p:cNvPr>
            <p:cNvCxnSpPr>
              <a:cxnSpLocks/>
            </p:cNvCxnSpPr>
            <p:nvPr>
              <p:custDataLst>
                <p:tags r:id="rId26"/>
              </p:custDataLst>
            </p:nvPr>
          </p:nvCxnSpPr>
          <p:spPr bwMode="auto">
            <a:xfrm flipH="1">
              <a:off x="2844000" y="4536000"/>
              <a:ext cx="0" cy="468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218506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0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20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20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FC31D89-20E0-4402-87DD-3F93FAB72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t>33</a:t>
            </a:fld>
            <a:endParaRPr lang="en-US" altLang="zh-CN" dirty="0"/>
          </a:p>
        </p:txBody>
      </p:sp>
      <p:grpSp>
        <p:nvGrpSpPr>
          <p:cNvPr id="199" name="组合 198">
            <a:extLst>
              <a:ext uri="{FF2B5EF4-FFF2-40B4-BE49-F238E27FC236}">
                <a16:creationId xmlns:a16="http://schemas.microsoft.com/office/drawing/2014/main" id="{00B03AFC-DACC-4280-B69B-0FA54CBCBA67}"/>
              </a:ext>
            </a:extLst>
          </p:cNvPr>
          <p:cNvGrpSpPr/>
          <p:nvPr/>
        </p:nvGrpSpPr>
        <p:grpSpPr>
          <a:xfrm>
            <a:off x="216000" y="756000"/>
            <a:ext cx="8748000" cy="5760000"/>
            <a:chOff x="216000" y="756000"/>
            <a:chExt cx="8748000" cy="5760000"/>
          </a:xfrm>
        </p:grpSpPr>
        <p:grpSp>
          <p:nvGrpSpPr>
            <p:cNvPr id="200" name="组合 199">
              <a:extLst>
                <a:ext uri="{FF2B5EF4-FFF2-40B4-BE49-F238E27FC236}">
                  <a16:creationId xmlns:a16="http://schemas.microsoft.com/office/drawing/2014/main" id="{59BE90F0-E020-4A1B-AE7F-3A4DDD820A76}"/>
                </a:ext>
              </a:extLst>
            </p:cNvPr>
            <p:cNvGrpSpPr/>
            <p:nvPr/>
          </p:nvGrpSpPr>
          <p:grpSpPr>
            <a:xfrm>
              <a:off x="2771800" y="2232000"/>
              <a:ext cx="5976050" cy="3168115"/>
              <a:chOff x="2771800" y="2232000"/>
              <a:chExt cx="5976050" cy="3168115"/>
            </a:xfrm>
          </p:grpSpPr>
          <p:sp>
            <p:nvSpPr>
              <p:cNvPr id="523" name="Text Box 392">
                <a:extLst>
                  <a:ext uri="{FF2B5EF4-FFF2-40B4-BE49-F238E27FC236}">
                    <a16:creationId xmlns:a16="http://schemas.microsoft.com/office/drawing/2014/main" id="{A02B6E34-37D2-453C-8DAF-0C30D8D601ED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21"/>
                </p:custDataLst>
              </p:nvPr>
            </p:nvSpPr>
            <p:spPr bwMode="auto">
              <a:xfrm>
                <a:off x="7920000" y="5256000"/>
                <a:ext cx="468000" cy="108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r">
                  <a:lnSpc>
                    <a:spcPct val="90000"/>
                  </a:lnSpc>
                </a:pPr>
                <a:r>
                  <a:rPr lang="en-US" altLang="zh-CN" sz="1200" b="1" dirty="0">
                    <a:highlight>
                      <a:srgbClr val="99CCFF"/>
                    </a:highlight>
                    <a:latin typeface="宋体" panose="02010600030101010101" pitchFamily="2" charset="-122"/>
                  </a:rPr>
                  <a:t>x+2</a:t>
                </a:r>
                <a:r>
                  <a:rPr lang="en-US" altLang="zh-CN" sz="1200" b="1" baseline="30000" dirty="0">
                    <a:highlight>
                      <a:srgbClr val="99CCFF"/>
                    </a:highlight>
                    <a:latin typeface="宋体" panose="02010600030101010101" pitchFamily="2" charset="-122"/>
                  </a:rPr>
                  <a:t>k</a:t>
                </a:r>
                <a:r>
                  <a:rPr lang="en-US" altLang="zh-CN" sz="1200" b="1" dirty="0">
                    <a:highlight>
                      <a:srgbClr val="99CCFF"/>
                    </a:highlight>
                    <a:latin typeface="宋体" panose="02010600030101010101" pitchFamily="2" charset="-122"/>
                  </a:rPr>
                  <a:t>-1</a:t>
                </a:r>
              </a:p>
            </p:txBody>
          </p:sp>
          <p:sp>
            <p:nvSpPr>
              <p:cNvPr id="524" name="Text Box 392">
                <a:extLst>
                  <a:ext uri="{FF2B5EF4-FFF2-40B4-BE49-F238E27FC236}">
                    <a16:creationId xmlns:a16="http://schemas.microsoft.com/office/drawing/2014/main" id="{DF7AB746-A739-423D-B12D-9900E9D98070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22"/>
                </p:custDataLst>
              </p:nvPr>
            </p:nvSpPr>
            <p:spPr bwMode="auto">
              <a:xfrm>
                <a:off x="8244000" y="4932000"/>
                <a:ext cx="144145" cy="108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r">
                  <a:lnSpc>
                    <a:spcPct val="90000"/>
                  </a:lnSpc>
                </a:pPr>
                <a:r>
                  <a:rPr lang="en-US" altLang="zh-CN" sz="1200" b="1" dirty="0">
                    <a:highlight>
                      <a:srgbClr val="99CCFF"/>
                    </a:highlight>
                    <a:latin typeface="宋体" panose="02010600030101010101" pitchFamily="2" charset="-122"/>
                  </a:rPr>
                  <a:t>x</a:t>
                </a:r>
              </a:p>
            </p:txBody>
          </p:sp>
          <p:sp>
            <p:nvSpPr>
              <p:cNvPr id="525" name="Rectangle 299">
                <a:extLst>
                  <a:ext uri="{FF2B5EF4-FFF2-40B4-BE49-F238E27FC236}">
                    <a16:creationId xmlns:a16="http://schemas.microsoft.com/office/drawing/2014/main" id="{B3D1CE86-BF9C-498F-BD12-7CA43C022A75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23"/>
                </p:custDataLst>
              </p:nvPr>
            </p:nvSpPr>
            <p:spPr bwMode="auto">
              <a:xfrm>
                <a:off x="5184015" y="2232000"/>
                <a:ext cx="3383915" cy="147574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lIns="0" tIns="0" rIns="0" bIns="0" anchor="ctr"/>
              <a:lstStyle/>
              <a:p>
                <a:pPr>
                  <a:lnSpc>
                    <a:spcPct val="90000"/>
                  </a:lnSpc>
                </a:pPr>
                <a:endParaRPr lang="zh-CN" altLang="en-US"/>
              </a:p>
            </p:txBody>
          </p:sp>
          <p:sp>
            <p:nvSpPr>
              <p:cNvPr id="526" name="Text Box 61">
                <a:extLst>
                  <a:ext uri="{FF2B5EF4-FFF2-40B4-BE49-F238E27FC236}">
                    <a16:creationId xmlns:a16="http://schemas.microsoft.com/office/drawing/2014/main" id="{CAA82EC3-307F-4DC4-B348-1B92C88508D5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24"/>
                </p:custDataLst>
              </p:nvPr>
            </p:nvSpPr>
            <p:spPr bwMode="auto">
              <a:xfrm>
                <a:off x="5219800" y="3168000"/>
                <a:ext cx="323850" cy="179705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CPU</a:t>
                </a:r>
              </a:p>
            </p:txBody>
          </p:sp>
          <p:cxnSp>
            <p:nvCxnSpPr>
              <p:cNvPr id="527" name="直接连接符 526">
                <a:extLst>
                  <a:ext uri="{FF2B5EF4-FFF2-40B4-BE49-F238E27FC236}">
                    <a16:creationId xmlns:a16="http://schemas.microsoft.com/office/drawing/2014/main" id="{8F3994C2-5A56-49BB-BD06-2CDD9A20EAC8}"/>
                  </a:ext>
                </a:extLst>
              </p:cNvPr>
              <p:cNvCxnSpPr/>
              <p:nvPr>
                <p:custDataLst>
                  <p:tags r:id="rId125"/>
                </p:custDataLst>
              </p:nvPr>
            </p:nvCxnSpPr>
            <p:spPr bwMode="auto">
              <a:xfrm>
                <a:off x="3456000" y="3851885"/>
                <a:ext cx="4896000" cy="0"/>
              </a:xfrm>
              <a:prstGeom prst="lin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28" name="直接连接符 527">
                <a:extLst>
                  <a:ext uri="{FF2B5EF4-FFF2-40B4-BE49-F238E27FC236}">
                    <a16:creationId xmlns:a16="http://schemas.microsoft.com/office/drawing/2014/main" id="{BDF60851-00CC-49A7-B7B4-1518A7C2F8FA}"/>
                  </a:ext>
                </a:extLst>
              </p:cNvPr>
              <p:cNvCxnSpPr/>
              <p:nvPr>
                <p:custDataLst>
                  <p:tags r:id="rId126"/>
                </p:custDataLst>
              </p:nvPr>
            </p:nvCxnSpPr>
            <p:spPr bwMode="auto">
              <a:xfrm>
                <a:off x="3456000" y="3923640"/>
                <a:ext cx="4896000" cy="0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29" name="直接连接符 528">
                <a:extLst>
                  <a:ext uri="{FF2B5EF4-FFF2-40B4-BE49-F238E27FC236}">
                    <a16:creationId xmlns:a16="http://schemas.microsoft.com/office/drawing/2014/main" id="{0BA9EC8E-D002-4DE3-A62D-9375C51AFCFE}"/>
                  </a:ext>
                </a:extLst>
              </p:cNvPr>
              <p:cNvCxnSpPr/>
              <p:nvPr>
                <p:custDataLst>
                  <p:tags r:id="rId127"/>
                </p:custDataLst>
              </p:nvPr>
            </p:nvCxnSpPr>
            <p:spPr bwMode="auto">
              <a:xfrm>
                <a:off x="3456000" y="3996030"/>
                <a:ext cx="4896000" cy="0"/>
              </a:xfrm>
              <a:prstGeom prst="lin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30" name="Text Box 392">
                <a:extLst>
                  <a:ext uri="{FF2B5EF4-FFF2-40B4-BE49-F238E27FC236}">
                    <a16:creationId xmlns:a16="http://schemas.microsoft.com/office/drawing/2014/main" id="{4078C97A-10D7-49D7-911B-1ED0C62606BD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28"/>
                </p:custDataLst>
              </p:nvPr>
            </p:nvSpPr>
            <p:spPr bwMode="auto">
              <a:xfrm>
                <a:off x="3059800" y="3816000"/>
                <a:ext cx="396000" cy="216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>
                    <a:latin typeface="宋体" panose="02010600030101010101" pitchFamily="2" charset="-122"/>
                  </a:rPr>
                  <a:t>总线</a:t>
                </a:r>
                <a:endParaRPr lang="en-US" altLang="zh-CN" sz="14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531" name="Text Box 61">
                <a:extLst>
                  <a:ext uri="{FF2B5EF4-FFF2-40B4-BE49-F238E27FC236}">
                    <a16:creationId xmlns:a16="http://schemas.microsoft.com/office/drawing/2014/main" id="{0660C245-BE8B-499C-8379-05CC3B1C2A29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29"/>
                </p:custDataLst>
              </p:nvPr>
            </p:nvSpPr>
            <p:spPr bwMode="auto">
              <a:xfrm>
                <a:off x="4175635" y="3707740"/>
                <a:ext cx="144145" cy="144145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zh-CN" sz="12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a</a:t>
                </a:r>
              </a:p>
            </p:txBody>
          </p:sp>
          <p:cxnSp>
            <p:nvCxnSpPr>
              <p:cNvPr id="532" name="直接连接符 531">
                <a:extLst>
                  <a:ext uri="{FF2B5EF4-FFF2-40B4-BE49-F238E27FC236}">
                    <a16:creationId xmlns:a16="http://schemas.microsoft.com/office/drawing/2014/main" id="{CC434C62-6324-4B98-BD18-57FE4A81A9F1}"/>
                  </a:ext>
                </a:extLst>
              </p:cNvPr>
              <p:cNvCxnSpPr/>
              <p:nvPr>
                <p:custDataLst>
                  <p:tags r:id="rId130"/>
                </p:custDataLst>
              </p:nvPr>
            </p:nvCxnSpPr>
            <p:spPr bwMode="auto">
              <a:xfrm>
                <a:off x="4140075" y="3959835"/>
                <a:ext cx="71755" cy="71755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3" name="直接连接符 532">
                <a:extLst>
                  <a:ext uri="{FF2B5EF4-FFF2-40B4-BE49-F238E27FC236}">
                    <a16:creationId xmlns:a16="http://schemas.microsoft.com/office/drawing/2014/main" id="{C5F99F65-4AEB-4E89-9063-2460CBE97377}"/>
                  </a:ext>
                </a:extLst>
              </p:cNvPr>
              <p:cNvCxnSpPr/>
              <p:nvPr>
                <p:custDataLst>
                  <p:tags r:id="rId131"/>
                </p:custDataLst>
              </p:nvPr>
            </p:nvCxnSpPr>
            <p:spPr bwMode="auto">
              <a:xfrm>
                <a:off x="4140075" y="3815690"/>
                <a:ext cx="71755" cy="71755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34" name="Text Box 61">
                <a:extLst>
                  <a:ext uri="{FF2B5EF4-FFF2-40B4-BE49-F238E27FC236}">
                    <a16:creationId xmlns:a16="http://schemas.microsoft.com/office/drawing/2014/main" id="{FB52A9ED-CA35-489F-8EAE-144EFB0D6832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32"/>
                </p:custDataLst>
              </p:nvPr>
            </p:nvSpPr>
            <p:spPr bwMode="auto">
              <a:xfrm>
                <a:off x="4067685" y="3996030"/>
                <a:ext cx="144145" cy="144145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zh-CN" sz="12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b</a:t>
                </a:r>
              </a:p>
            </p:txBody>
          </p:sp>
          <p:cxnSp>
            <p:nvCxnSpPr>
              <p:cNvPr id="535" name="直接箭头连接符 534">
                <a:extLst>
                  <a:ext uri="{FF2B5EF4-FFF2-40B4-BE49-F238E27FC236}">
                    <a16:creationId xmlns:a16="http://schemas.microsoft.com/office/drawing/2014/main" id="{6C483405-9B49-4CCA-9356-F9F90AD5967C}"/>
                  </a:ext>
                </a:extLst>
              </p:cNvPr>
              <p:cNvCxnSpPr/>
              <p:nvPr>
                <p:custDataLst>
                  <p:tags r:id="rId133"/>
                </p:custDataLst>
              </p:nvPr>
            </p:nvCxnSpPr>
            <p:spPr bwMode="auto">
              <a:xfrm>
                <a:off x="7920000" y="3707740"/>
                <a:ext cx="0" cy="144145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536" name="直接箭头连接符 535">
                <a:extLst>
                  <a:ext uri="{FF2B5EF4-FFF2-40B4-BE49-F238E27FC236}">
                    <a16:creationId xmlns:a16="http://schemas.microsoft.com/office/drawing/2014/main" id="{6CCE24D9-AF8A-4BDD-BBC6-2EC4AFE00D2E}"/>
                  </a:ext>
                </a:extLst>
              </p:cNvPr>
              <p:cNvCxnSpPr/>
              <p:nvPr>
                <p:custDataLst>
                  <p:tags r:id="rId134"/>
                </p:custDataLst>
              </p:nvPr>
            </p:nvCxnSpPr>
            <p:spPr bwMode="auto">
              <a:xfrm>
                <a:off x="7992000" y="3707740"/>
                <a:ext cx="0" cy="21590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537" name="直接箭头连接符 536">
                <a:extLst>
                  <a:ext uri="{FF2B5EF4-FFF2-40B4-BE49-F238E27FC236}">
                    <a16:creationId xmlns:a16="http://schemas.microsoft.com/office/drawing/2014/main" id="{F1D01CAD-4813-409B-8A34-EC6551DC439F}"/>
                  </a:ext>
                </a:extLst>
              </p:cNvPr>
              <p:cNvCxnSpPr/>
              <p:nvPr>
                <p:custDataLst>
                  <p:tags r:id="rId135"/>
                </p:custDataLst>
              </p:nvPr>
            </p:nvCxnSpPr>
            <p:spPr bwMode="auto">
              <a:xfrm>
                <a:off x="8064000" y="3707740"/>
                <a:ext cx="0" cy="28829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sp>
            <p:nvSpPr>
              <p:cNvPr id="538" name="Text Box 291">
                <a:extLst>
                  <a:ext uri="{FF2B5EF4-FFF2-40B4-BE49-F238E27FC236}">
                    <a16:creationId xmlns:a16="http://schemas.microsoft.com/office/drawing/2014/main" id="{BF0EE6D0-075F-4DDA-8196-60A7F1C41CB6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36"/>
                </p:custDataLst>
              </p:nvPr>
            </p:nvSpPr>
            <p:spPr bwMode="auto">
              <a:xfrm>
                <a:off x="3599800" y="2520000"/>
                <a:ext cx="648000" cy="756000"/>
              </a:xfrm>
              <a:prstGeom prst="rect">
                <a:avLst/>
              </a:prstGeom>
              <a:solidFill>
                <a:srgbClr val="99CCFF">
                  <a:alpha val="78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t" anchorCtr="0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>
                    <a:latin typeface="宋体" panose="02010600030101010101" pitchFamily="2" charset="-122"/>
                  </a:rPr>
                  <a:t>主存</a:t>
                </a:r>
                <a:endParaRPr lang="en-US" altLang="zh-CN" sz="1400" b="1" dirty="0">
                  <a:latin typeface="宋体" panose="02010600030101010101" pitchFamily="2" charset="-122"/>
                </a:endParaRPr>
              </a:p>
              <a:p>
                <a:pPr algn="ctr">
                  <a:lnSpc>
                    <a:spcPct val="90000"/>
                  </a:lnSpc>
                </a:pPr>
                <a:r>
                  <a:rPr lang="zh-CN" altLang="en-US" sz="1200" b="1" dirty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≤</a:t>
                </a:r>
                <a:r>
                  <a:rPr lang="en-US" altLang="zh-CN" sz="1200" b="1" dirty="0">
                    <a:latin typeface="宋体" panose="02010600030101010101" pitchFamily="2" charset="-122"/>
                  </a:rPr>
                  <a:t>2</a:t>
                </a:r>
                <a:r>
                  <a:rPr lang="en-US" altLang="zh-CN" sz="1200" b="1" baseline="30000" dirty="0">
                    <a:latin typeface="宋体" panose="02010600030101010101" pitchFamily="2" charset="-122"/>
                  </a:rPr>
                  <a:t>n</a:t>
                </a:r>
                <a:r>
                  <a:rPr lang="en-US" altLang="zh-CN" sz="1200" b="1" dirty="0">
                    <a:latin typeface="宋体" panose="02010600030101010101" pitchFamily="2" charset="-122"/>
                  </a:rPr>
                  <a:t>×w</a:t>
                </a:r>
                <a:endParaRPr lang="en-US" altLang="zh-CN" sz="1400" b="1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539" name="直接箭头连接符 538">
                <a:extLst>
                  <a:ext uri="{FF2B5EF4-FFF2-40B4-BE49-F238E27FC236}">
                    <a16:creationId xmlns:a16="http://schemas.microsoft.com/office/drawing/2014/main" id="{6A3519F6-31AB-44C5-89D0-DB70819A0821}"/>
                  </a:ext>
                </a:extLst>
              </p:cNvPr>
              <p:cNvCxnSpPr/>
              <p:nvPr>
                <p:custDataLst>
                  <p:tags r:id="rId137"/>
                </p:custDataLst>
              </p:nvPr>
            </p:nvCxnSpPr>
            <p:spPr bwMode="auto">
              <a:xfrm flipV="1">
                <a:off x="3743800" y="3275940"/>
                <a:ext cx="0" cy="21590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540" name="直接箭头连接符 539">
                <a:extLst>
                  <a:ext uri="{FF2B5EF4-FFF2-40B4-BE49-F238E27FC236}">
                    <a16:creationId xmlns:a16="http://schemas.microsoft.com/office/drawing/2014/main" id="{D17D728F-E828-4698-97EC-35524CFE6217}"/>
                  </a:ext>
                </a:extLst>
              </p:cNvPr>
              <p:cNvCxnSpPr/>
              <p:nvPr>
                <p:custDataLst>
                  <p:tags r:id="rId138"/>
                </p:custDataLst>
              </p:nvPr>
            </p:nvCxnSpPr>
            <p:spPr bwMode="auto">
              <a:xfrm flipV="1">
                <a:off x="3851800" y="3275940"/>
                <a:ext cx="0" cy="21590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541" name="直接箭头连接符 540">
                <a:extLst>
                  <a:ext uri="{FF2B5EF4-FFF2-40B4-BE49-F238E27FC236}">
                    <a16:creationId xmlns:a16="http://schemas.microsoft.com/office/drawing/2014/main" id="{731DD27B-72F7-43CD-BC1B-6C2295608383}"/>
                  </a:ext>
                </a:extLst>
              </p:cNvPr>
              <p:cNvCxnSpPr/>
              <p:nvPr>
                <p:custDataLst>
                  <p:tags r:id="rId139"/>
                </p:custDataLst>
              </p:nvPr>
            </p:nvCxnSpPr>
            <p:spPr bwMode="auto">
              <a:xfrm>
                <a:off x="3959800" y="3275940"/>
                <a:ext cx="0" cy="21590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sp>
            <p:nvSpPr>
              <p:cNvPr id="542" name="Rectangle 274">
                <a:extLst>
                  <a:ext uri="{FF2B5EF4-FFF2-40B4-BE49-F238E27FC236}">
                    <a16:creationId xmlns:a16="http://schemas.microsoft.com/office/drawing/2014/main" id="{765A92D4-9B69-492E-8943-D7A8B0F437B9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40"/>
                </p:custDataLst>
              </p:nvPr>
            </p:nvSpPr>
            <p:spPr bwMode="auto">
              <a:xfrm>
                <a:off x="3131800" y="2628000"/>
                <a:ext cx="323850" cy="720000"/>
              </a:xfrm>
              <a:prstGeom prst="rect">
                <a:avLst/>
              </a:prstGeom>
              <a:solidFill>
                <a:schemeClr val="bg1">
                  <a:alpha val="80000"/>
                </a:schemeClr>
              </a:solidFill>
              <a:ln w="9525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wrap="none" lIns="0" tIns="0" rIns="0" bIns="0" anchor="ctr"/>
              <a:lstStyle/>
              <a:p>
                <a:pPr>
                  <a:lnSpc>
                    <a:spcPct val="90000"/>
                  </a:lnSpc>
                </a:pPr>
                <a:endParaRPr lang="zh-CN" altLang="en-US"/>
              </a:p>
            </p:txBody>
          </p:sp>
          <p:cxnSp>
            <p:nvCxnSpPr>
              <p:cNvPr id="543" name="直接箭头连接符 542">
                <a:extLst>
                  <a:ext uri="{FF2B5EF4-FFF2-40B4-BE49-F238E27FC236}">
                    <a16:creationId xmlns:a16="http://schemas.microsoft.com/office/drawing/2014/main" id="{FEA37DB1-A1B8-4B67-BC78-180BED897DC8}"/>
                  </a:ext>
                </a:extLst>
              </p:cNvPr>
              <p:cNvCxnSpPr/>
              <p:nvPr>
                <p:custDataLst>
                  <p:tags r:id="rId141"/>
                </p:custDataLst>
              </p:nvPr>
            </p:nvCxnSpPr>
            <p:spPr bwMode="auto">
              <a:xfrm flipV="1">
                <a:off x="3131800" y="3240000"/>
                <a:ext cx="32385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sp>
            <p:nvSpPr>
              <p:cNvPr id="544" name="Text Box 392">
                <a:extLst>
                  <a:ext uri="{FF2B5EF4-FFF2-40B4-BE49-F238E27FC236}">
                    <a16:creationId xmlns:a16="http://schemas.microsoft.com/office/drawing/2014/main" id="{D918E453-8E2F-4623-9D5D-D3547C259D47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42"/>
                </p:custDataLst>
              </p:nvPr>
            </p:nvSpPr>
            <p:spPr bwMode="auto">
              <a:xfrm>
                <a:off x="3131800" y="2448000"/>
                <a:ext cx="323850" cy="179705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w</a:t>
                </a:r>
                <a:r>
                  <a:rPr lang="zh-CN" altLang="en-US" sz="1400" b="1" dirty="0">
                    <a:latin typeface="+mn-ea"/>
                    <a:ea typeface="+mn-ea"/>
                  </a:rPr>
                  <a:t>位</a:t>
                </a:r>
                <a:endParaRPr lang="en-US" altLang="zh-CN" sz="1400" b="1" dirty="0">
                  <a:latin typeface="+mn-ea"/>
                  <a:ea typeface="+mn-ea"/>
                </a:endParaRPr>
              </a:p>
            </p:txBody>
          </p:sp>
          <p:sp>
            <p:nvSpPr>
              <p:cNvPr id="545" name="Text Box 392">
                <a:extLst>
                  <a:ext uri="{FF2B5EF4-FFF2-40B4-BE49-F238E27FC236}">
                    <a16:creationId xmlns:a16="http://schemas.microsoft.com/office/drawing/2014/main" id="{423A5643-C00F-4544-956A-5320A0F8D282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43"/>
                </p:custDataLst>
              </p:nvPr>
            </p:nvSpPr>
            <p:spPr bwMode="auto">
              <a:xfrm>
                <a:off x="2771800" y="3240000"/>
                <a:ext cx="323850" cy="10795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r">
                  <a:lnSpc>
                    <a:spcPct val="90000"/>
                  </a:lnSpc>
                </a:pPr>
                <a:r>
                  <a:rPr lang="en-US" altLang="zh-CN" sz="1200" b="1" dirty="0">
                    <a:solidFill>
                      <a:srgbClr val="C00000"/>
                    </a:solidFill>
                    <a:highlight>
                      <a:srgbClr val="99CCFF"/>
                    </a:highlight>
                    <a:latin typeface="宋体" panose="02010600030101010101" pitchFamily="2" charset="-122"/>
                  </a:rPr>
                  <a:t>2</a:t>
                </a:r>
                <a:r>
                  <a:rPr lang="en-US" altLang="zh-CN" sz="1200" b="1" baseline="30000" dirty="0">
                    <a:solidFill>
                      <a:srgbClr val="C00000"/>
                    </a:solidFill>
                    <a:highlight>
                      <a:srgbClr val="99CCFF"/>
                    </a:highlight>
                    <a:latin typeface="宋体" panose="02010600030101010101" pitchFamily="2" charset="-122"/>
                  </a:rPr>
                  <a:t>n</a:t>
                </a:r>
                <a:r>
                  <a:rPr lang="en-US" altLang="zh-CN" sz="12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-1</a:t>
                </a:r>
              </a:p>
            </p:txBody>
          </p:sp>
          <p:sp>
            <p:nvSpPr>
              <p:cNvPr id="546" name="Text Box 392">
                <a:extLst>
                  <a:ext uri="{FF2B5EF4-FFF2-40B4-BE49-F238E27FC236}">
                    <a16:creationId xmlns:a16="http://schemas.microsoft.com/office/drawing/2014/main" id="{AA466E66-FD21-4D16-A117-CE0C1F988AB9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44"/>
                </p:custDataLst>
              </p:nvPr>
            </p:nvSpPr>
            <p:spPr bwMode="auto">
              <a:xfrm>
                <a:off x="2771800" y="2628000"/>
                <a:ext cx="323850" cy="10795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r">
                  <a:lnSpc>
                    <a:spcPct val="90000"/>
                  </a:lnSpc>
                </a:pPr>
                <a:r>
                  <a:rPr lang="en-US" altLang="zh-CN" sz="12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547" name="Rectangle 274">
                <a:extLst>
                  <a:ext uri="{FF2B5EF4-FFF2-40B4-BE49-F238E27FC236}">
                    <a16:creationId xmlns:a16="http://schemas.microsoft.com/office/drawing/2014/main" id="{3EFF3335-6707-429D-A1BA-8AA144B9CA7F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45"/>
                </p:custDataLst>
              </p:nvPr>
            </p:nvSpPr>
            <p:spPr bwMode="auto">
              <a:xfrm>
                <a:off x="3132000" y="2628000"/>
                <a:ext cx="323850" cy="432000"/>
              </a:xfrm>
              <a:prstGeom prst="rect">
                <a:avLst/>
              </a:prstGeom>
              <a:solidFill>
                <a:srgbClr val="99CCFF">
                  <a:alpha val="70000"/>
                </a:srgbClr>
              </a:solidFill>
              <a:ln w="9525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wrap="none" lIns="0" tIns="0" rIns="0" bIns="0" anchor="ctr"/>
              <a:lstStyle/>
              <a:p>
                <a:pPr>
                  <a:lnSpc>
                    <a:spcPct val="90000"/>
                  </a:lnSpc>
                </a:pPr>
                <a:endParaRPr lang="zh-CN" altLang="en-US"/>
              </a:p>
            </p:txBody>
          </p:sp>
          <p:cxnSp>
            <p:nvCxnSpPr>
              <p:cNvPr id="548" name="直接箭头连接符 547">
                <a:extLst>
                  <a:ext uri="{FF2B5EF4-FFF2-40B4-BE49-F238E27FC236}">
                    <a16:creationId xmlns:a16="http://schemas.microsoft.com/office/drawing/2014/main" id="{4FE36D76-E280-4B8F-8278-CA8A41E72FB4}"/>
                  </a:ext>
                </a:extLst>
              </p:cNvPr>
              <p:cNvCxnSpPr/>
              <p:nvPr>
                <p:custDataLst>
                  <p:tags r:id="rId146"/>
                </p:custDataLst>
              </p:nvPr>
            </p:nvCxnSpPr>
            <p:spPr bwMode="auto">
              <a:xfrm flipV="1">
                <a:off x="3131800" y="2736000"/>
                <a:ext cx="32385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cxnSp>
            <p:nvCxnSpPr>
              <p:cNvPr id="549" name="直接箭头连接符 548">
                <a:extLst>
                  <a:ext uri="{FF2B5EF4-FFF2-40B4-BE49-F238E27FC236}">
                    <a16:creationId xmlns:a16="http://schemas.microsoft.com/office/drawing/2014/main" id="{6361BA1F-51CD-4270-A65A-1331409A7230}"/>
                  </a:ext>
                </a:extLst>
              </p:cNvPr>
              <p:cNvCxnSpPr/>
              <p:nvPr>
                <p:custDataLst>
                  <p:tags r:id="rId147"/>
                </p:custDataLst>
              </p:nvPr>
            </p:nvCxnSpPr>
            <p:spPr bwMode="auto">
              <a:xfrm flipV="1">
                <a:off x="3347800" y="2664000"/>
                <a:ext cx="360000" cy="144145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C6600"/>
                </a:solidFill>
                <a:prstDash val="sysDash"/>
                <a:round/>
                <a:headEnd type="triangle" w="med" len="sm"/>
                <a:tailEnd type="triangle" w="med" len="sm"/>
              </a:ln>
              <a:effectLst/>
            </p:spPr>
          </p:cxnSp>
          <p:sp>
            <p:nvSpPr>
              <p:cNvPr id="550" name="Text Box 392">
                <a:extLst>
                  <a:ext uri="{FF2B5EF4-FFF2-40B4-BE49-F238E27FC236}">
                    <a16:creationId xmlns:a16="http://schemas.microsoft.com/office/drawing/2014/main" id="{8585BD03-A2D4-4B76-8336-47D1CB8FBFBC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48"/>
                </p:custDataLst>
              </p:nvPr>
            </p:nvSpPr>
            <p:spPr bwMode="auto">
              <a:xfrm>
                <a:off x="2771800" y="2952000"/>
                <a:ext cx="323850" cy="10795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r">
                  <a:lnSpc>
                    <a:spcPct val="90000"/>
                  </a:lnSpc>
                </a:pPr>
                <a:r>
                  <a:rPr lang="en-US" altLang="zh-CN" sz="1200" b="1" dirty="0">
                    <a:highlight>
                      <a:srgbClr val="99CCFF"/>
                    </a:highlight>
                    <a:latin typeface="宋体" panose="02010600030101010101" pitchFamily="2" charset="-122"/>
                  </a:rPr>
                  <a:t>2</a:t>
                </a:r>
                <a:r>
                  <a:rPr lang="en-US" altLang="zh-CN" sz="1200" b="1" baseline="30000" dirty="0">
                    <a:highlight>
                      <a:srgbClr val="99CCFF"/>
                    </a:highlight>
                    <a:latin typeface="宋体" panose="02010600030101010101" pitchFamily="2" charset="-122"/>
                  </a:rPr>
                  <a:t>m</a:t>
                </a:r>
                <a:r>
                  <a:rPr lang="en-US" altLang="zh-CN" sz="1200" b="1" dirty="0">
                    <a:latin typeface="宋体" panose="02010600030101010101" pitchFamily="2" charset="-122"/>
                  </a:rPr>
                  <a:t>-1</a:t>
                </a:r>
              </a:p>
            </p:txBody>
          </p:sp>
          <p:sp>
            <p:nvSpPr>
              <p:cNvPr id="551" name="Text Box 18">
                <a:extLst>
                  <a:ext uri="{FF2B5EF4-FFF2-40B4-BE49-F238E27FC236}">
                    <a16:creationId xmlns:a16="http://schemas.microsoft.com/office/drawing/2014/main" id="{1B44F99F-17E2-4933-BD71-4BA5720E5F8E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49"/>
                </p:custDataLst>
              </p:nvPr>
            </p:nvSpPr>
            <p:spPr bwMode="auto">
              <a:xfrm>
                <a:off x="4427800" y="2988285"/>
                <a:ext cx="648000" cy="72009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prstDash val="sysDash"/>
                <a:miter lim="800000"/>
              </a:ln>
              <a:effectLst/>
            </p:spPr>
            <p:txBody>
              <a:bodyPr lIns="0" tIns="0" rIns="0" bIns="0" anchor="t" anchorCtr="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+mn-ea"/>
                    <a:ea typeface="+mn-ea"/>
                  </a:rPr>
                  <a:t>CPU</a:t>
                </a:r>
              </a:p>
            </p:txBody>
          </p:sp>
          <p:cxnSp>
            <p:nvCxnSpPr>
              <p:cNvPr id="552" name="直接箭头连接符 551">
                <a:extLst>
                  <a:ext uri="{FF2B5EF4-FFF2-40B4-BE49-F238E27FC236}">
                    <a16:creationId xmlns:a16="http://schemas.microsoft.com/office/drawing/2014/main" id="{251936FD-97AC-4D33-A117-86CB1040CD14}"/>
                  </a:ext>
                </a:extLst>
              </p:cNvPr>
              <p:cNvCxnSpPr/>
              <p:nvPr>
                <p:custDataLst>
                  <p:tags r:id="rId150"/>
                </p:custDataLst>
              </p:nvPr>
            </p:nvCxnSpPr>
            <p:spPr bwMode="auto">
              <a:xfrm>
                <a:off x="4643630" y="3707740"/>
                <a:ext cx="0" cy="144145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553" name="直接箭头连接符 552">
                <a:extLst>
                  <a:ext uri="{FF2B5EF4-FFF2-40B4-BE49-F238E27FC236}">
                    <a16:creationId xmlns:a16="http://schemas.microsoft.com/office/drawing/2014/main" id="{427A9B99-281F-4BD9-8381-E56936510BD1}"/>
                  </a:ext>
                </a:extLst>
              </p:cNvPr>
              <p:cNvCxnSpPr/>
              <p:nvPr>
                <p:custDataLst>
                  <p:tags r:id="rId151"/>
                </p:custDataLst>
              </p:nvPr>
            </p:nvCxnSpPr>
            <p:spPr bwMode="auto">
              <a:xfrm>
                <a:off x="4716020" y="3707740"/>
                <a:ext cx="0" cy="21590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554" name="直接箭头连接符 553">
                <a:extLst>
                  <a:ext uri="{FF2B5EF4-FFF2-40B4-BE49-F238E27FC236}">
                    <a16:creationId xmlns:a16="http://schemas.microsoft.com/office/drawing/2014/main" id="{39E562C7-2F74-417D-8B0D-E0EC30776218}"/>
                  </a:ext>
                </a:extLst>
              </p:cNvPr>
              <p:cNvCxnSpPr/>
              <p:nvPr>
                <p:custDataLst>
                  <p:tags r:id="rId152"/>
                </p:custDataLst>
              </p:nvPr>
            </p:nvCxnSpPr>
            <p:spPr bwMode="auto">
              <a:xfrm>
                <a:off x="4787775" y="3707740"/>
                <a:ext cx="0" cy="28829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sp>
            <p:nvSpPr>
              <p:cNvPr id="555" name="Rectangle 299">
                <a:extLst>
                  <a:ext uri="{FF2B5EF4-FFF2-40B4-BE49-F238E27FC236}">
                    <a16:creationId xmlns:a16="http://schemas.microsoft.com/office/drawing/2014/main" id="{01BC3558-8619-4106-8E0A-39FE2F1EA01A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53"/>
                </p:custDataLst>
              </p:nvPr>
            </p:nvSpPr>
            <p:spPr bwMode="auto">
              <a:xfrm>
                <a:off x="4716000" y="4139540"/>
                <a:ext cx="2016000" cy="756285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lIns="0" tIns="0" rIns="0" bIns="0" anchor="ctr"/>
              <a:lstStyle/>
              <a:p>
                <a:pPr>
                  <a:lnSpc>
                    <a:spcPct val="90000"/>
                  </a:lnSpc>
                </a:pPr>
                <a:endParaRPr lang="zh-CN" altLang="en-US"/>
              </a:p>
            </p:txBody>
          </p:sp>
          <p:sp>
            <p:nvSpPr>
              <p:cNvPr id="556" name="Text Box 81">
                <a:extLst>
                  <a:ext uri="{FF2B5EF4-FFF2-40B4-BE49-F238E27FC236}">
                    <a16:creationId xmlns:a16="http://schemas.microsoft.com/office/drawing/2014/main" id="{01D02DF6-6F39-493D-B648-F69BC92D248B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54"/>
                </p:custDataLst>
              </p:nvPr>
            </p:nvSpPr>
            <p:spPr bwMode="auto">
              <a:xfrm>
                <a:off x="4716000" y="5184115"/>
                <a:ext cx="2952000" cy="216000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>
                    <a:latin typeface="宋体" panose="02010600030101010101" pitchFamily="2" charset="-122"/>
                  </a:rPr>
                  <a:t>外设</a:t>
                </a:r>
                <a:r>
                  <a:rPr lang="en-US" altLang="zh-CN" sz="1200" b="1" dirty="0">
                    <a:latin typeface="宋体" panose="02010600030101010101" pitchFamily="2" charset="-122"/>
                  </a:rPr>
                  <a:t>(</a:t>
                </a:r>
                <a:r>
                  <a:rPr lang="zh-CN" altLang="en-US" sz="1200" b="1" dirty="0">
                    <a:latin typeface="宋体" panose="02010600030101010101" pitchFamily="2" charset="-122"/>
                  </a:rPr>
                  <a:t>无条件</a:t>
                </a:r>
                <a:r>
                  <a:rPr lang="en-US" altLang="zh-CN" sz="1200" b="1" dirty="0">
                    <a:latin typeface="宋体" panose="02010600030101010101" pitchFamily="2" charset="-122"/>
                  </a:rPr>
                  <a:t>/</a:t>
                </a:r>
                <a:r>
                  <a:rPr lang="zh-CN" altLang="en-US" sz="1200" b="1" dirty="0">
                    <a:latin typeface="宋体" panose="02010600030101010101" pitchFamily="2" charset="-122"/>
                  </a:rPr>
                  <a:t>条件、字符</a:t>
                </a:r>
                <a:r>
                  <a:rPr lang="en-US" altLang="zh-CN" sz="1200" b="1" dirty="0">
                    <a:latin typeface="宋体" panose="02010600030101010101" pitchFamily="2" charset="-122"/>
                  </a:rPr>
                  <a:t>/</a:t>
                </a:r>
                <a:r>
                  <a:rPr lang="zh-CN" altLang="en-US" sz="1200" b="1" dirty="0">
                    <a:latin typeface="宋体" panose="02010600030101010101" pitchFamily="2" charset="-122"/>
                  </a:rPr>
                  <a:t>块、串行</a:t>
                </a:r>
                <a:r>
                  <a:rPr lang="en-US" altLang="zh-CN" sz="1200" b="1" dirty="0">
                    <a:latin typeface="宋体" panose="02010600030101010101" pitchFamily="2" charset="-122"/>
                  </a:rPr>
                  <a:t>/</a:t>
                </a:r>
                <a:r>
                  <a:rPr lang="zh-CN" altLang="en-US" sz="1200" b="1" dirty="0">
                    <a:latin typeface="宋体" panose="02010600030101010101" pitchFamily="2" charset="-122"/>
                  </a:rPr>
                  <a:t>并行</a:t>
                </a:r>
                <a:r>
                  <a:rPr lang="en-US" altLang="zh-CN" sz="1200" b="1" dirty="0">
                    <a:latin typeface="宋体" panose="02010600030101010101" pitchFamily="2" charset="-122"/>
                  </a:rPr>
                  <a:t>)</a:t>
                </a:r>
                <a:endParaRPr lang="zh-CN" altLang="en-US" sz="1200" b="1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557" name="直接连接符 556">
                <a:extLst>
                  <a:ext uri="{FF2B5EF4-FFF2-40B4-BE49-F238E27FC236}">
                    <a16:creationId xmlns:a16="http://schemas.microsoft.com/office/drawing/2014/main" id="{27D85588-2B71-4549-9388-110B4A6B3D01}"/>
                  </a:ext>
                </a:extLst>
              </p:cNvPr>
              <p:cNvCxnSpPr/>
              <p:nvPr>
                <p:custDataLst>
                  <p:tags r:id="rId155"/>
                </p:custDataLst>
              </p:nvPr>
            </p:nvCxnSpPr>
            <p:spPr bwMode="auto">
              <a:xfrm>
                <a:off x="6156000" y="4895825"/>
                <a:ext cx="0" cy="288290"/>
              </a:xfrm>
              <a:prstGeom prst="line">
                <a:avLst/>
              </a:prstGeom>
              <a:noFill/>
              <a:ln w="1270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8" name="直接连接符 557">
                <a:extLst>
                  <a:ext uri="{FF2B5EF4-FFF2-40B4-BE49-F238E27FC236}">
                    <a16:creationId xmlns:a16="http://schemas.microsoft.com/office/drawing/2014/main" id="{A110985A-A71C-4EDD-8E1B-3EC207341A73}"/>
                  </a:ext>
                </a:extLst>
              </p:cNvPr>
              <p:cNvCxnSpPr/>
              <p:nvPr>
                <p:custDataLst>
                  <p:tags r:id="rId156"/>
                </p:custDataLst>
              </p:nvPr>
            </p:nvCxnSpPr>
            <p:spPr bwMode="auto">
              <a:xfrm>
                <a:off x="6264000" y="4895825"/>
                <a:ext cx="0" cy="288290"/>
              </a:xfrm>
              <a:prstGeom prst="line">
                <a:avLst/>
              </a:prstGeom>
              <a:noFill/>
              <a:ln w="12700" cap="flat" cmpd="sng" algn="ctr">
                <a:solidFill>
                  <a:srgbClr val="FF3399"/>
                </a:solidFill>
                <a:prstDash val="sysDash"/>
                <a:round/>
                <a:headEnd type="none" w="med" len="med"/>
                <a:tailEnd type="triangle" w="med" len="sm"/>
              </a:ln>
            </p:spPr>
          </p:cxnSp>
          <p:cxnSp>
            <p:nvCxnSpPr>
              <p:cNvPr id="559" name="直接连接符 558">
                <a:extLst>
                  <a:ext uri="{FF2B5EF4-FFF2-40B4-BE49-F238E27FC236}">
                    <a16:creationId xmlns:a16="http://schemas.microsoft.com/office/drawing/2014/main" id="{6C1C17BE-4CF6-4EBB-A114-CDAE74897C8C}"/>
                  </a:ext>
                </a:extLst>
              </p:cNvPr>
              <p:cNvCxnSpPr/>
              <p:nvPr>
                <p:custDataLst>
                  <p:tags r:id="rId157"/>
                </p:custDataLst>
              </p:nvPr>
            </p:nvCxnSpPr>
            <p:spPr bwMode="auto">
              <a:xfrm flipV="1">
                <a:off x="6336000" y="4895825"/>
                <a:ext cx="0" cy="288290"/>
              </a:xfrm>
              <a:prstGeom prst="line">
                <a:avLst/>
              </a:prstGeom>
              <a:noFill/>
              <a:ln w="12700" cap="flat" cmpd="sng" algn="ctr">
                <a:solidFill>
                  <a:srgbClr val="990099"/>
                </a:solidFill>
                <a:prstDash val="sysDash"/>
                <a:round/>
                <a:headEnd type="none" w="med" len="med"/>
                <a:tailEnd type="triangle" w="med" len="sm"/>
              </a:ln>
            </p:spPr>
          </p:cxnSp>
          <p:cxnSp>
            <p:nvCxnSpPr>
              <p:cNvPr id="560" name="直接连接符 559">
                <a:extLst>
                  <a:ext uri="{FF2B5EF4-FFF2-40B4-BE49-F238E27FC236}">
                    <a16:creationId xmlns:a16="http://schemas.microsoft.com/office/drawing/2014/main" id="{ADF0E96F-9ED0-40D8-8896-79AEB8225945}"/>
                  </a:ext>
                </a:extLst>
              </p:cNvPr>
              <p:cNvCxnSpPr/>
              <p:nvPr>
                <p:custDataLst>
                  <p:tags r:id="rId158"/>
                </p:custDataLst>
              </p:nvPr>
            </p:nvCxnSpPr>
            <p:spPr bwMode="auto">
              <a:xfrm>
                <a:off x="6120000" y="5003775"/>
                <a:ext cx="71755" cy="71755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61" name="Text Box 18">
                <a:extLst>
                  <a:ext uri="{FF2B5EF4-FFF2-40B4-BE49-F238E27FC236}">
                    <a16:creationId xmlns:a16="http://schemas.microsoft.com/office/drawing/2014/main" id="{524356EC-6021-4F7A-ADDB-0F6110B72DA2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59"/>
                </p:custDataLst>
              </p:nvPr>
            </p:nvSpPr>
            <p:spPr bwMode="auto">
              <a:xfrm>
                <a:off x="7056000" y="4464000"/>
                <a:ext cx="684000" cy="216000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>
                    <a:latin typeface="+mn-ea"/>
                    <a:ea typeface="+mn-ea"/>
                  </a:rPr>
                  <a:t>磁盘</a:t>
                </a:r>
              </a:p>
            </p:txBody>
          </p:sp>
          <p:sp>
            <p:nvSpPr>
              <p:cNvPr id="562" name="Text Box 20">
                <a:extLst>
                  <a:ext uri="{FF2B5EF4-FFF2-40B4-BE49-F238E27FC236}">
                    <a16:creationId xmlns:a16="http://schemas.microsoft.com/office/drawing/2014/main" id="{734C0619-C7AC-455C-AF67-903281DEBDAE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60"/>
                </p:custDataLst>
              </p:nvPr>
            </p:nvSpPr>
            <p:spPr bwMode="auto">
              <a:xfrm>
                <a:off x="7056000" y="4139540"/>
                <a:ext cx="684000" cy="216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+mn-ea"/>
                    <a:ea typeface="+mn-ea"/>
                  </a:rPr>
                  <a:t>I/O</a:t>
                </a:r>
                <a:r>
                  <a:rPr lang="zh-CN" altLang="en-US" sz="1400" b="1" dirty="0">
                    <a:latin typeface="+mn-ea"/>
                    <a:ea typeface="+mn-ea"/>
                  </a:rPr>
                  <a:t>接口</a:t>
                </a:r>
              </a:p>
            </p:txBody>
          </p:sp>
          <p:cxnSp>
            <p:nvCxnSpPr>
              <p:cNvPr id="563" name="直接连接符 562">
                <a:extLst>
                  <a:ext uri="{FF2B5EF4-FFF2-40B4-BE49-F238E27FC236}">
                    <a16:creationId xmlns:a16="http://schemas.microsoft.com/office/drawing/2014/main" id="{2669681C-899D-496C-A440-867D0C0935C7}"/>
                  </a:ext>
                </a:extLst>
              </p:cNvPr>
              <p:cNvCxnSpPr/>
              <p:nvPr>
                <p:custDataLst>
                  <p:tags r:id="rId161"/>
                </p:custDataLst>
              </p:nvPr>
            </p:nvCxnSpPr>
            <p:spPr bwMode="auto">
              <a:xfrm>
                <a:off x="7488000" y="4356000"/>
                <a:ext cx="0" cy="107950"/>
              </a:xfrm>
              <a:prstGeom prst="line">
                <a:avLst/>
              </a:prstGeom>
              <a:noFill/>
              <a:ln w="1270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64" name="Text Box 61">
                <a:extLst>
                  <a:ext uri="{FF2B5EF4-FFF2-40B4-BE49-F238E27FC236}">
                    <a16:creationId xmlns:a16="http://schemas.microsoft.com/office/drawing/2014/main" id="{AAAE72E9-F18F-4751-AF78-61A73C52B39A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62"/>
                </p:custDataLst>
              </p:nvPr>
            </p:nvSpPr>
            <p:spPr bwMode="auto">
              <a:xfrm>
                <a:off x="6768000" y="4175735"/>
                <a:ext cx="252000" cy="2159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>
                    <a:latin typeface="+mn-ea"/>
                    <a:cs typeface="Times New Roman" panose="02020603050405020304" pitchFamily="18" charset="0"/>
                  </a:rPr>
                  <a:t>…</a:t>
                </a:r>
              </a:p>
            </p:txBody>
          </p:sp>
          <p:cxnSp>
            <p:nvCxnSpPr>
              <p:cNvPr id="565" name="直接箭头连接符 564">
                <a:extLst>
                  <a:ext uri="{FF2B5EF4-FFF2-40B4-BE49-F238E27FC236}">
                    <a16:creationId xmlns:a16="http://schemas.microsoft.com/office/drawing/2014/main" id="{EF4E2AF1-DA14-4075-A77A-45A1212930AD}"/>
                  </a:ext>
                </a:extLst>
              </p:cNvPr>
              <p:cNvCxnSpPr/>
              <p:nvPr>
                <p:custDataLst>
                  <p:tags r:id="rId163"/>
                </p:custDataLst>
              </p:nvPr>
            </p:nvCxnSpPr>
            <p:spPr bwMode="auto">
              <a:xfrm>
                <a:off x="4896000" y="3851884"/>
                <a:ext cx="0" cy="82800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566" name="直接箭头连接符 565">
                <a:extLst>
                  <a:ext uri="{FF2B5EF4-FFF2-40B4-BE49-F238E27FC236}">
                    <a16:creationId xmlns:a16="http://schemas.microsoft.com/office/drawing/2014/main" id="{AFAB696C-D6B4-4AFD-88F8-A7CD3191A08B}"/>
                  </a:ext>
                </a:extLst>
              </p:cNvPr>
              <p:cNvCxnSpPr/>
              <p:nvPr>
                <p:custDataLst>
                  <p:tags r:id="rId164"/>
                </p:custDataLst>
              </p:nvPr>
            </p:nvCxnSpPr>
            <p:spPr bwMode="auto">
              <a:xfrm>
                <a:off x="5436000" y="3923640"/>
                <a:ext cx="0" cy="28829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567" name="直接箭头连接符 566">
                <a:extLst>
                  <a:ext uri="{FF2B5EF4-FFF2-40B4-BE49-F238E27FC236}">
                    <a16:creationId xmlns:a16="http://schemas.microsoft.com/office/drawing/2014/main" id="{C3668BDE-4B0C-484A-8CBC-A3E921155E76}"/>
                  </a:ext>
                </a:extLst>
              </p:cNvPr>
              <p:cNvCxnSpPr/>
              <p:nvPr>
                <p:custDataLst>
                  <p:tags r:id="rId165"/>
                </p:custDataLst>
              </p:nvPr>
            </p:nvCxnSpPr>
            <p:spPr bwMode="auto">
              <a:xfrm>
                <a:off x="6156000" y="3996030"/>
                <a:ext cx="0" cy="21590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cxnSp>
            <p:nvCxnSpPr>
              <p:cNvPr id="568" name="直接箭头连接符 567">
                <a:extLst>
                  <a:ext uri="{FF2B5EF4-FFF2-40B4-BE49-F238E27FC236}">
                    <a16:creationId xmlns:a16="http://schemas.microsoft.com/office/drawing/2014/main" id="{4D9C7EE3-8C8A-4F80-AB0A-5654F40C668A}"/>
                  </a:ext>
                </a:extLst>
              </p:cNvPr>
              <p:cNvCxnSpPr/>
              <p:nvPr>
                <p:custDataLst>
                  <p:tags r:id="rId166"/>
                </p:custDataLst>
              </p:nvPr>
            </p:nvCxnSpPr>
            <p:spPr bwMode="auto">
              <a:xfrm>
                <a:off x="7416000" y="3923640"/>
                <a:ext cx="0" cy="21590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569" name="直接箭头连接符 568">
                <a:extLst>
                  <a:ext uri="{FF2B5EF4-FFF2-40B4-BE49-F238E27FC236}">
                    <a16:creationId xmlns:a16="http://schemas.microsoft.com/office/drawing/2014/main" id="{EB5EEBC8-CD81-415E-8D42-2BD2E3DC90BE}"/>
                  </a:ext>
                </a:extLst>
              </p:cNvPr>
              <p:cNvCxnSpPr/>
              <p:nvPr>
                <p:custDataLst>
                  <p:tags r:id="rId167"/>
                </p:custDataLst>
              </p:nvPr>
            </p:nvCxnSpPr>
            <p:spPr bwMode="auto">
              <a:xfrm>
                <a:off x="7344000" y="3851885"/>
                <a:ext cx="0" cy="28829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570" name="直接箭头连接符 569">
                <a:extLst>
                  <a:ext uri="{FF2B5EF4-FFF2-40B4-BE49-F238E27FC236}">
                    <a16:creationId xmlns:a16="http://schemas.microsoft.com/office/drawing/2014/main" id="{C5941D8B-CA79-420D-A4AB-D4FB98DDB235}"/>
                  </a:ext>
                </a:extLst>
              </p:cNvPr>
              <p:cNvCxnSpPr/>
              <p:nvPr>
                <p:custDataLst>
                  <p:tags r:id="rId168"/>
                </p:custDataLst>
              </p:nvPr>
            </p:nvCxnSpPr>
            <p:spPr bwMode="auto">
              <a:xfrm>
                <a:off x="7488000" y="3996030"/>
                <a:ext cx="0" cy="144145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sp>
            <p:nvSpPr>
              <p:cNvPr id="571" name="Text Box 291">
                <a:extLst>
                  <a:ext uri="{FF2B5EF4-FFF2-40B4-BE49-F238E27FC236}">
                    <a16:creationId xmlns:a16="http://schemas.microsoft.com/office/drawing/2014/main" id="{A790D357-01CE-47BC-8ACA-A735B6D54A8C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69"/>
                </p:custDataLst>
              </p:nvPr>
            </p:nvSpPr>
            <p:spPr bwMode="auto">
              <a:xfrm>
                <a:off x="3455800" y="3491840"/>
                <a:ext cx="792000" cy="215900"/>
              </a:xfrm>
              <a:prstGeom prst="rect">
                <a:avLst/>
              </a:prstGeom>
              <a:solidFill>
                <a:srgbClr val="FFFFFF">
                  <a:alpha val="78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>
                    <a:latin typeface="宋体" panose="02010600030101010101" pitchFamily="2" charset="-122"/>
                  </a:rPr>
                  <a:t>连接电路</a:t>
                </a:r>
                <a:endParaRPr lang="en-US" altLang="zh-CN" sz="1400" b="1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572" name="直接箭头连接符 571">
                <a:extLst>
                  <a:ext uri="{FF2B5EF4-FFF2-40B4-BE49-F238E27FC236}">
                    <a16:creationId xmlns:a16="http://schemas.microsoft.com/office/drawing/2014/main" id="{0DA68EF7-5C58-44EC-9B1C-E98BFF27D642}"/>
                  </a:ext>
                </a:extLst>
              </p:cNvPr>
              <p:cNvCxnSpPr/>
              <p:nvPr>
                <p:custDataLst>
                  <p:tags r:id="rId170"/>
                </p:custDataLst>
              </p:nvPr>
            </p:nvCxnSpPr>
            <p:spPr bwMode="auto">
              <a:xfrm flipV="1">
                <a:off x="3743800" y="3707740"/>
                <a:ext cx="0" cy="144145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573" name="直接箭头连接符 572">
                <a:extLst>
                  <a:ext uri="{FF2B5EF4-FFF2-40B4-BE49-F238E27FC236}">
                    <a16:creationId xmlns:a16="http://schemas.microsoft.com/office/drawing/2014/main" id="{8E4FD70D-F3C2-464D-81D4-CA1AEF693C5C}"/>
                  </a:ext>
                </a:extLst>
              </p:cNvPr>
              <p:cNvCxnSpPr/>
              <p:nvPr>
                <p:custDataLst>
                  <p:tags r:id="rId171"/>
                </p:custDataLst>
              </p:nvPr>
            </p:nvCxnSpPr>
            <p:spPr bwMode="auto">
              <a:xfrm flipV="1">
                <a:off x="3851800" y="3707740"/>
                <a:ext cx="0" cy="21590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574" name="直接箭头连接符 573">
                <a:extLst>
                  <a:ext uri="{FF2B5EF4-FFF2-40B4-BE49-F238E27FC236}">
                    <a16:creationId xmlns:a16="http://schemas.microsoft.com/office/drawing/2014/main" id="{A8C1DFB2-3EDA-48C6-AB4E-43A794B4C5AB}"/>
                  </a:ext>
                </a:extLst>
              </p:cNvPr>
              <p:cNvCxnSpPr/>
              <p:nvPr>
                <p:custDataLst>
                  <p:tags r:id="rId172"/>
                </p:custDataLst>
              </p:nvPr>
            </p:nvCxnSpPr>
            <p:spPr bwMode="auto">
              <a:xfrm>
                <a:off x="3959800" y="3707740"/>
                <a:ext cx="0" cy="28829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sp>
            <p:nvSpPr>
              <p:cNvPr id="575" name="Text Box 61">
                <a:extLst>
                  <a:ext uri="{FF2B5EF4-FFF2-40B4-BE49-F238E27FC236}">
                    <a16:creationId xmlns:a16="http://schemas.microsoft.com/office/drawing/2014/main" id="{CE1BFBCB-89E4-4A14-811B-DE306F6A99C2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73"/>
                </p:custDataLst>
              </p:nvPr>
            </p:nvSpPr>
            <p:spPr bwMode="auto">
              <a:xfrm>
                <a:off x="3959800" y="3276000"/>
                <a:ext cx="144145" cy="144145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zh-CN" sz="12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c</a:t>
                </a:r>
              </a:p>
            </p:txBody>
          </p:sp>
          <p:cxnSp>
            <p:nvCxnSpPr>
              <p:cNvPr id="576" name="直接连接符 575">
                <a:extLst>
                  <a:ext uri="{FF2B5EF4-FFF2-40B4-BE49-F238E27FC236}">
                    <a16:creationId xmlns:a16="http://schemas.microsoft.com/office/drawing/2014/main" id="{FF863599-EA5C-4E37-810A-6F74972DAF89}"/>
                  </a:ext>
                </a:extLst>
              </p:cNvPr>
              <p:cNvCxnSpPr/>
              <p:nvPr>
                <p:custDataLst>
                  <p:tags r:id="rId174"/>
                </p:custDataLst>
              </p:nvPr>
            </p:nvCxnSpPr>
            <p:spPr bwMode="auto">
              <a:xfrm>
                <a:off x="3923800" y="3347695"/>
                <a:ext cx="71755" cy="71755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7" name="直接连接符 576">
                <a:extLst>
                  <a:ext uri="{FF2B5EF4-FFF2-40B4-BE49-F238E27FC236}">
                    <a16:creationId xmlns:a16="http://schemas.microsoft.com/office/drawing/2014/main" id="{EFC9B7BB-FAA7-4CCA-A22E-91F6F5277D0A}"/>
                  </a:ext>
                </a:extLst>
              </p:cNvPr>
              <p:cNvCxnSpPr/>
              <p:nvPr>
                <p:custDataLst>
                  <p:tags r:id="rId175"/>
                </p:custDataLst>
              </p:nvPr>
            </p:nvCxnSpPr>
            <p:spPr bwMode="auto">
              <a:xfrm>
                <a:off x="3707800" y="3347695"/>
                <a:ext cx="71755" cy="71755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78" name="Text Box 61">
                <a:extLst>
                  <a:ext uri="{FF2B5EF4-FFF2-40B4-BE49-F238E27FC236}">
                    <a16:creationId xmlns:a16="http://schemas.microsoft.com/office/drawing/2014/main" id="{2FAD6120-9142-48AE-8764-C74964C61F4D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76"/>
                </p:custDataLst>
              </p:nvPr>
            </p:nvSpPr>
            <p:spPr bwMode="auto">
              <a:xfrm>
                <a:off x="3599800" y="3348000"/>
                <a:ext cx="144145" cy="144145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zh-CN" sz="12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579" name="Rectangle 274">
                <a:extLst>
                  <a:ext uri="{FF2B5EF4-FFF2-40B4-BE49-F238E27FC236}">
                    <a16:creationId xmlns:a16="http://schemas.microsoft.com/office/drawing/2014/main" id="{31375B7C-8CC8-4911-952E-8BFB43B1CC32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77"/>
                </p:custDataLst>
              </p:nvPr>
            </p:nvSpPr>
            <p:spPr bwMode="auto">
              <a:xfrm>
                <a:off x="8424000" y="4932000"/>
                <a:ext cx="323850" cy="432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9525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wrap="none" lIns="0" tIns="0" rIns="0" bIns="0" anchor="ctr"/>
              <a:lstStyle/>
              <a:p>
                <a:pPr>
                  <a:lnSpc>
                    <a:spcPct val="90000"/>
                  </a:lnSpc>
                </a:pPr>
                <a:endParaRPr lang="zh-CN" altLang="en-US"/>
              </a:p>
            </p:txBody>
          </p:sp>
          <p:cxnSp>
            <p:nvCxnSpPr>
              <p:cNvPr id="580" name="直接箭头连接符 579">
                <a:extLst>
                  <a:ext uri="{FF2B5EF4-FFF2-40B4-BE49-F238E27FC236}">
                    <a16:creationId xmlns:a16="http://schemas.microsoft.com/office/drawing/2014/main" id="{7F3B7950-6718-4492-9C18-D63D3118324B}"/>
                  </a:ext>
                </a:extLst>
              </p:cNvPr>
              <p:cNvCxnSpPr/>
              <p:nvPr>
                <p:custDataLst>
                  <p:tags r:id="rId178"/>
                </p:custDataLst>
              </p:nvPr>
            </p:nvCxnSpPr>
            <p:spPr bwMode="auto">
              <a:xfrm flipV="1">
                <a:off x="8424000" y="5040000"/>
                <a:ext cx="32385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cxnSp>
            <p:nvCxnSpPr>
              <p:cNvPr id="581" name="直接箭头连接符 580">
                <a:extLst>
                  <a:ext uri="{FF2B5EF4-FFF2-40B4-BE49-F238E27FC236}">
                    <a16:creationId xmlns:a16="http://schemas.microsoft.com/office/drawing/2014/main" id="{8A8E381D-C6F9-410C-B3D3-95FEF28E59EB}"/>
                  </a:ext>
                </a:extLst>
              </p:cNvPr>
              <p:cNvCxnSpPr/>
              <p:nvPr>
                <p:custDataLst>
                  <p:tags r:id="rId179"/>
                </p:custDataLst>
              </p:nvPr>
            </p:nvCxnSpPr>
            <p:spPr bwMode="auto">
              <a:xfrm flipV="1">
                <a:off x="8424000" y="5256000"/>
                <a:ext cx="32385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sp>
            <p:nvSpPr>
              <p:cNvPr id="582" name="Text Box 392">
                <a:extLst>
                  <a:ext uri="{FF2B5EF4-FFF2-40B4-BE49-F238E27FC236}">
                    <a16:creationId xmlns:a16="http://schemas.microsoft.com/office/drawing/2014/main" id="{BDEC0F74-09EB-43D8-819B-71BB456337D3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80"/>
                </p:custDataLst>
              </p:nvPr>
            </p:nvSpPr>
            <p:spPr bwMode="auto">
              <a:xfrm>
                <a:off x="8424000" y="4752000"/>
                <a:ext cx="323850" cy="179705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w</a:t>
                </a:r>
                <a:r>
                  <a:rPr lang="zh-CN" altLang="en-US" sz="1400" b="1" dirty="0">
                    <a:latin typeface="+mn-ea"/>
                    <a:ea typeface="+mn-ea"/>
                  </a:rPr>
                  <a:t>位</a:t>
                </a:r>
                <a:endParaRPr lang="en-US" altLang="zh-CN" sz="1400" b="1" dirty="0">
                  <a:latin typeface="+mn-ea"/>
                  <a:ea typeface="+mn-ea"/>
                </a:endParaRPr>
              </a:p>
            </p:txBody>
          </p:sp>
          <p:cxnSp>
            <p:nvCxnSpPr>
              <p:cNvPr id="583" name="直接箭头连接符 582">
                <a:extLst>
                  <a:ext uri="{FF2B5EF4-FFF2-40B4-BE49-F238E27FC236}">
                    <a16:creationId xmlns:a16="http://schemas.microsoft.com/office/drawing/2014/main" id="{A5D2CE9C-7E95-4963-9EF1-52CFF73D0B0E}"/>
                  </a:ext>
                </a:extLst>
              </p:cNvPr>
              <p:cNvCxnSpPr/>
              <p:nvPr>
                <p:custDataLst>
                  <p:tags r:id="rId181"/>
                </p:custDataLst>
              </p:nvPr>
            </p:nvCxnSpPr>
            <p:spPr bwMode="auto">
              <a:xfrm flipV="1">
                <a:off x="3131800" y="2952000"/>
                <a:ext cx="324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cxnSp>
            <p:nvCxnSpPr>
              <p:cNvPr id="584" name="直接箭头连接符 583">
                <a:extLst>
                  <a:ext uri="{FF2B5EF4-FFF2-40B4-BE49-F238E27FC236}">
                    <a16:creationId xmlns:a16="http://schemas.microsoft.com/office/drawing/2014/main" id="{B805795D-FAF0-417F-86B7-248B521E1875}"/>
                  </a:ext>
                </a:extLst>
              </p:cNvPr>
              <p:cNvCxnSpPr>
                <a:cxnSpLocks/>
              </p:cNvCxnSpPr>
              <p:nvPr>
                <p:custDataLst>
                  <p:tags r:id="rId182"/>
                </p:custDataLst>
              </p:nvPr>
            </p:nvCxnSpPr>
            <p:spPr bwMode="auto">
              <a:xfrm flipH="1" flipV="1">
                <a:off x="6552000" y="4500000"/>
                <a:ext cx="1980000" cy="64800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C6600"/>
                </a:solidFill>
                <a:prstDash val="sysDash"/>
                <a:round/>
                <a:headEnd type="triangle" w="med" len="sm"/>
                <a:tailEnd type="triangle" w="med" len="sm"/>
              </a:ln>
              <a:effectLst/>
            </p:spPr>
          </p:cxnSp>
        </p:grpSp>
        <p:grpSp>
          <p:nvGrpSpPr>
            <p:cNvPr id="201" name="组合 200">
              <a:extLst>
                <a:ext uri="{FF2B5EF4-FFF2-40B4-BE49-F238E27FC236}">
                  <a16:creationId xmlns:a16="http://schemas.microsoft.com/office/drawing/2014/main" id="{3FCFF2D9-6D7D-4DFE-B1AE-F80AE0B0EA5A}"/>
                </a:ext>
              </a:extLst>
            </p:cNvPr>
            <p:cNvGrpSpPr/>
            <p:nvPr/>
          </p:nvGrpSpPr>
          <p:grpSpPr>
            <a:xfrm>
              <a:off x="6444000" y="756000"/>
              <a:ext cx="2520000" cy="1368000"/>
              <a:chOff x="4915192" y="3582766"/>
              <a:chExt cx="2520000" cy="1368000"/>
            </a:xfrm>
          </p:grpSpPr>
          <p:sp>
            <p:nvSpPr>
              <p:cNvPr id="513" name="Text Box 36">
                <a:extLst>
                  <a:ext uri="{FF2B5EF4-FFF2-40B4-BE49-F238E27FC236}">
                    <a16:creationId xmlns:a16="http://schemas.microsoft.com/office/drawing/2014/main" id="{3E7FDA4D-E9DB-41F1-887D-25C87D7B246E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11"/>
                </p:custDataLst>
              </p:nvPr>
            </p:nvSpPr>
            <p:spPr bwMode="auto">
              <a:xfrm>
                <a:off x="5635192" y="3797724"/>
                <a:ext cx="828000" cy="1152000"/>
              </a:xfrm>
              <a:prstGeom prst="rect">
                <a:avLst/>
              </a:prstGeom>
              <a:solidFill>
                <a:srgbClr val="CCCCFF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zh-CN" sz="1400" b="1" dirty="0">
                    <a:solidFill>
                      <a:srgbClr val="FF3399"/>
                    </a:solidFill>
                    <a:latin typeface="宋体" panose="02010600030101010101" pitchFamily="2" charset="-122"/>
                  </a:rPr>
                  <a:t>1001</a:t>
                </a:r>
                <a:r>
                  <a:rPr lang="en-US" altLang="zh-CN" sz="1400" b="1" dirty="0">
                    <a:solidFill>
                      <a:srgbClr val="C00000"/>
                    </a:solidFill>
                    <a:latin typeface="宋体" panose="02010600030101010101" pitchFamily="2" charset="-122"/>
                  </a:rPr>
                  <a:t>01</a:t>
                </a:r>
                <a:r>
                  <a:rPr lang="en-US" altLang="zh-CN" sz="1400" b="1" dirty="0">
                    <a:latin typeface="宋体" panose="02010600030101010101" pitchFamily="2" charset="-122"/>
                  </a:rPr>
                  <a:t>00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01000100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altLang="zh-CN" sz="1400" b="1" dirty="0">
                    <a:solidFill>
                      <a:srgbClr val="FF0000"/>
                    </a:solidFill>
                    <a:latin typeface="宋体" panose="02010600030101010101" pitchFamily="2" charset="-122"/>
                  </a:rPr>
                  <a:t>0101</a:t>
                </a:r>
                <a:r>
                  <a:rPr lang="en-US" altLang="zh-CN" sz="1400" b="1" dirty="0">
                    <a:solidFill>
                      <a:srgbClr val="C00000"/>
                    </a:solidFill>
                    <a:latin typeface="宋体" panose="02010600030101010101" pitchFamily="2" charset="-122"/>
                  </a:rPr>
                  <a:t>01</a:t>
                </a:r>
                <a:r>
                  <a:rPr lang="en-US" altLang="zh-CN" sz="1400" b="1" dirty="0">
                    <a:latin typeface="宋体" panose="02010600030101010101" pitchFamily="2" charset="-122"/>
                  </a:rPr>
                  <a:t>10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…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altLang="zh-CN" sz="14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00110011</a:t>
                </a:r>
                <a:endParaRPr lang="en-US" altLang="zh-CN" sz="1400" b="1" dirty="0">
                  <a:solidFill>
                    <a:schemeClr val="accent2"/>
                  </a:solidFill>
                  <a:latin typeface="宋体" panose="02010600030101010101" pitchFamily="2" charset="-122"/>
                </a:endParaRPr>
              </a:p>
              <a:p>
                <a:pPr algn="ctr">
                  <a:lnSpc>
                    <a:spcPct val="8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…</a:t>
                </a:r>
              </a:p>
            </p:txBody>
          </p:sp>
          <p:cxnSp>
            <p:nvCxnSpPr>
              <p:cNvPr id="514" name="直接连接符 513">
                <a:extLst>
                  <a:ext uri="{FF2B5EF4-FFF2-40B4-BE49-F238E27FC236}">
                    <a16:creationId xmlns:a16="http://schemas.microsoft.com/office/drawing/2014/main" id="{02A0819E-113E-4457-83B8-ED87663B6765}"/>
                  </a:ext>
                </a:extLst>
              </p:cNvPr>
              <p:cNvCxnSpPr/>
              <p:nvPr>
                <p:custDataLst>
                  <p:tags r:id="rId112"/>
                </p:custDataLst>
              </p:nvPr>
            </p:nvCxnSpPr>
            <p:spPr bwMode="auto">
              <a:xfrm>
                <a:off x="5635192" y="3960766"/>
                <a:ext cx="828000" cy="0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15" name="直接连接符 514">
                <a:extLst>
                  <a:ext uri="{FF2B5EF4-FFF2-40B4-BE49-F238E27FC236}">
                    <a16:creationId xmlns:a16="http://schemas.microsoft.com/office/drawing/2014/main" id="{00B90111-4C97-4DA6-8EBD-6D8EE444FC1E}"/>
                  </a:ext>
                </a:extLst>
              </p:cNvPr>
              <p:cNvCxnSpPr/>
              <p:nvPr>
                <p:custDataLst>
                  <p:tags r:id="rId113"/>
                </p:custDataLst>
              </p:nvPr>
            </p:nvCxnSpPr>
            <p:spPr bwMode="auto">
              <a:xfrm>
                <a:off x="5635192" y="4302766"/>
                <a:ext cx="828000" cy="0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16" name="Text Box 36">
                <a:extLst>
                  <a:ext uri="{FF2B5EF4-FFF2-40B4-BE49-F238E27FC236}">
                    <a16:creationId xmlns:a16="http://schemas.microsoft.com/office/drawing/2014/main" id="{184CC5EA-F44C-41DA-9D9D-679EED4327A0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14"/>
                </p:custDataLst>
              </p:nvPr>
            </p:nvSpPr>
            <p:spPr bwMode="auto">
              <a:xfrm>
                <a:off x="5023192" y="3797724"/>
                <a:ext cx="612000" cy="1152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zh-CN" sz="1400" b="1" dirty="0">
                    <a:latin typeface="+mn-ea"/>
                  </a:rPr>
                  <a:t>0…000</a:t>
                </a:r>
                <a:endParaRPr lang="en-US" altLang="zh-CN" sz="1400" b="1" dirty="0">
                  <a:latin typeface="+mn-ea"/>
                  <a:ea typeface="+mn-ea"/>
                </a:endParaRPr>
              </a:p>
              <a:p>
                <a:pPr algn="ctr">
                  <a:lnSpc>
                    <a:spcPct val="80000"/>
                  </a:lnSpc>
                </a:pPr>
                <a:r>
                  <a:rPr lang="en-US" altLang="zh-CN" sz="1400" b="1" dirty="0">
                    <a:latin typeface="+mn-ea"/>
                    <a:ea typeface="+mn-ea"/>
                  </a:rPr>
                  <a:t>0</a:t>
                </a:r>
                <a:r>
                  <a:rPr lang="en-US" altLang="zh-CN" sz="1400" b="1" dirty="0">
                    <a:latin typeface="+mn-ea"/>
                  </a:rPr>
                  <a:t>…</a:t>
                </a:r>
                <a:r>
                  <a:rPr lang="en-US" altLang="zh-CN" sz="1400" b="1" dirty="0">
                    <a:latin typeface="+mn-ea"/>
                    <a:ea typeface="+mn-ea"/>
                  </a:rPr>
                  <a:t>001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altLang="zh-CN" sz="1400" b="1" u="none" dirty="0">
                    <a:latin typeface="+mn-ea"/>
                    <a:ea typeface="+mn-ea"/>
                  </a:rPr>
                  <a:t>0…010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altLang="zh-CN" sz="1400" b="1" dirty="0">
                    <a:latin typeface="+mn-ea"/>
                  </a:rPr>
                  <a:t>…</a:t>
                </a:r>
                <a:r>
                  <a:rPr lang="en-US" altLang="zh-CN" sz="1400" b="1" u="none" dirty="0">
                    <a:latin typeface="+mn-ea"/>
                    <a:ea typeface="+mn-ea"/>
                  </a:rPr>
                  <a:t>   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altLang="zh-CN" sz="1400" b="1" dirty="0">
                    <a:latin typeface="+mn-ea"/>
                  </a:rPr>
                  <a:t>0…044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altLang="zh-CN" sz="1400" b="1" dirty="0">
                    <a:latin typeface="+mn-ea"/>
                  </a:rPr>
                  <a:t>…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altLang="zh-CN" sz="1400" b="1" dirty="0">
                    <a:solidFill>
                      <a:srgbClr val="C00000"/>
                    </a:solidFill>
                    <a:highlight>
                      <a:srgbClr val="99CCFF"/>
                    </a:highlight>
                    <a:latin typeface="+mn-ea"/>
                  </a:rPr>
                  <a:t>2</a:t>
                </a:r>
                <a:r>
                  <a:rPr lang="en-US" altLang="zh-CN" sz="1400" b="1" baseline="30000" dirty="0">
                    <a:solidFill>
                      <a:srgbClr val="C00000"/>
                    </a:solidFill>
                    <a:highlight>
                      <a:srgbClr val="99CCFF"/>
                    </a:highlight>
                    <a:latin typeface="+mn-ea"/>
                  </a:rPr>
                  <a:t>N</a:t>
                </a:r>
                <a:r>
                  <a:rPr lang="en-US" altLang="zh-CN" sz="1400" b="1" dirty="0">
                    <a:solidFill>
                      <a:schemeClr val="tx1"/>
                    </a:solidFill>
                    <a:latin typeface="+mn-ea"/>
                  </a:rPr>
                  <a:t>-1</a:t>
                </a:r>
              </a:p>
            </p:txBody>
          </p:sp>
          <p:cxnSp>
            <p:nvCxnSpPr>
              <p:cNvPr id="517" name="直接连接符 516">
                <a:extLst>
                  <a:ext uri="{FF2B5EF4-FFF2-40B4-BE49-F238E27FC236}">
                    <a16:creationId xmlns:a16="http://schemas.microsoft.com/office/drawing/2014/main" id="{DF4B2725-FEBE-4296-B020-C5D701D30D84}"/>
                  </a:ext>
                </a:extLst>
              </p:cNvPr>
              <p:cNvCxnSpPr/>
              <p:nvPr>
                <p:custDataLst>
                  <p:tags r:id="rId115"/>
                </p:custDataLst>
              </p:nvPr>
            </p:nvCxnSpPr>
            <p:spPr bwMode="auto">
              <a:xfrm>
                <a:off x="5635192" y="4122766"/>
                <a:ext cx="828000" cy="0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18" name="直接连接符 517">
                <a:extLst>
                  <a:ext uri="{FF2B5EF4-FFF2-40B4-BE49-F238E27FC236}">
                    <a16:creationId xmlns:a16="http://schemas.microsoft.com/office/drawing/2014/main" id="{0A8CC0F6-8CE0-45B5-A56B-32FAF44B2B80}"/>
                  </a:ext>
                </a:extLst>
              </p:cNvPr>
              <p:cNvCxnSpPr/>
              <p:nvPr>
                <p:custDataLst>
                  <p:tags r:id="rId116"/>
                </p:custDataLst>
              </p:nvPr>
            </p:nvCxnSpPr>
            <p:spPr bwMode="auto">
              <a:xfrm>
                <a:off x="5635192" y="4464766"/>
                <a:ext cx="828000" cy="0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19" name="直接连接符 518">
                <a:extLst>
                  <a:ext uri="{FF2B5EF4-FFF2-40B4-BE49-F238E27FC236}">
                    <a16:creationId xmlns:a16="http://schemas.microsoft.com/office/drawing/2014/main" id="{08146E0D-25C1-4431-8357-32C50DFEE236}"/>
                  </a:ext>
                </a:extLst>
              </p:cNvPr>
              <p:cNvCxnSpPr/>
              <p:nvPr>
                <p:custDataLst>
                  <p:tags r:id="rId117"/>
                </p:custDataLst>
              </p:nvPr>
            </p:nvCxnSpPr>
            <p:spPr bwMode="auto">
              <a:xfrm>
                <a:off x="5635192" y="4806766"/>
                <a:ext cx="828000" cy="0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20" name="直接连接符 519">
                <a:extLst>
                  <a:ext uri="{FF2B5EF4-FFF2-40B4-BE49-F238E27FC236}">
                    <a16:creationId xmlns:a16="http://schemas.microsoft.com/office/drawing/2014/main" id="{6FAE2B40-E6EC-418F-ADFB-525450AB62EA}"/>
                  </a:ext>
                </a:extLst>
              </p:cNvPr>
              <p:cNvCxnSpPr/>
              <p:nvPr>
                <p:custDataLst>
                  <p:tags r:id="rId118"/>
                </p:custDataLst>
              </p:nvPr>
            </p:nvCxnSpPr>
            <p:spPr bwMode="auto">
              <a:xfrm>
                <a:off x="5635192" y="4644766"/>
                <a:ext cx="828000" cy="0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21" name="Text Box 36">
                <a:extLst>
                  <a:ext uri="{FF2B5EF4-FFF2-40B4-BE49-F238E27FC236}">
                    <a16:creationId xmlns:a16="http://schemas.microsoft.com/office/drawing/2014/main" id="{C91EDF12-FAB6-4106-8AD1-09354607AFAF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19"/>
                </p:custDataLst>
              </p:nvPr>
            </p:nvSpPr>
            <p:spPr bwMode="auto">
              <a:xfrm>
                <a:off x="4915192" y="3582766"/>
                <a:ext cx="2448000" cy="216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wrap="square" lIns="0" tIns="0" rIns="0" bIns="0" anchor="t" anchorCtr="0">
                <a:no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zh-CN" altLang="en-US" sz="1400" b="1" dirty="0">
                    <a:highlight>
                      <a:srgbClr val="CCECFF"/>
                    </a:highlight>
                    <a:latin typeface="+mn-ea"/>
                  </a:rPr>
                  <a:t>逻辑地址</a:t>
                </a:r>
                <a:r>
                  <a:rPr lang="zh-CN" altLang="en-US" sz="1400" b="1" baseline="-25000" dirty="0">
                    <a:highlight>
                      <a:srgbClr val="CCECFF"/>
                    </a:highlight>
                    <a:latin typeface="+mn-ea"/>
                  </a:rPr>
                  <a:t> </a:t>
                </a:r>
                <a:r>
                  <a:rPr lang="zh-CN" altLang="en-US" sz="1400" b="1" dirty="0">
                    <a:highlight>
                      <a:srgbClr val="CC99FF"/>
                    </a:highlight>
                    <a:latin typeface="+mn-ea"/>
                  </a:rPr>
                  <a:t>程序内容</a:t>
                </a:r>
                <a:r>
                  <a:rPr lang="zh-CN" altLang="en-US" sz="1400" b="1" dirty="0">
                    <a:latin typeface="+mn-ea"/>
                  </a:rPr>
                  <a:t>  指令功能</a:t>
                </a:r>
                <a:endParaRPr lang="en-US" altLang="zh-CN" sz="1400" b="1" dirty="0">
                  <a:latin typeface="+mn-ea"/>
                </a:endParaRPr>
              </a:p>
            </p:txBody>
          </p:sp>
          <p:sp>
            <p:nvSpPr>
              <p:cNvPr id="522" name="Text Box 36">
                <a:extLst>
                  <a:ext uri="{FF2B5EF4-FFF2-40B4-BE49-F238E27FC236}">
                    <a16:creationId xmlns:a16="http://schemas.microsoft.com/office/drawing/2014/main" id="{84027556-55A1-4895-88C0-13FC321E2C46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20"/>
                </p:custDataLst>
              </p:nvPr>
            </p:nvSpPr>
            <p:spPr bwMode="auto">
              <a:xfrm>
                <a:off x="6499192" y="3798766"/>
                <a:ext cx="936000" cy="1152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wrap="square" lIns="0" tIns="0" rIns="0" bIns="0" anchor="t" anchorCtr="0">
                <a:no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R1</a:t>
                </a:r>
                <a:r>
                  <a:rPr lang="zh-CN" altLang="en-US" sz="1400" b="1" dirty="0">
                    <a:latin typeface="宋体" panose="02010600030101010101" pitchFamily="2" charset="-122"/>
                  </a:rPr>
                  <a:t>←</a:t>
                </a:r>
                <a:r>
                  <a:rPr lang="en-US" altLang="zh-CN" sz="1400" b="1" dirty="0">
                    <a:latin typeface="宋体" panose="02010600030101010101" pitchFamily="2" charset="-122"/>
                  </a:rPr>
                  <a:t>M[44H]</a:t>
                </a:r>
              </a:p>
              <a:p>
                <a:pPr>
                  <a:lnSpc>
                    <a:spcPct val="80000"/>
                  </a:lnSpc>
                </a:pPr>
                <a:r>
                  <a:rPr lang="en-US" altLang="zh-CN" sz="1400" b="1" dirty="0">
                    <a:latin typeface="+mn-ea"/>
                    <a:ea typeface="+mn-ea"/>
                  </a:rPr>
                  <a:t> </a:t>
                </a:r>
              </a:p>
              <a:p>
                <a:pPr>
                  <a:lnSpc>
                    <a:spcPct val="80000"/>
                  </a:lnSpc>
                </a:pPr>
                <a:r>
                  <a:rPr lang="en-US" altLang="zh-CN" sz="1400" b="1" dirty="0">
                    <a:latin typeface="+mn-ea"/>
                  </a:rPr>
                  <a:t>R1</a:t>
                </a:r>
                <a:r>
                  <a:rPr lang="zh-CN" altLang="en-US" sz="1400" b="1" dirty="0">
                    <a:latin typeface="宋体" panose="02010600030101010101" pitchFamily="2" charset="-122"/>
                  </a:rPr>
                  <a:t>←</a:t>
                </a:r>
                <a:r>
                  <a:rPr lang="en-US" altLang="zh-CN" sz="1400" b="1" dirty="0">
                    <a:latin typeface="宋体" panose="02010600030101010101" pitchFamily="2" charset="-122"/>
                  </a:rPr>
                  <a:t>(R1)+2</a:t>
                </a:r>
                <a:r>
                  <a:rPr lang="en-US" altLang="zh-CN" sz="1400" b="1" u="none" dirty="0">
                    <a:latin typeface="+mn-ea"/>
                    <a:ea typeface="+mn-ea"/>
                  </a:rPr>
                  <a:t>   </a:t>
                </a:r>
              </a:p>
              <a:p>
                <a:pPr>
                  <a:lnSpc>
                    <a:spcPct val="80000"/>
                  </a:lnSpc>
                </a:pPr>
                <a:endParaRPr lang="en-US" altLang="zh-CN" sz="1400" b="1" dirty="0">
                  <a:latin typeface="+mn-ea"/>
                </a:endParaRPr>
              </a:p>
              <a:p>
                <a:pPr>
                  <a:lnSpc>
                    <a:spcPct val="80000"/>
                  </a:lnSpc>
                </a:pPr>
                <a:r>
                  <a:rPr lang="en-US" altLang="zh-CN" sz="1400" b="1" dirty="0">
                    <a:latin typeface="+mn-ea"/>
                  </a:rPr>
                  <a:t>x=33H</a:t>
                </a:r>
              </a:p>
              <a:p>
                <a:pPr>
                  <a:lnSpc>
                    <a:spcPct val="80000"/>
                  </a:lnSpc>
                </a:pPr>
                <a:endParaRPr lang="en-US" altLang="zh-CN" sz="1400" b="1" dirty="0">
                  <a:latin typeface="+mn-ea"/>
                </a:endParaRPr>
              </a:p>
            </p:txBody>
          </p:sp>
        </p:grpSp>
        <p:grpSp>
          <p:nvGrpSpPr>
            <p:cNvPr id="202" name="组合 201">
              <a:extLst>
                <a:ext uri="{FF2B5EF4-FFF2-40B4-BE49-F238E27FC236}">
                  <a16:creationId xmlns:a16="http://schemas.microsoft.com/office/drawing/2014/main" id="{D9125400-9B57-4A3D-8A47-DF115B91985C}"/>
                </a:ext>
              </a:extLst>
            </p:cNvPr>
            <p:cNvGrpSpPr/>
            <p:nvPr/>
          </p:nvGrpSpPr>
          <p:grpSpPr>
            <a:xfrm>
              <a:off x="3456000" y="756000"/>
              <a:ext cx="2915920" cy="1332230"/>
              <a:chOff x="-1531" y="1813"/>
              <a:chExt cx="4592" cy="2098"/>
            </a:xfrm>
          </p:grpSpPr>
          <p:sp>
            <p:nvSpPr>
              <p:cNvPr id="503" name="Text Box 160">
                <a:extLst>
                  <a:ext uri="{FF2B5EF4-FFF2-40B4-BE49-F238E27FC236}">
                    <a16:creationId xmlns:a16="http://schemas.microsoft.com/office/drawing/2014/main" id="{E86E745E-189D-4ABE-A2A7-469F261B16E1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02"/>
                </p:custDataLst>
              </p:nvPr>
            </p:nvSpPr>
            <p:spPr bwMode="auto">
              <a:xfrm>
                <a:off x="-1531" y="1813"/>
                <a:ext cx="2041" cy="209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prstDash val="sysDash"/>
                <a:miter lim="800000"/>
              </a:ln>
              <a:effectLst/>
            </p:spPr>
            <p:txBody>
              <a:bodyPr lIns="0" tIns="0" rIns="0" bIns="0" anchor="t" anchorCtr="0"/>
              <a:lstStyle/>
              <a:p>
                <a:pPr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1600" b="1" dirty="0">
                    <a:solidFill>
                      <a:srgbClr val="CC3300"/>
                    </a:solidFill>
                    <a:latin typeface="宋体" panose="02010600030101010101" pitchFamily="2" charset="-122"/>
                  </a:rPr>
                  <a:t>ISA</a:t>
                </a:r>
                <a:r>
                  <a:rPr lang="zh-CN" altLang="en-US" sz="1600" b="1" dirty="0">
                    <a:solidFill>
                      <a:srgbClr val="C00000"/>
                    </a:solidFill>
                    <a:latin typeface="宋体" panose="02010600030101010101" pitchFamily="2" charset="-122"/>
                  </a:rPr>
                  <a:t>内容</a:t>
                </a:r>
                <a:r>
                  <a:rPr lang="zh-CN" altLang="en-US" sz="1600" b="1" dirty="0">
                    <a:solidFill>
                      <a:srgbClr val="CC3300"/>
                    </a:solidFill>
                    <a:latin typeface="宋体" panose="02010600030101010101" pitchFamily="2" charset="-122"/>
                  </a:rPr>
                  <a:t>：</a:t>
                </a:r>
                <a:endParaRPr lang="en-US" altLang="zh-CN" sz="1600" b="1" dirty="0">
                  <a:solidFill>
                    <a:srgbClr val="CC3300"/>
                  </a:solidFill>
                  <a:latin typeface="宋体" panose="02010600030101010101" pitchFamily="2" charset="-122"/>
                </a:endParaRPr>
              </a:p>
              <a:p>
                <a:pPr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 </a:t>
                </a:r>
                <a:r>
                  <a:rPr lang="zh-CN" altLang="en-US" sz="1600" b="1" dirty="0">
                    <a:latin typeface="宋体" panose="02010600030101010101" pitchFamily="2" charset="-122"/>
                  </a:rPr>
                  <a:t>数据表示</a:t>
                </a:r>
                <a:endParaRPr lang="en-US" altLang="zh-CN" sz="1600" b="1" dirty="0">
                  <a:latin typeface="宋体" panose="02010600030101010101" pitchFamily="2" charset="-122"/>
                </a:endParaRPr>
              </a:p>
              <a:p>
                <a:pPr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 OPD</a:t>
                </a:r>
                <a:r>
                  <a:rPr lang="zh-CN" altLang="en-US" sz="1600" b="1" dirty="0">
                    <a:latin typeface="宋体" panose="02010600030101010101" pitchFamily="2" charset="-122"/>
                  </a:rPr>
                  <a:t>存放方式</a:t>
                </a:r>
                <a:endParaRPr lang="en-US" altLang="zh-CN" sz="1600" b="1" dirty="0">
                  <a:latin typeface="宋体" panose="02010600030101010101" pitchFamily="2" charset="-122"/>
                </a:endParaRPr>
              </a:p>
              <a:p>
                <a:pPr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1600" b="1" dirty="0">
                    <a:latin typeface="宋体" panose="02010600030101010101" pitchFamily="2" charset="-122"/>
                  </a:rPr>
                  <a:t> 寻址方式</a:t>
                </a:r>
                <a:endParaRPr lang="en-US" altLang="zh-CN" sz="1600" b="1" dirty="0">
                  <a:latin typeface="宋体" panose="02010600030101010101" pitchFamily="2" charset="-122"/>
                </a:endParaRPr>
              </a:p>
              <a:p>
                <a:pPr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 </a:t>
                </a:r>
                <a:r>
                  <a:rPr lang="zh-CN" altLang="en-US" sz="1600" b="1" dirty="0">
                    <a:latin typeface="宋体" panose="02010600030101010101" pitchFamily="2" charset="-122"/>
                  </a:rPr>
                  <a:t>指令功能</a:t>
                </a:r>
                <a:endParaRPr lang="en-US" altLang="zh-CN" sz="1600" b="1" dirty="0">
                  <a:latin typeface="宋体" panose="02010600030101010101" pitchFamily="2" charset="-122"/>
                </a:endParaRPr>
              </a:p>
              <a:p>
                <a:pPr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1600" b="1" dirty="0">
                    <a:latin typeface="宋体" panose="02010600030101010101" pitchFamily="2" charset="-122"/>
                  </a:rPr>
                  <a:t> 指令格式</a:t>
                </a:r>
              </a:p>
            </p:txBody>
          </p:sp>
          <p:grpSp>
            <p:nvGrpSpPr>
              <p:cNvPr id="504" name="组合 503">
                <a:extLst>
                  <a:ext uri="{FF2B5EF4-FFF2-40B4-BE49-F238E27FC236}">
                    <a16:creationId xmlns:a16="http://schemas.microsoft.com/office/drawing/2014/main" id="{85D817E9-2354-4719-A0A8-109D430F5528}"/>
                  </a:ext>
                </a:extLst>
              </p:cNvPr>
              <p:cNvGrpSpPr/>
              <p:nvPr/>
            </p:nvGrpSpPr>
            <p:grpSpPr>
              <a:xfrm>
                <a:off x="623" y="3004"/>
                <a:ext cx="2209" cy="626"/>
                <a:chOff x="5623389" y="1204119"/>
                <a:chExt cx="1402594" cy="396634"/>
              </a:xfrm>
            </p:grpSpPr>
            <p:sp>
              <p:nvSpPr>
                <p:cNvPr id="506" name="Text Box 136">
                  <a:extLst>
                    <a:ext uri="{FF2B5EF4-FFF2-40B4-BE49-F238E27FC236}">
                      <a16:creationId xmlns:a16="http://schemas.microsoft.com/office/drawing/2014/main" id="{1DEC2431-2D60-497B-AF29-362855083BF3}"/>
                    </a:ext>
                  </a:extLst>
                </p:cNvPr>
                <p:cNvSpPr txBox="1">
                  <a:spLocks noChangeArrowheads="1"/>
                </p:cNvSpPr>
                <p:nvPr>
                  <p:custDataLst>
                    <p:tags r:id="rId104"/>
                  </p:custDataLst>
                </p:nvPr>
              </p:nvSpPr>
              <p:spPr bwMode="auto">
                <a:xfrm>
                  <a:off x="6019566" y="1420042"/>
                  <a:ext cx="251910" cy="179897"/>
                </a:xfrm>
                <a:prstGeom prst="rect">
                  <a:avLst/>
                </a:prstGeom>
                <a:solidFill>
                  <a:srgbClr val="FFCC99">
                    <a:alpha val="80000"/>
                  </a:srgbClr>
                </a:solidFill>
                <a:ln w="127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lIns="0" tIns="0" rIns="0" bIns="0" anchor="ctr"/>
                <a:lstStyle/>
                <a:p>
                  <a:pPr algn="ctr">
                    <a:lnSpc>
                      <a:spcPct val="90000"/>
                    </a:lnSpc>
                  </a:pPr>
                  <a:r>
                    <a:rPr lang="en-US" altLang="zh-CN" sz="1400" b="1" dirty="0">
                      <a:latin typeface="宋体" panose="02010600030101010101" pitchFamily="2" charset="-122"/>
                    </a:rPr>
                    <a:t>RD</a:t>
                  </a:r>
                </a:p>
              </p:txBody>
            </p:sp>
            <p:sp>
              <p:nvSpPr>
                <p:cNvPr id="507" name="Text Box 137">
                  <a:extLst>
                    <a:ext uri="{FF2B5EF4-FFF2-40B4-BE49-F238E27FC236}">
                      <a16:creationId xmlns:a16="http://schemas.microsoft.com/office/drawing/2014/main" id="{9337EB97-A890-4723-B940-EAF6A7E9878B}"/>
                    </a:ext>
                  </a:extLst>
                </p:cNvPr>
                <p:cNvSpPr txBox="1">
                  <a:spLocks noChangeArrowheads="1"/>
                </p:cNvSpPr>
                <p:nvPr>
                  <p:custDataLst>
                    <p:tags r:id="rId105"/>
                  </p:custDataLst>
                </p:nvPr>
              </p:nvSpPr>
              <p:spPr bwMode="auto">
                <a:xfrm>
                  <a:off x="5623389" y="1420763"/>
                  <a:ext cx="395966" cy="179990"/>
                </a:xfrm>
                <a:prstGeom prst="rect">
                  <a:avLst/>
                </a:prstGeom>
                <a:solidFill>
                  <a:srgbClr val="FFCCFF">
                    <a:alpha val="80000"/>
                  </a:srgbClr>
                </a:solidFill>
                <a:ln w="127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lIns="0" tIns="0" rIns="0" bIns="0" anchor="ctr"/>
                <a:lstStyle/>
                <a:p>
                  <a:pPr algn="ctr">
                    <a:lnSpc>
                      <a:spcPct val="90000"/>
                    </a:lnSpc>
                  </a:pPr>
                  <a:r>
                    <a:rPr lang="en-US" altLang="zh-CN" sz="1400" b="1" dirty="0">
                      <a:latin typeface="宋体" panose="02010600030101010101" pitchFamily="2" charset="-122"/>
                    </a:rPr>
                    <a:t>op2</a:t>
                  </a:r>
                </a:p>
              </p:txBody>
            </p:sp>
            <p:sp>
              <p:nvSpPr>
                <p:cNvPr id="508" name="Text Box 151">
                  <a:extLst>
                    <a:ext uri="{FF2B5EF4-FFF2-40B4-BE49-F238E27FC236}">
                      <a16:creationId xmlns:a16="http://schemas.microsoft.com/office/drawing/2014/main" id="{93F434BF-C2CD-41C9-AA99-233774670B4F}"/>
                    </a:ext>
                  </a:extLst>
                </p:cNvPr>
                <p:cNvSpPr txBox="1">
                  <a:spLocks noChangeArrowheads="1"/>
                </p:cNvSpPr>
                <p:nvPr>
                  <p:custDataLst>
                    <p:tags r:id="rId106"/>
                  </p:custDataLst>
                </p:nvPr>
              </p:nvSpPr>
              <p:spPr bwMode="auto">
                <a:xfrm>
                  <a:off x="6522051" y="1420042"/>
                  <a:ext cx="503932" cy="179897"/>
                </a:xfrm>
                <a:prstGeom prst="rect">
                  <a:avLst/>
                </a:prstGeom>
                <a:solidFill>
                  <a:srgbClr val="99CCFF">
                    <a:alpha val="80000"/>
                  </a:srgbClr>
                </a:solidFill>
                <a:ln w="127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lIns="0" tIns="0" rIns="0" bIns="0" anchor="ctr"/>
                <a:lstStyle/>
                <a:p>
                  <a:pPr algn="ctr">
                    <a:lnSpc>
                      <a:spcPct val="90000"/>
                    </a:lnSpc>
                  </a:pPr>
                  <a:r>
                    <a:rPr lang="en-US" altLang="zh-CN" sz="1400" b="1" dirty="0">
                      <a:latin typeface="宋体" panose="02010600030101010101" pitchFamily="2" charset="-122"/>
                    </a:rPr>
                    <a:t>A</a:t>
                  </a:r>
                </a:p>
              </p:txBody>
            </p:sp>
            <p:sp>
              <p:nvSpPr>
                <p:cNvPr id="509" name="Text Box 136">
                  <a:extLst>
                    <a:ext uri="{FF2B5EF4-FFF2-40B4-BE49-F238E27FC236}">
                      <a16:creationId xmlns:a16="http://schemas.microsoft.com/office/drawing/2014/main" id="{02857535-83A3-47BB-AFCD-4C49DEF228FB}"/>
                    </a:ext>
                  </a:extLst>
                </p:cNvPr>
                <p:cNvSpPr txBox="1">
                  <a:spLocks noChangeArrowheads="1"/>
                </p:cNvSpPr>
                <p:nvPr>
                  <p:custDataLst>
                    <p:tags r:id="rId107"/>
                  </p:custDataLst>
                </p:nvPr>
              </p:nvSpPr>
              <p:spPr bwMode="auto">
                <a:xfrm>
                  <a:off x="6271544" y="1420042"/>
                  <a:ext cx="251910" cy="179897"/>
                </a:xfrm>
                <a:prstGeom prst="rect">
                  <a:avLst/>
                </a:prstGeom>
                <a:solidFill>
                  <a:srgbClr val="FFCC99">
                    <a:alpha val="80000"/>
                  </a:srgbClr>
                </a:solidFill>
                <a:ln w="127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lIns="0" tIns="0" rIns="0" bIns="0" anchor="ctr"/>
                <a:lstStyle/>
                <a:p>
                  <a:pPr algn="ctr">
                    <a:lnSpc>
                      <a:spcPct val="90000"/>
                    </a:lnSpc>
                  </a:pPr>
                  <a:r>
                    <a:rPr lang="en-US" altLang="zh-CN" sz="1400" b="1" dirty="0">
                      <a:latin typeface="宋体" panose="02010600030101010101" pitchFamily="2" charset="-122"/>
                    </a:rPr>
                    <a:t>RS</a:t>
                  </a:r>
                </a:p>
              </p:txBody>
            </p:sp>
            <p:sp>
              <p:nvSpPr>
                <p:cNvPr id="510" name="Text Box 136">
                  <a:extLst>
                    <a:ext uri="{FF2B5EF4-FFF2-40B4-BE49-F238E27FC236}">
                      <a16:creationId xmlns:a16="http://schemas.microsoft.com/office/drawing/2014/main" id="{7D47B825-AF4B-4526-AE41-999D2BFAEB40}"/>
                    </a:ext>
                  </a:extLst>
                </p:cNvPr>
                <p:cNvSpPr txBox="1">
                  <a:spLocks noChangeArrowheads="1"/>
                </p:cNvSpPr>
                <p:nvPr>
                  <p:custDataLst>
                    <p:tags r:id="rId108"/>
                  </p:custDataLst>
                </p:nvPr>
              </p:nvSpPr>
              <p:spPr bwMode="auto">
                <a:xfrm>
                  <a:off x="6019566" y="1204119"/>
                  <a:ext cx="251910" cy="179897"/>
                </a:xfrm>
                <a:prstGeom prst="rect">
                  <a:avLst/>
                </a:prstGeom>
                <a:solidFill>
                  <a:srgbClr val="FFCC99">
                    <a:alpha val="80000"/>
                  </a:srgbClr>
                </a:solidFill>
                <a:ln w="127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lIns="0" tIns="0" rIns="0" bIns="0" anchor="ctr"/>
                <a:lstStyle/>
                <a:p>
                  <a:pPr algn="ctr">
                    <a:lnSpc>
                      <a:spcPct val="90000"/>
                    </a:lnSpc>
                  </a:pPr>
                  <a:r>
                    <a:rPr lang="en-US" altLang="zh-CN" sz="1400" b="1" dirty="0">
                      <a:latin typeface="宋体" panose="02010600030101010101" pitchFamily="2" charset="-122"/>
                    </a:rPr>
                    <a:t>RD</a:t>
                  </a:r>
                </a:p>
              </p:txBody>
            </p:sp>
            <p:sp>
              <p:nvSpPr>
                <p:cNvPr id="511" name="Text Box 137">
                  <a:extLst>
                    <a:ext uri="{FF2B5EF4-FFF2-40B4-BE49-F238E27FC236}">
                      <a16:creationId xmlns:a16="http://schemas.microsoft.com/office/drawing/2014/main" id="{951A34F8-0665-4F28-89BB-4670A3991BB7}"/>
                    </a:ext>
                  </a:extLst>
                </p:cNvPr>
                <p:cNvSpPr txBox="1">
                  <a:spLocks noChangeArrowheads="1"/>
                </p:cNvSpPr>
                <p:nvPr>
                  <p:custDataLst>
                    <p:tags r:id="rId109"/>
                  </p:custDataLst>
                </p:nvPr>
              </p:nvSpPr>
              <p:spPr bwMode="auto">
                <a:xfrm>
                  <a:off x="5624089" y="1204119"/>
                  <a:ext cx="395966" cy="179990"/>
                </a:xfrm>
                <a:prstGeom prst="rect">
                  <a:avLst/>
                </a:prstGeom>
                <a:solidFill>
                  <a:srgbClr val="FFCCFF">
                    <a:alpha val="80000"/>
                  </a:srgbClr>
                </a:solidFill>
                <a:ln w="127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lIns="0" tIns="0" rIns="0" bIns="0" anchor="ctr"/>
                <a:lstStyle/>
                <a:p>
                  <a:pPr algn="ctr">
                    <a:lnSpc>
                      <a:spcPct val="90000"/>
                    </a:lnSpc>
                  </a:pPr>
                  <a:r>
                    <a:rPr lang="en-US" altLang="zh-CN" sz="1400" b="1" dirty="0">
                      <a:latin typeface="宋体" panose="02010600030101010101" pitchFamily="2" charset="-122"/>
                    </a:rPr>
                    <a:t>op1</a:t>
                  </a:r>
                </a:p>
              </p:txBody>
            </p:sp>
            <p:sp>
              <p:nvSpPr>
                <p:cNvPr id="512" name="Text Box 136">
                  <a:extLst>
                    <a:ext uri="{FF2B5EF4-FFF2-40B4-BE49-F238E27FC236}">
                      <a16:creationId xmlns:a16="http://schemas.microsoft.com/office/drawing/2014/main" id="{DE4510C5-0696-4402-B876-12DB0EBC5950}"/>
                    </a:ext>
                  </a:extLst>
                </p:cNvPr>
                <p:cNvSpPr txBox="1">
                  <a:spLocks noChangeArrowheads="1"/>
                </p:cNvSpPr>
                <p:nvPr>
                  <p:custDataLst>
                    <p:tags r:id="rId110"/>
                  </p:custDataLst>
                </p:nvPr>
              </p:nvSpPr>
              <p:spPr bwMode="auto">
                <a:xfrm>
                  <a:off x="6271544" y="1204119"/>
                  <a:ext cx="251951" cy="179897"/>
                </a:xfrm>
                <a:prstGeom prst="rect">
                  <a:avLst/>
                </a:prstGeom>
                <a:solidFill>
                  <a:srgbClr val="FFCC99">
                    <a:alpha val="80000"/>
                  </a:srgbClr>
                </a:solidFill>
                <a:ln w="127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lIns="0" tIns="0" rIns="0" bIns="0" anchor="ctr"/>
                <a:lstStyle/>
                <a:p>
                  <a:pPr algn="ctr">
                    <a:lnSpc>
                      <a:spcPct val="90000"/>
                    </a:lnSpc>
                  </a:pPr>
                  <a:r>
                    <a:rPr lang="en-US" altLang="zh-CN" sz="1400" b="1" dirty="0">
                      <a:latin typeface="宋体" panose="02010600030101010101" pitchFamily="2" charset="-122"/>
                    </a:rPr>
                    <a:t>RS</a:t>
                  </a:r>
                </a:p>
              </p:txBody>
            </p:sp>
          </p:grpSp>
          <p:sp>
            <p:nvSpPr>
              <p:cNvPr id="505" name="Text Box 61">
                <a:extLst>
                  <a:ext uri="{FF2B5EF4-FFF2-40B4-BE49-F238E27FC236}">
                    <a16:creationId xmlns:a16="http://schemas.microsoft.com/office/drawing/2014/main" id="{F93D7FF6-D61E-4867-BA7B-B5785E0B299C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03"/>
                </p:custDataLst>
              </p:nvPr>
            </p:nvSpPr>
            <p:spPr bwMode="auto">
              <a:xfrm>
                <a:off x="623" y="2324"/>
                <a:ext cx="2438" cy="624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 anchorCtr="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400" b="1" dirty="0">
                    <a:latin typeface="+mn-ea"/>
                  </a:rPr>
                  <a:t>RD</a:t>
                </a:r>
                <a:r>
                  <a:rPr lang="zh-CN" altLang="en-US" sz="1400" b="1" dirty="0">
                    <a:latin typeface="+mn-ea"/>
                  </a:rPr>
                  <a:t>←</a:t>
                </a:r>
                <a:r>
                  <a:rPr lang="en-US" altLang="zh-CN" sz="1400" b="1" dirty="0">
                    <a:latin typeface="+mn-ea"/>
                  </a:rPr>
                  <a:t>(RD)</a:t>
                </a:r>
                <a:r>
                  <a:rPr lang="en-US" altLang="zh-CN" sz="1400" b="1" baseline="-18000" dirty="0">
                    <a:latin typeface="+mn-ea"/>
                  </a:rPr>
                  <a:t> </a:t>
                </a:r>
                <a:r>
                  <a:rPr lang="en-US" altLang="zh-CN" sz="1400" b="1" dirty="0">
                    <a:latin typeface="+mn-ea"/>
                  </a:rPr>
                  <a:t>op1</a:t>
                </a:r>
                <a:r>
                  <a:rPr lang="en-US" altLang="zh-CN" sz="1400" b="1" baseline="-18000" dirty="0">
                    <a:latin typeface="+mn-ea"/>
                  </a:rPr>
                  <a:t> </a:t>
                </a:r>
                <a:r>
                  <a:rPr lang="en-US" altLang="zh-CN" sz="1400" b="1" dirty="0">
                    <a:latin typeface="+mn-ea"/>
                  </a:rPr>
                  <a:t>(RS)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altLang="zh-CN" sz="1400" b="1" dirty="0">
                    <a:latin typeface="+mn-ea"/>
                  </a:rPr>
                  <a:t>RD</a:t>
                </a:r>
                <a:r>
                  <a:rPr lang="zh-CN" altLang="en-US" sz="1400" b="1" dirty="0">
                    <a:latin typeface="+mn-ea"/>
                  </a:rPr>
                  <a:t>←</a:t>
                </a:r>
                <a:r>
                  <a:rPr lang="en-US" altLang="zh-CN" sz="1400" b="1" dirty="0">
                    <a:latin typeface="+mn-ea"/>
                  </a:rPr>
                  <a:t>M[(RS)]</a:t>
                </a:r>
                <a:r>
                  <a:rPr lang="en-US" altLang="zh-CN" sz="1400" b="1" baseline="-18000" dirty="0">
                    <a:latin typeface="+mn-ea"/>
                  </a:rPr>
                  <a:t> </a:t>
                </a:r>
                <a:r>
                  <a:rPr lang="en-US" altLang="zh-CN" sz="1400" b="1" dirty="0">
                    <a:latin typeface="+mn-ea"/>
                  </a:rPr>
                  <a:t>op2</a:t>
                </a:r>
                <a:r>
                  <a:rPr lang="en-US" altLang="zh-CN" sz="1400" b="1" baseline="-18000" dirty="0">
                    <a:latin typeface="+mn-ea"/>
                  </a:rPr>
                  <a:t> </a:t>
                </a:r>
                <a:r>
                  <a:rPr lang="en-US" altLang="zh-CN" sz="1400" b="1" dirty="0">
                    <a:latin typeface="+mn-ea"/>
                  </a:rPr>
                  <a:t>A</a:t>
                </a:r>
              </a:p>
            </p:txBody>
          </p:sp>
        </p:grpSp>
        <p:sp>
          <p:nvSpPr>
            <p:cNvPr id="203" name="右箭头 119">
              <a:extLst>
                <a:ext uri="{FF2B5EF4-FFF2-40B4-BE49-F238E27FC236}">
                  <a16:creationId xmlns:a16="http://schemas.microsoft.com/office/drawing/2014/main" id="{E27EE01B-6E06-43C7-AF39-03D35754C83C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6192000" y="1512000"/>
              <a:ext cx="252000" cy="180000"/>
            </a:xfrm>
            <a:prstGeom prst="rightArrow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4" name="下箭头 137">
              <a:extLst>
                <a:ext uri="{FF2B5EF4-FFF2-40B4-BE49-F238E27FC236}">
                  <a16:creationId xmlns:a16="http://schemas.microsoft.com/office/drawing/2014/main" id="{28EBD998-0120-4A99-8E0C-E266A35E7FCE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4103800" y="2160000"/>
              <a:ext cx="180000" cy="252000"/>
            </a:xfrm>
            <a:prstGeom prst="downArrow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5" name="Text Box 61">
              <a:extLst>
                <a:ext uri="{FF2B5EF4-FFF2-40B4-BE49-F238E27FC236}">
                  <a16:creationId xmlns:a16="http://schemas.microsoft.com/office/drawing/2014/main" id="{52E0C886-3AC7-4433-815C-B16B68617134}"/>
                </a:ext>
              </a:extLst>
            </p:cNvPr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288000" y="5040000"/>
              <a:ext cx="4104000" cy="147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t" anchorCtr="0"/>
            <a:lstStyle/>
            <a:p>
              <a:r>
                <a:rPr lang="en-US" altLang="zh-CN" sz="1600" b="1" dirty="0">
                  <a:solidFill>
                    <a:srgbClr val="FF0000"/>
                  </a:solidFill>
                  <a:latin typeface="+mn-ea"/>
                </a:rPr>
                <a:t>CPU</a:t>
              </a:r>
              <a:r>
                <a:rPr lang="zh-CN" altLang="en-US" sz="1600" b="1" dirty="0">
                  <a:solidFill>
                    <a:srgbClr val="FF0000"/>
                  </a:solidFill>
                  <a:latin typeface="+mn-ea"/>
                </a:rPr>
                <a:t>组织：</a:t>
              </a:r>
              <a:r>
                <a:rPr lang="en-US" altLang="zh-CN" sz="1400" b="1" dirty="0">
                  <a:latin typeface="+mn-ea"/>
                </a:rPr>
                <a:t>(</a:t>
              </a:r>
              <a:r>
                <a:rPr lang="zh-CN" altLang="en-US" sz="1400" b="1" dirty="0">
                  <a:latin typeface="+mn-ea"/>
                </a:rPr>
                <a:t>实现</a:t>
              </a:r>
              <a:r>
                <a:rPr lang="zh-CN" altLang="en-US" sz="1400" b="1" u="sng" dirty="0">
                  <a:highlight>
                    <a:srgbClr val="CCFFFF"/>
                  </a:highlight>
                  <a:latin typeface="+mn-ea"/>
                </a:rPr>
                <a:t>程序的执行</a:t>
              </a:r>
              <a:r>
                <a:rPr lang="en-US" altLang="zh-CN" sz="1400" b="1" dirty="0">
                  <a:latin typeface="+mn-ea"/>
                </a:rPr>
                <a:t>)</a:t>
              </a:r>
            </a:p>
            <a:p>
              <a:r>
                <a:rPr lang="en-US" altLang="zh-CN" sz="1600" b="1" dirty="0">
                  <a:latin typeface="+mn-ea"/>
                </a:rPr>
                <a:t> </a:t>
              </a:r>
              <a:r>
                <a:rPr lang="zh-CN" altLang="en-US" sz="1600" b="1" dirty="0">
                  <a:latin typeface="+mn-ea"/>
                </a:rPr>
                <a:t>①组成</a:t>
              </a:r>
              <a:r>
                <a:rPr lang="en-US" altLang="zh-CN" sz="1400" b="1" dirty="0">
                  <a:latin typeface="+mn-ea"/>
                  <a:sym typeface="+mn-ea"/>
                </a:rPr>
                <a:t>(DP+CU)</a:t>
              </a:r>
              <a:r>
                <a:rPr lang="zh-CN" altLang="en-US" sz="1600" b="1" dirty="0">
                  <a:latin typeface="+mn-ea"/>
                </a:rPr>
                <a:t>，工作流程</a:t>
              </a:r>
              <a:r>
                <a:rPr lang="en-US" altLang="zh-CN" sz="1400" b="1" dirty="0">
                  <a:latin typeface="+mn-ea"/>
                </a:rPr>
                <a:t>(</a:t>
              </a:r>
              <a:r>
                <a:rPr lang="zh-CN" altLang="en-US" sz="1400" b="1" dirty="0">
                  <a:latin typeface="+mn-ea"/>
                </a:rPr>
                <a:t>执行指令</a:t>
              </a:r>
              <a:r>
                <a:rPr lang="en-US" altLang="zh-CN" sz="1400" b="1" dirty="0">
                  <a:latin typeface="+mn-ea"/>
                </a:rPr>
                <a:t>+</a:t>
              </a:r>
              <a:r>
                <a:rPr lang="zh-CN" altLang="en-US" sz="1400" b="1" dirty="0">
                  <a:latin typeface="+mn-ea"/>
                </a:rPr>
                <a:t>响应事件</a:t>
              </a:r>
              <a:r>
                <a:rPr lang="en-US" altLang="zh-CN" sz="1400" b="1" dirty="0">
                  <a:latin typeface="+mn-ea"/>
                </a:rPr>
                <a:t>)</a:t>
              </a:r>
            </a:p>
            <a:p>
              <a:r>
                <a:rPr lang="zh-CN" altLang="en-US" sz="1600" b="1" dirty="0">
                  <a:latin typeface="+mn-ea"/>
                </a:rPr>
                <a:t> ②</a:t>
              </a:r>
              <a:r>
                <a:rPr lang="en-US" altLang="zh-CN" sz="1600" b="1" dirty="0">
                  <a:latin typeface="+mn-ea"/>
                  <a:sym typeface="+mn-ea"/>
                </a:rPr>
                <a:t>DP</a:t>
              </a:r>
              <a:r>
                <a:rPr lang="zh-CN" altLang="en-US" sz="1600" b="1" dirty="0">
                  <a:latin typeface="+mn-ea"/>
                  <a:sym typeface="+mn-ea"/>
                </a:rPr>
                <a:t>组成</a:t>
              </a:r>
              <a:r>
                <a:rPr lang="en-US" altLang="zh-CN" sz="1400" b="1" dirty="0">
                  <a:latin typeface="+mn-ea"/>
                  <a:sym typeface="+mn-ea"/>
                </a:rPr>
                <a:t>(</a:t>
              </a:r>
              <a:r>
                <a:rPr lang="zh-CN" altLang="en-US" sz="1400" b="1" dirty="0">
                  <a:latin typeface="+mn-ea"/>
                  <a:sym typeface="+mn-ea"/>
                </a:rPr>
                <a:t>部件</a:t>
              </a:r>
              <a:r>
                <a:rPr lang="en-US" altLang="zh-CN" sz="1400" b="1" dirty="0">
                  <a:latin typeface="+mn-ea"/>
                  <a:sym typeface="+mn-ea"/>
                </a:rPr>
                <a:t>+</a:t>
              </a:r>
              <a:r>
                <a:rPr lang="zh-CN" altLang="en-US" sz="1400" b="1" dirty="0">
                  <a:latin typeface="+mn-ea"/>
                  <a:sym typeface="+mn-ea"/>
                </a:rPr>
                <a:t>互连</a:t>
              </a:r>
              <a:r>
                <a:rPr lang="en-US" altLang="zh-CN" sz="1400" b="1" dirty="0">
                  <a:latin typeface="+mn-ea"/>
                  <a:sym typeface="+mn-ea"/>
                </a:rPr>
                <a:t>) [</a:t>
              </a:r>
              <a:r>
                <a:rPr lang="zh-CN" altLang="en-US" sz="1400" b="1" dirty="0">
                  <a:latin typeface="+mn-ea"/>
                  <a:sym typeface="+mn-ea"/>
                </a:rPr>
                <a:t>部件</a:t>
              </a:r>
              <a:r>
                <a:rPr lang="en-US" altLang="zh-CN" sz="1400" b="1" dirty="0">
                  <a:latin typeface="+mn-ea"/>
                  <a:ea typeface="+mn-ea"/>
                  <a:sym typeface="+mn-ea"/>
                </a:rPr>
                <a:t>=</a:t>
              </a:r>
              <a:r>
                <a:rPr lang="zh-CN" altLang="en-US" sz="1400" b="1" dirty="0">
                  <a:latin typeface="+mn-ea"/>
                  <a:ea typeface="+mn-ea"/>
                  <a:sym typeface="+mn-ea"/>
                </a:rPr>
                <a:t>取指</a:t>
              </a:r>
              <a:r>
                <a:rPr lang="en-US" altLang="zh-CN" sz="1400" b="1" dirty="0">
                  <a:latin typeface="+mn-ea"/>
                  <a:ea typeface="+mn-ea"/>
                  <a:sym typeface="+mn-ea"/>
                </a:rPr>
                <a:t>+</a:t>
              </a:r>
              <a:r>
                <a:rPr lang="zh-CN" altLang="en-US" sz="1400" b="1" dirty="0">
                  <a:latin typeface="+mn-ea"/>
                  <a:sym typeface="+mn-ea"/>
                </a:rPr>
                <a:t>运算器</a:t>
              </a:r>
              <a:r>
                <a:rPr lang="en-US" altLang="zh-CN" sz="1400" b="1" dirty="0">
                  <a:latin typeface="+mn-ea"/>
                  <a:sym typeface="+mn-ea"/>
                </a:rPr>
                <a:t>+…]</a:t>
              </a:r>
              <a:endParaRPr lang="en-US" altLang="zh-CN" sz="1400" b="1" dirty="0">
                <a:latin typeface="+mn-ea"/>
              </a:endParaRPr>
            </a:p>
            <a:p>
              <a:r>
                <a:rPr lang="en-US" altLang="zh-CN" sz="1600" b="1" dirty="0">
                  <a:latin typeface="+mn-ea"/>
                </a:rPr>
                <a:t> </a:t>
              </a:r>
              <a:r>
                <a:rPr lang="zh-CN" altLang="en-US" sz="1600" b="1" dirty="0">
                  <a:latin typeface="+mn-ea"/>
                </a:rPr>
                <a:t>③</a:t>
              </a:r>
              <a:r>
                <a:rPr lang="zh-CN" altLang="en-US" sz="1600" b="1" dirty="0">
                  <a:latin typeface="+mn-ea"/>
                  <a:sym typeface="+mn-ea"/>
                </a:rPr>
                <a:t>指令执行过程组织</a:t>
              </a:r>
              <a:r>
                <a:rPr lang="en-US" altLang="zh-CN" sz="1400" b="1" dirty="0">
                  <a:latin typeface="+mn-ea"/>
                  <a:sym typeface="+mn-ea"/>
                </a:rPr>
                <a:t>(</a:t>
              </a:r>
              <a:r>
                <a:rPr lang="zh-CN" altLang="en-US" sz="1400" b="1" dirty="0">
                  <a:latin typeface="+mn-ea"/>
                  <a:sym typeface="+mn-ea"/>
                </a:rPr>
                <a:t>表示为各</a:t>
              </a:r>
              <a:r>
                <a:rPr lang="en-US" altLang="zh-CN" sz="1400" spc="-80" dirty="0" err="1">
                  <a:sym typeface="+mn-ea"/>
                </a:rPr>
                <a:t>μ</a:t>
              </a:r>
              <a:r>
                <a:rPr lang="en-US" altLang="zh-CN" sz="1400" b="1" spc="-80" dirty="0" err="1">
                  <a:latin typeface="宋体" panose="02010600030101010101" pitchFamily="2" charset="-122"/>
                  <a:sym typeface="+mn-ea"/>
                </a:rPr>
                <a:t>OP</a:t>
              </a:r>
              <a:r>
                <a:rPr lang="en-US" altLang="zh-CN" sz="1400" b="1" dirty="0" err="1">
                  <a:latin typeface="+mn-ea"/>
                  <a:sym typeface="+mn-ea"/>
                </a:rPr>
                <a:t>Cmd</a:t>
              </a:r>
              <a:r>
                <a:rPr lang="zh-CN" altLang="en-US" sz="1400" b="1" dirty="0">
                  <a:latin typeface="+mn-ea"/>
                  <a:sym typeface="+mn-ea"/>
                </a:rPr>
                <a:t>序列</a:t>
              </a:r>
              <a:r>
                <a:rPr lang="en-US" altLang="zh-CN" sz="1400" b="1" dirty="0">
                  <a:latin typeface="+mn-ea"/>
                  <a:sym typeface="+mn-ea"/>
                </a:rPr>
                <a:t>)</a:t>
              </a:r>
              <a:endParaRPr lang="en-US" altLang="zh-CN" sz="1400" b="1" dirty="0">
                <a:latin typeface="+mn-ea"/>
              </a:endParaRPr>
            </a:p>
            <a:p>
              <a:r>
                <a:rPr lang="zh-CN" altLang="en-US" sz="1600" b="1" dirty="0">
                  <a:latin typeface="+mn-ea"/>
                </a:rPr>
                <a:t> ④</a:t>
              </a:r>
              <a:r>
                <a:rPr lang="en-US" altLang="zh-CN" sz="1600" b="1" dirty="0">
                  <a:latin typeface="+mn-ea"/>
                </a:rPr>
                <a:t>CU</a:t>
              </a:r>
              <a:r>
                <a:rPr lang="zh-CN" altLang="en-US" sz="1600" b="1" dirty="0">
                  <a:latin typeface="+mn-ea"/>
                </a:rPr>
                <a:t>组成</a:t>
              </a:r>
              <a:r>
                <a:rPr lang="en-US" altLang="zh-CN" sz="1400" b="1" dirty="0">
                  <a:latin typeface="+mn-ea"/>
                </a:rPr>
                <a:t>(3</a:t>
              </a:r>
              <a:r>
                <a:rPr lang="zh-CN" altLang="en-US" sz="1400" b="1" dirty="0">
                  <a:latin typeface="+mn-ea"/>
                </a:rPr>
                <a:t>个</a:t>
              </a:r>
              <a:r>
                <a:rPr lang="en-US" altLang="zh-CN" sz="1400" b="1" dirty="0">
                  <a:latin typeface="+mn-ea"/>
                </a:rPr>
                <a:t>,</a:t>
              </a:r>
              <a:r>
                <a:rPr lang="zh-CN" altLang="en-US" sz="1400" b="1" dirty="0">
                  <a:latin typeface="+mn-ea"/>
                </a:rPr>
                <a:t>有序</a:t>
              </a:r>
              <a:r>
                <a:rPr lang="zh-CN" altLang="en-US" sz="1400" b="1" dirty="0">
                  <a:latin typeface="+mn-ea"/>
                  <a:sym typeface="+mn-ea"/>
                </a:rPr>
                <a:t>产生所需的</a:t>
              </a:r>
              <a:r>
                <a:rPr lang="en-US" altLang="zh-CN" sz="1400" spc="-80" dirty="0" err="1">
                  <a:sym typeface="+mn-ea"/>
                </a:rPr>
                <a:t>μ</a:t>
              </a:r>
              <a:r>
                <a:rPr lang="en-US" altLang="zh-CN" sz="1400" b="1" spc="-80" dirty="0" err="1">
                  <a:latin typeface="宋体" panose="02010600030101010101" pitchFamily="2" charset="-122"/>
                  <a:sym typeface="+mn-ea"/>
                </a:rPr>
                <a:t>OP</a:t>
              </a:r>
              <a:r>
                <a:rPr lang="en-US" altLang="zh-CN" sz="1400" b="1" dirty="0" err="1">
                  <a:latin typeface="+mn-ea"/>
                  <a:sym typeface="+mn-ea"/>
                </a:rPr>
                <a:t>Cmd</a:t>
              </a:r>
              <a:r>
                <a:rPr lang="en-US" altLang="zh-CN" sz="1400" b="1" dirty="0">
                  <a:latin typeface="+mn-ea"/>
                  <a:sym typeface="+mn-ea"/>
                </a:rPr>
                <a:t>)</a:t>
              </a:r>
              <a:endParaRPr lang="en-US" altLang="zh-CN" sz="1400" b="1" dirty="0">
                <a:latin typeface="+mn-ea"/>
              </a:endParaRPr>
            </a:p>
            <a:p>
              <a:r>
                <a:rPr lang="en-US" altLang="zh-CN" sz="1600" b="1" dirty="0">
                  <a:latin typeface="+mn-ea"/>
                </a:rPr>
                <a:t> </a:t>
              </a:r>
              <a:r>
                <a:rPr lang="zh-CN" altLang="en-US" sz="1600" b="1" dirty="0">
                  <a:latin typeface="+mn-ea"/>
                </a:rPr>
                <a:t>⑤中断机构组成</a:t>
              </a:r>
              <a:r>
                <a:rPr lang="en-US" altLang="zh-CN" sz="1400" b="1" dirty="0">
                  <a:latin typeface="+mn-ea"/>
                </a:rPr>
                <a:t>(</a:t>
              </a:r>
              <a:r>
                <a:rPr lang="zh-CN" altLang="en-US" sz="1400" b="1" dirty="0">
                  <a:latin typeface="+mn-ea"/>
                </a:rPr>
                <a:t>检测</a:t>
              </a:r>
              <a:r>
                <a:rPr lang="en-US" altLang="zh-CN" sz="1400" b="1" dirty="0">
                  <a:latin typeface="+mn-ea"/>
                </a:rPr>
                <a:t>+</a:t>
              </a:r>
              <a:r>
                <a:rPr lang="zh-CN" altLang="en-US" sz="1400" b="1" dirty="0">
                  <a:latin typeface="+mn-ea"/>
                </a:rPr>
                <a:t>响应</a:t>
              </a:r>
              <a:r>
                <a:rPr lang="en-US" altLang="zh-CN" sz="1400" b="1" dirty="0">
                  <a:latin typeface="+mn-ea"/>
                </a:rPr>
                <a:t>) [</a:t>
              </a:r>
              <a:r>
                <a:rPr lang="zh-CN" altLang="en-US" sz="1400" b="1" dirty="0">
                  <a:latin typeface="+mn-ea"/>
                </a:rPr>
                <a:t>异常</a:t>
              </a:r>
              <a:r>
                <a:rPr lang="en-US" altLang="zh-CN" sz="1400" b="1" dirty="0">
                  <a:latin typeface="+mn-ea"/>
                </a:rPr>
                <a:t>/</a:t>
              </a:r>
              <a:r>
                <a:rPr lang="zh-CN" altLang="en-US" sz="1400" b="1" dirty="0">
                  <a:latin typeface="+mn-ea"/>
                </a:rPr>
                <a:t>中断不同</a:t>
              </a:r>
              <a:r>
                <a:rPr lang="en-US" altLang="zh-CN" sz="1400" b="1" dirty="0">
                  <a:latin typeface="+mn-ea"/>
                </a:rPr>
                <a:t>]</a:t>
              </a:r>
            </a:p>
          </p:txBody>
        </p:sp>
        <p:sp>
          <p:nvSpPr>
            <p:cNvPr id="206" name="Text Box 61">
              <a:extLst>
                <a:ext uri="{FF2B5EF4-FFF2-40B4-BE49-F238E27FC236}">
                  <a16:creationId xmlns:a16="http://schemas.microsoft.com/office/drawing/2014/main" id="{EDB7CC19-8893-4CB1-896E-2D6CE4BEFA4F}"/>
                </a:ext>
              </a:extLst>
            </p:cNvPr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216000" y="756000"/>
              <a:ext cx="3132000" cy="100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t" anchorCtr="0"/>
            <a:lstStyle/>
            <a:p>
              <a:r>
                <a:rPr lang="zh-CN" altLang="en-US" sz="1600" b="1" dirty="0">
                  <a:solidFill>
                    <a:srgbClr val="FF0000"/>
                  </a:solidFill>
                  <a:latin typeface="+mn-ea"/>
                </a:rPr>
                <a:t>运算器组织：</a:t>
              </a:r>
              <a:r>
                <a:rPr lang="en-US" altLang="zh-CN" sz="1400" b="1" dirty="0">
                  <a:latin typeface="+mn-ea"/>
                </a:rPr>
                <a:t>(</a:t>
              </a:r>
              <a:r>
                <a:rPr lang="zh-CN" altLang="en-US" sz="1400" b="1" dirty="0">
                  <a:latin typeface="+mn-ea"/>
                </a:rPr>
                <a:t>实现</a:t>
              </a:r>
              <a:r>
                <a:rPr lang="en-US" altLang="zh-CN" sz="1400" b="1" u="sng" dirty="0">
                  <a:highlight>
                    <a:srgbClr val="CCFFFF"/>
                  </a:highlight>
                  <a:latin typeface="+mn-ea"/>
                </a:rPr>
                <a:t>ISA</a:t>
              </a:r>
              <a:r>
                <a:rPr lang="zh-CN" altLang="en-US" sz="1400" b="1" u="sng" dirty="0">
                  <a:highlight>
                    <a:srgbClr val="CCFFFF"/>
                  </a:highlight>
                  <a:latin typeface="+mn-ea"/>
                </a:rPr>
                <a:t>指令功能</a:t>
              </a:r>
              <a:r>
                <a:rPr lang="en-US" altLang="zh-CN" sz="1400" b="1" dirty="0">
                  <a:latin typeface="+mn-ea"/>
                </a:rPr>
                <a:t>)</a:t>
              </a:r>
            </a:p>
            <a:p>
              <a:r>
                <a:rPr lang="en-US" altLang="zh-CN" sz="1600" b="1" dirty="0">
                  <a:latin typeface="+mn-ea"/>
                </a:rPr>
                <a:t> </a:t>
              </a:r>
              <a:r>
                <a:rPr lang="zh-CN" altLang="en-US" sz="1600" b="1" dirty="0">
                  <a:latin typeface="+mn-ea"/>
                </a:rPr>
                <a:t>①</a:t>
              </a:r>
              <a:r>
                <a:rPr lang="zh-CN" sz="1600" b="1" dirty="0">
                  <a:latin typeface="+mn-ea"/>
                </a:rPr>
                <a:t>运算部件</a:t>
              </a:r>
              <a:r>
                <a:rPr lang="en-US" altLang="zh-CN" sz="1400" b="1" dirty="0">
                  <a:latin typeface="+mn-ea"/>
                </a:rPr>
                <a:t>(</a:t>
              </a:r>
              <a:r>
                <a:rPr lang="zh-CN" altLang="en-US" sz="1400" b="1" dirty="0">
                  <a:latin typeface="+mn-ea"/>
                </a:rPr>
                <a:t>满足</a:t>
              </a:r>
              <a:r>
                <a:rPr lang="zh-CN" altLang="en-US" sz="1400" b="1" dirty="0">
                  <a:cs typeface="Times New Roman" panose="02020603050405020304" pitchFamily="18" charset="0"/>
                </a:rPr>
                <a:t>操作需求</a:t>
              </a:r>
              <a:r>
                <a:rPr lang="en-US" altLang="zh-CN" sz="1400" b="1" dirty="0">
                  <a:latin typeface="+mn-ea"/>
                  <a:ea typeface="+mn-ea"/>
                  <a:cs typeface="Times New Roman" panose="02020603050405020304" pitchFamily="18" charset="0"/>
                </a:rPr>
                <a:t>[</a:t>
              </a:r>
              <a:r>
                <a:rPr lang="en-US" altLang="zh-CN" sz="1400" b="1" dirty="0">
                  <a:cs typeface="Times New Roman" panose="02020603050405020304" pitchFamily="18" charset="0"/>
                </a:rPr>
                <a:t>~</a:t>
              </a:r>
              <a:r>
                <a:rPr lang="zh-CN" altLang="en-US" sz="1400" b="1" dirty="0">
                  <a:latin typeface="+mn-ea"/>
                  <a:ea typeface="+mn-ea"/>
                  <a:cs typeface="Times New Roman" panose="02020603050405020304" pitchFamily="18" charset="0"/>
                </a:rPr>
                <a:t>表示</a:t>
              </a:r>
              <a:r>
                <a:rPr lang="en-US" altLang="zh-CN" sz="1400" b="1" dirty="0">
                  <a:latin typeface="+mn-ea"/>
                  <a:ea typeface="+mn-ea"/>
                  <a:cs typeface="Times New Roman" panose="02020603050405020304" pitchFamily="18" charset="0"/>
                </a:rPr>
                <a:t>]</a:t>
              </a:r>
              <a:r>
                <a:rPr lang="en-US" altLang="zh-CN" sz="1400" b="1" dirty="0">
                  <a:latin typeface="+mn-ea"/>
                </a:rPr>
                <a:t>)</a:t>
              </a:r>
              <a:endParaRPr lang="zh-CN" sz="1400" b="1" dirty="0">
                <a:latin typeface="+mn-ea"/>
              </a:endParaRPr>
            </a:p>
            <a:p>
              <a:r>
                <a:rPr lang="en-US" altLang="zh-CN" sz="1600" b="1" dirty="0">
                  <a:latin typeface="+mn-ea"/>
                  <a:sym typeface="+mn-ea"/>
                </a:rPr>
                <a:t> </a:t>
              </a:r>
              <a:r>
                <a:rPr lang="zh-CN" altLang="en-US" sz="1600" b="1" dirty="0">
                  <a:latin typeface="+mn-ea"/>
                  <a:sym typeface="+mn-ea"/>
                </a:rPr>
                <a:t>②存放</a:t>
              </a:r>
              <a:r>
                <a:rPr lang="zh-CN" sz="1600" b="1" dirty="0">
                  <a:latin typeface="+mn-ea"/>
                  <a:sym typeface="+mn-ea"/>
                </a:rPr>
                <a:t>部件</a:t>
              </a:r>
              <a:r>
                <a:rPr lang="en-US" altLang="zh-CN" sz="1400" b="1" dirty="0">
                  <a:latin typeface="+mn-ea"/>
                  <a:sym typeface="+mn-ea"/>
                </a:rPr>
                <a:t>(</a:t>
              </a:r>
              <a:r>
                <a:rPr lang="en-US" altLang="zh-CN" sz="1400" b="1" dirty="0" err="1">
                  <a:latin typeface="+mn-ea"/>
                  <a:sym typeface="+mn-ea"/>
                </a:rPr>
                <a:t>GPRs+PSR</a:t>
              </a:r>
              <a:r>
                <a:rPr lang="en-US" altLang="zh-CN" sz="1400" b="1" dirty="0">
                  <a:latin typeface="+mn-ea"/>
                  <a:sym typeface="+mn-ea"/>
                </a:rPr>
                <a:t>[</a:t>
              </a:r>
              <a:r>
                <a:rPr lang="en-US" altLang="zh-CN" sz="1400" b="1" dirty="0">
                  <a:cs typeface="Times New Roman" panose="02020603050405020304" pitchFamily="18" charset="0"/>
                </a:rPr>
                <a:t>~</a:t>
              </a:r>
              <a:r>
                <a:rPr lang="en-US" altLang="zh-CN" sz="1400" b="1" dirty="0">
                  <a:latin typeface="+mn-ea"/>
                  <a:ea typeface="+mn-ea"/>
                  <a:cs typeface="Times New Roman" panose="02020603050405020304" pitchFamily="18" charset="0"/>
                </a:rPr>
                <a:t>OPD</a:t>
              </a:r>
              <a:r>
                <a:rPr lang="zh-CN" altLang="en-US" sz="1400" b="1" dirty="0">
                  <a:cs typeface="Times New Roman" panose="02020603050405020304" pitchFamily="18" charset="0"/>
                </a:rPr>
                <a:t>存放</a:t>
              </a:r>
              <a:r>
                <a:rPr lang="en-US" altLang="zh-CN" sz="1400" b="1" dirty="0">
                  <a:latin typeface="+mn-ea"/>
                  <a:ea typeface="+mn-ea"/>
                  <a:cs typeface="Times New Roman" panose="02020603050405020304" pitchFamily="18" charset="0"/>
                </a:rPr>
                <a:t>]</a:t>
              </a:r>
              <a:r>
                <a:rPr lang="en-US" altLang="zh-CN" sz="1400" b="1" dirty="0">
                  <a:latin typeface="+mn-ea"/>
                  <a:sym typeface="+mn-ea"/>
                </a:rPr>
                <a:t>)</a:t>
              </a:r>
              <a:endParaRPr lang="zh-CN" altLang="en-US" sz="1400" b="1" dirty="0">
                <a:latin typeface="+mn-ea"/>
              </a:endParaRPr>
            </a:p>
            <a:p>
              <a:r>
                <a:rPr lang="en-US" altLang="zh-CN" sz="1600" b="1" dirty="0">
                  <a:latin typeface="+mn-ea"/>
                </a:rPr>
                <a:t> </a:t>
              </a:r>
              <a:r>
                <a:rPr lang="zh-CN" altLang="en-US" sz="1600" b="1" dirty="0">
                  <a:latin typeface="+mn-ea"/>
                  <a:sym typeface="+mn-ea"/>
                </a:rPr>
                <a:t>③</a:t>
              </a:r>
              <a:r>
                <a:rPr lang="zh-CN" sz="1600" b="1" dirty="0">
                  <a:latin typeface="+mn-ea"/>
                  <a:sym typeface="+mn-ea"/>
                </a:rPr>
                <a:t>部件互连</a:t>
              </a:r>
              <a:r>
                <a:rPr lang="en-US" altLang="zh-CN" sz="1400" b="1" dirty="0">
                  <a:latin typeface="+mn-ea"/>
                  <a:sym typeface="+mn-ea"/>
                </a:rPr>
                <a:t>(</a:t>
              </a:r>
              <a:r>
                <a:rPr lang="zh-CN" alt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结构</a:t>
              </a:r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+</a:t>
              </a:r>
              <a:r>
                <a:rPr lang="zh-CN" alt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连接</a:t>
              </a:r>
              <a:r>
                <a:rPr lang="en-US" altLang="zh-CN" sz="1400" b="1" dirty="0"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[</a:t>
              </a:r>
              <a:r>
                <a:rPr lang="en-US" altLang="zh-CN" sz="1400" b="1" dirty="0">
                  <a:cs typeface="Times New Roman" panose="02020603050405020304" pitchFamily="18" charset="0"/>
                  <a:sym typeface="+mn-ea"/>
                </a:rPr>
                <a:t>~</a:t>
              </a:r>
              <a:r>
                <a:rPr lang="zh-CN" altLang="en-US" sz="1400" b="1" dirty="0">
                  <a:latin typeface="+mn-ea"/>
                  <a:sym typeface="+mn-ea"/>
                </a:rPr>
                <a:t>数据路径</a:t>
              </a:r>
              <a:r>
                <a:rPr lang="en-US" altLang="zh-CN" sz="1400" b="1" dirty="0">
                  <a:latin typeface="+mn-ea"/>
                  <a:sym typeface="+mn-ea"/>
                </a:rPr>
                <a:t>])</a:t>
              </a:r>
            </a:p>
          </p:txBody>
        </p:sp>
        <p:grpSp>
          <p:nvGrpSpPr>
            <p:cNvPr id="207" name="组合 206">
              <a:extLst>
                <a:ext uri="{FF2B5EF4-FFF2-40B4-BE49-F238E27FC236}">
                  <a16:creationId xmlns:a16="http://schemas.microsoft.com/office/drawing/2014/main" id="{45D183C0-D2CD-47FD-90AA-04E8F95B49F8}"/>
                </a:ext>
              </a:extLst>
            </p:cNvPr>
            <p:cNvGrpSpPr/>
            <p:nvPr/>
          </p:nvGrpSpPr>
          <p:grpSpPr>
            <a:xfrm>
              <a:off x="324000" y="4320000"/>
              <a:ext cx="4211955" cy="683895"/>
              <a:chOff x="453" y="6804"/>
              <a:chExt cx="6633" cy="1077"/>
            </a:xfrm>
          </p:grpSpPr>
          <p:sp>
            <p:nvSpPr>
              <p:cNvPr id="485" name="Text Box 291">
                <a:extLst>
                  <a:ext uri="{FF2B5EF4-FFF2-40B4-BE49-F238E27FC236}">
                    <a16:creationId xmlns:a16="http://schemas.microsoft.com/office/drawing/2014/main" id="{2FEA6767-6306-442D-8EFA-5AC8BE83422A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84"/>
                </p:custDataLst>
              </p:nvPr>
            </p:nvSpPr>
            <p:spPr bwMode="auto">
              <a:xfrm>
                <a:off x="1020" y="7598"/>
                <a:ext cx="5102" cy="283"/>
              </a:xfrm>
              <a:prstGeom prst="rect">
                <a:avLst/>
              </a:prstGeom>
              <a:solidFill>
                <a:srgbClr val="FFFFFF">
                  <a:alpha val="78000"/>
                </a:srgbClr>
              </a:solidFill>
              <a:ln w="12700">
                <a:noFill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程序</a:t>
                </a:r>
                <a:r>
                  <a:rPr lang="en-US" altLang="zh-CN" sz="1400" b="1" dirty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&amp;</a:t>
                </a:r>
                <a:r>
                  <a:rPr lang="zh-CN" altLang="en-US" sz="1400" b="1" dirty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数据</a:t>
                </a:r>
                <a:r>
                  <a:rPr lang="zh-CN" altLang="en-US" sz="1400" b="1" dirty="0">
                    <a:latin typeface="宋体" panose="02010600030101010101" pitchFamily="2" charset="-122"/>
                  </a:rPr>
                  <a:t>放在</a:t>
                </a:r>
                <a:r>
                  <a:rPr lang="zh-CN" altLang="en-US" sz="1400" b="1" dirty="0">
                    <a:highlight>
                      <a:srgbClr val="99CCFF"/>
                    </a:highlight>
                    <a:latin typeface="宋体" panose="02010600030101010101" pitchFamily="2" charset="-122"/>
                  </a:rPr>
                  <a:t>主存</a:t>
                </a:r>
                <a:r>
                  <a:rPr lang="zh-CN" altLang="en-US" sz="1400" b="1" dirty="0">
                    <a:latin typeface="宋体" panose="02010600030101010101" pitchFamily="2" charset="-122"/>
                  </a:rPr>
                  <a:t>中，按</a:t>
                </a:r>
                <a:r>
                  <a:rPr lang="zh-CN" altLang="en-US" sz="1400" b="1" dirty="0">
                    <a:highlight>
                      <a:srgbClr val="CCECFF"/>
                    </a:highlight>
                    <a:latin typeface="宋体" panose="02010600030101010101" pitchFamily="2" charset="-122"/>
                  </a:rPr>
                  <a:t>逻辑地址</a:t>
                </a:r>
                <a:r>
                  <a:rPr lang="zh-CN" altLang="en-US" sz="1400" b="1" dirty="0">
                    <a:latin typeface="宋体" panose="02010600030101010101" pitchFamily="2" charset="-122"/>
                  </a:rPr>
                  <a:t>访问</a:t>
                </a:r>
              </a:p>
            </p:txBody>
          </p:sp>
          <p:sp>
            <p:nvSpPr>
              <p:cNvPr id="486" name="矩形 485">
                <a:extLst>
                  <a:ext uri="{FF2B5EF4-FFF2-40B4-BE49-F238E27FC236}">
                    <a16:creationId xmlns:a16="http://schemas.microsoft.com/office/drawing/2014/main" id="{ED8F29C7-19A6-4D9B-96C8-69E0FB1E6982}"/>
                  </a:ext>
                </a:extLst>
              </p:cNvPr>
              <p:cNvSpPr/>
              <p:nvPr>
                <p:custDataLst>
                  <p:tags r:id="rId85"/>
                </p:custDataLst>
              </p:nvPr>
            </p:nvSpPr>
            <p:spPr bwMode="auto">
              <a:xfrm>
                <a:off x="566" y="6804"/>
                <a:ext cx="6406" cy="737"/>
              </a:xfrm>
              <a:prstGeom prst="rect">
                <a:avLst/>
              </a:prstGeom>
              <a:solidFill>
                <a:srgbClr val="CCFFFF"/>
              </a:solidFill>
              <a:ln w="12700" cap="flat" cmpd="sng" algn="ctr">
                <a:solidFill>
                  <a:schemeClr val="tx1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87" name="Text Box 311">
                <a:extLst>
                  <a:ext uri="{FF2B5EF4-FFF2-40B4-BE49-F238E27FC236}">
                    <a16:creationId xmlns:a16="http://schemas.microsoft.com/office/drawing/2014/main" id="{91F7A8D3-DAB9-4760-9AC4-83BB4C7E7E01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86"/>
                </p:custDataLst>
              </p:nvPr>
            </p:nvSpPr>
            <p:spPr bwMode="auto">
              <a:xfrm>
                <a:off x="737" y="6861"/>
                <a:ext cx="964" cy="283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>
                    <a:latin typeface="宋体" panose="02010600030101010101" pitchFamily="2" charset="-122"/>
                  </a:rPr>
                  <a:t>取指令</a:t>
                </a:r>
              </a:p>
            </p:txBody>
          </p:sp>
          <p:sp>
            <p:nvSpPr>
              <p:cNvPr id="488" name="Text Box 314">
                <a:extLst>
                  <a:ext uri="{FF2B5EF4-FFF2-40B4-BE49-F238E27FC236}">
                    <a16:creationId xmlns:a16="http://schemas.microsoft.com/office/drawing/2014/main" id="{F5B89725-F18E-476B-9035-69B8CBEA1F1C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87"/>
                </p:custDataLst>
              </p:nvPr>
            </p:nvSpPr>
            <p:spPr bwMode="auto">
              <a:xfrm>
                <a:off x="1984" y="6861"/>
                <a:ext cx="1191" cy="28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>
                    <a:latin typeface="宋体" panose="02010600030101010101" pitchFamily="2" charset="-122"/>
                  </a:rPr>
                  <a:t>分析指令</a:t>
                </a:r>
              </a:p>
            </p:txBody>
          </p:sp>
          <p:cxnSp>
            <p:nvCxnSpPr>
              <p:cNvPr id="489" name="直接箭头连接符 488">
                <a:extLst>
                  <a:ext uri="{FF2B5EF4-FFF2-40B4-BE49-F238E27FC236}">
                    <a16:creationId xmlns:a16="http://schemas.microsoft.com/office/drawing/2014/main" id="{3A37CFDB-2D0E-46D7-9101-B973BAC666C2}"/>
                  </a:ext>
                </a:extLst>
              </p:cNvPr>
              <p:cNvCxnSpPr/>
              <p:nvPr>
                <p:custDataLst>
                  <p:tags r:id="rId88"/>
                </p:custDataLst>
              </p:nvPr>
            </p:nvCxnSpPr>
            <p:spPr bwMode="auto">
              <a:xfrm>
                <a:off x="1700" y="7031"/>
                <a:ext cx="283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90" name="直接箭头连接符 489">
                <a:extLst>
                  <a:ext uri="{FF2B5EF4-FFF2-40B4-BE49-F238E27FC236}">
                    <a16:creationId xmlns:a16="http://schemas.microsoft.com/office/drawing/2014/main" id="{946DFADC-74FF-4363-B8B5-F98568DB8756}"/>
                  </a:ext>
                </a:extLst>
              </p:cNvPr>
              <p:cNvCxnSpPr/>
              <p:nvPr>
                <p:custDataLst>
                  <p:tags r:id="rId89"/>
                </p:custDataLst>
              </p:nvPr>
            </p:nvCxnSpPr>
            <p:spPr bwMode="auto">
              <a:xfrm>
                <a:off x="3174" y="7031"/>
                <a:ext cx="283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91" name="直接箭头连接符 490">
                <a:extLst>
                  <a:ext uri="{FF2B5EF4-FFF2-40B4-BE49-F238E27FC236}">
                    <a16:creationId xmlns:a16="http://schemas.microsoft.com/office/drawing/2014/main" id="{126D971F-CC96-4A06-84A7-179A8F5D8E5F}"/>
                  </a:ext>
                </a:extLst>
              </p:cNvPr>
              <p:cNvCxnSpPr/>
              <p:nvPr>
                <p:custDataLst>
                  <p:tags r:id="rId90"/>
                </p:custDataLst>
              </p:nvPr>
            </p:nvCxnSpPr>
            <p:spPr bwMode="auto">
              <a:xfrm>
                <a:off x="6859" y="7031"/>
                <a:ext cx="227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492" name="直接箭头连接符 491">
                <a:extLst>
                  <a:ext uri="{FF2B5EF4-FFF2-40B4-BE49-F238E27FC236}">
                    <a16:creationId xmlns:a16="http://schemas.microsoft.com/office/drawing/2014/main" id="{90BFFA23-A330-4C5E-AE1C-81B41D2CCC36}"/>
                  </a:ext>
                </a:extLst>
              </p:cNvPr>
              <p:cNvCxnSpPr/>
              <p:nvPr>
                <p:custDataLst>
                  <p:tags r:id="rId91"/>
                </p:custDataLst>
              </p:nvPr>
            </p:nvCxnSpPr>
            <p:spPr bwMode="auto">
              <a:xfrm flipH="1">
                <a:off x="7086" y="7031"/>
                <a:ext cx="0" cy="85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493" name="直接箭头连接符 492">
                <a:extLst>
                  <a:ext uri="{FF2B5EF4-FFF2-40B4-BE49-F238E27FC236}">
                    <a16:creationId xmlns:a16="http://schemas.microsoft.com/office/drawing/2014/main" id="{8B79D475-4A16-48C4-9B05-A28446BE2662}"/>
                  </a:ext>
                </a:extLst>
              </p:cNvPr>
              <p:cNvCxnSpPr/>
              <p:nvPr>
                <p:custDataLst>
                  <p:tags r:id="rId92"/>
                </p:custDataLst>
              </p:nvPr>
            </p:nvCxnSpPr>
            <p:spPr bwMode="auto">
              <a:xfrm>
                <a:off x="453" y="7031"/>
                <a:ext cx="283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94" name="直接箭头连接符 493">
                <a:extLst>
                  <a:ext uri="{FF2B5EF4-FFF2-40B4-BE49-F238E27FC236}">
                    <a16:creationId xmlns:a16="http://schemas.microsoft.com/office/drawing/2014/main" id="{96CDF73A-6A9B-4315-A54C-923E6F595AB4}"/>
                  </a:ext>
                </a:extLst>
              </p:cNvPr>
              <p:cNvCxnSpPr/>
              <p:nvPr>
                <p:custDataLst>
                  <p:tags r:id="rId93"/>
                </p:custDataLst>
              </p:nvPr>
            </p:nvCxnSpPr>
            <p:spPr bwMode="auto">
              <a:xfrm flipH="1">
                <a:off x="453" y="7031"/>
                <a:ext cx="0" cy="85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495" name="直接箭头连接符 494">
                <a:extLst>
                  <a:ext uri="{FF2B5EF4-FFF2-40B4-BE49-F238E27FC236}">
                    <a16:creationId xmlns:a16="http://schemas.microsoft.com/office/drawing/2014/main" id="{DB5B3C22-57AE-42F8-8EFB-8B625A9FDC7E}"/>
                  </a:ext>
                </a:extLst>
              </p:cNvPr>
              <p:cNvCxnSpPr/>
              <p:nvPr>
                <p:custDataLst>
                  <p:tags r:id="rId94"/>
                </p:custDataLst>
              </p:nvPr>
            </p:nvCxnSpPr>
            <p:spPr bwMode="auto">
              <a:xfrm>
                <a:off x="453" y="7881"/>
                <a:ext cx="6633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496" name="Text Box 316">
                <a:extLst>
                  <a:ext uri="{FF2B5EF4-FFF2-40B4-BE49-F238E27FC236}">
                    <a16:creationId xmlns:a16="http://schemas.microsoft.com/office/drawing/2014/main" id="{192C3290-08A8-428E-8E10-226482DC7A93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95"/>
                </p:custDataLst>
              </p:nvPr>
            </p:nvSpPr>
            <p:spPr bwMode="auto">
              <a:xfrm>
                <a:off x="963" y="7201"/>
                <a:ext cx="1928" cy="283"/>
              </a:xfrm>
              <a:prstGeom prst="rect">
                <a:avLst/>
              </a:prstGeom>
              <a:solidFill>
                <a:srgbClr val="CCCCFF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PC</a:t>
                </a:r>
                <a:r>
                  <a:rPr lang="zh-CN" altLang="en-US" sz="1400" b="1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←</a:t>
                </a:r>
                <a:r>
                  <a:rPr lang="en-US" altLang="zh-CN" sz="1400" b="1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(PC)</a:t>
                </a:r>
                <a:r>
                  <a:rPr lang="zh-CN" altLang="en-US" sz="1400" b="1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＋</a:t>
                </a:r>
                <a:r>
                  <a:rPr lang="zh-CN" altLang="en-US" sz="1400" b="1" dirty="0"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Symbol" panose="05050102010706020507"/>
                  </a:rPr>
                  <a:t></a:t>
                </a:r>
                <a:r>
                  <a:rPr lang="en-US" altLang="zh-CN" sz="1400" b="1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1</a:t>
                </a:r>
                <a:r>
                  <a:rPr lang="zh-CN" altLang="en-US" sz="1400" b="1" dirty="0"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Symbol" panose="05050102010706020507"/>
                  </a:rPr>
                  <a:t></a:t>
                </a:r>
              </a:p>
            </p:txBody>
          </p:sp>
          <p:sp>
            <p:nvSpPr>
              <p:cNvPr id="497" name="Text Box 316">
                <a:extLst>
                  <a:ext uri="{FF2B5EF4-FFF2-40B4-BE49-F238E27FC236}">
                    <a16:creationId xmlns:a16="http://schemas.microsoft.com/office/drawing/2014/main" id="{44C7081A-DFE0-4E0F-BB22-AF5F8975B4EE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96"/>
                </p:custDataLst>
              </p:nvPr>
            </p:nvSpPr>
            <p:spPr bwMode="auto">
              <a:xfrm>
                <a:off x="3458" y="7201"/>
                <a:ext cx="3402" cy="283"/>
              </a:xfrm>
              <a:prstGeom prst="rect">
                <a:avLst/>
              </a:prstGeom>
              <a:solidFill>
                <a:srgbClr val="CCCCFF"/>
              </a:solidFill>
              <a:ln w="12700">
                <a:solidFill>
                  <a:schemeClr val="tx1"/>
                </a:solidFill>
                <a:prstDash val="sysDash"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PC</a:t>
                </a:r>
                <a:r>
                  <a:rPr lang="zh-CN" altLang="en-US" sz="1400" b="1" dirty="0">
                    <a:latin typeface="宋体" panose="02010600030101010101" pitchFamily="2" charset="-122"/>
                  </a:rPr>
                  <a:t>←计算结果</a:t>
                </a:r>
              </a:p>
            </p:txBody>
          </p:sp>
          <p:sp>
            <p:nvSpPr>
              <p:cNvPr id="498" name="Text Box 316">
                <a:extLst>
                  <a:ext uri="{FF2B5EF4-FFF2-40B4-BE49-F238E27FC236}">
                    <a16:creationId xmlns:a16="http://schemas.microsoft.com/office/drawing/2014/main" id="{3138ADEC-8B20-422F-B08C-0D33F75FEA4D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97"/>
                </p:custDataLst>
              </p:nvPr>
            </p:nvSpPr>
            <p:spPr bwMode="auto">
              <a:xfrm>
                <a:off x="3458" y="6861"/>
                <a:ext cx="794" cy="283"/>
              </a:xfrm>
              <a:prstGeom prst="rect">
                <a:avLst/>
              </a:prstGeom>
              <a:solidFill>
                <a:srgbClr val="FFCCFF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>
                    <a:latin typeface="宋体" panose="02010600030101010101" pitchFamily="2" charset="-122"/>
                  </a:rPr>
                  <a:t>取</a:t>
                </a:r>
                <a:r>
                  <a:rPr lang="en-US" altLang="zh-CN" sz="1400" b="1" dirty="0">
                    <a:latin typeface="宋体" panose="02010600030101010101" pitchFamily="2" charset="-122"/>
                  </a:rPr>
                  <a:t>OPD</a:t>
                </a:r>
              </a:p>
            </p:txBody>
          </p:sp>
          <p:sp>
            <p:nvSpPr>
              <p:cNvPr id="499" name="Text Box 316">
                <a:extLst>
                  <a:ext uri="{FF2B5EF4-FFF2-40B4-BE49-F238E27FC236}">
                    <a16:creationId xmlns:a16="http://schemas.microsoft.com/office/drawing/2014/main" id="{5BDD2E2F-216F-4C18-8C85-CFC2C1BC5026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98"/>
                </p:custDataLst>
              </p:nvPr>
            </p:nvSpPr>
            <p:spPr bwMode="auto">
              <a:xfrm>
                <a:off x="4535" y="6861"/>
                <a:ext cx="1247" cy="283"/>
              </a:xfrm>
              <a:prstGeom prst="rect">
                <a:avLst/>
              </a:prstGeom>
              <a:solidFill>
                <a:srgbClr val="FFCCFF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sz="1400" b="1" dirty="0">
                    <a:latin typeface="宋体" panose="02010600030101010101" pitchFamily="2" charset="-122"/>
                  </a:rPr>
                  <a:t>数据操作</a:t>
                </a:r>
              </a:p>
            </p:txBody>
          </p:sp>
          <p:sp>
            <p:nvSpPr>
              <p:cNvPr id="500" name="Text Box 316">
                <a:extLst>
                  <a:ext uri="{FF2B5EF4-FFF2-40B4-BE49-F238E27FC236}">
                    <a16:creationId xmlns:a16="http://schemas.microsoft.com/office/drawing/2014/main" id="{09A098E0-5C65-42D9-9954-8D3E1F89671F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99"/>
                </p:custDataLst>
              </p:nvPr>
            </p:nvSpPr>
            <p:spPr bwMode="auto">
              <a:xfrm>
                <a:off x="6066" y="6861"/>
                <a:ext cx="794" cy="283"/>
              </a:xfrm>
              <a:prstGeom prst="rect">
                <a:avLst/>
              </a:prstGeom>
              <a:solidFill>
                <a:srgbClr val="FFCCFF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>
                    <a:latin typeface="宋体" panose="02010600030101010101" pitchFamily="2" charset="-122"/>
                  </a:rPr>
                  <a:t>存</a:t>
                </a:r>
                <a:r>
                  <a:rPr lang="en-US" altLang="zh-CN" sz="1400" b="1" dirty="0">
                    <a:latin typeface="宋体" panose="02010600030101010101" pitchFamily="2" charset="-122"/>
                  </a:rPr>
                  <a:t>OPD</a:t>
                </a:r>
              </a:p>
            </p:txBody>
          </p:sp>
          <p:cxnSp>
            <p:nvCxnSpPr>
              <p:cNvPr id="501" name="直接箭头连接符 500">
                <a:extLst>
                  <a:ext uri="{FF2B5EF4-FFF2-40B4-BE49-F238E27FC236}">
                    <a16:creationId xmlns:a16="http://schemas.microsoft.com/office/drawing/2014/main" id="{0B08DBC4-58DB-4868-96EB-50B67AE66A86}"/>
                  </a:ext>
                </a:extLst>
              </p:cNvPr>
              <p:cNvCxnSpPr/>
              <p:nvPr>
                <p:custDataLst>
                  <p:tags r:id="rId100"/>
                </p:custDataLst>
              </p:nvPr>
            </p:nvCxnSpPr>
            <p:spPr bwMode="auto">
              <a:xfrm>
                <a:off x="4252" y="7031"/>
                <a:ext cx="283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502" name="直接箭头连接符 501">
                <a:extLst>
                  <a:ext uri="{FF2B5EF4-FFF2-40B4-BE49-F238E27FC236}">
                    <a16:creationId xmlns:a16="http://schemas.microsoft.com/office/drawing/2014/main" id="{DFA8CE51-431A-4739-B437-1773A9598B90}"/>
                  </a:ext>
                </a:extLst>
              </p:cNvPr>
              <p:cNvCxnSpPr/>
              <p:nvPr>
                <p:custDataLst>
                  <p:tags r:id="rId101"/>
                </p:custDataLst>
              </p:nvPr>
            </p:nvCxnSpPr>
            <p:spPr bwMode="auto">
              <a:xfrm>
                <a:off x="5782" y="7031"/>
                <a:ext cx="283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</p:grpSp>
        <p:grpSp>
          <p:nvGrpSpPr>
            <p:cNvPr id="208" name="组合 207">
              <a:extLst>
                <a:ext uri="{FF2B5EF4-FFF2-40B4-BE49-F238E27FC236}">
                  <a16:creationId xmlns:a16="http://schemas.microsoft.com/office/drawing/2014/main" id="{59CBCE90-BAAD-40E5-8FA3-E001750B5139}"/>
                </a:ext>
              </a:extLst>
            </p:cNvPr>
            <p:cNvGrpSpPr/>
            <p:nvPr/>
          </p:nvGrpSpPr>
          <p:grpSpPr>
            <a:xfrm>
              <a:off x="4064809" y="5040000"/>
              <a:ext cx="219159" cy="873264"/>
              <a:chOff x="3413650" y="4932000"/>
              <a:chExt cx="219159" cy="873264"/>
            </a:xfrm>
          </p:grpSpPr>
          <p:cxnSp>
            <p:nvCxnSpPr>
              <p:cNvPr id="483" name="直接连接符 482">
                <a:extLst>
                  <a:ext uri="{FF2B5EF4-FFF2-40B4-BE49-F238E27FC236}">
                    <a16:creationId xmlns:a16="http://schemas.microsoft.com/office/drawing/2014/main" id="{74CD2AF5-CE49-4789-A460-7C280F760905}"/>
                  </a:ext>
                </a:extLst>
              </p:cNvPr>
              <p:cNvCxnSpPr/>
              <p:nvPr/>
            </p:nvCxnSpPr>
            <p:spPr bwMode="auto">
              <a:xfrm flipH="1">
                <a:off x="3413650" y="5805264"/>
                <a:ext cx="216000" cy="0"/>
              </a:xfrm>
              <a:prstGeom prst="line">
                <a:avLst/>
              </a:prstGeom>
              <a:noFill/>
              <a:ln w="9525" cap="flat" cmpd="sng" algn="ctr">
                <a:solidFill>
                  <a:srgbClr val="0070C0"/>
                </a:solidFill>
                <a:prstDash val="sysDash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484" name="直接连接符 483">
                <a:extLst>
                  <a:ext uri="{FF2B5EF4-FFF2-40B4-BE49-F238E27FC236}">
                    <a16:creationId xmlns:a16="http://schemas.microsoft.com/office/drawing/2014/main" id="{0B4F9307-9BA3-4EBF-A0F4-BCDB96B2FE4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3632809" y="4932000"/>
                <a:ext cx="0" cy="864000"/>
              </a:xfrm>
              <a:prstGeom prst="line">
                <a:avLst/>
              </a:prstGeom>
              <a:noFill/>
              <a:ln w="9525" cap="flat" cmpd="sng" algn="ctr">
                <a:solidFill>
                  <a:srgbClr val="0070C0"/>
                </a:solidFill>
                <a:prstDash val="sysDash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09" name="组合 208">
              <a:extLst>
                <a:ext uri="{FF2B5EF4-FFF2-40B4-BE49-F238E27FC236}">
                  <a16:creationId xmlns:a16="http://schemas.microsoft.com/office/drawing/2014/main" id="{E80A880D-51FC-4A70-AC0A-DCDC6B7BB54B}"/>
                </a:ext>
              </a:extLst>
            </p:cNvPr>
            <p:cNvGrpSpPr/>
            <p:nvPr/>
          </p:nvGrpSpPr>
          <p:grpSpPr>
            <a:xfrm>
              <a:off x="5184000" y="2268000"/>
              <a:ext cx="3383700" cy="1440000"/>
              <a:chOff x="5184000" y="2268000"/>
              <a:chExt cx="3383700" cy="1440000"/>
            </a:xfrm>
          </p:grpSpPr>
          <p:cxnSp>
            <p:nvCxnSpPr>
              <p:cNvPr id="434" name="直接箭头连接符 433">
                <a:extLst>
                  <a:ext uri="{FF2B5EF4-FFF2-40B4-BE49-F238E27FC236}">
                    <a16:creationId xmlns:a16="http://schemas.microsoft.com/office/drawing/2014/main" id="{D6D23EB6-8BA3-4BDB-AFC4-33AFC77EB7C4}"/>
                  </a:ext>
                </a:extLst>
              </p:cNvPr>
              <p:cNvCxnSpPr/>
              <p:nvPr>
                <p:custDataLst>
                  <p:tags r:id="rId35"/>
                </p:custDataLst>
              </p:nvPr>
            </p:nvCxnSpPr>
            <p:spPr bwMode="auto">
              <a:xfrm flipV="1">
                <a:off x="5723799" y="3024000"/>
                <a:ext cx="432000" cy="61200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sp>
            <p:nvSpPr>
              <p:cNvPr id="435" name="Rectangle 274">
                <a:extLst>
                  <a:ext uri="{FF2B5EF4-FFF2-40B4-BE49-F238E27FC236}">
                    <a16:creationId xmlns:a16="http://schemas.microsoft.com/office/drawing/2014/main" id="{3C307E0C-B179-4D08-BC71-30C8C288C9DD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36"/>
                </p:custDataLst>
              </p:nvPr>
            </p:nvSpPr>
            <p:spPr bwMode="auto">
              <a:xfrm>
                <a:off x="6731800" y="2340000"/>
                <a:ext cx="1548000" cy="756000"/>
              </a:xfrm>
              <a:prstGeom prst="rect">
                <a:avLst/>
              </a:prstGeom>
              <a:solidFill>
                <a:srgbClr val="FFCCFF">
                  <a:alpha val="80000"/>
                </a:srgbClr>
              </a:solidFill>
              <a:ln w="9525">
                <a:solidFill>
                  <a:schemeClr val="tx1"/>
                </a:solidFill>
                <a:prstDash val="sysDash"/>
                <a:miter lim="800000"/>
              </a:ln>
              <a:effectLst/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436" name="Text Box 256">
                <a:extLst>
                  <a:ext uri="{FF2B5EF4-FFF2-40B4-BE49-F238E27FC236}">
                    <a16:creationId xmlns:a16="http://schemas.microsoft.com/office/drawing/2014/main" id="{828020C9-7106-455C-8C9E-00E0AA1E3DC0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37"/>
                </p:custDataLst>
              </p:nvPr>
            </p:nvSpPr>
            <p:spPr bwMode="auto">
              <a:xfrm>
                <a:off x="6803800" y="2664000"/>
                <a:ext cx="216000" cy="28800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ID</a:t>
                </a:r>
              </a:p>
            </p:txBody>
          </p:sp>
          <p:sp>
            <p:nvSpPr>
              <p:cNvPr id="437" name="Text Box 257">
                <a:extLst>
                  <a:ext uri="{FF2B5EF4-FFF2-40B4-BE49-F238E27FC236}">
                    <a16:creationId xmlns:a16="http://schemas.microsoft.com/office/drawing/2014/main" id="{30585B3B-4298-4EEA-A86D-1FF61A45E5F3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38"/>
                </p:custDataLst>
              </p:nvPr>
            </p:nvSpPr>
            <p:spPr bwMode="auto">
              <a:xfrm>
                <a:off x="6767800" y="2376000"/>
                <a:ext cx="1476000" cy="18000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>
                    <a:latin typeface="宋体" panose="02010600030101010101" pitchFamily="2" charset="-122"/>
                  </a:rPr>
                  <a:t>时序信号形成电路</a:t>
                </a:r>
              </a:p>
            </p:txBody>
          </p:sp>
          <p:sp>
            <p:nvSpPr>
              <p:cNvPr id="438" name="Text Box 258">
                <a:extLst>
                  <a:ext uri="{FF2B5EF4-FFF2-40B4-BE49-F238E27FC236}">
                    <a16:creationId xmlns:a16="http://schemas.microsoft.com/office/drawing/2014/main" id="{FE9B0C5F-E8FE-4D3D-9F41-98330A56F9BB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39"/>
                </p:custDataLst>
              </p:nvPr>
            </p:nvSpPr>
            <p:spPr bwMode="auto">
              <a:xfrm>
                <a:off x="7163800" y="2663849"/>
                <a:ext cx="936000" cy="39600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dirty="0" err="1"/>
                  <a:t>μ</a:t>
                </a:r>
                <a:r>
                  <a:rPr lang="en-US" altLang="zh-CN" sz="1400" b="1" dirty="0" err="1">
                    <a:latin typeface="宋体" panose="02010600030101010101" pitchFamily="2" charset="-122"/>
                  </a:rPr>
                  <a:t>OP</a:t>
                </a:r>
                <a:r>
                  <a:rPr lang="zh-CN" altLang="en-US" sz="1400" b="1" dirty="0">
                    <a:latin typeface="宋体" panose="02010600030101010101" pitchFamily="2" charset="-122"/>
                  </a:rPr>
                  <a:t>控制信号形成电路</a:t>
                </a:r>
              </a:p>
            </p:txBody>
          </p:sp>
          <p:sp>
            <p:nvSpPr>
              <p:cNvPr id="439" name="Text Box 271">
                <a:extLst>
                  <a:ext uri="{FF2B5EF4-FFF2-40B4-BE49-F238E27FC236}">
                    <a16:creationId xmlns:a16="http://schemas.microsoft.com/office/drawing/2014/main" id="{1015DEB3-E328-4C67-8BF0-E131138F19BF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40"/>
                </p:custDataLst>
              </p:nvPr>
            </p:nvSpPr>
            <p:spPr bwMode="auto">
              <a:xfrm>
                <a:off x="7451800" y="3096000"/>
                <a:ext cx="432000" cy="10795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zh-CN" sz="1400" b="1" dirty="0">
                    <a:solidFill>
                      <a:srgbClr val="FF3399"/>
                    </a:solidFill>
                    <a:latin typeface="+mn-ea"/>
                    <a:ea typeface="+mn-ea"/>
                  </a:rPr>
                  <a:t>……</a:t>
                </a:r>
              </a:p>
            </p:txBody>
          </p:sp>
          <p:cxnSp>
            <p:nvCxnSpPr>
              <p:cNvPr id="440" name="直接箭头连接符 439">
                <a:extLst>
                  <a:ext uri="{FF2B5EF4-FFF2-40B4-BE49-F238E27FC236}">
                    <a16:creationId xmlns:a16="http://schemas.microsoft.com/office/drawing/2014/main" id="{00515B17-384F-4503-8804-E320FDC1DB13}"/>
                  </a:ext>
                </a:extLst>
              </p:cNvPr>
              <p:cNvCxnSpPr/>
              <p:nvPr>
                <p:custDataLst>
                  <p:tags r:id="rId41"/>
                </p:custDataLst>
              </p:nvPr>
            </p:nvCxnSpPr>
            <p:spPr bwMode="auto">
              <a:xfrm>
                <a:off x="7019800" y="2700000"/>
                <a:ext cx="144145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41" name="直接箭头连接符 440">
                <a:extLst>
                  <a:ext uri="{FF2B5EF4-FFF2-40B4-BE49-F238E27FC236}">
                    <a16:creationId xmlns:a16="http://schemas.microsoft.com/office/drawing/2014/main" id="{8A899F9F-611B-4A7B-8FD9-7B3CD131092B}"/>
                  </a:ext>
                </a:extLst>
              </p:cNvPr>
              <p:cNvCxnSpPr/>
              <p:nvPr>
                <p:custDataLst>
                  <p:tags r:id="rId42"/>
                </p:custDataLst>
              </p:nvPr>
            </p:nvCxnSpPr>
            <p:spPr bwMode="auto">
              <a:xfrm>
                <a:off x="7019800" y="2916000"/>
                <a:ext cx="144145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42" name="直接箭头连接符 441">
                <a:extLst>
                  <a:ext uri="{FF2B5EF4-FFF2-40B4-BE49-F238E27FC236}">
                    <a16:creationId xmlns:a16="http://schemas.microsoft.com/office/drawing/2014/main" id="{420CC7BE-2F55-44F1-81D5-CFF34393D068}"/>
                  </a:ext>
                </a:extLst>
              </p:cNvPr>
              <p:cNvCxnSpPr/>
              <p:nvPr>
                <p:custDataLst>
                  <p:tags r:id="rId43"/>
                </p:custDataLst>
              </p:nvPr>
            </p:nvCxnSpPr>
            <p:spPr bwMode="auto">
              <a:xfrm>
                <a:off x="7812700" y="2556000"/>
                <a:ext cx="0" cy="10800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43" name="直接箭头连接符 442">
                <a:extLst>
                  <a:ext uri="{FF2B5EF4-FFF2-40B4-BE49-F238E27FC236}">
                    <a16:creationId xmlns:a16="http://schemas.microsoft.com/office/drawing/2014/main" id="{2A437C49-57CC-4493-A0C6-B2C82B497281}"/>
                  </a:ext>
                </a:extLst>
              </p:cNvPr>
              <p:cNvCxnSpPr/>
              <p:nvPr>
                <p:custDataLst>
                  <p:tags r:id="rId44"/>
                </p:custDataLst>
              </p:nvPr>
            </p:nvCxnSpPr>
            <p:spPr bwMode="auto">
              <a:xfrm>
                <a:off x="7524410" y="2556000"/>
                <a:ext cx="0" cy="10800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444" name="Text Box 271">
                <a:extLst>
                  <a:ext uri="{FF2B5EF4-FFF2-40B4-BE49-F238E27FC236}">
                    <a16:creationId xmlns:a16="http://schemas.microsoft.com/office/drawing/2014/main" id="{5140CFC8-3476-415A-9F6B-1E05E62465ED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45"/>
                </p:custDataLst>
              </p:nvPr>
            </p:nvSpPr>
            <p:spPr bwMode="auto">
              <a:xfrm>
                <a:off x="7559800" y="2556000"/>
                <a:ext cx="216000" cy="14478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zh-CN" sz="1400" b="1" dirty="0">
                    <a:solidFill>
                      <a:srgbClr val="C00000"/>
                    </a:solidFill>
                    <a:latin typeface="+mn-ea"/>
                    <a:ea typeface="+mn-ea"/>
                  </a:rPr>
                  <a:t>…</a:t>
                </a:r>
              </a:p>
            </p:txBody>
          </p:sp>
          <p:cxnSp>
            <p:nvCxnSpPr>
              <p:cNvPr id="445" name="直接箭头连接符 444">
                <a:extLst>
                  <a:ext uri="{FF2B5EF4-FFF2-40B4-BE49-F238E27FC236}">
                    <a16:creationId xmlns:a16="http://schemas.microsoft.com/office/drawing/2014/main" id="{ABDCF4AF-845E-449E-83FC-1E6D87FF38D2}"/>
                  </a:ext>
                </a:extLst>
              </p:cNvPr>
              <p:cNvCxnSpPr/>
              <p:nvPr>
                <p:custDataLst>
                  <p:tags r:id="rId46"/>
                </p:custDataLst>
              </p:nvPr>
            </p:nvCxnSpPr>
            <p:spPr bwMode="auto">
              <a:xfrm>
                <a:off x="6623800" y="2844000"/>
                <a:ext cx="180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46" name="直接箭头连接符 445">
                <a:extLst>
                  <a:ext uri="{FF2B5EF4-FFF2-40B4-BE49-F238E27FC236}">
                    <a16:creationId xmlns:a16="http://schemas.microsoft.com/office/drawing/2014/main" id="{1F0EC503-9CDD-42B1-8FEC-24B3ADF1D7F8}"/>
                  </a:ext>
                </a:extLst>
              </p:cNvPr>
              <p:cNvCxnSpPr/>
              <p:nvPr>
                <p:custDataLst>
                  <p:tags r:id="rId47"/>
                </p:custDataLst>
              </p:nvPr>
            </p:nvCxnSpPr>
            <p:spPr bwMode="auto">
              <a:xfrm flipH="1">
                <a:off x="7919800" y="3060000"/>
                <a:ext cx="635" cy="10800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47" name="直接箭头连接符 446">
                <a:extLst>
                  <a:ext uri="{FF2B5EF4-FFF2-40B4-BE49-F238E27FC236}">
                    <a16:creationId xmlns:a16="http://schemas.microsoft.com/office/drawing/2014/main" id="{0250C7AE-62D4-4CDE-B185-802BE0DB806F}"/>
                  </a:ext>
                </a:extLst>
              </p:cNvPr>
              <p:cNvCxnSpPr/>
              <p:nvPr>
                <p:custDataLst>
                  <p:tags r:id="rId48"/>
                </p:custDataLst>
              </p:nvPr>
            </p:nvCxnSpPr>
            <p:spPr bwMode="auto">
              <a:xfrm>
                <a:off x="7415800" y="3060000"/>
                <a:ext cx="0" cy="10800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448" name="Text Box 271">
                <a:extLst>
                  <a:ext uri="{FF2B5EF4-FFF2-40B4-BE49-F238E27FC236}">
                    <a16:creationId xmlns:a16="http://schemas.microsoft.com/office/drawing/2014/main" id="{A958CEAD-2631-4CE4-940E-DE7ED0DE8057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49"/>
                </p:custDataLst>
              </p:nvPr>
            </p:nvSpPr>
            <p:spPr bwMode="auto">
              <a:xfrm>
                <a:off x="6983800" y="2700000"/>
                <a:ext cx="144145" cy="216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vert="eaVert" lIns="0" tIns="0" rIns="0" bIns="0" anchor="ctr"/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zh-CN" sz="1400" b="1" dirty="0">
                    <a:latin typeface="+mn-ea"/>
                    <a:ea typeface="+mn-ea"/>
                  </a:rPr>
                  <a:t>…</a:t>
                </a:r>
              </a:p>
            </p:txBody>
          </p:sp>
          <p:cxnSp>
            <p:nvCxnSpPr>
              <p:cNvPr id="449" name="直接箭头连接符 448">
                <a:extLst>
                  <a:ext uri="{FF2B5EF4-FFF2-40B4-BE49-F238E27FC236}">
                    <a16:creationId xmlns:a16="http://schemas.microsoft.com/office/drawing/2014/main" id="{2261EAD2-D961-433C-B188-B236C729E319}"/>
                  </a:ext>
                </a:extLst>
              </p:cNvPr>
              <p:cNvCxnSpPr/>
              <p:nvPr>
                <p:custDataLst>
                  <p:tags r:id="rId50"/>
                </p:custDataLst>
              </p:nvPr>
            </p:nvCxnSpPr>
            <p:spPr bwMode="auto">
              <a:xfrm flipH="1">
                <a:off x="8099800" y="2916000"/>
                <a:ext cx="252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50" name="直接箭头连接符 449">
                <a:extLst>
                  <a:ext uri="{FF2B5EF4-FFF2-40B4-BE49-F238E27FC236}">
                    <a16:creationId xmlns:a16="http://schemas.microsoft.com/office/drawing/2014/main" id="{10FE0097-2785-489C-9056-1C044E7E11E1}"/>
                  </a:ext>
                </a:extLst>
              </p:cNvPr>
              <p:cNvCxnSpPr/>
              <p:nvPr>
                <p:custDataLst>
                  <p:tags r:id="rId51"/>
                </p:custDataLst>
              </p:nvPr>
            </p:nvCxnSpPr>
            <p:spPr bwMode="auto">
              <a:xfrm flipH="1">
                <a:off x="6623800" y="2412000"/>
                <a:ext cx="144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51" name="直接箭头连接符 450">
                <a:extLst>
                  <a:ext uri="{FF2B5EF4-FFF2-40B4-BE49-F238E27FC236}">
                    <a16:creationId xmlns:a16="http://schemas.microsoft.com/office/drawing/2014/main" id="{26F0E4C3-C830-4BC7-944B-B181EBDF333D}"/>
                  </a:ext>
                </a:extLst>
              </p:cNvPr>
              <p:cNvCxnSpPr/>
              <p:nvPr>
                <p:custDataLst>
                  <p:tags r:id="rId52"/>
                </p:custDataLst>
              </p:nvPr>
            </p:nvCxnSpPr>
            <p:spPr bwMode="auto">
              <a:xfrm flipH="1">
                <a:off x="6623800" y="2484000"/>
                <a:ext cx="144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52" name="直接箭头连接符 117">
                <a:extLst>
                  <a:ext uri="{FF2B5EF4-FFF2-40B4-BE49-F238E27FC236}">
                    <a16:creationId xmlns:a16="http://schemas.microsoft.com/office/drawing/2014/main" id="{3B4520F7-E857-489E-9E23-7636D083A28E}"/>
                  </a:ext>
                </a:extLst>
              </p:cNvPr>
              <p:cNvCxnSpPr/>
              <p:nvPr>
                <p:custDataLst>
                  <p:tags r:id="rId53"/>
                </p:custDataLst>
              </p:nvPr>
            </p:nvCxnSpPr>
            <p:spPr bwMode="auto">
              <a:xfrm>
                <a:off x="6155800" y="3024000"/>
                <a:ext cx="1008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453" name="Text Box 333">
                <a:extLst>
                  <a:ext uri="{FF2B5EF4-FFF2-40B4-BE49-F238E27FC236}">
                    <a16:creationId xmlns:a16="http://schemas.microsoft.com/office/drawing/2014/main" id="{C38AAFAE-057B-446B-A6F5-F755ED1C6072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54"/>
                </p:custDataLst>
              </p:nvPr>
            </p:nvSpPr>
            <p:spPr bwMode="auto">
              <a:xfrm>
                <a:off x="5832134" y="2520000"/>
                <a:ext cx="216000" cy="11160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vert="eaVert"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>
                    <a:latin typeface="宋体" panose="02010600030101010101" pitchFamily="2" charset="-122"/>
                  </a:rPr>
                  <a:t>通路结构</a:t>
                </a:r>
              </a:p>
            </p:txBody>
          </p:sp>
          <p:sp>
            <p:nvSpPr>
              <p:cNvPr id="454" name="Rectangle 274">
                <a:extLst>
                  <a:ext uri="{FF2B5EF4-FFF2-40B4-BE49-F238E27FC236}">
                    <a16:creationId xmlns:a16="http://schemas.microsoft.com/office/drawing/2014/main" id="{3567C388-BD2F-4485-B85D-BE0BB84E41AF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55"/>
                </p:custDataLst>
              </p:nvPr>
            </p:nvSpPr>
            <p:spPr bwMode="auto">
              <a:xfrm>
                <a:off x="6155800" y="2520000"/>
                <a:ext cx="468000" cy="468000"/>
              </a:xfrm>
              <a:prstGeom prst="rect">
                <a:avLst/>
              </a:prstGeom>
              <a:solidFill>
                <a:srgbClr val="CCFFFF">
                  <a:alpha val="80000"/>
                </a:srgbClr>
              </a:solidFill>
              <a:ln w="9525">
                <a:solidFill>
                  <a:schemeClr val="tx1"/>
                </a:solidFill>
                <a:prstDash val="sysDash"/>
                <a:miter lim="800000"/>
              </a:ln>
              <a:effectLst/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455" name="Text Box 276">
                <a:extLst>
                  <a:ext uri="{FF2B5EF4-FFF2-40B4-BE49-F238E27FC236}">
                    <a16:creationId xmlns:a16="http://schemas.microsoft.com/office/drawing/2014/main" id="{A1867A6B-8467-414D-AF7C-39C56D99C2E6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56"/>
                </p:custDataLst>
              </p:nvPr>
            </p:nvSpPr>
            <p:spPr bwMode="auto">
              <a:xfrm>
                <a:off x="6192179" y="2558099"/>
                <a:ext cx="396000" cy="180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PC</a:t>
                </a:r>
              </a:p>
            </p:txBody>
          </p:sp>
          <p:sp>
            <p:nvSpPr>
              <p:cNvPr id="456" name="Text Box 276">
                <a:extLst>
                  <a:ext uri="{FF2B5EF4-FFF2-40B4-BE49-F238E27FC236}">
                    <a16:creationId xmlns:a16="http://schemas.microsoft.com/office/drawing/2014/main" id="{258FB221-E975-42C6-A95A-BE51C86240DD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57"/>
                </p:custDataLst>
              </p:nvPr>
            </p:nvSpPr>
            <p:spPr bwMode="auto">
              <a:xfrm>
                <a:off x="6192179" y="2773999"/>
                <a:ext cx="396000" cy="180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IR</a:t>
                </a:r>
              </a:p>
            </p:txBody>
          </p:sp>
          <p:cxnSp>
            <p:nvCxnSpPr>
              <p:cNvPr id="457" name="直接箭头连接符 456">
                <a:extLst>
                  <a:ext uri="{FF2B5EF4-FFF2-40B4-BE49-F238E27FC236}">
                    <a16:creationId xmlns:a16="http://schemas.microsoft.com/office/drawing/2014/main" id="{3BF2C322-06CD-4A7F-8600-C11F73298BFD}"/>
                  </a:ext>
                </a:extLst>
              </p:cNvPr>
              <p:cNvCxnSpPr/>
              <p:nvPr>
                <p:custDataLst>
                  <p:tags r:id="rId58"/>
                </p:custDataLst>
              </p:nvPr>
            </p:nvCxnSpPr>
            <p:spPr bwMode="auto">
              <a:xfrm>
                <a:off x="6047800" y="2593760"/>
                <a:ext cx="144000" cy="635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58" name="直接箭头连接符 457">
                <a:extLst>
                  <a:ext uri="{FF2B5EF4-FFF2-40B4-BE49-F238E27FC236}">
                    <a16:creationId xmlns:a16="http://schemas.microsoft.com/office/drawing/2014/main" id="{165A097F-A7D0-4D85-AA6C-FC606F8B9D56}"/>
                  </a:ext>
                </a:extLst>
              </p:cNvPr>
              <p:cNvCxnSpPr/>
              <p:nvPr>
                <p:custDataLst>
                  <p:tags r:id="rId59"/>
                </p:custDataLst>
              </p:nvPr>
            </p:nvCxnSpPr>
            <p:spPr bwMode="auto">
              <a:xfrm flipH="1" flipV="1">
                <a:off x="6047800" y="2701760"/>
                <a:ext cx="144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59" name="直接箭头连接符 458">
                <a:extLst>
                  <a:ext uri="{FF2B5EF4-FFF2-40B4-BE49-F238E27FC236}">
                    <a16:creationId xmlns:a16="http://schemas.microsoft.com/office/drawing/2014/main" id="{F2525DFD-889A-4F6D-9452-A95A80235E26}"/>
                  </a:ext>
                </a:extLst>
              </p:cNvPr>
              <p:cNvCxnSpPr/>
              <p:nvPr>
                <p:custDataLst>
                  <p:tags r:id="rId60"/>
                </p:custDataLst>
              </p:nvPr>
            </p:nvCxnSpPr>
            <p:spPr bwMode="auto">
              <a:xfrm>
                <a:off x="6047800" y="2845760"/>
                <a:ext cx="144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460" name="Text Box 227">
                <a:extLst>
                  <a:ext uri="{FF2B5EF4-FFF2-40B4-BE49-F238E27FC236}">
                    <a16:creationId xmlns:a16="http://schemas.microsoft.com/office/drawing/2014/main" id="{C6858468-7E6C-463C-91E1-61E48AC06335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61"/>
                </p:custDataLst>
              </p:nvPr>
            </p:nvSpPr>
            <p:spPr bwMode="auto">
              <a:xfrm>
                <a:off x="8351800" y="2844000"/>
                <a:ext cx="215900" cy="864000"/>
              </a:xfrm>
              <a:prstGeom prst="rect">
                <a:avLst/>
              </a:prstGeom>
              <a:solidFill>
                <a:srgbClr val="CC99FF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vert="eaVert"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>
                    <a:latin typeface="宋体" panose="02010600030101010101" pitchFamily="2" charset="-122"/>
                  </a:rPr>
                  <a:t>中断机构</a:t>
                </a:r>
              </a:p>
            </p:txBody>
          </p:sp>
          <p:cxnSp>
            <p:nvCxnSpPr>
              <p:cNvPr id="461" name="直接箭头连接符 460">
                <a:extLst>
                  <a:ext uri="{FF2B5EF4-FFF2-40B4-BE49-F238E27FC236}">
                    <a16:creationId xmlns:a16="http://schemas.microsoft.com/office/drawing/2014/main" id="{35ACF2F0-BB1B-4492-A6F2-A224C6C43674}"/>
                  </a:ext>
                </a:extLst>
              </p:cNvPr>
              <p:cNvCxnSpPr>
                <a:cxnSpLocks/>
              </p:cNvCxnSpPr>
              <p:nvPr>
                <p:custDataLst>
                  <p:tags r:id="rId62"/>
                </p:custDataLst>
              </p:nvPr>
            </p:nvCxnSpPr>
            <p:spPr bwMode="auto">
              <a:xfrm>
                <a:off x="8495800" y="2304000"/>
                <a:ext cx="0" cy="54000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sm" len="sm"/>
              </a:ln>
              <a:effectLst/>
            </p:spPr>
          </p:cxnSp>
          <p:cxnSp>
            <p:nvCxnSpPr>
              <p:cNvPr id="462" name="直接箭头连接符 461">
                <a:extLst>
                  <a:ext uri="{FF2B5EF4-FFF2-40B4-BE49-F238E27FC236}">
                    <a16:creationId xmlns:a16="http://schemas.microsoft.com/office/drawing/2014/main" id="{81FB1717-BD61-45D3-BD83-6F96423C77F3}"/>
                  </a:ext>
                </a:extLst>
              </p:cNvPr>
              <p:cNvCxnSpPr/>
              <p:nvPr>
                <p:custDataLst>
                  <p:tags r:id="rId63"/>
                </p:custDataLst>
              </p:nvPr>
            </p:nvCxnSpPr>
            <p:spPr bwMode="auto">
              <a:xfrm>
                <a:off x="6588000" y="2304000"/>
                <a:ext cx="1908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sp>
            <p:nvSpPr>
              <p:cNvPr id="463" name="Text Box 392">
                <a:extLst>
                  <a:ext uri="{FF2B5EF4-FFF2-40B4-BE49-F238E27FC236}">
                    <a16:creationId xmlns:a16="http://schemas.microsoft.com/office/drawing/2014/main" id="{5EFAC32D-E933-47A7-BFDA-880A1A043F37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64"/>
                </p:custDataLst>
              </p:nvPr>
            </p:nvSpPr>
            <p:spPr bwMode="auto">
              <a:xfrm>
                <a:off x="5831800" y="2268000"/>
                <a:ext cx="396000" cy="144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>
                    <a:latin typeface="宋体" panose="02010600030101010101" pitchFamily="2" charset="-122"/>
                  </a:rPr>
                  <a:t>异常</a:t>
                </a:r>
                <a:endParaRPr lang="en-US" altLang="zh-CN" sz="14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464" name="Text Box 276">
                <a:extLst>
                  <a:ext uri="{FF2B5EF4-FFF2-40B4-BE49-F238E27FC236}">
                    <a16:creationId xmlns:a16="http://schemas.microsoft.com/office/drawing/2014/main" id="{B0EF6B02-4EC4-4928-9DEC-3925F042EE2D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65"/>
                </p:custDataLst>
              </p:nvPr>
            </p:nvSpPr>
            <p:spPr bwMode="auto">
              <a:xfrm>
                <a:off x="6335800" y="2268000"/>
                <a:ext cx="252000" cy="1440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200" b="1" dirty="0">
                    <a:latin typeface="宋体" panose="02010600030101010101" pitchFamily="2" charset="-122"/>
                  </a:rPr>
                  <a:t>≥</a:t>
                </a:r>
                <a:r>
                  <a:rPr lang="en-US" altLang="zh-CN" sz="1400" b="1" dirty="0">
                    <a:latin typeface="宋体" panose="02010600030101010101" pitchFamily="2" charset="-122"/>
                  </a:rPr>
                  <a:t>1</a:t>
                </a:r>
              </a:p>
            </p:txBody>
          </p:sp>
          <p:cxnSp>
            <p:nvCxnSpPr>
              <p:cNvPr id="465" name="直接箭头连接符 464">
                <a:extLst>
                  <a:ext uri="{FF2B5EF4-FFF2-40B4-BE49-F238E27FC236}">
                    <a16:creationId xmlns:a16="http://schemas.microsoft.com/office/drawing/2014/main" id="{99800A57-39F8-4BCF-919A-6C3A40262860}"/>
                  </a:ext>
                </a:extLst>
              </p:cNvPr>
              <p:cNvCxnSpPr/>
              <p:nvPr>
                <p:custDataLst>
                  <p:tags r:id="rId66"/>
                </p:custDataLst>
              </p:nvPr>
            </p:nvCxnSpPr>
            <p:spPr bwMode="auto">
              <a:xfrm>
                <a:off x="6228079" y="2376000"/>
                <a:ext cx="108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cxnSp>
            <p:nvCxnSpPr>
              <p:cNvPr id="466" name="直接箭头连接符 465">
                <a:extLst>
                  <a:ext uri="{FF2B5EF4-FFF2-40B4-BE49-F238E27FC236}">
                    <a16:creationId xmlns:a16="http://schemas.microsoft.com/office/drawing/2014/main" id="{26C59AA9-549C-48CB-827E-6DEB8BB1F37B}"/>
                  </a:ext>
                </a:extLst>
              </p:cNvPr>
              <p:cNvCxnSpPr/>
              <p:nvPr>
                <p:custDataLst>
                  <p:tags r:id="rId67"/>
                </p:custDataLst>
              </p:nvPr>
            </p:nvCxnSpPr>
            <p:spPr bwMode="auto">
              <a:xfrm>
                <a:off x="6228079" y="2304000"/>
                <a:ext cx="108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cxnSp>
            <p:nvCxnSpPr>
              <p:cNvPr id="467" name="直接箭头连接符 466">
                <a:extLst>
                  <a:ext uri="{FF2B5EF4-FFF2-40B4-BE49-F238E27FC236}">
                    <a16:creationId xmlns:a16="http://schemas.microsoft.com/office/drawing/2014/main" id="{C113D374-D867-40B0-A3AA-0BE859B826EE}"/>
                  </a:ext>
                </a:extLst>
              </p:cNvPr>
              <p:cNvCxnSpPr/>
              <p:nvPr>
                <p:custDataLst>
                  <p:tags r:id="rId68"/>
                </p:custDataLst>
              </p:nvPr>
            </p:nvCxnSpPr>
            <p:spPr bwMode="auto">
              <a:xfrm>
                <a:off x="6227800" y="2340000"/>
                <a:ext cx="108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cxnSp>
            <p:nvCxnSpPr>
              <p:cNvPr id="468" name="直接箭头连接符 467">
                <a:extLst>
                  <a:ext uri="{FF2B5EF4-FFF2-40B4-BE49-F238E27FC236}">
                    <a16:creationId xmlns:a16="http://schemas.microsoft.com/office/drawing/2014/main" id="{A6B3DCAE-8A54-45FE-8FAF-73FD2512CFD8}"/>
                  </a:ext>
                </a:extLst>
              </p:cNvPr>
              <p:cNvCxnSpPr/>
              <p:nvPr>
                <p:custDataLst>
                  <p:tags r:id="rId69"/>
                </p:custDataLst>
              </p:nvPr>
            </p:nvCxnSpPr>
            <p:spPr bwMode="auto">
              <a:xfrm flipH="1">
                <a:off x="6047800" y="3240000"/>
                <a:ext cx="2304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69" name="直接箭头连接符 468">
                <a:extLst>
                  <a:ext uri="{FF2B5EF4-FFF2-40B4-BE49-F238E27FC236}">
                    <a16:creationId xmlns:a16="http://schemas.microsoft.com/office/drawing/2014/main" id="{3F12ECD2-01CE-413C-BF87-558D7B04816C}"/>
                  </a:ext>
                </a:extLst>
              </p:cNvPr>
              <p:cNvCxnSpPr/>
              <p:nvPr>
                <p:custDataLst>
                  <p:tags r:id="rId70"/>
                </p:custDataLst>
              </p:nvPr>
            </p:nvCxnSpPr>
            <p:spPr bwMode="auto">
              <a:xfrm>
                <a:off x="6047800" y="3204000"/>
                <a:ext cx="2304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470" name="Text Box 291">
                <a:extLst>
                  <a:ext uri="{FF2B5EF4-FFF2-40B4-BE49-F238E27FC236}">
                    <a16:creationId xmlns:a16="http://schemas.microsoft.com/office/drawing/2014/main" id="{3A8B5EBA-5455-4F8E-9475-9D43C3CDB0DF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71"/>
                </p:custDataLst>
              </p:nvPr>
            </p:nvSpPr>
            <p:spPr bwMode="auto">
              <a:xfrm>
                <a:off x="7811800" y="3311181"/>
                <a:ext cx="468000" cy="396000"/>
              </a:xfrm>
              <a:prstGeom prst="rect">
                <a:avLst/>
              </a:prstGeom>
              <a:solidFill>
                <a:srgbClr val="CCCCFF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80000"/>
                  </a:lnSpc>
                </a:pPr>
                <a:r>
                  <a:rPr lang="zh-CN" altLang="en-US" sz="1400" b="1" dirty="0">
                    <a:latin typeface="宋体" panose="02010600030101010101" pitchFamily="2" charset="-122"/>
                  </a:rPr>
                  <a:t>总线逻辑</a:t>
                </a:r>
                <a:endParaRPr lang="en-US" altLang="zh-CN" sz="1400" b="1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471" name="直接箭头连接符 470">
                <a:extLst>
                  <a:ext uri="{FF2B5EF4-FFF2-40B4-BE49-F238E27FC236}">
                    <a16:creationId xmlns:a16="http://schemas.microsoft.com/office/drawing/2014/main" id="{DB419DDC-5B93-4907-BA46-611E2ACC6AD1}"/>
                  </a:ext>
                </a:extLst>
              </p:cNvPr>
              <p:cNvCxnSpPr/>
              <p:nvPr>
                <p:custDataLst>
                  <p:tags r:id="rId72"/>
                </p:custDataLst>
              </p:nvPr>
            </p:nvCxnSpPr>
            <p:spPr bwMode="auto">
              <a:xfrm>
                <a:off x="6047800" y="3527181"/>
                <a:ext cx="144000" cy="635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72" name="直接箭头连接符 471">
                <a:extLst>
                  <a:ext uri="{FF2B5EF4-FFF2-40B4-BE49-F238E27FC236}">
                    <a16:creationId xmlns:a16="http://schemas.microsoft.com/office/drawing/2014/main" id="{413A9A80-57E2-447A-BFF9-B307418A05D2}"/>
                  </a:ext>
                </a:extLst>
              </p:cNvPr>
              <p:cNvCxnSpPr/>
              <p:nvPr>
                <p:custDataLst>
                  <p:tags r:id="rId73"/>
                </p:custDataLst>
              </p:nvPr>
            </p:nvCxnSpPr>
            <p:spPr bwMode="auto">
              <a:xfrm flipH="1" flipV="1">
                <a:off x="6047800" y="3599181"/>
                <a:ext cx="144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73" name="直接箭头连接符 472">
                <a:extLst>
                  <a:ext uri="{FF2B5EF4-FFF2-40B4-BE49-F238E27FC236}">
                    <a16:creationId xmlns:a16="http://schemas.microsoft.com/office/drawing/2014/main" id="{0E4E6194-7D36-485F-AF06-FE3EE49D7877}"/>
                  </a:ext>
                </a:extLst>
              </p:cNvPr>
              <p:cNvCxnSpPr/>
              <p:nvPr>
                <p:custDataLst>
                  <p:tags r:id="rId74"/>
                </p:custDataLst>
              </p:nvPr>
            </p:nvCxnSpPr>
            <p:spPr bwMode="auto">
              <a:xfrm>
                <a:off x="6047800" y="3347756"/>
                <a:ext cx="144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474" name="Text Box 276">
                <a:extLst>
                  <a:ext uri="{FF2B5EF4-FFF2-40B4-BE49-F238E27FC236}">
                    <a16:creationId xmlns:a16="http://schemas.microsoft.com/office/drawing/2014/main" id="{EDAC8113-9D45-426E-B687-A22491D3DC45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75"/>
                </p:custDataLst>
              </p:nvPr>
            </p:nvSpPr>
            <p:spPr bwMode="auto">
              <a:xfrm>
                <a:off x="6192179" y="3276000"/>
                <a:ext cx="396000" cy="180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MAR</a:t>
                </a:r>
              </a:p>
            </p:txBody>
          </p:sp>
          <p:sp>
            <p:nvSpPr>
              <p:cNvPr id="475" name="Text Box 276">
                <a:extLst>
                  <a:ext uri="{FF2B5EF4-FFF2-40B4-BE49-F238E27FC236}">
                    <a16:creationId xmlns:a16="http://schemas.microsoft.com/office/drawing/2014/main" id="{2FE49587-EF6E-48EC-8C73-C0E8C3528C28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76"/>
                </p:custDataLst>
              </p:nvPr>
            </p:nvSpPr>
            <p:spPr bwMode="auto">
              <a:xfrm>
                <a:off x="6192179" y="3491181"/>
                <a:ext cx="396000" cy="180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MDR</a:t>
                </a:r>
              </a:p>
            </p:txBody>
          </p:sp>
          <p:cxnSp>
            <p:nvCxnSpPr>
              <p:cNvPr id="476" name="直接箭头连接符 475">
                <a:extLst>
                  <a:ext uri="{FF2B5EF4-FFF2-40B4-BE49-F238E27FC236}">
                    <a16:creationId xmlns:a16="http://schemas.microsoft.com/office/drawing/2014/main" id="{C04421F6-E2FE-4B62-AB61-4F2C75050DCD}"/>
                  </a:ext>
                </a:extLst>
              </p:cNvPr>
              <p:cNvCxnSpPr/>
              <p:nvPr>
                <p:custDataLst>
                  <p:tags r:id="rId77"/>
                </p:custDataLst>
              </p:nvPr>
            </p:nvCxnSpPr>
            <p:spPr bwMode="auto">
              <a:xfrm>
                <a:off x="6587800" y="3347756"/>
                <a:ext cx="144145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77" name="直接箭头连接符 476">
                <a:extLst>
                  <a:ext uri="{FF2B5EF4-FFF2-40B4-BE49-F238E27FC236}">
                    <a16:creationId xmlns:a16="http://schemas.microsoft.com/office/drawing/2014/main" id="{ABEAE074-156E-4465-9751-8E3CC40F9DE1}"/>
                  </a:ext>
                </a:extLst>
              </p:cNvPr>
              <p:cNvCxnSpPr/>
              <p:nvPr>
                <p:custDataLst>
                  <p:tags r:id="rId78"/>
                </p:custDataLst>
              </p:nvPr>
            </p:nvCxnSpPr>
            <p:spPr bwMode="auto">
              <a:xfrm>
                <a:off x="6587800" y="3527181"/>
                <a:ext cx="612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78" name="直接箭头连接符 477">
                <a:extLst>
                  <a:ext uri="{FF2B5EF4-FFF2-40B4-BE49-F238E27FC236}">
                    <a16:creationId xmlns:a16="http://schemas.microsoft.com/office/drawing/2014/main" id="{EDB46BA8-C723-45DC-9C9E-73DCC81F057A}"/>
                  </a:ext>
                </a:extLst>
              </p:cNvPr>
              <p:cNvCxnSpPr/>
              <p:nvPr>
                <p:custDataLst>
                  <p:tags r:id="rId79"/>
                </p:custDataLst>
              </p:nvPr>
            </p:nvCxnSpPr>
            <p:spPr bwMode="auto">
              <a:xfrm flipH="1" flipV="1">
                <a:off x="6587800" y="3599181"/>
                <a:ext cx="1080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79" name="直接箭头连接符 478">
                <a:extLst>
                  <a:ext uri="{FF2B5EF4-FFF2-40B4-BE49-F238E27FC236}">
                    <a16:creationId xmlns:a16="http://schemas.microsoft.com/office/drawing/2014/main" id="{3485DDC9-47C3-40A3-B70C-A79DDB9EA18E}"/>
                  </a:ext>
                </a:extLst>
              </p:cNvPr>
              <p:cNvCxnSpPr/>
              <p:nvPr>
                <p:custDataLst>
                  <p:tags r:id="rId80"/>
                </p:custDataLst>
              </p:nvPr>
            </p:nvCxnSpPr>
            <p:spPr bwMode="auto">
              <a:xfrm>
                <a:off x="6731799" y="3347756"/>
                <a:ext cx="1080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80" name="直接箭头连接符 479">
                <a:extLst>
                  <a:ext uri="{FF2B5EF4-FFF2-40B4-BE49-F238E27FC236}">
                    <a16:creationId xmlns:a16="http://schemas.microsoft.com/office/drawing/2014/main" id="{9A85C29D-797D-4DB5-BF3B-B040A63128E0}"/>
                  </a:ext>
                </a:extLst>
              </p:cNvPr>
              <p:cNvCxnSpPr/>
              <p:nvPr>
                <p:custDataLst>
                  <p:tags r:id="rId81"/>
                </p:custDataLst>
              </p:nvPr>
            </p:nvCxnSpPr>
            <p:spPr bwMode="auto">
              <a:xfrm>
                <a:off x="7199800" y="3527181"/>
                <a:ext cx="612000" cy="635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81" name="直接箭头连接符 480">
                <a:extLst>
                  <a:ext uri="{FF2B5EF4-FFF2-40B4-BE49-F238E27FC236}">
                    <a16:creationId xmlns:a16="http://schemas.microsoft.com/office/drawing/2014/main" id="{F092AE8F-AD55-497F-BECC-EB88E847201C}"/>
                  </a:ext>
                </a:extLst>
              </p:cNvPr>
              <p:cNvCxnSpPr/>
              <p:nvPr>
                <p:custDataLst>
                  <p:tags r:id="rId82"/>
                </p:custDataLst>
              </p:nvPr>
            </p:nvCxnSpPr>
            <p:spPr bwMode="auto">
              <a:xfrm flipH="1" flipV="1">
                <a:off x="7667800" y="3599181"/>
                <a:ext cx="144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482" name="Rectangle 274">
                <a:extLst>
                  <a:ext uri="{FF2B5EF4-FFF2-40B4-BE49-F238E27FC236}">
                    <a16:creationId xmlns:a16="http://schemas.microsoft.com/office/drawing/2014/main" id="{AAB12587-27B5-41A5-A0B5-4CAC84994D8F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83"/>
                </p:custDataLst>
              </p:nvPr>
            </p:nvSpPr>
            <p:spPr bwMode="auto">
              <a:xfrm>
                <a:off x="5184000" y="2412000"/>
                <a:ext cx="540000" cy="1152000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prstDash val="sysDash"/>
                <a:miter lim="800000"/>
              </a:ln>
              <a:effectLst/>
            </p:spPr>
            <p:txBody>
              <a:bodyPr vert="eaVert" wrap="none" lIns="0" tIns="0" rIns="0" bIns="0" anchor="ctr"/>
              <a:lstStyle/>
              <a:p>
                <a:pPr algn="ctr"/>
                <a:r>
                  <a:rPr lang="zh-CN" altLang="en-US" sz="1600" dirty="0"/>
                  <a:t>运算器</a:t>
                </a:r>
              </a:p>
            </p:txBody>
          </p:sp>
        </p:grpSp>
        <p:grpSp>
          <p:nvGrpSpPr>
            <p:cNvPr id="210" name="组合 209">
              <a:extLst>
                <a:ext uri="{FF2B5EF4-FFF2-40B4-BE49-F238E27FC236}">
                  <a16:creationId xmlns:a16="http://schemas.microsoft.com/office/drawing/2014/main" id="{2DA3B9A0-2883-438D-812C-FC77FD6EE9E2}"/>
                </a:ext>
              </a:extLst>
            </p:cNvPr>
            <p:cNvGrpSpPr/>
            <p:nvPr/>
          </p:nvGrpSpPr>
          <p:grpSpPr>
            <a:xfrm>
              <a:off x="5184000" y="2412000"/>
              <a:ext cx="648200" cy="1223561"/>
              <a:chOff x="5183800" y="2412000"/>
              <a:chExt cx="648200" cy="1223561"/>
            </a:xfrm>
          </p:grpSpPr>
          <p:cxnSp>
            <p:nvCxnSpPr>
              <p:cNvPr id="416" name="直接箭头连接符 415">
                <a:extLst>
                  <a:ext uri="{FF2B5EF4-FFF2-40B4-BE49-F238E27FC236}">
                    <a16:creationId xmlns:a16="http://schemas.microsoft.com/office/drawing/2014/main" id="{6F5B07E8-A984-4E54-947C-BF1F2E938D6E}"/>
                  </a:ext>
                </a:extLst>
              </p:cNvPr>
              <p:cNvCxnSpPr>
                <a:cxnSpLocks/>
              </p:cNvCxnSpPr>
              <p:nvPr>
                <p:custDataLst>
                  <p:tags r:id="rId17"/>
                </p:custDataLst>
              </p:nvPr>
            </p:nvCxnSpPr>
            <p:spPr bwMode="auto">
              <a:xfrm flipV="1">
                <a:off x="5399800" y="3635561"/>
                <a:ext cx="324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sp>
            <p:nvSpPr>
              <p:cNvPr id="417" name="Rectangle 274">
                <a:extLst>
                  <a:ext uri="{FF2B5EF4-FFF2-40B4-BE49-F238E27FC236}">
                    <a16:creationId xmlns:a16="http://schemas.microsoft.com/office/drawing/2014/main" id="{A115720C-0A20-433A-BAA6-7EA6527FAF40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8"/>
                </p:custDataLst>
              </p:nvPr>
            </p:nvSpPr>
            <p:spPr bwMode="auto">
              <a:xfrm>
                <a:off x="5183800" y="2412000"/>
                <a:ext cx="540000" cy="1152000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prstDash val="sysDash"/>
                <a:miter lim="800000"/>
              </a:ln>
              <a:effectLst/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  <p:cxnSp>
            <p:nvCxnSpPr>
              <p:cNvPr id="418" name="直接箭头连接符 417">
                <a:extLst>
                  <a:ext uri="{FF2B5EF4-FFF2-40B4-BE49-F238E27FC236}">
                    <a16:creationId xmlns:a16="http://schemas.microsoft.com/office/drawing/2014/main" id="{DB22AB31-6BAC-4801-94A3-BE0B55F51EBF}"/>
                  </a:ext>
                </a:extLst>
              </p:cNvPr>
              <p:cNvCxnSpPr/>
              <p:nvPr>
                <p:custDataLst>
                  <p:tags r:id="rId19"/>
                </p:custDataLst>
              </p:nvPr>
            </p:nvCxnSpPr>
            <p:spPr bwMode="auto">
              <a:xfrm>
                <a:off x="5652000" y="2556000"/>
                <a:ext cx="180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19" name="直接箭头连接符 418">
                <a:extLst>
                  <a:ext uri="{FF2B5EF4-FFF2-40B4-BE49-F238E27FC236}">
                    <a16:creationId xmlns:a16="http://schemas.microsoft.com/office/drawing/2014/main" id="{48C5C2AB-6CF6-4E16-A6CF-6241EC21283C}"/>
                  </a:ext>
                </a:extLst>
              </p:cNvPr>
              <p:cNvCxnSpPr/>
              <p:nvPr>
                <p:custDataLst>
                  <p:tags r:id="rId20"/>
                </p:custDataLst>
              </p:nvPr>
            </p:nvCxnSpPr>
            <p:spPr bwMode="auto">
              <a:xfrm flipH="1" flipV="1">
                <a:off x="5652000" y="2693941"/>
                <a:ext cx="180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20" name="直接箭头连接符 419">
                <a:extLst>
                  <a:ext uri="{FF2B5EF4-FFF2-40B4-BE49-F238E27FC236}">
                    <a16:creationId xmlns:a16="http://schemas.microsoft.com/office/drawing/2014/main" id="{F8E0A477-1573-4995-B98C-543B57723D73}"/>
                  </a:ext>
                </a:extLst>
              </p:cNvPr>
              <p:cNvCxnSpPr/>
              <p:nvPr>
                <p:custDataLst>
                  <p:tags r:id="rId21"/>
                </p:custDataLst>
              </p:nvPr>
            </p:nvCxnSpPr>
            <p:spPr bwMode="auto">
              <a:xfrm>
                <a:off x="5652000" y="2628000"/>
                <a:ext cx="180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ysDash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421" name="AutoShape 189">
                <a:extLst>
                  <a:ext uri="{FF2B5EF4-FFF2-40B4-BE49-F238E27FC236}">
                    <a16:creationId xmlns:a16="http://schemas.microsoft.com/office/drawing/2014/main" id="{3DF9DB38-255C-46DB-86E2-97D80E921F68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5219800" y="2987561"/>
                <a:ext cx="468000" cy="179705"/>
              </a:xfrm>
              <a:custGeom>
                <a:avLst/>
                <a:gdLst>
                  <a:gd name="G0" fmla="+- 4060 0 0"/>
                  <a:gd name="G1" fmla="+- 21600 0 4060"/>
                  <a:gd name="G2" fmla="*/ 4060 1 2"/>
                  <a:gd name="G3" fmla="+- 21600 0 G2"/>
                  <a:gd name="G4" fmla="+/ 4060 21600 2"/>
                  <a:gd name="G5" fmla="+/ G1 0 2"/>
                  <a:gd name="G6" fmla="*/ 21600 21600 4060"/>
                  <a:gd name="G7" fmla="*/ G6 1 2"/>
                  <a:gd name="G8" fmla="+- 21600 0 G7"/>
                  <a:gd name="G9" fmla="*/ 21600 1 2"/>
                  <a:gd name="G10" fmla="+- 4060 0 G9"/>
                  <a:gd name="G11" fmla="?: G10 G8 0"/>
                  <a:gd name="G12" fmla="?: G10 G7 21600"/>
                  <a:gd name="T0" fmla="*/ 19570 w 21600"/>
                  <a:gd name="T1" fmla="*/ 10800 h 21600"/>
                  <a:gd name="T2" fmla="*/ 10800 w 21600"/>
                  <a:gd name="T3" fmla="*/ 21600 h 21600"/>
                  <a:gd name="T4" fmla="*/ 2030 w 21600"/>
                  <a:gd name="T5" fmla="*/ 10800 h 21600"/>
                  <a:gd name="T6" fmla="*/ 10800 w 21600"/>
                  <a:gd name="T7" fmla="*/ 0 h 21600"/>
                  <a:gd name="T8" fmla="*/ 3830 w 21600"/>
                  <a:gd name="T9" fmla="*/ 3830 h 21600"/>
                  <a:gd name="T10" fmla="*/ 17770 w 21600"/>
                  <a:gd name="T11" fmla="*/ 1777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4060" y="21600"/>
                    </a:lnTo>
                    <a:lnTo>
                      <a:pt x="1754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+mn-ea"/>
                    <a:ea typeface="+mn-ea"/>
                  </a:rPr>
                  <a:t>ALU</a:t>
                </a:r>
                <a:endParaRPr lang="zh-CN" altLang="en-US" sz="1400" b="1" dirty="0">
                  <a:latin typeface="+mn-ea"/>
                  <a:ea typeface="+mn-ea"/>
                </a:endParaRPr>
              </a:p>
            </p:txBody>
          </p:sp>
          <p:cxnSp>
            <p:nvCxnSpPr>
              <p:cNvPr id="422" name="直接箭头连接符 421">
                <a:extLst>
                  <a:ext uri="{FF2B5EF4-FFF2-40B4-BE49-F238E27FC236}">
                    <a16:creationId xmlns:a16="http://schemas.microsoft.com/office/drawing/2014/main" id="{269AC593-4064-4453-9A9D-6186D74141EF}"/>
                  </a:ext>
                </a:extLst>
              </p:cNvPr>
              <p:cNvCxnSpPr/>
              <p:nvPr>
                <p:custDataLst>
                  <p:tags r:id="rId23"/>
                </p:custDataLst>
              </p:nvPr>
            </p:nvCxnSpPr>
            <p:spPr bwMode="auto">
              <a:xfrm flipH="1">
                <a:off x="5615800" y="3491561"/>
                <a:ext cx="216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23" name="直接箭头连接符 422">
                <a:extLst>
                  <a:ext uri="{FF2B5EF4-FFF2-40B4-BE49-F238E27FC236}">
                    <a16:creationId xmlns:a16="http://schemas.microsoft.com/office/drawing/2014/main" id="{731B36E9-4260-4AC9-88EB-3D6C5EC29026}"/>
                  </a:ext>
                </a:extLst>
              </p:cNvPr>
              <p:cNvCxnSpPr/>
              <p:nvPr>
                <p:custDataLst>
                  <p:tags r:id="rId24"/>
                </p:custDataLst>
              </p:nvPr>
            </p:nvCxnSpPr>
            <p:spPr bwMode="auto">
              <a:xfrm>
                <a:off x="5615800" y="3383561"/>
                <a:ext cx="216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24" name="直接箭头连接符 423">
                <a:extLst>
                  <a:ext uri="{FF2B5EF4-FFF2-40B4-BE49-F238E27FC236}">
                    <a16:creationId xmlns:a16="http://schemas.microsoft.com/office/drawing/2014/main" id="{CB79B9CE-58AA-4CF6-8738-E2DED5C9742A}"/>
                  </a:ext>
                </a:extLst>
              </p:cNvPr>
              <p:cNvCxnSpPr/>
              <p:nvPr>
                <p:custDataLst>
                  <p:tags r:id="rId25"/>
                </p:custDataLst>
              </p:nvPr>
            </p:nvCxnSpPr>
            <p:spPr bwMode="auto">
              <a:xfrm>
                <a:off x="5400335" y="3167561"/>
                <a:ext cx="1270" cy="179705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425" name="Text Box 276">
                <a:extLst>
                  <a:ext uri="{FF2B5EF4-FFF2-40B4-BE49-F238E27FC236}">
                    <a16:creationId xmlns:a16="http://schemas.microsoft.com/office/drawing/2014/main" id="{CCDA639D-35B1-4481-A849-FE534EF979E4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6"/>
                </p:custDataLst>
              </p:nvPr>
            </p:nvSpPr>
            <p:spPr bwMode="auto">
              <a:xfrm>
                <a:off x="5219800" y="3347561"/>
                <a:ext cx="396000" cy="180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PSR</a:t>
                </a:r>
              </a:p>
            </p:txBody>
          </p:sp>
          <p:sp>
            <p:nvSpPr>
              <p:cNvPr id="426" name="Text Box 314">
                <a:extLst>
                  <a:ext uri="{FF2B5EF4-FFF2-40B4-BE49-F238E27FC236}">
                    <a16:creationId xmlns:a16="http://schemas.microsoft.com/office/drawing/2014/main" id="{54821399-7BF5-487C-936F-5FBD9F30448C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7"/>
                </p:custDataLst>
              </p:nvPr>
            </p:nvSpPr>
            <p:spPr bwMode="auto">
              <a:xfrm>
                <a:off x="5219800" y="2448000"/>
                <a:ext cx="432000" cy="288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GPRs</a:t>
                </a:r>
              </a:p>
            </p:txBody>
          </p:sp>
          <p:cxnSp>
            <p:nvCxnSpPr>
              <p:cNvPr id="427" name="直接箭头连接符 426">
                <a:extLst>
                  <a:ext uri="{FF2B5EF4-FFF2-40B4-BE49-F238E27FC236}">
                    <a16:creationId xmlns:a16="http://schemas.microsoft.com/office/drawing/2014/main" id="{CD9D3B90-EC39-431F-8E28-F52E5C7199E4}"/>
                  </a:ext>
                </a:extLst>
              </p:cNvPr>
              <p:cNvCxnSpPr>
                <a:cxnSpLocks/>
              </p:cNvCxnSpPr>
              <p:nvPr>
                <p:custDataLst>
                  <p:tags r:id="rId28"/>
                </p:custDataLst>
              </p:nvPr>
            </p:nvCxnSpPr>
            <p:spPr bwMode="auto">
              <a:xfrm>
                <a:off x="5327800" y="2807087"/>
                <a:ext cx="0" cy="18000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28" name="直接箭头连接符 427">
                <a:extLst>
                  <a:ext uri="{FF2B5EF4-FFF2-40B4-BE49-F238E27FC236}">
                    <a16:creationId xmlns:a16="http://schemas.microsoft.com/office/drawing/2014/main" id="{9C3E1537-BF4D-4EE4-A8F5-63347E359108}"/>
                  </a:ext>
                </a:extLst>
              </p:cNvPr>
              <p:cNvCxnSpPr/>
              <p:nvPr>
                <p:custDataLst>
                  <p:tags r:id="rId29"/>
                </p:custDataLst>
              </p:nvPr>
            </p:nvCxnSpPr>
            <p:spPr bwMode="auto">
              <a:xfrm flipH="1" flipV="1">
                <a:off x="5327800" y="2807561"/>
                <a:ext cx="504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cxnSp>
            <p:nvCxnSpPr>
              <p:cNvPr id="429" name="直接箭头连接符 428">
                <a:extLst>
                  <a:ext uri="{FF2B5EF4-FFF2-40B4-BE49-F238E27FC236}">
                    <a16:creationId xmlns:a16="http://schemas.microsoft.com/office/drawing/2014/main" id="{6F1DEF04-BD71-4880-9934-D8D0B556B9B3}"/>
                  </a:ext>
                </a:extLst>
              </p:cNvPr>
              <p:cNvCxnSpPr>
                <a:cxnSpLocks/>
              </p:cNvCxnSpPr>
              <p:nvPr>
                <p:custDataLst>
                  <p:tags r:id="rId30"/>
                </p:custDataLst>
              </p:nvPr>
            </p:nvCxnSpPr>
            <p:spPr bwMode="auto">
              <a:xfrm>
                <a:off x="5579800" y="2879561"/>
                <a:ext cx="0" cy="10800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30" name="直接箭头连接符 429">
                <a:extLst>
                  <a:ext uri="{FF2B5EF4-FFF2-40B4-BE49-F238E27FC236}">
                    <a16:creationId xmlns:a16="http://schemas.microsoft.com/office/drawing/2014/main" id="{8F4A1540-D4A5-47A3-8F99-491B5A7FE528}"/>
                  </a:ext>
                </a:extLst>
              </p:cNvPr>
              <p:cNvCxnSpPr/>
              <p:nvPr>
                <p:custDataLst>
                  <p:tags r:id="rId31"/>
                </p:custDataLst>
              </p:nvPr>
            </p:nvCxnSpPr>
            <p:spPr bwMode="auto">
              <a:xfrm flipH="1" flipV="1">
                <a:off x="5579800" y="2879561"/>
                <a:ext cx="252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cxnSp>
            <p:nvCxnSpPr>
              <p:cNvPr id="431" name="直接箭头连接符 430">
                <a:extLst>
                  <a:ext uri="{FF2B5EF4-FFF2-40B4-BE49-F238E27FC236}">
                    <a16:creationId xmlns:a16="http://schemas.microsoft.com/office/drawing/2014/main" id="{855CC289-4118-4D5B-BAEA-EC58B98AEB3F}"/>
                  </a:ext>
                </a:extLst>
              </p:cNvPr>
              <p:cNvCxnSpPr>
                <a:cxnSpLocks/>
              </p:cNvCxnSpPr>
              <p:nvPr>
                <p:custDataLst>
                  <p:tags r:id="rId32"/>
                </p:custDataLst>
              </p:nvPr>
            </p:nvCxnSpPr>
            <p:spPr bwMode="auto">
              <a:xfrm>
                <a:off x="5471800" y="3167561"/>
                <a:ext cx="0" cy="7200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cxnSp>
            <p:nvCxnSpPr>
              <p:cNvPr id="432" name="直接箭头连接符 431">
                <a:extLst>
                  <a:ext uri="{FF2B5EF4-FFF2-40B4-BE49-F238E27FC236}">
                    <a16:creationId xmlns:a16="http://schemas.microsoft.com/office/drawing/2014/main" id="{6B798D03-16B0-4D3C-B188-8FBFFF744FA2}"/>
                  </a:ext>
                </a:extLst>
              </p:cNvPr>
              <p:cNvCxnSpPr/>
              <p:nvPr>
                <p:custDataLst>
                  <p:tags r:id="rId33"/>
                </p:custDataLst>
              </p:nvPr>
            </p:nvCxnSpPr>
            <p:spPr bwMode="auto">
              <a:xfrm>
                <a:off x="5471800" y="3239561"/>
                <a:ext cx="360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33" name="直接箭头连接符 432">
                <a:extLst>
                  <a:ext uri="{FF2B5EF4-FFF2-40B4-BE49-F238E27FC236}">
                    <a16:creationId xmlns:a16="http://schemas.microsoft.com/office/drawing/2014/main" id="{6D5AF98D-AD30-45A4-A0BE-583C80B79471}"/>
                  </a:ext>
                </a:extLst>
              </p:cNvPr>
              <p:cNvCxnSpPr>
                <a:cxnSpLocks/>
              </p:cNvCxnSpPr>
              <p:nvPr>
                <p:custDataLst>
                  <p:tags r:id="rId34"/>
                </p:custDataLst>
              </p:nvPr>
            </p:nvCxnSpPr>
            <p:spPr bwMode="auto">
              <a:xfrm>
                <a:off x="5399800" y="3527561"/>
                <a:ext cx="0" cy="10800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</p:grpSp>
        <p:sp>
          <p:nvSpPr>
            <p:cNvPr id="211" name="Text Box 18">
              <a:extLst>
                <a:ext uri="{FF2B5EF4-FFF2-40B4-BE49-F238E27FC236}">
                  <a16:creationId xmlns:a16="http://schemas.microsoft.com/office/drawing/2014/main" id="{6D99E930-5360-440F-BA3B-87D81FC31E26}"/>
                </a:ext>
              </a:extLst>
            </p:cNvPr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4464000" y="3204000"/>
              <a:ext cx="576000" cy="504000"/>
            </a:xfrm>
            <a:prstGeom prst="rect">
              <a:avLst/>
            </a:prstGeom>
            <a:noFill/>
            <a:ln w="12700">
              <a:noFill/>
              <a:prstDash val="sysDash"/>
              <a:miter lim="800000"/>
            </a:ln>
            <a:effectLst/>
          </p:spPr>
          <p:txBody>
            <a:bodyPr lIns="0" tIns="0" rIns="0" bIns="0" anchor="t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b="1" dirty="0">
                  <a:latin typeface="+mn-ea"/>
                </a:rPr>
                <a:t>单</a:t>
              </a:r>
              <a:r>
                <a:rPr lang="en-US" altLang="zh-CN" sz="1200" b="1" dirty="0">
                  <a:latin typeface="+mn-ea"/>
                </a:rPr>
                <a:t>/</a:t>
              </a:r>
              <a:r>
                <a:rPr lang="zh-CN" altLang="en-US" sz="1200" b="1" dirty="0">
                  <a:latin typeface="+mn-ea"/>
                </a:rPr>
                <a:t>多</a:t>
              </a:r>
              <a:r>
                <a:rPr lang="en-US" altLang="zh-CN" sz="1200" b="1" dirty="0">
                  <a:latin typeface="+mn-ea"/>
                </a:rPr>
                <a:t>T</a:t>
              </a:r>
              <a:r>
                <a:rPr lang="en-US" altLang="zh-CN" sz="1200" b="1" baseline="-25000" dirty="0">
                  <a:latin typeface="+mn-ea"/>
                </a:rPr>
                <a:t>C</a:t>
              </a:r>
              <a:endParaRPr lang="en-US" altLang="zh-CN" sz="1200" b="1" dirty="0">
                <a:latin typeface="+mn-ea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1" dirty="0">
                  <a:latin typeface="+mn-ea"/>
                </a:rPr>
                <a:t>DP</a:t>
              </a:r>
              <a:r>
                <a:rPr lang="zh-CN" altLang="en-US" sz="1200" b="1" dirty="0">
                  <a:latin typeface="+mn-ea"/>
                </a:rPr>
                <a:t>总</a:t>
              </a:r>
              <a:r>
                <a:rPr lang="en-US" altLang="zh-CN" sz="1200" b="1" dirty="0">
                  <a:latin typeface="+mn-ea"/>
                </a:rPr>
                <a:t>/</a:t>
              </a:r>
              <a:r>
                <a:rPr lang="zh-CN" altLang="en-US" sz="1200" b="1" dirty="0">
                  <a:latin typeface="+mn-ea"/>
                </a:rPr>
                <a:t>专</a:t>
              </a:r>
              <a:endParaRPr lang="en-US" altLang="zh-CN" sz="1200" b="1" dirty="0">
                <a:latin typeface="+mn-ea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200" b="1" dirty="0">
                  <a:latin typeface="+mn-ea"/>
                </a:rPr>
                <a:t>CU</a:t>
              </a:r>
              <a:r>
                <a:rPr lang="zh-CN" altLang="en-US" sz="1200" b="1" dirty="0">
                  <a:latin typeface="+mn-ea"/>
                </a:rPr>
                <a:t>硬</a:t>
              </a:r>
              <a:r>
                <a:rPr lang="en-US" altLang="zh-CN" sz="1200" b="1" dirty="0">
                  <a:latin typeface="+mn-ea"/>
                </a:rPr>
                <a:t>/</a:t>
              </a:r>
              <a:r>
                <a:rPr lang="zh-CN" altLang="en-US" sz="1200" b="1" dirty="0">
                  <a:latin typeface="+mn-ea"/>
                </a:rPr>
                <a:t>微</a:t>
              </a:r>
            </a:p>
          </p:txBody>
        </p:sp>
        <p:grpSp>
          <p:nvGrpSpPr>
            <p:cNvPr id="212" name="组合 211">
              <a:extLst>
                <a:ext uri="{FF2B5EF4-FFF2-40B4-BE49-F238E27FC236}">
                  <a16:creationId xmlns:a16="http://schemas.microsoft.com/office/drawing/2014/main" id="{0C356212-44EB-443A-B311-32FE6271FBAA}"/>
                </a:ext>
              </a:extLst>
            </p:cNvPr>
            <p:cNvGrpSpPr/>
            <p:nvPr/>
          </p:nvGrpSpPr>
          <p:grpSpPr>
            <a:xfrm>
              <a:off x="8172000" y="3204000"/>
              <a:ext cx="720000" cy="1476000"/>
              <a:chOff x="8172000" y="3204000"/>
              <a:chExt cx="720000" cy="1476000"/>
            </a:xfrm>
          </p:grpSpPr>
          <p:cxnSp>
            <p:nvCxnSpPr>
              <p:cNvPr id="213" name="直接箭头连接符 212">
                <a:extLst>
                  <a:ext uri="{FF2B5EF4-FFF2-40B4-BE49-F238E27FC236}">
                    <a16:creationId xmlns:a16="http://schemas.microsoft.com/office/drawing/2014/main" id="{C188E660-663A-4AEF-B4D0-FBA504C04B2C}"/>
                  </a:ext>
                </a:extLst>
              </p:cNvPr>
              <p:cNvCxnSpPr/>
              <p:nvPr>
                <p:custDataLst>
                  <p:tags r:id="rId10"/>
                </p:custDataLst>
              </p:nvPr>
            </p:nvCxnSpPr>
            <p:spPr bwMode="auto">
              <a:xfrm flipH="1">
                <a:off x="8568000" y="3204000"/>
                <a:ext cx="324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214" name="Text Box 392">
                <a:extLst>
                  <a:ext uri="{FF2B5EF4-FFF2-40B4-BE49-F238E27FC236}">
                    <a16:creationId xmlns:a16="http://schemas.microsoft.com/office/drawing/2014/main" id="{543E2358-1AF8-42DC-85CF-9B923590E683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1"/>
                </p:custDataLst>
              </p:nvPr>
            </p:nvSpPr>
            <p:spPr bwMode="auto">
              <a:xfrm>
                <a:off x="8460000" y="4356000"/>
                <a:ext cx="360000" cy="324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t" anchorCtr="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200" b="1" dirty="0">
                    <a:latin typeface="宋体" panose="02010600030101010101" pitchFamily="2" charset="-122"/>
                  </a:rPr>
                  <a:t>INTR</a:t>
                </a:r>
              </a:p>
              <a:p>
                <a:pPr algn="ctr">
                  <a:lnSpc>
                    <a:spcPct val="90000"/>
                  </a:lnSpc>
                  <a:spcBef>
                    <a:spcPts val="0"/>
                  </a:spcBef>
                </a:pPr>
                <a:r>
                  <a:rPr lang="en-US" altLang="zh-CN" sz="1200" b="1" dirty="0">
                    <a:latin typeface="宋体" panose="02010600030101010101" pitchFamily="2" charset="-122"/>
                  </a:rPr>
                  <a:t>NMI</a:t>
                </a:r>
              </a:p>
            </p:txBody>
          </p:sp>
          <p:cxnSp>
            <p:nvCxnSpPr>
              <p:cNvPr id="215" name="直接箭头连接符 214">
                <a:extLst>
                  <a:ext uri="{FF2B5EF4-FFF2-40B4-BE49-F238E27FC236}">
                    <a16:creationId xmlns:a16="http://schemas.microsoft.com/office/drawing/2014/main" id="{65DA6286-F7EE-4162-8E23-F7B01FE9DB07}"/>
                  </a:ext>
                </a:extLst>
              </p:cNvPr>
              <p:cNvCxnSpPr/>
              <p:nvPr>
                <p:custDataLst>
                  <p:tags r:id="rId12"/>
                </p:custDataLst>
              </p:nvPr>
            </p:nvCxnSpPr>
            <p:spPr bwMode="auto">
              <a:xfrm flipH="1">
                <a:off x="8568000" y="3312000"/>
                <a:ext cx="252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12" name="直接箭头连接符 411">
                <a:extLst>
                  <a:ext uri="{FF2B5EF4-FFF2-40B4-BE49-F238E27FC236}">
                    <a16:creationId xmlns:a16="http://schemas.microsoft.com/office/drawing/2014/main" id="{2AE5E679-9D8B-4999-BA4C-6B6E6EB92FD7}"/>
                  </a:ext>
                </a:extLst>
              </p:cNvPr>
              <p:cNvCxnSpPr>
                <a:cxnSpLocks/>
              </p:cNvCxnSpPr>
              <p:nvPr>
                <p:custDataLst>
                  <p:tags r:id="rId13"/>
                </p:custDataLst>
              </p:nvPr>
            </p:nvCxnSpPr>
            <p:spPr bwMode="auto">
              <a:xfrm flipH="1" flipV="1">
                <a:off x="8820000" y="3312000"/>
                <a:ext cx="0" cy="104400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cxnSp>
            <p:nvCxnSpPr>
              <p:cNvPr id="413" name="直接箭头连接符 412">
                <a:extLst>
                  <a:ext uri="{FF2B5EF4-FFF2-40B4-BE49-F238E27FC236}">
                    <a16:creationId xmlns:a16="http://schemas.microsoft.com/office/drawing/2014/main" id="{7F81F811-E308-4C50-B3A2-BD835955723B}"/>
                  </a:ext>
                </a:extLst>
              </p:cNvPr>
              <p:cNvCxnSpPr>
                <a:cxnSpLocks/>
              </p:cNvCxnSpPr>
              <p:nvPr>
                <p:custDataLst>
                  <p:tags r:id="rId14"/>
                </p:custDataLst>
              </p:nvPr>
            </p:nvCxnSpPr>
            <p:spPr bwMode="auto">
              <a:xfrm flipV="1">
                <a:off x="8388000" y="4356000"/>
                <a:ext cx="432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cxnSp>
            <p:nvCxnSpPr>
              <p:cNvPr id="414" name="直接箭头连接符 413">
                <a:extLst>
                  <a:ext uri="{FF2B5EF4-FFF2-40B4-BE49-F238E27FC236}">
                    <a16:creationId xmlns:a16="http://schemas.microsoft.com/office/drawing/2014/main" id="{524658F0-32F6-4043-AEEF-57EED437B9EF}"/>
                  </a:ext>
                </a:extLst>
              </p:cNvPr>
              <p:cNvCxnSpPr>
                <a:cxnSpLocks/>
              </p:cNvCxnSpPr>
              <p:nvPr>
                <p:custDataLst>
                  <p:tags r:id="rId15"/>
                </p:custDataLst>
              </p:nvPr>
            </p:nvCxnSpPr>
            <p:spPr bwMode="auto">
              <a:xfrm flipV="1">
                <a:off x="8172000" y="4680000"/>
                <a:ext cx="720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cxnSp>
            <p:nvCxnSpPr>
              <p:cNvPr id="415" name="直接箭头连接符 414">
                <a:extLst>
                  <a:ext uri="{FF2B5EF4-FFF2-40B4-BE49-F238E27FC236}">
                    <a16:creationId xmlns:a16="http://schemas.microsoft.com/office/drawing/2014/main" id="{FC79EA3F-5A05-45AA-B8F1-CE171E3E2D68}"/>
                  </a:ext>
                </a:extLst>
              </p:cNvPr>
              <p:cNvCxnSpPr>
                <a:cxnSpLocks/>
              </p:cNvCxnSpPr>
              <p:nvPr>
                <p:custDataLst>
                  <p:tags r:id="rId16"/>
                </p:custDataLst>
              </p:nvPr>
            </p:nvCxnSpPr>
            <p:spPr bwMode="auto">
              <a:xfrm flipH="1" flipV="1">
                <a:off x="8892000" y="3204000"/>
                <a:ext cx="0" cy="147600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</p:grpSp>
      </p:grpSp>
      <p:sp>
        <p:nvSpPr>
          <p:cNvPr id="585" name="Text Box 61">
            <a:extLst>
              <a:ext uri="{FF2B5EF4-FFF2-40B4-BE49-F238E27FC236}">
                <a16:creationId xmlns:a16="http://schemas.microsoft.com/office/drawing/2014/main" id="{7E0026E1-F915-4712-9941-344C239F9B74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512" y="288000"/>
            <a:ext cx="8352928" cy="426336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wrap="square" lIns="90000" tIns="46800" rIns="90000" bIns="46800" anchor="t" anchorCtr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+mn-ea"/>
              </a:rPr>
              <a:t> </a:t>
            </a:r>
            <a:r>
              <a:rPr lang="en-US" altLang="zh-CN" sz="2000" b="1" dirty="0">
                <a:solidFill>
                  <a:srgbClr val="FF3399"/>
                </a:solidFill>
                <a:highlight>
                  <a:srgbClr val="FFFF00"/>
                </a:highlight>
                <a:latin typeface="+mn-ea"/>
              </a:rPr>
              <a:t>※</a:t>
            </a:r>
            <a:r>
              <a:rPr lang="zh-CN" altLang="en-US" sz="2000" b="1" dirty="0">
                <a:solidFill>
                  <a:srgbClr val="FF3399"/>
                </a:solidFill>
                <a:highlight>
                  <a:srgbClr val="FFFF00"/>
                </a:highlight>
                <a:latin typeface="+mn-ea"/>
              </a:rPr>
              <a:t>计算机组成总图</a:t>
            </a:r>
            <a:r>
              <a:rPr lang="en-US" altLang="zh-CN" sz="2000" b="1" dirty="0">
                <a:solidFill>
                  <a:srgbClr val="FF3399"/>
                </a:solidFill>
                <a:highlight>
                  <a:srgbClr val="FFFF00"/>
                </a:highlight>
                <a:latin typeface="+mn-ea"/>
              </a:rPr>
              <a:t>-2</a:t>
            </a:r>
            <a:r>
              <a:rPr lang="zh-CN" altLang="en-US" sz="2000" b="1" dirty="0">
                <a:solidFill>
                  <a:srgbClr val="FF3399"/>
                </a:solidFill>
                <a:latin typeface="+mn-ea"/>
              </a:rPr>
              <a:t>：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＝硬件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sym typeface="+mn-ea"/>
              </a:rPr>
              <a:t>＋软件＋工作方式，</a:t>
            </a:r>
            <a:r>
              <a:rPr lang="zh-CN" altLang="en-US" sz="2000" b="1" u="sng" dirty="0">
                <a:solidFill>
                  <a:srgbClr val="990099"/>
                </a:solidFill>
                <a:latin typeface="+mn-ea"/>
                <a:sym typeface="+mn-ea"/>
              </a:rPr>
              <a:t>基于</a:t>
            </a:r>
            <a:r>
              <a:rPr lang="en-US" altLang="zh-CN" sz="2000" b="1" u="sng" dirty="0">
                <a:solidFill>
                  <a:srgbClr val="990099"/>
                </a:solidFill>
                <a:latin typeface="+mn-ea"/>
                <a:sym typeface="+mn-ea"/>
              </a:rPr>
              <a:t>ISA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sym typeface="+mn-ea"/>
              </a:rPr>
              <a:t>组织</a:t>
            </a:r>
          </a:p>
        </p:txBody>
      </p:sp>
      <p:sp>
        <p:nvSpPr>
          <p:cNvPr id="586" name="Text Box 61">
            <a:extLst>
              <a:ext uri="{FF2B5EF4-FFF2-40B4-BE49-F238E27FC236}">
                <a16:creationId xmlns:a16="http://schemas.microsoft.com/office/drawing/2014/main" id="{07DA4D6D-F62B-4A93-8AFE-487244EFF623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16000" y="1764000"/>
            <a:ext cx="2916000" cy="1476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0" tIns="0" rIns="0" bIns="0" anchor="t" anchorCtr="0"/>
          <a:lstStyle/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MEM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组织：</a:t>
            </a:r>
            <a:r>
              <a:rPr lang="en-US" altLang="zh-CN" sz="1400" b="1" dirty="0">
                <a:latin typeface="+mn-ea"/>
              </a:rPr>
              <a:t>(</a:t>
            </a:r>
            <a:r>
              <a:rPr lang="zh-CN" altLang="en-US" sz="1400" b="1" dirty="0">
                <a:latin typeface="+mn-ea"/>
              </a:rPr>
              <a:t>实现</a:t>
            </a:r>
            <a:r>
              <a:rPr lang="zh-CN" altLang="en-US" sz="1400" b="1" u="sng" dirty="0">
                <a:highlight>
                  <a:srgbClr val="CCFFFF"/>
                </a:highlight>
                <a:latin typeface="+mn-ea"/>
              </a:rPr>
              <a:t>存储</a:t>
            </a:r>
            <a:r>
              <a:rPr lang="en-US" altLang="zh-CN" sz="1400" b="1" u="sng" dirty="0">
                <a:highlight>
                  <a:srgbClr val="CCFFFF"/>
                </a:highlight>
                <a:latin typeface="+mn-ea"/>
              </a:rPr>
              <a:t>+</a:t>
            </a:r>
            <a:r>
              <a:rPr lang="zh-CN" altLang="en-US" sz="1400" b="1" u="sng" dirty="0">
                <a:highlight>
                  <a:srgbClr val="CCFFFF"/>
                </a:highlight>
                <a:latin typeface="+mn-ea"/>
              </a:rPr>
              <a:t>按</a:t>
            </a:r>
            <a:r>
              <a:rPr lang="en-US" altLang="zh-CN" sz="1400" b="1" u="sng" dirty="0">
                <a:highlight>
                  <a:srgbClr val="CCFFFF"/>
                </a:highlight>
                <a:latin typeface="+mn-ea"/>
              </a:rPr>
              <a:t>VA</a:t>
            </a:r>
            <a:r>
              <a:rPr lang="zh-CN" altLang="en-US" sz="1400" b="1" u="sng" dirty="0">
                <a:highlight>
                  <a:srgbClr val="CCFFFF"/>
                </a:highlight>
                <a:latin typeface="+mn-ea"/>
              </a:rPr>
              <a:t>访问</a:t>
            </a:r>
            <a:r>
              <a:rPr lang="en-US" altLang="zh-CN" sz="14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  <a:sym typeface="+mn-ea"/>
              </a:rPr>
              <a:t>①</a:t>
            </a:r>
            <a:r>
              <a:rPr lang="zh-CN" altLang="en-US" sz="1600" b="1" dirty="0">
                <a:latin typeface="+mn-ea"/>
              </a:rPr>
              <a:t>参数</a:t>
            </a:r>
            <a:r>
              <a:rPr lang="en-US" altLang="zh-CN" sz="1400" b="1" dirty="0">
                <a:latin typeface="+mn-ea"/>
              </a:rPr>
              <a:t>(</a:t>
            </a:r>
            <a:r>
              <a:rPr lang="en-US" altLang="zh-CN" sz="1400" b="1" dirty="0" err="1">
                <a:latin typeface="+mn-ea"/>
              </a:rPr>
              <a:t>w&amp;N</a:t>
            </a:r>
            <a:r>
              <a:rPr lang="en-US" altLang="zh-CN" sz="1400" b="1" dirty="0" err="1">
                <a:cs typeface="Times New Roman" panose="02020603050405020304" pitchFamily="18" charset="0"/>
              </a:rPr>
              <a:t>~</a:t>
            </a:r>
            <a:r>
              <a:rPr lang="en-US" altLang="zh-CN" sz="1400" b="1" dirty="0" err="1">
                <a:latin typeface="+mn-ea"/>
              </a:rPr>
              <a:t>ISA</a:t>
            </a:r>
            <a:r>
              <a:rPr lang="zh-CN" altLang="en-US" sz="1400" b="1" dirty="0">
                <a:latin typeface="+mn-ea"/>
              </a:rPr>
              <a:t>、</a:t>
            </a:r>
            <a:r>
              <a:rPr lang="en-US" altLang="zh-CN" sz="1400" b="1" dirty="0">
                <a:latin typeface="+mn-ea"/>
              </a:rPr>
              <a:t>n</a:t>
            </a:r>
            <a:r>
              <a:rPr lang="en-US" altLang="zh-CN" sz="1400" b="1" dirty="0">
                <a:cs typeface="Times New Roman" panose="02020603050405020304" pitchFamily="18" charset="0"/>
                <a:sym typeface="+mn-ea"/>
              </a:rPr>
              <a:t>~</a:t>
            </a:r>
            <a:r>
              <a:rPr lang="zh-CN" altLang="en-US" sz="1400" b="1" dirty="0">
                <a:latin typeface="+mn-ea"/>
                <a:sym typeface="+mn-ea"/>
              </a:rPr>
              <a:t>设计</a:t>
            </a:r>
            <a:r>
              <a:rPr lang="en-US" altLang="zh-CN" sz="14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  <a:sym typeface="+mn-ea"/>
              </a:rPr>
              <a:t>②</a:t>
            </a:r>
            <a:r>
              <a:rPr lang="zh-CN" altLang="en-US" sz="1600" b="1" dirty="0">
                <a:latin typeface="+mn-ea"/>
              </a:rPr>
              <a:t>结构</a:t>
            </a:r>
            <a:r>
              <a:rPr lang="en-US" altLang="zh-CN" sz="1400" b="1" dirty="0">
                <a:latin typeface="+mn-ea"/>
              </a:rPr>
              <a:t>(</a:t>
            </a:r>
            <a:r>
              <a:rPr lang="zh-CN" altLang="en-US" sz="1400" b="1" dirty="0">
                <a:latin typeface="+mn-ea"/>
              </a:rPr>
              <a:t>层次</a:t>
            </a:r>
            <a:r>
              <a:rPr lang="en-US" altLang="zh-CN" sz="1400" b="1" dirty="0">
                <a:latin typeface="+mn-ea"/>
              </a:rPr>
              <a:t>,</a:t>
            </a:r>
            <a:r>
              <a:rPr lang="zh-CN" altLang="en-US" sz="1400" b="1" dirty="0">
                <a:latin typeface="+mn-ea"/>
              </a:rPr>
              <a:t>地址变换</a:t>
            </a:r>
            <a:r>
              <a:rPr lang="en-US" altLang="zh-CN" sz="1400" b="1" dirty="0">
                <a:latin typeface="+mn-ea"/>
              </a:rPr>
              <a:t>+</a:t>
            </a:r>
            <a:r>
              <a:rPr lang="zh-CN" altLang="en-US" sz="1400" b="1" dirty="0">
                <a:latin typeface="+mn-ea"/>
              </a:rPr>
              <a:t>层间管理</a:t>
            </a:r>
            <a:r>
              <a:rPr lang="en-US" altLang="zh-CN" sz="1400" b="1" dirty="0">
                <a:latin typeface="+mn-ea"/>
              </a:rPr>
              <a:t>)</a:t>
            </a:r>
            <a:endParaRPr lang="zh-CN" altLang="en-US" sz="14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</a:t>
            </a:r>
            <a:r>
              <a:rPr lang="zh-CN" altLang="en-US" sz="1600" b="1" dirty="0">
                <a:latin typeface="+mn-ea"/>
                <a:sym typeface="+mn-ea"/>
              </a:rPr>
              <a:t>③主存</a:t>
            </a:r>
            <a:r>
              <a:rPr lang="en-US" altLang="zh-CN" sz="1400" b="1" dirty="0">
                <a:latin typeface="+mn-ea"/>
                <a:sym typeface="+mn-ea"/>
              </a:rPr>
              <a:t>(</a:t>
            </a:r>
            <a:r>
              <a:rPr lang="zh-CN" altLang="en-US" sz="1400" b="1" dirty="0">
                <a:latin typeface="+mn-ea"/>
                <a:sym typeface="+mn-ea"/>
              </a:rPr>
              <a:t>设计</a:t>
            </a:r>
            <a:r>
              <a:rPr lang="en-US" altLang="zh-CN" sz="1400" b="1" dirty="0">
                <a:latin typeface="+mn-ea"/>
                <a:sym typeface="+mn-ea"/>
              </a:rPr>
              <a:t>&amp;</a:t>
            </a:r>
            <a:r>
              <a:rPr lang="zh-CN" altLang="en-US" sz="1400" b="1" dirty="0">
                <a:latin typeface="+mn-ea"/>
                <a:sym typeface="+mn-ea"/>
              </a:rPr>
              <a:t>优化</a:t>
            </a:r>
            <a:r>
              <a:rPr lang="en-US" altLang="zh-CN" sz="1400" b="1" dirty="0">
                <a:latin typeface="+mn-ea"/>
                <a:sym typeface="+mn-ea"/>
              </a:rPr>
              <a:t>[</a:t>
            </a:r>
            <a:r>
              <a:rPr lang="en-US" altLang="zh-CN" sz="1400" b="1" dirty="0">
                <a:cs typeface="Times New Roman" panose="02020603050405020304" pitchFamily="18" charset="0"/>
                <a:sym typeface="+mn-ea"/>
              </a:rPr>
              <a:t>~</a:t>
            </a:r>
            <a:r>
              <a:rPr lang="en-US" altLang="zh-CN" sz="1400" b="1" dirty="0">
                <a:latin typeface="宋体" panose="02010600030101010101" pitchFamily="2" charset="-122"/>
                <a:cs typeface="Times New Roman" panose="02020603050405020304" pitchFamily="18" charset="0"/>
                <a:sym typeface="+mn-ea"/>
              </a:rPr>
              <a:t>c]</a:t>
            </a:r>
            <a:r>
              <a:rPr lang="en-US" altLang="zh-CN" sz="1400" b="1" dirty="0">
                <a:latin typeface="+mn-ea"/>
                <a:sym typeface="+mn-ea"/>
              </a:rPr>
              <a:t>+</a:t>
            </a:r>
            <a:r>
              <a:rPr lang="zh-CN" altLang="en-US" sz="1400" b="1" dirty="0">
                <a:latin typeface="宋体" panose="02010600030101010101" pitchFamily="2" charset="-122"/>
                <a:cs typeface="Times New Roman" panose="02020603050405020304" pitchFamily="18" charset="0"/>
                <a:sym typeface="+mn-ea"/>
              </a:rPr>
              <a:t>连接</a:t>
            </a:r>
            <a:r>
              <a:rPr lang="en-US" altLang="zh-CN" sz="1400" b="1" dirty="0">
                <a:latin typeface="+mn-ea"/>
                <a:sym typeface="+mn-ea"/>
              </a:rPr>
              <a:t>)</a:t>
            </a:r>
            <a:endParaRPr lang="zh-CN" altLang="en-US" sz="1400" b="1" dirty="0">
              <a:latin typeface="+mn-ea"/>
              <a:sym typeface="+mn-ea"/>
            </a:endParaRPr>
          </a:p>
          <a:p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  <a:sym typeface="+mn-ea"/>
              </a:rPr>
              <a:t>④</a:t>
            </a:r>
            <a:r>
              <a:rPr lang="en-US" altLang="zh-CN" sz="1600" b="1" dirty="0">
                <a:latin typeface="+mn-ea"/>
                <a:sym typeface="+mn-ea"/>
              </a:rPr>
              <a:t>Cache</a:t>
            </a:r>
            <a:r>
              <a:rPr lang="en-US" altLang="zh-CN" sz="1400" b="1" dirty="0">
                <a:latin typeface="+mn-ea"/>
                <a:sym typeface="+mn-ea"/>
              </a:rPr>
              <a:t>(</a:t>
            </a:r>
            <a:r>
              <a:rPr lang="zh-CN" altLang="en-US" sz="1400" b="1" dirty="0">
                <a:latin typeface="+mn-ea"/>
                <a:sym typeface="+mn-ea"/>
              </a:rPr>
              <a:t>块交换→</a:t>
            </a:r>
            <a:r>
              <a:rPr lang="en-US" altLang="zh-CN" sz="1400" b="1" dirty="0">
                <a:latin typeface="+mn-ea"/>
                <a:sym typeface="+mn-ea"/>
              </a:rPr>
              <a:t>…</a:t>
            </a:r>
            <a:r>
              <a:rPr lang="zh-CN" altLang="en-US" sz="1400" b="1" dirty="0">
                <a:latin typeface="+mn-ea"/>
                <a:sym typeface="+mn-ea"/>
              </a:rPr>
              <a:t>控制器</a:t>
            </a:r>
            <a:r>
              <a:rPr lang="en-US" altLang="zh-CN" sz="1400" b="1" dirty="0">
                <a:latin typeface="+mn-ea"/>
                <a:sym typeface="+mn-ea"/>
              </a:rPr>
              <a:t>)</a:t>
            </a:r>
            <a:endParaRPr lang="zh-CN" altLang="en-US" sz="1400" b="1" dirty="0">
              <a:latin typeface="+mn-ea"/>
              <a:sym typeface="+mn-ea"/>
            </a:endParaRPr>
          </a:p>
          <a:p>
            <a:r>
              <a:rPr lang="zh-CN" altLang="en-US" sz="1600" b="1" dirty="0">
                <a:latin typeface="+mn-ea"/>
                <a:sym typeface="+mn-ea"/>
              </a:rPr>
              <a:t> </a:t>
            </a:r>
            <a:r>
              <a:rPr lang="en-US" altLang="zh-CN" sz="1600" b="1" dirty="0">
                <a:latin typeface="+mn-ea"/>
                <a:sym typeface="+mn-ea"/>
              </a:rPr>
              <a:t>⑤</a:t>
            </a:r>
            <a:r>
              <a:rPr lang="zh-CN" altLang="en-US" sz="1600" b="1" dirty="0">
                <a:latin typeface="+mn-ea"/>
                <a:sym typeface="+mn-ea"/>
              </a:rPr>
              <a:t>虚存</a:t>
            </a:r>
            <a:r>
              <a:rPr lang="en-US" altLang="zh-CN" sz="1400" b="1" dirty="0">
                <a:latin typeface="+mn-ea"/>
                <a:sym typeface="+mn-ea"/>
              </a:rPr>
              <a:t>(</a:t>
            </a:r>
            <a:r>
              <a:rPr lang="zh-CN" altLang="en-US" sz="1400" b="1" dirty="0">
                <a:latin typeface="+mn-ea"/>
                <a:sym typeface="+mn-ea"/>
              </a:rPr>
              <a:t>页交换→</a:t>
            </a:r>
            <a:r>
              <a:rPr lang="en-US" altLang="zh-CN" sz="1400" b="1" dirty="0">
                <a:latin typeface="+mn-ea"/>
                <a:sym typeface="+mn-ea"/>
              </a:rPr>
              <a:t>…</a:t>
            </a:r>
            <a:r>
              <a:rPr lang="en-US" altLang="zh-CN" sz="1400" b="1" dirty="0">
                <a:latin typeface="宋体" panose="02010600030101010101" pitchFamily="2" charset="-122"/>
                <a:cs typeface="Times New Roman" panose="02020603050405020304" pitchFamily="18" charset="0"/>
                <a:sym typeface="+mn-ea"/>
              </a:rPr>
              <a:t>MMU+</a:t>
            </a:r>
            <a:r>
              <a:rPr lang="zh-CN" altLang="en-US" sz="1400" b="1" dirty="0">
                <a:latin typeface="宋体" panose="02010600030101010101" pitchFamily="2" charset="-122"/>
                <a:cs typeface="Times New Roman" panose="02020603050405020304" pitchFamily="18" charset="0"/>
                <a:sym typeface="+mn-ea"/>
              </a:rPr>
              <a:t>软件</a:t>
            </a:r>
            <a:r>
              <a:rPr lang="en-US" altLang="zh-CN" sz="1400" b="1" dirty="0">
                <a:latin typeface="+mn-ea"/>
                <a:sym typeface="+mn-ea"/>
              </a:rPr>
              <a:t>)</a:t>
            </a:r>
          </a:p>
        </p:txBody>
      </p:sp>
      <p:cxnSp>
        <p:nvCxnSpPr>
          <p:cNvPr id="587" name="直接连接符 586">
            <a:extLst>
              <a:ext uri="{FF2B5EF4-FFF2-40B4-BE49-F238E27FC236}">
                <a16:creationId xmlns:a16="http://schemas.microsoft.com/office/drawing/2014/main" id="{F80F2D04-3CA5-417B-BF31-94111008AEF8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20000" y="3204000"/>
            <a:ext cx="2160000" cy="1620000"/>
          </a:xfrm>
          <a:prstGeom prst="line">
            <a:avLst/>
          </a:prstGeom>
          <a:noFill/>
          <a:ln w="9525" cap="flat" cmpd="sng" algn="ctr">
            <a:solidFill>
              <a:srgbClr val="CC6600"/>
            </a:solidFill>
            <a:prstDash val="sysDash"/>
            <a:round/>
            <a:headEnd type="none" w="med" len="med"/>
            <a:tailEnd type="triangle" w="med" len="med"/>
          </a:ln>
        </p:spPr>
      </p:cxnSp>
      <p:sp>
        <p:nvSpPr>
          <p:cNvPr id="588" name="Text Box 291">
            <a:extLst>
              <a:ext uri="{FF2B5EF4-FFF2-40B4-BE49-F238E27FC236}">
                <a16:creationId xmlns:a16="http://schemas.microsoft.com/office/drawing/2014/main" id="{455574C7-3590-436E-A38B-8CDE97840A25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7199795" y="3420145"/>
            <a:ext cx="467995" cy="252095"/>
          </a:xfrm>
          <a:prstGeom prst="rect">
            <a:avLst/>
          </a:prstGeom>
          <a:solidFill>
            <a:srgbClr val="FFCC99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r>
              <a:rPr lang="en-US" altLang="zh-CN" sz="1200" b="1" dirty="0">
                <a:latin typeface="宋体" panose="02010600030101010101" pitchFamily="2" charset="-122"/>
              </a:rPr>
              <a:t>Cache</a:t>
            </a:r>
          </a:p>
        </p:txBody>
      </p:sp>
      <p:sp>
        <p:nvSpPr>
          <p:cNvPr id="589" name="Text Box 276">
            <a:extLst>
              <a:ext uri="{FF2B5EF4-FFF2-40B4-BE49-F238E27FC236}">
                <a16:creationId xmlns:a16="http://schemas.microsoft.com/office/drawing/2014/main" id="{A8C21A68-E709-4A4D-989F-C207283E439E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731800" y="3276000"/>
            <a:ext cx="360045" cy="179705"/>
          </a:xfrm>
          <a:prstGeom prst="rect">
            <a:avLst/>
          </a:prstGeom>
          <a:solidFill>
            <a:srgbClr val="CC99FF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r>
              <a:rPr lang="en-US" altLang="zh-CN" sz="1200" b="1" dirty="0">
                <a:latin typeface="宋体" panose="02010600030101010101" pitchFamily="2" charset="-122"/>
              </a:rPr>
              <a:t>MMU</a:t>
            </a:r>
          </a:p>
        </p:txBody>
      </p:sp>
      <p:sp>
        <p:nvSpPr>
          <p:cNvPr id="590" name="Text Box 291">
            <a:extLst>
              <a:ext uri="{FF2B5EF4-FFF2-40B4-BE49-F238E27FC236}">
                <a16:creationId xmlns:a16="http://schemas.microsoft.com/office/drawing/2014/main" id="{06E77CBF-B02C-4132-A472-B0B7F40FA4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800" y="2880000"/>
            <a:ext cx="576000" cy="360045"/>
          </a:xfrm>
          <a:prstGeom prst="rect">
            <a:avLst/>
          </a:prstGeom>
          <a:solidFill>
            <a:srgbClr val="FFFFFF"/>
          </a:solidFill>
          <a:ln w="12700">
            <a:noFill/>
            <a:miter lim="800000"/>
          </a:ln>
          <a:effectLst/>
        </p:spPr>
        <p:txBody>
          <a:bodyPr lIns="0" tIns="0" rIns="0" bIns="0" anchor="ctr"/>
          <a:lstStyle/>
          <a:p>
            <a:pPr algn="ctr">
              <a:spcBef>
                <a:spcPts val="300"/>
              </a:spcBef>
            </a:pPr>
            <a:r>
              <a:rPr lang="zh-CN" altLang="en-US" sz="1200" b="1" dirty="0">
                <a:latin typeface="宋体" panose="02010600030101010101" pitchFamily="2" charset="-122"/>
              </a:rPr>
              <a:t>同</a:t>
            </a:r>
            <a:r>
              <a:rPr lang="en-US" altLang="zh-CN" sz="1200" b="1" dirty="0">
                <a:latin typeface="宋体" panose="02010600030101010101" pitchFamily="2" charset="-122"/>
              </a:rPr>
              <a:t>/</a:t>
            </a:r>
            <a:r>
              <a:rPr lang="zh-CN" altLang="en-US" sz="1200" b="1" dirty="0">
                <a:latin typeface="宋体" panose="02010600030101010101" pitchFamily="2" charset="-122"/>
              </a:rPr>
              <a:t>异步</a:t>
            </a:r>
            <a:endParaRPr lang="en-US" altLang="zh-CN" sz="1200" b="1" dirty="0">
              <a:latin typeface="宋体" panose="02010600030101010101" pitchFamily="2" charset="-122"/>
            </a:endParaRPr>
          </a:p>
          <a:p>
            <a:pPr algn="ctr">
              <a:lnSpc>
                <a:spcPct val="90000"/>
              </a:lnSpc>
            </a:pPr>
            <a:r>
              <a:rPr lang="zh-CN" altLang="en-US" sz="1200" b="1" dirty="0">
                <a:latin typeface="宋体" panose="02010600030101010101" pitchFamily="2" charset="-122"/>
              </a:rPr>
              <a:t>单</a:t>
            </a:r>
            <a:r>
              <a:rPr lang="en-US" altLang="zh-CN" sz="1200" b="1" dirty="0">
                <a:latin typeface="宋体" panose="02010600030101010101" pitchFamily="2" charset="-122"/>
              </a:rPr>
              <a:t>/</a:t>
            </a:r>
            <a:r>
              <a:rPr lang="zh-CN" altLang="en-US" sz="1200" b="1" dirty="0">
                <a:latin typeface="宋体" panose="02010600030101010101" pitchFamily="2" charset="-122"/>
              </a:rPr>
              <a:t>多体</a:t>
            </a:r>
            <a:endParaRPr lang="en-US" altLang="zh-CN" sz="1400" b="1" dirty="0">
              <a:latin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03470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5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5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8" grpId="0" animBg="1"/>
      <p:bldP spid="589" grpId="0" animBg="1"/>
      <p:bldP spid="59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E20F820-96D8-49E8-8DE0-4760E06CE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t>34</a:t>
            </a:fld>
            <a:endParaRPr lang="en-US" altLang="zh-CN" dirty="0"/>
          </a:p>
        </p:txBody>
      </p:sp>
      <p:sp>
        <p:nvSpPr>
          <p:cNvPr id="103" name="Text Box 5">
            <a:extLst>
              <a:ext uri="{FF2B5EF4-FFF2-40B4-BE49-F238E27FC236}">
                <a16:creationId xmlns:a16="http://schemas.microsoft.com/office/drawing/2014/main" id="{D2284A83-EBBF-46F8-BDE9-BBEFD1E1B1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000" y="332740"/>
            <a:ext cx="6491322" cy="6201121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系统的组成： 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任务：</a:t>
            </a:r>
            <a:r>
              <a: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</a:rPr>
              <a:t>实现</a:t>
            </a:r>
            <a:r>
              <a:rPr lang="zh-CN" altLang="en-US" sz="1600" b="1" dirty="0">
                <a:latin typeface="宋体" panose="02010600030101010101" pitchFamily="2" charset="-122"/>
              </a:rPr>
              <a:t>主机</a:t>
            </a:r>
            <a:r>
              <a:rPr lang="en-US" altLang="zh-CN" sz="1600" b="1" dirty="0">
                <a:latin typeface="宋体" panose="02010600030101010101" pitchFamily="2" charset="-122"/>
              </a:rPr>
              <a:t>-</a:t>
            </a:r>
            <a:r>
              <a:rPr lang="zh-CN" altLang="en-US" sz="1600" b="1" dirty="0">
                <a:latin typeface="宋体" panose="02010600030101010101" pitchFamily="2" charset="-122"/>
              </a:rPr>
              <a:t>外设的数据交换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总线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        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实现部件互连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操作过程：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仲裁方法：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传输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&amp;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定时：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</a:pPr>
            <a:endParaRPr lang="en-US" altLang="zh-CN" sz="16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</a:pPr>
            <a:endParaRPr lang="en-US" altLang="zh-CN" sz="16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外设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-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主机的联系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 </a:t>
            </a:r>
            <a:r>
              <a:rPr lang="en-US" altLang="zh-CN" sz="1600" b="1" dirty="0">
                <a:latin typeface="宋体" panose="02010600030101010101" pitchFamily="2" charset="-122"/>
              </a:rPr>
              <a:t>(I/O</a:t>
            </a:r>
            <a:r>
              <a:rPr lang="zh-CN" altLang="en-US" sz="1600" b="1" dirty="0">
                <a:latin typeface="宋体" panose="02010600030101010101" pitchFamily="2" charset="-122"/>
              </a:rPr>
              <a:t>的软硬件关联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外设连接：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I/O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端口编址：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目标识别：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</a:pPr>
            <a:endParaRPr lang="en-US" altLang="zh-CN" sz="16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通信联络：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接口组成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      功能＝暂存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+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中转，</a:t>
            </a:r>
            <a:endParaRPr lang="en-US" altLang="zh-CN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I/O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端口</a:t>
            </a:r>
            <a:r>
              <a:rPr lang="zh-CN" altLang="en-US" sz="2000" b="1" dirty="0">
                <a:latin typeface="宋体" panose="02010600030101010101" pitchFamily="2" charset="-122"/>
              </a:rPr>
              <a:t>有</a:t>
            </a:r>
            <a:r>
              <a:rPr lang="en-US" altLang="zh-CN" sz="2000" b="1" dirty="0">
                <a:latin typeface="宋体" panose="02010600030101010101" pitchFamily="2" charset="-122"/>
              </a:rPr>
              <a:t>3</a:t>
            </a:r>
            <a:r>
              <a:rPr lang="zh-CN" altLang="en-US" sz="2000" b="1" dirty="0">
                <a:latin typeface="宋体" panose="02010600030101010101" pitchFamily="2" charset="-122"/>
              </a:rPr>
              <a:t>种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均通过</a:t>
            </a:r>
            <a:r>
              <a:rPr lang="en-US" altLang="zh-CN" sz="1600" b="1" dirty="0" err="1">
                <a:latin typeface="宋体" panose="02010600030101010101" pitchFamily="2" charset="-122"/>
              </a:rPr>
              <a:t>DBus</a:t>
            </a:r>
            <a:r>
              <a:rPr lang="zh-CN" altLang="en-US" sz="1600" b="1" dirty="0">
                <a:latin typeface="宋体" panose="02010600030101010101" pitchFamily="2" charset="-122"/>
              </a:rPr>
              <a:t>传送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I/O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方式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 </a:t>
            </a:r>
            <a:r>
              <a:rPr lang="en-US" altLang="zh-CN" sz="1600" b="1" dirty="0">
                <a:latin typeface="宋体" panose="02010600030101010101" pitchFamily="2" charset="-122"/>
              </a:rPr>
              <a:t>(I/O</a:t>
            </a:r>
            <a:r>
              <a:rPr lang="zh-CN" altLang="en-US" sz="1600" b="1" dirty="0">
                <a:latin typeface="宋体" panose="02010600030101010101" pitchFamily="2" charset="-122"/>
              </a:rPr>
              <a:t>的软件组织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</a:p>
        </p:txBody>
      </p:sp>
      <p:sp>
        <p:nvSpPr>
          <p:cNvPr id="104" name="Text Box 5">
            <a:extLst>
              <a:ext uri="{FF2B5EF4-FFF2-40B4-BE49-F238E27FC236}">
                <a16:creationId xmlns:a16="http://schemas.microsoft.com/office/drawing/2014/main" id="{1AC40C50-84EE-4372-B7CC-E5BAC6F8C2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688" y="1124744"/>
            <a:ext cx="7272000" cy="3846315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 wrap="square" tIns="10800" bIns="4680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zh-CN" altLang="en-US" sz="2000" b="1" dirty="0">
                <a:latin typeface="宋体" panose="02010600030101010101" pitchFamily="2" charset="-122"/>
              </a:rPr>
              <a:t>    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＝</a:t>
            </a:r>
            <a:r>
              <a:rPr lang="zh-CN" altLang="en-US" sz="2000" b="1" dirty="0">
                <a:latin typeface="宋体" panose="02010600030101010101" pitchFamily="2" charset="-122"/>
              </a:rPr>
              <a:t>仲裁＋寻址＋传送＋结束 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latin typeface="宋体" panose="02010600030101010101" pitchFamily="2" charset="-122"/>
              </a:rPr>
              <a:t>    </a:t>
            </a:r>
            <a:r>
              <a:rPr lang="zh-CN" altLang="en-US" sz="2000" b="1" dirty="0">
                <a:latin typeface="宋体" panose="02010600030101010101" pitchFamily="2" charset="-122"/>
              </a:rPr>
              <a:t>集中式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链式查询</a:t>
            </a:r>
            <a:r>
              <a:rPr lang="en-US" altLang="zh-CN" sz="1600" b="1" dirty="0"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</a:rPr>
              <a:t>计数器定时查询</a:t>
            </a:r>
            <a:r>
              <a:rPr lang="en-US" altLang="zh-CN" sz="1600" b="1" dirty="0"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</a:rPr>
              <a:t>独立请求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</a:rPr>
              <a:t>，分布式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latin typeface="宋体" panose="02010600030101010101" pitchFamily="2" charset="-122"/>
              </a:rPr>
              <a:t>     </a:t>
            </a:r>
            <a:r>
              <a:rPr lang="zh-CN" altLang="en-US" sz="2000" b="1" u="sng" dirty="0">
                <a:latin typeface="宋体" panose="02010600030101010101" pitchFamily="2" charset="-122"/>
              </a:rPr>
              <a:t>传输过程</a:t>
            </a:r>
            <a:r>
              <a:rPr lang="zh-CN" altLang="en-US" sz="2000" b="1" dirty="0">
                <a:latin typeface="宋体" panose="02010600030101010101" pitchFamily="2" charset="-122"/>
              </a:rPr>
              <a:t>用</a:t>
            </a:r>
            <a:r>
              <a:rPr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协议</a:t>
            </a:r>
            <a:r>
              <a:rPr lang="zh-CN" altLang="en-US" sz="2000" b="1" dirty="0">
                <a:latin typeface="宋体" panose="02010600030101010101" pitchFamily="2" charset="-122"/>
              </a:rPr>
              <a:t>约定，</a:t>
            </a:r>
            <a:r>
              <a:rPr lang="zh-CN" altLang="en-US" sz="2000" b="1" u="sng" dirty="0">
                <a:latin typeface="宋体" panose="02010600030101010101" pitchFamily="2" charset="-122"/>
              </a:rPr>
              <a:t>步骤定时</a:t>
            </a:r>
            <a:r>
              <a:rPr lang="zh-CN" altLang="en-US" sz="2000" b="1" dirty="0">
                <a:latin typeface="宋体" panose="02010600030101010101" pitchFamily="2" charset="-122"/>
              </a:rPr>
              <a:t>有</a:t>
            </a:r>
            <a:r>
              <a:rPr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同步</a:t>
            </a:r>
            <a:r>
              <a:rPr lang="en-US" altLang="zh-CN" sz="20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异步</a:t>
            </a:r>
            <a:r>
              <a:rPr lang="en-US" altLang="zh-CN" sz="20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半同步</a:t>
            </a:r>
            <a:endParaRPr lang="en-US" altLang="zh-CN" sz="2000" b="1" u="sng" dirty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>
              <a:spcBef>
                <a:spcPts val="0"/>
              </a:spcBef>
            </a:pPr>
            <a:r>
              <a:rPr lang="en-US" altLang="zh-CN" sz="1600" b="1" dirty="0">
                <a:latin typeface="+mn-ea"/>
                <a:ea typeface="+mn-ea"/>
              </a:rPr>
              <a:t>                    </a:t>
            </a:r>
            <a:r>
              <a:rPr lang="en-US" altLang="zh-CN" sz="1600" dirty="0">
                <a:latin typeface="+mn-ea"/>
                <a:ea typeface="+mn-ea"/>
              </a:rPr>
              <a:t>├</a:t>
            </a:r>
            <a:r>
              <a:rPr lang="en-US" altLang="zh-CN" sz="1600" b="1" dirty="0">
                <a:latin typeface="+mn-ea"/>
                <a:ea typeface="+mn-ea"/>
              </a:rPr>
              <a:t>←</a:t>
            </a:r>
            <a:r>
              <a:rPr lang="zh-CN" altLang="en-US" sz="1600" b="1" dirty="0">
                <a:solidFill>
                  <a:srgbClr val="FF3399"/>
                </a:solidFill>
                <a:latin typeface="+mn-ea"/>
                <a:ea typeface="+mn-ea"/>
              </a:rPr>
              <a:t>读＝</a:t>
            </a:r>
            <a:r>
              <a:rPr lang="zh-CN" altLang="en-US" sz="1600" b="1" dirty="0">
                <a:latin typeface="+mn-ea"/>
                <a:ea typeface="+mn-ea"/>
              </a:rPr>
              <a:t>送地址</a:t>
            </a:r>
            <a:r>
              <a:rPr lang="en-US" altLang="zh-CN" sz="1600" b="1" dirty="0">
                <a:latin typeface="+mn-ea"/>
                <a:ea typeface="+mn-ea"/>
              </a:rPr>
              <a:t>/</a:t>
            </a:r>
            <a:r>
              <a:rPr lang="zh-CN" altLang="en-US" sz="1600" b="1" dirty="0">
                <a:latin typeface="+mn-ea"/>
                <a:ea typeface="+mn-ea"/>
              </a:rPr>
              <a:t>命令＋等待响应＋</a:t>
            </a:r>
            <a:r>
              <a:rPr lang="zh-CN" altLang="en-US" sz="1600" b="1" dirty="0">
                <a:highlight>
                  <a:srgbClr val="CCFFFF"/>
                </a:highlight>
                <a:latin typeface="+mn-ea"/>
                <a:ea typeface="+mn-ea"/>
              </a:rPr>
              <a:t>传送数据</a:t>
            </a:r>
            <a:r>
              <a:rPr lang="zh-CN" altLang="en-US" sz="1600" b="1" dirty="0">
                <a:latin typeface="+mn-ea"/>
                <a:ea typeface="+mn-ea"/>
              </a:rPr>
              <a:t>＋结束</a:t>
            </a:r>
            <a:endParaRPr lang="en-US" altLang="zh-CN" sz="1600" b="1" dirty="0">
              <a:latin typeface="+mn-ea"/>
              <a:ea typeface="+mn-ea"/>
            </a:endParaRPr>
          </a:p>
          <a:p>
            <a:pPr>
              <a:lnSpc>
                <a:spcPct val="105000"/>
              </a:lnSpc>
              <a:spcBef>
                <a:spcPts val="0"/>
              </a:spcBef>
            </a:pPr>
            <a:r>
              <a:rPr lang="en-US" altLang="zh-CN" sz="1600" b="1" dirty="0">
                <a:latin typeface="+mn-ea"/>
                <a:ea typeface="+mn-ea"/>
              </a:rPr>
              <a:t>                    </a:t>
            </a:r>
            <a:r>
              <a:rPr lang="en-US" altLang="zh-CN" sz="1600" dirty="0">
                <a:latin typeface="+mn-ea"/>
                <a:ea typeface="+mn-ea"/>
              </a:rPr>
              <a:t>└</a:t>
            </a:r>
            <a:r>
              <a:rPr lang="en-US" altLang="zh-CN" sz="1600" b="1" dirty="0">
                <a:latin typeface="+mn-ea"/>
                <a:ea typeface="+mn-ea"/>
              </a:rPr>
              <a:t>←</a:t>
            </a:r>
            <a:r>
              <a:rPr lang="zh-CN" altLang="en-US" sz="1600" b="1" dirty="0">
                <a:solidFill>
                  <a:srgbClr val="FF3399"/>
                </a:solidFill>
                <a:latin typeface="+mn-ea"/>
                <a:ea typeface="+mn-ea"/>
              </a:rPr>
              <a:t>写＝</a:t>
            </a:r>
            <a:r>
              <a:rPr lang="zh-CN" altLang="en-US" sz="1600" b="1" dirty="0">
                <a:latin typeface="+mn-ea"/>
                <a:ea typeface="+mn-ea"/>
              </a:rPr>
              <a:t>送地址</a:t>
            </a:r>
            <a:r>
              <a:rPr lang="en-US" altLang="zh-CN" sz="1600" b="1" dirty="0">
                <a:latin typeface="+mn-ea"/>
                <a:ea typeface="+mn-ea"/>
              </a:rPr>
              <a:t>/</a:t>
            </a:r>
            <a:r>
              <a:rPr lang="zh-CN" altLang="en-US" sz="1600" b="1" dirty="0">
                <a:latin typeface="+mn-ea"/>
                <a:ea typeface="+mn-ea"/>
              </a:rPr>
              <a:t>命令＋</a:t>
            </a:r>
            <a:r>
              <a:rPr lang="zh-CN" altLang="en-US" sz="1600" b="1" dirty="0">
                <a:highlight>
                  <a:srgbClr val="CCFFFF"/>
                </a:highlight>
                <a:latin typeface="+mn-ea"/>
                <a:ea typeface="+mn-ea"/>
              </a:rPr>
              <a:t>传送数据</a:t>
            </a:r>
            <a:r>
              <a:rPr lang="zh-CN" altLang="en-US" sz="1600" b="1" dirty="0">
                <a:latin typeface="+mn-ea"/>
                <a:ea typeface="+mn-ea"/>
              </a:rPr>
              <a:t>＋等待响应＋结束</a:t>
            </a:r>
            <a:endParaRPr lang="en-US" altLang="zh-CN" sz="1600" b="1" dirty="0">
              <a:latin typeface="+mn-ea"/>
              <a:ea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latin typeface="宋体" panose="02010600030101010101" pitchFamily="2" charset="-122"/>
              </a:rPr>
              <a:t>    </a:t>
            </a:r>
            <a:r>
              <a:rPr lang="zh-CN" altLang="en-US" sz="2000" b="1" dirty="0">
                <a:latin typeface="宋体" panose="02010600030101010101" pitchFamily="2" charset="-122"/>
              </a:rPr>
              <a:t>接口中含</a:t>
            </a:r>
            <a:r>
              <a:rPr lang="en-US" altLang="zh-CN" sz="20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sz="20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端口</a:t>
            </a:r>
            <a:r>
              <a:rPr lang="zh-CN" altLang="en-US" sz="2000" b="1" dirty="0">
                <a:latin typeface="宋体" panose="02010600030101010101" pitchFamily="2" charset="-122"/>
              </a:rPr>
              <a:t>，</a:t>
            </a:r>
            <a:r>
              <a:rPr lang="en-US" altLang="zh-CN" sz="2000" b="1" dirty="0">
                <a:latin typeface="宋体" panose="02010600030101010101" pitchFamily="2" charset="-122"/>
              </a:rPr>
              <a:t>I/O</a:t>
            </a:r>
            <a:r>
              <a:rPr lang="zh-CN" altLang="en-US" sz="2000" b="1" dirty="0">
                <a:latin typeface="宋体" panose="02010600030101010101" pitchFamily="2" charset="-122"/>
              </a:rPr>
              <a:t>过程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en-US" altLang="zh-CN" sz="1600" b="1" dirty="0">
                <a:solidFill>
                  <a:srgbClr val="0070C0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</a:rPr>
              <a:t>段式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</a:rPr>
              <a:t>，</a:t>
            </a:r>
            <a:r>
              <a:rPr lang="en-US" altLang="zh-CN" sz="2000" b="1" dirty="0">
                <a:latin typeface="宋体" panose="02010600030101010101" pitchFamily="2" charset="-122"/>
              </a:rPr>
              <a:t>I/O</a:t>
            </a:r>
            <a:r>
              <a:rPr lang="zh-CN" altLang="en-US" sz="2000" b="1" dirty="0">
                <a:latin typeface="宋体" panose="02010600030101010101" pitchFamily="2" charset="-122"/>
              </a:rPr>
              <a:t>指令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en-US" altLang="zh-CN" sz="1600" b="1" dirty="0">
                <a:solidFill>
                  <a:srgbClr val="0070C0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</a:rPr>
              <a:t>端口</a:t>
            </a:r>
            <a:r>
              <a:rPr lang="en-US" altLang="zh-CN" sz="1600" b="1" dirty="0">
                <a:solidFill>
                  <a:srgbClr val="0070C0"/>
                </a:solidFill>
                <a:latin typeface="宋体" panose="02010600030101010101" pitchFamily="2" charset="-122"/>
              </a:rPr>
              <a:t>-GPR</a:t>
            </a:r>
            <a:r>
              <a:rPr lang="zh-CN" altLang="en-US" sz="1600" b="1" dirty="0">
                <a:solidFill>
                  <a:srgbClr val="0070C0"/>
                </a:solidFill>
                <a:latin typeface="宋体" panose="02010600030101010101" pitchFamily="2" charset="-122"/>
              </a:rPr>
              <a:t>间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latin typeface="宋体" panose="02010600030101010101" pitchFamily="2" charset="-122"/>
              </a:rPr>
              <a:t>       </a:t>
            </a:r>
            <a:r>
              <a:rPr lang="zh-CN" altLang="en-US" sz="2000" b="1" dirty="0">
                <a:latin typeface="宋体" panose="02010600030101010101" pitchFamily="2" charset="-122"/>
              </a:rPr>
              <a:t>独立</a:t>
            </a:r>
            <a:r>
              <a:rPr lang="en-US" altLang="zh-CN" sz="2000" b="1" dirty="0">
                <a:latin typeface="宋体" panose="02010600030101010101" pitchFamily="2" charset="-122"/>
              </a:rPr>
              <a:t>/</a:t>
            </a:r>
            <a:r>
              <a:rPr lang="zh-CN" altLang="en-US" sz="2000" b="1" dirty="0">
                <a:latin typeface="宋体" panose="02010600030101010101" pitchFamily="2" charset="-122"/>
              </a:rPr>
              <a:t>统一编址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单元长度同主存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en-US" altLang="zh-CN" sz="2000" b="1" dirty="0">
                <a:latin typeface="宋体" panose="02010600030101010101" pitchFamily="2" charset="-122"/>
              </a:rPr>
              <a:t>  </a:t>
            </a:r>
            <a:r>
              <a:rPr lang="en-US" altLang="zh-CN" sz="1600" b="1" dirty="0">
                <a:latin typeface="宋体" panose="02010600030101010101" pitchFamily="2" charset="-122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</a:rPr>
              <a:t>影响</a:t>
            </a:r>
            <a:r>
              <a:rPr lang="en-US" altLang="zh-CN" sz="1600" b="1" dirty="0">
                <a:latin typeface="宋体" panose="02010600030101010101" pitchFamily="2" charset="-122"/>
              </a:rPr>
              <a:t>ISA&amp;</a:t>
            </a:r>
            <a:r>
              <a:rPr lang="zh-CN" altLang="en-US" sz="1600" b="1" dirty="0">
                <a:latin typeface="宋体" panose="02010600030101010101" pitchFamily="2" charset="-122"/>
              </a:rPr>
              <a:t>总线事务的组织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spc="-50" dirty="0">
                <a:latin typeface="宋体" panose="02010600030101010101" pitchFamily="2" charset="-122"/>
              </a:rPr>
              <a:t>    I/O</a:t>
            </a:r>
            <a:r>
              <a:rPr lang="zh-CN" altLang="en-US" sz="2000" b="1" spc="-50" dirty="0">
                <a:latin typeface="宋体" panose="02010600030101010101" pitchFamily="2" charset="-122"/>
              </a:rPr>
              <a:t>端口地址＝</a:t>
            </a:r>
            <a:r>
              <a:rPr lang="en-US" altLang="zh-CN" sz="2000" b="1" spc="-50" dirty="0">
                <a:latin typeface="宋体" panose="02010600030101010101" pitchFamily="2" charset="-122"/>
              </a:rPr>
              <a:t>&lt;</a:t>
            </a:r>
            <a:r>
              <a:rPr lang="zh-CN" altLang="en-US" sz="2000" b="1" spc="-50" dirty="0">
                <a:latin typeface="宋体" panose="02010600030101010101" pitchFamily="2" charset="-122"/>
              </a:rPr>
              <a:t>设备号</a:t>
            </a:r>
            <a:r>
              <a:rPr lang="en-US" altLang="zh-CN" sz="2000" b="1" spc="-50" dirty="0">
                <a:latin typeface="宋体" panose="02010600030101010101" pitchFamily="2" charset="-122"/>
              </a:rPr>
              <a:t>,</a:t>
            </a:r>
            <a:r>
              <a:rPr lang="zh-CN" altLang="en-US" sz="2000" b="1" spc="-50" dirty="0">
                <a:latin typeface="宋体" panose="02010600030101010101" pitchFamily="2" charset="-122"/>
              </a:rPr>
              <a:t>内部序号</a:t>
            </a:r>
            <a:r>
              <a:rPr lang="en-US" altLang="zh-CN" sz="2000" b="1" spc="-50" dirty="0">
                <a:latin typeface="宋体" panose="02010600030101010101" pitchFamily="2" charset="-122"/>
              </a:rPr>
              <a:t>&gt;</a:t>
            </a:r>
            <a:r>
              <a:rPr lang="zh-CN" altLang="en-US" sz="2000" b="1" spc="-50" dirty="0">
                <a:latin typeface="宋体" panose="02010600030101010101" pitchFamily="2" charset="-122"/>
              </a:rPr>
              <a:t>，监视总线、主动判断</a:t>
            </a:r>
            <a:endParaRPr lang="en-US" altLang="zh-CN" sz="2000" b="1" spc="-50" dirty="0"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spc="-50" dirty="0">
                <a:latin typeface="宋体" panose="02010600030101010101" pitchFamily="2" charset="-122"/>
              </a:rPr>
              <a:t>                          </a:t>
            </a:r>
            <a:r>
              <a:rPr lang="en-US" altLang="zh-CN" sz="1600" dirty="0">
                <a:latin typeface="+mn-ea"/>
              </a:rPr>
              <a:t>└</a:t>
            </a:r>
            <a:r>
              <a:rPr lang="en-US" altLang="zh-CN" sz="1600" b="1" dirty="0">
                <a:latin typeface="宋体" panose="02010600030101010101" pitchFamily="2" charset="-122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</a:rPr>
              <a:t>每个</a:t>
            </a:r>
            <a:r>
              <a:rPr lang="en-US" altLang="zh-CN" sz="1600" b="1" spc="-50" dirty="0">
                <a:latin typeface="宋体" panose="02010600030101010101" pitchFamily="2" charset="-122"/>
              </a:rPr>
              <a:t>I/O</a:t>
            </a:r>
            <a:r>
              <a:rPr lang="zh-CN" altLang="en-US" sz="1600" b="1" spc="-50" dirty="0">
                <a:latin typeface="宋体" panose="02010600030101010101" pitchFamily="2" charset="-122"/>
              </a:rPr>
              <a:t>接口仅连</a:t>
            </a:r>
            <a:r>
              <a:rPr lang="en-US" altLang="zh-CN" sz="1600" b="1" spc="-50" dirty="0">
                <a:latin typeface="宋体" panose="02010600030101010101" pitchFamily="2" charset="-122"/>
              </a:rPr>
              <a:t>1</a:t>
            </a:r>
            <a:r>
              <a:rPr lang="zh-CN" altLang="en-US" sz="1600" b="1" spc="-50" dirty="0">
                <a:latin typeface="宋体" panose="02010600030101010101" pitchFamily="2" charset="-122"/>
              </a:rPr>
              <a:t>个设备</a:t>
            </a:r>
            <a:endParaRPr lang="en-US" altLang="zh-CN" sz="1600" b="1" spc="-50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latin typeface="宋体" panose="02010600030101010101" pitchFamily="2" charset="-122"/>
              </a:rPr>
              <a:t>    有直接传送</a:t>
            </a:r>
            <a:r>
              <a:rPr lang="en-US" altLang="zh-CN" sz="2000" b="1" dirty="0">
                <a:latin typeface="宋体" panose="02010600030101010101" pitchFamily="2" charset="-122"/>
              </a:rPr>
              <a:t>/</a:t>
            </a:r>
            <a:r>
              <a:rPr lang="zh-CN" altLang="en-US" sz="2000" b="1" dirty="0">
                <a:latin typeface="宋体" panose="02010600030101010101" pitchFamily="2" charset="-122"/>
              </a:rPr>
              <a:t>异步联络</a:t>
            </a:r>
            <a:r>
              <a:rPr lang="en-US" altLang="zh-CN" sz="2000" b="1" dirty="0">
                <a:latin typeface="宋体" panose="02010600030101010101" pitchFamily="2" charset="-122"/>
              </a:rPr>
              <a:t>/</a:t>
            </a:r>
            <a:r>
              <a:rPr lang="zh-CN" altLang="en-US" sz="2000" b="1" dirty="0">
                <a:latin typeface="宋体" panose="02010600030101010101" pitchFamily="2" charset="-122"/>
              </a:rPr>
              <a:t>同步联络   </a:t>
            </a:r>
            <a:r>
              <a:rPr lang="zh-CN" altLang="en-US" sz="1600" b="1" dirty="0">
                <a:latin typeface="宋体" panose="02010600030101010101" pitchFamily="2" charset="-122"/>
              </a:rPr>
              <a:t>←基于传送方式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有</a:t>
            </a:r>
            <a:r>
              <a:rPr lang="en-US" altLang="zh-CN" sz="1600" b="1" dirty="0"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</a:rPr>
              <a:t>无条件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</a:p>
        </p:txBody>
      </p:sp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5AE868A7-98FE-4140-8239-ECDC29B19C07}"/>
              </a:ext>
            </a:extLst>
          </p:cNvPr>
          <p:cNvGrpSpPr/>
          <p:nvPr/>
        </p:nvGrpSpPr>
        <p:grpSpPr>
          <a:xfrm>
            <a:off x="6048102" y="980481"/>
            <a:ext cx="2752725" cy="510540"/>
            <a:chOff x="5902970" y="719800"/>
            <a:chExt cx="2752725" cy="510540"/>
          </a:xfrm>
        </p:grpSpPr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6C09B417-FD51-4AD9-933F-CCDABFC099C2}"/>
                </a:ext>
              </a:extLst>
            </p:cNvPr>
            <p:cNvCxnSpPr/>
            <p:nvPr>
              <p:custDataLst>
                <p:tags r:id="rId12"/>
              </p:custDataLst>
            </p:nvPr>
          </p:nvCxnSpPr>
          <p:spPr bwMode="auto">
            <a:xfrm flipV="1">
              <a:off x="5902970" y="1080480"/>
              <a:ext cx="2736215" cy="1270"/>
            </a:xfrm>
            <a:prstGeom prst="line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3D639A44-D2AB-4E4A-A3EA-4169678D7703}"/>
                </a:ext>
              </a:extLst>
            </p:cNvPr>
            <p:cNvCxnSpPr/>
            <p:nvPr>
              <p:custDataLst>
                <p:tags r:id="rId13"/>
              </p:custDataLst>
            </p:nvPr>
          </p:nvCxnSpPr>
          <p:spPr bwMode="auto">
            <a:xfrm>
              <a:off x="5902970" y="1152235"/>
              <a:ext cx="2736215" cy="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36E5844C-8070-48CF-9F5F-4090974D1040}"/>
                </a:ext>
              </a:extLst>
            </p:cNvPr>
            <p:cNvCxnSpPr/>
            <p:nvPr>
              <p:custDataLst>
                <p:tags r:id="rId14"/>
              </p:custDataLst>
            </p:nvPr>
          </p:nvCxnSpPr>
          <p:spPr bwMode="auto">
            <a:xfrm>
              <a:off x="5902970" y="1223990"/>
              <a:ext cx="2736215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9" name="Text Box 13">
              <a:extLst>
                <a:ext uri="{FF2B5EF4-FFF2-40B4-BE49-F238E27FC236}">
                  <a16:creationId xmlns:a16="http://schemas.microsoft.com/office/drawing/2014/main" id="{EB65841C-FD97-4C9E-85C1-3621E85B7C93}"/>
                </a:ext>
              </a:extLst>
            </p:cNvPr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7450465" y="719999"/>
              <a:ext cx="504190" cy="21600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</a:rPr>
                <a:t>从</a:t>
              </a:r>
              <a:r>
                <a:rPr lang="en-US" altLang="zh-CN" sz="1600" b="1" dirty="0">
                  <a:latin typeface="+mn-ea"/>
                  <a:ea typeface="+mn-ea"/>
                </a:rPr>
                <a:t>1</a:t>
              </a:r>
            </a:p>
          </p:txBody>
        </p:sp>
        <p:cxnSp>
          <p:nvCxnSpPr>
            <p:cNvPr id="110" name="直接箭头连接符 109">
              <a:extLst>
                <a:ext uri="{FF2B5EF4-FFF2-40B4-BE49-F238E27FC236}">
                  <a16:creationId xmlns:a16="http://schemas.microsoft.com/office/drawing/2014/main" id="{5FEDFE32-B2F0-4082-96E5-035CC0B74C55}"/>
                </a:ext>
              </a:extLst>
            </p:cNvPr>
            <p:cNvCxnSpPr/>
            <p:nvPr>
              <p:custDataLst>
                <p:tags r:id="rId16"/>
              </p:custDataLst>
            </p:nvPr>
          </p:nvCxnSpPr>
          <p:spPr bwMode="auto">
            <a:xfrm flipV="1">
              <a:off x="7559050" y="936335"/>
              <a:ext cx="0" cy="144145"/>
            </a:xfrm>
            <a:prstGeom prst="straightConnector1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11" name="直接箭头连接符 110">
              <a:extLst>
                <a:ext uri="{FF2B5EF4-FFF2-40B4-BE49-F238E27FC236}">
                  <a16:creationId xmlns:a16="http://schemas.microsoft.com/office/drawing/2014/main" id="{A25D2F99-BDA0-417D-AC58-98A44E825327}"/>
                </a:ext>
              </a:extLst>
            </p:cNvPr>
            <p:cNvCxnSpPr/>
            <p:nvPr>
              <p:custDataLst>
                <p:tags r:id="rId17"/>
              </p:custDataLst>
            </p:nvPr>
          </p:nvCxnSpPr>
          <p:spPr bwMode="auto">
            <a:xfrm>
              <a:off x="7667000" y="936335"/>
              <a:ext cx="0" cy="216535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triangle" w="med" len="sm"/>
              <a:tailEnd type="triangle" w="med" len="sm"/>
            </a:ln>
            <a:effectLst/>
          </p:spPr>
        </p:cxnSp>
        <p:cxnSp>
          <p:nvCxnSpPr>
            <p:cNvPr id="112" name="直接箭头连接符 111">
              <a:extLst>
                <a:ext uri="{FF2B5EF4-FFF2-40B4-BE49-F238E27FC236}">
                  <a16:creationId xmlns:a16="http://schemas.microsoft.com/office/drawing/2014/main" id="{2F871F85-50CA-4BA3-92D3-F363D30695F3}"/>
                </a:ext>
              </a:extLst>
            </p:cNvPr>
            <p:cNvCxnSpPr/>
            <p:nvPr>
              <p:custDataLst>
                <p:tags r:id="rId18"/>
              </p:custDataLst>
            </p:nvPr>
          </p:nvCxnSpPr>
          <p:spPr bwMode="auto">
            <a:xfrm flipV="1">
              <a:off x="7810510" y="936335"/>
              <a:ext cx="0" cy="28829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13" name="直接箭头连接符 112">
              <a:extLst>
                <a:ext uri="{FF2B5EF4-FFF2-40B4-BE49-F238E27FC236}">
                  <a16:creationId xmlns:a16="http://schemas.microsoft.com/office/drawing/2014/main" id="{FA29A441-0B1E-4F40-9063-69B08D2CBED6}"/>
                </a:ext>
              </a:extLst>
            </p:cNvPr>
            <p:cNvCxnSpPr/>
            <p:nvPr>
              <p:custDataLst>
                <p:tags r:id="rId19"/>
              </p:custDataLst>
            </p:nvPr>
          </p:nvCxnSpPr>
          <p:spPr bwMode="auto">
            <a:xfrm>
              <a:off x="7882900" y="936335"/>
              <a:ext cx="0" cy="294005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114" name="Text Box 13">
              <a:extLst>
                <a:ext uri="{FF2B5EF4-FFF2-40B4-BE49-F238E27FC236}">
                  <a16:creationId xmlns:a16="http://schemas.microsoft.com/office/drawing/2014/main" id="{75B42D47-45BD-4567-BEF9-FD729808F274}"/>
                </a:ext>
              </a:extLst>
            </p:cNvPr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5902970" y="719999"/>
              <a:ext cx="50419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</a:rPr>
                <a:t>主</a:t>
              </a:r>
              <a:r>
                <a:rPr lang="en-US" altLang="zh-CN" sz="1600" b="1" dirty="0">
                  <a:latin typeface="+mn-ea"/>
                  <a:ea typeface="+mn-ea"/>
                </a:rPr>
                <a:t>1</a:t>
              </a:r>
            </a:p>
          </p:txBody>
        </p:sp>
        <p:cxnSp>
          <p:nvCxnSpPr>
            <p:cNvPr id="115" name="直接箭头连接符 114">
              <a:extLst>
                <a:ext uri="{FF2B5EF4-FFF2-40B4-BE49-F238E27FC236}">
                  <a16:creationId xmlns:a16="http://schemas.microsoft.com/office/drawing/2014/main" id="{DE63CB8D-1A2F-4937-9D5B-B1DE771ABB5D}"/>
                </a:ext>
              </a:extLst>
            </p:cNvPr>
            <p:cNvCxnSpPr/>
            <p:nvPr>
              <p:custDataLst>
                <p:tags r:id="rId21"/>
              </p:custDataLst>
            </p:nvPr>
          </p:nvCxnSpPr>
          <p:spPr bwMode="auto">
            <a:xfrm>
              <a:off x="6010920" y="936335"/>
              <a:ext cx="0" cy="144145"/>
            </a:xfrm>
            <a:prstGeom prst="straightConnector1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16" name="直接箭头连接符 115">
              <a:extLst>
                <a:ext uri="{FF2B5EF4-FFF2-40B4-BE49-F238E27FC236}">
                  <a16:creationId xmlns:a16="http://schemas.microsoft.com/office/drawing/2014/main" id="{F2FC71DE-5FED-442B-AD20-A719E1BF63C6}"/>
                </a:ext>
              </a:extLst>
            </p:cNvPr>
            <p:cNvCxnSpPr/>
            <p:nvPr>
              <p:custDataLst>
                <p:tags r:id="rId22"/>
              </p:custDataLst>
            </p:nvPr>
          </p:nvCxnSpPr>
          <p:spPr bwMode="auto">
            <a:xfrm>
              <a:off x="6154430" y="936335"/>
              <a:ext cx="0" cy="216535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triangle" w="med" len="sm"/>
              <a:tailEnd type="triangle" w="med" len="sm"/>
            </a:ln>
            <a:effectLst/>
          </p:spPr>
        </p:cxnSp>
        <p:cxnSp>
          <p:nvCxnSpPr>
            <p:cNvPr id="117" name="直接箭头连接符 116">
              <a:extLst>
                <a:ext uri="{FF2B5EF4-FFF2-40B4-BE49-F238E27FC236}">
                  <a16:creationId xmlns:a16="http://schemas.microsoft.com/office/drawing/2014/main" id="{65E4CF12-F1BC-4260-865B-34D9E980456E}"/>
                </a:ext>
              </a:extLst>
            </p:cNvPr>
            <p:cNvCxnSpPr/>
            <p:nvPr>
              <p:custDataLst>
                <p:tags r:id="rId23"/>
              </p:custDataLst>
            </p:nvPr>
          </p:nvCxnSpPr>
          <p:spPr bwMode="auto">
            <a:xfrm>
              <a:off x="6263015" y="936335"/>
              <a:ext cx="0" cy="28829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18" name="直接箭头连接符 117">
              <a:extLst>
                <a:ext uri="{FF2B5EF4-FFF2-40B4-BE49-F238E27FC236}">
                  <a16:creationId xmlns:a16="http://schemas.microsoft.com/office/drawing/2014/main" id="{93F2B45B-FB26-469E-989C-8532F91E7156}"/>
                </a:ext>
              </a:extLst>
            </p:cNvPr>
            <p:cNvCxnSpPr/>
            <p:nvPr>
              <p:custDataLst>
                <p:tags r:id="rId24"/>
              </p:custDataLst>
            </p:nvPr>
          </p:nvCxnSpPr>
          <p:spPr bwMode="auto">
            <a:xfrm flipV="1">
              <a:off x="6334770" y="936335"/>
              <a:ext cx="0" cy="28194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119" name="Text Box 13">
              <a:extLst>
                <a:ext uri="{FF2B5EF4-FFF2-40B4-BE49-F238E27FC236}">
                  <a16:creationId xmlns:a16="http://schemas.microsoft.com/office/drawing/2014/main" id="{29FE9259-E50F-44F9-9009-5EBC3231B0B5}"/>
                </a:ext>
              </a:extLst>
            </p:cNvPr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6659890" y="719999"/>
              <a:ext cx="504190" cy="21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</a:rPr>
                <a:t>主</a:t>
              </a:r>
              <a:r>
                <a:rPr lang="en-US" altLang="zh-CN" sz="1600" b="1" dirty="0">
                  <a:latin typeface="+mn-ea"/>
                  <a:ea typeface="+mn-ea"/>
                </a:rPr>
                <a:t>2</a:t>
              </a:r>
            </a:p>
          </p:txBody>
        </p:sp>
        <p:cxnSp>
          <p:nvCxnSpPr>
            <p:cNvPr id="120" name="直接箭头连接符 119">
              <a:extLst>
                <a:ext uri="{FF2B5EF4-FFF2-40B4-BE49-F238E27FC236}">
                  <a16:creationId xmlns:a16="http://schemas.microsoft.com/office/drawing/2014/main" id="{5BF005ED-0D3F-4431-AD1A-47ED66B94126}"/>
                </a:ext>
              </a:extLst>
            </p:cNvPr>
            <p:cNvCxnSpPr/>
            <p:nvPr>
              <p:custDataLst>
                <p:tags r:id="rId26"/>
              </p:custDataLst>
            </p:nvPr>
          </p:nvCxnSpPr>
          <p:spPr bwMode="auto">
            <a:xfrm>
              <a:off x="6767840" y="936335"/>
              <a:ext cx="0" cy="144145"/>
            </a:xfrm>
            <a:prstGeom prst="straightConnector1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21" name="直接箭头连接符 120">
              <a:extLst>
                <a:ext uri="{FF2B5EF4-FFF2-40B4-BE49-F238E27FC236}">
                  <a16:creationId xmlns:a16="http://schemas.microsoft.com/office/drawing/2014/main" id="{BED7B1F1-F2B9-4F49-B1FA-C8277FDB0F39}"/>
                </a:ext>
              </a:extLst>
            </p:cNvPr>
            <p:cNvCxnSpPr/>
            <p:nvPr>
              <p:custDataLst>
                <p:tags r:id="rId27"/>
              </p:custDataLst>
            </p:nvPr>
          </p:nvCxnSpPr>
          <p:spPr bwMode="auto">
            <a:xfrm>
              <a:off x="6911350" y="936335"/>
              <a:ext cx="0" cy="216535"/>
            </a:xfrm>
            <a:prstGeom prst="straightConnector1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triangle" w="med" len="sm"/>
              <a:tailEnd type="triangle" w="med" len="sm"/>
            </a:ln>
            <a:effectLst/>
          </p:spPr>
        </p:cxnSp>
        <p:cxnSp>
          <p:nvCxnSpPr>
            <p:cNvPr id="122" name="直接箭头连接符 121">
              <a:extLst>
                <a:ext uri="{FF2B5EF4-FFF2-40B4-BE49-F238E27FC236}">
                  <a16:creationId xmlns:a16="http://schemas.microsoft.com/office/drawing/2014/main" id="{2B2EC576-F916-4A57-BB3B-F6CBAA65922A}"/>
                </a:ext>
              </a:extLst>
            </p:cNvPr>
            <p:cNvCxnSpPr/>
            <p:nvPr>
              <p:custDataLst>
                <p:tags r:id="rId28"/>
              </p:custDataLst>
            </p:nvPr>
          </p:nvCxnSpPr>
          <p:spPr bwMode="auto">
            <a:xfrm>
              <a:off x="7019935" y="936335"/>
              <a:ext cx="0" cy="28829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23" name="直接箭头连接符 122">
              <a:extLst>
                <a:ext uri="{FF2B5EF4-FFF2-40B4-BE49-F238E27FC236}">
                  <a16:creationId xmlns:a16="http://schemas.microsoft.com/office/drawing/2014/main" id="{F9ABC122-1E7B-4077-AB65-8E0AEFC0FB86}"/>
                </a:ext>
              </a:extLst>
            </p:cNvPr>
            <p:cNvCxnSpPr/>
            <p:nvPr>
              <p:custDataLst>
                <p:tags r:id="rId29"/>
              </p:custDataLst>
            </p:nvPr>
          </p:nvCxnSpPr>
          <p:spPr bwMode="auto">
            <a:xfrm flipV="1">
              <a:off x="7091690" y="936335"/>
              <a:ext cx="0" cy="28194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grpSp>
          <p:nvGrpSpPr>
            <p:cNvPr id="124" name="组合 123">
              <a:extLst>
                <a:ext uri="{FF2B5EF4-FFF2-40B4-BE49-F238E27FC236}">
                  <a16:creationId xmlns:a16="http://schemas.microsoft.com/office/drawing/2014/main" id="{1DD9B8E5-1E29-4223-A25D-6548296A157C}"/>
                </a:ext>
              </a:extLst>
            </p:cNvPr>
            <p:cNvGrpSpPr/>
            <p:nvPr/>
          </p:nvGrpSpPr>
          <p:grpSpPr>
            <a:xfrm>
              <a:off x="8151505" y="719800"/>
              <a:ext cx="504190" cy="510540"/>
              <a:chOff x="5272" y="4138"/>
              <a:chExt cx="794" cy="804"/>
            </a:xfrm>
          </p:grpSpPr>
          <p:sp>
            <p:nvSpPr>
              <p:cNvPr id="125" name="Text Box 13">
                <a:extLst>
                  <a:ext uri="{FF2B5EF4-FFF2-40B4-BE49-F238E27FC236}">
                    <a16:creationId xmlns:a16="http://schemas.microsoft.com/office/drawing/2014/main" id="{1AB94395-0940-413B-A93D-CB6DBD98CBDD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30"/>
                </p:custDataLst>
              </p:nvPr>
            </p:nvSpPr>
            <p:spPr bwMode="auto">
              <a:xfrm>
                <a:off x="5272" y="4138"/>
                <a:ext cx="794" cy="340"/>
              </a:xfrm>
              <a:prstGeom prst="rect">
                <a:avLst/>
              </a:prstGeom>
              <a:solidFill>
                <a:srgbClr val="CCFFFF"/>
              </a:solidFill>
              <a:ln w="15875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600" b="1" dirty="0">
                    <a:latin typeface="+mn-ea"/>
                    <a:ea typeface="+mn-ea"/>
                  </a:rPr>
                  <a:t>从</a:t>
                </a:r>
                <a:r>
                  <a:rPr lang="en-US" altLang="zh-CN" sz="1600" b="1" dirty="0">
                    <a:latin typeface="+mn-ea"/>
                    <a:ea typeface="+mn-ea"/>
                  </a:rPr>
                  <a:t>2</a:t>
                </a:r>
              </a:p>
            </p:txBody>
          </p:sp>
          <p:cxnSp>
            <p:nvCxnSpPr>
              <p:cNvPr id="126" name="直接箭头连接符 125">
                <a:extLst>
                  <a:ext uri="{FF2B5EF4-FFF2-40B4-BE49-F238E27FC236}">
                    <a16:creationId xmlns:a16="http://schemas.microsoft.com/office/drawing/2014/main" id="{BB7B29ED-2460-40EA-979C-43A90CDCFC66}"/>
                  </a:ext>
                </a:extLst>
              </p:cNvPr>
              <p:cNvCxnSpPr/>
              <p:nvPr>
                <p:custDataLst>
                  <p:tags r:id="rId31"/>
                </p:custDataLst>
              </p:nvPr>
            </p:nvCxnSpPr>
            <p:spPr bwMode="auto">
              <a:xfrm flipV="1">
                <a:off x="5443" y="4479"/>
                <a:ext cx="0" cy="227"/>
              </a:xfrm>
              <a:prstGeom prst="straightConnector1">
                <a:avLst/>
              </a:prstGeom>
              <a:noFill/>
              <a:ln w="15875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127" name="直接箭头连接符 126">
                <a:extLst>
                  <a:ext uri="{FF2B5EF4-FFF2-40B4-BE49-F238E27FC236}">
                    <a16:creationId xmlns:a16="http://schemas.microsoft.com/office/drawing/2014/main" id="{EF0975C0-DEB5-4D95-B758-97BBEE49B53F}"/>
                  </a:ext>
                </a:extLst>
              </p:cNvPr>
              <p:cNvCxnSpPr/>
              <p:nvPr>
                <p:custDataLst>
                  <p:tags r:id="rId32"/>
                </p:custDataLst>
              </p:nvPr>
            </p:nvCxnSpPr>
            <p:spPr bwMode="auto">
              <a:xfrm>
                <a:off x="5613" y="4479"/>
                <a:ext cx="0" cy="341"/>
              </a:xfrm>
              <a:prstGeom prst="straightConnector1">
                <a:avLst/>
              </a:prstGeom>
              <a:noFill/>
              <a:ln w="15875" cap="flat" cmpd="sng" algn="ctr">
                <a:solidFill>
                  <a:schemeClr val="accent2"/>
                </a:solidFill>
                <a:prstDash val="solid"/>
                <a:round/>
                <a:headEnd type="triangle" w="med" len="sm"/>
                <a:tailEnd type="triangle" w="med" len="sm"/>
              </a:ln>
              <a:effectLst/>
            </p:spPr>
          </p:cxnSp>
          <p:cxnSp>
            <p:nvCxnSpPr>
              <p:cNvPr id="128" name="直接箭头连接符 127">
                <a:extLst>
                  <a:ext uri="{FF2B5EF4-FFF2-40B4-BE49-F238E27FC236}">
                    <a16:creationId xmlns:a16="http://schemas.microsoft.com/office/drawing/2014/main" id="{49D4BCBA-7A99-4F2D-8A56-E74427A69EC5}"/>
                  </a:ext>
                </a:extLst>
              </p:cNvPr>
              <p:cNvCxnSpPr/>
              <p:nvPr>
                <p:custDataLst>
                  <p:tags r:id="rId33"/>
                </p:custDataLst>
              </p:nvPr>
            </p:nvCxnSpPr>
            <p:spPr bwMode="auto">
              <a:xfrm flipV="1">
                <a:off x="5839" y="4479"/>
                <a:ext cx="0" cy="454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129" name="直接箭头连接符 128">
                <a:extLst>
                  <a:ext uri="{FF2B5EF4-FFF2-40B4-BE49-F238E27FC236}">
                    <a16:creationId xmlns:a16="http://schemas.microsoft.com/office/drawing/2014/main" id="{0B03F5E2-A135-4498-8695-AF409E12EF44}"/>
                  </a:ext>
                </a:extLst>
              </p:cNvPr>
              <p:cNvCxnSpPr/>
              <p:nvPr>
                <p:custDataLst>
                  <p:tags r:id="rId34"/>
                </p:custDataLst>
              </p:nvPr>
            </p:nvCxnSpPr>
            <p:spPr bwMode="auto">
              <a:xfrm>
                <a:off x="5953" y="4479"/>
                <a:ext cx="0" cy="463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</p:grpSp>
      </p:grpSp>
      <p:grpSp>
        <p:nvGrpSpPr>
          <p:cNvPr id="130" name="组合 129">
            <a:extLst>
              <a:ext uri="{FF2B5EF4-FFF2-40B4-BE49-F238E27FC236}">
                <a16:creationId xmlns:a16="http://schemas.microsoft.com/office/drawing/2014/main" id="{F135A758-5A1F-4738-8807-049BD0A0C42A}"/>
              </a:ext>
            </a:extLst>
          </p:cNvPr>
          <p:cNvGrpSpPr/>
          <p:nvPr/>
        </p:nvGrpSpPr>
        <p:grpSpPr>
          <a:xfrm>
            <a:off x="5940152" y="548680"/>
            <a:ext cx="2771960" cy="431900"/>
            <a:chOff x="6084168" y="476672"/>
            <a:chExt cx="2771960" cy="431900"/>
          </a:xfrm>
        </p:grpSpPr>
        <p:sp>
          <p:nvSpPr>
            <p:cNvPr id="131" name="Text Box 107">
              <a:extLst>
                <a:ext uri="{FF2B5EF4-FFF2-40B4-BE49-F238E27FC236}">
                  <a16:creationId xmlns:a16="http://schemas.microsoft.com/office/drawing/2014/main" id="{00807691-7A73-4924-A109-A507BCCDD771}"/>
                </a:ext>
              </a:extLst>
            </p:cNvPr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6084168" y="692672"/>
              <a:ext cx="32385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+mn-ea"/>
                  <a:ea typeface="+mn-ea"/>
                </a:rPr>
                <a:t>BR1</a:t>
              </a:r>
            </a:p>
          </p:txBody>
        </p:sp>
        <p:sp>
          <p:nvSpPr>
            <p:cNvPr id="132" name="Text Box 107">
              <a:extLst>
                <a:ext uri="{FF2B5EF4-FFF2-40B4-BE49-F238E27FC236}">
                  <a16:creationId xmlns:a16="http://schemas.microsoft.com/office/drawing/2014/main" id="{F79C1799-2DDA-4699-BD84-39537A4F0022}"/>
                </a:ext>
              </a:extLst>
            </p:cNvPr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6479773" y="692672"/>
              <a:ext cx="32385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+mn-ea"/>
                  <a:ea typeface="+mn-ea"/>
                </a:rPr>
                <a:t>BG1</a:t>
              </a:r>
            </a:p>
          </p:txBody>
        </p:sp>
        <p:sp>
          <p:nvSpPr>
            <p:cNvPr id="133" name="Text Box 107">
              <a:extLst>
                <a:ext uri="{FF2B5EF4-FFF2-40B4-BE49-F238E27FC236}">
                  <a16:creationId xmlns:a16="http://schemas.microsoft.com/office/drawing/2014/main" id="{B5F771D1-13D5-44AD-9F7F-9B35D83D9BD9}"/>
                </a:ext>
              </a:extLst>
            </p:cNvPr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6840128" y="692672"/>
              <a:ext cx="32385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+mn-ea"/>
                  <a:ea typeface="+mn-ea"/>
                </a:rPr>
                <a:t>BR2</a:t>
              </a:r>
            </a:p>
          </p:txBody>
        </p:sp>
        <p:sp>
          <p:nvSpPr>
            <p:cNvPr id="134" name="Text Box 107">
              <a:extLst>
                <a:ext uri="{FF2B5EF4-FFF2-40B4-BE49-F238E27FC236}">
                  <a16:creationId xmlns:a16="http://schemas.microsoft.com/office/drawing/2014/main" id="{1B1FF643-CE40-4699-842E-E2F07CBB12B3}"/>
                </a:ext>
              </a:extLst>
            </p:cNvPr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7236693" y="692672"/>
              <a:ext cx="32385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+mn-ea"/>
                  <a:ea typeface="+mn-ea"/>
                </a:rPr>
                <a:t>BG2</a:t>
              </a:r>
            </a:p>
          </p:txBody>
        </p:sp>
        <p:sp>
          <p:nvSpPr>
            <p:cNvPr id="135" name="Text Box 31">
              <a:extLst>
                <a:ext uri="{FF2B5EF4-FFF2-40B4-BE49-F238E27FC236}">
                  <a16:creationId xmlns:a16="http://schemas.microsoft.com/office/drawing/2014/main" id="{9EFDD94D-7813-43BC-8100-A27106C4A466}"/>
                </a:ext>
              </a:extLst>
            </p:cNvPr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6193148" y="476672"/>
              <a:ext cx="1188085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+mn-ea"/>
                  <a:ea typeface="+mn-ea"/>
                </a:rPr>
                <a:t>总线仲裁器</a:t>
              </a:r>
              <a:endParaRPr lang="en-US" altLang="zh-CN" sz="1400" b="1" dirty="0">
                <a:latin typeface="+mn-ea"/>
                <a:ea typeface="+mn-ea"/>
              </a:endParaRPr>
            </a:p>
          </p:txBody>
        </p:sp>
        <p:cxnSp>
          <p:nvCxnSpPr>
            <p:cNvPr id="136" name="直接箭头连接符 135">
              <a:extLst>
                <a:ext uri="{FF2B5EF4-FFF2-40B4-BE49-F238E27FC236}">
                  <a16:creationId xmlns:a16="http://schemas.microsoft.com/office/drawing/2014/main" id="{1DCB6DC2-F78E-42A4-A55E-BDA90E639BC5}"/>
                </a:ext>
              </a:extLst>
            </p:cNvPr>
            <p:cNvCxnSpPr/>
            <p:nvPr>
              <p:custDataLst>
                <p:tags r:id="rId7"/>
              </p:custDataLst>
            </p:nvPr>
          </p:nvCxnSpPr>
          <p:spPr bwMode="auto">
            <a:xfrm>
              <a:off x="6479773" y="692672"/>
              <a:ext cx="0" cy="215900"/>
            </a:xfrm>
            <a:prstGeom prst="straightConnector1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37" name="直接箭头连接符 136">
              <a:extLst>
                <a:ext uri="{FF2B5EF4-FFF2-40B4-BE49-F238E27FC236}">
                  <a16:creationId xmlns:a16="http://schemas.microsoft.com/office/drawing/2014/main" id="{5BEBFEBA-B172-4B94-A336-077C5953CAB2}"/>
                </a:ext>
              </a:extLst>
            </p:cNvPr>
            <p:cNvCxnSpPr/>
            <p:nvPr>
              <p:custDataLst>
                <p:tags r:id="rId8"/>
              </p:custDataLst>
            </p:nvPr>
          </p:nvCxnSpPr>
          <p:spPr bwMode="auto">
            <a:xfrm flipV="1">
              <a:off x="6408018" y="692672"/>
              <a:ext cx="0" cy="215900"/>
            </a:xfrm>
            <a:prstGeom prst="straightConnector1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138" name="Text Box 107">
              <a:extLst>
                <a:ext uri="{FF2B5EF4-FFF2-40B4-BE49-F238E27FC236}">
                  <a16:creationId xmlns:a16="http://schemas.microsoft.com/office/drawing/2014/main" id="{48C1DBE9-3373-432D-A91C-FA3BED5573C7}"/>
                </a:ext>
              </a:extLst>
            </p:cNvPr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7740128" y="476672"/>
              <a:ext cx="1116000" cy="36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>
                <a:lnSpc>
                  <a:spcPct val="90000"/>
                </a:lnSpc>
              </a:pPr>
              <a:r>
                <a:rPr lang="en-US" altLang="zh-CN" sz="1400" b="1" dirty="0">
                  <a:latin typeface="+mn-ea"/>
                  <a:ea typeface="+mn-ea"/>
                </a:rPr>
                <a:t>BR—</a:t>
              </a:r>
              <a:r>
                <a:rPr lang="zh-CN" altLang="en-US" sz="1400" b="1" dirty="0">
                  <a:latin typeface="+mn-ea"/>
                  <a:ea typeface="+mn-ea"/>
                </a:rPr>
                <a:t>总线请求</a:t>
              </a:r>
              <a:endParaRPr lang="en-US" altLang="zh-CN" sz="1400" b="1" dirty="0">
                <a:latin typeface="+mn-ea"/>
                <a:ea typeface="+mn-ea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400" b="1" dirty="0">
                  <a:latin typeface="+mn-ea"/>
                  <a:ea typeface="+mn-ea"/>
                </a:rPr>
                <a:t>BG—</a:t>
              </a:r>
              <a:r>
                <a:rPr lang="zh-CN" altLang="en-US" sz="1400" b="1" dirty="0">
                  <a:latin typeface="+mn-ea"/>
                  <a:ea typeface="+mn-ea"/>
                </a:rPr>
                <a:t>总线允许</a:t>
              </a:r>
              <a:endParaRPr lang="en-US" altLang="zh-CN" sz="1400" b="1" dirty="0">
                <a:latin typeface="+mn-ea"/>
                <a:ea typeface="+mn-ea"/>
              </a:endParaRPr>
            </a:p>
          </p:txBody>
        </p:sp>
        <p:cxnSp>
          <p:nvCxnSpPr>
            <p:cNvPr id="139" name="直接箭头连接符 138">
              <a:extLst>
                <a:ext uri="{FF2B5EF4-FFF2-40B4-BE49-F238E27FC236}">
                  <a16:creationId xmlns:a16="http://schemas.microsoft.com/office/drawing/2014/main" id="{92CC1EE5-02B7-4C08-BF2D-3C1094FA7008}"/>
                </a:ext>
              </a:extLst>
            </p:cNvPr>
            <p:cNvCxnSpPr/>
            <p:nvPr>
              <p:custDataLst>
                <p:tags r:id="rId10"/>
              </p:custDataLst>
            </p:nvPr>
          </p:nvCxnSpPr>
          <p:spPr bwMode="auto">
            <a:xfrm>
              <a:off x="7236693" y="692672"/>
              <a:ext cx="0" cy="215900"/>
            </a:xfrm>
            <a:prstGeom prst="straightConnector1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40" name="直接箭头连接符 139">
              <a:extLst>
                <a:ext uri="{FF2B5EF4-FFF2-40B4-BE49-F238E27FC236}">
                  <a16:creationId xmlns:a16="http://schemas.microsoft.com/office/drawing/2014/main" id="{A23BED73-7D8E-4E4B-9721-05E834836E9D}"/>
                </a:ext>
              </a:extLst>
            </p:cNvPr>
            <p:cNvCxnSpPr/>
            <p:nvPr>
              <p:custDataLst>
                <p:tags r:id="rId11"/>
              </p:custDataLst>
            </p:nvPr>
          </p:nvCxnSpPr>
          <p:spPr bwMode="auto">
            <a:xfrm flipV="1">
              <a:off x="7164938" y="692672"/>
              <a:ext cx="0" cy="215900"/>
            </a:xfrm>
            <a:prstGeom prst="straightConnector1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</p:grpSp>
      <p:grpSp>
        <p:nvGrpSpPr>
          <p:cNvPr id="141" name="组合 140">
            <a:extLst>
              <a:ext uri="{FF2B5EF4-FFF2-40B4-BE49-F238E27FC236}">
                <a16:creationId xmlns:a16="http://schemas.microsoft.com/office/drawing/2014/main" id="{E474F743-8F70-4BAA-8389-D43B8069A7D8}"/>
              </a:ext>
            </a:extLst>
          </p:cNvPr>
          <p:cNvGrpSpPr/>
          <p:nvPr/>
        </p:nvGrpSpPr>
        <p:grpSpPr>
          <a:xfrm>
            <a:off x="3492768" y="5013176"/>
            <a:ext cx="5435232" cy="1297624"/>
            <a:chOff x="972000" y="4608000"/>
            <a:chExt cx="5435232" cy="1297624"/>
          </a:xfrm>
        </p:grpSpPr>
        <p:sp>
          <p:nvSpPr>
            <p:cNvPr id="142" name="Rectangle 130">
              <a:extLst>
                <a:ext uri="{FF2B5EF4-FFF2-40B4-BE49-F238E27FC236}">
                  <a16:creationId xmlns:a16="http://schemas.microsoft.com/office/drawing/2014/main" id="{FDF46E75-F080-4397-A6A2-62FDE182C1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000" y="5004000"/>
              <a:ext cx="3384000" cy="900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none" lIns="0" tIns="0" rIns="0" bIns="0" anchor="ctr"/>
            <a:lstStyle/>
            <a:p>
              <a:pPr>
                <a:lnSpc>
                  <a:spcPct val="90000"/>
                </a:lnSpc>
              </a:pPr>
              <a:endParaRPr lang="zh-CN" altLang="en-US" sz="1600"/>
            </a:p>
          </p:txBody>
        </p:sp>
        <p:cxnSp>
          <p:nvCxnSpPr>
            <p:cNvPr id="143" name="直接连接符 142">
              <a:extLst>
                <a:ext uri="{FF2B5EF4-FFF2-40B4-BE49-F238E27FC236}">
                  <a16:creationId xmlns:a16="http://schemas.microsoft.com/office/drawing/2014/main" id="{0F49E5D9-10FE-4BDF-9ECB-E00E480595B3}"/>
                </a:ext>
              </a:extLst>
            </p:cNvPr>
            <p:cNvCxnSpPr/>
            <p:nvPr/>
          </p:nvCxnSpPr>
          <p:spPr bwMode="auto">
            <a:xfrm>
              <a:off x="972000" y="4752000"/>
              <a:ext cx="4968000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4" name="Text Box 61">
              <a:extLst>
                <a:ext uri="{FF2B5EF4-FFF2-40B4-BE49-F238E27FC236}">
                  <a16:creationId xmlns:a16="http://schemas.microsoft.com/office/drawing/2014/main" id="{00E25554-FBA0-4FE1-B900-B491E8D549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8000" y="4788000"/>
              <a:ext cx="1836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IOR#  IOW# 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独立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</a:p>
          </p:txBody>
        </p:sp>
        <p:sp>
          <p:nvSpPr>
            <p:cNvPr id="145" name="Text Box 49">
              <a:extLst>
                <a:ext uri="{FF2B5EF4-FFF2-40B4-BE49-F238E27FC236}">
                  <a16:creationId xmlns:a16="http://schemas.microsoft.com/office/drawing/2014/main" id="{1A5940A7-2647-44BD-AB4D-F759DC884E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2000" y="5004000"/>
              <a:ext cx="648072" cy="360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CPU</a:t>
              </a:r>
            </a:p>
          </p:txBody>
        </p: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id="{1B7DB43E-A250-481C-A96B-DCFC57DF934E}"/>
                </a:ext>
              </a:extLst>
            </p:cNvPr>
            <p:cNvCxnSpPr/>
            <p:nvPr/>
          </p:nvCxnSpPr>
          <p:spPr bwMode="auto">
            <a:xfrm flipV="1">
              <a:off x="1080000" y="4608000"/>
              <a:ext cx="0" cy="396000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sm"/>
              <a:tailEnd type="triangle" w="med" len="sm"/>
            </a:ln>
          </p:spPr>
        </p:cxnSp>
        <p:cxnSp>
          <p:nvCxnSpPr>
            <p:cNvPr id="147" name="直接连接符 146">
              <a:extLst>
                <a:ext uri="{FF2B5EF4-FFF2-40B4-BE49-F238E27FC236}">
                  <a16:creationId xmlns:a16="http://schemas.microsoft.com/office/drawing/2014/main" id="{43CF6525-3F03-49AC-AD2A-1D5654EC8AAB}"/>
                </a:ext>
              </a:extLst>
            </p:cNvPr>
            <p:cNvCxnSpPr/>
            <p:nvPr/>
          </p:nvCxnSpPr>
          <p:spPr bwMode="auto">
            <a:xfrm>
              <a:off x="1188000" y="4680000"/>
              <a:ext cx="0" cy="324000"/>
            </a:xfrm>
            <a:prstGeom prst="line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triangle" w="med" len="sm"/>
              <a:tailEnd type="triangle" w="med" len="sm"/>
            </a:ln>
          </p:spPr>
        </p:cxnSp>
        <p:cxnSp>
          <p:nvCxnSpPr>
            <p:cNvPr id="148" name="直接连接符 147">
              <a:extLst>
                <a:ext uri="{FF2B5EF4-FFF2-40B4-BE49-F238E27FC236}">
                  <a16:creationId xmlns:a16="http://schemas.microsoft.com/office/drawing/2014/main" id="{B4C6CF6A-6230-4C27-A4CB-4C1D6980379A}"/>
                </a:ext>
              </a:extLst>
            </p:cNvPr>
            <p:cNvCxnSpPr/>
            <p:nvPr/>
          </p:nvCxnSpPr>
          <p:spPr bwMode="auto">
            <a:xfrm flipV="1">
              <a:off x="1295696" y="4752000"/>
              <a:ext cx="0" cy="25200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149" name="直接连接符 148">
              <a:extLst>
                <a:ext uri="{FF2B5EF4-FFF2-40B4-BE49-F238E27FC236}">
                  <a16:creationId xmlns:a16="http://schemas.microsoft.com/office/drawing/2014/main" id="{79F6F83F-1669-4C76-B0F3-DDEA0348899D}"/>
                </a:ext>
              </a:extLst>
            </p:cNvPr>
            <p:cNvCxnSpPr/>
            <p:nvPr/>
          </p:nvCxnSpPr>
          <p:spPr bwMode="auto">
            <a:xfrm flipV="1">
              <a:off x="1367704" y="4752000"/>
              <a:ext cx="0" cy="25200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150" name="直接连接符 149">
              <a:extLst>
                <a:ext uri="{FF2B5EF4-FFF2-40B4-BE49-F238E27FC236}">
                  <a16:creationId xmlns:a16="http://schemas.microsoft.com/office/drawing/2014/main" id="{C4987CBE-5172-4850-AFF2-B660B990BB00}"/>
                </a:ext>
              </a:extLst>
            </p:cNvPr>
            <p:cNvCxnSpPr/>
            <p:nvPr/>
          </p:nvCxnSpPr>
          <p:spPr bwMode="auto">
            <a:xfrm flipV="1">
              <a:off x="1448096" y="4752000"/>
              <a:ext cx="0" cy="25200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151" name="直接连接符 150">
              <a:extLst>
                <a:ext uri="{FF2B5EF4-FFF2-40B4-BE49-F238E27FC236}">
                  <a16:creationId xmlns:a16="http://schemas.microsoft.com/office/drawing/2014/main" id="{8E7C8DCC-69CF-428C-A2D0-2626937188D8}"/>
                </a:ext>
              </a:extLst>
            </p:cNvPr>
            <p:cNvCxnSpPr/>
            <p:nvPr/>
          </p:nvCxnSpPr>
          <p:spPr bwMode="auto">
            <a:xfrm flipV="1">
              <a:off x="1520104" y="4752000"/>
              <a:ext cx="0" cy="25200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152" name="直接连接符 151">
              <a:extLst>
                <a:ext uri="{FF2B5EF4-FFF2-40B4-BE49-F238E27FC236}">
                  <a16:creationId xmlns:a16="http://schemas.microsoft.com/office/drawing/2014/main" id="{9D4B2EB3-8CFE-4A92-8A59-F4F0D0C97819}"/>
                </a:ext>
              </a:extLst>
            </p:cNvPr>
            <p:cNvCxnSpPr/>
            <p:nvPr/>
          </p:nvCxnSpPr>
          <p:spPr bwMode="auto">
            <a:xfrm>
              <a:off x="972000" y="4680000"/>
              <a:ext cx="4968000" cy="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" name="直接连接符 152">
              <a:extLst>
                <a:ext uri="{FF2B5EF4-FFF2-40B4-BE49-F238E27FC236}">
                  <a16:creationId xmlns:a16="http://schemas.microsoft.com/office/drawing/2014/main" id="{9D9EF513-96C2-4A28-9C89-3BCEF3517B3A}"/>
                </a:ext>
              </a:extLst>
            </p:cNvPr>
            <p:cNvCxnSpPr/>
            <p:nvPr/>
          </p:nvCxnSpPr>
          <p:spPr bwMode="auto">
            <a:xfrm>
              <a:off x="972000" y="4608000"/>
              <a:ext cx="4968000" cy="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4" name="Text Box 115">
              <a:extLst>
                <a:ext uri="{FF2B5EF4-FFF2-40B4-BE49-F238E27FC236}">
                  <a16:creationId xmlns:a16="http://schemas.microsoft.com/office/drawing/2014/main" id="{0C7AD71C-61BA-484F-AEA3-A3A2ACBE58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000" y="5004000"/>
              <a:ext cx="684000" cy="432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地址锁存器</a:t>
              </a:r>
            </a:p>
          </p:txBody>
        </p:sp>
        <p:sp>
          <p:nvSpPr>
            <p:cNvPr id="155" name="Text Box 115">
              <a:extLst>
                <a:ext uri="{FF2B5EF4-FFF2-40B4-BE49-F238E27FC236}">
                  <a16:creationId xmlns:a16="http://schemas.microsoft.com/office/drawing/2014/main" id="{A190B932-D61C-411C-82FC-F15DC32B98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03232" y="5004000"/>
              <a:ext cx="684000" cy="432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数据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缓冲器</a:t>
              </a:r>
            </a:p>
          </p:txBody>
        </p:sp>
        <p:sp>
          <p:nvSpPr>
            <p:cNvPr id="156" name="Text Box 113">
              <a:extLst>
                <a:ext uri="{FF2B5EF4-FFF2-40B4-BE49-F238E27FC236}">
                  <a16:creationId xmlns:a16="http://schemas.microsoft.com/office/drawing/2014/main" id="{4AAEA79B-B172-408E-BC06-40720A0E08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67232" y="5041624"/>
              <a:ext cx="252000" cy="864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lIns="0" tIns="0" rIns="0" bIns="0" anchor="ctr" anchorCtr="1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设备硬件</a:t>
              </a:r>
            </a:p>
          </p:txBody>
        </p:sp>
        <p:cxnSp>
          <p:nvCxnSpPr>
            <p:cNvPr id="157" name="直接连接符 156">
              <a:extLst>
                <a:ext uri="{FF2B5EF4-FFF2-40B4-BE49-F238E27FC236}">
                  <a16:creationId xmlns:a16="http://schemas.microsoft.com/office/drawing/2014/main" id="{29483264-C052-4572-AD6D-917EEAB46BCB}"/>
                </a:ext>
              </a:extLst>
            </p:cNvPr>
            <p:cNvCxnSpPr/>
            <p:nvPr/>
          </p:nvCxnSpPr>
          <p:spPr bwMode="auto">
            <a:xfrm>
              <a:off x="5687232" y="5544000"/>
              <a:ext cx="18000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sm"/>
              <a:tailEnd type="triangle" w="med" len="sm"/>
            </a:ln>
          </p:spPr>
        </p:cxnSp>
        <p:cxnSp>
          <p:nvCxnSpPr>
            <p:cNvPr id="158" name="直接连接符 157">
              <a:extLst>
                <a:ext uri="{FF2B5EF4-FFF2-40B4-BE49-F238E27FC236}">
                  <a16:creationId xmlns:a16="http://schemas.microsoft.com/office/drawing/2014/main" id="{DAF95F54-F2CC-4B7C-BDCD-7D2BA9701B32}"/>
                </a:ext>
              </a:extLst>
            </p:cNvPr>
            <p:cNvCxnSpPr/>
            <p:nvPr/>
          </p:nvCxnSpPr>
          <p:spPr bwMode="auto">
            <a:xfrm>
              <a:off x="5687232" y="5652000"/>
              <a:ext cx="180000" cy="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triangle" w="med" len="sm"/>
              <a:tailEnd type="triangle" w="med" len="sm"/>
            </a:ln>
          </p:spPr>
        </p:cxnSp>
        <p:cxnSp>
          <p:nvCxnSpPr>
            <p:cNvPr id="159" name="直接连接符 158">
              <a:extLst>
                <a:ext uri="{FF2B5EF4-FFF2-40B4-BE49-F238E27FC236}">
                  <a16:creationId xmlns:a16="http://schemas.microsoft.com/office/drawing/2014/main" id="{4FF9BFAA-F42D-4AB8-B2F4-D1FA0FAE2214}"/>
                </a:ext>
              </a:extLst>
            </p:cNvPr>
            <p:cNvCxnSpPr/>
            <p:nvPr/>
          </p:nvCxnSpPr>
          <p:spPr bwMode="auto">
            <a:xfrm flipH="1">
              <a:off x="5687232" y="5760000"/>
              <a:ext cx="180000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sm"/>
              <a:tailEnd type="triangle" w="med" len="sm"/>
            </a:ln>
          </p:spPr>
        </p:cxnSp>
        <p:cxnSp>
          <p:nvCxnSpPr>
            <p:cNvPr id="160" name="直接连接符 159">
              <a:extLst>
                <a:ext uri="{FF2B5EF4-FFF2-40B4-BE49-F238E27FC236}">
                  <a16:creationId xmlns:a16="http://schemas.microsoft.com/office/drawing/2014/main" id="{2B59C65B-261E-49D1-8EE0-2700A2A0A0C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628000" y="4608000"/>
              <a:ext cx="1" cy="396000"/>
            </a:xfrm>
            <a:prstGeom prst="line">
              <a:avLst/>
            </a:prstGeom>
            <a:noFill/>
            <a:ln w="19050" cap="sq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161" name="直接连接符 160">
              <a:extLst>
                <a:ext uri="{FF2B5EF4-FFF2-40B4-BE49-F238E27FC236}">
                  <a16:creationId xmlns:a16="http://schemas.microsoft.com/office/drawing/2014/main" id="{41E772E5-FD9F-4760-B01A-6A1175CD2849}"/>
                </a:ext>
              </a:extLst>
            </p:cNvPr>
            <p:cNvCxnSpPr/>
            <p:nvPr/>
          </p:nvCxnSpPr>
          <p:spPr bwMode="auto">
            <a:xfrm>
              <a:off x="5363232" y="4680000"/>
              <a:ext cx="0" cy="324000"/>
            </a:xfrm>
            <a:prstGeom prst="line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triangle" w="med" len="sm"/>
              <a:tailEnd type="triangle" w="med" len="sm"/>
            </a:ln>
          </p:spPr>
        </p:cxnSp>
        <p:sp>
          <p:nvSpPr>
            <p:cNvPr id="162" name="Text Box 61">
              <a:extLst>
                <a:ext uri="{FF2B5EF4-FFF2-40B4-BE49-F238E27FC236}">
                  <a16:creationId xmlns:a16="http://schemas.microsoft.com/office/drawing/2014/main" id="{F9AC11DF-7D6C-492B-A664-89C880906D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39232" y="4608000"/>
              <a:ext cx="432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总线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63" name="立方体 162">
              <a:extLst>
                <a:ext uri="{FF2B5EF4-FFF2-40B4-BE49-F238E27FC236}">
                  <a16:creationId xmlns:a16="http://schemas.microsoft.com/office/drawing/2014/main" id="{FBF78C13-89CC-4891-87E7-5B5F2865C1C1}"/>
                </a:ext>
              </a:extLst>
            </p:cNvPr>
            <p:cNvSpPr/>
            <p:nvPr/>
          </p:nvSpPr>
          <p:spPr bwMode="auto">
            <a:xfrm>
              <a:off x="4679232" y="5617624"/>
              <a:ext cx="864000" cy="252000"/>
            </a:xfrm>
            <a:prstGeom prst="cube">
              <a:avLst>
                <a:gd name="adj" fmla="val 14090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0" tIns="0" rIns="0" bIns="0" numCol="1" rtlCol="0" anchor="t" anchorCtr="0" compatLnSpc="1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I/O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端口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64" name="直接连接符 163">
              <a:extLst>
                <a:ext uri="{FF2B5EF4-FFF2-40B4-BE49-F238E27FC236}">
                  <a16:creationId xmlns:a16="http://schemas.microsoft.com/office/drawing/2014/main" id="{E323C63B-7A53-4AE7-9CEA-92433CC95B36}"/>
                </a:ext>
              </a:extLst>
            </p:cNvPr>
            <p:cNvCxnSpPr/>
            <p:nvPr/>
          </p:nvCxnSpPr>
          <p:spPr bwMode="auto">
            <a:xfrm>
              <a:off x="5363232" y="5437624"/>
              <a:ext cx="0" cy="180000"/>
            </a:xfrm>
            <a:prstGeom prst="line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triangle" w="med" len="sm"/>
              <a:tailEnd type="triangle" w="med" len="sm"/>
            </a:ln>
          </p:spPr>
        </p:cxnSp>
        <p:cxnSp>
          <p:nvCxnSpPr>
            <p:cNvPr id="165" name="直接连接符 164">
              <a:extLst>
                <a:ext uri="{FF2B5EF4-FFF2-40B4-BE49-F238E27FC236}">
                  <a16:creationId xmlns:a16="http://schemas.microsoft.com/office/drawing/2014/main" id="{52E2CC3C-7D51-456A-B262-409FD224118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895232" y="5149624"/>
              <a:ext cx="0" cy="46800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166" name="直接连接符 165">
              <a:extLst>
                <a:ext uri="{FF2B5EF4-FFF2-40B4-BE49-F238E27FC236}">
                  <a16:creationId xmlns:a16="http://schemas.microsoft.com/office/drawing/2014/main" id="{0D0B9147-5731-447C-9370-8B97230CDE2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823232" y="5329624"/>
              <a:ext cx="0" cy="28800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sp>
          <p:nvSpPr>
            <p:cNvPr id="167" name="Text Box 271">
              <a:extLst>
                <a:ext uri="{FF2B5EF4-FFF2-40B4-BE49-F238E27FC236}">
                  <a16:creationId xmlns:a16="http://schemas.microsoft.com/office/drawing/2014/main" id="{736DACF4-45B8-4447-B014-73FFF4EDD954}"/>
                </a:ext>
              </a:extLst>
            </p:cNvPr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6155232" y="5401624"/>
              <a:ext cx="252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…</a:t>
              </a:r>
            </a:p>
          </p:txBody>
        </p:sp>
        <p:sp>
          <p:nvSpPr>
            <p:cNvPr id="168" name="Text Box 50">
              <a:extLst>
                <a:ext uri="{FF2B5EF4-FFF2-40B4-BE49-F238E27FC236}">
                  <a16:creationId xmlns:a16="http://schemas.microsoft.com/office/drawing/2014/main" id="{92E3F340-7FA0-4484-9B8A-1F1AF66FC5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000" y="5004000"/>
              <a:ext cx="468000" cy="360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主存</a:t>
              </a:r>
            </a:p>
          </p:txBody>
        </p:sp>
        <p:cxnSp>
          <p:nvCxnSpPr>
            <p:cNvPr id="169" name="直接连接符 168">
              <a:extLst>
                <a:ext uri="{FF2B5EF4-FFF2-40B4-BE49-F238E27FC236}">
                  <a16:creationId xmlns:a16="http://schemas.microsoft.com/office/drawing/2014/main" id="{3C5A6DA0-6CB0-45A6-95D7-13EB843B07B4}"/>
                </a:ext>
              </a:extLst>
            </p:cNvPr>
            <p:cNvCxnSpPr/>
            <p:nvPr/>
          </p:nvCxnSpPr>
          <p:spPr bwMode="auto">
            <a:xfrm>
              <a:off x="1908000" y="4680000"/>
              <a:ext cx="0" cy="324000"/>
            </a:xfrm>
            <a:prstGeom prst="line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triangle" w="med" len="sm"/>
              <a:tailEnd type="triangle" w="med" len="sm"/>
            </a:ln>
          </p:spPr>
        </p:cxnSp>
        <p:cxnSp>
          <p:nvCxnSpPr>
            <p:cNvPr id="170" name="直接连接符 169">
              <a:extLst>
                <a:ext uri="{FF2B5EF4-FFF2-40B4-BE49-F238E27FC236}">
                  <a16:creationId xmlns:a16="http://schemas.microsoft.com/office/drawing/2014/main" id="{69FE388C-EA0B-444F-BE0E-7C659A9B1CB8}"/>
                </a:ext>
              </a:extLst>
            </p:cNvPr>
            <p:cNvCxnSpPr/>
            <p:nvPr/>
          </p:nvCxnSpPr>
          <p:spPr bwMode="auto">
            <a:xfrm>
              <a:off x="1800000" y="4608000"/>
              <a:ext cx="0" cy="396000"/>
            </a:xfrm>
            <a:prstGeom prst="line">
              <a:avLst/>
            </a:prstGeom>
            <a:noFill/>
            <a:ln w="19050" cap="sq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171" name="直接连接符 170">
              <a:extLst>
                <a:ext uri="{FF2B5EF4-FFF2-40B4-BE49-F238E27FC236}">
                  <a16:creationId xmlns:a16="http://schemas.microsoft.com/office/drawing/2014/main" id="{046384EB-43B2-478C-A732-50632D0B08B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052000" y="4752000"/>
              <a:ext cx="0" cy="25200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172" name="直接连接符 171">
              <a:extLst>
                <a:ext uri="{FF2B5EF4-FFF2-40B4-BE49-F238E27FC236}">
                  <a16:creationId xmlns:a16="http://schemas.microsoft.com/office/drawing/2014/main" id="{9EB2FE59-9192-4A3E-B3CC-59BAB6F1C9E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124000" y="4752000"/>
              <a:ext cx="0" cy="25200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</p:grpSp>
      <p:cxnSp>
        <p:nvCxnSpPr>
          <p:cNvPr id="173" name="直接箭头连接符 172">
            <a:extLst>
              <a:ext uri="{FF2B5EF4-FFF2-40B4-BE49-F238E27FC236}">
                <a16:creationId xmlns:a16="http://schemas.microsoft.com/office/drawing/2014/main" id="{762174B4-68A5-44CF-B994-8CC850DBD170}"/>
              </a:ext>
            </a:extLst>
          </p:cNvPr>
          <p:cNvCxnSpPr>
            <a:cxnSpLocks/>
          </p:cNvCxnSpPr>
          <p:nvPr/>
        </p:nvCxnSpPr>
        <p:spPr bwMode="auto">
          <a:xfrm>
            <a:off x="8244000" y="4906800"/>
            <a:ext cx="72000" cy="97200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sm" len="sm"/>
          </a:ln>
          <a:effectLst/>
        </p:spPr>
      </p:cxnSp>
      <p:grpSp>
        <p:nvGrpSpPr>
          <p:cNvPr id="174" name="组合 173">
            <a:extLst>
              <a:ext uri="{FF2B5EF4-FFF2-40B4-BE49-F238E27FC236}">
                <a16:creationId xmlns:a16="http://schemas.microsoft.com/office/drawing/2014/main" id="{7CDE97F2-4D9F-4E44-9A8D-9A841E81E2A4}"/>
              </a:ext>
            </a:extLst>
          </p:cNvPr>
          <p:cNvGrpSpPr/>
          <p:nvPr/>
        </p:nvGrpSpPr>
        <p:grpSpPr>
          <a:xfrm>
            <a:off x="5617040" y="5409176"/>
            <a:ext cx="1798960" cy="792000"/>
            <a:chOff x="5544272" y="5400000"/>
            <a:chExt cx="1798960" cy="792000"/>
          </a:xfrm>
        </p:grpSpPr>
        <p:sp>
          <p:nvSpPr>
            <p:cNvPr id="175" name="Rectangle 130">
              <a:extLst>
                <a:ext uri="{FF2B5EF4-FFF2-40B4-BE49-F238E27FC236}">
                  <a16:creationId xmlns:a16="http://schemas.microsoft.com/office/drawing/2014/main" id="{D3F62336-973B-4EE2-9414-7C8F92F387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4272" y="5400000"/>
              <a:ext cx="1512000" cy="79200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none" lIns="0" tIns="0" rIns="0" bIns="0" anchor="ctr"/>
            <a:lstStyle/>
            <a:p>
              <a:pPr algn="ctr">
                <a:lnSpc>
                  <a:spcPct val="90000"/>
                </a:lnSpc>
              </a:pPr>
              <a:endParaRPr lang="zh-CN" altLang="en-US" sz="1600"/>
            </a:p>
          </p:txBody>
        </p:sp>
        <p:cxnSp>
          <p:nvCxnSpPr>
            <p:cNvPr id="176" name="直接连接符 175">
              <a:extLst>
                <a:ext uri="{FF2B5EF4-FFF2-40B4-BE49-F238E27FC236}">
                  <a16:creationId xmlns:a16="http://schemas.microsoft.com/office/drawing/2014/main" id="{A825D58B-3E54-4D57-9CDB-479919B85C47}"/>
                </a:ext>
              </a:extLst>
            </p:cNvPr>
            <p:cNvCxnSpPr/>
            <p:nvPr/>
          </p:nvCxnSpPr>
          <p:spPr bwMode="auto">
            <a:xfrm>
              <a:off x="6264272" y="5472000"/>
              <a:ext cx="540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 w="med" len="sm"/>
            </a:ln>
          </p:spPr>
        </p:cxnSp>
        <p:sp>
          <p:nvSpPr>
            <p:cNvPr id="177" name="Text Box 126">
              <a:extLst>
                <a:ext uri="{FF2B5EF4-FFF2-40B4-BE49-F238E27FC236}">
                  <a16:creationId xmlns:a16="http://schemas.microsoft.com/office/drawing/2014/main" id="{EE34C50B-B0AD-48E7-8815-ACC962D172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56272" y="5652000"/>
              <a:ext cx="288000" cy="180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=1</a:t>
              </a:r>
            </a:p>
          </p:txBody>
        </p:sp>
        <p:sp>
          <p:nvSpPr>
            <p:cNvPr id="178" name="Text Box 114">
              <a:extLst>
                <a:ext uri="{FF2B5EF4-FFF2-40B4-BE49-F238E27FC236}">
                  <a16:creationId xmlns:a16="http://schemas.microsoft.com/office/drawing/2014/main" id="{794DC62F-A9F3-4F58-8C36-52B165C0FD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03232" y="5940000"/>
              <a:ext cx="648000" cy="2160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比较器</a:t>
              </a:r>
            </a:p>
          </p:txBody>
        </p:sp>
        <p:cxnSp>
          <p:nvCxnSpPr>
            <p:cNvPr id="179" name="直接连接符 178">
              <a:extLst>
                <a:ext uri="{FF2B5EF4-FFF2-40B4-BE49-F238E27FC236}">
                  <a16:creationId xmlns:a16="http://schemas.microsoft.com/office/drawing/2014/main" id="{F87BAA03-88C6-4C04-B714-7C028D280266}"/>
                </a:ext>
              </a:extLst>
            </p:cNvPr>
            <p:cNvCxnSpPr/>
            <p:nvPr/>
          </p:nvCxnSpPr>
          <p:spPr bwMode="auto">
            <a:xfrm>
              <a:off x="6300190" y="5832000"/>
              <a:ext cx="0" cy="10800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180" name="直接连接符 179">
              <a:extLst>
                <a:ext uri="{FF2B5EF4-FFF2-40B4-BE49-F238E27FC236}">
                  <a16:creationId xmlns:a16="http://schemas.microsoft.com/office/drawing/2014/main" id="{7C4D339D-0565-4696-9552-EBAEE6FCA88E}"/>
                </a:ext>
              </a:extLst>
            </p:cNvPr>
            <p:cNvCxnSpPr/>
            <p:nvPr/>
          </p:nvCxnSpPr>
          <p:spPr bwMode="auto">
            <a:xfrm>
              <a:off x="5759232" y="6012000"/>
              <a:ext cx="144000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181" name="直接连接符 180">
              <a:extLst>
                <a:ext uri="{FF2B5EF4-FFF2-40B4-BE49-F238E27FC236}">
                  <a16:creationId xmlns:a16="http://schemas.microsoft.com/office/drawing/2014/main" id="{0FC23606-F292-4A2F-A1D5-1F588E5E12BB}"/>
                </a:ext>
              </a:extLst>
            </p:cNvPr>
            <p:cNvCxnSpPr/>
            <p:nvPr/>
          </p:nvCxnSpPr>
          <p:spPr bwMode="auto">
            <a:xfrm>
              <a:off x="6551232" y="6048000"/>
              <a:ext cx="108000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2" name="直接连接符 181">
              <a:extLst>
                <a:ext uri="{FF2B5EF4-FFF2-40B4-BE49-F238E27FC236}">
                  <a16:creationId xmlns:a16="http://schemas.microsoft.com/office/drawing/2014/main" id="{B5373CF6-4FF4-4E04-8EFC-E9FDB6C590B9}"/>
                </a:ext>
              </a:extLst>
            </p:cNvPr>
            <p:cNvCxnSpPr/>
            <p:nvPr/>
          </p:nvCxnSpPr>
          <p:spPr bwMode="auto">
            <a:xfrm>
              <a:off x="6659232" y="5580000"/>
              <a:ext cx="0" cy="46800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sm"/>
            </a:ln>
          </p:spPr>
        </p:cxnSp>
        <p:sp>
          <p:nvSpPr>
            <p:cNvPr id="183" name="Text Box 143">
              <a:extLst>
                <a:ext uri="{FF2B5EF4-FFF2-40B4-BE49-F238E27FC236}">
                  <a16:creationId xmlns:a16="http://schemas.microsoft.com/office/drawing/2014/main" id="{CD54B39B-7E90-410E-A8A0-B9A73D7B6A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03232" y="5436000"/>
              <a:ext cx="180000" cy="180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&amp;</a:t>
              </a:r>
            </a:p>
          </p:txBody>
        </p:sp>
        <p:cxnSp>
          <p:nvCxnSpPr>
            <p:cNvPr id="184" name="直接连接符 183">
              <a:extLst>
                <a:ext uri="{FF2B5EF4-FFF2-40B4-BE49-F238E27FC236}">
                  <a16:creationId xmlns:a16="http://schemas.microsoft.com/office/drawing/2014/main" id="{4D9C37C0-8E8A-49AC-B77D-BE314DBA39A9}"/>
                </a:ext>
              </a:extLst>
            </p:cNvPr>
            <p:cNvCxnSpPr/>
            <p:nvPr/>
          </p:nvCxnSpPr>
          <p:spPr bwMode="auto">
            <a:xfrm>
              <a:off x="6659232" y="5580000"/>
              <a:ext cx="144000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sp>
          <p:nvSpPr>
            <p:cNvPr id="185" name="Text Box 143">
              <a:extLst>
                <a:ext uri="{FF2B5EF4-FFF2-40B4-BE49-F238E27FC236}">
                  <a16:creationId xmlns:a16="http://schemas.microsoft.com/office/drawing/2014/main" id="{74492B63-7969-40BE-A494-DE163CFE6A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03232" y="5652000"/>
              <a:ext cx="180000" cy="180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&amp;</a:t>
              </a:r>
            </a:p>
          </p:txBody>
        </p:sp>
        <p:cxnSp>
          <p:nvCxnSpPr>
            <p:cNvPr id="186" name="直接连接符 185">
              <a:extLst>
                <a:ext uri="{FF2B5EF4-FFF2-40B4-BE49-F238E27FC236}">
                  <a16:creationId xmlns:a16="http://schemas.microsoft.com/office/drawing/2014/main" id="{6B80F6B8-3779-47CF-99B9-58BD68FEF2CF}"/>
                </a:ext>
              </a:extLst>
            </p:cNvPr>
            <p:cNvCxnSpPr/>
            <p:nvPr/>
          </p:nvCxnSpPr>
          <p:spPr bwMode="auto">
            <a:xfrm>
              <a:off x="6659232" y="5796000"/>
              <a:ext cx="144000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oval" w="sm" len="sm"/>
              <a:tailEnd type="triangle" w="med" len="sm"/>
            </a:ln>
          </p:spPr>
        </p:cxnSp>
        <p:cxnSp>
          <p:nvCxnSpPr>
            <p:cNvPr id="187" name="直接连接符 186">
              <a:extLst>
                <a:ext uri="{FF2B5EF4-FFF2-40B4-BE49-F238E27FC236}">
                  <a16:creationId xmlns:a16="http://schemas.microsoft.com/office/drawing/2014/main" id="{7B2B413A-6532-4CAE-ACBF-469EBEE1048F}"/>
                </a:ext>
              </a:extLst>
            </p:cNvPr>
            <p:cNvCxnSpPr/>
            <p:nvPr/>
          </p:nvCxnSpPr>
          <p:spPr bwMode="auto">
            <a:xfrm>
              <a:off x="6983232" y="5545624"/>
              <a:ext cx="36000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</p:spPr>
        </p:cxnSp>
        <p:cxnSp>
          <p:nvCxnSpPr>
            <p:cNvPr id="188" name="直接连接符 187">
              <a:extLst>
                <a:ext uri="{FF2B5EF4-FFF2-40B4-BE49-F238E27FC236}">
                  <a16:creationId xmlns:a16="http://schemas.microsoft.com/office/drawing/2014/main" id="{002F42A0-3A14-47A9-8BF3-852277B0785E}"/>
                </a:ext>
              </a:extLst>
            </p:cNvPr>
            <p:cNvCxnSpPr/>
            <p:nvPr/>
          </p:nvCxnSpPr>
          <p:spPr bwMode="auto">
            <a:xfrm>
              <a:off x="6983232" y="5725624"/>
              <a:ext cx="28800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</p:spPr>
        </p:cxnSp>
        <p:cxnSp>
          <p:nvCxnSpPr>
            <p:cNvPr id="189" name="直接连接符 188">
              <a:extLst>
                <a:ext uri="{FF2B5EF4-FFF2-40B4-BE49-F238E27FC236}">
                  <a16:creationId xmlns:a16="http://schemas.microsoft.com/office/drawing/2014/main" id="{FC817E93-6665-4770-A2F5-4A58D5021013}"/>
                </a:ext>
              </a:extLst>
            </p:cNvPr>
            <p:cNvCxnSpPr/>
            <p:nvPr/>
          </p:nvCxnSpPr>
          <p:spPr bwMode="auto">
            <a:xfrm>
              <a:off x="6372272" y="5544000"/>
              <a:ext cx="144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sm"/>
            </a:ln>
          </p:spPr>
        </p:cxnSp>
        <p:cxnSp>
          <p:nvCxnSpPr>
            <p:cNvPr id="190" name="直接连接符 189">
              <a:extLst>
                <a:ext uri="{FF2B5EF4-FFF2-40B4-BE49-F238E27FC236}">
                  <a16:creationId xmlns:a16="http://schemas.microsoft.com/office/drawing/2014/main" id="{79EB0BD5-4CA3-4F11-ABB4-3EBA01DCB42C}"/>
                </a:ext>
              </a:extLst>
            </p:cNvPr>
            <p:cNvCxnSpPr/>
            <p:nvPr/>
          </p:nvCxnSpPr>
          <p:spPr bwMode="auto">
            <a:xfrm>
              <a:off x="6516272" y="5688000"/>
              <a:ext cx="288000" cy="0"/>
            </a:xfrm>
            <a:prstGeom prst="line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191" name="直接连接符 190">
              <a:extLst>
                <a:ext uri="{FF2B5EF4-FFF2-40B4-BE49-F238E27FC236}">
                  <a16:creationId xmlns:a16="http://schemas.microsoft.com/office/drawing/2014/main" id="{A1E1A45E-77FC-4A75-84B2-48AEA83A4B5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516272" y="5544000"/>
              <a:ext cx="0" cy="144000"/>
            </a:xfrm>
            <a:prstGeom prst="line">
              <a:avLst/>
            </a:prstGeom>
            <a:noFill/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med" len="sm"/>
            </a:ln>
          </p:spPr>
        </p:cxnSp>
        <p:cxnSp>
          <p:nvCxnSpPr>
            <p:cNvPr id="192" name="直接连接符 191">
              <a:extLst>
                <a:ext uri="{FF2B5EF4-FFF2-40B4-BE49-F238E27FC236}">
                  <a16:creationId xmlns:a16="http://schemas.microsoft.com/office/drawing/2014/main" id="{A76E3F65-5B50-495F-9212-9695C24B593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759232" y="5868000"/>
              <a:ext cx="0" cy="144000"/>
            </a:xfrm>
            <a:prstGeom prst="line">
              <a:avLst/>
            </a:prstGeom>
            <a:noFill/>
            <a:ln w="15875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med" len="sm"/>
            </a:ln>
          </p:spPr>
        </p:cxnSp>
      </p:grpSp>
      <p:grpSp>
        <p:nvGrpSpPr>
          <p:cNvPr id="193" name="组合 192">
            <a:extLst>
              <a:ext uri="{FF2B5EF4-FFF2-40B4-BE49-F238E27FC236}">
                <a16:creationId xmlns:a16="http://schemas.microsoft.com/office/drawing/2014/main" id="{737D722F-E992-4785-8673-BBFB86F53194}"/>
              </a:ext>
            </a:extLst>
          </p:cNvPr>
          <p:cNvGrpSpPr/>
          <p:nvPr/>
        </p:nvGrpSpPr>
        <p:grpSpPr>
          <a:xfrm>
            <a:off x="4896496" y="5446800"/>
            <a:ext cx="2304000" cy="792000"/>
            <a:chOff x="4824000" y="5446800"/>
            <a:chExt cx="2304000" cy="792000"/>
          </a:xfrm>
        </p:grpSpPr>
        <p:sp>
          <p:nvSpPr>
            <p:cNvPr id="194" name="Text Box 112">
              <a:extLst>
                <a:ext uri="{FF2B5EF4-FFF2-40B4-BE49-F238E27FC236}">
                  <a16:creationId xmlns:a16="http://schemas.microsoft.com/office/drawing/2014/main" id="{EECC89A9-46AD-4B0E-AE57-08F82025F7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16272" y="5446800"/>
              <a:ext cx="468000" cy="432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0" tIns="0" rIns="0" bIns="0" anchor="ctr" anchorCtr="1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设备号</a:t>
              </a:r>
            </a:p>
          </p:txBody>
        </p:sp>
        <p:sp>
          <p:nvSpPr>
            <p:cNvPr id="195" name="Text Box 61">
              <a:extLst>
                <a:ext uri="{FF2B5EF4-FFF2-40B4-BE49-F238E27FC236}">
                  <a16:creationId xmlns:a16="http://schemas.microsoft.com/office/drawing/2014/main" id="{04CD3086-36E0-44FA-802E-4FA24AF5B3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24000" y="5914800"/>
              <a:ext cx="684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t" anchorCtr="0"/>
            <a:lstStyle/>
            <a:p>
              <a:pPr>
                <a:lnSpc>
                  <a:spcPct val="80000"/>
                </a:lnSpc>
              </a:pPr>
              <a:r>
                <a:rPr lang="zh-CN" altLang="en-US" sz="1400" b="1" spc="-100" dirty="0">
                  <a:latin typeface="宋体" panose="02010600030101010101" pitchFamily="2" charset="-122"/>
                </a:rPr>
                <a:t>低  高位</a:t>
              </a:r>
              <a:endParaRPr lang="en-US" altLang="zh-CN" sz="1400" b="1" spc="-100" dirty="0">
                <a:latin typeface="宋体" panose="02010600030101010101" pitchFamily="2" charset="-122"/>
              </a:endParaRPr>
            </a:p>
          </p:txBody>
        </p:sp>
        <p:cxnSp>
          <p:nvCxnSpPr>
            <p:cNvPr id="196" name="直接连接符 195">
              <a:extLst>
                <a:ext uri="{FF2B5EF4-FFF2-40B4-BE49-F238E27FC236}">
                  <a16:creationId xmlns:a16="http://schemas.microsoft.com/office/drawing/2014/main" id="{3DE5C1DC-933F-4273-89F7-27FFAB1C89C7}"/>
                </a:ext>
              </a:extLst>
            </p:cNvPr>
            <p:cNvCxnSpPr/>
            <p:nvPr/>
          </p:nvCxnSpPr>
          <p:spPr bwMode="auto">
            <a:xfrm>
              <a:off x="5112000" y="6130800"/>
              <a:ext cx="792000" cy="0"/>
            </a:xfrm>
            <a:prstGeom prst="line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197" name="直接连接符 196">
              <a:extLst>
                <a:ext uri="{FF2B5EF4-FFF2-40B4-BE49-F238E27FC236}">
                  <a16:creationId xmlns:a16="http://schemas.microsoft.com/office/drawing/2014/main" id="{551F6E4D-608B-4F2C-B863-27719C85D00C}"/>
                </a:ext>
              </a:extLst>
            </p:cNvPr>
            <p:cNvCxnSpPr/>
            <p:nvPr/>
          </p:nvCxnSpPr>
          <p:spPr bwMode="auto">
            <a:xfrm>
              <a:off x="5040000" y="6238800"/>
              <a:ext cx="2088000" cy="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198" name="直接连接符 197">
              <a:extLst>
                <a:ext uri="{FF2B5EF4-FFF2-40B4-BE49-F238E27FC236}">
                  <a16:creationId xmlns:a16="http://schemas.microsoft.com/office/drawing/2014/main" id="{9CB0623F-25B9-438D-99BA-12308B49015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112000" y="5842800"/>
              <a:ext cx="0" cy="288000"/>
            </a:xfrm>
            <a:prstGeom prst="line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sm"/>
            </a:ln>
          </p:spPr>
        </p:cxnSp>
        <p:cxnSp>
          <p:nvCxnSpPr>
            <p:cNvPr id="199" name="直接连接符 198">
              <a:extLst>
                <a:ext uri="{FF2B5EF4-FFF2-40B4-BE49-F238E27FC236}">
                  <a16:creationId xmlns:a16="http://schemas.microsoft.com/office/drawing/2014/main" id="{859AEA3F-D845-40BD-95F9-F980A4C7329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040000" y="5842800"/>
              <a:ext cx="0" cy="396000"/>
            </a:xfrm>
            <a:prstGeom prst="line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sm"/>
            </a:ln>
          </p:spPr>
        </p:cxnSp>
      </p:grpSp>
      <p:grpSp>
        <p:nvGrpSpPr>
          <p:cNvPr id="200" name="组合 199">
            <a:extLst>
              <a:ext uri="{FF2B5EF4-FFF2-40B4-BE49-F238E27FC236}">
                <a16:creationId xmlns:a16="http://schemas.microsoft.com/office/drawing/2014/main" id="{BE18DAF0-AA2D-49BA-931F-6BCB376F7408}"/>
              </a:ext>
            </a:extLst>
          </p:cNvPr>
          <p:cNvGrpSpPr/>
          <p:nvPr/>
        </p:nvGrpSpPr>
        <p:grpSpPr>
          <a:xfrm>
            <a:off x="6336768" y="5157176"/>
            <a:ext cx="107926" cy="504000"/>
            <a:chOff x="3816000" y="4752000"/>
            <a:chExt cx="107926" cy="540000"/>
          </a:xfrm>
        </p:grpSpPr>
        <p:cxnSp>
          <p:nvCxnSpPr>
            <p:cNvPr id="201" name="直接连接符 200">
              <a:extLst>
                <a:ext uri="{FF2B5EF4-FFF2-40B4-BE49-F238E27FC236}">
                  <a16:creationId xmlns:a16="http://schemas.microsoft.com/office/drawing/2014/main" id="{3199F5FE-5F59-4FB8-8C19-5D86D51A8EA8}"/>
                </a:ext>
              </a:extLst>
            </p:cNvPr>
            <p:cNvCxnSpPr/>
            <p:nvPr/>
          </p:nvCxnSpPr>
          <p:spPr bwMode="auto">
            <a:xfrm>
              <a:off x="3816000" y="4752000"/>
              <a:ext cx="1" cy="540000"/>
            </a:xfrm>
            <a:prstGeom prst="line">
              <a:avLst/>
            </a:prstGeom>
            <a:noFill/>
            <a:ln w="12700" cap="sq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202" name="直接连接符 201">
              <a:extLst>
                <a:ext uri="{FF2B5EF4-FFF2-40B4-BE49-F238E27FC236}">
                  <a16:creationId xmlns:a16="http://schemas.microsoft.com/office/drawing/2014/main" id="{088F4D61-10AA-4E81-B19E-565C335A68E0}"/>
                </a:ext>
              </a:extLst>
            </p:cNvPr>
            <p:cNvCxnSpPr/>
            <p:nvPr/>
          </p:nvCxnSpPr>
          <p:spPr bwMode="auto">
            <a:xfrm>
              <a:off x="3923926" y="4760010"/>
              <a:ext cx="0" cy="531990"/>
            </a:xfrm>
            <a:prstGeom prst="line">
              <a:avLst/>
            </a:prstGeom>
            <a:noFill/>
            <a:ln w="12700" cap="sq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</p:grpSp>
    </p:spTree>
    <p:extLst>
      <p:ext uri="{BB962C8B-B14F-4D97-AF65-F5344CB8AC3E}">
        <p14:creationId xmlns:p14="http://schemas.microsoft.com/office/powerpoint/2010/main" val="3190412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1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0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10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8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3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10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10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10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5EA94F3-C5D6-46EA-AAC9-2B8D29347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t>35</a:t>
            </a:fld>
            <a:endParaRPr lang="en-US" altLang="zh-CN" dirty="0"/>
          </a:p>
        </p:txBody>
      </p:sp>
      <p:sp>
        <p:nvSpPr>
          <p:cNvPr id="80" name="Text Box 5">
            <a:extLst>
              <a:ext uri="{FF2B5EF4-FFF2-40B4-BE49-F238E27FC236}">
                <a16:creationId xmlns:a16="http://schemas.microsoft.com/office/drawing/2014/main" id="{FA5D9917-7A2D-43D9-B390-7B666CF100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000" y="332740"/>
            <a:ext cx="6491322" cy="6277616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 wrap="square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系统的组成</a:t>
            </a: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续</a:t>
            </a:r>
            <a:r>
              <a:rPr lang="en-US" altLang="zh-CN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000" b="1" dirty="0">
                <a:solidFill>
                  <a:srgbClr val="C00000"/>
                </a:solidFill>
                <a:latin typeface="宋体" panose="02010600030101010101" pitchFamily="2" charset="-122"/>
              </a:rPr>
              <a:t>： 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任务：</a:t>
            </a:r>
            <a:r>
              <a:rPr lang="zh-CN" altLang="en-US" sz="1600" b="1" dirty="0">
                <a:solidFill>
                  <a:srgbClr val="FF3399"/>
                </a:solidFill>
                <a:latin typeface="宋体" panose="02010600030101010101" pitchFamily="2" charset="-122"/>
              </a:rPr>
              <a:t>实现</a:t>
            </a:r>
            <a:r>
              <a:rPr lang="zh-CN" altLang="en-US" sz="1600" b="1" dirty="0">
                <a:latin typeface="宋体" panose="02010600030101010101" pitchFamily="2" charset="-122"/>
              </a:rPr>
              <a:t>主机</a:t>
            </a:r>
            <a:r>
              <a:rPr lang="en-US" altLang="zh-CN" sz="1600" b="1" dirty="0">
                <a:latin typeface="宋体" panose="02010600030101010101" pitchFamily="2" charset="-122"/>
              </a:rPr>
              <a:t>-</a:t>
            </a:r>
            <a:r>
              <a:rPr lang="zh-CN" altLang="en-US" sz="1600" b="1" dirty="0">
                <a:latin typeface="宋体" panose="02010600030101010101" pitchFamily="2" charset="-122"/>
              </a:rPr>
              <a:t>外设的数据交换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    I/O</a:t>
            </a:r>
            <a:r>
              <a:rPr lang="zh-CN" altLang="en-US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方式</a:t>
            </a:r>
            <a:r>
              <a:rPr lang="en-US" altLang="zh-CN" sz="2000" b="1" dirty="0">
                <a:solidFill>
                  <a:schemeClr val="accent2"/>
                </a:solidFill>
                <a:latin typeface="宋体" panose="02010600030101010101" pitchFamily="2" charset="-122"/>
              </a:rPr>
              <a:t>—         </a:t>
            </a:r>
            <a:r>
              <a:rPr lang="en-US" altLang="zh-CN" sz="1600" b="1" dirty="0">
                <a:latin typeface="宋体" panose="02010600030101010101" pitchFamily="2" charset="-122"/>
              </a:rPr>
              <a:t>(I/O</a:t>
            </a:r>
            <a:r>
              <a:rPr lang="zh-CN" altLang="en-US" sz="1600" b="1" dirty="0">
                <a:latin typeface="宋体" panose="02010600030101010101" pitchFamily="2" charset="-122"/>
              </a:rPr>
              <a:t>的软件组织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程序直接控制方式： 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600" b="1" dirty="0">
                <a:latin typeface="宋体" panose="02010600030101010101" pitchFamily="2" charset="-122"/>
              </a:rPr>
              <a:t>CPU-</a:t>
            </a:r>
            <a:r>
              <a:rPr lang="zh-CN" altLang="en-US" sz="1600" b="1" dirty="0">
                <a:latin typeface="宋体" panose="02010600030101010101" pitchFamily="2" charset="-122"/>
              </a:rPr>
              <a:t>外设间、</a:t>
            </a:r>
            <a:r>
              <a:rPr lang="en-US" altLang="zh-CN" sz="1600" b="1" dirty="0">
                <a:latin typeface="宋体" panose="02010600030101010101" pitchFamily="2" charset="-122"/>
              </a:rPr>
              <a:t>1</a:t>
            </a:r>
            <a:r>
              <a:rPr lang="zh-CN" altLang="en-US" sz="1600" b="1" dirty="0">
                <a:latin typeface="宋体" panose="02010600030101010101" pitchFamily="2" charset="-122"/>
              </a:rPr>
              <a:t>个数据</a:t>
            </a:r>
            <a:r>
              <a:rPr lang="en-US" altLang="zh-CN" sz="1600" b="1" dirty="0"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</a:rPr>
              <a:t>次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</a:t>
            </a:r>
            <a:r>
              <a:rPr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控制流程</a:t>
            </a:r>
            <a:r>
              <a:rPr lang="en-US" altLang="zh-CN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</a:t>
            </a:r>
            <a:r>
              <a:rPr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接口</a:t>
            </a:r>
            <a:r>
              <a:rPr lang="en-US" altLang="zh-CN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程序查询           直接传送</a:t>
            </a:r>
            <a:endParaRPr lang="en-US" altLang="zh-CN" sz="20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中断方式：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         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600" b="1" dirty="0">
                <a:latin typeface="宋体" panose="02010600030101010101" pitchFamily="2" charset="-122"/>
              </a:rPr>
              <a:t>CPU-</a:t>
            </a:r>
            <a:r>
              <a:rPr lang="zh-CN" altLang="en-US" sz="1600" b="1" dirty="0">
                <a:latin typeface="宋体" panose="02010600030101010101" pitchFamily="2" charset="-122"/>
              </a:rPr>
              <a:t>外设间、</a:t>
            </a:r>
            <a:r>
              <a:rPr lang="en-US" altLang="zh-CN" sz="1600" b="1" dirty="0">
                <a:latin typeface="宋体" panose="02010600030101010101" pitchFamily="2" charset="-122"/>
              </a:rPr>
              <a:t>1</a:t>
            </a:r>
            <a:r>
              <a:rPr lang="zh-CN" altLang="en-US" sz="1600" b="1" dirty="0">
                <a:latin typeface="宋体" panose="02010600030101010101" pitchFamily="2" charset="-122"/>
              </a:rPr>
              <a:t>个数据</a:t>
            </a:r>
            <a:r>
              <a:rPr lang="en-US" altLang="zh-CN" sz="1600" b="1" dirty="0"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</a:rPr>
              <a:t>次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zh-CN" altLang="en-US" sz="2000" b="1" dirty="0">
              <a:solidFill>
                <a:srgbClr val="990099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</a:t>
            </a:r>
            <a:r>
              <a:rPr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控制流程</a:t>
            </a:r>
            <a:r>
              <a:rPr lang="en-US" altLang="zh-CN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rgbClr val="0070C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solidFill>
                <a:srgbClr val="0070C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</a:t>
            </a:r>
            <a:r>
              <a:rPr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接口</a:t>
            </a:r>
            <a:r>
              <a:rPr lang="en-US" altLang="zh-CN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</a:t>
            </a:r>
            <a:r>
              <a:rPr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中断类型</a:t>
            </a:r>
            <a:r>
              <a:rPr lang="en-US" altLang="zh-CN" sz="2000" b="1" dirty="0">
                <a:solidFill>
                  <a:srgbClr val="0070C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DMA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方式：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          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(MEM</a:t>
            </a:r>
            <a:r>
              <a:rPr lang="en-US" altLang="zh-CN" sz="1600" b="1" dirty="0">
                <a:latin typeface="宋体" panose="02010600030101010101" pitchFamily="2" charset="-122"/>
              </a:rPr>
              <a:t>-</a:t>
            </a:r>
            <a:r>
              <a:rPr lang="zh-CN" altLang="en-US" sz="1600" b="1" dirty="0">
                <a:latin typeface="宋体" panose="02010600030101010101" pitchFamily="2" charset="-122"/>
              </a:rPr>
              <a:t>外设间、</a:t>
            </a:r>
            <a:r>
              <a:rPr lang="en-US" altLang="zh-CN" sz="1600" b="1" dirty="0">
                <a:latin typeface="宋体" panose="02010600030101010101" pitchFamily="2" charset="-122"/>
              </a:rPr>
              <a:t>1</a:t>
            </a:r>
            <a:r>
              <a:rPr lang="zh-CN" altLang="en-US" sz="1600" b="1" dirty="0">
                <a:latin typeface="宋体" panose="02010600030101010101" pitchFamily="2" charset="-122"/>
              </a:rPr>
              <a:t>批数据</a:t>
            </a:r>
            <a:r>
              <a:rPr lang="en-US" altLang="zh-CN" sz="1600" b="1" dirty="0"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</a:rPr>
              <a:t>次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</a:rPr>
              <a:t>        控制流程</a:t>
            </a:r>
            <a:r>
              <a:rPr lang="en-US" altLang="zh-CN" sz="2000" b="1" dirty="0">
                <a:solidFill>
                  <a:srgbClr val="0070C0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0070C0"/>
                </a:solidFill>
                <a:latin typeface="宋体" panose="02010600030101010101" pitchFamily="2" charset="-122"/>
              </a:rPr>
              <a:t>        </a:t>
            </a:r>
            <a:r>
              <a:rPr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</a:rPr>
              <a:t>接口</a:t>
            </a:r>
            <a:r>
              <a:rPr lang="en-US" altLang="zh-CN" sz="2000" b="1" dirty="0">
                <a:solidFill>
                  <a:srgbClr val="0070C0"/>
                </a:solidFill>
                <a:latin typeface="宋体" panose="02010600030101010101" pitchFamily="2" charset="-122"/>
              </a:rPr>
              <a:t>—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dirty="0">
              <a:solidFill>
                <a:srgbClr val="0070C0"/>
              </a:solidFill>
              <a:latin typeface="宋体" panose="02010600030101010101" pitchFamily="2" charset="-122"/>
            </a:endParaRP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lang="en-US" altLang="zh-CN" sz="2000" b="1" dirty="0">
                <a:solidFill>
                  <a:srgbClr val="0070C0"/>
                </a:solidFill>
                <a:latin typeface="宋体" panose="02010600030101010101" pitchFamily="2" charset="-122"/>
              </a:rPr>
              <a:t>        I/O</a:t>
            </a:r>
            <a:r>
              <a:rPr lang="zh-CN" altLang="en-US" sz="2000" b="1" dirty="0">
                <a:solidFill>
                  <a:srgbClr val="0070C0"/>
                </a:solidFill>
                <a:latin typeface="宋体" panose="02010600030101010101" pitchFamily="2" charset="-122"/>
              </a:rPr>
              <a:t>过程</a:t>
            </a:r>
            <a:r>
              <a:rPr lang="en-US" altLang="zh-CN" sz="2000" b="1" dirty="0">
                <a:solidFill>
                  <a:srgbClr val="0070C0"/>
                </a:solidFill>
                <a:latin typeface="宋体" panose="02010600030101010101" pitchFamily="2" charset="-122"/>
              </a:rPr>
              <a:t>—</a:t>
            </a:r>
          </a:p>
        </p:txBody>
      </p:sp>
      <p:sp>
        <p:nvSpPr>
          <p:cNvPr id="81" name="Text Box 5">
            <a:extLst>
              <a:ext uri="{FF2B5EF4-FFF2-40B4-BE49-F238E27FC236}">
                <a16:creationId xmlns:a16="http://schemas.microsoft.com/office/drawing/2014/main" id="{67A3232E-70B1-48AC-8CC4-C0102B517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712" y="1484784"/>
            <a:ext cx="7056581" cy="5078378"/>
          </a:xfrm>
          <a:prstGeom prst="rect">
            <a:avLst/>
          </a:prstGeom>
          <a:noFill/>
          <a:ln w="0">
            <a:noFill/>
            <a:miter lim="800000"/>
          </a:ln>
        </p:spPr>
        <p:txBody>
          <a:bodyPr wrap="square" tIns="4680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仅软件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访问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I/O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端口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直接传送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仅含交换</a:t>
            </a:r>
            <a:endParaRPr lang="en-US" altLang="zh-CN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有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种端口，</a:t>
            </a:r>
            <a:r>
              <a:rPr lang="zh-CN" altLang="en-US" sz="2000" b="1" dirty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仅有数据口</a:t>
            </a:r>
            <a:endParaRPr lang="zh-CN" altLang="en-US" sz="16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查询接口＋中断请求产生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撤销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[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＋提供类型号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]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向量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非向量、单重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多重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～优先级管理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       </a:t>
            </a:r>
            <a:r>
              <a:rPr lang="en-US" altLang="zh-CN" sz="1600" dirty="0">
                <a:latin typeface="宋体" panose="02010600030101010101" pitchFamily="2" charset="-122"/>
                <a:cs typeface="宋体" panose="02010600030101010101" pitchFamily="2" charset="-122"/>
              </a:rPr>
              <a:t>└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～请求连接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&amp;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判优 →中断控制器←</a:t>
            </a:r>
            <a:r>
              <a:rPr lang="zh-CN" altLang="en-US" sz="1600" dirty="0">
                <a:latin typeface="宋体" panose="02010600030101010101" pitchFamily="2" charset="-122"/>
                <a:cs typeface="宋体" panose="02010600030101010101" pitchFamily="2" charset="-122"/>
              </a:rPr>
              <a:t>┘</a:t>
            </a:r>
            <a:endParaRPr lang="en-US" altLang="zh-CN" sz="160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类似中断方式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传送由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DMA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接口实现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中断接口＋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DMA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请求产生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撤销＋总线控制＋批量管理</a:t>
            </a:r>
            <a:endParaRPr lang="en-US" altLang="zh-CN" sz="20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                      </a:t>
            </a:r>
            <a:r>
              <a:rPr lang="en-US" altLang="zh-CN" sz="1600" dirty="0">
                <a:latin typeface="宋体" panose="02010600030101010101" pitchFamily="2" charset="-122"/>
                <a:cs typeface="宋体" panose="02010600030101010101" pitchFamily="2" charset="-122"/>
              </a:rPr>
              <a:t>└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总线申请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～传送方式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en-US" altLang="zh-CN" sz="1600" dirty="0">
                <a:latin typeface="宋体" panose="02010600030101010101" pitchFamily="2" charset="-122"/>
                <a:cs typeface="宋体" panose="02010600030101010101" pitchFamily="2" charset="-122"/>
              </a:rPr>
              <a:t>└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←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使用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个计数器</a:t>
            </a:r>
            <a:endParaRPr lang="en-US" altLang="zh-CN" sz="1600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预处理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传送准备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＋</a:t>
            </a:r>
            <a:r>
              <a:rPr lang="en-US" altLang="zh-CN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DMA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传送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(CPU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让出总线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en-US" sz="2000" b="1" dirty="0">
                <a:latin typeface="宋体" panose="02010600030101010101" pitchFamily="2" charset="-122"/>
                <a:cs typeface="宋体" panose="02010600030101010101" pitchFamily="2" charset="-122"/>
              </a:rPr>
              <a:t>＋后处理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结束处理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</a:rPr>
              <a:t>)</a:t>
            </a:r>
          </a:p>
        </p:txBody>
      </p: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54787579-0286-49AE-B108-84C201555108}"/>
              </a:ext>
            </a:extLst>
          </p:cNvPr>
          <p:cNvGrpSpPr/>
          <p:nvPr/>
        </p:nvGrpSpPr>
        <p:grpSpPr>
          <a:xfrm>
            <a:off x="2627784" y="2564904"/>
            <a:ext cx="4463560" cy="1153896"/>
            <a:chOff x="2268128" y="4005192"/>
            <a:chExt cx="4463560" cy="1153896"/>
          </a:xfrm>
        </p:grpSpPr>
        <p:sp>
          <p:nvSpPr>
            <p:cNvPr id="83" name="Text Box 12">
              <a:extLst>
                <a:ext uri="{FF2B5EF4-FFF2-40B4-BE49-F238E27FC236}">
                  <a16:creationId xmlns:a16="http://schemas.microsoft.com/office/drawing/2014/main" id="{D7A2C72C-1944-44C8-844C-C8CA188B40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128" y="4112266"/>
              <a:ext cx="864000" cy="540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当前程序</a:t>
              </a:r>
            </a:p>
            <a:p>
              <a:pPr algn="r">
                <a:lnSpc>
                  <a:spcPct val="80000"/>
                </a:lnSpc>
                <a:spcBef>
                  <a:spcPts val="500"/>
                </a:spcBef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中断程序</a:t>
              </a:r>
            </a:p>
          </p:txBody>
        </p:sp>
        <p:sp>
          <p:nvSpPr>
            <p:cNvPr id="84" name="Text Box 19">
              <a:extLst>
                <a:ext uri="{FF2B5EF4-FFF2-40B4-BE49-F238E27FC236}">
                  <a16:creationId xmlns:a16="http://schemas.microsoft.com/office/drawing/2014/main" id="{18A73157-FE53-4042-9910-683192CDB2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128" y="4257192"/>
              <a:ext cx="395288" cy="252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CPU</a:t>
              </a:r>
            </a:p>
          </p:txBody>
        </p:sp>
        <p:sp>
          <p:nvSpPr>
            <p:cNvPr id="85" name="Rectangle 64">
              <a:extLst>
                <a:ext uri="{FF2B5EF4-FFF2-40B4-BE49-F238E27FC236}">
                  <a16:creationId xmlns:a16="http://schemas.microsoft.com/office/drawing/2014/main" id="{02FA97A9-55E3-41C7-AD7B-34D95A8945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5896" y="4185291"/>
              <a:ext cx="1260000" cy="144463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" name="Rectangle 66">
              <a:extLst>
                <a:ext uri="{FF2B5EF4-FFF2-40B4-BE49-F238E27FC236}">
                  <a16:creationId xmlns:a16="http://schemas.microsoft.com/office/drawing/2014/main" id="{EE9AD719-DAD0-4055-8ECD-3175E02CA1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5688" y="4185291"/>
              <a:ext cx="144463" cy="14446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" name="Line 71">
              <a:extLst>
                <a:ext uri="{FF2B5EF4-FFF2-40B4-BE49-F238E27FC236}">
                  <a16:creationId xmlns:a16="http://schemas.microsoft.com/office/drawing/2014/main" id="{31CECB9B-775A-4689-A751-AFB5EA038F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5896" y="4256728"/>
              <a:ext cx="1260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Text Box 85">
              <a:extLst>
                <a:ext uri="{FF2B5EF4-FFF2-40B4-BE49-F238E27FC236}">
                  <a16:creationId xmlns:a16="http://schemas.microsoft.com/office/drawing/2014/main" id="{B663ADC2-E2B3-424D-86A5-A585901E1B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8128" y="4907088"/>
              <a:ext cx="1548000" cy="252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中断接口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设备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</a:p>
          </p:txBody>
        </p:sp>
        <p:sp>
          <p:nvSpPr>
            <p:cNvPr id="89" name="Line 87">
              <a:extLst>
                <a:ext uri="{FF2B5EF4-FFF2-40B4-BE49-F238E27FC236}">
                  <a16:creationId xmlns:a16="http://schemas.microsoft.com/office/drawing/2014/main" id="{D2A3B4EC-1348-4DD4-B78B-364D6343B6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87688" y="4329754"/>
              <a:ext cx="0" cy="648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arrow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Rectangle 90">
              <a:extLst>
                <a:ext uri="{FF2B5EF4-FFF2-40B4-BE49-F238E27FC236}">
                  <a16:creationId xmlns:a16="http://schemas.microsoft.com/office/drawing/2014/main" id="{601764C4-9C16-434D-ACC3-4C7353D494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1688" y="4977192"/>
              <a:ext cx="1080000" cy="14446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" name="左大括号 90">
              <a:extLst>
                <a:ext uri="{FF2B5EF4-FFF2-40B4-BE49-F238E27FC236}">
                  <a16:creationId xmlns:a16="http://schemas.microsoft.com/office/drawing/2014/main" id="{793A7F84-C849-44ED-B0F9-443067F738B6}"/>
                </a:ext>
              </a:extLst>
            </p:cNvPr>
            <p:cNvSpPr/>
            <p:nvPr/>
          </p:nvSpPr>
          <p:spPr bwMode="auto">
            <a:xfrm>
              <a:off x="2664128" y="4221192"/>
              <a:ext cx="72000" cy="324000"/>
            </a:xfrm>
            <a:prstGeom prst="leftBrace">
              <a:avLst>
                <a:gd name="adj1" fmla="val 23172"/>
                <a:gd name="adj2" fmla="val 50000"/>
              </a:avLst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2" name="Line 71">
              <a:extLst>
                <a:ext uri="{FF2B5EF4-FFF2-40B4-BE49-F238E27FC236}">
                  <a16:creationId xmlns:a16="http://schemas.microsoft.com/office/drawing/2014/main" id="{7B811032-915E-47AE-9DDD-6AE380DC15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1688" y="5049192"/>
              <a:ext cx="1080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Rectangle 65">
              <a:extLst>
                <a:ext uri="{FF2B5EF4-FFF2-40B4-BE49-F238E27FC236}">
                  <a16:creationId xmlns:a16="http://schemas.microsoft.com/office/drawing/2014/main" id="{59C0B4DB-E47A-47BD-B43C-1DF21482C6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3688" y="4473192"/>
              <a:ext cx="648000" cy="142875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" name="Rectangle 67">
              <a:extLst>
                <a:ext uri="{FF2B5EF4-FFF2-40B4-BE49-F238E27FC236}">
                  <a16:creationId xmlns:a16="http://schemas.microsoft.com/office/drawing/2014/main" id="{046992C6-B626-40B8-A5BD-9D2050B732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47688" y="4183704"/>
              <a:ext cx="684000" cy="142875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5" name="Rectangle 69">
              <a:extLst>
                <a:ext uri="{FF2B5EF4-FFF2-40B4-BE49-F238E27FC236}">
                  <a16:creationId xmlns:a16="http://schemas.microsoft.com/office/drawing/2014/main" id="{8D842CE8-AF26-4E5F-82F0-495D92AB7F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9688" y="4473192"/>
              <a:ext cx="146050" cy="1428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" name="Line 72">
              <a:extLst>
                <a:ext uri="{FF2B5EF4-FFF2-40B4-BE49-F238E27FC236}">
                  <a16:creationId xmlns:a16="http://schemas.microsoft.com/office/drawing/2014/main" id="{63676034-5F34-4214-81E1-2A6E8AFE13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31688" y="4257192"/>
              <a:ext cx="216000" cy="28800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Line 75">
              <a:extLst>
                <a:ext uri="{FF2B5EF4-FFF2-40B4-BE49-F238E27FC236}">
                  <a16:creationId xmlns:a16="http://schemas.microsoft.com/office/drawing/2014/main" id="{5B50C553-8B78-45AF-B415-B373F3BB22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47688" y="4256728"/>
              <a:ext cx="6840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Line 92">
              <a:extLst>
                <a:ext uri="{FF2B5EF4-FFF2-40B4-BE49-F238E27FC236}">
                  <a16:creationId xmlns:a16="http://schemas.microsoft.com/office/drawing/2014/main" id="{276FD1B5-DEBA-4C38-A837-A0279C4AE3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95336" y="4328165"/>
              <a:ext cx="0" cy="64800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Text Box 100">
              <a:extLst>
                <a:ext uri="{FF2B5EF4-FFF2-40B4-BE49-F238E27FC236}">
                  <a16:creationId xmlns:a16="http://schemas.microsoft.com/office/drawing/2014/main" id="{05614FCA-B612-475B-B650-A852340F9F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7688" y="4005192"/>
              <a:ext cx="252000" cy="432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eaVert" lIns="18000" tIns="10800" rIns="18000" bIns="10800" anchor="t" anchorCtr="1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>
                  <a:highlight>
                    <a:srgbClr val="FFCC99"/>
                  </a:highlight>
                  <a:latin typeface="宋体" panose="02010600030101010101" pitchFamily="2" charset="-122"/>
                </a:rPr>
                <a:t>响应</a:t>
              </a:r>
            </a:p>
          </p:txBody>
        </p:sp>
        <p:sp>
          <p:nvSpPr>
            <p:cNvPr id="100" name="Text Box 101">
              <a:extLst>
                <a:ext uri="{FF2B5EF4-FFF2-40B4-BE49-F238E27FC236}">
                  <a16:creationId xmlns:a16="http://schemas.microsoft.com/office/drawing/2014/main" id="{D198C3FC-B80F-4895-86C6-A2E9652377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59688" y="4005192"/>
              <a:ext cx="252000" cy="432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eaVert" lIns="18000" tIns="10800" rIns="18000" bIns="10800" anchor="ctr" anchorCtr="1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返回</a:t>
              </a:r>
            </a:p>
          </p:txBody>
        </p:sp>
        <p:sp>
          <p:nvSpPr>
            <p:cNvPr id="101" name="Text Box 96">
              <a:extLst>
                <a:ext uri="{FF2B5EF4-FFF2-40B4-BE49-F238E27FC236}">
                  <a16:creationId xmlns:a16="http://schemas.microsoft.com/office/drawing/2014/main" id="{FD8EAAC0-7A6C-4E88-990C-AD64D0770F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7336" y="4473192"/>
              <a:ext cx="468000" cy="432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horz" lIns="18000" tIns="10800" rIns="18000" bIns="10800" anchor="ctr" anchorCtr="0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中断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请求</a:t>
              </a:r>
            </a:p>
          </p:txBody>
        </p:sp>
        <p:sp>
          <p:nvSpPr>
            <p:cNvPr id="102" name="Line 95">
              <a:extLst>
                <a:ext uri="{FF2B5EF4-FFF2-40B4-BE49-F238E27FC236}">
                  <a16:creationId xmlns:a16="http://schemas.microsoft.com/office/drawing/2014/main" id="{32BA736C-316D-4033-B0E5-30C9C52D53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659688" y="4328165"/>
              <a:ext cx="0" cy="648000"/>
            </a:xfrm>
            <a:prstGeom prst="line">
              <a:avLst/>
            </a:prstGeom>
            <a:noFill/>
            <a:ln w="12700">
              <a:solidFill>
                <a:srgbClr val="CC3300"/>
              </a:solidFill>
              <a:prstDash val="sysDash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Rectangle 86">
              <a:extLst>
                <a:ext uri="{FF2B5EF4-FFF2-40B4-BE49-F238E27FC236}">
                  <a16:creationId xmlns:a16="http://schemas.microsoft.com/office/drawing/2014/main" id="{EBDBD3C9-EE51-4AEF-B903-6A7611A5BF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9336" y="4977192"/>
              <a:ext cx="1296000" cy="14446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" name="Text Box 88">
              <a:extLst>
                <a:ext uri="{FF2B5EF4-FFF2-40B4-BE49-F238E27FC236}">
                  <a16:creationId xmlns:a16="http://schemas.microsoft.com/office/drawing/2014/main" id="{C960CD11-848D-4AD3-A3DC-5C2C60DC81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03688" y="4689192"/>
              <a:ext cx="468000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horz" lIns="18000" tIns="10800" rIns="18000" bIns="10800" anchor="ctr" anchorCtr="0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传送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05" name="Line 89">
              <a:extLst>
                <a:ext uri="{FF2B5EF4-FFF2-40B4-BE49-F238E27FC236}">
                  <a16:creationId xmlns:a16="http://schemas.microsoft.com/office/drawing/2014/main" id="{27362EAA-A9CC-4C5A-B2E2-D453377E97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1688" y="4617192"/>
              <a:ext cx="0" cy="360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arrow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Line 71">
              <a:extLst>
                <a:ext uri="{FF2B5EF4-FFF2-40B4-BE49-F238E27FC236}">
                  <a16:creationId xmlns:a16="http://schemas.microsoft.com/office/drawing/2014/main" id="{09F05F1F-E3A2-434C-90E7-C67AB77CB0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43688" y="5049192"/>
              <a:ext cx="11520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Text Box 96">
              <a:extLst>
                <a:ext uri="{FF2B5EF4-FFF2-40B4-BE49-F238E27FC236}">
                  <a16:creationId xmlns:a16="http://schemas.microsoft.com/office/drawing/2014/main" id="{7E3737DB-ED15-41F0-8B24-52D7C6FFDE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91688" y="4689192"/>
              <a:ext cx="468000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horz" lIns="18000" tIns="10800" rIns="18000" bIns="10800" anchor="ctr" anchorCtr="0"/>
            <a:lstStyle/>
            <a:p>
              <a:pPr algn="l"/>
              <a:r>
                <a:rPr lang="zh-CN" altLang="en-US" sz="1600" b="1" dirty="0">
                  <a:latin typeface="宋体" panose="02010600030101010101" pitchFamily="2" charset="-122"/>
                </a:rPr>
                <a:t>请求</a:t>
              </a:r>
            </a:p>
          </p:txBody>
        </p:sp>
        <p:sp>
          <p:nvSpPr>
            <p:cNvPr id="108" name="Line 89">
              <a:extLst>
                <a:ext uri="{FF2B5EF4-FFF2-40B4-BE49-F238E27FC236}">
                  <a16:creationId xmlns:a16="http://schemas.microsoft.com/office/drawing/2014/main" id="{08F39BC6-9363-4413-A405-36AE5A0FF6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15688" y="4617192"/>
              <a:ext cx="0" cy="360000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prstDash val="sysDash"/>
              <a:round/>
              <a:tailEnd type="arrow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Text Box 91">
              <a:extLst>
                <a:ext uri="{FF2B5EF4-FFF2-40B4-BE49-F238E27FC236}">
                  <a16:creationId xmlns:a16="http://schemas.microsoft.com/office/drawing/2014/main" id="{D8877E21-D5CD-4E49-A81B-402B9E82D0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15688" y="4689192"/>
              <a:ext cx="468000" cy="216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horz" lIns="18000" tIns="10800" rIns="18000" bIns="10800" anchor="ctr" anchorCtr="0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启动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10" name="Rectangle 69">
              <a:extLst>
                <a:ext uri="{FF2B5EF4-FFF2-40B4-BE49-F238E27FC236}">
                  <a16:creationId xmlns:a16="http://schemas.microsoft.com/office/drawing/2014/main" id="{2AFA4C18-9D69-44F7-89CC-5A70C5CC07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3688" y="4473192"/>
              <a:ext cx="146050" cy="1428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" name="Line 73">
              <a:extLst>
                <a:ext uri="{FF2B5EF4-FFF2-40B4-BE49-F238E27FC236}">
                  <a16:creationId xmlns:a16="http://schemas.microsoft.com/office/drawing/2014/main" id="{65E6C411-B2DF-47D4-897D-C9FEF4C247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83688" y="4545192"/>
              <a:ext cx="648000" cy="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Line 87">
              <a:extLst>
                <a:ext uri="{FF2B5EF4-FFF2-40B4-BE49-F238E27FC236}">
                  <a16:creationId xmlns:a16="http://schemas.microsoft.com/office/drawing/2014/main" id="{B529522A-97E9-49B5-BF1E-29E8E434AE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543688" y="4977192"/>
              <a:ext cx="0" cy="14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Text Box 96">
              <a:extLst>
                <a:ext uri="{FF2B5EF4-FFF2-40B4-BE49-F238E27FC236}">
                  <a16:creationId xmlns:a16="http://schemas.microsoft.com/office/drawing/2014/main" id="{6ABF1757-0D97-4539-98D3-38A0874A61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7896" y="4473192"/>
              <a:ext cx="468000" cy="432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horz" lIns="18000" tIns="10800" rIns="18000" bIns="10800" anchor="ctr" anchorCtr="0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启动设备</a:t>
              </a:r>
            </a:p>
          </p:txBody>
        </p:sp>
        <p:sp>
          <p:nvSpPr>
            <p:cNvPr id="114" name="Line 70">
              <a:extLst>
                <a:ext uri="{FF2B5EF4-FFF2-40B4-BE49-F238E27FC236}">
                  <a16:creationId xmlns:a16="http://schemas.microsoft.com/office/drawing/2014/main" id="{8AA712EB-1D77-4BA1-B373-E6A0875B9A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5336" y="4256729"/>
              <a:ext cx="288000" cy="28800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prstDash val="sysDash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5" name="组合 114">
            <a:extLst>
              <a:ext uri="{FF2B5EF4-FFF2-40B4-BE49-F238E27FC236}">
                <a16:creationId xmlns:a16="http://schemas.microsoft.com/office/drawing/2014/main" id="{180A71B9-35F2-41E7-BBB3-22C4AC30CA26}"/>
              </a:ext>
            </a:extLst>
          </p:cNvPr>
          <p:cNvGrpSpPr/>
          <p:nvPr/>
        </p:nvGrpSpPr>
        <p:grpSpPr>
          <a:xfrm>
            <a:off x="7236296" y="548680"/>
            <a:ext cx="1728000" cy="2124000"/>
            <a:chOff x="7235512" y="1944000"/>
            <a:chExt cx="1728000" cy="2124000"/>
          </a:xfrm>
        </p:grpSpPr>
        <p:sp>
          <p:nvSpPr>
            <p:cNvPr id="116" name="Text Box 202">
              <a:extLst>
                <a:ext uri="{FF2B5EF4-FFF2-40B4-BE49-F238E27FC236}">
                  <a16:creationId xmlns:a16="http://schemas.microsoft.com/office/drawing/2014/main" id="{646E32D5-338C-4318-8D18-792328F23F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7512" y="2376000"/>
              <a:ext cx="1656000" cy="11880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vert="horz" lIns="0" tIns="0" rIns="0" bIns="0" anchor="ctr"/>
            <a:lstStyle/>
            <a:p>
              <a:pPr algn="ctr" eaLnBrk="0" hangingPunct="0">
                <a:lnSpc>
                  <a:spcPct val="90000"/>
                </a:lnSpc>
              </a:pP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17" name="AutoShape 175">
              <a:extLst>
                <a:ext uri="{FF2B5EF4-FFF2-40B4-BE49-F238E27FC236}">
                  <a16:creationId xmlns:a16="http://schemas.microsoft.com/office/drawing/2014/main" id="{82D5CFE6-CFCB-4692-9DEF-B0E7C0CC67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9512" y="2880000"/>
              <a:ext cx="1080000" cy="216000"/>
            </a:xfrm>
            <a:prstGeom prst="flowChartDecision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/>
                <a:t>就绪？</a:t>
              </a:r>
            </a:p>
          </p:txBody>
        </p:sp>
        <p:sp>
          <p:nvSpPr>
            <p:cNvPr id="118" name="Text Box 177">
              <a:extLst>
                <a:ext uri="{FF2B5EF4-FFF2-40B4-BE49-F238E27FC236}">
                  <a16:creationId xmlns:a16="http://schemas.microsoft.com/office/drawing/2014/main" id="{A595B4C7-E04D-40C0-BBEF-91C3D1135A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15512" y="2808000"/>
              <a:ext cx="144000" cy="180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N</a:t>
              </a:r>
            </a:p>
          </p:txBody>
        </p:sp>
        <p:sp>
          <p:nvSpPr>
            <p:cNvPr id="119" name="Text Box 182">
              <a:extLst>
                <a:ext uri="{FF2B5EF4-FFF2-40B4-BE49-F238E27FC236}">
                  <a16:creationId xmlns:a16="http://schemas.microsoft.com/office/drawing/2014/main" id="{F492D0C4-FD45-4D06-B963-CC37189F89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79512" y="3312000"/>
              <a:ext cx="1512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与外设</a:t>
              </a: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交换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数据</a:t>
              </a:r>
            </a:p>
          </p:txBody>
        </p:sp>
        <p:sp>
          <p:nvSpPr>
            <p:cNvPr id="120" name="Text Box 184">
              <a:extLst>
                <a:ext uri="{FF2B5EF4-FFF2-40B4-BE49-F238E27FC236}">
                  <a16:creationId xmlns:a16="http://schemas.microsoft.com/office/drawing/2014/main" id="{FB6DC107-E789-42FB-A64A-9EFE4A26E4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24328" y="2520000"/>
              <a:ext cx="1152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读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外设状态</a:t>
              </a:r>
            </a:p>
          </p:txBody>
        </p:sp>
        <p:sp>
          <p:nvSpPr>
            <p:cNvPr id="121" name="Text Box 185">
              <a:extLst>
                <a:ext uri="{FF2B5EF4-FFF2-40B4-BE49-F238E27FC236}">
                  <a16:creationId xmlns:a16="http://schemas.microsoft.com/office/drawing/2014/main" id="{95956037-C0D6-4678-9C53-B4C6D509D8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20000" y="3096000"/>
              <a:ext cx="144000" cy="180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Y</a:t>
              </a:r>
            </a:p>
          </p:txBody>
        </p:sp>
        <p:sp>
          <p:nvSpPr>
            <p:cNvPr id="122" name="AutoShape 187">
              <a:extLst>
                <a:ext uri="{FF2B5EF4-FFF2-40B4-BE49-F238E27FC236}">
                  <a16:creationId xmlns:a16="http://schemas.microsoft.com/office/drawing/2014/main" id="{34897E9B-0A9F-4D5C-B6DE-154D3C6085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9512" y="3672000"/>
              <a:ext cx="1080000" cy="216000"/>
            </a:xfrm>
            <a:prstGeom prst="flowChartDecision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/>
                <a:t>传完？</a:t>
              </a:r>
            </a:p>
          </p:txBody>
        </p:sp>
        <p:sp>
          <p:nvSpPr>
            <p:cNvPr id="123" name="Text Box 193">
              <a:extLst>
                <a:ext uri="{FF2B5EF4-FFF2-40B4-BE49-F238E27FC236}">
                  <a16:creationId xmlns:a16="http://schemas.microsoft.com/office/drawing/2014/main" id="{DC436C1C-1F98-42BF-89D7-11C7E78331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24456" y="2088000"/>
              <a:ext cx="1152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启动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外设</a:t>
              </a:r>
            </a:p>
          </p:txBody>
        </p:sp>
        <p:cxnSp>
          <p:nvCxnSpPr>
            <p:cNvPr id="124" name="直接箭头连接符 123">
              <a:extLst>
                <a:ext uri="{FF2B5EF4-FFF2-40B4-BE49-F238E27FC236}">
                  <a16:creationId xmlns:a16="http://schemas.microsoft.com/office/drawing/2014/main" id="{1A528763-3350-4909-AE60-158D662275B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100178" y="1944000"/>
              <a:ext cx="0" cy="144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5" name="直接箭头连接符 124">
              <a:extLst>
                <a:ext uri="{FF2B5EF4-FFF2-40B4-BE49-F238E27FC236}">
                  <a16:creationId xmlns:a16="http://schemas.microsoft.com/office/drawing/2014/main" id="{AC9A8340-309E-4A13-A97C-05B8F172CC80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100264" y="2304000"/>
              <a:ext cx="0" cy="216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6" name="直接箭头连接符 125">
              <a:extLst>
                <a:ext uri="{FF2B5EF4-FFF2-40B4-BE49-F238E27FC236}">
                  <a16:creationId xmlns:a16="http://schemas.microsoft.com/office/drawing/2014/main" id="{A1044BA7-AD96-4B37-B5BA-915D9EE341A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100256" y="2736000"/>
              <a:ext cx="0" cy="144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7" name="直接箭头连接符 126">
              <a:extLst>
                <a:ext uri="{FF2B5EF4-FFF2-40B4-BE49-F238E27FC236}">
                  <a16:creationId xmlns:a16="http://schemas.microsoft.com/office/drawing/2014/main" id="{B6DA2578-6458-4280-B42B-E33C822139A2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100232" y="3096000"/>
              <a:ext cx="0" cy="216024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8" name="直接箭头连接符 127">
              <a:extLst>
                <a:ext uri="{FF2B5EF4-FFF2-40B4-BE49-F238E27FC236}">
                  <a16:creationId xmlns:a16="http://schemas.microsoft.com/office/drawing/2014/main" id="{D7E4C32E-77C6-45EA-8012-2C530725727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100232" y="3528000"/>
              <a:ext cx="0" cy="144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9" name="直接箭头连接符 128">
              <a:extLst>
                <a:ext uri="{FF2B5EF4-FFF2-40B4-BE49-F238E27FC236}">
                  <a16:creationId xmlns:a16="http://schemas.microsoft.com/office/drawing/2014/main" id="{1AE8B43F-D206-4E79-A52D-8A461D2EB57A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100170" y="3888000"/>
              <a:ext cx="0" cy="180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30" name="Text Box 177">
              <a:extLst>
                <a:ext uri="{FF2B5EF4-FFF2-40B4-BE49-F238E27FC236}">
                  <a16:creationId xmlns:a16="http://schemas.microsoft.com/office/drawing/2014/main" id="{59C1DE2E-80A6-45C3-8609-ACDED43725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79512" y="3600000"/>
              <a:ext cx="144000" cy="180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N</a:t>
              </a:r>
            </a:p>
          </p:txBody>
        </p:sp>
        <p:sp>
          <p:nvSpPr>
            <p:cNvPr id="131" name="Text Box 185">
              <a:extLst>
                <a:ext uri="{FF2B5EF4-FFF2-40B4-BE49-F238E27FC236}">
                  <a16:creationId xmlns:a16="http://schemas.microsoft.com/office/drawing/2014/main" id="{E913F8AA-2F0C-4600-9DCD-BB5924AE49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20000" y="3888000"/>
              <a:ext cx="144000" cy="180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Y</a:t>
              </a:r>
            </a:p>
          </p:txBody>
        </p:sp>
        <p:cxnSp>
          <p:nvCxnSpPr>
            <p:cNvPr id="132" name="直接箭头连接符 131">
              <a:extLst>
                <a:ext uri="{FF2B5EF4-FFF2-40B4-BE49-F238E27FC236}">
                  <a16:creationId xmlns:a16="http://schemas.microsoft.com/office/drawing/2014/main" id="{A7B00CCB-1C3E-4CCD-9253-4FD6B4FD0FD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235512" y="1980000"/>
              <a:ext cx="864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3" name="直接箭头连接符 132">
              <a:extLst>
                <a:ext uri="{FF2B5EF4-FFF2-40B4-BE49-F238E27FC236}">
                  <a16:creationId xmlns:a16="http://schemas.microsoft.com/office/drawing/2014/main" id="{BF26CFA9-8CB1-4D84-841B-CC1C9EBBFB92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7235512" y="1980000"/>
              <a:ext cx="0" cy="1800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4" name="直接箭头连接符 133">
              <a:extLst>
                <a:ext uri="{FF2B5EF4-FFF2-40B4-BE49-F238E27FC236}">
                  <a16:creationId xmlns:a16="http://schemas.microsoft.com/office/drawing/2014/main" id="{2E632DBC-E76D-40D1-BD72-B335561A125A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7235512" y="3780000"/>
              <a:ext cx="324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5" name="直接箭头连接符 134">
              <a:extLst>
                <a:ext uri="{FF2B5EF4-FFF2-40B4-BE49-F238E27FC236}">
                  <a16:creationId xmlns:a16="http://schemas.microsoft.com/office/drawing/2014/main" id="{423A998E-17DE-4284-94D4-924095A092C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379512" y="2430000"/>
              <a:ext cx="720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56" name="直接箭头连接符 155">
              <a:extLst>
                <a:ext uri="{FF2B5EF4-FFF2-40B4-BE49-F238E27FC236}">
                  <a16:creationId xmlns:a16="http://schemas.microsoft.com/office/drawing/2014/main" id="{279950A7-D8C5-4435-9C45-D317E8DF10DC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7379512" y="2430000"/>
              <a:ext cx="0" cy="558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7" name="直接箭头连接符 156">
              <a:extLst>
                <a:ext uri="{FF2B5EF4-FFF2-40B4-BE49-F238E27FC236}">
                  <a16:creationId xmlns:a16="http://schemas.microsoft.com/office/drawing/2014/main" id="{8528C716-9BAE-44F1-AFC2-802FA5B0E787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7379512" y="2988000"/>
              <a:ext cx="18000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58" name="组合 157">
            <a:extLst>
              <a:ext uri="{FF2B5EF4-FFF2-40B4-BE49-F238E27FC236}">
                <a16:creationId xmlns:a16="http://schemas.microsoft.com/office/drawing/2014/main" id="{93931C6F-D98B-49B5-B190-F676C14A5552}"/>
              </a:ext>
            </a:extLst>
          </p:cNvPr>
          <p:cNvGrpSpPr/>
          <p:nvPr/>
        </p:nvGrpSpPr>
        <p:grpSpPr>
          <a:xfrm>
            <a:off x="7271992" y="2782800"/>
            <a:ext cx="1656239" cy="2663936"/>
            <a:chOff x="9353" y="4252"/>
            <a:chExt cx="2608" cy="4195"/>
          </a:xfrm>
        </p:grpSpPr>
        <p:cxnSp>
          <p:nvCxnSpPr>
            <p:cNvPr id="159" name="直接箭头连接符 158">
              <a:extLst>
                <a:ext uri="{FF2B5EF4-FFF2-40B4-BE49-F238E27FC236}">
                  <a16:creationId xmlns:a16="http://schemas.microsoft.com/office/drawing/2014/main" id="{67712DA2-15D2-43DC-8286-5D6BE38CAE90}"/>
                </a:ext>
              </a:extLst>
            </p:cNvPr>
            <p:cNvCxnSpPr/>
            <p:nvPr>
              <p:custDataLst>
                <p:tags r:id="rId7"/>
              </p:custDataLst>
            </p:nvPr>
          </p:nvCxnSpPr>
          <p:spPr bwMode="auto">
            <a:xfrm>
              <a:off x="10658" y="4252"/>
              <a:ext cx="0" cy="22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sp>
          <p:nvSpPr>
            <p:cNvPr id="161" name="Text Box 382">
              <a:extLst>
                <a:ext uri="{FF2B5EF4-FFF2-40B4-BE49-F238E27FC236}">
                  <a16:creationId xmlns:a16="http://schemas.microsoft.com/office/drawing/2014/main" id="{3ED2C852-572F-4649-88F1-086A1D77565C}"/>
                </a:ext>
              </a:extLst>
            </p:cNvPr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9353" y="4479"/>
              <a:ext cx="2608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000" tIns="0" rIns="0" bIns="0" anchor="ctr"/>
            <a:lstStyle/>
            <a:p>
              <a:pPr ea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保存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现场</a:t>
              </a:r>
            </a:p>
          </p:txBody>
        </p:sp>
        <p:sp>
          <p:nvSpPr>
            <p:cNvPr id="162" name="Text Box 383">
              <a:extLst>
                <a:ext uri="{FF2B5EF4-FFF2-40B4-BE49-F238E27FC236}">
                  <a16:creationId xmlns:a16="http://schemas.microsoft.com/office/drawing/2014/main" id="{4737DDA5-2625-4740-BC21-87B475AB75A1}"/>
                </a:ext>
              </a:extLst>
            </p:cNvPr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9865" y="6179"/>
              <a:ext cx="1587" cy="567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 b="1" dirty="0">
                  <a:latin typeface="宋体" panose="02010600030101010101" pitchFamily="2" charset="-122"/>
                </a:rPr>
                <a:t>设备</a:t>
              </a:r>
              <a:r>
                <a:rPr lang="zh-CN" altLang="en-US" sz="18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服务</a:t>
              </a:r>
            </a:p>
          </p:txBody>
        </p:sp>
        <p:sp>
          <p:nvSpPr>
            <p:cNvPr id="163" name="Text Box 385">
              <a:extLst>
                <a:ext uri="{FF2B5EF4-FFF2-40B4-BE49-F238E27FC236}">
                  <a16:creationId xmlns:a16="http://schemas.microsoft.com/office/drawing/2014/main" id="{6D5E0D0E-25DE-4747-8AB6-44A22F91C230}"/>
                </a:ext>
              </a:extLst>
            </p:cNvPr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9921" y="8107"/>
              <a:ext cx="1474" cy="34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中断返回</a:t>
              </a:r>
            </a:p>
          </p:txBody>
        </p:sp>
        <p:cxnSp>
          <p:nvCxnSpPr>
            <p:cNvPr id="164" name="直接箭头连接符 163">
              <a:extLst>
                <a:ext uri="{FF2B5EF4-FFF2-40B4-BE49-F238E27FC236}">
                  <a16:creationId xmlns:a16="http://schemas.microsoft.com/office/drawing/2014/main" id="{7A77E224-0CB7-4F51-AC7B-C42D9452F9BB}"/>
                </a:ext>
              </a:extLst>
            </p:cNvPr>
            <p:cNvCxnSpPr/>
            <p:nvPr>
              <p:custDataLst>
                <p:tags r:id="rId11"/>
              </p:custDataLst>
            </p:nvPr>
          </p:nvCxnSpPr>
          <p:spPr bwMode="auto">
            <a:xfrm flipH="1">
              <a:off x="10658" y="4819"/>
              <a:ext cx="1" cy="22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165" name="直接箭头连接符 164">
              <a:extLst>
                <a:ext uri="{FF2B5EF4-FFF2-40B4-BE49-F238E27FC236}">
                  <a16:creationId xmlns:a16="http://schemas.microsoft.com/office/drawing/2014/main" id="{BE5C34EF-A11F-47F1-BA03-BDA0A542C096}"/>
                </a:ext>
              </a:extLst>
            </p:cNvPr>
            <p:cNvCxnSpPr/>
            <p:nvPr>
              <p:custDataLst>
                <p:tags r:id="rId12"/>
              </p:custDataLst>
            </p:nvPr>
          </p:nvCxnSpPr>
          <p:spPr bwMode="auto">
            <a:xfrm>
              <a:off x="10658" y="5613"/>
              <a:ext cx="0" cy="56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171" name="直接箭头连接符 170">
              <a:extLst>
                <a:ext uri="{FF2B5EF4-FFF2-40B4-BE49-F238E27FC236}">
                  <a16:creationId xmlns:a16="http://schemas.microsoft.com/office/drawing/2014/main" id="{5879BEF9-6596-4962-9DAC-4F310C3F73A2}"/>
                </a:ext>
              </a:extLst>
            </p:cNvPr>
            <p:cNvCxnSpPr/>
            <p:nvPr>
              <p:custDataLst>
                <p:tags r:id="rId13"/>
              </p:custDataLst>
            </p:nvPr>
          </p:nvCxnSpPr>
          <p:spPr bwMode="auto">
            <a:xfrm>
              <a:off x="10658" y="6746"/>
              <a:ext cx="0" cy="22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172" name="直接箭头连接符 171">
              <a:extLst>
                <a:ext uri="{FF2B5EF4-FFF2-40B4-BE49-F238E27FC236}">
                  <a16:creationId xmlns:a16="http://schemas.microsoft.com/office/drawing/2014/main" id="{DF730CB7-D99F-4805-9388-E8FF88FA96FD}"/>
                </a:ext>
              </a:extLst>
            </p:cNvPr>
            <p:cNvCxnSpPr/>
            <p:nvPr>
              <p:custDataLst>
                <p:tags r:id="rId14"/>
              </p:custDataLst>
            </p:nvPr>
          </p:nvCxnSpPr>
          <p:spPr bwMode="auto">
            <a:xfrm>
              <a:off x="10658" y="6973"/>
              <a:ext cx="2" cy="56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173" name="直接箭头连接符 172">
              <a:extLst>
                <a:ext uri="{FF2B5EF4-FFF2-40B4-BE49-F238E27FC236}">
                  <a16:creationId xmlns:a16="http://schemas.microsoft.com/office/drawing/2014/main" id="{F3435815-45EB-4C7D-A474-D2604EC80BFF}"/>
                </a:ext>
              </a:extLst>
            </p:cNvPr>
            <p:cNvCxnSpPr/>
            <p:nvPr>
              <p:custDataLst>
                <p:tags r:id="rId15"/>
              </p:custDataLst>
            </p:nvPr>
          </p:nvCxnSpPr>
          <p:spPr bwMode="auto">
            <a:xfrm flipH="1">
              <a:off x="10658" y="5046"/>
              <a:ext cx="1" cy="56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179" name="直接箭头连接符 178">
              <a:extLst>
                <a:ext uri="{FF2B5EF4-FFF2-40B4-BE49-F238E27FC236}">
                  <a16:creationId xmlns:a16="http://schemas.microsoft.com/office/drawing/2014/main" id="{20922961-5887-4A5E-BBF4-CF5557E2F606}"/>
                </a:ext>
              </a:extLst>
            </p:cNvPr>
            <p:cNvCxnSpPr/>
            <p:nvPr>
              <p:custDataLst>
                <p:tags r:id="rId16"/>
              </p:custDataLst>
            </p:nvPr>
          </p:nvCxnSpPr>
          <p:spPr bwMode="auto">
            <a:xfrm flipH="1">
              <a:off x="10658" y="7880"/>
              <a:ext cx="2" cy="22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sp>
          <p:nvSpPr>
            <p:cNvPr id="182" name="Text Box 382">
              <a:extLst>
                <a:ext uri="{FF2B5EF4-FFF2-40B4-BE49-F238E27FC236}">
                  <a16:creationId xmlns:a16="http://schemas.microsoft.com/office/drawing/2014/main" id="{DCEFFC92-925F-49F3-B8EA-DAFF8158FC63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9353" y="7540"/>
              <a:ext cx="2608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36000" tIns="0" rIns="0" bIns="0" anchor="ctr"/>
            <a:lstStyle/>
            <a:p>
              <a:pPr ea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恢复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现场</a:t>
              </a:r>
            </a:p>
          </p:txBody>
        </p:sp>
      </p:grpSp>
      <p:grpSp>
        <p:nvGrpSpPr>
          <p:cNvPr id="183" name="组合 182">
            <a:extLst>
              <a:ext uri="{FF2B5EF4-FFF2-40B4-BE49-F238E27FC236}">
                <a16:creationId xmlns:a16="http://schemas.microsoft.com/office/drawing/2014/main" id="{4D2D97A6-20C6-4650-B663-E796CA991B5B}"/>
              </a:ext>
            </a:extLst>
          </p:cNvPr>
          <p:cNvGrpSpPr/>
          <p:nvPr/>
        </p:nvGrpSpPr>
        <p:grpSpPr>
          <a:xfrm>
            <a:off x="7523992" y="2782800"/>
            <a:ext cx="1368000" cy="2286000"/>
            <a:chOff x="7596000" y="2772000"/>
            <a:chExt cx="1368000" cy="2286000"/>
          </a:xfrm>
        </p:grpSpPr>
        <p:sp>
          <p:nvSpPr>
            <p:cNvPr id="184" name="Text Box 380">
              <a:extLst>
                <a:ext uri="{FF2B5EF4-FFF2-40B4-BE49-F238E27FC236}">
                  <a16:creationId xmlns:a16="http://schemas.microsoft.com/office/drawing/2014/main" id="{64F946BE-7B9C-4EDE-AB18-20340CE4D795}"/>
                </a:ext>
              </a:extLst>
            </p:cNvPr>
            <p:cNvSpPr txBox="1"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7811921" y="3635485"/>
              <a:ext cx="720159" cy="215909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开中断</a:t>
              </a:r>
            </a:p>
          </p:txBody>
        </p:sp>
        <p:sp>
          <p:nvSpPr>
            <p:cNvPr id="185" name="Text Box 382">
              <a:extLst>
                <a:ext uri="{FF2B5EF4-FFF2-40B4-BE49-F238E27FC236}">
                  <a16:creationId xmlns:a16="http://schemas.microsoft.com/office/drawing/2014/main" id="{2EAA1F69-7646-4EC3-9FF7-869B6046E617}"/>
                </a:ext>
              </a:extLst>
            </p:cNvPr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8208000" y="2934000"/>
              <a:ext cx="756000" cy="180000"/>
            </a:xfrm>
            <a:prstGeom prst="rect">
              <a:avLst/>
            </a:prstGeom>
            <a:solidFill>
              <a:srgbClr val="CCCCFF"/>
            </a:solidFill>
            <a:ln w="1587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&amp;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屏蔽字</a:t>
              </a:r>
            </a:p>
          </p:txBody>
        </p:sp>
        <p:sp>
          <p:nvSpPr>
            <p:cNvPr id="186" name="Text Box 380">
              <a:extLst>
                <a:ext uri="{FF2B5EF4-FFF2-40B4-BE49-F238E27FC236}">
                  <a16:creationId xmlns:a16="http://schemas.microsoft.com/office/drawing/2014/main" id="{AE22DD5B-38FE-40CB-A575-8BB9FF8B1C77}"/>
                </a:ext>
              </a:extLst>
            </p:cNvPr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7811921" y="4499756"/>
              <a:ext cx="720159" cy="215909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关中断</a:t>
              </a:r>
            </a:p>
          </p:txBody>
        </p:sp>
        <p:sp>
          <p:nvSpPr>
            <p:cNvPr id="187" name="Text Box 380">
              <a:extLst>
                <a:ext uri="{FF2B5EF4-FFF2-40B4-BE49-F238E27FC236}">
                  <a16:creationId xmlns:a16="http://schemas.microsoft.com/office/drawing/2014/main" id="{CD2FFD58-6742-4918-AA32-2913BBA19525}"/>
                </a:ext>
              </a:extLst>
            </p:cNvPr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596000" y="3276060"/>
              <a:ext cx="1152001" cy="215909"/>
            </a:xfrm>
            <a:prstGeom prst="rect">
              <a:avLst/>
            </a:prstGeom>
            <a:solidFill>
              <a:srgbClr val="CCCCFF"/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修改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屏蔽字</a:t>
              </a:r>
            </a:p>
          </p:txBody>
        </p:sp>
        <p:sp>
          <p:nvSpPr>
            <p:cNvPr id="188" name="Text Box 382">
              <a:extLst>
                <a:ext uri="{FF2B5EF4-FFF2-40B4-BE49-F238E27FC236}">
                  <a16:creationId xmlns:a16="http://schemas.microsoft.com/office/drawing/2014/main" id="{985AD9EB-36AE-4E0D-A002-38768E80D2E6}"/>
                </a:ext>
              </a:extLst>
            </p:cNvPr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8208000" y="4878000"/>
              <a:ext cx="756000" cy="180000"/>
            </a:xfrm>
            <a:prstGeom prst="rect">
              <a:avLst/>
            </a:prstGeom>
            <a:solidFill>
              <a:srgbClr val="CCCCFF"/>
            </a:solidFill>
            <a:ln w="15875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 eaLnBrk="0" hangingPunct="0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&amp;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屏蔽字</a:t>
              </a:r>
            </a:p>
          </p:txBody>
        </p:sp>
        <p:cxnSp>
          <p:nvCxnSpPr>
            <p:cNvPr id="189" name="直接箭头连接符 188">
              <a:extLst>
                <a:ext uri="{FF2B5EF4-FFF2-40B4-BE49-F238E27FC236}">
                  <a16:creationId xmlns:a16="http://schemas.microsoft.com/office/drawing/2014/main" id="{409A50B7-8D84-4428-BE99-2846B8520000}"/>
                </a:ext>
              </a:extLst>
            </p:cNvPr>
            <p:cNvCxnSpPr/>
            <p:nvPr>
              <p:custDataLst>
                <p:tags r:id="rId6"/>
              </p:custDataLst>
            </p:nvPr>
          </p:nvCxnSpPr>
          <p:spPr bwMode="auto">
            <a:xfrm>
              <a:off x="8172000" y="2772000"/>
              <a:ext cx="0" cy="144151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</p:grpSp>
    </p:spTree>
    <p:extLst>
      <p:ext uri="{BB962C8B-B14F-4D97-AF65-F5344CB8AC3E}">
        <p14:creationId xmlns:p14="http://schemas.microsoft.com/office/powerpoint/2010/main" val="1564458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8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8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8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8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8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8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F1C8BE9-48E2-4137-979D-FA87D05FE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t>36</a:t>
            </a:fld>
            <a:endParaRPr lang="en-US" altLang="zh-CN" dirty="0"/>
          </a:p>
        </p:txBody>
      </p:sp>
      <p:grpSp>
        <p:nvGrpSpPr>
          <p:cNvPr id="234" name="组合 233">
            <a:extLst>
              <a:ext uri="{FF2B5EF4-FFF2-40B4-BE49-F238E27FC236}">
                <a16:creationId xmlns:a16="http://schemas.microsoft.com/office/drawing/2014/main" id="{F694169F-2887-4CA0-92FE-9956AAF071F1}"/>
              </a:ext>
            </a:extLst>
          </p:cNvPr>
          <p:cNvGrpSpPr/>
          <p:nvPr/>
        </p:nvGrpSpPr>
        <p:grpSpPr>
          <a:xfrm>
            <a:off x="216000" y="756000"/>
            <a:ext cx="8748000" cy="5760000"/>
            <a:chOff x="216000" y="756000"/>
            <a:chExt cx="8748000" cy="5760000"/>
          </a:xfrm>
        </p:grpSpPr>
        <p:grpSp>
          <p:nvGrpSpPr>
            <p:cNvPr id="235" name="组合 234">
              <a:extLst>
                <a:ext uri="{FF2B5EF4-FFF2-40B4-BE49-F238E27FC236}">
                  <a16:creationId xmlns:a16="http://schemas.microsoft.com/office/drawing/2014/main" id="{BF0C6B8B-FBD2-442C-BDCD-F895199FF3FC}"/>
                </a:ext>
              </a:extLst>
            </p:cNvPr>
            <p:cNvGrpSpPr/>
            <p:nvPr/>
          </p:nvGrpSpPr>
          <p:grpSpPr>
            <a:xfrm>
              <a:off x="2771800" y="2232000"/>
              <a:ext cx="5976050" cy="3168115"/>
              <a:chOff x="2771800" y="2232000"/>
              <a:chExt cx="5976050" cy="3168115"/>
            </a:xfrm>
          </p:grpSpPr>
          <p:sp>
            <p:nvSpPr>
              <p:cNvPr id="367" name="Text Box 392">
                <a:extLst>
                  <a:ext uri="{FF2B5EF4-FFF2-40B4-BE49-F238E27FC236}">
                    <a16:creationId xmlns:a16="http://schemas.microsoft.com/office/drawing/2014/main" id="{FADD7BAA-DE6F-4C1A-90F1-7F0CD4010422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55"/>
                </p:custDataLst>
              </p:nvPr>
            </p:nvSpPr>
            <p:spPr bwMode="auto">
              <a:xfrm>
                <a:off x="7920000" y="5256000"/>
                <a:ext cx="468000" cy="108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r">
                  <a:lnSpc>
                    <a:spcPct val="90000"/>
                  </a:lnSpc>
                </a:pPr>
                <a:r>
                  <a:rPr lang="en-US" altLang="zh-CN" sz="1200" b="1" dirty="0">
                    <a:highlight>
                      <a:srgbClr val="99CCFF"/>
                    </a:highlight>
                    <a:latin typeface="宋体" panose="02010600030101010101" pitchFamily="2" charset="-122"/>
                  </a:rPr>
                  <a:t>x+2</a:t>
                </a:r>
                <a:r>
                  <a:rPr lang="en-US" altLang="zh-CN" sz="1200" b="1" baseline="30000" dirty="0">
                    <a:highlight>
                      <a:srgbClr val="99CCFF"/>
                    </a:highlight>
                    <a:latin typeface="宋体" panose="02010600030101010101" pitchFamily="2" charset="-122"/>
                  </a:rPr>
                  <a:t>k</a:t>
                </a:r>
                <a:r>
                  <a:rPr lang="en-US" altLang="zh-CN" sz="1200" b="1" dirty="0">
                    <a:highlight>
                      <a:srgbClr val="99CCFF"/>
                    </a:highlight>
                    <a:latin typeface="宋体" panose="02010600030101010101" pitchFamily="2" charset="-122"/>
                  </a:rPr>
                  <a:t>-1</a:t>
                </a:r>
              </a:p>
            </p:txBody>
          </p:sp>
          <p:sp>
            <p:nvSpPr>
              <p:cNvPr id="368" name="Text Box 392">
                <a:extLst>
                  <a:ext uri="{FF2B5EF4-FFF2-40B4-BE49-F238E27FC236}">
                    <a16:creationId xmlns:a16="http://schemas.microsoft.com/office/drawing/2014/main" id="{30470FA3-96A3-425A-ADD4-B5437D67034B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56"/>
                </p:custDataLst>
              </p:nvPr>
            </p:nvSpPr>
            <p:spPr bwMode="auto">
              <a:xfrm>
                <a:off x="8244000" y="4932000"/>
                <a:ext cx="144145" cy="108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r">
                  <a:lnSpc>
                    <a:spcPct val="90000"/>
                  </a:lnSpc>
                </a:pPr>
                <a:r>
                  <a:rPr lang="en-US" altLang="zh-CN" sz="1200" b="1" dirty="0">
                    <a:highlight>
                      <a:srgbClr val="99CCFF"/>
                    </a:highlight>
                    <a:latin typeface="宋体" panose="02010600030101010101" pitchFamily="2" charset="-122"/>
                  </a:rPr>
                  <a:t>x</a:t>
                </a:r>
              </a:p>
            </p:txBody>
          </p:sp>
          <p:sp>
            <p:nvSpPr>
              <p:cNvPr id="369" name="Rectangle 299">
                <a:extLst>
                  <a:ext uri="{FF2B5EF4-FFF2-40B4-BE49-F238E27FC236}">
                    <a16:creationId xmlns:a16="http://schemas.microsoft.com/office/drawing/2014/main" id="{EF013FD2-6BF2-48E5-8CDE-DE2A7078774D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57"/>
                </p:custDataLst>
              </p:nvPr>
            </p:nvSpPr>
            <p:spPr bwMode="auto">
              <a:xfrm>
                <a:off x="5184015" y="2232000"/>
                <a:ext cx="3383915" cy="147574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lIns="0" tIns="0" rIns="0" bIns="0" anchor="ctr"/>
              <a:lstStyle/>
              <a:p>
                <a:pPr>
                  <a:lnSpc>
                    <a:spcPct val="90000"/>
                  </a:lnSpc>
                </a:pPr>
                <a:endParaRPr lang="zh-CN" altLang="en-US"/>
              </a:p>
            </p:txBody>
          </p:sp>
          <p:sp>
            <p:nvSpPr>
              <p:cNvPr id="370" name="Text Box 61">
                <a:extLst>
                  <a:ext uri="{FF2B5EF4-FFF2-40B4-BE49-F238E27FC236}">
                    <a16:creationId xmlns:a16="http://schemas.microsoft.com/office/drawing/2014/main" id="{83786B91-BA37-4D1B-9D72-8A66AD566D4D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58"/>
                </p:custDataLst>
              </p:nvPr>
            </p:nvSpPr>
            <p:spPr bwMode="auto">
              <a:xfrm>
                <a:off x="5219800" y="3168000"/>
                <a:ext cx="323850" cy="179705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CPU</a:t>
                </a:r>
              </a:p>
            </p:txBody>
          </p:sp>
          <p:cxnSp>
            <p:nvCxnSpPr>
              <p:cNvPr id="371" name="直接连接符 370">
                <a:extLst>
                  <a:ext uri="{FF2B5EF4-FFF2-40B4-BE49-F238E27FC236}">
                    <a16:creationId xmlns:a16="http://schemas.microsoft.com/office/drawing/2014/main" id="{183DB5C5-9D38-4F8A-854D-FBC1E3A53EDA}"/>
                  </a:ext>
                </a:extLst>
              </p:cNvPr>
              <p:cNvCxnSpPr/>
              <p:nvPr>
                <p:custDataLst>
                  <p:tags r:id="rId159"/>
                </p:custDataLst>
              </p:nvPr>
            </p:nvCxnSpPr>
            <p:spPr bwMode="auto">
              <a:xfrm>
                <a:off x="3456000" y="3851885"/>
                <a:ext cx="4896000" cy="0"/>
              </a:xfrm>
              <a:prstGeom prst="lin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72" name="直接连接符 371">
                <a:extLst>
                  <a:ext uri="{FF2B5EF4-FFF2-40B4-BE49-F238E27FC236}">
                    <a16:creationId xmlns:a16="http://schemas.microsoft.com/office/drawing/2014/main" id="{9E71775F-9825-4590-9F0B-9AEE03968A77}"/>
                  </a:ext>
                </a:extLst>
              </p:cNvPr>
              <p:cNvCxnSpPr/>
              <p:nvPr>
                <p:custDataLst>
                  <p:tags r:id="rId160"/>
                </p:custDataLst>
              </p:nvPr>
            </p:nvCxnSpPr>
            <p:spPr bwMode="auto">
              <a:xfrm>
                <a:off x="3456000" y="3923640"/>
                <a:ext cx="4896000" cy="0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73" name="直接连接符 372">
                <a:extLst>
                  <a:ext uri="{FF2B5EF4-FFF2-40B4-BE49-F238E27FC236}">
                    <a16:creationId xmlns:a16="http://schemas.microsoft.com/office/drawing/2014/main" id="{DF8CFAA9-8787-4258-8332-6AFB3C30E89B}"/>
                  </a:ext>
                </a:extLst>
              </p:cNvPr>
              <p:cNvCxnSpPr/>
              <p:nvPr>
                <p:custDataLst>
                  <p:tags r:id="rId161"/>
                </p:custDataLst>
              </p:nvPr>
            </p:nvCxnSpPr>
            <p:spPr bwMode="auto">
              <a:xfrm>
                <a:off x="3456000" y="3996030"/>
                <a:ext cx="4896000" cy="0"/>
              </a:xfrm>
              <a:prstGeom prst="lin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74" name="Text Box 392">
                <a:extLst>
                  <a:ext uri="{FF2B5EF4-FFF2-40B4-BE49-F238E27FC236}">
                    <a16:creationId xmlns:a16="http://schemas.microsoft.com/office/drawing/2014/main" id="{C2539BFF-C1E7-4B2F-BDF0-23AB619F6552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62"/>
                </p:custDataLst>
              </p:nvPr>
            </p:nvSpPr>
            <p:spPr bwMode="auto">
              <a:xfrm>
                <a:off x="3059800" y="3816000"/>
                <a:ext cx="396000" cy="216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>
                    <a:latin typeface="宋体" panose="02010600030101010101" pitchFamily="2" charset="-122"/>
                  </a:rPr>
                  <a:t>总线</a:t>
                </a:r>
                <a:endParaRPr lang="en-US" altLang="zh-CN" sz="14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75" name="Text Box 61">
                <a:extLst>
                  <a:ext uri="{FF2B5EF4-FFF2-40B4-BE49-F238E27FC236}">
                    <a16:creationId xmlns:a16="http://schemas.microsoft.com/office/drawing/2014/main" id="{DB3383D4-577F-4414-930D-DCC91A2B2EE5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63"/>
                </p:custDataLst>
              </p:nvPr>
            </p:nvSpPr>
            <p:spPr bwMode="auto">
              <a:xfrm>
                <a:off x="4175635" y="3707740"/>
                <a:ext cx="144145" cy="144145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zh-CN" sz="12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a</a:t>
                </a:r>
              </a:p>
            </p:txBody>
          </p:sp>
          <p:cxnSp>
            <p:nvCxnSpPr>
              <p:cNvPr id="376" name="直接连接符 375">
                <a:extLst>
                  <a:ext uri="{FF2B5EF4-FFF2-40B4-BE49-F238E27FC236}">
                    <a16:creationId xmlns:a16="http://schemas.microsoft.com/office/drawing/2014/main" id="{8F99B581-E8AB-473C-9590-3F87FEFCC7A5}"/>
                  </a:ext>
                </a:extLst>
              </p:cNvPr>
              <p:cNvCxnSpPr/>
              <p:nvPr>
                <p:custDataLst>
                  <p:tags r:id="rId164"/>
                </p:custDataLst>
              </p:nvPr>
            </p:nvCxnSpPr>
            <p:spPr bwMode="auto">
              <a:xfrm>
                <a:off x="4140075" y="3959835"/>
                <a:ext cx="71755" cy="71755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7" name="直接连接符 376">
                <a:extLst>
                  <a:ext uri="{FF2B5EF4-FFF2-40B4-BE49-F238E27FC236}">
                    <a16:creationId xmlns:a16="http://schemas.microsoft.com/office/drawing/2014/main" id="{089D1B81-8489-4A0D-826A-7C14D5E5CF52}"/>
                  </a:ext>
                </a:extLst>
              </p:cNvPr>
              <p:cNvCxnSpPr/>
              <p:nvPr>
                <p:custDataLst>
                  <p:tags r:id="rId165"/>
                </p:custDataLst>
              </p:nvPr>
            </p:nvCxnSpPr>
            <p:spPr bwMode="auto">
              <a:xfrm>
                <a:off x="4140075" y="3815690"/>
                <a:ext cx="71755" cy="71755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78" name="Text Box 61">
                <a:extLst>
                  <a:ext uri="{FF2B5EF4-FFF2-40B4-BE49-F238E27FC236}">
                    <a16:creationId xmlns:a16="http://schemas.microsoft.com/office/drawing/2014/main" id="{446AD5BB-6CFE-48DB-8498-16F1722CDEDB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66"/>
                </p:custDataLst>
              </p:nvPr>
            </p:nvSpPr>
            <p:spPr bwMode="auto">
              <a:xfrm>
                <a:off x="4067685" y="3996030"/>
                <a:ext cx="144145" cy="144145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zh-CN" sz="12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b</a:t>
                </a:r>
              </a:p>
            </p:txBody>
          </p:sp>
          <p:cxnSp>
            <p:nvCxnSpPr>
              <p:cNvPr id="379" name="直接箭头连接符 378">
                <a:extLst>
                  <a:ext uri="{FF2B5EF4-FFF2-40B4-BE49-F238E27FC236}">
                    <a16:creationId xmlns:a16="http://schemas.microsoft.com/office/drawing/2014/main" id="{ACEC3791-A995-4C1A-BC07-CD9F6EAB41AE}"/>
                  </a:ext>
                </a:extLst>
              </p:cNvPr>
              <p:cNvCxnSpPr/>
              <p:nvPr>
                <p:custDataLst>
                  <p:tags r:id="rId167"/>
                </p:custDataLst>
              </p:nvPr>
            </p:nvCxnSpPr>
            <p:spPr bwMode="auto">
              <a:xfrm>
                <a:off x="7920000" y="3707740"/>
                <a:ext cx="0" cy="144145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380" name="直接箭头连接符 379">
                <a:extLst>
                  <a:ext uri="{FF2B5EF4-FFF2-40B4-BE49-F238E27FC236}">
                    <a16:creationId xmlns:a16="http://schemas.microsoft.com/office/drawing/2014/main" id="{D3872882-B60A-4145-B478-993FF0B416E6}"/>
                  </a:ext>
                </a:extLst>
              </p:cNvPr>
              <p:cNvCxnSpPr/>
              <p:nvPr>
                <p:custDataLst>
                  <p:tags r:id="rId168"/>
                </p:custDataLst>
              </p:nvPr>
            </p:nvCxnSpPr>
            <p:spPr bwMode="auto">
              <a:xfrm>
                <a:off x="7992000" y="3707740"/>
                <a:ext cx="0" cy="21590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381" name="直接箭头连接符 380">
                <a:extLst>
                  <a:ext uri="{FF2B5EF4-FFF2-40B4-BE49-F238E27FC236}">
                    <a16:creationId xmlns:a16="http://schemas.microsoft.com/office/drawing/2014/main" id="{189B9A13-9D91-4DE6-A22B-41CC20AED115}"/>
                  </a:ext>
                </a:extLst>
              </p:cNvPr>
              <p:cNvCxnSpPr/>
              <p:nvPr>
                <p:custDataLst>
                  <p:tags r:id="rId169"/>
                </p:custDataLst>
              </p:nvPr>
            </p:nvCxnSpPr>
            <p:spPr bwMode="auto">
              <a:xfrm>
                <a:off x="8064000" y="3707740"/>
                <a:ext cx="0" cy="28829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sp>
            <p:nvSpPr>
              <p:cNvPr id="382" name="Text Box 291">
                <a:extLst>
                  <a:ext uri="{FF2B5EF4-FFF2-40B4-BE49-F238E27FC236}">
                    <a16:creationId xmlns:a16="http://schemas.microsoft.com/office/drawing/2014/main" id="{0D1DB4F6-B59E-4BE0-B632-51C44A2C55F8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70"/>
                </p:custDataLst>
              </p:nvPr>
            </p:nvSpPr>
            <p:spPr bwMode="auto">
              <a:xfrm>
                <a:off x="3599800" y="2520000"/>
                <a:ext cx="648000" cy="756000"/>
              </a:xfrm>
              <a:prstGeom prst="rect">
                <a:avLst/>
              </a:prstGeom>
              <a:solidFill>
                <a:srgbClr val="99CCFF">
                  <a:alpha val="78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t" anchorCtr="0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>
                    <a:latin typeface="宋体" panose="02010600030101010101" pitchFamily="2" charset="-122"/>
                  </a:rPr>
                  <a:t>主存</a:t>
                </a:r>
                <a:endParaRPr lang="en-US" altLang="zh-CN" sz="1400" b="1" dirty="0">
                  <a:latin typeface="宋体" panose="02010600030101010101" pitchFamily="2" charset="-122"/>
                </a:endParaRPr>
              </a:p>
              <a:p>
                <a:pPr algn="ctr">
                  <a:lnSpc>
                    <a:spcPct val="90000"/>
                  </a:lnSpc>
                </a:pPr>
                <a:r>
                  <a:rPr lang="zh-CN" altLang="en-US" sz="1200" b="1" dirty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≤</a:t>
                </a:r>
                <a:r>
                  <a:rPr lang="en-US" altLang="zh-CN" sz="1200" b="1" dirty="0">
                    <a:latin typeface="宋体" panose="02010600030101010101" pitchFamily="2" charset="-122"/>
                  </a:rPr>
                  <a:t>2</a:t>
                </a:r>
                <a:r>
                  <a:rPr lang="en-US" altLang="zh-CN" sz="1200" b="1" baseline="30000" dirty="0">
                    <a:latin typeface="宋体" panose="02010600030101010101" pitchFamily="2" charset="-122"/>
                  </a:rPr>
                  <a:t>n</a:t>
                </a:r>
                <a:r>
                  <a:rPr lang="en-US" altLang="zh-CN" sz="1200" b="1" dirty="0">
                    <a:latin typeface="宋体" panose="02010600030101010101" pitchFamily="2" charset="-122"/>
                  </a:rPr>
                  <a:t>×w</a:t>
                </a:r>
                <a:endParaRPr lang="en-US" altLang="zh-CN" sz="1400" b="1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383" name="直接箭头连接符 382">
                <a:extLst>
                  <a:ext uri="{FF2B5EF4-FFF2-40B4-BE49-F238E27FC236}">
                    <a16:creationId xmlns:a16="http://schemas.microsoft.com/office/drawing/2014/main" id="{BABCCA5D-8C88-4549-B1CC-D3E4F14D321F}"/>
                  </a:ext>
                </a:extLst>
              </p:cNvPr>
              <p:cNvCxnSpPr/>
              <p:nvPr>
                <p:custDataLst>
                  <p:tags r:id="rId171"/>
                </p:custDataLst>
              </p:nvPr>
            </p:nvCxnSpPr>
            <p:spPr bwMode="auto">
              <a:xfrm flipV="1">
                <a:off x="3743800" y="3275940"/>
                <a:ext cx="0" cy="21590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384" name="直接箭头连接符 383">
                <a:extLst>
                  <a:ext uri="{FF2B5EF4-FFF2-40B4-BE49-F238E27FC236}">
                    <a16:creationId xmlns:a16="http://schemas.microsoft.com/office/drawing/2014/main" id="{E34308D3-43E8-4200-A8A5-A1D5DB1A3EAA}"/>
                  </a:ext>
                </a:extLst>
              </p:cNvPr>
              <p:cNvCxnSpPr/>
              <p:nvPr>
                <p:custDataLst>
                  <p:tags r:id="rId172"/>
                </p:custDataLst>
              </p:nvPr>
            </p:nvCxnSpPr>
            <p:spPr bwMode="auto">
              <a:xfrm flipV="1">
                <a:off x="3851800" y="3275940"/>
                <a:ext cx="0" cy="21590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385" name="直接箭头连接符 384">
                <a:extLst>
                  <a:ext uri="{FF2B5EF4-FFF2-40B4-BE49-F238E27FC236}">
                    <a16:creationId xmlns:a16="http://schemas.microsoft.com/office/drawing/2014/main" id="{72746C70-C10E-4F96-9704-522CB5BE77F3}"/>
                  </a:ext>
                </a:extLst>
              </p:cNvPr>
              <p:cNvCxnSpPr/>
              <p:nvPr>
                <p:custDataLst>
                  <p:tags r:id="rId173"/>
                </p:custDataLst>
              </p:nvPr>
            </p:nvCxnSpPr>
            <p:spPr bwMode="auto">
              <a:xfrm>
                <a:off x="3959800" y="3275940"/>
                <a:ext cx="0" cy="21590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sp>
            <p:nvSpPr>
              <p:cNvPr id="386" name="Rectangle 274">
                <a:extLst>
                  <a:ext uri="{FF2B5EF4-FFF2-40B4-BE49-F238E27FC236}">
                    <a16:creationId xmlns:a16="http://schemas.microsoft.com/office/drawing/2014/main" id="{F90E1194-A0E5-422A-B742-61AD540438F9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74"/>
                </p:custDataLst>
              </p:nvPr>
            </p:nvSpPr>
            <p:spPr bwMode="auto">
              <a:xfrm>
                <a:off x="3131800" y="2628000"/>
                <a:ext cx="323850" cy="720000"/>
              </a:xfrm>
              <a:prstGeom prst="rect">
                <a:avLst/>
              </a:prstGeom>
              <a:solidFill>
                <a:schemeClr val="bg1">
                  <a:alpha val="80000"/>
                </a:schemeClr>
              </a:solidFill>
              <a:ln w="9525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wrap="none" lIns="0" tIns="0" rIns="0" bIns="0" anchor="ctr"/>
              <a:lstStyle/>
              <a:p>
                <a:pPr>
                  <a:lnSpc>
                    <a:spcPct val="90000"/>
                  </a:lnSpc>
                </a:pPr>
                <a:endParaRPr lang="zh-CN" altLang="en-US"/>
              </a:p>
            </p:txBody>
          </p:sp>
          <p:cxnSp>
            <p:nvCxnSpPr>
              <p:cNvPr id="387" name="直接箭头连接符 386">
                <a:extLst>
                  <a:ext uri="{FF2B5EF4-FFF2-40B4-BE49-F238E27FC236}">
                    <a16:creationId xmlns:a16="http://schemas.microsoft.com/office/drawing/2014/main" id="{77E1EFDE-0B80-47F7-AE72-A27E2EA79FCA}"/>
                  </a:ext>
                </a:extLst>
              </p:cNvPr>
              <p:cNvCxnSpPr/>
              <p:nvPr>
                <p:custDataLst>
                  <p:tags r:id="rId175"/>
                </p:custDataLst>
              </p:nvPr>
            </p:nvCxnSpPr>
            <p:spPr bwMode="auto">
              <a:xfrm flipV="1">
                <a:off x="3131800" y="3240000"/>
                <a:ext cx="32385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sp>
            <p:nvSpPr>
              <p:cNvPr id="388" name="Text Box 392">
                <a:extLst>
                  <a:ext uri="{FF2B5EF4-FFF2-40B4-BE49-F238E27FC236}">
                    <a16:creationId xmlns:a16="http://schemas.microsoft.com/office/drawing/2014/main" id="{908083B5-6A39-42E4-AE60-E96B188972EC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76"/>
                </p:custDataLst>
              </p:nvPr>
            </p:nvSpPr>
            <p:spPr bwMode="auto">
              <a:xfrm>
                <a:off x="3131800" y="2448000"/>
                <a:ext cx="323850" cy="179705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w</a:t>
                </a:r>
                <a:r>
                  <a:rPr lang="zh-CN" altLang="en-US" sz="1400" b="1" dirty="0">
                    <a:latin typeface="+mn-ea"/>
                    <a:ea typeface="+mn-ea"/>
                  </a:rPr>
                  <a:t>位</a:t>
                </a:r>
                <a:endParaRPr lang="en-US" altLang="zh-CN" sz="1400" b="1" dirty="0">
                  <a:latin typeface="+mn-ea"/>
                  <a:ea typeface="+mn-ea"/>
                </a:endParaRPr>
              </a:p>
            </p:txBody>
          </p:sp>
          <p:sp>
            <p:nvSpPr>
              <p:cNvPr id="389" name="Text Box 392">
                <a:extLst>
                  <a:ext uri="{FF2B5EF4-FFF2-40B4-BE49-F238E27FC236}">
                    <a16:creationId xmlns:a16="http://schemas.microsoft.com/office/drawing/2014/main" id="{BAA443A2-EC5B-4552-AE57-8A236B816DE3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77"/>
                </p:custDataLst>
              </p:nvPr>
            </p:nvSpPr>
            <p:spPr bwMode="auto">
              <a:xfrm>
                <a:off x="2771800" y="3240000"/>
                <a:ext cx="323850" cy="10795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r">
                  <a:lnSpc>
                    <a:spcPct val="90000"/>
                  </a:lnSpc>
                </a:pPr>
                <a:r>
                  <a:rPr lang="en-US" altLang="zh-CN" sz="1200" b="1" dirty="0">
                    <a:solidFill>
                      <a:srgbClr val="C00000"/>
                    </a:solidFill>
                    <a:highlight>
                      <a:srgbClr val="99CCFF"/>
                    </a:highlight>
                    <a:latin typeface="宋体" panose="02010600030101010101" pitchFamily="2" charset="-122"/>
                  </a:rPr>
                  <a:t>2</a:t>
                </a:r>
                <a:r>
                  <a:rPr lang="en-US" altLang="zh-CN" sz="1200" b="1" baseline="30000" dirty="0">
                    <a:solidFill>
                      <a:srgbClr val="C00000"/>
                    </a:solidFill>
                    <a:highlight>
                      <a:srgbClr val="99CCFF"/>
                    </a:highlight>
                    <a:latin typeface="宋体" panose="02010600030101010101" pitchFamily="2" charset="-122"/>
                  </a:rPr>
                  <a:t>n</a:t>
                </a:r>
                <a:r>
                  <a:rPr lang="en-US" altLang="zh-CN" sz="12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-1</a:t>
                </a:r>
              </a:p>
            </p:txBody>
          </p:sp>
          <p:sp>
            <p:nvSpPr>
              <p:cNvPr id="390" name="Text Box 392">
                <a:extLst>
                  <a:ext uri="{FF2B5EF4-FFF2-40B4-BE49-F238E27FC236}">
                    <a16:creationId xmlns:a16="http://schemas.microsoft.com/office/drawing/2014/main" id="{F23C6FB7-0E03-4738-A713-07694960BE36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78"/>
                </p:custDataLst>
              </p:nvPr>
            </p:nvSpPr>
            <p:spPr bwMode="auto">
              <a:xfrm>
                <a:off x="2771800" y="2628000"/>
                <a:ext cx="323850" cy="10795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r">
                  <a:lnSpc>
                    <a:spcPct val="90000"/>
                  </a:lnSpc>
                </a:pPr>
                <a:r>
                  <a:rPr lang="en-US" altLang="zh-CN" sz="12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391" name="Rectangle 274">
                <a:extLst>
                  <a:ext uri="{FF2B5EF4-FFF2-40B4-BE49-F238E27FC236}">
                    <a16:creationId xmlns:a16="http://schemas.microsoft.com/office/drawing/2014/main" id="{F84176DE-CDA0-4767-BDE5-2EC5ABD7AEF6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79"/>
                </p:custDataLst>
              </p:nvPr>
            </p:nvSpPr>
            <p:spPr bwMode="auto">
              <a:xfrm>
                <a:off x="3132000" y="2628000"/>
                <a:ext cx="323850" cy="432000"/>
              </a:xfrm>
              <a:prstGeom prst="rect">
                <a:avLst/>
              </a:prstGeom>
              <a:solidFill>
                <a:srgbClr val="99CCFF">
                  <a:alpha val="70000"/>
                </a:srgbClr>
              </a:solidFill>
              <a:ln w="9525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wrap="none" lIns="0" tIns="0" rIns="0" bIns="0" anchor="ctr"/>
              <a:lstStyle/>
              <a:p>
                <a:pPr>
                  <a:lnSpc>
                    <a:spcPct val="90000"/>
                  </a:lnSpc>
                </a:pPr>
                <a:endParaRPr lang="zh-CN" altLang="en-US"/>
              </a:p>
            </p:txBody>
          </p:sp>
          <p:cxnSp>
            <p:nvCxnSpPr>
              <p:cNvPr id="392" name="直接箭头连接符 391">
                <a:extLst>
                  <a:ext uri="{FF2B5EF4-FFF2-40B4-BE49-F238E27FC236}">
                    <a16:creationId xmlns:a16="http://schemas.microsoft.com/office/drawing/2014/main" id="{A93F6F6B-4E99-4664-9F58-A129E51B58E2}"/>
                  </a:ext>
                </a:extLst>
              </p:cNvPr>
              <p:cNvCxnSpPr/>
              <p:nvPr>
                <p:custDataLst>
                  <p:tags r:id="rId180"/>
                </p:custDataLst>
              </p:nvPr>
            </p:nvCxnSpPr>
            <p:spPr bwMode="auto">
              <a:xfrm flipV="1">
                <a:off x="3131800" y="2736000"/>
                <a:ext cx="32385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cxnSp>
            <p:nvCxnSpPr>
              <p:cNvPr id="393" name="直接箭头连接符 392">
                <a:extLst>
                  <a:ext uri="{FF2B5EF4-FFF2-40B4-BE49-F238E27FC236}">
                    <a16:creationId xmlns:a16="http://schemas.microsoft.com/office/drawing/2014/main" id="{DF0237AC-2AB4-4502-9BD8-A1E28E9197C9}"/>
                  </a:ext>
                </a:extLst>
              </p:cNvPr>
              <p:cNvCxnSpPr/>
              <p:nvPr>
                <p:custDataLst>
                  <p:tags r:id="rId181"/>
                </p:custDataLst>
              </p:nvPr>
            </p:nvCxnSpPr>
            <p:spPr bwMode="auto">
              <a:xfrm flipV="1">
                <a:off x="3347800" y="2664000"/>
                <a:ext cx="360000" cy="144145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C6600"/>
                </a:solidFill>
                <a:prstDash val="sysDash"/>
                <a:round/>
                <a:headEnd type="triangle" w="med" len="sm"/>
                <a:tailEnd type="triangle" w="med" len="sm"/>
              </a:ln>
              <a:effectLst/>
            </p:spPr>
          </p:cxnSp>
          <p:sp>
            <p:nvSpPr>
              <p:cNvPr id="394" name="Text Box 392">
                <a:extLst>
                  <a:ext uri="{FF2B5EF4-FFF2-40B4-BE49-F238E27FC236}">
                    <a16:creationId xmlns:a16="http://schemas.microsoft.com/office/drawing/2014/main" id="{E14F0EA2-4B54-44B0-B8B1-CF95545DB3A5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82"/>
                </p:custDataLst>
              </p:nvPr>
            </p:nvSpPr>
            <p:spPr bwMode="auto">
              <a:xfrm>
                <a:off x="2771800" y="2952000"/>
                <a:ext cx="323850" cy="10795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r">
                  <a:lnSpc>
                    <a:spcPct val="90000"/>
                  </a:lnSpc>
                </a:pPr>
                <a:r>
                  <a:rPr lang="en-US" altLang="zh-CN" sz="1200" b="1" dirty="0">
                    <a:highlight>
                      <a:srgbClr val="99CCFF"/>
                    </a:highlight>
                    <a:latin typeface="宋体" panose="02010600030101010101" pitchFamily="2" charset="-122"/>
                  </a:rPr>
                  <a:t>2</a:t>
                </a:r>
                <a:r>
                  <a:rPr lang="en-US" altLang="zh-CN" sz="1200" b="1" baseline="30000" dirty="0">
                    <a:highlight>
                      <a:srgbClr val="99CCFF"/>
                    </a:highlight>
                    <a:latin typeface="宋体" panose="02010600030101010101" pitchFamily="2" charset="-122"/>
                  </a:rPr>
                  <a:t>m</a:t>
                </a:r>
                <a:r>
                  <a:rPr lang="en-US" altLang="zh-CN" sz="1200" b="1" dirty="0">
                    <a:latin typeface="宋体" panose="02010600030101010101" pitchFamily="2" charset="-122"/>
                  </a:rPr>
                  <a:t>-1</a:t>
                </a:r>
              </a:p>
            </p:txBody>
          </p:sp>
          <p:sp>
            <p:nvSpPr>
              <p:cNvPr id="395" name="Text Box 18">
                <a:extLst>
                  <a:ext uri="{FF2B5EF4-FFF2-40B4-BE49-F238E27FC236}">
                    <a16:creationId xmlns:a16="http://schemas.microsoft.com/office/drawing/2014/main" id="{44C0A342-D913-4427-872F-79FB0AB27FC9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83"/>
                </p:custDataLst>
              </p:nvPr>
            </p:nvSpPr>
            <p:spPr bwMode="auto">
              <a:xfrm>
                <a:off x="4427800" y="2988285"/>
                <a:ext cx="648000" cy="72009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prstDash val="sysDash"/>
                <a:miter lim="800000"/>
              </a:ln>
              <a:effectLst/>
            </p:spPr>
            <p:txBody>
              <a:bodyPr lIns="0" tIns="0" rIns="0" bIns="0" anchor="t" anchorCtr="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+mn-ea"/>
                    <a:ea typeface="+mn-ea"/>
                  </a:rPr>
                  <a:t>CPU</a:t>
                </a:r>
              </a:p>
            </p:txBody>
          </p:sp>
          <p:cxnSp>
            <p:nvCxnSpPr>
              <p:cNvPr id="396" name="直接箭头连接符 395">
                <a:extLst>
                  <a:ext uri="{FF2B5EF4-FFF2-40B4-BE49-F238E27FC236}">
                    <a16:creationId xmlns:a16="http://schemas.microsoft.com/office/drawing/2014/main" id="{FE9362BE-5E51-4A97-A279-FD92AE51701E}"/>
                  </a:ext>
                </a:extLst>
              </p:cNvPr>
              <p:cNvCxnSpPr/>
              <p:nvPr>
                <p:custDataLst>
                  <p:tags r:id="rId184"/>
                </p:custDataLst>
              </p:nvPr>
            </p:nvCxnSpPr>
            <p:spPr bwMode="auto">
              <a:xfrm>
                <a:off x="4643630" y="3707740"/>
                <a:ext cx="0" cy="144145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397" name="直接箭头连接符 396">
                <a:extLst>
                  <a:ext uri="{FF2B5EF4-FFF2-40B4-BE49-F238E27FC236}">
                    <a16:creationId xmlns:a16="http://schemas.microsoft.com/office/drawing/2014/main" id="{B4FDFCD9-17D2-4F76-91CA-0E331E69DD46}"/>
                  </a:ext>
                </a:extLst>
              </p:cNvPr>
              <p:cNvCxnSpPr/>
              <p:nvPr>
                <p:custDataLst>
                  <p:tags r:id="rId185"/>
                </p:custDataLst>
              </p:nvPr>
            </p:nvCxnSpPr>
            <p:spPr bwMode="auto">
              <a:xfrm>
                <a:off x="4716020" y="3707740"/>
                <a:ext cx="0" cy="21590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398" name="直接箭头连接符 397">
                <a:extLst>
                  <a:ext uri="{FF2B5EF4-FFF2-40B4-BE49-F238E27FC236}">
                    <a16:creationId xmlns:a16="http://schemas.microsoft.com/office/drawing/2014/main" id="{8A5167EA-67A1-47BF-8694-44B7A817589A}"/>
                  </a:ext>
                </a:extLst>
              </p:cNvPr>
              <p:cNvCxnSpPr/>
              <p:nvPr>
                <p:custDataLst>
                  <p:tags r:id="rId186"/>
                </p:custDataLst>
              </p:nvPr>
            </p:nvCxnSpPr>
            <p:spPr bwMode="auto">
              <a:xfrm>
                <a:off x="4787775" y="3707740"/>
                <a:ext cx="0" cy="28829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sp>
            <p:nvSpPr>
              <p:cNvPr id="399" name="Rectangle 299">
                <a:extLst>
                  <a:ext uri="{FF2B5EF4-FFF2-40B4-BE49-F238E27FC236}">
                    <a16:creationId xmlns:a16="http://schemas.microsoft.com/office/drawing/2014/main" id="{20DDE2E3-3242-4FCD-BE9E-4A39873D758C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87"/>
                </p:custDataLst>
              </p:nvPr>
            </p:nvSpPr>
            <p:spPr bwMode="auto">
              <a:xfrm>
                <a:off x="4716000" y="4139540"/>
                <a:ext cx="2016000" cy="756285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lIns="0" tIns="0" rIns="0" bIns="0" anchor="ctr"/>
              <a:lstStyle/>
              <a:p>
                <a:pPr>
                  <a:lnSpc>
                    <a:spcPct val="90000"/>
                  </a:lnSpc>
                </a:pPr>
                <a:endParaRPr lang="zh-CN" altLang="en-US"/>
              </a:p>
            </p:txBody>
          </p:sp>
          <p:sp>
            <p:nvSpPr>
              <p:cNvPr id="400" name="Text Box 81">
                <a:extLst>
                  <a:ext uri="{FF2B5EF4-FFF2-40B4-BE49-F238E27FC236}">
                    <a16:creationId xmlns:a16="http://schemas.microsoft.com/office/drawing/2014/main" id="{2C68F1C3-9634-44C8-B619-590D80557D56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88"/>
                </p:custDataLst>
              </p:nvPr>
            </p:nvSpPr>
            <p:spPr bwMode="auto">
              <a:xfrm>
                <a:off x="4716000" y="5184115"/>
                <a:ext cx="2952000" cy="216000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>
                    <a:latin typeface="宋体" panose="02010600030101010101" pitchFamily="2" charset="-122"/>
                  </a:rPr>
                  <a:t>外设</a:t>
                </a:r>
                <a:r>
                  <a:rPr lang="en-US" altLang="zh-CN" sz="1200" b="1" dirty="0">
                    <a:latin typeface="宋体" panose="02010600030101010101" pitchFamily="2" charset="-122"/>
                  </a:rPr>
                  <a:t>(</a:t>
                </a:r>
                <a:r>
                  <a:rPr lang="zh-CN" altLang="en-US" sz="1200" b="1" dirty="0">
                    <a:latin typeface="宋体" panose="02010600030101010101" pitchFamily="2" charset="-122"/>
                  </a:rPr>
                  <a:t>无条件</a:t>
                </a:r>
                <a:r>
                  <a:rPr lang="en-US" altLang="zh-CN" sz="1200" b="1" dirty="0">
                    <a:latin typeface="宋体" panose="02010600030101010101" pitchFamily="2" charset="-122"/>
                  </a:rPr>
                  <a:t>/</a:t>
                </a:r>
                <a:r>
                  <a:rPr lang="zh-CN" altLang="en-US" sz="1200" b="1" dirty="0">
                    <a:latin typeface="宋体" panose="02010600030101010101" pitchFamily="2" charset="-122"/>
                  </a:rPr>
                  <a:t>条件、字符</a:t>
                </a:r>
                <a:r>
                  <a:rPr lang="en-US" altLang="zh-CN" sz="1200" b="1" dirty="0">
                    <a:latin typeface="宋体" panose="02010600030101010101" pitchFamily="2" charset="-122"/>
                  </a:rPr>
                  <a:t>/</a:t>
                </a:r>
                <a:r>
                  <a:rPr lang="zh-CN" altLang="en-US" sz="1200" b="1" dirty="0">
                    <a:latin typeface="宋体" panose="02010600030101010101" pitchFamily="2" charset="-122"/>
                  </a:rPr>
                  <a:t>块、串行</a:t>
                </a:r>
                <a:r>
                  <a:rPr lang="en-US" altLang="zh-CN" sz="1200" b="1" dirty="0">
                    <a:latin typeface="宋体" panose="02010600030101010101" pitchFamily="2" charset="-122"/>
                  </a:rPr>
                  <a:t>/</a:t>
                </a:r>
                <a:r>
                  <a:rPr lang="zh-CN" altLang="en-US" sz="1200" b="1" dirty="0">
                    <a:latin typeface="宋体" panose="02010600030101010101" pitchFamily="2" charset="-122"/>
                  </a:rPr>
                  <a:t>并行</a:t>
                </a:r>
                <a:r>
                  <a:rPr lang="en-US" altLang="zh-CN" sz="1200" b="1" dirty="0">
                    <a:latin typeface="宋体" panose="02010600030101010101" pitchFamily="2" charset="-122"/>
                  </a:rPr>
                  <a:t>)</a:t>
                </a:r>
                <a:endParaRPr lang="zh-CN" altLang="en-US" sz="1200" b="1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401" name="直接连接符 400">
                <a:extLst>
                  <a:ext uri="{FF2B5EF4-FFF2-40B4-BE49-F238E27FC236}">
                    <a16:creationId xmlns:a16="http://schemas.microsoft.com/office/drawing/2014/main" id="{382F65A6-28B2-4921-9126-E9CBB058CDD7}"/>
                  </a:ext>
                </a:extLst>
              </p:cNvPr>
              <p:cNvCxnSpPr/>
              <p:nvPr>
                <p:custDataLst>
                  <p:tags r:id="rId189"/>
                </p:custDataLst>
              </p:nvPr>
            </p:nvCxnSpPr>
            <p:spPr bwMode="auto">
              <a:xfrm>
                <a:off x="6156000" y="4895825"/>
                <a:ext cx="0" cy="288290"/>
              </a:xfrm>
              <a:prstGeom prst="line">
                <a:avLst/>
              </a:prstGeom>
              <a:noFill/>
              <a:ln w="1270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2" name="直接连接符 401">
                <a:extLst>
                  <a:ext uri="{FF2B5EF4-FFF2-40B4-BE49-F238E27FC236}">
                    <a16:creationId xmlns:a16="http://schemas.microsoft.com/office/drawing/2014/main" id="{4501A8C5-6284-462F-8CC4-D96731CCF68E}"/>
                  </a:ext>
                </a:extLst>
              </p:cNvPr>
              <p:cNvCxnSpPr/>
              <p:nvPr>
                <p:custDataLst>
                  <p:tags r:id="rId190"/>
                </p:custDataLst>
              </p:nvPr>
            </p:nvCxnSpPr>
            <p:spPr bwMode="auto">
              <a:xfrm>
                <a:off x="6264000" y="4895825"/>
                <a:ext cx="0" cy="288290"/>
              </a:xfrm>
              <a:prstGeom prst="line">
                <a:avLst/>
              </a:prstGeom>
              <a:noFill/>
              <a:ln w="12700" cap="flat" cmpd="sng" algn="ctr">
                <a:solidFill>
                  <a:srgbClr val="FF3399"/>
                </a:solidFill>
                <a:prstDash val="sysDash"/>
                <a:round/>
                <a:headEnd type="none" w="med" len="med"/>
                <a:tailEnd type="triangle" w="med" len="sm"/>
              </a:ln>
            </p:spPr>
          </p:cxnSp>
          <p:cxnSp>
            <p:nvCxnSpPr>
              <p:cNvPr id="403" name="直接连接符 402">
                <a:extLst>
                  <a:ext uri="{FF2B5EF4-FFF2-40B4-BE49-F238E27FC236}">
                    <a16:creationId xmlns:a16="http://schemas.microsoft.com/office/drawing/2014/main" id="{9C1F6CEA-8B4A-4C5F-97A4-9617EBA81C02}"/>
                  </a:ext>
                </a:extLst>
              </p:cNvPr>
              <p:cNvCxnSpPr/>
              <p:nvPr>
                <p:custDataLst>
                  <p:tags r:id="rId191"/>
                </p:custDataLst>
              </p:nvPr>
            </p:nvCxnSpPr>
            <p:spPr bwMode="auto">
              <a:xfrm flipV="1">
                <a:off x="6336000" y="4895825"/>
                <a:ext cx="0" cy="288290"/>
              </a:xfrm>
              <a:prstGeom prst="line">
                <a:avLst/>
              </a:prstGeom>
              <a:noFill/>
              <a:ln w="12700" cap="flat" cmpd="sng" algn="ctr">
                <a:solidFill>
                  <a:srgbClr val="990099"/>
                </a:solidFill>
                <a:prstDash val="sysDash"/>
                <a:round/>
                <a:headEnd type="none" w="med" len="med"/>
                <a:tailEnd type="triangle" w="med" len="sm"/>
              </a:ln>
            </p:spPr>
          </p:cxnSp>
          <p:cxnSp>
            <p:nvCxnSpPr>
              <p:cNvPr id="404" name="直接连接符 403">
                <a:extLst>
                  <a:ext uri="{FF2B5EF4-FFF2-40B4-BE49-F238E27FC236}">
                    <a16:creationId xmlns:a16="http://schemas.microsoft.com/office/drawing/2014/main" id="{CF483C42-60AF-4AB1-936A-9C326143050C}"/>
                  </a:ext>
                </a:extLst>
              </p:cNvPr>
              <p:cNvCxnSpPr/>
              <p:nvPr>
                <p:custDataLst>
                  <p:tags r:id="rId192"/>
                </p:custDataLst>
              </p:nvPr>
            </p:nvCxnSpPr>
            <p:spPr bwMode="auto">
              <a:xfrm>
                <a:off x="6120000" y="5003775"/>
                <a:ext cx="71755" cy="71755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05" name="Text Box 18">
                <a:extLst>
                  <a:ext uri="{FF2B5EF4-FFF2-40B4-BE49-F238E27FC236}">
                    <a16:creationId xmlns:a16="http://schemas.microsoft.com/office/drawing/2014/main" id="{9C8D35BB-1F3F-46C6-9754-E47ECDF5F86A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93"/>
                </p:custDataLst>
              </p:nvPr>
            </p:nvSpPr>
            <p:spPr bwMode="auto">
              <a:xfrm>
                <a:off x="7056000" y="4464000"/>
                <a:ext cx="684000" cy="216000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>
                    <a:latin typeface="+mn-ea"/>
                    <a:ea typeface="+mn-ea"/>
                  </a:rPr>
                  <a:t>磁盘</a:t>
                </a:r>
              </a:p>
            </p:txBody>
          </p:sp>
          <p:sp>
            <p:nvSpPr>
              <p:cNvPr id="406" name="Text Box 20">
                <a:extLst>
                  <a:ext uri="{FF2B5EF4-FFF2-40B4-BE49-F238E27FC236}">
                    <a16:creationId xmlns:a16="http://schemas.microsoft.com/office/drawing/2014/main" id="{D4676CD1-46BD-4F3B-AB4D-515DD868E554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94"/>
                </p:custDataLst>
              </p:nvPr>
            </p:nvSpPr>
            <p:spPr bwMode="auto">
              <a:xfrm>
                <a:off x="7056000" y="4139540"/>
                <a:ext cx="684000" cy="216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+mn-ea"/>
                    <a:ea typeface="+mn-ea"/>
                  </a:rPr>
                  <a:t>I/O</a:t>
                </a:r>
                <a:r>
                  <a:rPr lang="zh-CN" altLang="en-US" sz="1400" b="1" dirty="0">
                    <a:latin typeface="+mn-ea"/>
                    <a:ea typeface="+mn-ea"/>
                  </a:rPr>
                  <a:t>接口</a:t>
                </a:r>
              </a:p>
            </p:txBody>
          </p:sp>
          <p:cxnSp>
            <p:nvCxnSpPr>
              <p:cNvPr id="407" name="直接连接符 406">
                <a:extLst>
                  <a:ext uri="{FF2B5EF4-FFF2-40B4-BE49-F238E27FC236}">
                    <a16:creationId xmlns:a16="http://schemas.microsoft.com/office/drawing/2014/main" id="{2F025D2C-9BF5-4036-B86E-925B96D6F8A6}"/>
                  </a:ext>
                </a:extLst>
              </p:cNvPr>
              <p:cNvCxnSpPr/>
              <p:nvPr>
                <p:custDataLst>
                  <p:tags r:id="rId195"/>
                </p:custDataLst>
              </p:nvPr>
            </p:nvCxnSpPr>
            <p:spPr bwMode="auto">
              <a:xfrm>
                <a:off x="7488000" y="4356000"/>
                <a:ext cx="0" cy="107950"/>
              </a:xfrm>
              <a:prstGeom prst="line">
                <a:avLst/>
              </a:prstGeom>
              <a:noFill/>
              <a:ln w="1270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408" name="Text Box 61">
                <a:extLst>
                  <a:ext uri="{FF2B5EF4-FFF2-40B4-BE49-F238E27FC236}">
                    <a16:creationId xmlns:a16="http://schemas.microsoft.com/office/drawing/2014/main" id="{7C4A7C7E-5585-4500-9E50-ACC8E254D0A1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96"/>
                </p:custDataLst>
              </p:nvPr>
            </p:nvSpPr>
            <p:spPr bwMode="auto">
              <a:xfrm>
                <a:off x="6768000" y="4175735"/>
                <a:ext cx="252000" cy="2159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600" b="1" dirty="0">
                    <a:latin typeface="+mn-ea"/>
                    <a:cs typeface="Times New Roman" panose="02020603050405020304" pitchFamily="18" charset="0"/>
                  </a:rPr>
                  <a:t>…</a:t>
                </a:r>
              </a:p>
            </p:txBody>
          </p:sp>
          <p:cxnSp>
            <p:nvCxnSpPr>
              <p:cNvPr id="409" name="直接箭头连接符 408">
                <a:extLst>
                  <a:ext uri="{FF2B5EF4-FFF2-40B4-BE49-F238E27FC236}">
                    <a16:creationId xmlns:a16="http://schemas.microsoft.com/office/drawing/2014/main" id="{1DE7D45B-65FB-4E6F-9632-F2A3F3EFA30D}"/>
                  </a:ext>
                </a:extLst>
              </p:cNvPr>
              <p:cNvCxnSpPr/>
              <p:nvPr>
                <p:custDataLst>
                  <p:tags r:id="rId197"/>
                </p:custDataLst>
              </p:nvPr>
            </p:nvCxnSpPr>
            <p:spPr bwMode="auto">
              <a:xfrm>
                <a:off x="4896000" y="3851884"/>
                <a:ext cx="0" cy="82800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10" name="直接箭头连接符 409">
                <a:extLst>
                  <a:ext uri="{FF2B5EF4-FFF2-40B4-BE49-F238E27FC236}">
                    <a16:creationId xmlns:a16="http://schemas.microsoft.com/office/drawing/2014/main" id="{8AB29095-72E1-4288-A606-3AC846D920DA}"/>
                  </a:ext>
                </a:extLst>
              </p:cNvPr>
              <p:cNvCxnSpPr/>
              <p:nvPr>
                <p:custDataLst>
                  <p:tags r:id="rId198"/>
                </p:custDataLst>
              </p:nvPr>
            </p:nvCxnSpPr>
            <p:spPr bwMode="auto">
              <a:xfrm>
                <a:off x="5436000" y="3923640"/>
                <a:ext cx="0" cy="28829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11" name="直接箭头连接符 410">
                <a:extLst>
                  <a:ext uri="{FF2B5EF4-FFF2-40B4-BE49-F238E27FC236}">
                    <a16:creationId xmlns:a16="http://schemas.microsoft.com/office/drawing/2014/main" id="{4F97331F-0461-4185-BB27-E13EC6BC6D92}"/>
                  </a:ext>
                </a:extLst>
              </p:cNvPr>
              <p:cNvCxnSpPr/>
              <p:nvPr>
                <p:custDataLst>
                  <p:tags r:id="rId199"/>
                </p:custDataLst>
              </p:nvPr>
            </p:nvCxnSpPr>
            <p:spPr bwMode="auto">
              <a:xfrm>
                <a:off x="6156000" y="3996030"/>
                <a:ext cx="0" cy="21590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cxnSp>
            <p:nvCxnSpPr>
              <p:cNvPr id="412" name="直接箭头连接符 411">
                <a:extLst>
                  <a:ext uri="{FF2B5EF4-FFF2-40B4-BE49-F238E27FC236}">
                    <a16:creationId xmlns:a16="http://schemas.microsoft.com/office/drawing/2014/main" id="{BF09B960-DFF8-494F-A1E3-0A834EAB2699}"/>
                  </a:ext>
                </a:extLst>
              </p:cNvPr>
              <p:cNvCxnSpPr/>
              <p:nvPr>
                <p:custDataLst>
                  <p:tags r:id="rId200"/>
                </p:custDataLst>
              </p:nvPr>
            </p:nvCxnSpPr>
            <p:spPr bwMode="auto">
              <a:xfrm>
                <a:off x="7416000" y="3923640"/>
                <a:ext cx="0" cy="21590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13" name="直接箭头连接符 412">
                <a:extLst>
                  <a:ext uri="{FF2B5EF4-FFF2-40B4-BE49-F238E27FC236}">
                    <a16:creationId xmlns:a16="http://schemas.microsoft.com/office/drawing/2014/main" id="{8D426DCC-3F5D-4B0D-9586-1E23DF11D4BD}"/>
                  </a:ext>
                </a:extLst>
              </p:cNvPr>
              <p:cNvCxnSpPr/>
              <p:nvPr>
                <p:custDataLst>
                  <p:tags r:id="rId201"/>
                </p:custDataLst>
              </p:nvPr>
            </p:nvCxnSpPr>
            <p:spPr bwMode="auto">
              <a:xfrm>
                <a:off x="7344000" y="3851885"/>
                <a:ext cx="0" cy="28829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14" name="直接箭头连接符 413">
                <a:extLst>
                  <a:ext uri="{FF2B5EF4-FFF2-40B4-BE49-F238E27FC236}">
                    <a16:creationId xmlns:a16="http://schemas.microsoft.com/office/drawing/2014/main" id="{3079EC95-2F90-492D-A9A2-1152BBFD9C5C}"/>
                  </a:ext>
                </a:extLst>
              </p:cNvPr>
              <p:cNvCxnSpPr/>
              <p:nvPr>
                <p:custDataLst>
                  <p:tags r:id="rId202"/>
                </p:custDataLst>
              </p:nvPr>
            </p:nvCxnSpPr>
            <p:spPr bwMode="auto">
              <a:xfrm>
                <a:off x="7488000" y="3996030"/>
                <a:ext cx="0" cy="144145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sp>
            <p:nvSpPr>
              <p:cNvPr id="415" name="Text Box 291">
                <a:extLst>
                  <a:ext uri="{FF2B5EF4-FFF2-40B4-BE49-F238E27FC236}">
                    <a16:creationId xmlns:a16="http://schemas.microsoft.com/office/drawing/2014/main" id="{4F92C90A-496C-40A5-8828-87833B8AECF2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03"/>
                </p:custDataLst>
              </p:nvPr>
            </p:nvSpPr>
            <p:spPr bwMode="auto">
              <a:xfrm>
                <a:off x="3455800" y="3491840"/>
                <a:ext cx="792000" cy="215900"/>
              </a:xfrm>
              <a:prstGeom prst="rect">
                <a:avLst/>
              </a:prstGeom>
              <a:solidFill>
                <a:srgbClr val="FFFFFF">
                  <a:alpha val="78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>
                    <a:latin typeface="宋体" panose="02010600030101010101" pitchFamily="2" charset="-122"/>
                  </a:rPr>
                  <a:t>连接电路</a:t>
                </a:r>
                <a:endParaRPr lang="en-US" altLang="zh-CN" sz="1400" b="1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416" name="直接箭头连接符 415">
                <a:extLst>
                  <a:ext uri="{FF2B5EF4-FFF2-40B4-BE49-F238E27FC236}">
                    <a16:creationId xmlns:a16="http://schemas.microsoft.com/office/drawing/2014/main" id="{912C2485-4CD2-49EF-AF2E-09E89560024C}"/>
                  </a:ext>
                </a:extLst>
              </p:cNvPr>
              <p:cNvCxnSpPr/>
              <p:nvPr>
                <p:custDataLst>
                  <p:tags r:id="rId204"/>
                </p:custDataLst>
              </p:nvPr>
            </p:nvCxnSpPr>
            <p:spPr bwMode="auto">
              <a:xfrm flipV="1">
                <a:off x="3743800" y="3707740"/>
                <a:ext cx="0" cy="144145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17" name="直接箭头连接符 416">
                <a:extLst>
                  <a:ext uri="{FF2B5EF4-FFF2-40B4-BE49-F238E27FC236}">
                    <a16:creationId xmlns:a16="http://schemas.microsoft.com/office/drawing/2014/main" id="{84EF2617-C9C9-43E9-AFB4-09D27CA4779F}"/>
                  </a:ext>
                </a:extLst>
              </p:cNvPr>
              <p:cNvCxnSpPr/>
              <p:nvPr>
                <p:custDataLst>
                  <p:tags r:id="rId205"/>
                </p:custDataLst>
              </p:nvPr>
            </p:nvCxnSpPr>
            <p:spPr bwMode="auto">
              <a:xfrm flipV="1">
                <a:off x="3851800" y="3707740"/>
                <a:ext cx="0" cy="215900"/>
              </a:xfrm>
              <a:prstGeom prst="straightConnector1">
                <a:avLst/>
              </a:prstGeom>
              <a:solidFill>
                <a:schemeClr val="accent1"/>
              </a:solidFill>
              <a:ln w="127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18" name="直接箭头连接符 417">
                <a:extLst>
                  <a:ext uri="{FF2B5EF4-FFF2-40B4-BE49-F238E27FC236}">
                    <a16:creationId xmlns:a16="http://schemas.microsoft.com/office/drawing/2014/main" id="{D0AFED7E-149F-4708-93DE-8C3AEE66F8BC}"/>
                  </a:ext>
                </a:extLst>
              </p:cNvPr>
              <p:cNvCxnSpPr/>
              <p:nvPr>
                <p:custDataLst>
                  <p:tags r:id="rId206"/>
                </p:custDataLst>
              </p:nvPr>
            </p:nvCxnSpPr>
            <p:spPr bwMode="auto">
              <a:xfrm>
                <a:off x="3959800" y="3707740"/>
                <a:ext cx="0" cy="288290"/>
              </a:xfrm>
              <a:prstGeom prst="straightConnector1">
                <a:avLst/>
              </a:prstGeom>
              <a:solidFill>
                <a:schemeClr val="accent1"/>
              </a:solidFill>
              <a:ln w="15875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sp>
            <p:nvSpPr>
              <p:cNvPr id="419" name="Text Box 61">
                <a:extLst>
                  <a:ext uri="{FF2B5EF4-FFF2-40B4-BE49-F238E27FC236}">
                    <a16:creationId xmlns:a16="http://schemas.microsoft.com/office/drawing/2014/main" id="{E50B955F-6F01-4EE8-A4F0-01E88A5F1FB0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07"/>
                </p:custDataLst>
              </p:nvPr>
            </p:nvSpPr>
            <p:spPr bwMode="auto">
              <a:xfrm>
                <a:off x="3959800" y="3276000"/>
                <a:ext cx="144145" cy="144145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zh-CN" sz="12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c</a:t>
                </a:r>
              </a:p>
            </p:txBody>
          </p:sp>
          <p:cxnSp>
            <p:nvCxnSpPr>
              <p:cNvPr id="420" name="直接连接符 419">
                <a:extLst>
                  <a:ext uri="{FF2B5EF4-FFF2-40B4-BE49-F238E27FC236}">
                    <a16:creationId xmlns:a16="http://schemas.microsoft.com/office/drawing/2014/main" id="{57432756-0F28-4F2C-A4AD-C06043E85A2D}"/>
                  </a:ext>
                </a:extLst>
              </p:cNvPr>
              <p:cNvCxnSpPr/>
              <p:nvPr>
                <p:custDataLst>
                  <p:tags r:id="rId208"/>
                </p:custDataLst>
              </p:nvPr>
            </p:nvCxnSpPr>
            <p:spPr bwMode="auto">
              <a:xfrm>
                <a:off x="3923800" y="3347695"/>
                <a:ext cx="71755" cy="71755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1" name="直接连接符 420">
                <a:extLst>
                  <a:ext uri="{FF2B5EF4-FFF2-40B4-BE49-F238E27FC236}">
                    <a16:creationId xmlns:a16="http://schemas.microsoft.com/office/drawing/2014/main" id="{ED819766-17EA-4C5C-99B0-DC322D4747C3}"/>
                  </a:ext>
                </a:extLst>
              </p:cNvPr>
              <p:cNvCxnSpPr/>
              <p:nvPr>
                <p:custDataLst>
                  <p:tags r:id="rId209"/>
                </p:custDataLst>
              </p:nvPr>
            </p:nvCxnSpPr>
            <p:spPr bwMode="auto">
              <a:xfrm>
                <a:off x="3707800" y="3347695"/>
                <a:ext cx="71755" cy="71755"/>
              </a:xfrm>
              <a:prstGeom prst="lin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22" name="Text Box 61">
                <a:extLst>
                  <a:ext uri="{FF2B5EF4-FFF2-40B4-BE49-F238E27FC236}">
                    <a16:creationId xmlns:a16="http://schemas.microsoft.com/office/drawing/2014/main" id="{3ABAF541-E85B-43EC-8033-FA26BBEDCBB2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10"/>
                </p:custDataLst>
              </p:nvPr>
            </p:nvSpPr>
            <p:spPr bwMode="auto">
              <a:xfrm>
                <a:off x="3599800" y="3348000"/>
                <a:ext cx="144145" cy="144145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 anchorCtr="0"/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zh-CN" sz="12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423" name="Rectangle 274">
                <a:extLst>
                  <a:ext uri="{FF2B5EF4-FFF2-40B4-BE49-F238E27FC236}">
                    <a16:creationId xmlns:a16="http://schemas.microsoft.com/office/drawing/2014/main" id="{D310D7DA-46D8-4D41-A9E8-AD2EB82C9DEA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211"/>
                </p:custDataLst>
              </p:nvPr>
            </p:nvSpPr>
            <p:spPr bwMode="auto">
              <a:xfrm>
                <a:off x="8424000" y="4932000"/>
                <a:ext cx="323850" cy="432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9525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wrap="none" lIns="0" tIns="0" rIns="0" bIns="0" anchor="ctr"/>
              <a:lstStyle/>
              <a:p>
                <a:pPr>
                  <a:lnSpc>
                    <a:spcPct val="90000"/>
                  </a:lnSpc>
                </a:pPr>
                <a:endParaRPr lang="zh-CN" altLang="en-US"/>
              </a:p>
            </p:txBody>
          </p:sp>
          <p:cxnSp>
            <p:nvCxnSpPr>
              <p:cNvPr id="424" name="直接箭头连接符 423">
                <a:extLst>
                  <a:ext uri="{FF2B5EF4-FFF2-40B4-BE49-F238E27FC236}">
                    <a16:creationId xmlns:a16="http://schemas.microsoft.com/office/drawing/2014/main" id="{96FE5213-0090-4CB4-B408-B118DB2EEC5C}"/>
                  </a:ext>
                </a:extLst>
              </p:cNvPr>
              <p:cNvCxnSpPr/>
              <p:nvPr>
                <p:custDataLst>
                  <p:tags r:id="rId212"/>
                </p:custDataLst>
              </p:nvPr>
            </p:nvCxnSpPr>
            <p:spPr bwMode="auto">
              <a:xfrm flipV="1">
                <a:off x="8424000" y="5040000"/>
                <a:ext cx="32385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cxnSp>
            <p:nvCxnSpPr>
              <p:cNvPr id="425" name="直接箭头连接符 424">
                <a:extLst>
                  <a:ext uri="{FF2B5EF4-FFF2-40B4-BE49-F238E27FC236}">
                    <a16:creationId xmlns:a16="http://schemas.microsoft.com/office/drawing/2014/main" id="{ECFB60A9-365E-45A8-AEB1-F655C70DC4DB}"/>
                  </a:ext>
                </a:extLst>
              </p:cNvPr>
              <p:cNvCxnSpPr/>
              <p:nvPr>
                <p:custDataLst>
                  <p:tags r:id="rId213"/>
                </p:custDataLst>
              </p:nvPr>
            </p:nvCxnSpPr>
            <p:spPr bwMode="auto">
              <a:xfrm flipV="1">
                <a:off x="8424000" y="5256000"/>
                <a:ext cx="32385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sp>
            <p:nvSpPr>
              <p:cNvPr id="426" name="Text Box 392">
                <a:extLst>
                  <a:ext uri="{FF2B5EF4-FFF2-40B4-BE49-F238E27FC236}">
                    <a16:creationId xmlns:a16="http://schemas.microsoft.com/office/drawing/2014/main" id="{31A0D5AB-ED46-4FFF-9B9C-DE76B1B184B6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14"/>
                </p:custDataLst>
              </p:nvPr>
            </p:nvSpPr>
            <p:spPr bwMode="auto">
              <a:xfrm>
                <a:off x="8424000" y="4752000"/>
                <a:ext cx="323850" cy="179705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+mn-ea"/>
                    <a:ea typeface="+mn-ea"/>
                    <a:cs typeface="Times New Roman" panose="02020603050405020304" pitchFamily="18" charset="0"/>
                  </a:rPr>
                  <a:t>w</a:t>
                </a:r>
                <a:r>
                  <a:rPr lang="zh-CN" altLang="en-US" sz="1400" b="1" dirty="0">
                    <a:latin typeface="+mn-ea"/>
                    <a:ea typeface="+mn-ea"/>
                  </a:rPr>
                  <a:t>位</a:t>
                </a:r>
                <a:endParaRPr lang="en-US" altLang="zh-CN" sz="1400" b="1" dirty="0">
                  <a:latin typeface="+mn-ea"/>
                  <a:ea typeface="+mn-ea"/>
                </a:endParaRPr>
              </a:p>
            </p:txBody>
          </p:sp>
          <p:cxnSp>
            <p:nvCxnSpPr>
              <p:cNvPr id="427" name="直接箭头连接符 426">
                <a:extLst>
                  <a:ext uri="{FF2B5EF4-FFF2-40B4-BE49-F238E27FC236}">
                    <a16:creationId xmlns:a16="http://schemas.microsoft.com/office/drawing/2014/main" id="{A3FCAA9A-C9E5-4830-8281-791074DCC563}"/>
                  </a:ext>
                </a:extLst>
              </p:cNvPr>
              <p:cNvCxnSpPr/>
              <p:nvPr>
                <p:custDataLst>
                  <p:tags r:id="rId215"/>
                </p:custDataLst>
              </p:nvPr>
            </p:nvCxnSpPr>
            <p:spPr bwMode="auto">
              <a:xfrm flipV="1">
                <a:off x="3131800" y="2952000"/>
                <a:ext cx="324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cxnSp>
            <p:nvCxnSpPr>
              <p:cNvPr id="428" name="直接箭头连接符 427">
                <a:extLst>
                  <a:ext uri="{FF2B5EF4-FFF2-40B4-BE49-F238E27FC236}">
                    <a16:creationId xmlns:a16="http://schemas.microsoft.com/office/drawing/2014/main" id="{4A227336-F99D-45A5-A3B4-2CF7D9331304}"/>
                  </a:ext>
                </a:extLst>
              </p:cNvPr>
              <p:cNvCxnSpPr>
                <a:cxnSpLocks/>
              </p:cNvCxnSpPr>
              <p:nvPr>
                <p:custDataLst>
                  <p:tags r:id="rId216"/>
                </p:custDataLst>
              </p:nvPr>
            </p:nvCxnSpPr>
            <p:spPr bwMode="auto">
              <a:xfrm flipH="1" flipV="1">
                <a:off x="6552000" y="4500000"/>
                <a:ext cx="1980000" cy="64800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C6600"/>
                </a:solidFill>
                <a:prstDash val="sysDash"/>
                <a:round/>
                <a:headEnd type="triangle" w="med" len="sm"/>
                <a:tailEnd type="triangle" w="med" len="sm"/>
              </a:ln>
              <a:effectLst/>
            </p:spPr>
          </p:cxnSp>
        </p:grpSp>
        <p:grpSp>
          <p:nvGrpSpPr>
            <p:cNvPr id="236" name="组合 235">
              <a:extLst>
                <a:ext uri="{FF2B5EF4-FFF2-40B4-BE49-F238E27FC236}">
                  <a16:creationId xmlns:a16="http://schemas.microsoft.com/office/drawing/2014/main" id="{9F248E99-642D-4A18-9021-5783C31454B6}"/>
                </a:ext>
              </a:extLst>
            </p:cNvPr>
            <p:cNvGrpSpPr/>
            <p:nvPr/>
          </p:nvGrpSpPr>
          <p:grpSpPr>
            <a:xfrm>
              <a:off x="6444000" y="756000"/>
              <a:ext cx="2520000" cy="1368000"/>
              <a:chOff x="4915192" y="3582766"/>
              <a:chExt cx="2520000" cy="1368000"/>
            </a:xfrm>
          </p:grpSpPr>
          <p:sp>
            <p:nvSpPr>
              <p:cNvPr id="357" name="Text Box 36">
                <a:extLst>
                  <a:ext uri="{FF2B5EF4-FFF2-40B4-BE49-F238E27FC236}">
                    <a16:creationId xmlns:a16="http://schemas.microsoft.com/office/drawing/2014/main" id="{57365002-A6FC-4B6A-BBB5-D096BD7A7281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45"/>
                </p:custDataLst>
              </p:nvPr>
            </p:nvSpPr>
            <p:spPr bwMode="auto">
              <a:xfrm>
                <a:off x="5635192" y="3797724"/>
                <a:ext cx="828000" cy="1152000"/>
              </a:xfrm>
              <a:prstGeom prst="rect">
                <a:avLst/>
              </a:prstGeom>
              <a:solidFill>
                <a:srgbClr val="CCCCFF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zh-CN" sz="1400" b="1" dirty="0">
                    <a:solidFill>
                      <a:srgbClr val="FF3399"/>
                    </a:solidFill>
                    <a:latin typeface="宋体" panose="02010600030101010101" pitchFamily="2" charset="-122"/>
                  </a:rPr>
                  <a:t>1001</a:t>
                </a:r>
                <a:r>
                  <a:rPr lang="en-US" altLang="zh-CN" sz="1400" b="1" dirty="0">
                    <a:solidFill>
                      <a:srgbClr val="C00000"/>
                    </a:solidFill>
                    <a:latin typeface="宋体" panose="02010600030101010101" pitchFamily="2" charset="-122"/>
                  </a:rPr>
                  <a:t>01</a:t>
                </a:r>
                <a:r>
                  <a:rPr lang="en-US" altLang="zh-CN" sz="1400" b="1" dirty="0">
                    <a:latin typeface="宋体" panose="02010600030101010101" pitchFamily="2" charset="-122"/>
                  </a:rPr>
                  <a:t>00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01000100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altLang="zh-CN" sz="1400" b="1" dirty="0">
                    <a:solidFill>
                      <a:srgbClr val="FF0000"/>
                    </a:solidFill>
                    <a:latin typeface="宋体" panose="02010600030101010101" pitchFamily="2" charset="-122"/>
                  </a:rPr>
                  <a:t>0101</a:t>
                </a:r>
                <a:r>
                  <a:rPr lang="en-US" altLang="zh-CN" sz="1400" b="1" dirty="0">
                    <a:solidFill>
                      <a:srgbClr val="C00000"/>
                    </a:solidFill>
                    <a:latin typeface="宋体" panose="02010600030101010101" pitchFamily="2" charset="-122"/>
                  </a:rPr>
                  <a:t>01</a:t>
                </a:r>
                <a:r>
                  <a:rPr lang="en-US" altLang="zh-CN" sz="1400" b="1" dirty="0">
                    <a:latin typeface="宋体" panose="02010600030101010101" pitchFamily="2" charset="-122"/>
                  </a:rPr>
                  <a:t>10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…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altLang="zh-CN" sz="1400" b="1" dirty="0">
                    <a:solidFill>
                      <a:schemeClr val="tx1"/>
                    </a:solidFill>
                    <a:latin typeface="宋体" panose="02010600030101010101" pitchFamily="2" charset="-122"/>
                  </a:rPr>
                  <a:t>00110011</a:t>
                </a:r>
                <a:endParaRPr lang="en-US" altLang="zh-CN" sz="1400" b="1" dirty="0">
                  <a:solidFill>
                    <a:schemeClr val="accent2"/>
                  </a:solidFill>
                  <a:latin typeface="宋体" panose="02010600030101010101" pitchFamily="2" charset="-122"/>
                </a:endParaRPr>
              </a:p>
              <a:p>
                <a:pPr algn="ctr">
                  <a:lnSpc>
                    <a:spcPct val="8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…</a:t>
                </a:r>
              </a:p>
            </p:txBody>
          </p:sp>
          <p:cxnSp>
            <p:nvCxnSpPr>
              <p:cNvPr id="358" name="直接连接符 357">
                <a:extLst>
                  <a:ext uri="{FF2B5EF4-FFF2-40B4-BE49-F238E27FC236}">
                    <a16:creationId xmlns:a16="http://schemas.microsoft.com/office/drawing/2014/main" id="{38D8A249-CCAD-41F4-886B-3B14467781D2}"/>
                  </a:ext>
                </a:extLst>
              </p:cNvPr>
              <p:cNvCxnSpPr/>
              <p:nvPr>
                <p:custDataLst>
                  <p:tags r:id="rId146"/>
                </p:custDataLst>
              </p:nvPr>
            </p:nvCxnSpPr>
            <p:spPr bwMode="auto">
              <a:xfrm>
                <a:off x="5635192" y="3960766"/>
                <a:ext cx="828000" cy="0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59" name="直接连接符 358">
                <a:extLst>
                  <a:ext uri="{FF2B5EF4-FFF2-40B4-BE49-F238E27FC236}">
                    <a16:creationId xmlns:a16="http://schemas.microsoft.com/office/drawing/2014/main" id="{CD96B6F5-CCF4-4D73-A000-C738B0EDE319}"/>
                  </a:ext>
                </a:extLst>
              </p:cNvPr>
              <p:cNvCxnSpPr/>
              <p:nvPr>
                <p:custDataLst>
                  <p:tags r:id="rId147"/>
                </p:custDataLst>
              </p:nvPr>
            </p:nvCxnSpPr>
            <p:spPr bwMode="auto">
              <a:xfrm>
                <a:off x="5635192" y="4302766"/>
                <a:ext cx="828000" cy="0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60" name="Text Box 36">
                <a:extLst>
                  <a:ext uri="{FF2B5EF4-FFF2-40B4-BE49-F238E27FC236}">
                    <a16:creationId xmlns:a16="http://schemas.microsoft.com/office/drawing/2014/main" id="{C25A8531-100C-4D91-94E8-B8BBF41DA365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48"/>
                </p:custDataLst>
              </p:nvPr>
            </p:nvSpPr>
            <p:spPr bwMode="auto">
              <a:xfrm>
                <a:off x="5023192" y="3797724"/>
                <a:ext cx="612000" cy="1152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zh-CN" sz="1400" b="1" dirty="0">
                    <a:latin typeface="+mn-ea"/>
                  </a:rPr>
                  <a:t>0…000</a:t>
                </a:r>
                <a:endParaRPr lang="en-US" altLang="zh-CN" sz="1400" b="1" dirty="0">
                  <a:latin typeface="+mn-ea"/>
                  <a:ea typeface="+mn-ea"/>
                </a:endParaRPr>
              </a:p>
              <a:p>
                <a:pPr algn="ctr">
                  <a:lnSpc>
                    <a:spcPct val="80000"/>
                  </a:lnSpc>
                </a:pPr>
                <a:r>
                  <a:rPr lang="en-US" altLang="zh-CN" sz="1400" b="1" dirty="0">
                    <a:latin typeface="+mn-ea"/>
                    <a:ea typeface="+mn-ea"/>
                  </a:rPr>
                  <a:t>0</a:t>
                </a:r>
                <a:r>
                  <a:rPr lang="en-US" altLang="zh-CN" sz="1400" b="1" dirty="0">
                    <a:latin typeface="+mn-ea"/>
                  </a:rPr>
                  <a:t>…</a:t>
                </a:r>
                <a:r>
                  <a:rPr lang="en-US" altLang="zh-CN" sz="1400" b="1" dirty="0">
                    <a:latin typeface="+mn-ea"/>
                    <a:ea typeface="+mn-ea"/>
                  </a:rPr>
                  <a:t>001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altLang="zh-CN" sz="1400" b="1" u="none" dirty="0">
                    <a:latin typeface="+mn-ea"/>
                    <a:ea typeface="+mn-ea"/>
                  </a:rPr>
                  <a:t>0…010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altLang="zh-CN" sz="1400" b="1" dirty="0">
                    <a:latin typeface="+mn-ea"/>
                  </a:rPr>
                  <a:t>…</a:t>
                </a:r>
                <a:r>
                  <a:rPr lang="en-US" altLang="zh-CN" sz="1400" b="1" u="none" dirty="0">
                    <a:latin typeface="+mn-ea"/>
                    <a:ea typeface="+mn-ea"/>
                  </a:rPr>
                  <a:t>   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altLang="zh-CN" sz="1400" b="1" dirty="0">
                    <a:latin typeface="+mn-ea"/>
                  </a:rPr>
                  <a:t>0…044</a:t>
                </a:r>
              </a:p>
              <a:p>
                <a:pPr algn="ctr">
                  <a:lnSpc>
                    <a:spcPct val="70000"/>
                  </a:lnSpc>
                </a:pPr>
                <a:r>
                  <a:rPr lang="en-US" altLang="zh-CN" sz="1400" b="1" dirty="0">
                    <a:latin typeface="+mn-ea"/>
                  </a:rPr>
                  <a:t>…</a:t>
                </a:r>
              </a:p>
              <a:p>
                <a:pPr algn="ctr">
                  <a:lnSpc>
                    <a:spcPct val="80000"/>
                  </a:lnSpc>
                </a:pPr>
                <a:r>
                  <a:rPr lang="en-US" altLang="zh-CN" sz="1400" b="1" dirty="0">
                    <a:solidFill>
                      <a:srgbClr val="C00000"/>
                    </a:solidFill>
                    <a:highlight>
                      <a:srgbClr val="99CCFF"/>
                    </a:highlight>
                    <a:latin typeface="+mn-ea"/>
                  </a:rPr>
                  <a:t>2</a:t>
                </a:r>
                <a:r>
                  <a:rPr lang="en-US" altLang="zh-CN" sz="1400" b="1" baseline="30000" dirty="0">
                    <a:solidFill>
                      <a:srgbClr val="C00000"/>
                    </a:solidFill>
                    <a:highlight>
                      <a:srgbClr val="99CCFF"/>
                    </a:highlight>
                    <a:latin typeface="+mn-ea"/>
                  </a:rPr>
                  <a:t>N</a:t>
                </a:r>
                <a:r>
                  <a:rPr lang="en-US" altLang="zh-CN" sz="1400" b="1" dirty="0">
                    <a:solidFill>
                      <a:schemeClr val="tx1"/>
                    </a:solidFill>
                    <a:latin typeface="+mn-ea"/>
                  </a:rPr>
                  <a:t>-1</a:t>
                </a:r>
              </a:p>
            </p:txBody>
          </p:sp>
          <p:cxnSp>
            <p:nvCxnSpPr>
              <p:cNvPr id="361" name="直接连接符 360">
                <a:extLst>
                  <a:ext uri="{FF2B5EF4-FFF2-40B4-BE49-F238E27FC236}">
                    <a16:creationId xmlns:a16="http://schemas.microsoft.com/office/drawing/2014/main" id="{817911CD-5869-43EF-95A2-4E32F18BADF4}"/>
                  </a:ext>
                </a:extLst>
              </p:cNvPr>
              <p:cNvCxnSpPr/>
              <p:nvPr>
                <p:custDataLst>
                  <p:tags r:id="rId149"/>
                </p:custDataLst>
              </p:nvPr>
            </p:nvCxnSpPr>
            <p:spPr bwMode="auto">
              <a:xfrm>
                <a:off x="5635192" y="4122766"/>
                <a:ext cx="828000" cy="0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62" name="直接连接符 361">
                <a:extLst>
                  <a:ext uri="{FF2B5EF4-FFF2-40B4-BE49-F238E27FC236}">
                    <a16:creationId xmlns:a16="http://schemas.microsoft.com/office/drawing/2014/main" id="{29D58D3C-A21F-4AAE-AC37-527486F109EE}"/>
                  </a:ext>
                </a:extLst>
              </p:cNvPr>
              <p:cNvCxnSpPr/>
              <p:nvPr>
                <p:custDataLst>
                  <p:tags r:id="rId150"/>
                </p:custDataLst>
              </p:nvPr>
            </p:nvCxnSpPr>
            <p:spPr bwMode="auto">
              <a:xfrm>
                <a:off x="5635192" y="4464766"/>
                <a:ext cx="828000" cy="0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63" name="直接连接符 362">
                <a:extLst>
                  <a:ext uri="{FF2B5EF4-FFF2-40B4-BE49-F238E27FC236}">
                    <a16:creationId xmlns:a16="http://schemas.microsoft.com/office/drawing/2014/main" id="{58437D68-3159-4024-B672-3D6051AD61FF}"/>
                  </a:ext>
                </a:extLst>
              </p:cNvPr>
              <p:cNvCxnSpPr/>
              <p:nvPr>
                <p:custDataLst>
                  <p:tags r:id="rId151"/>
                </p:custDataLst>
              </p:nvPr>
            </p:nvCxnSpPr>
            <p:spPr bwMode="auto">
              <a:xfrm>
                <a:off x="5635192" y="4806766"/>
                <a:ext cx="828000" cy="0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64" name="直接连接符 363">
                <a:extLst>
                  <a:ext uri="{FF2B5EF4-FFF2-40B4-BE49-F238E27FC236}">
                    <a16:creationId xmlns:a16="http://schemas.microsoft.com/office/drawing/2014/main" id="{B2129920-3C0F-4527-BBA2-B54179DF9D2A}"/>
                  </a:ext>
                </a:extLst>
              </p:cNvPr>
              <p:cNvCxnSpPr/>
              <p:nvPr>
                <p:custDataLst>
                  <p:tags r:id="rId152"/>
                </p:custDataLst>
              </p:nvPr>
            </p:nvCxnSpPr>
            <p:spPr bwMode="auto">
              <a:xfrm>
                <a:off x="5635192" y="4644766"/>
                <a:ext cx="828000" cy="0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65" name="Text Box 36">
                <a:extLst>
                  <a:ext uri="{FF2B5EF4-FFF2-40B4-BE49-F238E27FC236}">
                    <a16:creationId xmlns:a16="http://schemas.microsoft.com/office/drawing/2014/main" id="{A0221499-D19F-44D4-8C2C-493D68C412B8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53"/>
                </p:custDataLst>
              </p:nvPr>
            </p:nvSpPr>
            <p:spPr bwMode="auto">
              <a:xfrm>
                <a:off x="4915192" y="3582766"/>
                <a:ext cx="2448000" cy="216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wrap="square" lIns="0" tIns="0" rIns="0" bIns="0" anchor="t" anchorCtr="0">
                <a:no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zh-CN" altLang="en-US" sz="1400" b="1" dirty="0">
                    <a:highlight>
                      <a:srgbClr val="CCECFF"/>
                    </a:highlight>
                    <a:latin typeface="+mn-ea"/>
                  </a:rPr>
                  <a:t>逻辑地址</a:t>
                </a:r>
                <a:r>
                  <a:rPr lang="zh-CN" altLang="en-US" sz="1400" b="1" baseline="-25000" dirty="0">
                    <a:highlight>
                      <a:srgbClr val="CCECFF"/>
                    </a:highlight>
                    <a:latin typeface="+mn-ea"/>
                  </a:rPr>
                  <a:t> </a:t>
                </a:r>
                <a:r>
                  <a:rPr lang="zh-CN" altLang="en-US" sz="1400" b="1" dirty="0">
                    <a:highlight>
                      <a:srgbClr val="CC99FF"/>
                    </a:highlight>
                    <a:latin typeface="+mn-ea"/>
                  </a:rPr>
                  <a:t>程序内容</a:t>
                </a:r>
                <a:r>
                  <a:rPr lang="zh-CN" altLang="en-US" sz="1400" b="1" dirty="0">
                    <a:latin typeface="+mn-ea"/>
                  </a:rPr>
                  <a:t>  指令功能</a:t>
                </a:r>
                <a:endParaRPr lang="en-US" altLang="zh-CN" sz="1400" b="1" dirty="0">
                  <a:latin typeface="+mn-ea"/>
                </a:endParaRPr>
              </a:p>
            </p:txBody>
          </p:sp>
          <p:sp>
            <p:nvSpPr>
              <p:cNvPr id="366" name="Text Box 36">
                <a:extLst>
                  <a:ext uri="{FF2B5EF4-FFF2-40B4-BE49-F238E27FC236}">
                    <a16:creationId xmlns:a16="http://schemas.microsoft.com/office/drawing/2014/main" id="{0C99B9D1-EB42-4998-959A-7B4A177E81EA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54"/>
                </p:custDataLst>
              </p:nvPr>
            </p:nvSpPr>
            <p:spPr bwMode="auto">
              <a:xfrm>
                <a:off x="6499192" y="3798766"/>
                <a:ext cx="936000" cy="1152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wrap="square" lIns="0" tIns="0" rIns="0" bIns="0" anchor="t" anchorCtr="0">
                <a:no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R1</a:t>
                </a:r>
                <a:r>
                  <a:rPr lang="zh-CN" altLang="en-US" sz="1400" b="1" dirty="0">
                    <a:latin typeface="宋体" panose="02010600030101010101" pitchFamily="2" charset="-122"/>
                  </a:rPr>
                  <a:t>←</a:t>
                </a:r>
                <a:r>
                  <a:rPr lang="en-US" altLang="zh-CN" sz="1400" b="1" dirty="0">
                    <a:latin typeface="宋体" panose="02010600030101010101" pitchFamily="2" charset="-122"/>
                  </a:rPr>
                  <a:t>M[44H]</a:t>
                </a:r>
              </a:p>
              <a:p>
                <a:pPr>
                  <a:lnSpc>
                    <a:spcPct val="80000"/>
                  </a:lnSpc>
                </a:pPr>
                <a:r>
                  <a:rPr lang="en-US" altLang="zh-CN" sz="1400" b="1" dirty="0">
                    <a:latin typeface="+mn-ea"/>
                    <a:ea typeface="+mn-ea"/>
                  </a:rPr>
                  <a:t> </a:t>
                </a:r>
              </a:p>
              <a:p>
                <a:pPr>
                  <a:lnSpc>
                    <a:spcPct val="80000"/>
                  </a:lnSpc>
                </a:pPr>
                <a:r>
                  <a:rPr lang="en-US" altLang="zh-CN" sz="1400" b="1" dirty="0">
                    <a:latin typeface="+mn-ea"/>
                  </a:rPr>
                  <a:t>R1</a:t>
                </a:r>
                <a:r>
                  <a:rPr lang="zh-CN" altLang="en-US" sz="1400" b="1" dirty="0">
                    <a:latin typeface="宋体" panose="02010600030101010101" pitchFamily="2" charset="-122"/>
                  </a:rPr>
                  <a:t>←</a:t>
                </a:r>
                <a:r>
                  <a:rPr lang="en-US" altLang="zh-CN" sz="1400" b="1" dirty="0">
                    <a:latin typeface="宋体" panose="02010600030101010101" pitchFamily="2" charset="-122"/>
                  </a:rPr>
                  <a:t>(R1)+2</a:t>
                </a:r>
                <a:r>
                  <a:rPr lang="en-US" altLang="zh-CN" sz="1400" b="1" u="none" dirty="0">
                    <a:latin typeface="+mn-ea"/>
                    <a:ea typeface="+mn-ea"/>
                  </a:rPr>
                  <a:t>   </a:t>
                </a:r>
              </a:p>
              <a:p>
                <a:pPr>
                  <a:lnSpc>
                    <a:spcPct val="80000"/>
                  </a:lnSpc>
                </a:pPr>
                <a:endParaRPr lang="en-US" altLang="zh-CN" sz="1400" b="1" dirty="0">
                  <a:latin typeface="+mn-ea"/>
                </a:endParaRPr>
              </a:p>
              <a:p>
                <a:pPr>
                  <a:lnSpc>
                    <a:spcPct val="80000"/>
                  </a:lnSpc>
                </a:pPr>
                <a:r>
                  <a:rPr lang="en-US" altLang="zh-CN" sz="1400" b="1" dirty="0">
                    <a:latin typeface="+mn-ea"/>
                  </a:rPr>
                  <a:t>x=33H</a:t>
                </a:r>
              </a:p>
              <a:p>
                <a:pPr>
                  <a:lnSpc>
                    <a:spcPct val="80000"/>
                  </a:lnSpc>
                </a:pPr>
                <a:endParaRPr lang="en-US" altLang="zh-CN" sz="1400" b="1" dirty="0">
                  <a:latin typeface="+mn-ea"/>
                </a:endParaRPr>
              </a:p>
            </p:txBody>
          </p:sp>
        </p:grpSp>
        <p:grpSp>
          <p:nvGrpSpPr>
            <p:cNvPr id="237" name="组合 236">
              <a:extLst>
                <a:ext uri="{FF2B5EF4-FFF2-40B4-BE49-F238E27FC236}">
                  <a16:creationId xmlns:a16="http://schemas.microsoft.com/office/drawing/2014/main" id="{E30EEB1E-C0D3-40EA-96A2-DBE070FCC5AA}"/>
                </a:ext>
              </a:extLst>
            </p:cNvPr>
            <p:cNvGrpSpPr/>
            <p:nvPr/>
          </p:nvGrpSpPr>
          <p:grpSpPr>
            <a:xfrm>
              <a:off x="3456000" y="756000"/>
              <a:ext cx="2915920" cy="1332230"/>
              <a:chOff x="-1531" y="1813"/>
              <a:chExt cx="4592" cy="2098"/>
            </a:xfrm>
          </p:grpSpPr>
          <p:sp>
            <p:nvSpPr>
              <p:cNvPr id="347" name="Text Box 160">
                <a:extLst>
                  <a:ext uri="{FF2B5EF4-FFF2-40B4-BE49-F238E27FC236}">
                    <a16:creationId xmlns:a16="http://schemas.microsoft.com/office/drawing/2014/main" id="{0E38EC94-BB5D-470B-B02D-75CDBAA23A82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36"/>
                </p:custDataLst>
              </p:nvPr>
            </p:nvSpPr>
            <p:spPr bwMode="auto">
              <a:xfrm>
                <a:off x="-1531" y="1813"/>
                <a:ext cx="2041" cy="209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prstDash val="sysDash"/>
                <a:miter lim="800000"/>
              </a:ln>
              <a:effectLst/>
            </p:spPr>
            <p:txBody>
              <a:bodyPr lIns="0" tIns="0" rIns="0" bIns="0" anchor="t" anchorCtr="0"/>
              <a:lstStyle/>
              <a:p>
                <a:pPr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1600" b="1" dirty="0">
                    <a:solidFill>
                      <a:srgbClr val="CC3300"/>
                    </a:solidFill>
                    <a:latin typeface="宋体" panose="02010600030101010101" pitchFamily="2" charset="-122"/>
                  </a:rPr>
                  <a:t>ISA</a:t>
                </a:r>
                <a:r>
                  <a:rPr lang="zh-CN" altLang="en-US" sz="1600" b="1" dirty="0">
                    <a:solidFill>
                      <a:srgbClr val="C00000"/>
                    </a:solidFill>
                    <a:latin typeface="宋体" panose="02010600030101010101" pitchFamily="2" charset="-122"/>
                  </a:rPr>
                  <a:t>内容</a:t>
                </a:r>
                <a:r>
                  <a:rPr lang="zh-CN" altLang="en-US" sz="1600" b="1" dirty="0">
                    <a:solidFill>
                      <a:srgbClr val="CC3300"/>
                    </a:solidFill>
                    <a:latin typeface="宋体" panose="02010600030101010101" pitchFamily="2" charset="-122"/>
                  </a:rPr>
                  <a:t>：</a:t>
                </a:r>
                <a:endParaRPr lang="en-US" altLang="zh-CN" sz="1600" b="1" dirty="0">
                  <a:solidFill>
                    <a:srgbClr val="CC3300"/>
                  </a:solidFill>
                  <a:latin typeface="宋体" panose="02010600030101010101" pitchFamily="2" charset="-122"/>
                </a:endParaRPr>
              </a:p>
              <a:p>
                <a:pPr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 </a:t>
                </a:r>
                <a:r>
                  <a:rPr lang="zh-CN" altLang="en-US" sz="1600" b="1" dirty="0">
                    <a:latin typeface="宋体" panose="02010600030101010101" pitchFamily="2" charset="-122"/>
                  </a:rPr>
                  <a:t>数据表示</a:t>
                </a:r>
                <a:endParaRPr lang="en-US" altLang="zh-CN" sz="1600" b="1" dirty="0">
                  <a:latin typeface="宋体" panose="02010600030101010101" pitchFamily="2" charset="-122"/>
                </a:endParaRPr>
              </a:p>
              <a:p>
                <a:pPr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 OPD</a:t>
                </a:r>
                <a:r>
                  <a:rPr lang="zh-CN" altLang="en-US" sz="1600" b="1" dirty="0">
                    <a:latin typeface="宋体" panose="02010600030101010101" pitchFamily="2" charset="-122"/>
                  </a:rPr>
                  <a:t>存放方式</a:t>
                </a:r>
                <a:endParaRPr lang="en-US" altLang="zh-CN" sz="1600" b="1" dirty="0">
                  <a:latin typeface="宋体" panose="02010600030101010101" pitchFamily="2" charset="-122"/>
                </a:endParaRPr>
              </a:p>
              <a:p>
                <a:pPr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1600" b="1" dirty="0">
                    <a:latin typeface="宋体" panose="02010600030101010101" pitchFamily="2" charset="-122"/>
                  </a:rPr>
                  <a:t> 寻址方式</a:t>
                </a:r>
                <a:endParaRPr lang="en-US" altLang="zh-CN" sz="1600" b="1" dirty="0">
                  <a:latin typeface="宋体" panose="02010600030101010101" pitchFamily="2" charset="-122"/>
                </a:endParaRPr>
              </a:p>
              <a:p>
                <a:pPr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zh-CN" sz="1600" b="1" dirty="0">
                    <a:latin typeface="宋体" panose="02010600030101010101" pitchFamily="2" charset="-122"/>
                  </a:rPr>
                  <a:t> </a:t>
                </a:r>
                <a:r>
                  <a:rPr lang="zh-CN" altLang="en-US" sz="1600" b="1" dirty="0">
                    <a:latin typeface="宋体" panose="02010600030101010101" pitchFamily="2" charset="-122"/>
                  </a:rPr>
                  <a:t>指令功能</a:t>
                </a:r>
                <a:endParaRPr lang="en-US" altLang="zh-CN" sz="1600" b="1" dirty="0">
                  <a:latin typeface="宋体" panose="02010600030101010101" pitchFamily="2" charset="-122"/>
                </a:endParaRPr>
              </a:p>
              <a:p>
                <a:pPr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1600" b="1" dirty="0">
                    <a:latin typeface="宋体" panose="02010600030101010101" pitchFamily="2" charset="-122"/>
                  </a:rPr>
                  <a:t> 指令格式</a:t>
                </a:r>
              </a:p>
            </p:txBody>
          </p:sp>
          <p:grpSp>
            <p:nvGrpSpPr>
              <p:cNvPr id="348" name="组合 347">
                <a:extLst>
                  <a:ext uri="{FF2B5EF4-FFF2-40B4-BE49-F238E27FC236}">
                    <a16:creationId xmlns:a16="http://schemas.microsoft.com/office/drawing/2014/main" id="{A3C5FE00-2F4B-4E94-9B03-D16F12832F82}"/>
                  </a:ext>
                </a:extLst>
              </p:cNvPr>
              <p:cNvGrpSpPr/>
              <p:nvPr/>
            </p:nvGrpSpPr>
            <p:grpSpPr>
              <a:xfrm>
                <a:off x="623" y="3004"/>
                <a:ext cx="2209" cy="626"/>
                <a:chOff x="5623389" y="1204119"/>
                <a:chExt cx="1402594" cy="396634"/>
              </a:xfrm>
            </p:grpSpPr>
            <p:sp>
              <p:nvSpPr>
                <p:cNvPr id="350" name="Text Box 136">
                  <a:extLst>
                    <a:ext uri="{FF2B5EF4-FFF2-40B4-BE49-F238E27FC236}">
                      <a16:creationId xmlns:a16="http://schemas.microsoft.com/office/drawing/2014/main" id="{9ECA0EC3-1F9D-41A6-A552-78C909979BF7}"/>
                    </a:ext>
                  </a:extLst>
                </p:cNvPr>
                <p:cNvSpPr txBox="1">
                  <a:spLocks noChangeArrowheads="1"/>
                </p:cNvSpPr>
                <p:nvPr>
                  <p:custDataLst>
                    <p:tags r:id="rId138"/>
                  </p:custDataLst>
                </p:nvPr>
              </p:nvSpPr>
              <p:spPr bwMode="auto">
                <a:xfrm>
                  <a:off x="6019566" y="1420042"/>
                  <a:ext cx="251910" cy="179897"/>
                </a:xfrm>
                <a:prstGeom prst="rect">
                  <a:avLst/>
                </a:prstGeom>
                <a:solidFill>
                  <a:srgbClr val="FFCC99">
                    <a:alpha val="80000"/>
                  </a:srgbClr>
                </a:solidFill>
                <a:ln w="127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lIns="0" tIns="0" rIns="0" bIns="0" anchor="ctr"/>
                <a:lstStyle/>
                <a:p>
                  <a:pPr algn="ctr">
                    <a:lnSpc>
                      <a:spcPct val="90000"/>
                    </a:lnSpc>
                  </a:pPr>
                  <a:r>
                    <a:rPr lang="en-US" altLang="zh-CN" sz="1400" b="1" dirty="0">
                      <a:latin typeface="宋体" panose="02010600030101010101" pitchFamily="2" charset="-122"/>
                    </a:rPr>
                    <a:t>RD</a:t>
                  </a:r>
                </a:p>
              </p:txBody>
            </p:sp>
            <p:sp>
              <p:nvSpPr>
                <p:cNvPr id="351" name="Text Box 137">
                  <a:extLst>
                    <a:ext uri="{FF2B5EF4-FFF2-40B4-BE49-F238E27FC236}">
                      <a16:creationId xmlns:a16="http://schemas.microsoft.com/office/drawing/2014/main" id="{0FD33ABD-FD42-4632-BB24-A2ACE246B40C}"/>
                    </a:ext>
                  </a:extLst>
                </p:cNvPr>
                <p:cNvSpPr txBox="1">
                  <a:spLocks noChangeArrowheads="1"/>
                </p:cNvSpPr>
                <p:nvPr>
                  <p:custDataLst>
                    <p:tags r:id="rId139"/>
                  </p:custDataLst>
                </p:nvPr>
              </p:nvSpPr>
              <p:spPr bwMode="auto">
                <a:xfrm>
                  <a:off x="5623389" y="1420763"/>
                  <a:ext cx="395966" cy="179990"/>
                </a:xfrm>
                <a:prstGeom prst="rect">
                  <a:avLst/>
                </a:prstGeom>
                <a:solidFill>
                  <a:srgbClr val="FFCCFF">
                    <a:alpha val="80000"/>
                  </a:srgbClr>
                </a:solidFill>
                <a:ln w="127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lIns="0" tIns="0" rIns="0" bIns="0" anchor="ctr"/>
                <a:lstStyle/>
                <a:p>
                  <a:pPr algn="ctr">
                    <a:lnSpc>
                      <a:spcPct val="90000"/>
                    </a:lnSpc>
                  </a:pPr>
                  <a:r>
                    <a:rPr lang="en-US" altLang="zh-CN" sz="1400" b="1" dirty="0">
                      <a:latin typeface="宋体" panose="02010600030101010101" pitchFamily="2" charset="-122"/>
                    </a:rPr>
                    <a:t>op2</a:t>
                  </a:r>
                </a:p>
              </p:txBody>
            </p:sp>
            <p:sp>
              <p:nvSpPr>
                <p:cNvPr id="352" name="Text Box 151">
                  <a:extLst>
                    <a:ext uri="{FF2B5EF4-FFF2-40B4-BE49-F238E27FC236}">
                      <a16:creationId xmlns:a16="http://schemas.microsoft.com/office/drawing/2014/main" id="{A052C03D-D46E-4769-9739-CE93F7C473C2}"/>
                    </a:ext>
                  </a:extLst>
                </p:cNvPr>
                <p:cNvSpPr txBox="1">
                  <a:spLocks noChangeArrowheads="1"/>
                </p:cNvSpPr>
                <p:nvPr>
                  <p:custDataLst>
                    <p:tags r:id="rId140"/>
                  </p:custDataLst>
                </p:nvPr>
              </p:nvSpPr>
              <p:spPr bwMode="auto">
                <a:xfrm>
                  <a:off x="6522051" y="1420042"/>
                  <a:ext cx="503932" cy="179897"/>
                </a:xfrm>
                <a:prstGeom prst="rect">
                  <a:avLst/>
                </a:prstGeom>
                <a:solidFill>
                  <a:srgbClr val="99CCFF">
                    <a:alpha val="80000"/>
                  </a:srgbClr>
                </a:solidFill>
                <a:ln w="127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lIns="0" tIns="0" rIns="0" bIns="0" anchor="ctr"/>
                <a:lstStyle/>
                <a:p>
                  <a:pPr algn="ctr">
                    <a:lnSpc>
                      <a:spcPct val="90000"/>
                    </a:lnSpc>
                  </a:pPr>
                  <a:r>
                    <a:rPr lang="en-US" altLang="zh-CN" sz="1400" b="1" dirty="0">
                      <a:latin typeface="宋体" panose="02010600030101010101" pitchFamily="2" charset="-122"/>
                    </a:rPr>
                    <a:t>A</a:t>
                  </a:r>
                </a:p>
              </p:txBody>
            </p:sp>
            <p:sp>
              <p:nvSpPr>
                <p:cNvPr id="353" name="Text Box 136">
                  <a:extLst>
                    <a:ext uri="{FF2B5EF4-FFF2-40B4-BE49-F238E27FC236}">
                      <a16:creationId xmlns:a16="http://schemas.microsoft.com/office/drawing/2014/main" id="{E51EE502-9BED-4F53-9EE5-2DEC38409E01}"/>
                    </a:ext>
                  </a:extLst>
                </p:cNvPr>
                <p:cNvSpPr txBox="1">
                  <a:spLocks noChangeArrowheads="1"/>
                </p:cNvSpPr>
                <p:nvPr>
                  <p:custDataLst>
                    <p:tags r:id="rId141"/>
                  </p:custDataLst>
                </p:nvPr>
              </p:nvSpPr>
              <p:spPr bwMode="auto">
                <a:xfrm>
                  <a:off x="6271544" y="1420042"/>
                  <a:ext cx="251910" cy="179897"/>
                </a:xfrm>
                <a:prstGeom prst="rect">
                  <a:avLst/>
                </a:prstGeom>
                <a:solidFill>
                  <a:srgbClr val="FFCC99">
                    <a:alpha val="80000"/>
                  </a:srgbClr>
                </a:solidFill>
                <a:ln w="127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lIns="0" tIns="0" rIns="0" bIns="0" anchor="ctr"/>
                <a:lstStyle/>
                <a:p>
                  <a:pPr algn="ctr">
                    <a:lnSpc>
                      <a:spcPct val="90000"/>
                    </a:lnSpc>
                  </a:pPr>
                  <a:r>
                    <a:rPr lang="en-US" altLang="zh-CN" sz="1400" b="1" dirty="0">
                      <a:latin typeface="宋体" panose="02010600030101010101" pitchFamily="2" charset="-122"/>
                    </a:rPr>
                    <a:t>RS</a:t>
                  </a:r>
                </a:p>
              </p:txBody>
            </p:sp>
            <p:sp>
              <p:nvSpPr>
                <p:cNvPr id="354" name="Text Box 136">
                  <a:extLst>
                    <a:ext uri="{FF2B5EF4-FFF2-40B4-BE49-F238E27FC236}">
                      <a16:creationId xmlns:a16="http://schemas.microsoft.com/office/drawing/2014/main" id="{47EE592A-5FF8-4A53-8489-915E4E7B395B}"/>
                    </a:ext>
                  </a:extLst>
                </p:cNvPr>
                <p:cNvSpPr txBox="1">
                  <a:spLocks noChangeArrowheads="1"/>
                </p:cNvSpPr>
                <p:nvPr>
                  <p:custDataLst>
                    <p:tags r:id="rId142"/>
                  </p:custDataLst>
                </p:nvPr>
              </p:nvSpPr>
              <p:spPr bwMode="auto">
                <a:xfrm>
                  <a:off x="6019566" y="1204119"/>
                  <a:ext cx="251910" cy="179897"/>
                </a:xfrm>
                <a:prstGeom prst="rect">
                  <a:avLst/>
                </a:prstGeom>
                <a:solidFill>
                  <a:srgbClr val="FFCC99">
                    <a:alpha val="80000"/>
                  </a:srgbClr>
                </a:solidFill>
                <a:ln w="127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lIns="0" tIns="0" rIns="0" bIns="0" anchor="ctr"/>
                <a:lstStyle/>
                <a:p>
                  <a:pPr algn="ctr">
                    <a:lnSpc>
                      <a:spcPct val="90000"/>
                    </a:lnSpc>
                  </a:pPr>
                  <a:r>
                    <a:rPr lang="en-US" altLang="zh-CN" sz="1400" b="1" dirty="0">
                      <a:latin typeface="宋体" panose="02010600030101010101" pitchFamily="2" charset="-122"/>
                    </a:rPr>
                    <a:t>RD</a:t>
                  </a:r>
                </a:p>
              </p:txBody>
            </p:sp>
            <p:sp>
              <p:nvSpPr>
                <p:cNvPr id="355" name="Text Box 137">
                  <a:extLst>
                    <a:ext uri="{FF2B5EF4-FFF2-40B4-BE49-F238E27FC236}">
                      <a16:creationId xmlns:a16="http://schemas.microsoft.com/office/drawing/2014/main" id="{03A3EF75-0812-4F02-B017-D63F7AA6CC34}"/>
                    </a:ext>
                  </a:extLst>
                </p:cNvPr>
                <p:cNvSpPr txBox="1">
                  <a:spLocks noChangeArrowheads="1"/>
                </p:cNvSpPr>
                <p:nvPr>
                  <p:custDataLst>
                    <p:tags r:id="rId143"/>
                  </p:custDataLst>
                </p:nvPr>
              </p:nvSpPr>
              <p:spPr bwMode="auto">
                <a:xfrm>
                  <a:off x="5624089" y="1204119"/>
                  <a:ext cx="395966" cy="179990"/>
                </a:xfrm>
                <a:prstGeom prst="rect">
                  <a:avLst/>
                </a:prstGeom>
                <a:solidFill>
                  <a:srgbClr val="FFCCFF">
                    <a:alpha val="80000"/>
                  </a:srgbClr>
                </a:solidFill>
                <a:ln w="127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lIns="0" tIns="0" rIns="0" bIns="0" anchor="ctr"/>
                <a:lstStyle/>
                <a:p>
                  <a:pPr algn="ctr">
                    <a:lnSpc>
                      <a:spcPct val="90000"/>
                    </a:lnSpc>
                  </a:pPr>
                  <a:r>
                    <a:rPr lang="en-US" altLang="zh-CN" sz="1400" b="1" dirty="0">
                      <a:latin typeface="宋体" panose="02010600030101010101" pitchFamily="2" charset="-122"/>
                    </a:rPr>
                    <a:t>op1</a:t>
                  </a:r>
                </a:p>
              </p:txBody>
            </p:sp>
            <p:sp>
              <p:nvSpPr>
                <p:cNvPr id="356" name="Text Box 136">
                  <a:extLst>
                    <a:ext uri="{FF2B5EF4-FFF2-40B4-BE49-F238E27FC236}">
                      <a16:creationId xmlns:a16="http://schemas.microsoft.com/office/drawing/2014/main" id="{87171DCB-2070-4B9E-AB55-2D1DED555C79}"/>
                    </a:ext>
                  </a:extLst>
                </p:cNvPr>
                <p:cNvSpPr txBox="1">
                  <a:spLocks noChangeArrowheads="1"/>
                </p:cNvSpPr>
                <p:nvPr>
                  <p:custDataLst>
                    <p:tags r:id="rId144"/>
                  </p:custDataLst>
                </p:nvPr>
              </p:nvSpPr>
              <p:spPr bwMode="auto">
                <a:xfrm>
                  <a:off x="6271544" y="1204119"/>
                  <a:ext cx="251951" cy="179897"/>
                </a:xfrm>
                <a:prstGeom prst="rect">
                  <a:avLst/>
                </a:prstGeom>
                <a:solidFill>
                  <a:srgbClr val="FFCC99">
                    <a:alpha val="80000"/>
                  </a:srgbClr>
                </a:solidFill>
                <a:ln w="12700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lIns="0" tIns="0" rIns="0" bIns="0" anchor="ctr"/>
                <a:lstStyle/>
                <a:p>
                  <a:pPr algn="ctr">
                    <a:lnSpc>
                      <a:spcPct val="90000"/>
                    </a:lnSpc>
                  </a:pPr>
                  <a:r>
                    <a:rPr lang="en-US" altLang="zh-CN" sz="1400" b="1" dirty="0">
                      <a:latin typeface="宋体" panose="02010600030101010101" pitchFamily="2" charset="-122"/>
                    </a:rPr>
                    <a:t>RS</a:t>
                  </a:r>
                </a:p>
              </p:txBody>
            </p:sp>
          </p:grpSp>
          <p:sp>
            <p:nvSpPr>
              <p:cNvPr id="349" name="Text Box 61">
                <a:extLst>
                  <a:ext uri="{FF2B5EF4-FFF2-40B4-BE49-F238E27FC236}">
                    <a16:creationId xmlns:a16="http://schemas.microsoft.com/office/drawing/2014/main" id="{E0403C95-9062-46B0-9826-0D06E21979BB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37"/>
                </p:custDataLst>
              </p:nvPr>
            </p:nvSpPr>
            <p:spPr bwMode="auto">
              <a:xfrm>
                <a:off x="623" y="2324"/>
                <a:ext cx="2438" cy="624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 anchorCtr="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400" b="1" dirty="0">
                    <a:latin typeface="+mn-ea"/>
                  </a:rPr>
                  <a:t>RD</a:t>
                </a:r>
                <a:r>
                  <a:rPr lang="zh-CN" altLang="en-US" sz="1400" b="1" dirty="0">
                    <a:latin typeface="+mn-ea"/>
                  </a:rPr>
                  <a:t>←</a:t>
                </a:r>
                <a:r>
                  <a:rPr lang="en-US" altLang="zh-CN" sz="1400" b="1" dirty="0">
                    <a:latin typeface="+mn-ea"/>
                  </a:rPr>
                  <a:t>(RD)</a:t>
                </a:r>
                <a:r>
                  <a:rPr lang="en-US" altLang="zh-CN" sz="1400" b="1" baseline="-18000" dirty="0">
                    <a:latin typeface="+mn-ea"/>
                  </a:rPr>
                  <a:t> </a:t>
                </a:r>
                <a:r>
                  <a:rPr lang="en-US" altLang="zh-CN" sz="1400" b="1" dirty="0">
                    <a:latin typeface="+mn-ea"/>
                  </a:rPr>
                  <a:t>op1</a:t>
                </a:r>
                <a:r>
                  <a:rPr lang="en-US" altLang="zh-CN" sz="1400" b="1" baseline="-18000" dirty="0">
                    <a:latin typeface="+mn-ea"/>
                  </a:rPr>
                  <a:t> </a:t>
                </a:r>
                <a:r>
                  <a:rPr lang="en-US" altLang="zh-CN" sz="1400" b="1" dirty="0">
                    <a:latin typeface="+mn-ea"/>
                  </a:rPr>
                  <a:t>(RS)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altLang="zh-CN" sz="1400" b="1" dirty="0">
                    <a:latin typeface="+mn-ea"/>
                  </a:rPr>
                  <a:t>RD</a:t>
                </a:r>
                <a:r>
                  <a:rPr lang="zh-CN" altLang="en-US" sz="1400" b="1" dirty="0">
                    <a:latin typeface="+mn-ea"/>
                  </a:rPr>
                  <a:t>←</a:t>
                </a:r>
                <a:r>
                  <a:rPr lang="en-US" altLang="zh-CN" sz="1400" b="1" dirty="0">
                    <a:latin typeface="+mn-ea"/>
                  </a:rPr>
                  <a:t>M[(RS)]</a:t>
                </a:r>
                <a:r>
                  <a:rPr lang="en-US" altLang="zh-CN" sz="1400" b="1" baseline="-18000" dirty="0">
                    <a:latin typeface="+mn-ea"/>
                  </a:rPr>
                  <a:t> </a:t>
                </a:r>
                <a:r>
                  <a:rPr lang="en-US" altLang="zh-CN" sz="1400" b="1" dirty="0">
                    <a:latin typeface="+mn-ea"/>
                  </a:rPr>
                  <a:t>op2</a:t>
                </a:r>
                <a:r>
                  <a:rPr lang="en-US" altLang="zh-CN" sz="1400" b="1" baseline="-18000" dirty="0">
                    <a:latin typeface="+mn-ea"/>
                  </a:rPr>
                  <a:t> </a:t>
                </a:r>
                <a:r>
                  <a:rPr lang="en-US" altLang="zh-CN" sz="1400" b="1" dirty="0">
                    <a:latin typeface="+mn-ea"/>
                  </a:rPr>
                  <a:t>A</a:t>
                </a:r>
              </a:p>
            </p:txBody>
          </p:sp>
        </p:grpSp>
        <p:sp>
          <p:nvSpPr>
            <p:cNvPr id="238" name="右箭头 119">
              <a:extLst>
                <a:ext uri="{FF2B5EF4-FFF2-40B4-BE49-F238E27FC236}">
                  <a16:creationId xmlns:a16="http://schemas.microsoft.com/office/drawing/2014/main" id="{FB394643-1287-4151-A4F8-7B5FC00967E0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6192000" y="1512000"/>
              <a:ext cx="252000" cy="180000"/>
            </a:xfrm>
            <a:prstGeom prst="rightArrow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9" name="下箭头 137">
              <a:extLst>
                <a:ext uri="{FF2B5EF4-FFF2-40B4-BE49-F238E27FC236}">
                  <a16:creationId xmlns:a16="http://schemas.microsoft.com/office/drawing/2014/main" id="{70FCFCAD-61A9-4DF3-94A6-190DE0A4D19F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4103800" y="2160000"/>
              <a:ext cx="180000" cy="252000"/>
            </a:xfrm>
            <a:prstGeom prst="downArrow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0" name="Text Box 61">
              <a:extLst>
                <a:ext uri="{FF2B5EF4-FFF2-40B4-BE49-F238E27FC236}">
                  <a16:creationId xmlns:a16="http://schemas.microsoft.com/office/drawing/2014/main" id="{AD227088-5C2C-47E1-BD50-4964FFA873C2}"/>
                </a:ext>
              </a:extLst>
            </p:cNvPr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288000" y="5040000"/>
              <a:ext cx="4104000" cy="147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t" anchorCtr="0"/>
            <a:lstStyle/>
            <a:p>
              <a:r>
                <a:rPr lang="en-US" altLang="zh-CN" sz="1600" b="1" dirty="0">
                  <a:solidFill>
                    <a:srgbClr val="FF0000"/>
                  </a:solidFill>
                  <a:latin typeface="+mn-ea"/>
                </a:rPr>
                <a:t>CPU</a:t>
              </a:r>
              <a:r>
                <a:rPr lang="zh-CN" altLang="en-US" sz="1600" b="1" dirty="0">
                  <a:solidFill>
                    <a:srgbClr val="FF0000"/>
                  </a:solidFill>
                  <a:latin typeface="+mn-ea"/>
                </a:rPr>
                <a:t>组织：</a:t>
              </a:r>
              <a:r>
                <a:rPr lang="en-US" altLang="zh-CN" sz="1400" b="1" dirty="0">
                  <a:latin typeface="+mn-ea"/>
                </a:rPr>
                <a:t>(</a:t>
              </a:r>
              <a:r>
                <a:rPr lang="zh-CN" altLang="en-US" sz="1400" b="1" dirty="0">
                  <a:latin typeface="+mn-ea"/>
                </a:rPr>
                <a:t>实现</a:t>
              </a:r>
              <a:r>
                <a:rPr lang="zh-CN" altLang="en-US" sz="1400" b="1" u="sng" dirty="0">
                  <a:highlight>
                    <a:srgbClr val="CCFFFF"/>
                  </a:highlight>
                  <a:latin typeface="+mn-ea"/>
                </a:rPr>
                <a:t>程序的执行</a:t>
              </a:r>
              <a:r>
                <a:rPr lang="en-US" altLang="zh-CN" sz="1400" b="1" dirty="0">
                  <a:latin typeface="+mn-ea"/>
                </a:rPr>
                <a:t>)</a:t>
              </a:r>
            </a:p>
            <a:p>
              <a:r>
                <a:rPr lang="en-US" altLang="zh-CN" sz="1600" b="1" dirty="0">
                  <a:latin typeface="+mn-ea"/>
                </a:rPr>
                <a:t> </a:t>
              </a:r>
              <a:r>
                <a:rPr lang="zh-CN" altLang="en-US" sz="1600" b="1" dirty="0">
                  <a:latin typeface="+mn-ea"/>
                </a:rPr>
                <a:t>①组成</a:t>
              </a:r>
              <a:r>
                <a:rPr lang="en-US" altLang="zh-CN" sz="1400" b="1" dirty="0">
                  <a:latin typeface="+mn-ea"/>
                  <a:sym typeface="+mn-ea"/>
                </a:rPr>
                <a:t>(DP+CU)</a:t>
              </a:r>
              <a:r>
                <a:rPr lang="zh-CN" altLang="en-US" sz="1600" b="1" dirty="0">
                  <a:latin typeface="+mn-ea"/>
                </a:rPr>
                <a:t>，工作流程</a:t>
              </a:r>
              <a:r>
                <a:rPr lang="en-US" altLang="zh-CN" sz="1400" b="1" dirty="0">
                  <a:latin typeface="+mn-ea"/>
                </a:rPr>
                <a:t>(</a:t>
              </a:r>
              <a:r>
                <a:rPr lang="zh-CN" altLang="en-US" sz="1400" b="1" dirty="0">
                  <a:latin typeface="+mn-ea"/>
                </a:rPr>
                <a:t>执行指令</a:t>
              </a:r>
              <a:r>
                <a:rPr lang="en-US" altLang="zh-CN" sz="1400" b="1" dirty="0">
                  <a:latin typeface="+mn-ea"/>
                </a:rPr>
                <a:t>+</a:t>
              </a:r>
              <a:r>
                <a:rPr lang="zh-CN" altLang="en-US" sz="1400" b="1" dirty="0">
                  <a:latin typeface="+mn-ea"/>
                </a:rPr>
                <a:t>响应事件</a:t>
              </a:r>
              <a:r>
                <a:rPr lang="en-US" altLang="zh-CN" sz="1400" b="1" dirty="0">
                  <a:latin typeface="+mn-ea"/>
                </a:rPr>
                <a:t>)</a:t>
              </a:r>
            </a:p>
            <a:p>
              <a:r>
                <a:rPr lang="zh-CN" altLang="en-US" sz="1600" b="1" dirty="0">
                  <a:latin typeface="+mn-ea"/>
                </a:rPr>
                <a:t> ②</a:t>
              </a:r>
              <a:r>
                <a:rPr lang="en-US" altLang="zh-CN" sz="1600" b="1" dirty="0">
                  <a:latin typeface="+mn-ea"/>
                  <a:sym typeface="+mn-ea"/>
                </a:rPr>
                <a:t>DP</a:t>
              </a:r>
              <a:r>
                <a:rPr lang="zh-CN" altLang="en-US" sz="1600" b="1" dirty="0">
                  <a:latin typeface="+mn-ea"/>
                  <a:sym typeface="+mn-ea"/>
                </a:rPr>
                <a:t>组成</a:t>
              </a:r>
              <a:r>
                <a:rPr lang="en-US" altLang="zh-CN" sz="1400" b="1" dirty="0">
                  <a:latin typeface="+mn-ea"/>
                  <a:sym typeface="+mn-ea"/>
                </a:rPr>
                <a:t>(</a:t>
              </a:r>
              <a:r>
                <a:rPr lang="zh-CN" altLang="en-US" sz="1400" b="1" dirty="0">
                  <a:latin typeface="+mn-ea"/>
                  <a:sym typeface="+mn-ea"/>
                </a:rPr>
                <a:t>部件</a:t>
              </a:r>
              <a:r>
                <a:rPr lang="en-US" altLang="zh-CN" sz="1400" b="1" dirty="0">
                  <a:latin typeface="+mn-ea"/>
                  <a:sym typeface="+mn-ea"/>
                </a:rPr>
                <a:t>+</a:t>
              </a:r>
              <a:r>
                <a:rPr lang="zh-CN" altLang="en-US" sz="1400" b="1" dirty="0">
                  <a:latin typeface="+mn-ea"/>
                  <a:sym typeface="+mn-ea"/>
                </a:rPr>
                <a:t>互连</a:t>
              </a:r>
              <a:r>
                <a:rPr lang="en-US" altLang="zh-CN" sz="1400" b="1" dirty="0">
                  <a:latin typeface="+mn-ea"/>
                  <a:sym typeface="+mn-ea"/>
                </a:rPr>
                <a:t>) [</a:t>
              </a:r>
              <a:r>
                <a:rPr lang="zh-CN" altLang="en-US" sz="1400" b="1" dirty="0">
                  <a:latin typeface="+mn-ea"/>
                  <a:sym typeface="+mn-ea"/>
                </a:rPr>
                <a:t>部件</a:t>
              </a:r>
              <a:r>
                <a:rPr lang="en-US" altLang="zh-CN" sz="1400" b="1" dirty="0">
                  <a:latin typeface="+mn-ea"/>
                  <a:ea typeface="+mn-ea"/>
                  <a:sym typeface="+mn-ea"/>
                </a:rPr>
                <a:t>=</a:t>
              </a:r>
              <a:r>
                <a:rPr lang="zh-CN" altLang="en-US" sz="1400" b="1" dirty="0">
                  <a:latin typeface="+mn-ea"/>
                  <a:ea typeface="+mn-ea"/>
                  <a:sym typeface="+mn-ea"/>
                </a:rPr>
                <a:t>取指</a:t>
              </a:r>
              <a:r>
                <a:rPr lang="en-US" altLang="zh-CN" sz="1400" b="1" dirty="0">
                  <a:latin typeface="+mn-ea"/>
                  <a:ea typeface="+mn-ea"/>
                  <a:sym typeface="+mn-ea"/>
                </a:rPr>
                <a:t>+</a:t>
              </a:r>
              <a:r>
                <a:rPr lang="zh-CN" altLang="en-US" sz="1400" b="1" dirty="0">
                  <a:latin typeface="+mn-ea"/>
                  <a:sym typeface="+mn-ea"/>
                </a:rPr>
                <a:t>运算器</a:t>
              </a:r>
              <a:r>
                <a:rPr lang="en-US" altLang="zh-CN" sz="1400" b="1" dirty="0">
                  <a:latin typeface="+mn-ea"/>
                  <a:sym typeface="+mn-ea"/>
                </a:rPr>
                <a:t>+…]</a:t>
              </a:r>
              <a:endParaRPr lang="en-US" altLang="zh-CN" sz="1400" b="1" dirty="0">
                <a:latin typeface="+mn-ea"/>
              </a:endParaRPr>
            </a:p>
            <a:p>
              <a:r>
                <a:rPr lang="en-US" altLang="zh-CN" sz="1600" b="1" dirty="0">
                  <a:latin typeface="+mn-ea"/>
                </a:rPr>
                <a:t> </a:t>
              </a:r>
              <a:r>
                <a:rPr lang="zh-CN" altLang="en-US" sz="1600" b="1" dirty="0">
                  <a:latin typeface="+mn-ea"/>
                </a:rPr>
                <a:t>③</a:t>
              </a:r>
              <a:r>
                <a:rPr lang="zh-CN" altLang="en-US" sz="1600" b="1" dirty="0">
                  <a:latin typeface="+mn-ea"/>
                  <a:sym typeface="+mn-ea"/>
                </a:rPr>
                <a:t>指令执行过程组织</a:t>
              </a:r>
              <a:r>
                <a:rPr lang="en-US" altLang="zh-CN" sz="1400" b="1" dirty="0">
                  <a:latin typeface="+mn-ea"/>
                  <a:sym typeface="+mn-ea"/>
                </a:rPr>
                <a:t>(</a:t>
              </a:r>
              <a:r>
                <a:rPr lang="zh-CN" altLang="en-US" sz="1400" b="1" dirty="0">
                  <a:latin typeface="+mn-ea"/>
                  <a:sym typeface="+mn-ea"/>
                </a:rPr>
                <a:t>表示为各</a:t>
              </a:r>
              <a:r>
                <a:rPr lang="en-US" altLang="zh-CN" sz="1400" spc="-80" dirty="0" err="1">
                  <a:sym typeface="+mn-ea"/>
                </a:rPr>
                <a:t>μ</a:t>
              </a:r>
              <a:r>
                <a:rPr lang="en-US" altLang="zh-CN" sz="1400" b="1" spc="-80" dirty="0" err="1">
                  <a:latin typeface="宋体" panose="02010600030101010101" pitchFamily="2" charset="-122"/>
                  <a:sym typeface="+mn-ea"/>
                </a:rPr>
                <a:t>OP</a:t>
              </a:r>
              <a:r>
                <a:rPr lang="en-US" altLang="zh-CN" sz="1400" b="1" dirty="0" err="1">
                  <a:latin typeface="+mn-ea"/>
                  <a:sym typeface="+mn-ea"/>
                </a:rPr>
                <a:t>Cmd</a:t>
              </a:r>
              <a:r>
                <a:rPr lang="zh-CN" altLang="en-US" sz="1400" b="1" dirty="0">
                  <a:latin typeface="+mn-ea"/>
                  <a:sym typeface="+mn-ea"/>
                </a:rPr>
                <a:t>序列</a:t>
              </a:r>
              <a:r>
                <a:rPr lang="en-US" altLang="zh-CN" sz="1400" b="1" dirty="0">
                  <a:latin typeface="+mn-ea"/>
                  <a:sym typeface="+mn-ea"/>
                </a:rPr>
                <a:t>)</a:t>
              </a:r>
              <a:endParaRPr lang="en-US" altLang="zh-CN" sz="1400" b="1" dirty="0">
                <a:latin typeface="+mn-ea"/>
              </a:endParaRPr>
            </a:p>
            <a:p>
              <a:r>
                <a:rPr lang="zh-CN" altLang="en-US" sz="1600" b="1" dirty="0">
                  <a:latin typeface="+mn-ea"/>
                </a:rPr>
                <a:t> ④</a:t>
              </a:r>
              <a:r>
                <a:rPr lang="en-US" altLang="zh-CN" sz="1600" b="1" dirty="0">
                  <a:latin typeface="+mn-ea"/>
                </a:rPr>
                <a:t>CU</a:t>
              </a:r>
              <a:r>
                <a:rPr lang="zh-CN" altLang="en-US" sz="1600" b="1" dirty="0">
                  <a:latin typeface="+mn-ea"/>
                </a:rPr>
                <a:t>组成</a:t>
              </a:r>
              <a:r>
                <a:rPr lang="en-US" altLang="zh-CN" sz="1400" b="1" dirty="0">
                  <a:latin typeface="+mn-ea"/>
                </a:rPr>
                <a:t>(3</a:t>
              </a:r>
              <a:r>
                <a:rPr lang="zh-CN" altLang="en-US" sz="1400" b="1" dirty="0">
                  <a:latin typeface="+mn-ea"/>
                </a:rPr>
                <a:t>个部件</a:t>
              </a:r>
              <a:r>
                <a:rPr lang="en-US" altLang="zh-CN" sz="1400" b="1" dirty="0">
                  <a:latin typeface="+mn-ea"/>
                </a:rPr>
                <a:t>,</a:t>
              </a:r>
              <a:r>
                <a:rPr lang="zh-CN" altLang="en-US" sz="1400" b="1" dirty="0">
                  <a:latin typeface="+mn-ea"/>
                </a:rPr>
                <a:t>有序</a:t>
              </a:r>
              <a:r>
                <a:rPr lang="zh-CN" altLang="en-US" sz="1400" b="1" dirty="0">
                  <a:latin typeface="+mn-ea"/>
                  <a:sym typeface="+mn-ea"/>
                </a:rPr>
                <a:t>产生所需的</a:t>
              </a:r>
              <a:r>
                <a:rPr lang="en-US" altLang="zh-CN" sz="1400" spc="-80" dirty="0" err="1">
                  <a:sym typeface="+mn-ea"/>
                </a:rPr>
                <a:t>μ</a:t>
              </a:r>
              <a:r>
                <a:rPr lang="en-US" altLang="zh-CN" sz="1400" b="1" spc="-80" dirty="0" err="1">
                  <a:latin typeface="宋体" panose="02010600030101010101" pitchFamily="2" charset="-122"/>
                  <a:sym typeface="+mn-ea"/>
                </a:rPr>
                <a:t>OP</a:t>
              </a:r>
              <a:r>
                <a:rPr lang="en-US" altLang="zh-CN" sz="1400" b="1" dirty="0" err="1">
                  <a:latin typeface="+mn-ea"/>
                  <a:sym typeface="+mn-ea"/>
                </a:rPr>
                <a:t>Cmd</a:t>
              </a:r>
              <a:r>
                <a:rPr lang="en-US" altLang="zh-CN" sz="1400" b="1" dirty="0">
                  <a:latin typeface="+mn-ea"/>
                  <a:sym typeface="+mn-ea"/>
                </a:rPr>
                <a:t>)</a:t>
              </a:r>
              <a:endParaRPr lang="en-US" altLang="zh-CN" sz="1400" b="1" dirty="0">
                <a:latin typeface="+mn-ea"/>
              </a:endParaRPr>
            </a:p>
            <a:p>
              <a:r>
                <a:rPr lang="en-US" altLang="zh-CN" sz="1600" b="1" dirty="0">
                  <a:latin typeface="+mn-ea"/>
                </a:rPr>
                <a:t> </a:t>
              </a:r>
              <a:r>
                <a:rPr lang="zh-CN" altLang="en-US" sz="1600" b="1" dirty="0">
                  <a:latin typeface="+mn-ea"/>
                </a:rPr>
                <a:t>⑤中断机构组成</a:t>
              </a:r>
              <a:r>
                <a:rPr lang="en-US" altLang="zh-CN" sz="1400" b="1" dirty="0">
                  <a:latin typeface="+mn-ea"/>
                </a:rPr>
                <a:t>(</a:t>
              </a:r>
              <a:r>
                <a:rPr lang="zh-CN" altLang="en-US" sz="1400" b="1" dirty="0">
                  <a:latin typeface="+mn-ea"/>
                </a:rPr>
                <a:t>检测</a:t>
              </a:r>
              <a:r>
                <a:rPr lang="en-US" altLang="zh-CN" sz="1400" b="1" dirty="0">
                  <a:latin typeface="+mn-ea"/>
                </a:rPr>
                <a:t>+</a:t>
              </a:r>
              <a:r>
                <a:rPr lang="zh-CN" altLang="en-US" sz="1400" b="1" dirty="0">
                  <a:latin typeface="+mn-ea"/>
                </a:rPr>
                <a:t>响应</a:t>
              </a:r>
              <a:r>
                <a:rPr lang="en-US" altLang="zh-CN" sz="1400" b="1" dirty="0">
                  <a:latin typeface="+mn-ea"/>
                </a:rPr>
                <a:t>) [</a:t>
              </a:r>
              <a:r>
                <a:rPr lang="zh-CN" altLang="en-US" sz="1400" b="1" dirty="0">
                  <a:latin typeface="+mn-ea"/>
                </a:rPr>
                <a:t>异常</a:t>
              </a:r>
              <a:r>
                <a:rPr lang="en-US" altLang="zh-CN" sz="1400" b="1" dirty="0">
                  <a:latin typeface="+mn-ea"/>
                </a:rPr>
                <a:t>/</a:t>
              </a:r>
              <a:r>
                <a:rPr lang="zh-CN" altLang="en-US" sz="1400" b="1" dirty="0">
                  <a:latin typeface="+mn-ea"/>
                </a:rPr>
                <a:t>中断不同</a:t>
              </a:r>
              <a:r>
                <a:rPr lang="en-US" altLang="zh-CN" sz="1400" b="1" dirty="0">
                  <a:latin typeface="+mn-ea"/>
                </a:rPr>
                <a:t>]</a:t>
              </a:r>
            </a:p>
          </p:txBody>
        </p:sp>
        <p:sp>
          <p:nvSpPr>
            <p:cNvPr id="241" name="Text Box 61">
              <a:extLst>
                <a:ext uri="{FF2B5EF4-FFF2-40B4-BE49-F238E27FC236}">
                  <a16:creationId xmlns:a16="http://schemas.microsoft.com/office/drawing/2014/main" id="{FE966762-7C6D-475F-AC33-94E5AAAD808E}"/>
                </a:ext>
              </a:extLst>
            </p:cNvPr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216000" y="756000"/>
              <a:ext cx="3132000" cy="100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t" anchorCtr="0"/>
            <a:lstStyle/>
            <a:p>
              <a:r>
                <a:rPr lang="zh-CN" altLang="en-US" sz="1600" b="1" dirty="0">
                  <a:solidFill>
                    <a:srgbClr val="FF0000"/>
                  </a:solidFill>
                  <a:latin typeface="+mn-ea"/>
                </a:rPr>
                <a:t>运算器组织：</a:t>
              </a:r>
              <a:r>
                <a:rPr lang="en-US" altLang="zh-CN" sz="1400" b="1" dirty="0">
                  <a:latin typeface="+mn-ea"/>
                </a:rPr>
                <a:t>(</a:t>
              </a:r>
              <a:r>
                <a:rPr lang="zh-CN" altLang="en-US" sz="1400" b="1" dirty="0">
                  <a:latin typeface="+mn-ea"/>
                </a:rPr>
                <a:t>实现</a:t>
              </a:r>
              <a:r>
                <a:rPr lang="en-US" altLang="zh-CN" sz="1400" b="1" u="sng" dirty="0">
                  <a:highlight>
                    <a:srgbClr val="CCFFFF"/>
                  </a:highlight>
                  <a:latin typeface="+mn-ea"/>
                </a:rPr>
                <a:t>ISA</a:t>
              </a:r>
              <a:r>
                <a:rPr lang="zh-CN" altLang="en-US" sz="1400" b="1" u="sng" dirty="0">
                  <a:highlight>
                    <a:srgbClr val="CCFFFF"/>
                  </a:highlight>
                  <a:latin typeface="+mn-ea"/>
                </a:rPr>
                <a:t>指令功能</a:t>
              </a:r>
              <a:r>
                <a:rPr lang="en-US" altLang="zh-CN" sz="1400" b="1" dirty="0">
                  <a:latin typeface="+mn-ea"/>
                </a:rPr>
                <a:t>)</a:t>
              </a:r>
            </a:p>
            <a:p>
              <a:r>
                <a:rPr lang="en-US" altLang="zh-CN" sz="1600" b="1" dirty="0">
                  <a:latin typeface="+mn-ea"/>
                </a:rPr>
                <a:t> </a:t>
              </a:r>
              <a:r>
                <a:rPr lang="zh-CN" altLang="en-US" sz="1600" b="1" dirty="0">
                  <a:latin typeface="+mn-ea"/>
                </a:rPr>
                <a:t>①</a:t>
              </a:r>
              <a:r>
                <a:rPr lang="zh-CN" sz="1600" b="1" dirty="0">
                  <a:latin typeface="+mn-ea"/>
                </a:rPr>
                <a:t>运算部件</a:t>
              </a:r>
              <a:r>
                <a:rPr lang="en-US" altLang="zh-CN" sz="1400" b="1" dirty="0">
                  <a:latin typeface="+mn-ea"/>
                </a:rPr>
                <a:t>(</a:t>
              </a:r>
              <a:r>
                <a:rPr lang="zh-CN" altLang="en-US" sz="1400" b="1" dirty="0">
                  <a:latin typeface="+mn-ea"/>
                </a:rPr>
                <a:t>满足</a:t>
              </a:r>
              <a:r>
                <a:rPr lang="zh-CN" altLang="en-US" sz="1400" b="1" dirty="0">
                  <a:cs typeface="Times New Roman" panose="02020603050405020304" pitchFamily="18" charset="0"/>
                </a:rPr>
                <a:t>操作需求</a:t>
              </a:r>
              <a:r>
                <a:rPr lang="en-US" altLang="zh-CN" sz="1400" b="1" dirty="0">
                  <a:latin typeface="+mn-ea"/>
                  <a:ea typeface="+mn-ea"/>
                  <a:cs typeface="Times New Roman" panose="02020603050405020304" pitchFamily="18" charset="0"/>
                </a:rPr>
                <a:t>[</a:t>
              </a:r>
              <a:r>
                <a:rPr lang="en-US" altLang="zh-CN" sz="1400" b="1" dirty="0">
                  <a:cs typeface="Times New Roman" panose="02020603050405020304" pitchFamily="18" charset="0"/>
                </a:rPr>
                <a:t>~</a:t>
              </a:r>
              <a:r>
                <a:rPr lang="zh-CN" altLang="en-US" sz="1400" b="1" dirty="0">
                  <a:latin typeface="+mn-ea"/>
                  <a:ea typeface="+mn-ea"/>
                  <a:cs typeface="Times New Roman" panose="02020603050405020304" pitchFamily="18" charset="0"/>
                </a:rPr>
                <a:t>表示</a:t>
              </a:r>
              <a:r>
                <a:rPr lang="en-US" altLang="zh-CN" sz="1400" b="1" dirty="0">
                  <a:latin typeface="+mn-ea"/>
                  <a:ea typeface="+mn-ea"/>
                  <a:cs typeface="Times New Roman" panose="02020603050405020304" pitchFamily="18" charset="0"/>
                </a:rPr>
                <a:t>]</a:t>
              </a:r>
              <a:r>
                <a:rPr lang="en-US" altLang="zh-CN" sz="1400" b="1" dirty="0">
                  <a:latin typeface="+mn-ea"/>
                </a:rPr>
                <a:t>)</a:t>
              </a:r>
              <a:endParaRPr lang="zh-CN" sz="1400" b="1" dirty="0">
                <a:latin typeface="+mn-ea"/>
              </a:endParaRPr>
            </a:p>
            <a:p>
              <a:r>
                <a:rPr lang="en-US" altLang="zh-CN" sz="1600" b="1" dirty="0">
                  <a:latin typeface="+mn-ea"/>
                  <a:sym typeface="+mn-ea"/>
                </a:rPr>
                <a:t> </a:t>
              </a:r>
              <a:r>
                <a:rPr lang="zh-CN" altLang="en-US" sz="1600" b="1" dirty="0">
                  <a:latin typeface="+mn-ea"/>
                  <a:sym typeface="+mn-ea"/>
                </a:rPr>
                <a:t>②存放</a:t>
              </a:r>
              <a:r>
                <a:rPr lang="zh-CN" sz="1600" b="1" dirty="0">
                  <a:latin typeface="+mn-ea"/>
                  <a:sym typeface="+mn-ea"/>
                </a:rPr>
                <a:t>部件</a:t>
              </a:r>
              <a:r>
                <a:rPr lang="en-US" altLang="zh-CN" sz="1400" b="1" dirty="0">
                  <a:latin typeface="+mn-ea"/>
                  <a:sym typeface="+mn-ea"/>
                </a:rPr>
                <a:t>(</a:t>
              </a:r>
              <a:r>
                <a:rPr lang="en-US" altLang="zh-CN" sz="1400" b="1" dirty="0" err="1">
                  <a:latin typeface="+mn-ea"/>
                  <a:sym typeface="+mn-ea"/>
                </a:rPr>
                <a:t>GPRs+PSR</a:t>
              </a:r>
              <a:r>
                <a:rPr lang="en-US" altLang="zh-CN" sz="1400" b="1" dirty="0">
                  <a:latin typeface="+mn-ea"/>
                  <a:sym typeface="+mn-ea"/>
                </a:rPr>
                <a:t>[</a:t>
              </a:r>
              <a:r>
                <a:rPr lang="en-US" altLang="zh-CN" sz="1400" b="1" dirty="0">
                  <a:cs typeface="Times New Roman" panose="02020603050405020304" pitchFamily="18" charset="0"/>
                </a:rPr>
                <a:t>~</a:t>
              </a:r>
              <a:r>
                <a:rPr lang="en-US" altLang="zh-CN" sz="1400" b="1" dirty="0">
                  <a:latin typeface="+mn-ea"/>
                  <a:ea typeface="+mn-ea"/>
                  <a:cs typeface="Times New Roman" panose="02020603050405020304" pitchFamily="18" charset="0"/>
                </a:rPr>
                <a:t>OPD</a:t>
              </a:r>
              <a:r>
                <a:rPr lang="zh-CN" altLang="en-US" sz="1400" b="1" dirty="0">
                  <a:cs typeface="Times New Roman" panose="02020603050405020304" pitchFamily="18" charset="0"/>
                </a:rPr>
                <a:t>存放</a:t>
              </a:r>
              <a:r>
                <a:rPr lang="en-US" altLang="zh-CN" sz="1400" b="1" dirty="0">
                  <a:latin typeface="+mn-ea"/>
                  <a:ea typeface="+mn-ea"/>
                  <a:cs typeface="Times New Roman" panose="02020603050405020304" pitchFamily="18" charset="0"/>
                </a:rPr>
                <a:t>]</a:t>
              </a:r>
              <a:r>
                <a:rPr lang="en-US" altLang="zh-CN" sz="1400" b="1" dirty="0">
                  <a:latin typeface="+mn-ea"/>
                  <a:sym typeface="+mn-ea"/>
                </a:rPr>
                <a:t>)</a:t>
              </a:r>
              <a:endParaRPr lang="zh-CN" altLang="en-US" sz="1400" b="1" dirty="0">
                <a:latin typeface="+mn-ea"/>
              </a:endParaRPr>
            </a:p>
            <a:p>
              <a:r>
                <a:rPr lang="en-US" altLang="zh-CN" sz="1600" b="1" dirty="0">
                  <a:latin typeface="+mn-ea"/>
                </a:rPr>
                <a:t> </a:t>
              </a:r>
              <a:r>
                <a:rPr lang="zh-CN" altLang="en-US" sz="1600" b="1" dirty="0">
                  <a:latin typeface="+mn-ea"/>
                  <a:sym typeface="+mn-ea"/>
                </a:rPr>
                <a:t>③</a:t>
              </a:r>
              <a:r>
                <a:rPr lang="zh-CN" sz="1600" b="1" dirty="0">
                  <a:latin typeface="+mn-ea"/>
                  <a:sym typeface="+mn-ea"/>
                </a:rPr>
                <a:t>部件互连</a:t>
              </a:r>
              <a:r>
                <a:rPr lang="en-US" altLang="zh-CN" sz="1400" b="1" dirty="0">
                  <a:latin typeface="+mn-ea"/>
                  <a:sym typeface="+mn-ea"/>
                </a:rPr>
                <a:t>(</a:t>
              </a:r>
              <a:r>
                <a:rPr lang="zh-CN" alt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结构</a:t>
              </a:r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+</a:t>
              </a:r>
              <a:r>
                <a:rPr lang="zh-CN" alt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连接</a:t>
              </a:r>
              <a:r>
                <a:rPr lang="en-US" altLang="zh-CN" sz="1400" b="1" dirty="0">
                  <a:latin typeface="+mn-ea"/>
                  <a:ea typeface="+mn-ea"/>
                  <a:cs typeface="Times New Roman" panose="02020603050405020304" pitchFamily="18" charset="0"/>
                  <a:sym typeface="+mn-ea"/>
                </a:rPr>
                <a:t>[</a:t>
              </a:r>
              <a:r>
                <a:rPr lang="en-US" altLang="zh-CN" sz="1400" b="1" dirty="0">
                  <a:cs typeface="Times New Roman" panose="02020603050405020304" pitchFamily="18" charset="0"/>
                  <a:sym typeface="+mn-ea"/>
                </a:rPr>
                <a:t>~</a:t>
              </a:r>
              <a:r>
                <a:rPr lang="zh-CN" altLang="en-US" sz="1400" b="1" dirty="0">
                  <a:latin typeface="+mn-ea"/>
                  <a:sym typeface="+mn-ea"/>
                </a:rPr>
                <a:t>数据路径</a:t>
              </a:r>
              <a:r>
                <a:rPr lang="en-US" altLang="zh-CN" sz="1400" b="1" dirty="0">
                  <a:latin typeface="+mn-ea"/>
                  <a:sym typeface="+mn-ea"/>
                </a:rPr>
                <a:t>])</a:t>
              </a:r>
            </a:p>
          </p:txBody>
        </p:sp>
        <p:grpSp>
          <p:nvGrpSpPr>
            <p:cNvPr id="242" name="组合 241">
              <a:extLst>
                <a:ext uri="{FF2B5EF4-FFF2-40B4-BE49-F238E27FC236}">
                  <a16:creationId xmlns:a16="http://schemas.microsoft.com/office/drawing/2014/main" id="{8C5C0229-82C8-400F-978E-CBDCB56EDA6F}"/>
                </a:ext>
              </a:extLst>
            </p:cNvPr>
            <p:cNvGrpSpPr/>
            <p:nvPr/>
          </p:nvGrpSpPr>
          <p:grpSpPr>
            <a:xfrm>
              <a:off x="324000" y="4320000"/>
              <a:ext cx="4211955" cy="683895"/>
              <a:chOff x="453" y="6804"/>
              <a:chExt cx="6633" cy="1077"/>
            </a:xfrm>
          </p:grpSpPr>
          <p:sp>
            <p:nvSpPr>
              <p:cNvPr id="329" name="Text Box 291">
                <a:extLst>
                  <a:ext uri="{FF2B5EF4-FFF2-40B4-BE49-F238E27FC236}">
                    <a16:creationId xmlns:a16="http://schemas.microsoft.com/office/drawing/2014/main" id="{87491EA6-B840-4D90-AA07-0209F8573903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18"/>
                </p:custDataLst>
              </p:nvPr>
            </p:nvSpPr>
            <p:spPr bwMode="auto">
              <a:xfrm>
                <a:off x="1020" y="7598"/>
                <a:ext cx="5102" cy="283"/>
              </a:xfrm>
              <a:prstGeom prst="rect">
                <a:avLst/>
              </a:prstGeom>
              <a:solidFill>
                <a:srgbClr val="FFFFFF">
                  <a:alpha val="78000"/>
                </a:srgbClr>
              </a:solidFill>
              <a:ln w="12700">
                <a:noFill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程序</a:t>
                </a:r>
                <a:r>
                  <a:rPr lang="en-US" altLang="zh-CN" sz="1400" b="1" dirty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&amp;</a:t>
                </a:r>
                <a:r>
                  <a:rPr lang="zh-CN" altLang="en-US" sz="1400" b="1" dirty="0">
                    <a:solidFill>
                      <a:srgbClr val="990099"/>
                    </a:solidFill>
                    <a:latin typeface="宋体" panose="02010600030101010101" pitchFamily="2" charset="-122"/>
                  </a:rPr>
                  <a:t>数据</a:t>
                </a:r>
                <a:r>
                  <a:rPr lang="zh-CN" altLang="en-US" sz="1400" b="1" dirty="0">
                    <a:latin typeface="宋体" panose="02010600030101010101" pitchFamily="2" charset="-122"/>
                  </a:rPr>
                  <a:t>放在</a:t>
                </a:r>
                <a:r>
                  <a:rPr lang="zh-CN" altLang="en-US" sz="1400" b="1" dirty="0">
                    <a:highlight>
                      <a:srgbClr val="99CCFF"/>
                    </a:highlight>
                    <a:latin typeface="宋体" panose="02010600030101010101" pitchFamily="2" charset="-122"/>
                  </a:rPr>
                  <a:t>主存</a:t>
                </a:r>
                <a:r>
                  <a:rPr lang="zh-CN" altLang="en-US" sz="1400" b="1" dirty="0">
                    <a:latin typeface="宋体" panose="02010600030101010101" pitchFamily="2" charset="-122"/>
                  </a:rPr>
                  <a:t>中，按</a:t>
                </a:r>
                <a:r>
                  <a:rPr lang="zh-CN" altLang="en-US" sz="1400" b="1" dirty="0">
                    <a:highlight>
                      <a:srgbClr val="CCECFF"/>
                    </a:highlight>
                    <a:latin typeface="宋体" panose="02010600030101010101" pitchFamily="2" charset="-122"/>
                  </a:rPr>
                  <a:t>逻辑地址</a:t>
                </a:r>
                <a:r>
                  <a:rPr lang="zh-CN" altLang="en-US" sz="1400" b="1" dirty="0">
                    <a:latin typeface="宋体" panose="02010600030101010101" pitchFamily="2" charset="-122"/>
                  </a:rPr>
                  <a:t>访问</a:t>
                </a:r>
              </a:p>
            </p:txBody>
          </p:sp>
          <p:sp>
            <p:nvSpPr>
              <p:cNvPr id="330" name="矩形 329">
                <a:extLst>
                  <a:ext uri="{FF2B5EF4-FFF2-40B4-BE49-F238E27FC236}">
                    <a16:creationId xmlns:a16="http://schemas.microsoft.com/office/drawing/2014/main" id="{8CA3D78B-1F18-4ADE-AB3F-80D1CC61049A}"/>
                  </a:ext>
                </a:extLst>
              </p:cNvPr>
              <p:cNvSpPr/>
              <p:nvPr>
                <p:custDataLst>
                  <p:tags r:id="rId119"/>
                </p:custDataLst>
              </p:nvPr>
            </p:nvSpPr>
            <p:spPr bwMode="auto">
              <a:xfrm>
                <a:off x="566" y="6804"/>
                <a:ext cx="6406" cy="737"/>
              </a:xfrm>
              <a:prstGeom prst="rect">
                <a:avLst/>
              </a:prstGeom>
              <a:solidFill>
                <a:srgbClr val="CCFFFF"/>
              </a:solidFill>
              <a:ln w="12700" cap="flat" cmpd="sng" algn="ctr">
                <a:solidFill>
                  <a:schemeClr val="tx1"/>
                </a:solidFill>
                <a:prstDash val="sysDash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t" anchorCtr="0" compatLnSpc="1"/>
              <a:lstStyle/>
              <a:p>
                <a:pPr marL="0" marR="0" indent="0" algn="l" defTabSz="9144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1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1" name="Text Box 311">
                <a:extLst>
                  <a:ext uri="{FF2B5EF4-FFF2-40B4-BE49-F238E27FC236}">
                    <a16:creationId xmlns:a16="http://schemas.microsoft.com/office/drawing/2014/main" id="{C4C90EEC-8405-4FB1-8A49-BB851B804623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20"/>
                </p:custDataLst>
              </p:nvPr>
            </p:nvSpPr>
            <p:spPr bwMode="auto">
              <a:xfrm>
                <a:off x="737" y="6861"/>
                <a:ext cx="964" cy="283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>
                    <a:latin typeface="宋体" panose="02010600030101010101" pitchFamily="2" charset="-122"/>
                  </a:rPr>
                  <a:t>取指令</a:t>
                </a:r>
              </a:p>
            </p:txBody>
          </p:sp>
          <p:sp>
            <p:nvSpPr>
              <p:cNvPr id="332" name="Text Box 314">
                <a:extLst>
                  <a:ext uri="{FF2B5EF4-FFF2-40B4-BE49-F238E27FC236}">
                    <a16:creationId xmlns:a16="http://schemas.microsoft.com/office/drawing/2014/main" id="{AF86095B-2C2C-4954-8C43-ADE8B30D3BB2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21"/>
                </p:custDataLst>
              </p:nvPr>
            </p:nvSpPr>
            <p:spPr bwMode="auto">
              <a:xfrm>
                <a:off x="1984" y="6861"/>
                <a:ext cx="1191" cy="283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>
                    <a:latin typeface="宋体" panose="02010600030101010101" pitchFamily="2" charset="-122"/>
                  </a:rPr>
                  <a:t>分析指令</a:t>
                </a:r>
              </a:p>
            </p:txBody>
          </p:sp>
          <p:cxnSp>
            <p:nvCxnSpPr>
              <p:cNvPr id="333" name="直接箭头连接符 332">
                <a:extLst>
                  <a:ext uri="{FF2B5EF4-FFF2-40B4-BE49-F238E27FC236}">
                    <a16:creationId xmlns:a16="http://schemas.microsoft.com/office/drawing/2014/main" id="{BB2BCC27-4C16-41D2-A057-90EA3B27FA67}"/>
                  </a:ext>
                </a:extLst>
              </p:cNvPr>
              <p:cNvCxnSpPr/>
              <p:nvPr>
                <p:custDataLst>
                  <p:tags r:id="rId122"/>
                </p:custDataLst>
              </p:nvPr>
            </p:nvCxnSpPr>
            <p:spPr bwMode="auto">
              <a:xfrm>
                <a:off x="1700" y="7031"/>
                <a:ext cx="283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334" name="直接箭头连接符 333">
                <a:extLst>
                  <a:ext uri="{FF2B5EF4-FFF2-40B4-BE49-F238E27FC236}">
                    <a16:creationId xmlns:a16="http://schemas.microsoft.com/office/drawing/2014/main" id="{08342E24-EFCF-45EE-9856-8B33E7ECD5A5}"/>
                  </a:ext>
                </a:extLst>
              </p:cNvPr>
              <p:cNvCxnSpPr/>
              <p:nvPr>
                <p:custDataLst>
                  <p:tags r:id="rId123"/>
                </p:custDataLst>
              </p:nvPr>
            </p:nvCxnSpPr>
            <p:spPr bwMode="auto">
              <a:xfrm>
                <a:off x="3174" y="7031"/>
                <a:ext cx="283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335" name="直接箭头连接符 334">
                <a:extLst>
                  <a:ext uri="{FF2B5EF4-FFF2-40B4-BE49-F238E27FC236}">
                    <a16:creationId xmlns:a16="http://schemas.microsoft.com/office/drawing/2014/main" id="{9C62F285-CD78-4A5D-B3F8-9DBAEE2FD302}"/>
                  </a:ext>
                </a:extLst>
              </p:cNvPr>
              <p:cNvCxnSpPr/>
              <p:nvPr>
                <p:custDataLst>
                  <p:tags r:id="rId124"/>
                </p:custDataLst>
              </p:nvPr>
            </p:nvCxnSpPr>
            <p:spPr bwMode="auto">
              <a:xfrm>
                <a:off x="6859" y="7031"/>
                <a:ext cx="227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36" name="直接箭头连接符 335">
                <a:extLst>
                  <a:ext uri="{FF2B5EF4-FFF2-40B4-BE49-F238E27FC236}">
                    <a16:creationId xmlns:a16="http://schemas.microsoft.com/office/drawing/2014/main" id="{2366675D-113E-4E82-9345-6C2A3EE76992}"/>
                  </a:ext>
                </a:extLst>
              </p:cNvPr>
              <p:cNvCxnSpPr/>
              <p:nvPr>
                <p:custDataLst>
                  <p:tags r:id="rId125"/>
                </p:custDataLst>
              </p:nvPr>
            </p:nvCxnSpPr>
            <p:spPr bwMode="auto">
              <a:xfrm flipH="1">
                <a:off x="7086" y="7031"/>
                <a:ext cx="0" cy="85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37" name="直接箭头连接符 336">
                <a:extLst>
                  <a:ext uri="{FF2B5EF4-FFF2-40B4-BE49-F238E27FC236}">
                    <a16:creationId xmlns:a16="http://schemas.microsoft.com/office/drawing/2014/main" id="{3B79408B-32E8-48FC-ACE6-321FFCD149B7}"/>
                  </a:ext>
                </a:extLst>
              </p:cNvPr>
              <p:cNvCxnSpPr/>
              <p:nvPr>
                <p:custDataLst>
                  <p:tags r:id="rId126"/>
                </p:custDataLst>
              </p:nvPr>
            </p:nvCxnSpPr>
            <p:spPr bwMode="auto">
              <a:xfrm>
                <a:off x="453" y="7031"/>
                <a:ext cx="283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338" name="直接箭头连接符 337">
                <a:extLst>
                  <a:ext uri="{FF2B5EF4-FFF2-40B4-BE49-F238E27FC236}">
                    <a16:creationId xmlns:a16="http://schemas.microsoft.com/office/drawing/2014/main" id="{258BB754-98C5-4194-BCF5-11003D92D128}"/>
                  </a:ext>
                </a:extLst>
              </p:cNvPr>
              <p:cNvCxnSpPr/>
              <p:nvPr>
                <p:custDataLst>
                  <p:tags r:id="rId127"/>
                </p:custDataLst>
              </p:nvPr>
            </p:nvCxnSpPr>
            <p:spPr bwMode="auto">
              <a:xfrm flipH="1">
                <a:off x="453" y="7031"/>
                <a:ext cx="0" cy="85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339" name="直接箭头连接符 338">
                <a:extLst>
                  <a:ext uri="{FF2B5EF4-FFF2-40B4-BE49-F238E27FC236}">
                    <a16:creationId xmlns:a16="http://schemas.microsoft.com/office/drawing/2014/main" id="{BFA55793-D9D9-4702-BA3A-F0439E48DDE0}"/>
                  </a:ext>
                </a:extLst>
              </p:cNvPr>
              <p:cNvCxnSpPr/>
              <p:nvPr>
                <p:custDataLst>
                  <p:tags r:id="rId128"/>
                </p:custDataLst>
              </p:nvPr>
            </p:nvCxnSpPr>
            <p:spPr bwMode="auto">
              <a:xfrm>
                <a:off x="453" y="7881"/>
                <a:ext cx="6633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340" name="Text Box 316">
                <a:extLst>
                  <a:ext uri="{FF2B5EF4-FFF2-40B4-BE49-F238E27FC236}">
                    <a16:creationId xmlns:a16="http://schemas.microsoft.com/office/drawing/2014/main" id="{4DF0C4CD-3718-45F5-995B-A32A01CCB4B7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29"/>
                </p:custDataLst>
              </p:nvPr>
            </p:nvSpPr>
            <p:spPr bwMode="auto">
              <a:xfrm>
                <a:off x="963" y="7201"/>
                <a:ext cx="1928" cy="283"/>
              </a:xfrm>
              <a:prstGeom prst="rect">
                <a:avLst/>
              </a:prstGeom>
              <a:solidFill>
                <a:srgbClr val="CCCCFF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PC</a:t>
                </a:r>
                <a:r>
                  <a:rPr lang="zh-CN" altLang="en-US" sz="1400" b="1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←</a:t>
                </a:r>
                <a:r>
                  <a:rPr lang="en-US" altLang="zh-CN" sz="1400" b="1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(PC)</a:t>
                </a:r>
                <a:r>
                  <a:rPr lang="zh-CN" altLang="en-US" sz="1400" b="1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＋</a:t>
                </a:r>
                <a:r>
                  <a:rPr lang="zh-CN" altLang="en-US" sz="1400" b="1" dirty="0"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Symbol" panose="05050102010706020507"/>
                  </a:rPr>
                  <a:t></a:t>
                </a:r>
                <a:r>
                  <a:rPr lang="en-US" altLang="zh-CN" sz="1400" b="1" dirty="0">
                    <a:latin typeface="宋体" panose="02010600030101010101" pitchFamily="2" charset="-122"/>
                    <a:cs typeface="宋体" panose="02010600030101010101" pitchFamily="2" charset="-122"/>
                  </a:rPr>
                  <a:t>1</a:t>
                </a:r>
                <a:r>
                  <a:rPr lang="zh-CN" altLang="en-US" sz="1400" b="1" dirty="0">
                    <a:uFillTx/>
                    <a:latin typeface="宋体" panose="02010600030101010101" pitchFamily="2" charset="-122"/>
                    <a:cs typeface="宋体" panose="02010600030101010101" pitchFamily="2" charset="-122"/>
                    <a:sym typeface="Symbol" panose="05050102010706020507"/>
                  </a:rPr>
                  <a:t></a:t>
                </a:r>
              </a:p>
            </p:txBody>
          </p:sp>
          <p:sp>
            <p:nvSpPr>
              <p:cNvPr id="341" name="Text Box 316">
                <a:extLst>
                  <a:ext uri="{FF2B5EF4-FFF2-40B4-BE49-F238E27FC236}">
                    <a16:creationId xmlns:a16="http://schemas.microsoft.com/office/drawing/2014/main" id="{922A6F64-DC5E-4B93-87EA-7DB50E71D9B4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30"/>
                </p:custDataLst>
              </p:nvPr>
            </p:nvSpPr>
            <p:spPr bwMode="auto">
              <a:xfrm>
                <a:off x="3458" y="7201"/>
                <a:ext cx="3402" cy="283"/>
              </a:xfrm>
              <a:prstGeom prst="rect">
                <a:avLst/>
              </a:prstGeom>
              <a:solidFill>
                <a:srgbClr val="CCCCFF"/>
              </a:solidFill>
              <a:ln w="12700">
                <a:solidFill>
                  <a:schemeClr val="tx1"/>
                </a:solidFill>
                <a:prstDash val="sysDash"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PC</a:t>
                </a:r>
                <a:r>
                  <a:rPr lang="zh-CN" altLang="en-US" sz="1400" b="1" dirty="0">
                    <a:latin typeface="宋体" panose="02010600030101010101" pitchFamily="2" charset="-122"/>
                  </a:rPr>
                  <a:t>←计算结果</a:t>
                </a:r>
              </a:p>
            </p:txBody>
          </p:sp>
          <p:sp>
            <p:nvSpPr>
              <p:cNvPr id="342" name="Text Box 316">
                <a:extLst>
                  <a:ext uri="{FF2B5EF4-FFF2-40B4-BE49-F238E27FC236}">
                    <a16:creationId xmlns:a16="http://schemas.microsoft.com/office/drawing/2014/main" id="{AE7D080A-A305-4079-A6F4-E817F4057E03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31"/>
                </p:custDataLst>
              </p:nvPr>
            </p:nvSpPr>
            <p:spPr bwMode="auto">
              <a:xfrm>
                <a:off x="3458" y="6861"/>
                <a:ext cx="794" cy="283"/>
              </a:xfrm>
              <a:prstGeom prst="rect">
                <a:avLst/>
              </a:prstGeom>
              <a:solidFill>
                <a:srgbClr val="FFCCFF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>
                    <a:latin typeface="宋体" panose="02010600030101010101" pitchFamily="2" charset="-122"/>
                  </a:rPr>
                  <a:t>取</a:t>
                </a:r>
                <a:r>
                  <a:rPr lang="en-US" altLang="zh-CN" sz="1400" b="1" dirty="0">
                    <a:latin typeface="宋体" panose="02010600030101010101" pitchFamily="2" charset="-122"/>
                  </a:rPr>
                  <a:t>OPD</a:t>
                </a:r>
              </a:p>
            </p:txBody>
          </p:sp>
          <p:sp>
            <p:nvSpPr>
              <p:cNvPr id="343" name="Text Box 316">
                <a:extLst>
                  <a:ext uri="{FF2B5EF4-FFF2-40B4-BE49-F238E27FC236}">
                    <a16:creationId xmlns:a16="http://schemas.microsoft.com/office/drawing/2014/main" id="{53C4EF2A-7C1F-4229-8A28-AF62F274CD62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32"/>
                </p:custDataLst>
              </p:nvPr>
            </p:nvSpPr>
            <p:spPr bwMode="auto">
              <a:xfrm>
                <a:off x="4535" y="6861"/>
                <a:ext cx="1247" cy="283"/>
              </a:xfrm>
              <a:prstGeom prst="rect">
                <a:avLst/>
              </a:prstGeom>
              <a:solidFill>
                <a:srgbClr val="FFCCFF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sz="1400" b="1" dirty="0">
                    <a:latin typeface="宋体" panose="02010600030101010101" pitchFamily="2" charset="-122"/>
                  </a:rPr>
                  <a:t>数据操作</a:t>
                </a:r>
              </a:p>
            </p:txBody>
          </p:sp>
          <p:sp>
            <p:nvSpPr>
              <p:cNvPr id="344" name="Text Box 316">
                <a:extLst>
                  <a:ext uri="{FF2B5EF4-FFF2-40B4-BE49-F238E27FC236}">
                    <a16:creationId xmlns:a16="http://schemas.microsoft.com/office/drawing/2014/main" id="{17AB353E-B48E-4F75-85A4-3D742EFFDE45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33"/>
                </p:custDataLst>
              </p:nvPr>
            </p:nvSpPr>
            <p:spPr bwMode="auto">
              <a:xfrm>
                <a:off x="6066" y="6861"/>
                <a:ext cx="794" cy="283"/>
              </a:xfrm>
              <a:prstGeom prst="rect">
                <a:avLst/>
              </a:prstGeom>
              <a:solidFill>
                <a:srgbClr val="FFCCFF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>
                    <a:latin typeface="宋体" panose="02010600030101010101" pitchFamily="2" charset="-122"/>
                  </a:rPr>
                  <a:t>存</a:t>
                </a:r>
                <a:r>
                  <a:rPr lang="en-US" altLang="zh-CN" sz="1400" b="1" dirty="0">
                    <a:latin typeface="宋体" panose="02010600030101010101" pitchFamily="2" charset="-122"/>
                  </a:rPr>
                  <a:t>OPD</a:t>
                </a:r>
              </a:p>
            </p:txBody>
          </p:sp>
          <p:cxnSp>
            <p:nvCxnSpPr>
              <p:cNvPr id="345" name="直接箭头连接符 344">
                <a:extLst>
                  <a:ext uri="{FF2B5EF4-FFF2-40B4-BE49-F238E27FC236}">
                    <a16:creationId xmlns:a16="http://schemas.microsoft.com/office/drawing/2014/main" id="{31D4D76C-6660-4147-8D26-35609C5BF222}"/>
                  </a:ext>
                </a:extLst>
              </p:cNvPr>
              <p:cNvCxnSpPr/>
              <p:nvPr>
                <p:custDataLst>
                  <p:tags r:id="rId134"/>
                </p:custDataLst>
              </p:nvPr>
            </p:nvCxnSpPr>
            <p:spPr bwMode="auto">
              <a:xfrm>
                <a:off x="4252" y="7031"/>
                <a:ext cx="283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346" name="直接箭头连接符 345">
                <a:extLst>
                  <a:ext uri="{FF2B5EF4-FFF2-40B4-BE49-F238E27FC236}">
                    <a16:creationId xmlns:a16="http://schemas.microsoft.com/office/drawing/2014/main" id="{65CCF9D3-A871-49A2-927D-8707E4680ADE}"/>
                  </a:ext>
                </a:extLst>
              </p:cNvPr>
              <p:cNvCxnSpPr/>
              <p:nvPr>
                <p:custDataLst>
                  <p:tags r:id="rId135"/>
                </p:custDataLst>
              </p:nvPr>
            </p:nvCxnSpPr>
            <p:spPr bwMode="auto">
              <a:xfrm>
                <a:off x="5782" y="7031"/>
                <a:ext cx="283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</p:grpSp>
        <p:grpSp>
          <p:nvGrpSpPr>
            <p:cNvPr id="243" name="组合 242">
              <a:extLst>
                <a:ext uri="{FF2B5EF4-FFF2-40B4-BE49-F238E27FC236}">
                  <a16:creationId xmlns:a16="http://schemas.microsoft.com/office/drawing/2014/main" id="{B8171768-3A32-404C-91C6-9D0C12A2C53C}"/>
                </a:ext>
              </a:extLst>
            </p:cNvPr>
            <p:cNvGrpSpPr/>
            <p:nvPr/>
          </p:nvGrpSpPr>
          <p:grpSpPr>
            <a:xfrm>
              <a:off x="4064809" y="5040000"/>
              <a:ext cx="219159" cy="873264"/>
              <a:chOff x="3413650" y="4932000"/>
              <a:chExt cx="219159" cy="873264"/>
            </a:xfrm>
          </p:grpSpPr>
          <p:cxnSp>
            <p:nvCxnSpPr>
              <p:cNvPr id="327" name="直接连接符 326">
                <a:extLst>
                  <a:ext uri="{FF2B5EF4-FFF2-40B4-BE49-F238E27FC236}">
                    <a16:creationId xmlns:a16="http://schemas.microsoft.com/office/drawing/2014/main" id="{4CAB4288-240E-469F-843D-FD9D8D71BF6E}"/>
                  </a:ext>
                </a:extLst>
              </p:cNvPr>
              <p:cNvCxnSpPr/>
              <p:nvPr/>
            </p:nvCxnSpPr>
            <p:spPr bwMode="auto">
              <a:xfrm flipH="1">
                <a:off x="3413650" y="5805264"/>
                <a:ext cx="216000" cy="0"/>
              </a:xfrm>
              <a:prstGeom prst="line">
                <a:avLst/>
              </a:prstGeom>
              <a:noFill/>
              <a:ln w="9525" cap="flat" cmpd="sng" algn="ctr">
                <a:solidFill>
                  <a:srgbClr val="0070C0"/>
                </a:solidFill>
                <a:prstDash val="sysDash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328" name="直接连接符 327">
                <a:extLst>
                  <a:ext uri="{FF2B5EF4-FFF2-40B4-BE49-F238E27FC236}">
                    <a16:creationId xmlns:a16="http://schemas.microsoft.com/office/drawing/2014/main" id="{BD6E0F45-03DF-4E62-941D-9F5BF09E7CD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3632809" y="4932000"/>
                <a:ext cx="0" cy="864000"/>
              </a:xfrm>
              <a:prstGeom prst="line">
                <a:avLst/>
              </a:prstGeom>
              <a:noFill/>
              <a:ln w="9525" cap="flat" cmpd="sng" algn="ctr">
                <a:solidFill>
                  <a:srgbClr val="0070C0"/>
                </a:solidFill>
                <a:prstDash val="sysDash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44" name="组合 243">
              <a:extLst>
                <a:ext uri="{FF2B5EF4-FFF2-40B4-BE49-F238E27FC236}">
                  <a16:creationId xmlns:a16="http://schemas.microsoft.com/office/drawing/2014/main" id="{FCDAA511-3A01-4FB0-BB3A-9760FEA20312}"/>
                </a:ext>
              </a:extLst>
            </p:cNvPr>
            <p:cNvGrpSpPr/>
            <p:nvPr/>
          </p:nvGrpSpPr>
          <p:grpSpPr>
            <a:xfrm>
              <a:off x="5184000" y="2268000"/>
              <a:ext cx="3383700" cy="1440000"/>
              <a:chOff x="5184000" y="2268000"/>
              <a:chExt cx="3383700" cy="1440000"/>
            </a:xfrm>
          </p:grpSpPr>
          <p:cxnSp>
            <p:nvCxnSpPr>
              <p:cNvPr id="278" name="直接箭头连接符 277">
                <a:extLst>
                  <a:ext uri="{FF2B5EF4-FFF2-40B4-BE49-F238E27FC236}">
                    <a16:creationId xmlns:a16="http://schemas.microsoft.com/office/drawing/2014/main" id="{D4CB9BEB-1B8E-412C-BD21-4A3287BFF614}"/>
                  </a:ext>
                </a:extLst>
              </p:cNvPr>
              <p:cNvCxnSpPr/>
              <p:nvPr>
                <p:custDataLst>
                  <p:tags r:id="rId69"/>
                </p:custDataLst>
              </p:nvPr>
            </p:nvCxnSpPr>
            <p:spPr bwMode="auto">
              <a:xfrm flipV="1">
                <a:off x="5723799" y="3024000"/>
                <a:ext cx="432000" cy="61200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sp>
            <p:nvSpPr>
              <p:cNvPr id="279" name="Rectangle 274">
                <a:extLst>
                  <a:ext uri="{FF2B5EF4-FFF2-40B4-BE49-F238E27FC236}">
                    <a16:creationId xmlns:a16="http://schemas.microsoft.com/office/drawing/2014/main" id="{F675E602-5B97-4164-AA91-229FB0D80810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70"/>
                </p:custDataLst>
              </p:nvPr>
            </p:nvSpPr>
            <p:spPr bwMode="auto">
              <a:xfrm>
                <a:off x="6731800" y="2340000"/>
                <a:ext cx="1548000" cy="756000"/>
              </a:xfrm>
              <a:prstGeom prst="rect">
                <a:avLst/>
              </a:prstGeom>
              <a:solidFill>
                <a:srgbClr val="FFCCFF">
                  <a:alpha val="80000"/>
                </a:srgbClr>
              </a:solidFill>
              <a:ln w="9525">
                <a:solidFill>
                  <a:schemeClr val="tx1"/>
                </a:solidFill>
                <a:prstDash val="sysDash"/>
                <a:miter lim="800000"/>
              </a:ln>
              <a:effectLst/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280" name="Text Box 256">
                <a:extLst>
                  <a:ext uri="{FF2B5EF4-FFF2-40B4-BE49-F238E27FC236}">
                    <a16:creationId xmlns:a16="http://schemas.microsoft.com/office/drawing/2014/main" id="{D4CB69C1-0341-437D-9D7D-3075D73CDA0E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71"/>
                </p:custDataLst>
              </p:nvPr>
            </p:nvSpPr>
            <p:spPr bwMode="auto">
              <a:xfrm>
                <a:off x="6803800" y="2664000"/>
                <a:ext cx="216000" cy="28800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ID</a:t>
                </a:r>
              </a:p>
            </p:txBody>
          </p:sp>
          <p:sp>
            <p:nvSpPr>
              <p:cNvPr id="281" name="Text Box 257">
                <a:extLst>
                  <a:ext uri="{FF2B5EF4-FFF2-40B4-BE49-F238E27FC236}">
                    <a16:creationId xmlns:a16="http://schemas.microsoft.com/office/drawing/2014/main" id="{29763C80-885B-4CDE-A543-D4034683AB9A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72"/>
                </p:custDataLst>
              </p:nvPr>
            </p:nvSpPr>
            <p:spPr bwMode="auto">
              <a:xfrm>
                <a:off x="6767800" y="2376000"/>
                <a:ext cx="1476000" cy="18000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>
                    <a:latin typeface="宋体" panose="02010600030101010101" pitchFamily="2" charset="-122"/>
                  </a:rPr>
                  <a:t>时序信号形成电路</a:t>
                </a:r>
              </a:p>
            </p:txBody>
          </p:sp>
          <p:sp>
            <p:nvSpPr>
              <p:cNvPr id="282" name="Text Box 258">
                <a:extLst>
                  <a:ext uri="{FF2B5EF4-FFF2-40B4-BE49-F238E27FC236}">
                    <a16:creationId xmlns:a16="http://schemas.microsoft.com/office/drawing/2014/main" id="{EEDEAB83-9B13-4BFF-8CC3-10AD2D0060F6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73"/>
                </p:custDataLst>
              </p:nvPr>
            </p:nvSpPr>
            <p:spPr bwMode="auto">
              <a:xfrm>
                <a:off x="7163800" y="2663849"/>
                <a:ext cx="936000" cy="39600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dirty="0" err="1"/>
                  <a:t>μ</a:t>
                </a:r>
                <a:r>
                  <a:rPr lang="en-US" altLang="zh-CN" sz="1400" b="1" dirty="0" err="1">
                    <a:latin typeface="宋体" panose="02010600030101010101" pitchFamily="2" charset="-122"/>
                  </a:rPr>
                  <a:t>OP</a:t>
                </a:r>
                <a:r>
                  <a:rPr lang="zh-CN" altLang="en-US" sz="1400" b="1" dirty="0">
                    <a:latin typeface="宋体" panose="02010600030101010101" pitchFamily="2" charset="-122"/>
                  </a:rPr>
                  <a:t>控制信号形成电路</a:t>
                </a:r>
              </a:p>
            </p:txBody>
          </p:sp>
          <p:sp>
            <p:nvSpPr>
              <p:cNvPr id="283" name="Text Box 271">
                <a:extLst>
                  <a:ext uri="{FF2B5EF4-FFF2-40B4-BE49-F238E27FC236}">
                    <a16:creationId xmlns:a16="http://schemas.microsoft.com/office/drawing/2014/main" id="{B014905D-D28E-42EF-B739-972D6CB85E26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74"/>
                </p:custDataLst>
              </p:nvPr>
            </p:nvSpPr>
            <p:spPr bwMode="auto">
              <a:xfrm>
                <a:off x="7451800" y="3096000"/>
                <a:ext cx="432000" cy="10795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zh-CN" sz="1400" b="1" dirty="0">
                    <a:solidFill>
                      <a:srgbClr val="FF3399"/>
                    </a:solidFill>
                    <a:latin typeface="+mn-ea"/>
                    <a:ea typeface="+mn-ea"/>
                  </a:rPr>
                  <a:t>……</a:t>
                </a:r>
              </a:p>
            </p:txBody>
          </p:sp>
          <p:cxnSp>
            <p:nvCxnSpPr>
              <p:cNvPr id="284" name="直接箭头连接符 283">
                <a:extLst>
                  <a:ext uri="{FF2B5EF4-FFF2-40B4-BE49-F238E27FC236}">
                    <a16:creationId xmlns:a16="http://schemas.microsoft.com/office/drawing/2014/main" id="{37890C08-8A41-4F46-9DEC-C2F03B307779}"/>
                  </a:ext>
                </a:extLst>
              </p:cNvPr>
              <p:cNvCxnSpPr/>
              <p:nvPr>
                <p:custDataLst>
                  <p:tags r:id="rId75"/>
                </p:custDataLst>
              </p:nvPr>
            </p:nvCxnSpPr>
            <p:spPr bwMode="auto">
              <a:xfrm>
                <a:off x="7019800" y="2700000"/>
                <a:ext cx="144145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285" name="直接箭头连接符 284">
                <a:extLst>
                  <a:ext uri="{FF2B5EF4-FFF2-40B4-BE49-F238E27FC236}">
                    <a16:creationId xmlns:a16="http://schemas.microsoft.com/office/drawing/2014/main" id="{BCEA4DA7-DC47-4F13-9BE3-C564DDE90C72}"/>
                  </a:ext>
                </a:extLst>
              </p:cNvPr>
              <p:cNvCxnSpPr/>
              <p:nvPr>
                <p:custDataLst>
                  <p:tags r:id="rId76"/>
                </p:custDataLst>
              </p:nvPr>
            </p:nvCxnSpPr>
            <p:spPr bwMode="auto">
              <a:xfrm>
                <a:off x="7019800" y="2916000"/>
                <a:ext cx="144145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286" name="直接箭头连接符 285">
                <a:extLst>
                  <a:ext uri="{FF2B5EF4-FFF2-40B4-BE49-F238E27FC236}">
                    <a16:creationId xmlns:a16="http://schemas.microsoft.com/office/drawing/2014/main" id="{04416D91-631B-4B00-A6D3-ED4E8D848E19}"/>
                  </a:ext>
                </a:extLst>
              </p:cNvPr>
              <p:cNvCxnSpPr/>
              <p:nvPr>
                <p:custDataLst>
                  <p:tags r:id="rId77"/>
                </p:custDataLst>
              </p:nvPr>
            </p:nvCxnSpPr>
            <p:spPr bwMode="auto">
              <a:xfrm>
                <a:off x="7812700" y="2556000"/>
                <a:ext cx="0" cy="10800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287" name="直接箭头连接符 286">
                <a:extLst>
                  <a:ext uri="{FF2B5EF4-FFF2-40B4-BE49-F238E27FC236}">
                    <a16:creationId xmlns:a16="http://schemas.microsoft.com/office/drawing/2014/main" id="{E0FCE23D-BA6B-4876-B6F7-AA3048BEC8BC}"/>
                  </a:ext>
                </a:extLst>
              </p:cNvPr>
              <p:cNvCxnSpPr/>
              <p:nvPr>
                <p:custDataLst>
                  <p:tags r:id="rId78"/>
                </p:custDataLst>
              </p:nvPr>
            </p:nvCxnSpPr>
            <p:spPr bwMode="auto">
              <a:xfrm>
                <a:off x="7524410" y="2556000"/>
                <a:ext cx="0" cy="10800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288" name="Text Box 271">
                <a:extLst>
                  <a:ext uri="{FF2B5EF4-FFF2-40B4-BE49-F238E27FC236}">
                    <a16:creationId xmlns:a16="http://schemas.microsoft.com/office/drawing/2014/main" id="{070CA03F-886F-43EA-9323-706AD57E33F8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79"/>
                </p:custDataLst>
              </p:nvPr>
            </p:nvSpPr>
            <p:spPr bwMode="auto">
              <a:xfrm>
                <a:off x="7559800" y="2556000"/>
                <a:ext cx="216000" cy="14478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zh-CN" sz="1400" b="1" dirty="0">
                    <a:solidFill>
                      <a:srgbClr val="C00000"/>
                    </a:solidFill>
                    <a:latin typeface="+mn-ea"/>
                    <a:ea typeface="+mn-ea"/>
                  </a:rPr>
                  <a:t>…</a:t>
                </a:r>
              </a:p>
            </p:txBody>
          </p:sp>
          <p:cxnSp>
            <p:nvCxnSpPr>
              <p:cNvPr id="289" name="直接箭头连接符 288">
                <a:extLst>
                  <a:ext uri="{FF2B5EF4-FFF2-40B4-BE49-F238E27FC236}">
                    <a16:creationId xmlns:a16="http://schemas.microsoft.com/office/drawing/2014/main" id="{84A4D347-47BB-42CE-ACEC-FBEA61FF742E}"/>
                  </a:ext>
                </a:extLst>
              </p:cNvPr>
              <p:cNvCxnSpPr/>
              <p:nvPr>
                <p:custDataLst>
                  <p:tags r:id="rId80"/>
                </p:custDataLst>
              </p:nvPr>
            </p:nvCxnSpPr>
            <p:spPr bwMode="auto">
              <a:xfrm>
                <a:off x="6623800" y="2844000"/>
                <a:ext cx="180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290" name="直接箭头连接符 289">
                <a:extLst>
                  <a:ext uri="{FF2B5EF4-FFF2-40B4-BE49-F238E27FC236}">
                    <a16:creationId xmlns:a16="http://schemas.microsoft.com/office/drawing/2014/main" id="{A61EDD92-9428-4DFB-879B-C9048A197CEA}"/>
                  </a:ext>
                </a:extLst>
              </p:cNvPr>
              <p:cNvCxnSpPr/>
              <p:nvPr>
                <p:custDataLst>
                  <p:tags r:id="rId81"/>
                </p:custDataLst>
              </p:nvPr>
            </p:nvCxnSpPr>
            <p:spPr bwMode="auto">
              <a:xfrm flipH="1">
                <a:off x="7919800" y="3060000"/>
                <a:ext cx="635" cy="10800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291" name="直接箭头连接符 290">
                <a:extLst>
                  <a:ext uri="{FF2B5EF4-FFF2-40B4-BE49-F238E27FC236}">
                    <a16:creationId xmlns:a16="http://schemas.microsoft.com/office/drawing/2014/main" id="{16EE723C-BA3A-4B95-96DF-AECEB43AEF9B}"/>
                  </a:ext>
                </a:extLst>
              </p:cNvPr>
              <p:cNvCxnSpPr/>
              <p:nvPr>
                <p:custDataLst>
                  <p:tags r:id="rId82"/>
                </p:custDataLst>
              </p:nvPr>
            </p:nvCxnSpPr>
            <p:spPr bwMode="auto">
              <a:xfrm>
                <a:off x="7415800" y="3060000"/>
                <a:ext cx="0" cy="10800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FF3399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292" name="Text Box 271">
                <a:extLst>
                  <a:ext uri="{FF2B5EF4-FFF2-40B4-BE49-F238E27FC236}">
                    <a16:creationId xmlns:a16="http://schemas.microsoft.com/office/drawing/2014/main" id="{4C29C0EB-06C0-4823-8C73-3A487E069B55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83"/>
                </p:custDataLst>
              </p:nvPr>
            </p:nvSpPr>
            <p:spPr bwMode="auto">
              <a:xfrm>
                <a:off x="6983800" y="2700000"/>
                <a:ext cx="144145" cy="216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vert="eaVert" lIns="0" tIns="0" rIns="0" bIns="0" anchor="ctr"/>
              <a:lstStyle/>
              <a:p>
                <a:pPr algn="ctr">
                  <a:lnSpc>
                    <a:spcPct val="80000"/>
                  </a:lnSpc>
                </a:pPr>
                <a:r>
                  <a:rPr lang="en-US" altLang="zh-CN" sz="1400" b="1" dirty="0">
                    <a:latin typeface="+mn-ea"/>
                    <a:ea typeface="+mn-ea"/>
                  </a:rPr>
                  <a:t>…</a:t>
                </a:r>
              </a:p>
            </p:txBody>
          </p:sp>
          <p:cxnSp>
            <p:nvCxnSpPr>
              <p:cNvPr id="293" name="直接箭头连接符 292">
                <a:extLst>
                  <a:ext uri="{FF2B5EF4-FFF2-40B4-BE49-F238E27FC236}">
                    <a16:creationId xmlns:a16="http://schemas.microsoft.com/office/drawing/2014/main" id="{07003498-2419-469B-A8DB-0F36200EA84C}"/>
                  </a:ext>
                </a:extLst>
              </p:cNvPr>
              <p:cNvCxnSpPr/>
              <p:nvPr>
                <p:custDataLst>
                  <p:tags r:id="rId84"/>
                </p:custDataLst>
              </p:nvPr>
            </p:nvCxnSpPr>
            <p:spPr bwMode="auto">
              <a:xfrm flipH="1">
                <a:off x="8099800" y="2916000"/>
                <a:ext cx="252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294" name="直接箭头连接符 293">
                <a:extLst>
                  <a:ext uri="{FF2B5EF4-FFF2-40B4-BE49-F238E27FC236}">
                    <a16:creationId xmlns:a16="http://schemas.microsoft.com/office/drawing/2014/main" id="{4565A818-8AE6-4F07-87E0-661F80AEBBCD}"/>
                  </a:ext>
                </a:extLst>
              </p:cNvPr>
              <p:cNvCxnSpPr/>
              <p:nvPr>
                <p:custDataLst>
                  <p:tags r:id="rId85"/>
                </p:custDataLst>
              </p:nvPr>
            </p:nvCxnSpPr>
            <p:spPr bwMode="auto">
              <a:xfrm flipH="1">
                <a:off x="6623800" y="2412000"/>
                <a:ext cx="144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295" name="直接箭头连接符 294">
                <a:extLst>
                  <a:ext uri="{FF2B5EF4-FFF2-40B4-BE49-F238E27FC236}">
                    <a16:creationId xmlns:a16="http://schemas.microsoft.com/office/drawing/2014/main" id="{1EB9B0C4-1C49-4D02-8557-E8F370516DE9}"/>
                  </a:ext>
                </a:extLst>
              </p:cNvPr>
              <p:cNvCxnSpPr/>
              <p:nvPr>
                <p:custDataLst>
                  <p:tags r:id="rId86"/>
                </p:custDataLst>
              </p:nvPr>
            </p:nvCxnSpPr>
            <p:spPr bwMode="auto">
              <a:xfrm flipH="1">
                <a:off x="6623800" y="2484000"/>
                <a:ext cx="144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296" name="直接箭头连接符 117">
                <a:extLst>
                  <a:ext uri="{FF2B5EF4-FFF2-40B4-BE49-F238E27FC236}">
                    <a16:creationId xmlns:a16="http://schemas.microsoft.com/office/drawing/2014/main" id="{B4083803-32AA-4328-9160-2F6DB4BE3E18}"/>
                  </a:ext>
                </a:extLst>
              </p:cNvPr>
              <p:cNvCxnSpPr/>
              <p:nvPr>
                <p:custDataLst>
                  <p:tags r:id="rId87"/>
                </p:custDataLst>
              </p:nvPr>
            </p:nvCxnSpPr>
            <p:spPr bwMode="auto">
              <a:xfrm>
                <a:off x="6155800" y="3024000"/>
                <a:ext cx="1008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297" name="Text Box 333">
                <a:extLst>
                  <a:ext uri="{FF2B5EF4-FFF2-40B4-BE49-F238E27FC236}">
                    <a16:creationId xmlns:a16="http://schemas.microsoft.com/office/drawing/2014/main" id="{2B2E375E-C688-4950-B618-D9A5FAA3D5BD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88"/>
                </p:custDataLst>
              </p:nvPr>
            </p:nvSpPr>
            <p:spPr bwMode="auto">
              <a:xfrm>
                <a:off x="5832134" y="2520000"/>
                <a:ext cx="216000" cy="11160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vert="eaVert"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>
                    <a:latin typeface="宋体" panose="02010600030101010101" pitchFamily="2" charset="-122"/>
                  </a:rPr>
                  <a:t>通路结构</a:t>
                </a:r>
              </a:p>
            </p:txBody>
          </p:sp>
          <p:sp>
            <p:nvSpPr>
              <p:cNvPr id="298" name="Rectangle 274">
                <a:extLst>
                  <a:ext uri="{FF2B5EF4-FFF2-40B4-BE49-F238E27FC236}">
                    <a16:creationId xmlns:a16="http://schemas.microsoft.com/office/drawing/2014/main" id="{3A7D8E50-7791-40AE-897F-D39D4920B78B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89"/>
                </p:custDataLst>
              </p:nvPr>
            </p:nvSpPr>
            <p:spPr bwMode="auto">
              <a:xfrm>
                <a:off x="6155800" y="2520000"/>
                <a:ext cx="468000" cy="468000"/>
              </a:xfrm>
              <a:prstGeom prst="rect">
                <a:avLst/>
              </a:prstGeom>
              <a:solidFill>
                <a:srgbClr val="CCFFFF">
                  <a:alpha val="80000"/>
                </a:srgbClr>
              </a:solidFill>
              <a:ln w="9525">
                <a:solidFill>
                  <a:schemeClr val="tx1"/>
                </a:solidFill>
                <a:prstDash val="sysDash"/>
                <a:miter lim="800000"/>
              </a:ln>
              <a:effectLst/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  <p:sp>
            <p:nvSpPr>
              <p:cNvPr id="299" name="Text Box 276">
                <a:extLst>
                  <a:ext uri="{FF2B5EF4-FFF2-40B4-BE49-F238E27FC236}">
                    <a16:creationId xmlns:a16="http://schemas.microsoft.com/office/drawing/2014/main" id="{B32AB1CB-79A9-4648-B5BE-BF29369A4AB3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90"/>
                </p:custDataLst>
              </p:nvPr>
            </p:nvSpPr>
            <p:spPr bwMode="auto">
              <a:xfrm>
                <a:off x="6192179" y="2558099"/>
                <a:ext cx="396000" cy="180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PC</a:t>
                </a:r>
              </a:p>
            </p:txBody>
          </p:sp>
          <p:sp>
            <p:nvSpPr>
              <p:cNvPr id="300" name="Text Box 276">
                <a:extLst>
                  <a:ext uri="{FF2B5EF4-FFF2-40B4-BE49-F238E27FC236}">
                    <a16:creationId xmlns:a16="http://schemas.microsoft.com/office/drawing/2014/main" id="{04B3772A-4E7C-461B-92AB-A278FD49D106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91"/>
                </p:custDataLst>
              </p:nvPr>
            </p:nvSpPr>
            <p:spPr bwMode="auto">
              <a:xfrm>
                <a:off x="6192179" y="2773999"/>
                <a:ext cx="396000" cy="180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IR</a:t>
                </a:r>
              </a:p>
            </p:txBody>
          </p:sp>
          <p:cxnSp>
            <p:nvCxnSpPr>
              <p:cNvPr id="301" name="直接箭头连接符 300">
                <a:extLst>
                  <a:ext uri="{FF2B5EF4-FFF2-40B4-BE49-F238E27FC236}">
                    <a16:creationId xmlns:a16="http://schemas.microsoft.com/office/drawing/2014/main" id="{048D92D7-D1D6-44D3-996A-DE0796019DC2}"/>
                  </a:ext>
                </a:extLst>
              </p:cNvPr>
              <p:cNvCxnSpPr/>
              <p:nvPr>
                <p:custDataLst>
                  <p:tags r:id="rId92"/>
                </p:custDataLst>
              </p:nvPr>
            </p:nvCxnSpPr>
            <p:spPr bwMode="auto">
              <a:xfrm>
                <a:off x="6047800" y="2593760"/>
                <a:ext cx="144000" cy="635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302" name="直接箭头连接符 301">
                <a:extLst>
                  <a:ext uri="{FF2B5EF4-FFF2-40B4-BE49-F238E27FC236}">
                    <a16:creationId xmlns:a16="http://schemas.microsoft.com/office/drawing/2014/main" id="{F3CE0227-3789-4B2B-8A9F-BB1952E9597D}"/>
                  </a:ext>
                </a:extLst>
              </p:cNvPr>
              <p:cNvCxnSpPr/>
              <p:nvPr>
                <p:custDataLst>
                  <p:tags r:id="rId93"/>
                </p:custDataLst>
              </p:nvPr>
            </p:nvCxnSpPr>
            <p:spPr bwMode="auto">
              <a:xfrm flipH="1" flipV="1">
                <a:off x="6047800" y="2701760"/>
                <a:ext cx="144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303" name="直接箭头连接符 302">
                <a:extLst>
                  <a:ext uri="{FF2B5EF4-FFF2-40B4-BE49-F238E27FC236}">
                    <a16:creationId xmlns:a16="http://schemas.microsoft.com/office/drawing/2014/main" id="{8043AA31-D7F5-4F8E-B5D4-9A1DC6AB903C}"/>
                  </a:ext>
                </a:extLst>
              </p:cNvPr>
              <p:cNvCxnSpPr/>
              <p:nvPr>
                <p:custDataLst>
                  <p:tags r:id="rId94"/>
                </p:custDataLst>
              </p:nvPr>
            </p:nvCxnSpPr>
            <p:spPr bwMode="auto">
              <a:xfrm>
                <a:off x="6047800" y="2845760"/>
                <a:ext cx="144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304" name="Text Box 227">
                <a:extLst>
                  <a:ext uri="{FF2B5EF4-FFF2-40B4-BE49-F238E27FC236}">
                    <a16:creationId xmlns:a16="http://schemas.microsoft.com/office/drawing/2014/main" id="{9EA00780-6240-4B97-93C3-1143DC358D71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95"/>
                </p:custDataLst>
              </p:nvPr>
            </p:nvSpPr>
            <p:spPr bwMode="auto">
              <a:xfrm>
                <a:off x="8351800" y="2844000"/>
                <a:ext cx="215900" cy="864000"/>
              </a:xfrm>
              <a:prstGeom prst="rect">
                <a:avLst/>
              </a:prstGeom>
              <a:solidFill>
                <a:srgbClr val="CC99FF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vert="eaVert"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>
                    <a:latin typeface="宋体" panose="02010600030101010101" pitchFamily="2" charset="-122"/>
                  </a:rPr>
                  <a:t>中断机构</a:t>
                </a:r>
              </a:p>
            </p:txBody>
          </p:sp>
          <p:cxnSp>
            <p:nvCxnSpPr>
              <p:cNvPr id="305" name="直接箭头连接符 304">
                <a:extLst>
                  <a:ext uri="{FF2B5EF4-FFF2-40B4-BE49-F238E27FC236}">
                    <a16:creationId xmlns:a16="http://schemas.microsoft.com/office/drawing/2014/main" id="{9B4452CF-2DFB-4CFD-A31F-AEDB84D1A143}"/>
                  </a:ext>
                </a:extLst>
              </p:cNvPr>
              <p:cNvCxnSpPr>
                <a:cxnSpLocks/>
              </p:cNvCxnSpPr>
              <p:nvPr>
                <p:custDataLst>
                  <p:tags r:id="rId96"/>
                </p:custDataLst>
              </p:nvPr>
            </p:nvCxnSpPr>
            <p:spPr bwMode="auto">
              <a:xfrm>
                <a:off x="8495800" y="2304000"/>
                <a:ext cx="0" cy="54000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sm" len="sm"/>
              </a:ln>
              <a:effectLst/>
            </p:spPr>
          </p:cxnSp>
          <p:cxnSp>
            <p:nvCxnSpPr>
              <p:cNvPr id="306" name="直接箭头连接符 305">
                <a:extLst>
                  <a:ext uri="{FF2B5EF4-FFF2-40B4-BE49-F238E27FC236}">
                    <a16:creationId xmlns:a16="http://schemas.microsoft.com/office/drawing/2014/main" id="{8CC5BB60-00C9-458D-BD32-29A016AAF372}"/>
                  </a:ext>
                </a:extLst>
              </p:cNvPr>
              <p:cNvCxnSpPr/>
              <p:nvPr>
                <p:custDataLst>
                  <p:tags r:id="rId97"/>
                </p:custDataLst>
              </p:nvPr>
            </p:nvCxnSpPr>
            <p:spPr bwMode="auto">
              <a:xfrm>
                <a:off x="6588000" y="2304000"/>
                <a:ext cx="1908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sp>
            <p:nvSpPr>
              <p:cNvPr id="307" name="Text Box 392">
                <a:extLst>
                  <a:ext uri="{FF2B5EF4-FFF2-40B4-BE49-F238E27FC236}">
                    <a16:creationId xmlns:a16="http://schemas.microsoft.com/office/drawing/2014/main" id="{124C07DA-A7FB-49BE-959A-46ADB7A1ADCA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98"/>
                </p:custDataLst>
              </p:nvPr>
            </p:nvSpPr>
            <p:spPr bwMode="auto">
              <a:xfrm>
                <a:off x="5831800" y="2268000"/>
                <a:ext cx="396000" cy="144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>
                    <a:latin typeface="宋体" panose="02010600030101010101" pitchFamily="2" charset="-122"/>
                  </a:rPr>
                  <a:t>异常</a:t>
                </a:r>
                <a:endParaRPr lang="en-US" altLang="zh-CN" sz="14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308" name="Text Box 276">
                <a:extLst>
                  <a:ext uri="{FF2B5EF4-FFF2-40B4-BE49-F238E27FC236}">
                    <a16:creationId xmlns:a16="http://schemas.microsoft.com/office/drawing/2014/main" id="{DD5F7374-1CC7-45EF-820C-DFBDA7699166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99"/>
                </p:custDataLst>
              </p:nvPr>
            </p:nvSpPr>
            <p:spPr bwMode="auto">
              <a:xfrm>
                <a:off x="6335800" y="2268000"/>
                <a:ext cx="252000" cy="14400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200" b="1" dirty="0">
                    <a:latin typeface="宋体" panose="02010600030101010101" pitchFamily="2" charset="-122"/>
                  </a:rPr>
                  <a:t>≥</a:t>
                </a:r>
                <a:r>
                  <a:rPr lang="en-US" altLang="zh-CN" sz="1400" b="1" dirty="0">
                    <a:latin typeface="宋体" panose="02010600030101010101" pitchFamily="2" charset="-122"/>
                  </a:rPr>
                  <a:t>1</a:t>
                </a:r>
              </a:p>
            </p:txBody>
          </p:sp>
          <p:cxnSp>
            <p:nvCxnSpPr>
              <p:cNvPr id="309" name="直接箭头连接符 308">
                <a:extLst>
                  <a:ext uri="{FF2B5EF4-FFF2-40B4-BE49-F238E27FC236}">
                    <a16:creationId xmlns:a16="http://schemas.microsoft.com/office/drawing/2014/main" id="{C9933B5B-3687-4BE6-8AC0-F3A2EE9819AB}"/>
                  </a:ext>
                </a:extLst>
              </p:cNvPr>
              <p:cNvCxnSpPr/>
              <p:nvPr>
                <p:custDataLst>
                  <p:tags r:id="rId100"/>
                </p:custDataLst>
              </p:nvPr>
            </p:nvCxnSpPr>
            <p:spPr bwMode="auto">
              <a:xfrm>
                <a:off x="6228079" y="2376000"/>
                <a:ext cx="108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cxnSp>
            <p:nvCxnSpPr>
              <p:cNvPr id="310" name="直接箭头连接符 309">
                <a:extLst>
                  <a:ext uri="{FF2B5EF4-FFF2-40B4-BE49-F238E27FC236}">
                    <a16:creationId xmlns:a16="http://schemas.microsoft.com/office/drawing/2014/main" id="{9A7EB6A9-3DC4-4C4D-933D-3A84343E322E}"/>
                  </a:ext>
                </a:extLst>
              </p:cNvPr>
              <p:cNvCxnSpPr/>
              <p:nvPr>
                <p:custDataLst>
                  <p:tags r:id="rId101"/>
                </p:custDataLst>
              </p:nvPr>
            </p:nvCxnSpPr>
            <p:spPr bwMode="auto">
              <a:xfrm>
                <a:off x="6228079" y="2304000"/>
                <a:ext cx="108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cxnSp>
            <p:nvCxnSpPr>
              <p:cNvPr id="311" name="直接箭头连接符 310">
                <a:extLst>
                  <a:ext uri="{FF2B5EF4-FFF2-40B4-BE49-F238E27FC236}">
                    <a16:creationId xmlns:a16="http://schemas.microsoft.com/office/drawing/2014/main" id="{6947899F-9ABF-4ACE-ABFA-B69021430FC2}"/>
                  </a:ext>
                </a:extLst>
              </p:cNvPr>
              <p:cNvCxnSpPr/>
              <p:nvPr>
                <p:custDataLst>
                  <p:tags r:id="rId102"/>
                </p:custDataLst>
              </p:nvPr>
            </p:nvCxnSpPr>
            <p:spPr bwMode="auto">
              <a:xfrm>
                <a:off x="6227800" y="2340000"/>
                <a:ext cx="108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cxnSp>
            <p:nvCxnSpPr>
              <p:cNvPr id="312" name="直接箭头连接符 311">
                <a:extLst>
                  <a:ext uri="{FF2B5EF4-FFF2-40B4-BE49-F238E27FC236}">
                    <a16:creationId xmlns:a16="http://schemas.microsoft.com/office/drawing/2014/main" id="{A4F49655-DF8D-4A12-B439-48AB3F291F45}"/>
                  </a:ext>
                </a:extLst>
              </p:cNvPr>
              <p:cNvCxnSpPr/>
              <p:nvPr>
                <p:custDataLst>
                  <p:tags r:id="rId103"/>
                </p:custDataLst>
              </p:nvPr>
            </p:nvCxnSpPr>
            <p:spPr bwMode="auto">
              <a:xfrm flipH="1">
                <a:off x="6047800" y="3240000"/>
                <a:ext cx="2304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313" name="直接箭头连接符 312">
                <a:extLst>
                  <a:ext uri="{FF2B5EF4-FFF2-40B4-BE49-F238E27FC236}">
                    <a16:creationId xmlns:a16="http://schemas.microsoft.com/office/drawing/2014/main" id="{62623216-9D69-46FE-B9FD-90710DBBD3D8}"/>
                  </a:ext>
                </a:extLst>
              </p:cNvPr>
              <p:cNvCxnSpPr/>
              <p:nvPr>
                <p:custDataLst>
                  <p:tags r:id="rId104"/>
                </p:custDataLst>
              </p:nvPr>
            </p:nvCxnSpPr>
            <p:spPr bwMode="auto">
              <a:xfrm>
                <a:off x="6047800" y="3204000"/>
                <a:ext cx="2304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314" name="Text Box 291">
                <a:extLst>
                  <a:ext uri="{FF2B5EF4-FFF2-40B4-BE49-F238E27FC236}">
                    <a16:creationId xmlns:a16="http://schemas.microsoft.com/office/drawing/2014/main" id="{BA161767-B80E-4AE4-AFAE-1A629B7D21D3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05"/>
                </p:custDataLst>
              </p:nvPr>
            </p:nvSpPr>
            <p:spPr bwMode="auto">
              <a:xfrm>
                <a:off x="7811800" y="3311181"/>
                <a:ext cx="468000" cy="396000"/>
              </a:xfrm>
              <a:prstGeom prst="rect">
                <a:avLst/>
              </a:prstGeom>
              <a:solidFill>
                <a:srgbClr val="CCCCFF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80000"/>
                  </a:lnSpc>
                </a:pPr>
                <a:r>
                  <a:rPr lang="zh-CN" altLang="en-US" sz="1400" b="1" dirty="0">
                    <a:latin typeface="宋体" panose="02010600030101010101" pitchFamily="2" charset="-122"/>
                  </a:rPr>
                  <a:t>总线逻辑</a:t>
                </a:r>
                <a:endParaRPr lang="en-US" altLang="zh-CN" sz="1400" b="1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315" name="直接箭头连接符 314">
                <a:extLst>
                  <a:ext uri="{FF2B5EF4-FFF2-40B4-BE49-F238E27FC236}">
                    <a16:creationId xmlns:a16="http://schemas.microsoft.com/office/drawing/2014/main" id="{1D623C2E-7CAD-44F8-A2C9-E9F9EA0E71B5}"/>
                  </a:ext>
                </a:extLst>
              </p:cNvPr>
              <p:cNvCxnSpPr/>
              <p:nvPr>
                <p:custDataLst>
                  <p:tags r:id="rId106"/>
                </p:custDataLst>
              </p:nvPr>
            </p:nvCxnSpPr>
            <p:spPr bwMode="auto">
              <a:xfrm>
                <a:off x="6047800" y="3527181"/>
                <a:ext cx="144000" cy="635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316" name="直接箭头连接符 315">
                <a:extLst>
                  <a:ext uri="{FF2B5EF4-FFF2-40B4-BE49-F238E27FC236}">
                    <a16:creationId xmlns:a16="http://schemas.microsoft.com/office/drawing/2014/main" id="{BD64501C-9DE2-44EB-9496-58FBDCC42BDA}"/>
                  </a:ext>
                </a:extLst>
              </p:cNvPr>
              <p:cNvCxnSpPr/>
              <p:nvPr>
                <p:custDataLst>
                  <p:tags r:id="rId107"/>
                </p:custDataLst>
              </p:nvPr>
            </p:nvCxnSpPr>
            <p:spPr bwMode="auto">
              <a:xfrm flipH="1" flipV="1">
                <a:off x="6047800" y="3599181"/>
                <a:ext cx="144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317" name="直接箭头连接符 316">
                <a:extLst>
                  <a:ext uri="{FF2B5EF4-FFF2-40B4-BE49-F238E27FC236}">
                    <a16:creationId xmlns:a16="http://schemas.microsoft.com/office/drawing/2014/main" id="{785FF1CE-45CA-4A24-8585-489FCED3B3D9}"/>
                  </a:ext>
                </a:extLst>
              </p:cNvPr>
              <p:cNvCxnSpPr/>
              <p:nvPr>
                <p:custDataLst>
                  <p:tags r:id="rId108"/>
                </p:custDataLst>
              </p:nvPr>
            </p:nvCxnSpPr>
            <p:spPr bwMode="auto">
              <a:xfrm>
                <a:off x="6047800" y="3347756"/>
                <a:ext cx="144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318" name="Text Box 276">
                <a:extLst>
                  <a:ext uri="{FF2B5EF4-FFF2-40B4-BE49-F238E27FC236}">
                    <a16:creationId xmlns:a16="http://schemas.microsoft.com/office/drawing/2014/main" id="{1D7723B7-28B7-4D70-B0B2-9EDA46EC6282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09"/>
                </p:custDataLst>
              </p:nvPr>
            </p:nvSpPr>
            <p:spPr bwMode="auto">
              <a:xfrm>
                <a:off x="6192179" y="3276000"/>
                <a:ext cx="396000" cy="180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MAR</a:t>
                </a:r>
              </a:p>
            </p:txBody>
          </p:sp>
          <p:sp>
            <p:nvSpPr>
              <p:cNvPr id="319" name="Text Box 276">
                <a:extLst>
                  <a:ext uri="{FF2B5EF4-FFF2-40B4-BE49-F238E27FC236}">
                    <a16:creationId xmlns:a16="http://schemas.microsoft.com/office/drawing/2014/main" id="{1BCC0F3D-E653-4286-98DD-046A24BCA3A7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10"/>
                </p:custDataLst>
              </p:nvPr>
            </p:nvSpPr>
            <p:spPr bwMode="auto">
              <a:xfrm>
                <a:off x="6192179" y="3491181"/>
                <a:ext cx="396000" cy="180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MDR</a:t>
                </a:r>
              </a:p>
            </p:txBody>
          </p:sp>
          <p:cxnSp>
            <p:nvCxnSpPr>
              <p:cNvPr id="320" name="直接箭头连接符 319">
                <a:extLst>
                  <a:ext uri="{FF2B5EF4-FFF2-40B4-BE49-F238E27FC236}">
                    <a16:creationId xmlns:a16="http://schemas.microsoft.com/office/drawing/2014/main" id="{95BAC756-71A3-41B9-9E37-4FCF7C6C7CA4}"/>
                  </a:ext>
                </a:extLst>
              </p:cNvPr>
              <p:cNvCxnSpPr/>
              <p:nvPr>
                <p:custDataLst>
                  <p:tags r:id="rId111"/>
                </p:custDataLst>
              </p:nvPr>
            </p:nvCxnSpPr>
            <p:spPr bwMode="auto">
              <a:xfrm>
                <a:off x="6587800" y="3347756"/>
                <a:ext cx="144145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321" name="直接箭头连接符 320">
                <a:extLst>
                  <a:ext uri="{FF2B5EF4-FFF2-40B4-BE49-F238E27FC236}">
                    <a16:creationId xmlns:a16="http://schemas.microsoft.com/office/drawing/2014/main" id="{733C9F3C-C8AF-4419-ABE1-C1D1CD2AAA0B}"/>
                  </a:ext>
                </a:extLst>
              </p:cNvPr>
              <p:cNvCxnSpPr/>
              <p:nvPr>
                <p:custDataLst>
                  <p:tags r:id="rId112"/>
                </p:custDataLst>
              </p:nvPr>
            </p:nvCxnSpPr>
            <p:spPr bwMode="auto">
              <a:xfrm>
                <a:off x="6587800" y="3527181"/>
                <a:ext cx="612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322" name="直接箭头连接符 321">
                <a:extLst>
                  <a:ext uri="{FF2B5EF4-FFF2-40B4-BE49-F238E27FC236}">
                    <a16:creationId xmlns:a16="http://schemas.microsoft.com/office/drawing/2014/main" id="{9B86A2A5-48DA-4C9F-8D7F-381B1E1499BC}"/>
                  </a:ext>
                </a:extLst>
              </p:cNvPr>
              <p:cNvCxnSpPr/>
              <p:nvPr>
                <p:custDataLst>
                  <p:tags r:id="rId113"/>
                </p:custDataLst>
              </p:nvPr>
            </p:nvCxnSpPr>
            <p:spPr bwMode="auto">
              <a:xfrm flipH="1" flipV="1">
                <a:off x="6587800" y="3599181"/>
                <a:ext cx="1080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323" name="直接箭头连接符 322">
                <a:extLst>
                  <a:ext uri="{FF2B5EF4-FFF2-40B4-BE49-F238E27FC236}">
                    <a16:creationId xmlns:a16="http://schemas.microsoft.com/office/drawing/2014/main" id="{C199388E-BF46-41A3-93C8-A37AF4547728}"/>
                  </a:ext>
                </a:extLst>
              </p:cNvPr>
              <p:cNvCxnSpPr/>
              <p:nvPr>
                <p:custDataLst>
                  <p:tags r:id="rId114"/>
                </p:custDataLst>
              </p:nvPr>
            </p:nvCxnSpPr>
            <p:spPr bwMode="auto">
              <a:xfrm>
                <a:off x="6731799" y="3347756"/>
                <a:ext cx="1080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324" name="直接箭头连接符 323">
                <a:extLst>
                  <a:ext uri="{FF2B5EF4-FFF2-40B4-BE49-F238E27FC236}">
                    <a16:creationId xmlns:a16="http://schemas.microsoft.com/office/drawing/2014/main" id="{D7CF2301-8A91-4095-A5D2-6383A86278CD}"/>
                  </a:ext>
                </a:extLst>
              </p:cNvPr>
              <p:cNvCxnSpPr/>
              <p:nvPr>
                <p:custDataLst>
                  <p:tags r:id="rId115"/>
                </p:custDataLst>
              </p:nvPr>
            </p:nvCxnSpPr>
            <p:spPr bwMode="auto">
              <a:xfrm>
                <a:off x="7199800" y="3527181"/>
                <a:ext cx="612000" cy="635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325" name="直接箭头连接符 324">
                <a:extLst>
                  <a:ext uri="{FF2B5EF4-FFF2-40B4-BE49-F238E27FC236}">
                    <a16:creationId xmlns:a16="http://schemas.microsoft.com/office/drawing/2014/main" id="{92CA72F7-1CF1-44BD-B469-5EA2EBA24ABB}"/>
                  </a:ext>
                </a:extLst>
              </p:cNvPr>
              <p:cNvCxnSpPr/>
              <p:nvPr>
                <p:custDataLst>
                  <p:tags r:id="rId116"/>
                </p:custDataLst>
              </p:nvPr>
            </p:nvCxnSpPr>
            <p:spPr bwMode="auto">
              <a:xfrm flipH="1" flipV="1">
                <a:off x="7667800" y="3599181"/>
                <a:ext cx="144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326" name="Rectangle 274">
                <a:extLst>
                  <a:ext uri="{FF2B5EF4-FFF2-40B4-BE49-F238E27FC236}">
                    <a16:creationId xmlns:a16="http://schemas.microsoft.com/office/drawing/2014/main" id="{A8CCC47A-52DA-4274-B56A-D53102BE843B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17"/>
                </p:custDataLst>
              </p:nvPr>
            </p:nvSpPr>
            <p:spPr bwMode="auto">
              <a:xfrm>
                <a:off x="5184000" y="2412000"/>
                <a:ext cx="540000" cy="1152000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prstDash val="sysDash"/>
                <a:miter lim="800000"/>
              </a:ln>
              <a:effectLst/>
            </p:spPr>
            <p:txBody>
              <a:bodyPr vert="eaVert" wrap="none" lIns="0" tIns="0" rIns="0" bIns="0" anchor="ctr"/>
              <a:lstStyle/>
              <a:p>
                <a:pPr algn="ctr"/>
                <a:r>
                  <a:rPr lang="zh-CN" altLang="en-US" sz="1600" dirty="0"/>
                  <a:t>运算器</a:t>
                </a:r>
              </a:p>
            </p:txBody>
          </p:sp>
        </p:grpSp>
        <p:grpSp>
          <p:nvGrpSpPr>
            <p:cNvPr id="245" name="组合 244">
              <a:extLst>
                <a:ext uri="{FF2B5EF4-FFF2-40B4-BE49-F238E27FC236}">
                  <a16:creationId xmlns:a16="http://schemas.microsoft.com/office/drawing/2014/main" id="{45F5454D-EAA6-45B1-88B5-AE49C82C7EF7}"/>
                </a:ext>
              </a:extLst>
            </p:cNvPr>
            <p:cNvGrpSpPr/>
            <p:nvPr/>
          </p:nvGrpSpPr>
          <p:grpSpPr>
            <a:xfrm>
              <a:off x="5184000" y="2412000"/>
              <a:ext cx="648200" cy="1223561"/>
              <a:chOff x="5183800" y="2412000"/>
              <a:chExt cx="648200" cy="1223561"/>
            </a:xfrm>
          </p:grpSpPr>
          <p:cxnSp>
            <p:nvCxnSpPr>
              <p:cNvPr id="260" name="直接箭头连接符 259">
                <a:extLst>
                  <a:ext uri="{FF2B5EF4-FFF2-40B4-BE49-F238E27FC236}">
                    <a16:creationId xmlns:a16="http://schemas.microsoft.com/office/drawing/2014/main" id="{9E004714-3D1A-43C3-A25E-D127F14F283D}"/>
                  </a:ext>
                </a:extLst>
              </p:cNvPr>
              <p:cNvCxnSpPr>
                <a:cxnSpLocks/>
              </p:cNvCxnSpPr>
              <p:nvPr>
                <p:custDataLst>
                  <p:tags r:id="rId51"/>
                </p:custDataLst>
              </p:nvPr>
            </p:nvCxnSpPr>
            <p:spPr bwMode="auto">
              <a:xfrm flipV="1">
                <a:off x="5399800" y="3635561"/>
                <a:ext cx="324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sp>
            <p:nvSpPr>
              <p:cNvPr id="261" name="Rectangle 274">
                <a:extLst>
                  <a:ext uri="{FF2B5EF4-FFF2-40B4-BE49-F238E27FC236}">
                    <a16:creationId xmlns:a16="http://schemas.microsoft.com/office/drawing/2014/main" id="{571C7231-B0C8-4175-BF2B-5A2778425A89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52"/>
                </p:custDataLst>
              </p:nvPr>
            </p:nvSpPr>
            <p:spPr bwMode="auto">
              <a:xfrm>
                <a:off x="5183800" y="2412000"/>
                <a:ext cx="540000" cy="1152000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prstDash val="sysDash"/>
                <a:miter lim="800000"/>
              </a:ln>
              <a:effectLst/>
            </p:spPr>
            <p:txBody>
              <a:bodyPr wrap="none" lIns="0" tIns="0" rIns="0" bIns="0" anchor="ctr"/>
              <a:lstStyle/>
              <a:p>
                <a:endParaRPr lang="zh-CN" altLang="en-US"/>
              </a:p>
            </p:txBody>
          </p:sp>
          <p:cxnSp>
            <p:nvCxnSpPr>
              <p:cNvPr id="262" name="直接箭头连接符 261">
                <a:extLst>
                  <a:ext uri="{FF2B5EF4-FFF2-40B4-BE49-F238E27FC236}">
                    <a16:creationId xmlns:a16="http://schemas.microsoft.com/office/drawing/2014/main" id="{520B601B-B502-4B3F-8AE5-19B98A3BACA8}"/>
                  </a:ext>
                </a:extLst>
              </p:cNvPr>
              <p:cNvCxnSpPr/>
              <p:nvPr>
                <p:custDataLst>
                  <p:tags r:id="rId53"/>
                </p:custDataLst>
              </p:nvPr>
            </p:nvCxnSpPr>
            <p:spPr bwMode="auto">
              <a:xfrm>
                <a:off x="5652000" y="2556000"/>
                <a:ext cx="180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263" name="直接箭头连接符 262">
                <a:extLst>
                  <a:ext uri="{FF2B5EF4-FFF2-40B4-BE49-F238E27FC236}">
                    <a16:creationId xmlns:a16="http://schemas.microsoft.com/office/drawing/2014/main" id="{5F9E23D5-E522-4F3C-AB19-63261B03896F}"/>
                  </a:ext>
                </a:extLst>
              </p:cNvPr>
              <p:cNvCxnSpPr/>
              <p:nvPr>
                <p:custDataLst>
                  <p:tags r:id="rId54"/>
                </p:custDataLst>
              </p:nvPr>
            </p:nvCxnSpPr>
            <p:spPr bwMode="auto">
              <a:xfrm flipH="1" flipV="1">
                <a:off x="5652000" y="2693941"/>
                <a:ext cx="180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264" name="直接箭头连接符 263">
                <a:extLst>
                  <a:ext uri="{FF2B5EF4-FFF2-40B4-BE49-F238E27FC236}">
                    <a16:creationId xmlns:a16="http://schemas.microsoft.com/office/drawing/2014/main" id="{29DA16FC-3676-4F18-826F-DD8D15F0DCDB}"/>
                  </a:ext>
                </a:extLst>
              </p:cNvPr>
              <p:cNvCxnSpPr/>
              <p:nvPr>
                <p:custDataLst>
                  <p:tags r:id="rId55"/>
                </p:custDataLst>
              </p:nvPr>
            </p:nvCxnSpPr>
            <p:spPr bwMode="auto">
              <a:xfrm>
                <a:off x="5652000" y="2628000"/>
                <a:ext cx="180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ysDash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265" name="AutoShape 189">
                <a:extLst>
                  <a:ext uri="{FF2B5EF4-FFF2-40B4-BE49-F238E27FC236}">
                    <a16:creationId xmlns:a16="http://schemas.microsoft.com/office/drawing/2014/main" id="{BCAED7A2-93DF-44AF-888D-247F2A84B4F3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56"/>
                </p:custDataLst>
              </p:nvPr>
            </p:nvSpPr>
            <p:spPr bwMode="auto">
              <a:xfrm>
                <a:off x="5219800" y="2987561"/>
                <a:ext cx="468000" cy="179705"/>
              </a:xfrm>
              <a:custGeom>
                <a:avLst/>
                <a:gdLst>
                  <a:gd name="G0" fmla="+- 4060 0 0"/>
                  <a:gd name="G1" fmla="+- 21600 0 4060"/>
                  <a:gd name="G2" fmla="*/ 4060 1 2"/>
                  <a:gd name="G3" fmla="+- 21600 0 G2"/>
                  <a:gd name="G4" fmla="+/ 4060 21600 2"/>
                  <a:gd name="G5" fmla="+/ G1 0 2"/>
                  <a:gd name="G6" fmla="*/ 21600 21600 4060"/>
                  <a:gd name="G7" fmla="*/ G6 1 2"/>
                  <a:gd name="G8" fmla="+- 21600 0 G7"/>
                  <a:gd name="G9" fmla="*/ 21600 1 2"/>
                  <a:gd name="G10" fmla="+- 4060 0 G9"/>
                  <a:gd name="G11" fmla="?: G10 G8 0"/>
                  <a:gd name="G12" fmla="?: G10 G7 21600"/>
                  <a:gd name="T0" fmla="*/ 19570 w 21600"/>
                  <a:gd name="T1" fmla="*/ 10800 h 21600"/>
                  <a:gd name="T2" fmla="*/ 10800 w 21600"/>
                  <a:gd name="T3" fmla="*/ 21600 h 21600"/>
                  <a:gd name="T4" fmla="*/ 2030 w 21600"/>
                  <a:gd name="T5" fmla="*/ 10800 h 21600"/>
                  <a:gd name="T6" fmla="*/ 10800 w 21600"/>
                  <a:gd name="T7" fmla="*/ 0 h 21600"/>
                  <a:gd name="T8" fmla="*/ 3830 w 21600"/>
                  <a:gd name="T9" fmla="*/ 3830 h 21600"/>
                  <a:gd name="T10" fmla="*/ 17770 w 21600"/>
                  <a:gd name="T11" fmla="*/ 1777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4060" y="21600"/>
                    </a:lnTo>
                    <a:lnTo>
                      <a:pt x="1754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+mn-ea"/>
                    <a:ea typeface="+mn-ea"/>
                  </a:rPr>
                  <a:t>ALU</a:t>
                </a:r>
                <a:endParaRPr lang="zh-CN" altLang="en-US" sz="1400" b="1" dirty="0">
                  <a:latin typeface="+mn-ea"/>
                  <a:ea typeface="+mn-ea"/>
                </a:endParaRPr>
              </a:p>
            </p:txBody>
          </p:sp>
          <p:cxnSp>
            <p:nvCxnSpPr>
              <p:cNvPr id="266" name="直接箭头连接符 265">
                <a:extLst>
                  <a:ext uri="{FF2B5EF4-FFF2-40B4-BE49-F238E27FC236}">
                    <a16:creationId xmlns:a16="http://schemas.microsoft.com/office/drawing/2014/main" id="{5E848059-F9A6-4D3B-B3DE-28506A0EDB51}"/>
                  </a:ext>
                </a:extLst>
              </p:cNvPr>
              <p:cNvCxnSpPr/>
              <p:nvPr>
                <p:custDataLst>
                  <p:tags r:id="rId57"/>
                </p:custDataLst>
              </p:nvPr>
            </p:nvCxnSpPr>
            <p:spPr bwMode="auto">
              <a:xfrm flipH="1">
                <a:off x="5615800" y="3491561"/>
                <a:ext cx="216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267" name="直接箭头连接符 266">
                <a:extLst>
                  <a:ext uri="{FF2B5EF4-FFF2-40B4-BE49-F238E27FC236}">
                    <a16:creationId xmlns:a16="http://schemas.microsoft.com/office/drawing/2014/main" id="{9BB47D96-5006-4D72-8E85-92C89827C83D}"/>
                  </a:ext>
                </a:extLst>
              </p:cNvPr>
              <p:cNvCxnSpPr/>
              <p:nvPr>
                <p:custDataLst>
                  <p:tags r:id="rId58"/>
                </p:custDataLst>
              </p:nvPr>
            </p:nvCxnSpPr>
            <p:spPr bwMode="auto">
              <a:xfrm>
                <a:off x="5615800" y="3383561"/>
                <a:ext cx="216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268" name="直接箭头连接符 267">
                <a:extLst>
                  <a:ext uri="{FF2B5EF4-FFF2-40B4-BE49-F238E27FC236}">
                    <a16:creationId xmlns:a16="http://schemas.microsoft.com/office/drawing/2014/main" id="{1C4022EE-8953-48E9-BE79-6FDED64C6D74}"/>
                  </a:ext>
                </a:extLst>
              </p:cNvPr>
              <p:cNvCxnSpPr/>
              <p:nvPr>
                <p:custDataLst>
                  <p:tags r:id="rId59"/>
                </p:custDataLst>
              </p:nvPr>
            </p:nvCxnSpPr>
            <p:spPr bwMode="auto">
              <a:xfrm>
                <a:off x="5400335" y="3167561"/>
                <a:ext cx="1270" cy="179705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269" name="Text Box 276">
                <a:extLst>
                  <a:ext uri="{FF2B5EF4-FFF2-40B4-BE49-F238E27FC236}">
                    <a16:creationId xmlns:a16="http://schemas.microsoft.com/office/drawing/2014/main" id="{E501A40E-9139-48C5-BE36-BBD94B0A9650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60"/>
                </p:custDataLst>
              </p:nvPr>
            </p:nvSpPr>
            <p:spPr bwMode="auto">
              <a:xfrm>
                <a:off x="5219800" y="3347561"/>
                <a:ext cx="396000" cy="180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PSR</a:t>
                </a:r>
              </a:p>
            </p:txBody>
          </p:sp>
          <p:sp>
            <p:nvSpPr>
              <p:cNvPr id="270" name="Text Box 314">
                <a:extLst>
                  <a:ext uri="{FF2B5EF4-FFF2-40B4-BE49-F238E27FC236}">
                    <a16:creationId xmlns:a16="http://schemas.microsoft.com/office/drawing/2014/main" id="{3694F463-57B7-4539-8274-3FF4C664726F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61"/>
                </p:custDataLst>
              </p:nvPr>
            </p:nvSpPr>
            <p:spPr bwMode="auto">
              <a:xfrm>
                <a:off x="5219800" y="2448000"/>
                <a:ext cx="432000" cy="288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GPRs</a:t>
                </a:r>
              </a:p>
            </p:txBody>
          </p:sp>
          <p:cxnSp>
            <p:nvCxnSpPr>
              <p:cNvPr id="271" name="直接箭头连接符 270">
                <a:extLst>
                  <a:ext uri="{FF2B5EF4-FFF2-40B4-BE49-F238E27FC236}">
                    <a16:creationId xmlns:a16="http://schemas.microsoft.com/office/drawing/2014/main" id="{A91B45D3-6192-4E3C-B7F8-D74306AE82A8}"/>
                  </a:ext>
                </a:extLst>
              </p:cNvPr>
              <p:cNvCxnSpPr>
                <a:cxnSpLocks/>
              </p:cNvCxnSpPr>
              <p:nvPr>
                <p:custDataLst>
                  <p:tags r:id="rId62"/>
                </p:custDataLst>
              </p:nvPr>
            </p:nvCxnSpPr>
            <p:spPr bwMode="auto">
              <a:xfrm>
                <a:off x="5327800" y="2807087"/>
                <a:ext cx="0" cy="18000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272" name="直接箭头连接符 271">
                <a:extLst>
                  <a:ext uri="{FF2B5EF4-FFF2-40B4-BE49-F238E27FC236}">
                    <a16:creationId xmlns:a16="http://schemas.microsoft.com/office/drawing/2014/main" id="{73FD4CA5-48F3-49D6-AA8F-26D32397B1DC}"/>
                  </a:ext>
                </a:extLst>
              </p:cNvPr>
              <p:cNvCxnSpPr/>
              <p:nvPr>
                <p:custDataLst>
                  <p:tags r:id="rId63"/>
                </p:custDataLst>
              </p:nvPr>
            </p:nvCxnSpPr>
            <p:spPr bwMode="auto">
              <a:xfrm flipH="1" flipV="1">
                <a:off x="5327800" y="2807561"/>
                <a:ext cx="504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cxnSp>
            <p:nvCxnSpPr>
              <p:cNvPr id="273" name="直接箭头连接符 272">
                <a:extLst>
                  <a:ext uri="{FF2B5EF4-FFF2-40B4-BE49-F238E27FC236}">
                    <a16:creationId xmlns:a16="http://schemas.microsoft.com/office/drawing/2014/main" id="{87950223-74D3-425C-B177-37349823016F}"/>
                  </a:ext>
                </a:extLst>
              </p:cNvPr>
              <p:cNvCxnSpPr>
                <a:cxnSpLocks/>
              </p:cNvCxnSpPr>
              <p:nvPr>
                <p:custDataLst>
                  <p:tags r:id="rId64"/>
                </p:custDataLst>
              </p:nvPr>
            </p:nvCxnSpPr>
            <p:spPr bwMode="auto">
              <a:xfrm>
                <a:off x="5579800" y="2879561"/>
                <a:ext cx="0" cy="10800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274" name="直接箭头连接符 273">
                <a:extLst>
                  <a:ext uri="{FF2B5EF4-FFF2-40B4-BE49-F238E27FC236}">
                    <a16:creationId xmlns:a16="http://schemas.microsoft.com/office/drawing/2014/main" id="{207A48A1-CC6D-41E0-A820-8A3080532765}"/>
                  </a:ext>
                </a:extLst>
              </p:cNvPr>
              <p:cNvCxnSpPr/>
              <p:nvPr>
                <p:custDataLst>
                  <p:tags r:id="rId65"/>
                </p:custDataLst>
              </p:nvPr>
            </p:nvCxnSpPr>
            <p:spPr bwMode="auto">
              <a:xfrm flipH="1" flipV="1">
                <a:off x="5579800" y="2879561"/>
                <a:ext cx="252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cxnSp>
            <p:nvCxnSpPr>
              <p:cNvPr id="275" name="直接箭头连接符 274">
                <a:extLst>
                  <a:ext uri="{FF2B5EF4-FFF2-40B4-BE49-F238E27FC236}">
                    <a16:creationId xmlns:a16="http://schemas.microsoft.com/office/drawing/2014/main" id="{3F8051CF-990E-481F-ABFE-83A16F585EE7}"/>
                  </a:ext>
                </a:extLst>
              </p:cNvPr>
              <p:cNvCxnSpPr>
                <a:cxnSpLocks/>
              </p:cNvCxnSpPr>
              <p:nvPr>
                <p:custDataLst>
                  <p:tags r:id="rId66"/>
                </p:custDataLst>
              </p:nvPr>
            </p:nvCxnSpPr>
            <p:spPr bwMode="auto">
              <a:xfrm>
                <a:off x="5471800" y="3167561"/>
                <a:ext cx="0" cy="7200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cxnSp>
            <p:nvCxnSpPr>
              <p:cNvPr id="276" name="直接箭头连接符 275">
                <a:extLst>
                  <a:ext uri="{FF2B5EF4-FFF2-40B4-BE49-F238E27FC236}">
                    <a16:creationId xmlns:a16="http://schemas.microsoft.com/office/drawing/2014/main" id="{68393FF8-8342-41FA-9321-49DF2B803D9F}"/>
                  </a:ext>
                </a:extLst>
              </p:cNvPr>
              <p:cNvCxnSpPr/>
              <p:nvPr>
                <p:custDataLst>
                  <p:tags r:id="rId67"/>
                </p:custDataLst>
              </p:nvPr>
            </p:nvCxnSpPr>
            <p:spPr bwMode="auto">
              <a:xfrm>
                <a:off x="5471800" y="3239561"/>
                <a:ext cx="360000" cy="0"/>
              </a:xfrm>
              <a:prstGeom prst="straightConnector1">
                <a:avLst/>
              </a:prstGeom>
              <a:solidFill>
                <a:schemeClr val="accent1"/>
              </a:solidFill>
              <a:ln w="12700" cap="sq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277" name="直接箭头连接符 276">
                <a:extLst>
                  <a:ext uri="{FF2B5EF4-FFF2-40B4-BE49-F238E27FC236}">
                    <a16:creationId xmlns:a16="http://schemas.microsoft.com/office/drawing/2014/main" id="{23E7DB46-E1B6-4F00-B7BE-E6B1C4ECA56B}"/>
                  </a:ext>
                </a:extLst>
              </p:cNvPr>
              <p:cNvCxnSpPr>
                <a:cxnSpLocks/>
              </p:cNvCxnSpPr>
              <p:nvPr>
                <p:custDataLst>
                  <p:tags r:id="rId68"/>
                </p:custDataLst>
              </p:nvPr>
            </p:nvCxnSpPr>
            <p:spPr bwMode="auto">
              <a:xfrm>
                <a:off x="5399800" y="3527561"/>
                <a:ext cx="0" cy="10800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rgbClr val="990099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</p:grpSp>
        <p:sp>
          <p:nvSpPr>
            <p:cNvPr id="246" name="Text Box 18">
              <a:extLst>
                <a:ext uri="{FF2B5EF4-FFF2-40B4-BE49-F238E27FC236}">
                  <a16:creationId xmlns:a16="http://schemas.microsoft.com/office/drawing/2014/main" id="{530D3B5C-72B1-4CBD-9000-D2CB77ED4BCD}"/>
                </a:ext>
              </a:extLst>
            </p:cNvPr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4464000" y="3204000"/>
              <a:ext cx="576000" cy="504000"/>
            </a:xfrm>
            <a:prstGeom prst="rect">
              <a:avLst/>
            </a:prstGeom>
            <a:noFill/>
            <a:ln w="12700">
              <a:noFill/>
              <a:prstDash val="sysDash"/>
              <a:miter lim="800000"/>
            </a:ln>
            <a:effectLst/>
          </p:spPr>
          <p:txBody>
            <a:bodyPr lIns="0" tIns="0" rIns="0" bIns="0" anchor="t" anchorCtr="0"/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200" b="1" dirty="0">
                  <a:latin typeface="+mn-ea"/>
                </a:rPr>
                <a:t>单</a:t>
              </a:r>
              <a:r>
                <a:rPr lang="en-US" altLang="zh-CN" sz="1200" b="1" dirty="0">
                  <a:latin typeface="+mn-ea"/>
                </a:rPr>
                <a:t>/</a:t>
              </a:r>
              <a:r>
                <a:rPr lang="zh-CN" altLang="en-US" sz="1200" b="1" dirty="0">
                  <a:latin typeface="+mn-ea"/>
                </a:rPr>
                <a:t>多</a:t>
              </a:r>
              <a:r>
                <a:rPr lang="en-US" altLang="zh-CN" sz="1200" b="1" dirty="0">
                  <a:latin typeface="+mn-ea"/>
                </a:rPr>
                <a:t>T</a:t>
              </a:r>
              <a:r>
                <a:rPr lang="en-US" altLang="zh-CN" sz="1200" b="1" baseline="-25000" dirty="0">
                  <a:latin typeface="+mn-ea"/>
                </a:rPr>
                <a:t>C</a:t>
              </a:r>
              <a:endParaRPr lang="en-US" altLang="zh-CN" sz="1200" b="1" dirty="0">
                <a:latin typeface="+mn-ea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200" b="1" dirty="0">
                  <a:latin typeface="+mn-ea"/>
                </a:rPr>
                <a:t>DP</a:t>
              </a:r>
              <a:r>
                <a:rPr lang="zh-CN" altLang="en-US" sz="1200" b="1" dirty="0">
                  <a:latin typeface="+mn-ea"/>
                </a:rPr>
                <a:t>总</a:t>
              </a:r>
              <a:r>
                <a:rPr lang="en-US" altLang="zh-CN" sz="1200" b="1" dirty="0">
                  <a:latin typeface="+mn-ea"/>
                </a:rPr>
                <a:t>/</a:t>
              </a:r>
              <a:r>
                <a:rPr lang="zh-CN" altLang="en-US" sz="1200" b="1" dirty="0">
                  <a:latin typeface="+mn-ea"/>
                </a:rPr>
                <a:t>专</a:t>
              </a:r>
              <a:endParaRPr lang="en-US" altLang="zh-CN" sz="1200" b="1" dirty="0">
                <a:latin typeface="+mn-ea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200" b="1" dirty="0">
                  <a:latin typeface="+mn-ea"/>
                </a:rPr>
                <a:t>CU</a:t>
              </a:r>
              <a:r>
                <a:rPr lang="zh-CN" altLang="en-US" sz="1200" b="1" dirty="0">
                  <a:latin typeface="+mn-ea"/>
                </a:rPr>
                <a:t>硬</a:t>
              </a:r>
              <a:r>
                <a:rPr lang="en-US" altLang="zh-CN" sz="1200" b="1" dirty="0">
                  <a:latin typeface="+mn-ea"/>
                </a:rPr>
                <a:t>/</a:t>
              </a:r>
              <a:r>
                <a:rPr lang="zh-CN" altLang="en-US" sz="1200" b="1" dirty="0">
                  <a:latin typeface="+mn-ea"/>
                </a:rPr>
                <a:t>微</a:t>
              </a:r>
            </a:p>
          </p:txBody>
        </p:sp>
        <p:grpSp>
          <p:nvGrpSpPr>
            <p:cNvPr id="247" name="组合 246">
              <a:extLst>
                <a:ext uri="{FF2B5EF4-FFF2-40B4-BE49-F238E27FC236}">
                  <a16:creationId xmlns:a16="http://schemas.microsoft.com/office/drawing/2014/main" id="{7E43F8C2-112A-4B46-BAAB-570D8E0920BD}"/>
                </a:ext>
              </a:extLst>
            </p:cNvPr>
            <p:cNvGrpSpPr/>
            <p:nvPr/>
          </p:nvGrpSpPr>
          <p:grpSpPr>
            <a:xfrm>
              <a:off x="8244000" y="3204000"/>
              <a:ext cx="648000" cy="1476000"/>
              <a:chOff x="8244000" y="3204000"/>
              <a:chExt cx="648000" cy="1476000"/>
            </a:xfrm>
          </p:grpSpPr>
          <p:cxnSp>
            <p:nvCxnSpPr>
              <p:cNvPr id="253" name="直接箭头连接符 252">
                <a:extLst>
                  <a:ext uri="{FF2B5EF4-FFF2-40B4-BE49-F238E27FC236}">
                    <a16:creationId xmlns:a16="http://schemas.microsoft.com/office/drawing/2014/main" id="{D5FE20F8-2945-47EE-88CA-363EAD4F9F10}"/>
                  </a:ext>
                </a:extLst>
              </p:cNvPr>
              <p:cNvCxnSpPr/>
              <p:nvPr>
                <p:custDataLst>
                  <p:tags r:id="rId44"/>
                </p:custDataLst>
              </p:nvPr>
            </p:nvCxnSpPr>
            <p:spPr bwMode="auto">
              <a:xfrm flipH="1">
                <a:off x="8568000" y="3204000"/>
                <a:ext cx="324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sp>
            <p:nvSpPr>
              <p:cNvPr id="254" name="Text Box 392">
                <a:extLst>
                  <a:ext uri="{FF2B5EF4-FFF2-40B4-BE49-F238E27FC236}">
                    <a16:creationId xmlns:a16="http://schemas.microsoft.com/office/drawing/2014/main" id="{B86D50A3-1359-4868-A02E-C67B5DFB9DB2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45"/>
                </p:custDataLst>
              </p:nvPr>
            </p:nvSpPr>
            <p:spPr bwMode="auto">
              <a:xfrm>
                <a:off x="8460000" y="4356000"/>
                <a:ext cx="360000" cy="324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t" anchorCtr="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200" b="1" dirty="0">
                    <a:latin typeface="宋体" panose="02010600030101010101" pitchFamily="2" charset="-122"/>
                  </a:rPr>
                  <a:t>INTR</a:t>
                </a:r>
              </a:p>
              <a:p>
                <a:pPr algn="ctr">
                  <a:lnSpc>
                    <a:spcPct val="90000"/>
                  </a:lnSpc>
                  <a:spcBef>
                    <a:spcPts val="0"/>
                  </a:spcBef>
                </a:pPr>
                <a:r>
                  <a:rPr lang="en-US" altLang="zh-CN" sz="1200" b="1" dirty="0">
                    <a:latin typeface="宋体" panose="02010600030101010101" pitchFamily="2" charset="-122"/>
                  </a:rPr>
                  <a:t>NMI</a:t>
                </a:r>
              </a:p>
            </p:txBody>
          </p:sp>
          <p:cxnSp>
            <p:nvCxnSpPr>
              <p:cNvPr id="255" name="直接箭头连接符 254">
                <a:extLst>
                  <a:ext uri="{FF2B5EF4-FFF2-40B4-BE49-F238E27FC236}">
                    <a16:creationId xmlns:a16="http://schemas.microsoft.com/office/drawing/2014/main" id="{B80EC6F3-BFA6-4870-A87C-0DFD6437A84B}"/>
                  </a:ext>
                </a:extLst>
              </p:cNvPr>
              <p:cNvCxnSpPr/>
              <p:nvPr>
                <p:custDataLst>
                  <p:tags r:id="rId46"/>
                </p:custDataLst>
              </p:nvPr>
            </p:nvCxnSpPr>
            <p:spPr bwMode="auto">
              <a:xfrm flipH="1">
                <a:off x="8568000" y="3312000"/>
                <a:ext cx="252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256" name="直接箭头连接符 255">
                <a:extLst>
                  <a:ext uri="{FF2B5EF4-FFF2-40B4-BE49-F238E27FC236}">
                    <a16:creationId xmlns:a16="http://schemas.microsoft.com/office/drawing/2014/main" id="{33A5F489-D49F-449E-B9A2-34E4D75E2FF3}"/>
                  </a:ext>
                </a:extLst>
              </p:cNvPr>
              <p:cNvCxnSpPr>
                <a:cxnSpLocks/>
              </p:cNvCxnSpPr>
              <p:nvPr>
                <p:custDataLst>
                  <p:tags r:id="rId47"/>
                </p:custDataLst>
              </p:nvPr>
            </p:nvCxnSpPr>
            <p:spPr bwMode="auto">
              <a:xfrm flipH="1" flipV="1">
                <a:off x="8820000" y="3312000"/>
                <a:ext cx="0" cy="104400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cxnSp>
            <p:nvCxnSpPr>
              <p:cNvPr id="257" name="直接箭头连接符 256">
                <a:extLst>
                  <a:ext uri="{FF2B5EF4-FFF2-40B4-BE49-F238E27FC236}">
                    <a16:creationId xmlns:a16="http://schemas.microsoft.com/office/drawing/2014/main" id="{B6D584FB-9A68-4DB5-A077-33DC26F902A9}"/>
                  </a:ext>
                </a:extLst>
              </p:cNvPr>
              <p:cNvCxnSpPr>
                <a:cxnSpLocks/>
              </p:cNvCxnSpPr>
              <p:nvPr>
                <p:custDataLst>
                  <p:tags r:id="rId48"/>
                </p:custDataLst>
              </p:nvPr>
            </p:nvCxnSpPr>
            <p:spPr bwMode="auto">
              <a:xfrm flipV="1">
                <a:off x="8388000" y="4356000"/>
                <a:ext cx="432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cxnSp>
            <p:nvCxnSpPr>
              <p:cNvPr id="258" name="直接箭头连接符 257">
                <a:extLst>
                  <a:ext uri="{FF2B5EF4-FFF2-40B4-BE49-F238E27FC236}">
                    <a16:creationId xmlns:a16="http://schemas.microsoft.com/office/drawing/2014/main" id="{794024A4-DEC6-43D2-AAE0-1450D6FA0103}"/>
                  </a:ext>
                </a:extLst>
              </p:cNvPr>
              <p:cNvCxnSpPr>
                <a:cxnSpLocks/>
              </p:cNvCxnSpPr>
              <p:nvPr>
                <p:custDataLst>
                  <p:tags r:id="rId49"/>
                </p:custDataLst>
              </p:nvPr>
            </p:nvCxnSpPr>
            <p:spPr bwMode="auto">
              <a:xfrm flipV="1">
                <a:off x="8244000" y="4680000"/>
                <a:ext cx="648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rgbClr val="CC3300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  <p:cxnSp>
            <p:nvCxnSpPr>
              <p:cNvPr id="259" name="直接箭头连接符 258">
                <a:extLst>
                  <a:ext uri="{FF2B5EF4-FFF2-40B4-BE49-F238E27FC236}">
                    <a16:creationId xmlns:a16="http://schemas.microsoft.com/office/drawing/2014/main" id="{5C61382F-41A6-4227-A4A8-DFCEF3680BBC}"/>
                  </a:ext>
                </a:extLst>
              </p:cNvPr>
              <p:cNvCxnSpPr>
                <a:cxnSpLocks/>
              </p:cNvCxnSpPr>
              <p:nvPr>
                <p:custDataLst>
                  <p:tags r:id="rId50"/>
                </p:custDataLst>
              </p:nvPr>
            </p:nvCxnSpPr>
            <p:spPr bwMode="auto">
              <a:xfrm flipH="1" flipV="1">
                <a:off x="8892000" y="3204000"/>
                <a:ext cx="0" cy="147600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</p:grpSp>
        <p:sp>
          <p:nvSpPr>
            <p:cNvPr id="248" name="Text Box 61">
              <a:extLst>
                <a:ext uri="{FF2B5EF4-FFF2-40B4-BE49-F238E27FC236}">
                  <a16:creationId xmlns:a16="http://schemas.microsoft.com/office/drawing/2014/main" id="{B20CDDE6-31A2-435C-A191-7F970B1DB54F}"/>
                </a:ext>
              </a:extLst>
            </p:cNvPr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216000" y="1764000"/>
              <a:ext cx="2916000" cy="147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t" anchorCtr="0"/>
            <a:lstStyle/>
            <a:p>
              <a:r>
                <a:rPr lang="en-US" altLang="zh-CN" sz="1600" b="1" dirty="0">
                  <a:solidFill>
                    <a:srgbClr val="FF0000"/>
                  </a:solidFill>
                  <a:latin typeface="+mn-ea"/>
                </a:rPr>
                <a:t>MEM</a:t>
              </a:r>
              <a:r>
                <a:rPr lang="zh-CN" altLang="en-US" sz="1600" b="1" dirty="0">
                  <a:solidFill>
                    <a:srgbClr val="FF0000"/>
                  </a:solidFill>
                  <a:latin typeface="+mn-ea"/>
                </a:rPr>
                <a:t>组织：</a:t>
              </a:r>
              <a:r>
                <a:rPr lang="en-US" altLang="zh-CN" sz="1400" b="1" dirty="0">
                  <a:latin typeface="+mn-ea"/>
                </a:rPr>
                <a:t>(</a:t>
              </a:r>
              <a:r>
                <a:rPr lang="zh-CN" altLang="en-US" sz="1400" b="1" dirty="0">
                  <a:latin typeface="+mn-ea"/>
                </a:rPr>
                <a:t>实现</a:t>
              </a:r>
              <a:r>
                <a:rPr lang="zh-CN" altLang="en-US" sz="1400" b="1" u="sng" dirty="0">
                  <a:highlight>
                    <a:srgbClr val="CCFFFF"/>
                  </a:highlight>
                  <a:latin typeface="+mn-ea"/>
                </a:rPr>
                <a:t>存储</a:t>
              </a:r>
              <a:r>
                <a:rPr lang="en-US" altLang="zh-CN" sz="1400" b="1" u="sng" dirty="0">
                  <a:highlight>
                    <a:srgbClr val="CCFFFF"/>
                  </a:highlight>
                  <a:latin typeface="+mn-ea"/>
                </a:rPr>
                <a:t>+</a:t>
              </a:r>
              <a:r>
                <a:rPr lang="zh-CN" altLang="en-US" sz="1400" b="1" u="sng" dirty="0">
                  <a:highlight>
                    <a:srgbClr val="CCFFFF"/>
                  </a:highlight>
                  <a:latin typeface="+mn-ea"/>
                </a:rPr>
                <a:t>按</a:t>
              </a:r>
              <a:r>
                <a:rPr lang="en-US" altLang="zh-CN" sz="1400" b="1" u="sng" dirty="0">
                  <a:highlight>
                    <a:srgbClr val="CCFFFF"/>
                  </a:highlight>
                  <a:latin typeface="+mn-ea"/>
                </a:rPr>
                <a:t>VA</a:t>
              </a:r>
              <a:r>
                <a:rPr lang="zh-CN" altLang="en-US" sz="1400" b="1" u="sng" dirty="0">
                  <a:highlight>
                    <a:srgbClr val="CCFFFF"/>
                  </a:highlight>
                  <a:latin typeface="+mn-ea"/>
                </a:rPr>
                <a:t>访问</a:t>
              </a:r>
              <a:r>
                <a:rPr lang="en-US" altLang="zh-CN" sz="1400" b="1" dirty="0">
                  <a:latin typeface="+mn-ea"/>
                </a:rPr>
                <a:t>)</a:t>
              </a:r>
            </a:p>
            <a:p>
              <a:r>
                <a:rPr lang="en-US" altLang="zh-CN" sz="1600" b="1" dirty="0">
                  <a:latin typeface="+mn-ea"/>
                </a:rPr>
                <a:t> </a:t>
              </a:r>
              <a:r>
                <a:rPr lang="zh-CN" altLang="en-US" sz="1600" b="1" dirty="0">
                  <a:latin typeface="+mn-ea"/>
                  <a:sym typeface="+mn-ea"/>
                </a:rPr>
                <a:t>①</a:t>
              </a:r>
              <a:r>
                <a:rPr lang="zh-CN" altLang="en-US" sz="1600" b="1" dirty="0">
                  <a:latin typeface="+mn-ea"/>
                </a:rPr>
                <a:t>参数</a:t>
              </a:r>
              <a:r>
                <a:rPr lang="en-US" altLang="zh-CN" sz="1400" b="1" dirty="0">
                  <a:latin typeface="+mn-ea"/>
                </a:rPr>
                <a:t>(</a:t>
              </a:r>
              <a:r>
                <a:rPr lang="en-US" altLang="zh-CN" sz="1400" b="1" dirty="0" err="1">
                  <a:latin typeface="+mn-ea"/>
                </a:rPr>
                <a:t>w&amp;N</a:t>
              </a:r>
              <a:r>
                <a:rPr lang="en-US" altLang="zh-CN" sz="1400" b="1" dirty="0" err="1">
                  <a:cs typeface="Times New Roman" panose="02020603050405020304" pitchFamily="18" charset="0"/>
                </a:rPr>
                <a:t>~</a:t>
              </a:r>
              <a:r>
                <a:rPr lang="en-US" altLang="zh-CN" sz="1400" b="1" dirty="0" err="1">
                  <a:latin typeface="+mn-ea"/>
                </a:rPr>
                <a:t>ISA</a:t>
              </a:r>
              <a:r>
                <a:rPr lang="zh-CN" altLang="en-US" sz="1400" b="1" dirty="0">
                  <a:latin typeface="+mn-ea"/>
                </a:rPr>
                <a:t>、</a:t>
              </a:r>
              <a:r>
                <a:rPr lang="en-US" altLang="zh-CN" sz="1400" b="1" dirty="0">
                  <a:latin typeface="+mn-ea"/>
                </a:rPr>
                <a:t>n</a:t>
              </a:r>
              <a:r>
                <a:rPr lang="en-US" altLang="zh-CN" sz="1400" b="1" dirty="0">
                  <a:cs typeface="Times New Roman" panose="02020603050405020304" pitchFamily="18" charset="0"/>
                  <a:sym typeface="+mn-ea"/>
                </a:rPr>
                <a:t>~</a:t>
              </a:r>
              <a:r>
                <a:rPr lang="zh-CN" altLang="en-US" sz="1400" b="1" dirty="0">
                  <a:latin typeface="+mn-ea"/>
                  <a:sym typeface="+mn-ea"/>
                </a:rPr>
                <a:t>设计</a:t>
              </a:r>
              <a:r>
                <a:rPr lang="en-US" altLang="zh-CN" sz="1400" b="1" dirty="0">
                  <a:latin typeface="+mn-ea"/>
                </a:rPr>
                <a:t>)</a:t>
              </a:r>
            </a:p>
            <a:p>
              <a:r>
                <a:rPr lang="en-US" altLang="zh-CN" sz="1600" b="1" dirty="0">
                  <a:latin typeface="+mn-ea"/>
                </a:rPr>
                <a:t> </a:t>
              </a:r>
              <a:r>
                <a:rPr lang="zh-CN" altLang="en-US" sz="1600" b="1" dirty="0">
                  <a:latin typeface="+mn-ea"/>
                  <a:sym typeface="+mn-ea"/>
                </a:rPr>
                <a:t>②</a:t>
              </a:r>
              <a:r>
                <a:rPr lang="zh-CN" altLang="en-US" sz="1600" b="1" dirty="0">
                  <a:latin typeface="+mn-ea"/>
                </a:rPr>
                <a:t>结构</a:t>
              </a:r>
              <a:r>
                <a:rPr lang="en-US" altLang="zh-CN" sz="1400" b="1" dirty="0">
                  <a:latin typeface="+mn-ea"/>
                </a:rPr>
                <a:t>(</a:t>
              </a:r>
              <a:r>
                <a:rPr lang="zh-CN" altLang="en-US" sz="1400" b="1" dirty="0">
                  <a:latin typeface="+mn-ea"/>
                </a:rPr>
                <a:t>层次</a:t>
              </a:r>
              <a:r>
                <a:rPr lang="en-US" altLang="zh-CN" sz="1400" b="1" dirty="0">
                  <a:latin typeface="+mn-ea"/>
                </a:rPr>
                <a:t>,</a:t>
              </a:r>
              <a:r>
                <a:rPr lang="zh-CN" altLang="en-US" sz="1400" b="1" dirty="0">
                  <a:latin typeface="+mn-ea"/>
                </a:rPr>
                <a:t>地址变换</a:t>
              </a:r>
              <a:r>
                <a:rPr lang="en-US" altLang="zh-CN" sz="1400" b="1" dirty="0">
                  <a:latin typeface="+mn-ea"/>
                </a:rPr>
                <a:t>+</a:t>
              </a:r>
              <a:r>
                <a:rPr lang="zh-CN" altLang="en-US" sz="1400" b="1" dirty="0">
                  <a:latin typeface="+mn-ea"/>
                </a:rPr>
                <a:t>层间管理</a:t>
              </a:r>
              <a:r>
                <a:rPr lang="en-US" altLang="zh-CN" sz="1400" b="1" dirty="0">
                  <a:latin typeface="+mn-ea"/>
                </a:rPr>
                <a:t>)</a:t>
              </a:r>
              <a:endParaRPr lang="zh-CN" altLang="en-US" sz="1400" b="1" dirty="0">
                <a:latin typeface="+mn-ea"/>
              </a:endParaRPr>
            </a:p>
            <a:p>
              <a:r>
                <a:rPr lang="en-US" altLang="zh-CN" sz="1600" b="1" dirty="0">
                  <a:latin typeface="+mn-ea"/>
                  <a:sym typeface="+mn-ea"/>
                </a:rPr>
                <a:t> </a:t>
              </a:r>
              <a:r>
                <a:rPr lang="zh-CN" altLang="en-US" sz="1600" b="1" dirty="0">
                  <a:latin typeface="+mn-ea"/>
                  <a:sym typeface="+mn-ea"/>
                </a:rPr>
                <a:t>③主存</a:t>
              </a:r>
              <a:r>
                <a:rPr lang="en-US" altLang="zh-CN" sz="1400" b="1" dirty="0">
                  <a:latin typeface="+mn-ea"/>
                  <a:sym typeface="+mn-ea"/>
                </a:rPr>
                <a:t>(</a:t>
              </a:r>
              <a:r>
                <a:rPr lang="zh-CN" altLang="en-US" sz="1400" b="1" dirty="0">
                  <a:latin typeface="+mn-ea"/>
                  <a:sym typeface="+mn-ea"/>
                </a:rPr>
                <a:t>设计</a:t>
              </a:r>
              <a:r>
                <a:rPr lang="en-US" altLang="zh-CN" sz="1400" b="1" dirty="0">
                  <a:latin typeface="+mn-ea"/>
                  <a:sym typeface="+mn-ea"/>
                </a:rPr>
                <a:t>&amp;</a:t>
              </a:r>
              <a:r>
                <a:rPr lang="zh-CN" altLang="en-US" sz="1400" b="1" dirty="0">
                  <a:latin typeface="+mn-ea"/>
                  <a:sym typeface="+mn-ea"/>
                </a:rPr>
                <a:t>优化</a:t>
              </a:r>
              <a:r>
                <a:rPr lang="en-US" altLang="zh-CN" sz="1400" b="1" dirty="0">
                  <a:latin typeface="+mn-ea"/>
                  <a:sym typeface="+mn-ea"/>
                </a:rPr>
                <a:t>[</a:t>
              </a:r>
              <a:r>
                <a:rPr lang="en-US" altLang="zh-CN" sz="1400" b="1" dirty="0">
                  <a:cs typeface="Times New Roman" panose="02020603050405020304" pitchFamily="18" charset="0"/>
                  <a:sym typeface="+mn-ea"/>
                </a:rPr>
                <a:t>~</a:t>
              </a:r>
              <a:r>
                <a:rPr lang="en-US" altLang="zh-CN" sz="1400" b="1" dirty="0">
                  <a:latin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c]</a:t>
              </a:r>
              <a:r>
                <a:rPr lang="en-US" altLang="zh-CN" sz="1400" b="1" dirty="0">
                  <a:latin typeface="+mn-ea"/>
                  <a:sym typeface="+mn-ea"/>
                </a:rPr>
                <a:t>+</a:t>
              </a:r>
              <a:r>
                <a:rPr lang="zh-CN" altLang="en-US" sz="1400" b="1" dirty="0">
                  <a:latin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连接</a:t>
              </a:r>
              <a:r>
                <a:rPr lang="en-US" altLang="zh-CN" sz="1400" b="1" dirty="0">
                  <a:latin typeface="+mn-ea"/>
                  <a:sym typeface="+mn-ea"/>
                </a:rPr>
                <a:t>)</a:t>
              </a:r>
              <a:endParaRPr lang="zh-CN" altLang="en-US" sz="1400" b="1" dirty="0">
                <a:latin typeface="+mn-ea"/>
                <a:sym typeface="+mn-ea"/>
              </a:endParaRPr>
            </a:p>
            <a:p>
              <a:r>
                <a:rPr lang="en-US" altLang="zh-CN" sz="1600" b="1" dirty="0">
                  <a:latin typeface="+mn-ea"/>
                </a:rPr>
                <a:t> </a:t>
              </a:r>
              <a:r>
                <a:rPr lang="zh-CN" altLang="en-US" sz="1600" b="1" dirty="0">
                  <a:latin typeface="+mn-ea"/>
                  <a:sym typeface="+mn-ea"/>
                </a:rPr>
                <a:t>④</a:t>
              </a:r>
              <a:r>
                <a:rPr lang="en-US" altLang="zh-CN" sz="1600" b="1" dirty="0">
                  <a:latin typeface="+mn-ea"/>
                  <a:sym typeface="+mn-ea"/>
                </a:rPr>
                <a:t>Cache</a:t>
              </a:r>
              <a:r>
                <a:rPr lang="en-US" altLang="zh-CN" sz="1400" b="1" dirty="0">
                  <a:latin typeface="+mn-ea"/>
                  <a:sym typeface="+mn-ea"/>
                </a:rPr>
                <a:t>(</a:t>
              </a:r>
              <a:r>
                <a:rPr lang="zh-CN" altLang="en-US" sz="1400" b="1" dirty="0">
                  <a:latin typeface="+mn-ea"/>
                  <a:sym typeface="+mn-ea"/>
                </a:rPr>
                <a:t>块交换→</a:t>
              </a:r>
              <a:r>
                <a:rPr lang="en-US" altLang="zh-CN" sz="1400" b="1" dirty="0">
                  <a:latin typeface="+mn-ea"/>
                  <a:sym typeface="+mn-ea"/>
                </a:rPr>
                <a:t>…</a:t>
              </a:r>
              <a:r>
                <a:rPr lang="zh-CN" altLang="en-US" sz="1400" b="1" dirty="0">
                  <a:latin typeface="+mn-ea"/>
                  <a:sym typeface="+mn-ea"/>
                </a:rPr>
                <a:t>控制器</a:t>
              </a:r>
              <a:r>
                <a:rPr lang="en-US" altLang="zh-CN" sz="1400" b="1" dirty="0">
                  <a:latin typeface="+mn-ea"/>
                  <a:sym typeface="+mn-ea"/>
                </a:rPr>
                <a:t>)</a:t>
              </a:r>
              <a:endParaRPr lang="zh-CN" altLang="en-US" sz="1400" b="1" dirty="0">
                <a:latin typeface="+mn-ea"/>
                <a:sym typeface="+mn-ea"/>
              </a:endParaRPr>
            </a:p>
            <a:p>
              <a:r>
                <a:rPr lang="zh-CN" altLang="en-US" sz="1600" b="1" dirty="0">
                  <a:latin typeface="+mn-ea"/>
                  <a:sym typeface="+mn-ea"/>
                </a:rPr>
                <a:t> </a:t>
              </a:r>
              <a:r>
                <a:rPr lang="en-US" altLang="zh-CN" sz="1600" b="1" dirty="0">
                  <a:latin typeface="+mn-ea"/>
                  <a:sym typeface="+mn-ea"/>
                </a:rPr>
                <a:t>⑤</a:t>
              </a:r>
              <a:r>
                <a:rPr lang="zh-CN" altLang="en-US" sz="1600" b="1" dirty="0">
                  <a:latin typeface="+mn-ea"/>
                  <a:sym typeface="+mn-ea"/>
                </a:rPr>
                <a:t>虚存</a:t>
              </a:r>
              <a:r>
                <a:rPr lang="en-US" altLang="zh-CN" sz="1400" b="1" dirty="0">
                  <a:latin typeface="+mn-ea"/>
                  <a:sym typeface="+mn-ea"/>
                </a:rPr>
                <a:t>(</a:t>
              </a:r>
              <a:r>
                <a:rPr lang="zh-CN" altLang="en-US" sz="1400" b="1" dirty="0">
                  <a:latin typeface="+mn-ea"/>
                  <a:sym typeface="+mn-ea"/>
                </a:rPr>
                <a:t>页交换→</a:t>
              </a:r>
              <a:r>
                <a:rPr lang="en-US" altLang="zh-CN" sz="1400" b="1" dirty="0">
                  <a:latin typeface="+mn-ea"/>
                  <a:sym typeface="+mn-ea"/>
                </a:rPr>
                <a:t>…</a:t>
              </a:r>
              <a:r>
                <a:rPr lang="en-US" altLang="zh-CN" sz="1400" b="1" dirty="0">
                  <a:latin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MMU+</a:t>
              </a:r>
              <a:r>
                <a:rPr lang="zh-CN" altLang="en-US" sz="1400" b="1" dirty="0">
                  <a:latin typeface="宋体" panose="02010600030101010101" pitchFamily="2" charset="-122"/>
                  <a:cs typeface="Times New Roman" panose="02020603050405020304" pitchFamily="18" charset="0"/>
                  <a:sym typeface="+mn-ea"/>
                </a:rPr>
                <a:t>软件</a:t>
              </a:r>
              <a:r>
                <a:rPr lang="en-US" altLang="zh-CN" sz="1400" b="1" dirty="0">
                  <a:latin typeface="+mn-ea"/>
                  <a:sym typeface="+mn-ea"/>
                </a:rPr>
                <a:t>)</a:t>
              </a:r>
            </a:p>
          </p:txBody>
        </p:sp>
        <p:cxnSp>
          <p:nvCxnSpPr>
            <p:cNvPr id="249" name="直接连接符 248">
              <a:extLst>
                <a:ext uri="{FF2B5EF4-FFF2-40B4-BE49-F238E27FC236}">
                  <a16:creationId xmlns:a16="http://schemas.microsoft.com/office/drawing/2014/main" id="{6274DF7E-9E90-4405-9151-F5C2213035EB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720000" y="3204000"/>
              <a:ext cx="2160000" cy="1620000"/>
            </a:xfrm>
            <a:prstGeom prst="line">
              <a:avLst/>
            </a:prstGeom>
            <a:noFill/>
            <a:ln w="9525" cap="flat" cmpd="sng" algn="ctr">
              <a:solidFill>
                <a:srgbClr val="CC6600"/>
              </a:solidFill>
              <a:prstDash val="sysDash"/>
              <a:round/>
              <a:headEnd type="none" w="med" len="med"/>
              <a:tailEnd type="triangle" w="med" len="med"/>
            </a:ln>
          </p:spPr>
        </p:cxnSp>
        <p:sp>
          <p:nvSpPr>
            <p:cNvPr id="250" name="Text Box 291">
              <a:extLst>
                <a:ext uri="{FF2B5EF4-FFF2-40B4-BE49-F238E27FC236}">
                  <a16:creationId xmlns:a16="http://schemas.microsoft.com/office/drawing/2014/main" id="{253DF474-6326-4650-B120-5F09859C5B21}"/>
                </a:ext>
              </a:extLst>
            </p:cNvPr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7199795" y="3420145"/>
              <a:ext cx="467995" cy="252095"/>
            </a:xfrm>
            <a:prstGeom prst="rect">
              <a:avLst/>
            </a:prstGeom>
            <a:solidFill>
              <a:srgbClr val="FFCC99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200" b="1" dirty="0">
                  <a:latin typeface="宋体" panose="02010600030101010101" pitchFamily="2" charset="-122"/>
                </a:rPr>
                <a:t>Cache</a:t>
              </a:r>
            </a:p>
          </p:txBody>
        </p:sp>
        <p:sp>
          <p:nvSpPr>
            <p:cNvPr id="251" name="Text Box 276">
              <a:extLst>
                <a:ext uri="{FF2B5EF4-FFF2-40B4-BE49-F238E27FC236}">
                  <a16:creationId xmlns:a16="http://schemas.microsoft.com/office/drawing/2014/main" id="{4D96A9F6-8A10-41DC-96FC-C98EFCBBF343}"/>
                </a:ext>
              </a:extLst>
            </p:cNvPr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6731800" y="3276000"/>
              <a:ext cx="360045" cy="179705"/>
            </a:xfrm>
            <a:prstGeom prst="rect">
              <a:avLst/>
            </a:prstGeom>
            <a:solidFill>
              <a:srgbClr val="CC99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200" b="1" dirty="0">
                  <a:latin typeface="宋体" panose="02010600030101010101" pitchFamily="2" charset="-122"/>
                </a:rPr>
                <a:t>MMU</a:t>
              </a:r>
            </a:p>
          </p:txBody>
        </p:sp>
        <p:sp>
          <p:nvSpPr>
            <p:cNvPr id="252" name="Text Box 291">
              <a:extLst>
                <a:ext uri="{FF2B5EF4-FFF2-40B4-BE49-F238E27FC236}">
                  <a16:creationId xmlns:a16="http://schemas.microsoft.com/office/drawing/2014/main" id="{AE61A2D5-CE13-4734-81C9-BD74C66D98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5800" y="2880000"/>
              <a:ext cx="576000" cy="360045"/>
            </a:xfrm>
            <a:prstGeom prst="rect">
              <a:avLst/>
            </a:prstGeom>
            <a:solidFill>
              <a:srgbClr val="FFFFFF"/>
            </a:solidFill>
            <a:ln w="1270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spcBef>
                  <a:spcPts val="300"/>
                </a:spcBef>
              </a:pPr>
              <a:r>
                <a:rPr lang="zh-CN" altLang="en-US" sz="1200" b="1" dirty="0">
                  <a:latin typeface="宋体" panose="02010600030101010101" pitchFamily="2" charset="-122"/>
                </a:rPr>
                <a:t>同</a:t>
              </a:r>
              <a:r>
                <a:rPr lang="en-US" altLang="zh-CN" sz="1200" b="1" dirty="0">
                  <a:latin typeface="宋体" panose="02010600030101010101" pitchFamily="2" charset="-122"/>
                </a:rPr>
                <a:t>/</a:t>
              </a:r>
              <a:r>
                <a:rPr lang="zh-CN" altLang="en-US" sz="1200" b="1" dirty="0">
                  <a:latin typeface="宋体" panose="02010600030101010101" pitchFamily="2" charset="-122"/>
                </a:rPr>
                <a:t>异步</a:t>
              </a:r>
              <a:endParaRPr lang="en-US" altLang="zh-CN" sz="12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200" b="1" dirty="0">
                  <a:latin typeface="宋体" panose="02010600030101010101" pitchFamily="2" charset="-122"/>
                </a:rPr>
                <a:t>单</a:t>
              </a:r>
              <a:r>
                <a:rPr lang="en-US" altLang="zh-CN" sz="1200" b="1" dirty="0">
                  <a:latin typeface="宋体" panose="02010600030101010101" pitchFamily="2" charset="-122"/>
                </a:rPr>
                <a:t>/</a:t>
              </a:r>
              <a:r>
                <a:rPr lang="zh-CN" altLang="en-US" sz="1200" b="1" dirty="0">
                  <a:latin typeface="宋体" panose="02010600030101010101" pitchFamily="2" charset="-122"/>
                </a:rPr>
                <a:t>多体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429" name="Text Box 61">
            <a:extLst>
              <a:ext uri="{FF2B5EF4-FFF2-40B4-BE49-F238E27FC236}">
                <a16:creationId xmlns:a16="http://schemas.microsoft.com/office/drawing/2014/main" id="{26A31AC7-5B44-4CD1-BAC8-281AEC5517A4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512" y="288000"/>
            <a:ext cx="8352928" cy="426336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wrap="square" lIns="90000" tIns="46800" rIns="90000" bIns="46800" anchor="t" anchorCtr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+mn-ea"/>
              </a:rPr>
              <a:t>  </a:t>
            </a:r>
            <a:r>
              <a:rPr lang="en-US" altLang="zh-CN" sz="2000" b="1" dirty="0">
                <a:solidFill>
                  <a:srgbClr val="FF3399"/>
                </a:solidFill>
                <a:highlight>
                  <a:srgbClr val="FFFF00"/>
                </a:highlight>
                <a:latin typeface="+mn-ea"/>
              </a:rPr>
              <a:t>※</a:t>
            </a:r>
            <a:r>
              <a:rPr lang="zh-CN" altLang="en-US" sz="2000" b="1" dirty="0">
                <a:solidFill>
                  <a:srgbClr val="FF3399"/>
                </a:solidFill>
                <a:highlight>
                  <a:srgbClr val="FFFF00"/>
                </a:highlight>
                <a:latin typeface="+mn-ea"/>
              </a:rPr>
              <a:t>计算机组成总图</a:t>
            </a:r>
            <a:r>
              <a:rPr lang="en-US" altLang="zh-CN" sz="2000" b="1" dirty="0">
                <a:solidFill>
                  <a:srgbClr val="FF3399"/>
                </a:solidFill>
                <a:highlight>
                  <a:srgbClr val="FFFF00"/>
                </a:highlight>
                <a:latin typeface="+mn-ea"/>
              </a:rPr>
              <a:t>-3</a:t>
            </a:r>
            <a:r>
              <a:rPr lang="zh-CN" altLang="en-US" sz="2000" b="1" dirty="0">
                <a:solidFill>
                  <a:srgbClr val="FF3399"/>
                </a:solidFill>
                <a:latin typeface="+mn-ea"/>
              </a:rPr>
              <a:t>：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＝硬件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sym typeface="+mn-ea"/>
              </a:rPr>
              <a:t>＋软件＋工作方式，</a:t>
            </a:r>
            <a:r>
              <a:rPr lang="zh-CN" altLang="en-US" sz="2000" b="1" u="sng" dirty="0">
                <a:solidFill>
                  <a:srgbClr val="990099"/>
                </a:solidFill>
                <a:latin typeface="+mn-ea"/>
                <a:sym typeface="+mn-ea"/>
              </a:rPr>
              <a:t>基于</a:t>
            </a:r>
            <a:r>
              <a:rPr lang="en-US" altLang="zh-CN" sz="2000" b="1" u="sng" dirty="0">
                <a:solidFill>
                  <a:srgbClr val="990099"/>
                </a:solidFill>
                <a:latin typeface="+mn-ea"/>
                <a:sym typeface="+mn-ea"/>
              </a:rPr>
              <a:t>ISA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sym typeface="+mn-ea"/>
              </a:rPr>
              <a:t>组织</a:t>
            </a:r>
          </a:p>
        </p:txBody>
      </p:sp>
      <p:grpSp>
        <p:nvGrpSpPr>
          <p:cNvPr id="430" name="组合 429">
            <a:extLst>
              <a:ext uri="{FF2B5EF4-FFF2-40B4-BE49-F238E27FC236}">
                <a16:creationId xmlns:a16="http://schemas.microsoft.com/office/drawing/2014/main" id="{60166A42-1FA6-49BF-922A-6FAD5831869E}"/>
              </a:ext>
            </a:extLst>
          </p:cNvPr>
          <p:cNvGrpSpPr/>
          <p:nvPr/>
        </p:nvGrpSpPr>
        <p:grpSpPr>
          <a:xfrm>
            <a:off x="5760000" y="4212000"/>
            <a:ext cx="2123740" cy="935990"/>
            <a:chOff x="6012290" y="4212000"/>
            <a:chExt cx="2123740" cy="935990"/>
          </a:xfrm>
        </p:grpSpPr>
        <p:sp>
          <p:nvSpPr>
            <p:cNvPr id="431" name="Text Box 61">
              <a:extLst>
                <a:ext uri="{FF2B5EF4-FFF2-40B4-BE49-F238E27FC236}">
                  <a16:creationId xmlns:a16="http://schemas.microsoft.com/office/drawing/2014/main" id="{21E23F5F-3626-4A13-B97F-1723C0E41D94}"/>
                </a:ext>
              </a:extLst>
            </p:cNvPr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6660290" y="4932090"/>
              <a:ext cx="147574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>
                <a:lnSpc>
                  <a:spcPct val="90000"/>
                </a:lnSpc>
              </a:pPr>
              <a:r>
                <a:rPr lang="zh-CN" altLang="en-US" sz="1100" b="1" dirty="0">
                  <a:latin typeface="+mn-ea"/>
                </a:rPr>
                <a:t>①无 ②</a:t>
              </a:r>
              <a:r>
                <a:rPr lang="en-US" altLang="zh-CN" sz="1100" b="1" dirty="0">
                  <a:latin typeface="+mn-ea"/>
                </a:rPr>
                <a:t>Req/</a:t>
              </a:r>
              <a:r>
                <a:rPr lang="en-US" altLang="zh-CN" sz="1200" b="1" dirty="0">
                  <a:latin typeface="+mn-ea"/>
                </a:rPr>
                <a:t>Ack</a:t>
              </a:r>
              <a:r>
                <a:rPr lang="en-US" altLang="zh-CN" sz="1100" b="1" dirty="0">
                  <a:latin typeface="+mn-ea"/>
                </a:rPr>
                <a:t> </a:t>
              </a:r>
              <a:r>
                <a:rPr lang="zh-CN" altLang="en-US" sz="1100" b="1" dirty="0">
                  <a:latin typeface="+mn-ea"/>
                </a:rPr>
                <a:t>③</a:t>
              </a:r>
              <a:r>
                <a:rPr lang="en-US" altLang="zh-CN" sz="1100" b="1" dirty="0">
                  <a:latin typeface="+mn-ea"/>
                </a:rPr>
                <a:t>CLK</a:t>
              </a:r>
            </a:p>
          </p:txBody>
        </p:sp>
        <p:sp>
          <p:nvSpPr>
            <p:cNvPr id="432" name="Text Box 61">
              <a:extLst>
                <a:ext uri="{FF2B5EF4-FFF2-40B4-BE49-F238E27FC236}">
                  <a16:creationId xmlns:a16="http://schemas.microsoft.com/office/drawing/2014/main" id="{96BD1ED9-EB48-4E50-AA58-FF81269E659F}"/>
                </a:ext>
              </a:extLst>
            </p:cNvPr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6012290" y="4968000"/>
              <a:ext cx="360000" cy="14414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80000"/>
                </a:lnSpc>
              </a:pPr>
              <a:r>
                <a:rPr lang="en-US" altLang="zh-CN" sz="1200" b="1" dirty="0">
                  <a:latin typeface="+mn-ea"/>
                  <a:ea typeface="+mn-ea"/>
                  <a:cs typeface="Times New Roman" panose="02020603050405020304" pitchFamily="18" charset="0"/>
                </a:rPr>
                <a:t>1/</a:t>
              </a:r>
              <a:r>
                <a:rPr lang="zh-CN" altLang="en-US" sz="1200" b="1" dirty="0">
                  <a:latin typeface="+mn-ea"/>
                  <a:ea typeface="+mn-ea"/>
                  <a:cs typeface="Times New Roman" panose="02020603050405020304" pitchFamily="18" charset="0"/>
                </a:rPr>
                <a:t>多</a:t>
              </a:r>
              <a:endParaRPr lang="en-US" altLang="zh-CN" sz="12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433" name="Text Box 18">
              <a:extLst>
                <a:ext uri="{FF2B5EF4-FFF2-40B4-BE49-F238E27FC236}">
                  <a16:creationId xmlns:a16="http://schemas.microsoft.com/office/drawing/2014/main" id="{260A55C1-1C61-418D-96E5-64DCD440D7EA}"/>
                </a:ext>
              </a:extLst>
            </p:cNvPr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6228290" y="4212000"/>
              <a:ext cx="683895" cy="396240"/>
            </a:xfrm>
            <a:prstGeom prst="rect">
              <a:avLst/>
            </a:prstGeom>
            <a:solidFill>
              <a:srgbClr val="FFCC99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+mn-ea"/>
                  <a:ea typeface="+mn-ea"/>
                </a:rPr>
                <a:t>I/O</a:t>
              </a:r>
              <a:r>
                <a:rPr lang="zh-CN" altLang="en-US" sz="1400" b="1" dirty="0">
                  <a:latin typeface="+mn-ea"/>
                  <a:ea typeface="+mn-ea"/>
                </a:rPr>
                <a:t>端口</a:t>
              </a:r>
              <a:endParaRPr lang="en-US" altLang="zh-CN" sz="1400" b="1" dirty="0">
                <a:latin typeface="+mn-ea"/>
                <a:ea typeface="+mn-ea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200" b="1" dirty="0">
                  <a:latin typeface="+mn-ea"/>
                  <a:ea typeface="+mn-ea"/>
                </a:rPr>
                <a:t>(</a:t>
              </a:r>
              <a:r>
                <a:rPr lang="en-US" altLang="zh-CN" sz="1200" b="1" dirty="0">
                  <a:latin typeface="+mn-ea"/>
                  <a:ea typeface="+mn-ea"/>
                  <a:cs typeface="Times New Roman" panose="02020603050405020304" pitchFamily="18" charset="0"/>
                </a:rPr>
                <a:t>p</a:t>
              </a:r>
              <a:r>
                <a:rPr lang="zh-CN" altLang="en-US" sz="1200" b="1" dirty="0">
                  <a:latin typeface="+mn-ea"/>
                  <a:ea typeface="+mn-ea"/>
                </a:rPr>
                <a:t>个</a:t>
              </a:r>
              <a:r>
                <a:rPr lang="en-US" altLang="zh-CN" sz="1200" b="1" dirty="0">
                  <a:latin typeface="+mn-ea"/>
                  <a:ea typeface="+mn-ea"/>
                </a:rPr>
                <a:t>)</a:t>
              </a:r>
              <a:endParaRPr lang="zh-CN" altLang="en-US" sz="1600" b="1" dirty="0">
                <a:latin typeface="+mn-ea"/>
                <a:ea typeface="+mn-ea"/>
              </a:endParaRPr>
            </a:p>
          </p:txBody>
        </p:sp>
      </p:grpSp>
      <p:sp>
        <p:nvSpPr>
          <p:cNvPr id="434" name="Text Box 61">
            <a:extLst>
              <a:ext uri="{FF2B5EF4-FFF2-40B4-BE49-F238E27FC236}">
                <a16:creationId xmlns:a16="http://schemas.microsoft.com/office/drawing/2014/main" id="{AFC472C6-C872-4A08-9782-02C255FD0537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464000" y="5436000"/>
            <a:ext cx="4680518" cy="1008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0" tIns="0" rIns="0" bIns="0" anchor="t" anchorCtr="0"/>
          <a:lstStyle/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I/O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系统组织：</a:t>
            </a:r>
            <a:r>
              <a:rPr lang="en-US" altLang="zh-CN" sz="1400" b="1" dirty="0">
                <a:latin typeface="+mn-ea"/>
              </a:rPr>
              <a:t>(</a:t>
            </a:r>
            <a:r>
              <a:rPr lang="zh-CN" altLang="en-US" sz="1400" b="1" dirty="0">
                <a:latin typeface="+mn-ea"/>
              </a:rPr>
              <a:t>实现</a:t>
            </a:r>
            <a:r>
              <a:rPr lang="zh-CN" altLang="en-US" sz="1400" b="1" dirty="0">
                <a:highlight>
                  <a:srgbClr val="CCFFFF"/>
                </a:highlight>
                <a:latin typeface="+mn-ea"/>
              </a:rPr>
              <a:t>主机</a:t>
            </a:r>
            <a:r>
              <a:rPr lang="en-US" altLang="zh-CN" sz="1400" b="1" dirty="0">
                <a:highlight>
                  <a:srgbClr val="CCFFFF"/>
                </a:highlight>
                <a:latin typeface="+mn-ea"/>
              </a:rPr>
              <a:t>-</a:t>
            </a:r>
            <a:r>
              <a:rPr lang="zh-CN" altLang="en-US" sz="1400" b="1" dirty="0">
                <a:highlight>
                  <a:srgbClr val="CCFFFF"/>
                </a:highlight>
                <a:latin typeface="+mn-ea"/>
              </a:rPr>
              <a:t>外设的数据交换</a:t>
            </a:r>
            <a:r>
              <a:rPr lang="en-US" altLang="zh-CN" sz="14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solidFill>
                  <a:srgbClr val="990099"/>
                </a:solidFill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①</a:t>
            </a:r>
            <a:r>
              <a:rPr lang="zh-CN" sz="1600" b="1" dirty="0">
                <a:latin typeface="+mn-ea"/>
              </a:rPr>
              <a:t>主机</a:t>
            </a:r>
            <a:r>
              <a:rPr lang="en-US" altLang="zh-CN" sz="1600" b="1" dirty="0">
                <a:latin typeface="+mn-ea"/>
              </a:rPr>
              <a:t>-</a:t>
            </a:r>
            <a:r>
              <a:rPr lang="zh-CN" sz="1600" b="1" dirty="0">
                <a:latin typeface="+mn-ea"/>
              </a:rPr>
              <a:t>外设的联系</a:t>
            </a:r>
            <a:r>
              <a:rPr lang="en-US" altLang="zh-CN" sz="1400" b="1" dirty="0">
                <a:latin typeface="+mn-ea"/>
              </a:rPr>
              <a:t>(</a:t>
            </a:r>
            <a:r>
              <a:rPr lang="zh-CN" altLang="en-US" sz="1400" b="1" dirty="0">
                <a:latin typeface="+mn-ea"/>
              </a:rPr>
              <a:t>连接</a:t>
            </a:r>
            <a:r>
              <a:rPr lang="en-US" altLang="zh-CN" sz="1400" b="1" dirty="0">
                <a:latin typeface="+mn-ea"/>
              </a:rPr>
              <a:t>[</a:t>
            </a:r>
            <a:r>
              <a:rPr lang="zh-CN" altLang="en-US" sz="1400" b="1" dirty="0">
                <a:latin typeface="+mn-ea"/>
              </a:rPr>
              <a:t>总线</a:t>
            </a:r>
            <a:r>
              <a:rPr lang="en-US" altLang="zh-CN" sz="1400" b="1" dirty="0">
                <a:latin typeface="+mn-ea"/>
              </a:rPr>
              <a:t>]/</a:t>
            </a:r>
            <a:r>
              <a:rPr lang="zh-CN" altLang="en-US" sz="1400" b="1" dirty="0">
                <a:latin typeface="+mn-ea"/>
              </a:rPr>
              <a:t>编址</a:t>
            </a:r>
            <a:r>
              <a:rPr lang="en-US" altLang="zh-CN" sz="1400" b="1" dirty="0">
                <a:latin typeface="+mn-ea"/>
              </a:rPr>
              <a:t>[</a:t>
            </a:r>
            <a:r>
              <a:rPr lang="en-US" altLang="zh-CN" sz="1400" b="1" dirty="0">
                <a:latin typeface="+mn-lt"/>
              </a:rPr>
              <a:t>~</a:t>
            </a:r>
            <a:r>
              <a:rPr lang="en-US" altLang="zh-CN" sz="1400" b="1" dirty="0">
                <a:latin typeface="+mn-ea"/>
              </a:rPr>
              <a:t>x]/</a:t>
            </a:r>
            <a:r>
              <a:rPr lang="zh-CN" altLang="en-US" sz="1400" b="1" dirty="0">
                <a:latin typeface="+mn-ea"/>
              </a:rPr>
              <a:t>响应</a:t>
            </a:r>
            <a:r>
              <a:rPr lang="en-US" altLang="zh-CN" sz="1400" b="1" dirty="0">
                <a:latin typeface="+mn-ea"/>
              </a:rPr>
              <a:t>/</a:t>
            </a:r>
            <a:r>
              <a:rPr lang="zh-CN" altLang="en-US" sz="1400" b="1" dirty="0">
                <a:latin typeface="+mn-ea"/>
              </a:rPr>
              <a:t>联络</a:t>
            </a:r>
            <a:r>
              <a:rPr lang="en-US" altLang="zh-CN" sz="1400" b="1" dirty="0">
                <a:latin typeface="+mn-ea"/>
              </a:rPr>
              <a:t>)</a:t>
            </a:r>
          </a:p>
          <a:p>
            <a:r>
              <a:rPr lang="zh-CN" altLang="en-US" sz="1600" b="1" dirty="0">
                <a:latin typeface="+mn-ea"/>
              </a:rPr>
              <a:t> ②</a:t>
            </a:r>
            <a:r>
              <a:rPr lang="en-US" altLang="zh-CN" sz="1600" b="1" dirty="0">
                <a:latin typeface="+mn-ea"/>
              </a:rPr>
              <a:t>I/O</a:t>
            </a:r>
            <a:r>
              <a:rPr lang="zh-CN" altLang="en-US" sz="1600" b="1" dirty="0">
                <a:latin typeface="+mn-ea"/>
              </a:rPr>
              <a:t>接口组成</a:t>
            </a:r>
            <a:r>
              <a:rPr lang="en-US" altLang="zh-CN" sz="1400" b="1" dirty="0">
                <a:latin typeface="+mn-ea"/>
              </a:rPr>
              <a:t>(</a:t>
            </a:r>
            <a:r>
              <a:rPr lang="zh-CN" altLang="en-US" sz="1400" b="1" dirty="0">
                <a:latin typeface="+mn-ea"/>
              </a:rPr>
              <a:t>中转，端口</a:t>
            </a:r>
            <a:r>
              <a:rPr lang="en-US" altLang="zh-CN" sz="1400" b="1" dirty="0">
                <a:latin typeface="+mn-ea"/>
              </a:rPr>
              <a:t>+</a:t>
            </a:r>
            <a:r>
              <a:rPr lang="zh-CN" altLang="en-US" sz="1400" b="1" dirty="0">
                <a:latin typeface="+mn-ea"/>
              </a:rPr>
              <a:t>总线侧</a:t>
            </a:r>
            <a:r>
              <a:rPr lang="en-US" altLang="zh-CN" sz="1400" b="1" dirty="0">
                <a:latin typeface="+mn-ea"/>
              </a:rPr>
              <a:t>+</a:t>
            </a:r>
            <a:r>
              <a:rPr lang="zh-CN" altLang="en-US" sz="1400" b="1" dirty="0">
                <a:latin typeface="+mn-ea"/>
              </a:rPr>
              <a:t>通信侧</a:t>
            </a:r>
            <a:r>
              <a:rPr lang="en-US" altLang="zh-CN" sz="1400" b="1" dirty="0">
                <a:latin typeface="+mn-ea"/>
              </a:rPr>
              <a:t>)</a:t>
            </a:r>
            <a:endParaRPr lang="zh-CN" altLang="en-US" sz="14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③I/O</a:t>
            </a:r>
            <a:r>
              <a:rPr lang="zh-CN" altLang="en-US" sz="1600" b="1" dirty="0">
                <a:latin typeface="+mn-ea"/>
              </a:rPr>
              <a:t>方式实现</a:t>
            </a:r>
            <a:r>
              <a:rPr lang="en-US" altLang="zh-CN" sz="1400" b="1" dirty="0">
                <a:latin typeface="+mn-ea"/>
              </a:rPr>
              <a:t>(4</a:t>
            </a:r>
            <a:r>
              <a:rPr lang="zh-CN" altLang="en-US" sz="1400" b="1" dirty="0">
                <a:latin typeface="+mn-ea"/>
              </a:rPr>
              <a:t>种，控制流程</a:t>
            </a:r>
            <a:r>
              <a:rPr lang="en-US" altLang="zh-CN" sz="1400" b="1" dirty="0">
                <a:latin typeface="+mn-ea"/>
              </a:rPr>
              <a:t>/</a:t>
            </a:r>
            <a:r>
              <a:rPr lang="zh-CN" altLang="en-US" sz="1400" b="1" dirty="0">
                <a:latin typeface="+mn-ea"/>
              </a:rPr>
              <a:t>接口</a:t>
            </a:r>
            <a:r>
              <a:rPr lang="zh-CN" altLang="zh-CN" sz="1400" b="1" dirty="0">
                <a:latin typeface="+mn-ea"/>
              </a:rPr>
              <a:t>组织</a:t>
            </a:r>
            <a:r>
              <a:rPr lang="en-US" altLang="zh-CN" sz="1400" b="1" dirty="0">
                <a:latin typeface="+mn-ea"/>
              </a:rPr>
              <a:t>/</a:t>
            </a:r>
            <a:r>
              <a:rPr lang="zh-CN" altLang="en-US" sz="1400" b="1" dirty="0">
                <a:latin typeface="+mn-ea"/>
              </a:rPr>
              <a:t>软件编程</a:t>
            </a:r>
            <a:r>
              <a:rPr lang="en-US" altLang="zh-CN" sz="1400" b="1" dirty="0">
                <a:latin typeface="+mn-ea"/>
              </a:rPr>
              <a:t>)</a:t>
            </a:r>
          </a:p>
        </p:txBody>
      </p:sp>
      <p:sp>
        <p:nvSpPr>
          <p:cNvPr id="435" name="Text Box 61">
            <a:extLst>
              <a:ext uri="{FF2B5EF4-FFF2-40B4-BE49-F238E27FC236}">
                <a16:creationId xmlns:a16="http://schemas.microsoft.com/office/drawing/2014/main" id="{AEB2834B-57EB-4630-931C-EDBD6F7CD81C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16000" y="3276000"/>
            <a:ext cx="2592000" cy="1008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0" tIns="0" rIns="0" bIns="0" anchor="t" anchorCtr="0"/>
          <a:lstStyle/>
          <a:p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总线互连：</a:t>
            </a:r>
            <a:r>
              <a:rPr lang="en-US" altLang="zh-CN" sz="1400" b="1" dirty="0">
                <a:latin typeface="+mn-ea"/>
              </a:rPr>
              <a:t>(</a:t>
            </a:r>
            <a:r>
              <a:rPr lang="zh-CN" altLang="en-US" sz="1400" b="1" dirty="0">
                <a:latin typeface="+mn-ea"/>
              </a:rPr>
              <a:t>实现</a:t>
            </a:r>
            <a:r>
              <a:rPr lang="zh-CN" altLang="en-US" sz="1400" b="1" dirty="0">
                <a:highlight>
                  <a:srgbClr val="CCFFFF"/>
                </a:highlight>
                <a:latin typeface="+mn-ea"/>
              </a:rPr>
              <a:t>部件互连</a:t>
            </a:r>
            <a:r>
              <a:rPr lang="en-US" altLang="zh-CN" sz="1400" b="1" dirty="0">
                <a:latin typeface="+mn-ea"/>
              </a:rPr>
              <a:t>)</a:t>
            </a:r>
            <a:endParaRPr lang="zh-CN" altLang="en-US" sz="14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①</a:t>
            </a:r>
            <a:r>
              <a:rPr lang="zh-CN" altLang="en-US" sz="1600" b="1" dirty="0">
                <a:latin typeface="+mn-ea"/>
                <a:sym typeface="+mn-ea"/>
              </a:rPr>
              <a:t>操作过程</a:t>
            </a:r>
            <a:r>
              <a:rPr lang="en-US" altLang="zh-CN" sz="1400" b="1" dirty="0">
                <a:latin typeface="+mn-ea"/>
                <a:sym typeface="+mn-ea"/>
              </a:rPr>
              <a:t>(</a:t>
            </a:r>
            <a:r>
              <a:rPr lang="zh-CN" altLang="en-US" sz="1400" b="1" dirty="0">
                <a:latin typeface="+mn-ea"/>
              </a:rPr>
              <a:t>仲裁</a:t>
            </a:r>
            <a:r>
              <a:rPr lang="en-US" altLang="zh-CN" sz="1400" b="1" dirty="0">
                <a:latin typeface="+mn-ea"/>
              </a:rPr>
              <a:t>+</a:t>
            </a:r>
            <a:r>
              <a:rPr lang="zh-CN" altLang="en-US" sz="1400" b="1" dirty="0">
                <a:latin typeface="+mn-ea"/>
              </a:rPr>
              <a:t>传输</a:t>
            </a:r>
            <a:r>
              <a:rPr lang="en-US" altLang="zh-CN" sz="1400" b="1" dirty="0">
                <a:latin typeface="+mn-ea"/>
              </a:rPr>
              <a:t>[3</a:t>
            </a:r>
            <a:r>
              <a:rPr lang="zh-CN" altLang="en-US" sz="1400" b="1" dirty="0">
                <a:latin typeface="+mn-ea"/>
              </a:rPr>
              <a:t>步</a:t>
            </a:r>
            <a:r>
              <a:rPr lang="en-US" altLang="zh-CN" sz="1400" b="1" dirty="0">
                <a:latin typeface="+mn-ea"/>
              </a:rPr>
              <a:t>])</a:t>
            </a:r>
          </a:p>
          <a:p>
            <a:r>
              <a:rPr lang="zh-CN" altLang="en-US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  <a:sym typeface="+mn-ea"/>
              </a:rPr>
              <a:t>②</a:t>
            </a:r>
            <a:r>
              <a:rPr lang="zh-CN" altLang="en-US" sz="1600" b="1" dirty="0">
                <a:latin typeface="+mn-ea"/>
              </a:rPr>
              <a:t>仲裁方法</a:t>
            </a:r>
            <a:r>
              <a:rPr lang="en-US" altLang="zh-CN" sz="1400" b="1" dirty="0">
                <a:latin typeface="+mn-ea"/>
              </a:rPr>
              <a:t>(</a:t>
            </a:r>
            <a:r>
              <a:rPr lang="zh-CN" altLang="en-US" sz="1400" b="1" dirty="0">
                <a:latin typeface="+mn-ea"/>
              </a:rPr>
              <a:t>集中式有</a:t>
            </a:r>
            <a:r>
              <a:rPr lang="en-US" altLang="zh-CN" sz="1400" b="1" dirty="0">
                <a:latin typeface="+mn-ea"/>
              </a:rPr>
              <a:t>3</a:t>
            </a:r>
            <a:r>
              <a:rPr lang="zh-CN" altLang="en-US" sz="1400" b="1" dirty="0">
                <a:latin typeface="+mn-ea"/>
              </a:rPr>
              <a:t>种</a:t>
            </a:r>
            <a:r>
              <a:rPr lang="en-US" altLang="zh-CN" sz="14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③传输</a:t>
            </a:r>
            <a:r>
              <a:rPr lang="en-US" altLang="zh-CN" sz="1600" b="1" dirty="0">
                <a:latin typeface="+mn-ea"/>
              </a:rPr>
              <a:t>&amp;</a:t>
            </a:r>
            <a:r>
              <a:rPr lang="zh-CN" altLang="en-US" sz="1600" b="1" dirty="0">
                <a:latin typeface="+mn-ea"/>
              </a:rPr>
              <a:t>定时</a:t>
            </a:r>
            <a:r>
              <a:rPr lang="en-US" altLang="zh-CN" sz="1400" b="1" dirty="0">
                <a:latin typeface="+mn-ea"/>
              </a:rPr>
              <a:t>(</a:t>
            </a:r>
            <a:r>
              <a:rPr lang="zh-CN" altLang="en-US" sz="1400" b="1" dirty="0">
                <a:latin typeface="+mn-ea"/>
              </a:rPr>
              <a:t>协议</a:t>
            </a:r>
            <a:r>
              <a:rPr lang="en-US" altLang="zh-CN" sz="1400" b="1" dirty="0">
                <a:latin typeface="+mn-ea"/>
              </a:rPr>
              <a:t>/</a:t>
            </a:r>
            <a:r>
              <a:rPr lang="zh-CN" altLang="en-US" sz="1400" b="1" dirty="0">
                <a:latin typeface="+mn-ea"/>
              </a:rPr>
              <a:t>半同步等</a:t>
            </a:r>
            <a:r>
              <a:rPr lang="en-US" altLang="zh-CN" sz="1400" b="1" dirty="0">
                <a:latin typeface="+mn-ea"/>
              </a:rPr>
              <a:t>)</a:t>
            </a:r>
            <a:endParaRPr lang="zh-CN" altLang="en-US" sz="1400" b="1" dirty="0">
              <a:latin typeface="+mn-ea"/>
            </a:endParaRPr>
          </a:p>
        </p:txBody>
      </p:sp>
      <p:grpSp>
        <p:nvGrpSpPr>
          <p:cNvPr id="436" name="组合 435">
            <a:extLst>
              <a:ext uri="{FF2B5EF4-FFF2-40B4-BE49-F238E27FC236}">
                <a16:creationId xmlns:a16="http://schemas.microsoft.com/office/drawing/2014/main" id="{005E4472-CA29-40ED-86EE-A5993F470CE9}"/>
              </a:ext>
            </a:extLst>
          </p:cNvPr>
          <p:cNvGrpSpPr/>
          <p:nvPr/>
        </p:nvGrpSpPr>
        <p:grpSpPr>
          <a:xfrm>
            <a:off x="4788000" y="4212000"/>
            <a:ext cx="1872000" cy="683895"/>
            <a:chOff x="5471850" y="4212000"/>
            <a:chExt cx="1872000" cy="683895"/>
          </a:xfrm>
        </p:grpSpPr>
        <p:sp>
          <p:nvSpPr>
            <p:cNvPr id="437" name="Text Box 18">
              <a:extLst>
                <a:ext uri="{FF2B5EF4-FFF2-40B4-BE49-F238E27FC236}">
                  <a16:creationId xmlns:a16="http://schemas.microsoft.com/office/drawing/2014/main" id="{6602202E-FE5E-433D-9464-5A9ACD17B892}"/>
                </a:ext>
              </a:extLst>
            </p:cNvPr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5471850" y="4680000"/>
              <a:ext cx="756000" cy="18000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+mn-ea"/>
                  <a:ea typeface="+mn-ea"/>
                </a:rPr>
                <a:t>设备</a:t>
              </a:r>
              <a:r>
                <a:rPr lang="zh-CN" altLang="en-US" sz="1400" b="1" dirty="0">
                  <a:latin typeface="+mn-ea"/>
                </a:rPr>
                <a:t>选择</a:t>
              </a:r>
              <a:endParaRPr lang="zh-CN" altLang="en-US" sz="1400" b="1" dirty="0">
                <a:latin typeface="+mn-ea"/>
                <a:ea typeface="+mn-ea"/>
              </a:endParaRPr>
            </a:p>
          </p:txBody>
        </p:sp>
        <p:sp>
          <p:nvSpPr>
            <p:cNvPr id="438" name="Text Box 18">
              <a:extLst>
                <a:ext uri="{FF2B5EF4-FFF2-40B4-BE49-F238E27FC236}">
                  <a16:creationId xmlns:a16="http://schemas.microsoft.com/office/drawing/2014/main" id="{061DD16E-21EF-4C0F-A529-B7F94A5F4728}"/>
                </a:ext>
              </a:extLst>
            </p:cNvPr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5723795" y="4212000"/>
              <a:ext cx="791845" cy="179705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+mn-ea"/>
                  <a:ea typeface="+mn-ea"/>
                </a:rPr>
                <a:t>控制逻辑</a:t>
              </a:r>
            </a:p>
          </p:txBody>
        </p:sp>
        <p:sp>
          <p:nvSpPr>
            <p:cNvPr id="439" name="Text Box 18">
              <a:extLst>
                <a:ext uri="{FF2B5EF4-FFF2-40B4-BE49-F238E27FC236}">
                  <a16:creationId xmlns:a16="http://schemas.microsoft.com/office/drawing/2014/main" id="{13C8F609-0656-4350-A9F7-5A3CE867F4C7}"/>
                </a:ext>
              </a:extLst>
            </p:cNvPr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6551850" y="4716190"/>
              <a:ext cx="792000" cy="179705"/>
            </a:xfrm>
            <a:prstGeom prst="rect">
              <a:avLst/>
            </a:prstGeom>
            <a:solidFill>
              <a:srgbClr val="CC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+mn-ea"/>
                  <a:ea typeface="+mn-ea"/>
                </a:rPr>
                <a:t>信号转换</a:t>
              </a:r>
            </a:p>
          </p:txBody>
        </p:sp>
        <p:cxnSp>
          <p:nvCxnSpPr>
            <p:cNvPr id="440" name="直接箭头连接符 439">
              <a:extLst>
                <a:ext uri="{FF2B5EF4-FFF2-40B4-BE49-F238E27FC236}">
                  <a16:creationId xmlns:a16="http://schemas.microsoft.com/office/drawing/2014/main" id="{63994133-AB8F-4D65-AAE6-639B7F600163}"/>
                </a:ext>
              </a:extLst>
            </p:cNvPr>
            <p:cNvCxnSpPr/>
            <p:nvPr>
              <p:custDataLst>
                <p:tags r:id="rId28"/>
              </p:custDataLst>
            </p:nvPr>
          </p:nvCxnSpPr>
          <p:spPr bwMode="auto">
            <a:xfrm>
              <a:off x="6839850" y="4608240"/>
              <a:ext cx="0" cy="10795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441" name="直接箭头连接符 440">
              <a:extLst>
                <a:ext uri="{FF2B5EF4-FFF2-40B4-BE49-F238E27FC236}">
                  <a16:creationId xmlns:a16="http://schemas.microsoft.com/office/drawing/2014/main" id="{58AC9CD9-6755-425A-9D5D-E0BDE95B19FB}"/>
                </a:ext>
              </a:extLst>
            </p:cNvPr>
            <p:cNvCxnSpPr/>
            <p:nvPr>
              <p:custDataLst>
                <p:tags r:id="rId29"/>
              </p:custDataLst>
            </p:nvPr>
          </p:nvCxnSpPr>
          <p:spPr bwMode="auto">
            <a:xfrm>
              <a:off x="6515850" y="4538390"/>
              <a:ext cx="144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442" name="Text Box 18">
              <a:extLst>
                <a:ext uri="{FF2B5EF4-FFF2-40B4-BE49-F238E27FC236}">
                  <a16:creationId xmlns:a16="http://schemas.microsoft.com/office/drawing/2014/main" id="{2A494A67-D0DE-41D7-8F26-841C50CD7031}"/>
                </a:ext>
              </a:extLst>
            </p:cNvPr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5722964" y="4427899"/>
              <a:ext cx="792000" cy="180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+mn-ea"/>
                  <a:ea typeface="+mn-ea"/>
                </a:rPr>
                <a:t>端口选择</a:t>
              </a:r>
            </a:p>
          </p:txBody>
        </p:sp>
        <p:cxnSp>
          <p:nvCxnSpPr>
            <p:cNvPr id="443" name="直接箭头连接符 442">
              <a:extLst>
                <a:ext uri="{FF2B5EF4-FFF2-40B4-BE49-F238E27FC236}">
                  <a16:creationId xmlns:a16="http://schemas.microsoft.com/office/drawing/2014/main" id="{5B5A8508-013D-494C-BC32-A32E71B328FA}"/>
                </a:ext>
              </a:extLst>
            </p:cNvPr>
            <p:cNvCxnSpPr/>
            <p:nvPr>
              <p:custDataLst>
                <p:tags r:id="rId31"/>
              </p:custDataLst>
            </p:nvPr>
          </p:nvCxnSpPr>
          <p:spPr bwMode="auto">
            <a:xfrm>
              <a:off x="6515640" y="4284390"/>
              <a:ext cx="144145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44" name="直接箭头连接符 443">
              <a:extLst>
                <a:ext uri="{FF2B5EF4-FFF2-40B4-BE49-F238E27FC236}">
                  <a16:creationId xmlns:a16="http://schemas.microsoft.com/office/drawing/2014/main" id="{4525E295-7CF9-4B60-B84D-A63959B350E1}"/>
                </a:ext>
              </a:extLst>
            </p:cNvPr>
            <p:cNvCxnSpPr/>
            <p:nvPr>
              <p:custDataLst>
                <p:tags r:id="rId32"/>
              </p:custDataLst>
            </p:nvPr>
          </p:nvCxnSpPr>
          <p:spPr bwMode="auto">
            <a:xfrm>
              <a:off x="5579850" y="4535850"/>
              <a:ext cx="144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</p:grpSp>
      <p:grpSp>
        <p:nvGrpSpPr>
          <p:cNvPr id="445" name="组合 444">
            <a:extLst>
              <a:ext uri="{FF2B5EF4-FFF2-40B4-BE49-F238E27FC236}">
                <a16:creationId xmlns:a16="http://schemas.microsoft.com/office/drawing/2014/main" id="{8D78D821-5315-47A2-A3C4-A103BDBD8E1C}"/>
              </a:ext>
            </a:extLst>
          </p:cNvPr>
          <p:cNvGrpSpPr/>
          <p:nvPr/>
        </p:nvGrpSpPr>
        <p:grpSpPr>
          <a:xfrm>
            <a:off x="7812000" y="3420000"/>
            <a:ext cx="936000" cy="1440000"/>
            <a:chOff x="7812000" y="3420000"/>
            <a:chExt cx="936000" cy="1440000"/>
          </a:xfrm>
        </p:grpSpPr>
        <p:grpSp>
          <p:nvGrpSpPr>
            <p:cNvPr id="446" name="组合 445">
              <a:extLst>
                <a:ext uri="{FF2B5EF4-FFF2-40B4-BE49-F238E27FC236}">
                  <a16:creationId xmlns:a16="http://schemas.microsoft.com/office/drawing/2014/main" id="{A82B798A-DF40-4868-8633-FE470CE2C408}"/>
                </a:ext>
              </a:extLst>
            </p:cNvPr>
            <p:cNvGrpSpPr/>
            <p:nvPr/>
          </p:nvGrpSpPr>
          <p:grpSpPr>
            <a:xfrm>
              <a:off x="7812000" y="4140000"/>
              <a:ext cx="576000" cy="396000"/>
              <a:chOff x="8352000" y="4140000"/>
              <a:chExt cx="576000" cy="396000"/>
            </a:xfrm>
          </p:grpSpPr>
          <p:sp>
            <p:nvSpPr>
              <p:cNvPr id="460" name="Text Box 61">
                <a:extLst>
                  <a:ext uri="{FF2B5EF4-FFF2-40B4-BE49-F238E27FC236}">
                    <a16:creationId xmlns:a16="http://schemas.microsoft.com/office/drawing/2014/main" id="{2A069005-7014-467F-9654-E5F86E1B0A29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8352000" y="4212000"/>
                <a:ext cx="180000" cy="2159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vert="eaVert" lIns="0" tIns="0" rIns="0" bIns="0" anchor="ctr" anchorCtr="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+mn-ea"/>
                    <a:cs typeface="Times New Roman" panose="02020603050405020304" pitchFamily="18" charset="0"/>
                  </a:rPr>
                  <a:t>…</a:t>
                </a:r>
              </a:p>
            </p:txBody>
          </p:sp>
          <p:sp>
            <p:nvSpPr>
              <p:cNvPr id="461" name="Text Box 20">
                <a:extLst>
                  <a:ext uri="{FF2B5EF4-FFF2-40B4-BE49-F238E27FC236}">
                    <a16:creationId xmlns:a16="http://schemas.microsoft.com/office/drawing/2014/main" id="{F9A79A97-DCBC-458B-8891-6ED4CD08A3EF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8532000" y="4140000"/>
                <a:ext cx="396000" cy="396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vert="horz"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>
                    <a:latin typeface="+mn-ea"/>
                    <a:ea typeface="+mn-ea"/>
                  </a:rPr>
                  <a:t>中断</a:t>
                </a:r>
                <a:r>
                  <a:rPr lang="en-US" altLang="zh-CN" sz="1400" b="1" dirty="0">
                    <a:latin typeface="+mn-ea"/>
                    <a:ea typeface="+mn-ea"/>
                  </a:rPr>
                  <a:t>Ctrl</a:t>
                </a:r>
                <a:endParaRPr lang="zh-CN" altLang="en-US" sz="1400" b="1" dirty="0">
                  <a:latin typeface="+mn-ea"/>
                  <a:ea typeface="+mn-ea"/>
                </a:endParaRPr>
              </a:p>
            </p:txBody>
          </p:sp>
          <p:cxnSp>
            <p:nvCxnSpPr>
              <p:cNvPr id="462" name="直接箭头连接符 461">
                <a:extLst>
                  <a:ext uri="{FF2B5EF4-FFF2-40B4-BE49-F238E27FC236}">
                    <a16:creationId xmlns:a16="http://schemas.microsoft.com/office/drawing/2014/main" id="{09D5278F-833B-4C29-A709-83B96D68A4B2}"/>
                  </a:ext>
                </a:extLst>
              </p:cNvPr>
              <p:cNvCxnSpPr/>
              <p:nvPr>
                <p:custDataLst>
                  <p:tags r:id="rId23"/>
                </p:custDataLst>
              </p:nvPr>
            </p:nvCxnSpPr>
            <p:spPr bwMode="auto">
              <a:xfrm>
                <a:off x="8388000" y="4212000"/>
                <a:ext cx="144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63" name="直接箭头连接符 462">
                <a:extLst>
                  <a:ext uri="{FF2B5EF4-FFF2-40B4-BE49-F238E27FC236}">
                    <a16:creationId xmlns:a16="http://schemas.microsoft.com/office/drawing/2014/main" id="{924D2D2C-B4D6-4B64-857A-83B5F69BCD93}"/>
                  </a:ext>
                </a:extLst>
              </p:cNvPr>
              <p:cNvCxnSpPr/>
              <p:nvPr>
                <p:custDataLst>
                  <p:tags r:id="rId24"/>
                </p:custDataLst>
              </p:nvPr>
            </p:nvCxnSpPr>
            <p:spPr bwMode="auto">
              <a:xfrm>
                <a:off x="8388000" y="4428000"/>
                <a:ext cx="144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</p:grpSp>
        <p:cxnSp>
          <p:nvCxnSpPr>
            <p:cNvPr id="447" name="直接箭头连接符 446">
              <a:extLst>
                <a:ext uri="{FF2B5EF4-FFF2-40B4-BE49-F238E27FC236}">
                  <a16:creationId xmlns:a16="http://schemas.microsoft.com/office/drawing/2014/main" id="{84ECC6A0-F313-4DD0-91C8-1C7880F01753}"/>
                </a:ext>
              </a:extLst>
            </p:cNvPr>
            <p:cNvCxnSpPr>
              <a:cxnSpLocks/>
            </p:cNvCxnSpPr>
            <p:nvPr>
              <p:custDataLst>
                <p:tags r:id="rId9"/>
              </p:custDataLst>
            </p:nvPr>
          </p:nvCxnSpPr>
          <p:spPr bwMode="auto">
            <a:xfrm>
              <a:off x="8748000" y="3420000"/>
              <a:ext cx="0" cy="86400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grpSp>
          <p:nvGrpSpPr>
            <p:cNvPr id="448" name="组合 447">
              <a:extLst>
                <a:ext uri="{FF2B5EF4-FFF2-40B4-BE49-F238E27FC236}">
                  <a16:creationId xmlns:a16="http://schemas.microsoft.com/office/drawing/2014/main" id="{F6EDBCDB-B068-4750-A476-42289ACF98D2}"/>
                </a:ext>
              </a:extLst>
            </p:cNvPr>
            <p:cNvGrpSpPr/>
            <p:nvPr/>
          </p:nvGrpSpPr>
          <p:grpSpPr>
            <a:xfrm>
              <a:off x="8424000" y="4104000"/>
              <a:ext cx="324000" cy="180000"/>
              <a:chOff x="8388000" y="4032000"/>
              <a:chExt cx="324000" cy="180000"/>
            </a:xfrm>
          </p:grpSpPr>
          <p:sp>
            <p:nvSpPr>
              <p:cNvPr id="458" name="Text Box 392">
                <a:extLst>
                  <a:ext uri="{FF2B5EF4-FFF2-40B4-BE49-F238E27FC236}">
                    <a16:creationId xmlns:a16="http://schemas.microsoft.com/office/drawing/2014/main" id="{00B1C411-06D0-4D33-B02B-BA46D8C3D7F6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19"/>
                </p:custDataLst>
              </p:nvPr>
            </p:nvSpPr>
            <p:spPr bwMode="auto">
              <a:xfrm>
                <a:off x="8388000" y="4032000"/>
                <a:ext cx="324000" cy="180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 anchorCtr="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200" b="1" dirty="0">
                    <a:latin typeface="宋体" panose="02010600030101010101" pitchFamily="2" charset="-122"/>
                  </a:rPr>
                  <a:t>INTA</a:t>
                </a:r>
              </a:p>
            </p:txBody>
          </p:sp>
          <p:cxnSp>
            <p:nvCxnSpPr>
              <p:cNvPr id="459" name="直接箭头连接符 458">
                <a:extLst>
                  <a:ext uri="{FF2B5EF4-FFF2-40B4-BE49-F238E27FC236}">
                    <a16:creationId xmlns:a16="http://schemas.microsoft.com/office/drawing/2014/main" id="{E65D1D5E-1ABD-4269-9B92-76DA17531DF5}"/>
                  </a:ext>
                </a:extLst>
              </p:cNvPr>
              <p:cNvCxnSpPr/>
              <p:nvPr>
                <p:custDataLst>
                  <p:tags r:id="rId20"/>
                </p:custDataLst>
              </p:nvPr>
            </p:nvCxnSpPr>
            <p:spPr bwMode="auto">
              <a:xfrm flipV="1">
                <a:off x="8406000" y="4050000"/>
                <a:ext cx="28067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</p:grpSp>
        <p:cxnSp>
          <p:nvCxnSpPr>
            <p:cNvPr id="449" name="直接箭头连接符 448">
              <a:extLst>
                <a:ext uri="{FF2B5EF4-FFF2-40B4-BE49-F238E27FC236}">
                  <a16:creationId xmlns:a16="http://schemas.microsoft.com/office/drawing/2014/main" id="{C06B8A35-D0E6-4A10-BABA-0DA1046A5A47}"/>
                </a:ext>
              </a:extLst>
            </p:cNvPr>
            <p:cNvCxnSpPr>
              <a:cxnSpLocks/>
            </p:cNvCxnSpPr>
            <p:nvPr>
              <p:custDataLst>
                <p:tags r:id="rId10"/>
              </p:custDataLst>
            </p:nvPr>
          </p:nvCxnSpPr>
          <p:spPr bwMode="auto">
            <a:xfrm flipH="1">
              <a:off x="8388000" y="4284000"/>
              <a:ext cx="3600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50" name="直接箭头连接符 449">
              <a:extLst>
                <a:ext uri="{FF2B5EF4-FFF2-40B4-BE49-F238E27FC236}">
                  <a16:creationId xmlns:a16="http://schemas.microsoft.com/office/drawing/2014/main" id="{DBAE5392-3E88-4548-BF1A-DD704013659D}"/>
                </a:ext>
              </a:extLst>
            </p:cNvPr>
            <p:cNvCxnSpPr/>
            <p:nvPr>
              <p:custDataLst>
                <p:tags r:id="rId11"/>
              </p:custDataLst>
            </p:nvPr>
          </p:nvCxnSpPr>
          <p:spPr bwMode="auto">
            <a:xfrm>
              <a:off x="8568000" y="3420000"/>
              <a:ext cx="1800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451" name="Text Box 276">
              <a:extLst>
                <a:ext uri="{FF2B5EF4-FFF2-40B4-BE49-F238E27FC236}">
                  <a16:creationId xmlns:a16="http://schemas.microsoft.com/office/drawing/2014/main" id="{0574CD82-A4C4-4E75-88A9-D5B8761D4209}"/>
                </a:ext>
              </a:extLst>
            </p:cNvPr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7992000" y="4608000"/>
              <a:ext cx="252000" cy="252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200" b="1" dirty="0">
                  <a:latin typeface="宋体" panose="02010600030101010101" pitchFamily="2" charset="-122"/>
                </a:rPr>
                <a:t>≥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1</a:t>
              </a:r>
            </a:p>
          </p:txBody>
        </p:sp>
        <p:sp>
          <p:nvSpPr>
            <p:cNvPr id="452" name="Text Box 61">
              <a:extLst>
                <a:ext uri="{FF2B5EF4-FFF2-40B4-BE49-F238E27FC236}">
                  <a16:creationId xmlns:a16="http://schemas.microsoft.com/office/drawing/2014/main" id="{B903A708-7835-44D9-B29B-4C6F9E4156C4}"/>
                </a:ext>
              </a:extLst>
            </p:cNvPr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7812360" y="4644000"/>
              <a:ext cx="180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0" tIns="0" rIns="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200" b="1" dirty="0">
                  <a:solidFill>
                    <a:srgbClr val="C00000"/>
                  </a:solidFill>
                  <a:latin typeface="+mn-ea"/>
                  <a:cs typeface="Times New Roman" panose="02020603050405020304" pitchFamily="18" charset="0"/>
                </a:rPr>
                <a:t>…</a:t>
              </a:r>
            </a:p>
          </p:txBody>
        </p:sp>
        <p:cxnSp>
          <p:nvCxnSpPr>
            <p:cNvPr id="453" name="直接箭头连接符 452">
              <a:extLst>
                <a:ext uri="{FF2B5EF4-FFF2-40B4-BE49-F238E27FC236}">
                  <a16:creationId xmlns:a16="http://schemas.microsoft.com/office/drawing/2014/main" id="{C4F51CD4-3954-4E19-ABA3-47BD1DA808D1}"/>
                </a:ext>
              </a:extLst>
            </p:cNvPr>
            <p:cNvCxnSpPr/>
            <p:nvPr>
              <p:custDataLst>
                <p:tags r:id="rId14"/>
              </p:custDataLst>
            </p:nvPr>
          </p:nvCxnSpPr>
          <p:spPr bwMode="auto">
            <a:xfrm>
              <a:off x="7848360" y="4644000"/>
              <a:ext cx="144000" cy="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54" name="直接箭头连接符 453">
              <a:extLst>
                <a:ext uri="{FF2B5EF4-FFF2-40B4-BE49-F238E27FC236}">
                  <a16:creationId xmlns:a16="http://schemas.microsoft.com/office/drawing/2014/main" id="{ACF5E27F-C791-424B-B407-703C86C3A223}"/>
                </a:ext>
              </a:extLst>
            </p:cNvPr>
            <p:cNvCxnSpPr/>
            <p:nvPr>
              <p:custDataLst>
                <p:tags r:id="rId15"/>
              </p:custDataLst>
            </p:nvPr>
          </p:nvCxnSpPr>
          <p:spPr bwMode="auto">
            <a:xfrm>
              <a:off x="7848360" y="4824000"/>
              <a:ext cx="144000" cy="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55" name="直接箭头连接符 454">
              <a:extLst>
                <a:ext uri="{FF2B5EF4-FFF2-40B4-BE49-F238E27FC236}">
                  <a16:creationId xmlns:a16="http://schemas.microsoft.com/office/drawing/2014/main" id="{7E4AE9D0-F65A-4539-B2B5-722D5510B20A}"/>
                </a:ext>
              </a:extLst>
            </p:cNvPr>
            <p:cNvCxnSpPr/>
            <p:nvPr>
              <p:custDataLst>
                <p:tags r:id="rId16"/>
              </p:custDataLst>
            </p:nvPr>
          </p:nvCxnSpPr>
          <p:spPr bwMode="auto">
            <a:xfrm>
              <a:off x="8208000" y="3924000"/>
              <a:ext cx="0" cy="2159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56" name="直接箭头连接符 455">
              <a:extLst>
                <a:ext uri="{FF2B5EF4-FFF2-40B4-BE49-F238E27FC236}">
                  <a16:creationId xmlns:a16="http://schemas.microsoft.com/office/drawing/2014/main" id="{FCB25794-7CD8-4DE7-AE24-F26A57049DDF}"/>
                </a:ext>
              </a:extLst>
            </p:cNvPr>
            <p:cNvCxnSpPr/>
            <p:nvPr>
              <p:custDataLst>
                <p:tags r:id="rId17"/>
              </p:custDataLst>
            </p:nvPr>
          </p:nvCxnSpPr>
          <p:spPr bwMode="auto">
            <a:xfrm>
              <a:off x="8136000" y="3861048"/>
              <a:ext cx="0" cy="28829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57" name="直接箭头连接符 456">
              <a:extLst>
                <a:ext uri="{FF2B5EF4-FFF2-40B4-BE49-F238E27FC236}">
                  <a16:creationId xmlns:a16="http://schemas.microsoft.com/office/drawing/2014/main" id="{1EA0890B-2946-4AB7-9B7E-DFA2A26A6E9F}"/>
                </a:ext>
              </a:extLst>
            </p:cNvPr>
            <p:cNvCxnSpPr/>
            <p:nvPr>
              <p:custDataLst>
                <p:tags r:id="rId18"/>
              </p:custDataLst>
            </p:nvPr>
          </p:nvCxnSpPr>
          <p:spPr bwMode="auto">
            <a:xfrm>
              <a:off x="8280000" y="3996000"/>
              <a:ext cx="0" cy="144145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</p:grpSp>
      <p:grpSp>
        <p:nvGrpSpPr>
          <p:cNvPr id="464" name="组合 463">
            <a:extLst>
              <a:ext uri="{FF2B5EF4-FFF2-40B4-BE49-F238E27FC236}">
                <a16:creationId xmlns:a16="http://schemas.microsoft.com/office/drawing/2014/main" id="{BEB4B76B-031E-4B1D-BBCB-855D0888EC45}"/>
              </a:ext>
            </a:extLst>
          </p:cNvPr>
          <p:cNvGrpSpPr/>
          <p:nvPr/>
        </p:nvGrpSpPr>
        <p:grpSpPr>
          <a:xfrm>
            <a:off x="4427800" y="2412295"/>
            <a:ext cx="755650" cy="575310"/>
            <a:chOff x="3338" y="4212"/>
            <a:chExt cx="1190" cy="906"/>
          </a:xfrm>
        </p:grpSpPr>
        <p:sp>
          <p:nvSpPr>
            <p:cNvPr id="465" name="Text Box 18">
              <a:extLst>
                <a:ext uri="{FF2B5EF4-FFF2-40B4-BE49-F238E27FC236}">
                  <a16:creationId xmlns:a16="http://schemas.microsoft.com/office/drawing/2014/main" id="{F213125E-0AB0-44E8-A4CE-1567D9E769D5}"/>
                </a:ext>
              </a:extLst>
            </p:cNvPr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338" y="4212"/>
              <a:ext cx="907" cy="624"/>
            </a:xfrm>
            <a:prstGeom prst="rect">
              <a:avLst/>
            </a:prstGeom>
            <a:solidFill>
              <a:srgbClr val="CC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+mn-ea"/>
                </a:rPr>
                <a:t>总线</a:t>
              </a:r>
              <a:endParaRPr lang="en-US" altLang="zh-CN" sz="1400" b="1" dirty="0">
                <a:latin typeface="+mn-ea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+mn-ea"/>
                </a:rPr>
                <a:t>仲裁器</a:t>
              </a:r>
              <a:endParaRPr lang="zh-CN" altLang="en-US" sz="1400" b="1" dirty="0">
                <a:latin typeface="+mn-ea"/>
                <a:ea typeface="+mn-ea"/>
              </a:endParaRPr>
            </a:p>
          </p:txBody>
        </p:sp>
        <p:cxnSp>
          <p:nvCxnSpPr>
            <p:cNvPr id="466" name="直接箭头连接符 465">
              <a:extLst>
                <a:ext uri="{FF2B5EF4-FFF2-40B4-BE49-F238E27FC236}">
                  <a16:creationId xmlns:a16="http://schemas.microsoft.com/office/drawing/2014/main" id="{0BAA9BD4-88C0-4902-AF47-644A01A68EB8}"/>
                </a:ext>
              </a:extLst>
            </p:cNvPr>
            <p:cNvCxnSpPr/>
            <p:nvPr>
              <p:custDataLst>
                <p:tags r:id="rId5"/>
              </p:custDataLst>
            </p:nvPr>
          </p:nvCxnSpPr>
          <p:spPr bwMode="auto">
            <a:xfrm flipV="1">
              <a:off x="3791" y="4835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67" name="直接箭头连接符 466">
              <a:extLst>
                <a:ext uri="{FF2B5EF4-FFF2-40B4-BE49-F238E27FC236}">
                  <a16:creationId xmlns:a16="http://schemas.microsoft.com/office/drawing/2014/main" id="{D8770EE1-CAB0-4113-B422-9764903C27D1}"/>
                </a:ext>
              </a:extLst>
            </p:cNvPr>
            <p:cNvCxnSpPr/>
            <p:nvPr>
              <p:custDataLst>
                <p:tags r:id="rId6"/>
              </p:custDataLst>
            </p:nvPr>
          </p:nvCxnSpPr>
          <p:spPr bwMode="auto">
            <a:xfrm>
              <a:off x="3961" y="4835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68" name="直接箭头连接符 467">
              <a:extLst>
                <a:ext uri="{FF2B5EF4-FFF2-40B4-BE49-F238E27FC236}">
                  <a16:creationId xmlns:a16="http://schemas.microsoft.com/office/drawing/2014/main" id="{77583D4E-F4AE-45A6-859F-DD923F4FAED1}"/>
                </a:ext>
              </a:extLst>
            </p:cNvPr>
            <p:cNvCxnSpPr/>
            <p:nvPr>
              <p:custDataLst>
                <p:tags r:id="rId7"/>
              </p:custDataLst>
            </p:nvPr>
          </p:nvCxnSpPr>
          <p:spPr bwMode="auto">
            <a:xfrm flipH="1" flipV="1">
              <a:off x="4245" y="4438"/>
              <a:ext cx="283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69" name="直接箭头连接符 468">
              <a:extLst>
                <a:ext uri="{FF2B5EF4-FFF2-40B4-BE49-F238E27FC236}">
                  <a16:creationId xmlns:a16="http://schemas.microsoft.com/office/drawing/2014/main" id="{97CEEF5F-79EE-4C75-95A6-14B2D567D419}"/>
                </a:ext>
              </a:extLst>
            </p:cNvPr>
            <p:cNvCxnSpPr/>
            <p:nvPr>
              <p:custDataLst>
                <p:tags r:id="rId8"/>
              </p:custDataLst>
            </p:nvPr>
          </p:nvCxnSpPr>
          <p:spPr bwMode="auto">
            <a:xfrm>
              <a:off x="4245" y="4608"/>
              <a:ext cx="283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843115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4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" name="组合 200">
            <a:extLst>
              <a:ext uri="{FF2B5EF4-FFF2-40B4-BE49-F238E27FC236}">
                <a16:creationId xmlns:a16="http://schemas.microsoft.com/office/drawing/2014/main" id="{4DA630E7-F0BC-4EEA-A396-7E77D85BCAAF}"/>
              </a:ext>
            </a:extLst>
          </p:cNvPr>
          <p:cNvGrpSpPr/>
          <p:nvPr/>
        </p:nvGrpSpPr>
        <p:grpSpPr>
          <a:xfrm>
            <a:off x="2771800" y="2159992"/>
            <a:ext cx="5976050" cy="3168115"/>
            <a:chOff x="2771800" y="2232000"/>
            <a:chExt cx="5976050" cy="3168115"/>
          </a:xfrm>
        </p:grpSpPr>
        <p:sp>
          <p:nvSpPr>
            <p:cNvPr id="80" name="Text Box 392"/>
            <p:cNvSpPr txBox="1">
              <a:spLocks noChangeArrowheads="1"/>
            </p:cNvSpPr>
            <p:nvPr>
              <p:custDataLst>
                <p:tags r:id="rId155"/>
              </p:custDataLst>
            </p:nvPr>
          </p:nvSpPr>
          <p:spPr bwMode="auto">
            <a:xfrm>
              <a:off x="7920000" y="5256000"/>
              <a:ext cx="468000" cy="10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200" b="1" dirty="0">
                  <a:highlight>
                    <a:srgbClr val="99CCFF"/>
                  </a:highlight>
                  <a:latin typeface="宋体" panose="02010600030101010101" pitchFamily="2" charset="-122"/>
                </a:rPr>
                <a:t>x+2</a:t>
              </a:r>
              <a:r>
                <a:rPr lang="en-US" altLang="zh-CN" sz="1200" b="1" baseline="30000" dirty="0">
                  <a:highlight>
                    <a:srgbClr val="99CCFF"/>
                  </a:highlight>
                  <a:latin typeface="宋体" panose="02010600030101010101" pitchFamily="2" charset="-122"/>
                </a:rPr>
                <a:t>k</a:t>
              </a:r>
              <a:r>
                <a:rPr lang="en-US" altLang="zh-CN" sz="1200" b="1" dirty="0">
                  <a:highlight>
                    <a:srgbClr val="99CCFF"/>
                  </a:highlight>
                  <a:latin typeface="宋体" panose="02010600030101010101" pitchFamily="2" charset="-122"/>
                </a:rPr>
                <a:t>-1</a:t>
              </a:r>
            </a:p>
          </p:txBody>
        </p:sp>
        <p:sp>
          <p:nvSpPr>
            <p:cNvPr id="81" name="Text Box 392"/>
            <p:cNvSpPr txBox="1">
              <a:spLocks noChangeArrowheads="1"/>
            </p:cNvSpPr>
            <p:nvPr>
              <p:custDataLst>
                <p:tags r:id="rId156"/>
              </p:custDataLst>
            </p:nvPr>
          </p:nvSpPr>
          <p:spPr bwMode="auto">
            <a:xfrm>
              <a:off x="8244000" y="4932000"/>
              <a:ext cx="144145" cy="108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200" b="1" dirty="0">
                  <a:highlight>
                    <a:srgbClr val="99CCFF"/>
                  </a:highlight>
                  <a:latin typeface="宋体" panose="02010600030101010101" pitchFamily="2" charset="-122"/>
                </a:rPr>
                <a:t>x</a:t>
              </a:r>
            </a:p>
          </p:txBody>
        </p:sp>
        <p:sp>
          <p:nvSpPr>
            <p:cNvPr id="27" name="Rectangle 299"/>
            <p:cNvSpPr>
              <a:spLocks noChangeArrowheads="1"/>
            </p:cNvSpPr>
            <p:nvPr>
              <p:custDataLst>
                <p:tags r:id="rId157"/>
              </p:custDataLst>
            </p:nvPr>
          </p:nvSpPr>
          <p:spPr bwMode="auto">
            <a:xfrm>
              <a:off x="5184015" y="2232000"/>
              <a:ext cx="3383915" cy="14757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lIns="0" tIns="0" rIns="0" bIns="0" anchor="ctr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30" name="Text Box 61"/>
            <p:cNvSpPr txBox="1">
              <a:spLocks noChangeArrowheads="1"/>
            </p:cNvSpPr>
            <p:nvPr>
              <p:custDataLst>
                <p:tags r:id="rId158"/>
              </p:custDataLst>
            </p:nvPr>
          </p:nvSpPr>
          <p:spPr bwMode="auto">
            <a:xfrm>
              <a:off x="5219800" y="3168000"/>
              <a:ext cx="323850" cy="17970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/>
            <a:lstStyle/>
            <a:p>
              <a:pPr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CPU</a:t>
              </a:r>
            </a:p>
          </p:txBody>
        </p:sp>
        <p:cxnSp>
          <p:nvCxnSpPr>
            <p:cNvPr id="31" name="直接连接符 30"/>
            <p:cNvCxnSpPr/>
            <p:nvPr>
              <p:custDataLst>
                <p:tags r:id="rId159"/>
              </p:custDataLst>
            </p:nvPr>
          </p:nvCxnSpPr>
          <p:spPr bwMode="auto">
            <a:xfrm>
              <a:off x="3456000" y="3851885"/>
              <a:ext cx="4896000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" name="直接连接符 31"/>
            <p:cNvCxnSpPr/>
            <p:nvPr>
              <p:custDataLst>
                <p:tags r:id="rId160"/>
              </p:custDataLst>
            </p:nvPr>
          </p:nvCxnSpPr>
          <p:spPr bwMode="auto">
            <a:xfrm>
              <a:off x="3456000" y="3923640"/>
              <a:ext cx="4896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" name="直接连接符 32"/>
            <p:cNvCxnSpPr/>
            <p:nvPr>
              <p:custDataLst>
                <p:tags r:id="rId161"/>
              </p:custDataLst>
            </p:nvPr>
          </p:nvCxnSpPr>
          <p:spPr bwMode="auto">
            <a:xfrm>
              <a:off x="3456000" y="3996030"/>
              <a:ext cx="4896000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4" name="Text Box 392"/>
            <p:cNvSpPr txBox="1">
              <a:spLocks noChangeArrowheads="1"/>
            </p:cNvSpPr>
            <p:nvPr>
              <p:custDataLst>
                <p:tags r:id="rId162"/>
              </p:custDataLst>
            </p:nvPr>
          </p:nvSpPr>
          <p:spPr bwMode="auto">
            <a:xfrm>
              <a:off x="3059800" y="3816000"/>
              <a:ext cx="396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总线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35" name="Text Box 61"/>
            <p:cNvSpPr txBox="1">
              <a:spLocks noChangeArrowheads="1"/>
            </p:cNvSpPr>
            <p:nvPr>
              <p:custDataLst>
                <p:tags r:id="rId163"/>
              </p:custDataLst>
            </p:nvPr>
          </p:nvSpPr>
          <p:spPr bwMode="auto">
            <a:xfrm>
              <a:off x="4175635" y="3707740"/>
              <a:ext cx="144145" cy="14414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80000"/>
                </a:lnSpc>
              </a:pPr>
              <a:r>
                <a:rPr lang="en-US" altLang="zh-CN" sz="1200" b="1" dirty="0">
                  <a:latin typeface="+mn-ea"/>
                  <a:ea typeface="+mn-ea"/>
                  <a:cs typeface="Times New Roman" panose="02020603050405020304" pitchFamily="18" charset="0"/>
                </a:rPr>
                <a:t>a</a:t>
              </a:r>
            </a:p>
          </p:txBody>
        </p:sp>
        <p:cxnSp>
          <p:nvCxnSpPr>
            <p:cNvPr id="36" name="直接连接符 35"/>
            <p:cNvCxnSpPr/>
            <p:nvPr>
              <p:custDataLst>
                <p:tags r:id="rId164"/>
              </p:custDataLst>
            </p:nvPr>
          </p:nvCxnSpPr>
          <p:spPr bwMode="auto">
            <a:xfrm>
              <a:off x="4140075" y="3959835"/>
              <a:ext cx="71755" cy="71755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" name="直接连接符 36"/>
            <p:cNvCxnSpPr/>
            <p:nvPr>
              <p:custDataLst>
                <p:tags r:id="rId165"/>
              </p:custDataLst>
            </p:nvPr>
          </p:nvCxnSpPr>
          <p:spPr bwMode="auto">
            <a:xfrm>
              <a:off x="4140075" y="3815690"/>
              <a:ext cx="71755" cy="71755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8" name="Text Box 61"/>
            <p:cNvSpPr txBox="1">
              <a:spLocks noChangeArrowheads="1"/>
            </p:cNvSpPr>
            <p:nvPr>
              <p:custDataLst>
                <p:tags r:id="rId166"/>
              </p:custDataLst>
            </p:nvPr>
          </p:nvSpPr>
          <p:spPr bwMode="auto">
            <a:xfrm>
              <a:off x="4067685" y="3996030"/>
              <a:ext cx="144145" cy="14414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80000"/>
                </a:lnSpc>
              </a:pPr>
              <a:r>
                <a:rPr lang="en-US" altLang="zh-CN" sz="1200" b="1" dirty="0">
                  <a:latin typeface="+mn-ea"/>
                  <a:ea typeface="+mn-ea"/>
                  <a:cs typeface="Times New Roman" panose="02020603050405020304" pitchFamily="18" charset="0"/>
                </a:rPr>
                <a:t>b</a:t>
              </a:r>
            </a:p>
          </p:txBody>
        </p:sp>
        <p:cxnSp>
          <p:nvCxnSpPr>
            <p:cNvPr id="107" name="直接箭头连接符 106"/>
            <p:cNvCxnSpPr/>
            <p:nvPr>
              <p:custDataLst>
                <p:tags r:id="rId167"/>
              </p:custDataLst>
            </p:nvPr>
          </p:nvCxnSpPr>
          <p:spPr bwMode="auto">
            <a:xfrm>
              <a:off x="7920000" y="3707740"/>
              <a:ext cx="0" cy="144145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08" name="直接箭头连接符 107"/>
            <p:cNvCxnSpPr/>
            <p:nvPr>
              <p:custDataLst>
                <p:tags r:id="rId168"/>
              </p:custDataLst>
            </p:nvPr>
          </p:nvCxnSpPr>
          <p:spPr bwMode="auto">
            <a:xfrm>
              <a:off x="7992000" y="3707740"/>
              <a:ext cx="0" cy="2159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09" name="直接箭头连接符 108"/>
            <p:cNvCxnSpPr/>
            <p:nvPr>
              <p:custDataLst>
                <p:tags r:id="rId169"/>
              </p:custDataLst>
            </p:nvPr>
          </p:nvCxnSpPr>
          <p:spPr bwMode="auto">
            <a:xfrm>
              <a:off x="8064000" y="3707740"/>
              <a:ext cx="0" cy="28829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110" name="Text Box 291"/>
            <p:cNvSpPr txBox="1">
              <a:spLocks noChangeArrowheads="1"/>
            </p:cNvSpPr>
            <p:nvPr>
              <p:custDataLst>
                <p:tags r:id="rId170"/>
              </p:custDataLst>
            </p:nvPr>
          </p:nvSpPr>
          <p:spPr bwMode="auto">
            <a:xfrm>
              <a:off x="3599800" y="2520000"/>
              <a:ext cx="648000" cy="756000"/>
            </a:xfrm>
            <a:prstGeom prst="rect">
              <a:avLst/>
            </a:prstGeom>
            <a:solidFill>
              <a:srgbClr val="99CCFF">
                <a:alpha val="78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t" anchorCtr="0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主存</a:t>
              </a:r>
              <a:endParaRPr lang="en-US" altLang="zh-CN" sz="14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2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≤</a:t>
              </a:r>
              <a:r>
                <a:rPr lang="en-US" altLang="zh-CN" sz="1200" b="1" dirty="0">
                  <a:latin typeface="宋体" panose="02010600030101010101" pitchFamily="2" charset="-122"/>
                </a:rPr>
                <a:t>2</a:t>
              </a:r>
              <a:r>
                <a:rPr lang="en-US" altLang="zh-CN" sz="1200" b="1" baseline="30000" dirty="0">
                  <a:latin typeface="宋体" panose="02010600030101010101" pitchFamily="2" charset="-122"/>
                </a:rPr>
                <a:t>n</a:t>
              </a:r>
              <a:r>
                <a:rPr lang="en-US" altLang="zh-CN" sz="1200" b="1" dirty="0">
                  <a:latin typeface="宋体" panose="02010600030101010101" pitchFamily="2" charset="-122"/>
                </a:rPr>
                <a:t>×w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39" name="直接箭头连接符 38"/>
            <p:cNvCxnSpPr/>
            <p:nvPr>
              <p:custDataLst>
                <p:tags r:id="rId171"/>
              </p:custDataLst>
            </p:nvPr>
          </p:nvCxnSpPr>
          <p:spPr bwMode="auto">
            <a:xfrm flipV="1">
              <a:off x="3743800" y="3275940"/>
              <a:ext cx="0" cy="2159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0" name="直接箭头连接符 39"/>
            <p:cNvCxnSpPr/>
            <p:nvPr>
              <p:custDataLst>
                <p:tags r:id="rId172"/>
              </p:custDataLst>
            </p:nvPr>
          </p:nvCxnSpPr>
          <p:spPr bwMode="auto">
            <a:xfrm flipV="1">
              <a:off x="3851800" y="3275940"/>
              <a:ext cx="0" cy="2159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1" name="直接箭头连接符 40"/>
            <p:cNvCxnSpPr/>
            <p:nvPr>
              <p:custDataLst>
                <p:tags r:id="rId173"/>
              </p:custDataLst>
            </p:nvPr>
          </p:nvCxnSpPr>
          <p:spPr bwMode="auto">
            <a:xfrm>
              <a:off x="3959800" y="3275940"/>
              <a:ext cx="0" cy="2159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122" name="Rectangle 274"/>
            <p:cNvSpPr>
              <a:spLocks noChangeArrowheads="1"/>
            </p:cNvSpPr>
            <p:nvPr>
              <p:custDataLst>
                <p:tags r:id="rId174"/>
              </p:custDataLst>
            </p:nvPr>
          </p:nvSpPr>
          <p:spPr bwMode="auto">
            <a:xfrm>
              <a:off x="3131800" y="2628000"/>
              <a:ext cx="323850" cy="720000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 w="952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none" lIns="0" tIns="0" rIns="0" bIns="0" anchor="ctr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cxnSp>
          <p:nvCxnSpPr>
            <p:cNvPr id="125" name="直接箭头连接符 124"/>
            <p:cNvCxnSpPr/>
            <p:nvPr>
              <p:custDataLst>
                <p:tags r:id="rId175"/>
              </p:custDataLst>
            </p:nvPr>
          </p:nvCxnSpPr>
          <p:spPr bwMode="auto">
            <a:xfrm flipV="1">
              <a:off x="3131800" y="3240000"/>
              <a:ext cx="32385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126" name="Text Box 392"/>
            <p:cNvSpPr txBox="1">
              <a:spLocks noChangeArrowheads="1"/>
            </p:cNvSpPr>
            <p:nvPr>
              <p:custDataLst>
                <p:tags r:id="rId176"/>
              </p:custDataLst>
            </p:nvPr>
          </p:nvSpPr>
          <p:spPr bwMode="auto">
            <a:xfrm>
              <a:off x="3131800" y="2448000"/>
              <a:ext cx="323850" cy="17970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+mn-ea"/>
                  <a:ea typeface="+mn-ea"/>
                  <a:cs typeface="Times New Roman" panose="02020603050405020304" pitchFamily="18" charset="0"/>
                </a:rPr>
                <a:t>w</a:t>
              </a:r>
              <a:r>
                <a:rPr lang="zh-CN" altLang="en-US" sz="1400" b="1" dirty="0">
                  <a:latin typeface="+mn-ea"/>
                  <a:ea typeface="+mn-ea"/>
                </a:rPr>
                <a:t>位</a:t>
              </a:r>
              <a:endParaRPr lang="en-US" altLang="zh-CN" sz="1400" b="1" dirty="0">
                <a:latin typeface="+mn-ea"/>
                <a:ea typeface="+mn-ea"/>
              </a:endParaRPr>
            </a:p>
          </p:txBody>
        </p:sp>
        <p:sp>
          <p:nvSpPr>
            <p:cNvPr id="127" name="Text Box 392"/>
            <p:cNvSpPr txBox="1">
              <a:spLocks noChangeArrowheads="1"/>
            </p:cNvSpPr>
            <p:nvPr>
              <p:custDataLst>
                <p:tags r:id="rId177"/>
              </p:custDataLst>
            </p:nvPr>
          </p:nvSpPr>
          <p:spPr bwMode="auto">
            <a:xfrm>
              <a:off x="2771800" y="3240000"/>
              <a:ext cx="323850" cy="10795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200" b="1" dirty="0">
                  <a:solidFill>
                    <a:srgbClr val="C00000"/>
                  </a:solidFill>
                  <a:highlight>
                    <a:srgbClr val="99CCFF"/>
                  </a:highlight>
                  <a:latin typeface="宋体" panose="02010600030101010101" pitchFamily="2" charset="-122"/>
                </a:rPr>
                <a:t>2</a:t>
              </a:r>
              <a:r>
                <a:rPr lang="en-US" altLang="zh-CN" sz="1200" b="1" baseline="30000" dirty="0">
                  <a:solidFill>
                    <a:srgbClr val="C00000"/>
                  </a:solidFill>
                  <a:highlight>
                    <a:srgbClr val="99CCFF"/>
                  </a:highlight>
                  <a:latin typeface="宋体" panose="02010600030101010101" pitchFamily="2" charset="-122"/>
                </a:rPr>
                <a:t>n</a:t>
              </a:r>
              <a:r>
                <a:rPr lang="en-US" altLang="zh-CN" sz="12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-1</a:t>
              </a:r>
            </a:p>
          </p:txBody>
        </p:sp>
        <p:sp>
          <p:nvSpPr>
            <p:cNvPr id="128" name="Text Box 392"/>
            <p:cNvSpPr txBox="1">
              <a:spLocks noChangeArrowheads="1"/>
            </p:cNvSpPr>
            <p:nvPr>
              <p:custDataLst>
                <p:tags r:id="rId178"/>
              </p:custDataLst>
            </p:nvPr>
          </p:nvSpPr>
          <p:spPr bwMode="auto">
            <a:xfrm>
              <a:off x="2771800" y="2592000"/>
              <a:ext cx="323850" cy="10795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2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0</a:t>
              </a:r>
            </a:p>
          </p:txBody>
        </p:sp>
        <p:sp>
          <p:nvSpPr>
            <p:cNvPr id="42" name="Rectangle 274"/>
            <p:cNvSpPr>
              <a:spLocks noChangeArrowheads="1"/>
            </p:cNvSpPr>
            <p:nvPr>
              <p:custDataLst>
                <p:tags r:id="rId179"/>
              </p:custDataLst>
            </p:nvPr>
          </p:nvSpPr>
          <p:spPr bwMode="auto">
            <a:xfrm>
              <a:off x="3132000" y="2628000"/>
              <a:ext cx="323850" cy="432000"/>
            </a:xfrm>
            <a:prstGeom prst="rect">
              <a:avLst/>
            </a:prstGeom>
            <a:solidFill>
              <a:srgbClr val="99CCFF">
                <a:alpha val="70000"/>
              </a:srgbClr>
            </a:solidFill>
            <a:ln w="952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none" lIns="0" tIns="0" rIns="0" bIns="0" anchor="ctr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cxnSp>
          <p:nvCxnSpPr>
            <p:cNvPr id="123" name="直接箭头连接符 122"/>
            <p:cNvCxnSpPr/>
            <p:nvPr>
              <p:custDataLst>
                <p:tags r:id="rId180"/>
              </p:custDataLst>
            </p:nvPr>
          </p:nvCxnSpPr>
          <p:spPr bwMode="auto">
            <a:xfrm flipV="1">
              <a:off x="3131800" y="2736000"/>
              <a:ext cx="32385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29" name="直接箭头连接符 128"/>
            <p:cNvCxnSpPr/>
            <p:nvPr>
              <p:custDataLst>
                <p:tags r:id="rId181"/>
              </p:custDataLst>
            </p:nvPr>
          </p:nvCxnSpPr>
          <p:spPr bwMode="auto">
            <a:xfrm flipV="1">
              <a:off x="3347800" y="2664000"/>
              <a:ext cx="360000" cy="14414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CC6600"/>
              </a:solidFill>
              <a:prstDash val="sysDash"/>
              <a:round/>
              <a:headEnd type="triangle" w="med" len="sm"/>
              <a:tailEnd type="triangle" w="med" len="sm"/>
            </a:ln>
            <a:effectLst/>
          </p:spPr>
        </p:cxnSp>
        <p:sp>
          <p:nvSpPr>
            <p:cNvPr id="43" name="Text Box 392"/>
            <p:cNvSpPr txBox="1">
              <a:spLocks noChangeArrowheads="1"/>
            </p:cNvSpPr>
            <p:nvPr>
              <p:custDataLst>
                <p:tags r:id="rId182"/>
              </p:custDataLst>
            </p:nvPr>
          </p:nvSpPr>
          <p:spPr bwMode="auto">
            <a:xfrm>
              <a:off x="2771800" y="2952000"/>
              <a:ext cx="323850" cy="10795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r">
                <a:lnSpc>
                  <a:spcPct val="90000"/>
                </a:lnSpc>
              </a:pPr>
              <a:r>
                <a:rPr lang="en-US" altLang="zh-CN" sz="1200" b="1" dirty="0">
                  <a:highlight>
                    <a:srgbClr val="99CCFF"/>
                  </a:highlight>
                  <a:latin typeface="宋体" panose="02010600030101010101" pitchFamily="2" charset="-122"/>
                </a:rPr>
                <a:t>2</a:t>
              </a:r>
              <a:r>
                <a:rPr lang="en-US" altLang="zh-CN" sz="1200" b="1" baseline="30000" dirty="0">
                  <a:highlight>
                    <a:srgbClr val="99CCFF"/>
                  </a:highlight>
                  <a:latin typeface="宋体" panose="02010600030101010101" pitchFamily="2" charset="-122"/>
                </a:rPr>
                <a:t>m</a:t>
              </a:r>
              <a:r>
                <a:rPr lang="en-US" altLang="zh-CN" sz="1200" b="1" dirty="0">
                  <a:latin typeface="宋体" panose="02010600030101010101" pitchFamily="2" charset="-122"/>
                </a:rPr>
                <a:t>-1</a:t>
              </a:r>
            </a:p>
          </p:txBody>
        </p:sp>
        <p:sp>
          <p:nvSpPr>
            <p:cNvPr id="44" name="Text Box 18"/>
            <p:cNvSpPr txBox="1">
              <a:spLocks noChangeArrowheads="1"/>
            </p:cNvSpPr>
            <p:nvPr>
              <p:custDataLst>
                <p:tags r:id="rId183"/>
              </p:custDataLst>
            </p:nvPr>
          </p:nvSpPr>
          <p:spPr bwMode="auto">
            <a:xfrm>
              <a:off x="4427800" y="2988285"/>
              <a:ext cx="648000" cy="7200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0" tIns="0" rIns="0" bIns="0" anchor="t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+mn-ea"/>
                  <a:ea typeface="+mn-ea"/>
                </a:rPr>
                <a:t>CPU</a:t>
              </a:r>
            </a:p>
          </p:txBody>
        </p:sp>
        <p:cxnSp>
          <p:nvCxnSpPr>
            <p:cNvPr id="45" name="直接箭头连接符 44"/>
            <p:cNvCxnSpPr/>
            <p:nvPr>
              <p:custDataLst>
                <p:tags r:id="rId184"/>
              </p:custDataLst>
            </p:nvPr>
          </p:nvCxnSpPr>
          <p:spPr bwMode="auto">
            <a:xfrm>
              <a:off x="4643630" y="3707740"/>
              <a:ext cx="0" cy="144145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6" name="直接箭头连接符 45"/>
            <p:cNvCxnSpPr/>
            <p:nvPr>
              <p:custDataLst>
                <p:tags r:id="rId185"/>
              </p:custDataLst>
            </p:nvPr>
          </p:nvCxnSpPr>
          <p:spPr bwMode="auto">
            <a:xfrm>
              <a:off x="4716020" y="3707740"/>
              <a:ext cx="0" cy="2159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7" name="直接箭头连接符 46"/>
            <p:cNvCxnSpPr/>
            <p:nvPr>
              <p:custDataLst>
                <p:tags r:id="rId186"/>
              </p:custDataLst>
            </p:nvPr>
          </p:nvCxnSpPr>
          <p:spPr bwMode="auto">
            <a:xfrm>
              <a:off x="4787775" y="3707740"/>
              <a:ext cx="0" cy="28829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137" name="Rectangle 299"/>
            <p:cNvSpPr>
              <a:spLocks noChangeArrowheads="1"/>
            </p:cNvSpPr>
            <p:nvPr>
              <p:custDataLst>
                <p:tags r:id="rId187"/>
              </p:custDataLst>
            </p:nvPr>
          </p:nvSpPr>
          <p:spPr bwMode="auto">
            <a:xfrm>
              <a:off x="4716000" y="4139540"/>
              <a:ext cx="2016000" cy="75628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lIns="0" tIns="0" rIns="0" bIns="0" anchor="ctr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sp>
          <p:nvSpPr>
            <p:cNvPr id="154" name="Text Box 81"/>
            <p:cNvSpPr txBox="1">
              <a:spLocks noChangeArrowheads="1"/>
            </p:cNvSpPr>
            <p:nvPr>
              <p:custDataLst>
                <p:tags r:id="rId188"/>
              </p:custDataLst>
            </p:nvPr>
          </p:nvSpPr>
          <p:spPr bwMode="auto">
            <a:xfrm>
              <a:off x="4716000" y="5184115"/>
              <a:ext cx="2952000" cy="2160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外设</a:t>
              </a:r>
              <a:r>
                <a:rPr lang="en-US" altLang="zh-CN" sz="12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200" b="1" dirty="0">
                  <a:latin typeface="宋体" panose="02010600030101010101" pitchFamily="2" charset="-122"/>
                </a:rPr>
                <a:t>无条件</a:t>
              </a:r>
              <a:r>
                <a:rPr lang="en-US" altLang="zh-CN" sz="1200" b="1" dirty="0">
                  <a:latin typeface="宋体" panose="02010600030101010101" pitchFamily="2" charset="-122"/>
                </a:rPr>
                <a:t>/</a:t>
              </a:r>
              <a:r>
                <a:rPr lang="zh-CN" altLang="en-US" sz="1200" b="1" dirty="0">
                  <a:latin typeface="宋体" panose="02010600030101010101" pitchFamily="2" charset="-122"/>
                </a:rPr>
                <a:t>条件、字符</a:t>
              </a:r>
              <a:r>
                <a:rPr lang="en-US" altLang="zh-CN" sz="1200" b="1" dirty="0">
                  <a:latin typeface="宋体" panose="02010600030101010101" pitchFamily="2" charset="-122"/>
                </a:rPr>
                <a:t>/</a:t>
              </a:r>
              <a:r>
                <a:rPr lang="zh-CN" altLang="en-US" sz="1200" b="1" dirty="0">
                  <a:latin typeface="宋体" panose="02010600030101010101" pitchFamily="2" charset="-122"/>
                </a:rPr>
                <a:t>块、串行</a:t>
              </a:r>
              <a:r>
                <a:rPr lang="en-US" altLang="zh-CN" sz="1200" b="1" dirty="0">
                  <a:latin typeface="宋体" panose="02010600030101010101" pitchFamily="2" charset="-122"/>
                </a:rPr>
                <a:t>/</a:t>
              </a:r>
              <a:r>
                <a:rPr lang="zh-CN" altLang="en-US" sz="1200" b="1" dirty="0">
                  <a:latin typeface="宋体" panose="02010600030101010101" pitchFamily="2" charset="-122"/>
                </a:rPr>
                <a:t>并行</a:t>
              </a:r>
              <a:r>
                <a:rPr lang="en-US" altLang="zh-CN" sz="1200" b="1" dirty="0">
                  <a:latin typeface="宋体" panose="02010600030101010101" pitchFamily="2" charset="-122"/>
                </a:rPr>
                <a:t>)</a:t>
              </a:r>
              <a:endParaRPr lang="zh-CN" altLang="en-US" sz="12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55" name="直接连接符 154"/>
            <p:cNvCxnSpPr/>
            <p:nvPr>
              <p:custDataLst>
                <p:tags r:id="rId189"/>
              </p:custDataLst>
            </p:nvPr>
          </p:nvCxnSpPr>
          <p:spPr bwMode="auto">
            <a:xfrm>
              <a:off x="6156000" y="4895825"/>
              <a:ext cx="0" cy="28829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6" name="直接连接符 155"/>
            <p:cNvCxnSpPr/>
            <p:nvPr>
              <p:custDataLst>
                <p:tags r:id="rId190"/>
              </p:custDataLst>
            </p:nvPr>
          </p:nvCxnSpPr>
          <p:spPr bwMode="auto">
            <a:xfrm>
              <a:off x="6264000" y="4895825"/>
              <a:ext cx="0" cy="28829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triangle" w="med" len="sm"/>
            </a:ln>
          </p:spPr>
        </p:cxnSp>
        <p:cxnSp>
          <p:nvCxnSpPr>
            <p:cNvPr id="157" name="直接连接符 156"/>
            <p:cNvCxnSpPr/>
            <p:nvPr>
              <p:custDataLst>
                <p:tags r:id="rId191"/>
              </p:custDataLst>
            </p:nvPr>
          </p:nvCxnSpPr>
          <p:spPr bwMode="auto">
            <a:xfrm flipV="1">
              <a:off x="6336000" y="4895825"/>
              <a:ext cx="0" cy="28829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triangle" w="med" len="sm"/>
            </a:ln>
          </p:spPr>
        </p:cxnSp>
        <p:cxnSp>
          <p:nvCxnSpPr>
            <p:cNvPr id="161" name="直接连接符 160"/>
            <p:cNvCxnSpPr/>
            <p:nvPr>
              <p:custDataLst>
                <p:tags r:id="rId192"/>
              </p:custDataLst>
            </p:nvPr>
          </p:nvCxnSpPr>
          <p:spPr bwMode="auto">
            <a:xfrm>
              <a:off x="6120000" y="5003775"/>
              <a:ext cx="71755" cy="71755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0" name="Text Box 18"/>
            <p:cNvSpPr txBox="1">
              <a:spLocks noChangeArrowheads="1"/>
            </p:cNvSpPr>
            <p:nvPr>
              <p:custDataLst>
                <p:tags r:id="rId193"/>
              </p:custDataLst>
            </p:nvPr>
          </p:nvSpPr>
          <p:spPr bwMode="auto">
            <a:xfrm>
              <a:off x="7056000" y="4464000"/>
              <a:ext cx="684000" cy="2160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+mn-ea"/>
                  <a:ea typeface="+mn-ea"/>
                </a:rPr>
                <a:t>磁盘</a:t>
              </a:r>
            </a:p>
          </p:txBody>
        </p:sp>
        <p:sp>
          <p:nvSpPr>
            <p:cNvPr id="171" name="Text Box 20"/>
            <p:cNvSpPr txBox="1">
              <a:spLocks noChangeArrowheads="1"/>
            </p:cNvSpPr>
            <p:nvPr>
              <p:custDataLst>
                <p:tags r:id="rId194"/>
              </p:custDataLst>
            </p:nvPr>
          </p:nvSpPr>
          <p:spPr bwMode="auto">
            <a:xfrm>
              <a:off x="7056000" y="4139540"/>
              <a:ext cx="684000" cy="216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+mn-ea"/>
                  <a:ea typeface="+mn-ea"/>
                </a:rPr>
                <a:t>I/O</a:t>
              </a:r>
              <a:r>
                <a:rPr lang="zh-CN" altLang="en-US" sz="1400" b="1" dirty="0">
                  <a:latin typeface="+mn-ea"/>
                  <a:ea typeface="+mn-ea"/>
                </a:rPr>
                <a:t>接口</a:t>
              </a:r>
            </a:p>
          </p:txBody>
        </p:sp>
        <p:cxnSp>
          <p:nvCxnSpPr>
            <p:cNvPr id="173" name="直接连接符 172"/>
            <p:cNvCxnSpPr/>
            <p:nvPr>
              <p:custDataLst>
                <p:tags r:id="rId195"/>
              </p:custDataLst>
            </p:nvPr>
          </p:nvCxnSpPr>
          <p:spPr bwMode="auto">
            <a:xfrm>
              <a:off x="7488000" y="4356000"/>
              <a:ext cx="0" cy="10795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77" name="Text Box 61"/>
            <p:cNvSpPr txBox="1">
              <a:spLocks noChangeArrowheads="1"/>
            </p:cNvSpPr>
            <p:nvPr>
              <p:custDataLst>
                <p:tags r:id="rId196"/>
              </p:custDataLst>
            </p:nvPr>
          </p:nvSpPr>
          <p:spPr bwMode="auto">
            <a:xfrm>
              <a:off x="6768000" y="4175735"/>
              <a:ext cx="25200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cs typeface="Times New Roman" panose="02020603050405020304" pitchFamily="18" charset="0"/>
                </a:rPr>
                <a:t>…</a:t>
              </a:r>
            </a:p>
          </p:txBody>
        </p:sp>
        <p:cxnSp>
          <p:nvCxnSpPr>
            <p:cNvPr id="48" name="直接箭头连接符 47"/>
            <p:cNvCxnSpPr/>
            <p:nvPr>
              <p:custDataLst>
                <p:tags r:id="rId197"/>
              </p:custDataLst>
            </p:nvPr>
          </p:nvCxnSpPr>
          <p:spPr bwMode="auto">
            <a:xfrm>
              <a:off x="4896000" y="3851884"/>
              <a:ext cx="0" cy="8280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9" name="直接箭头连接符 48"/>
            <p:cNvCxnSpPr/>
            <p:nvPr>
              <p:custDataLst>
                <p:tags r:id="rId198"/>
              </p:custDataLst>
            </p:nvPr>
          </p:nvCxnSpPr>
          <p:spPr bwMode="auto">
            <a:xfrm>
              <a:off x="5436000" y="3923640"/>
              <a:ext cx="0" cy="28829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50" name="直接箭头连接符 49"/>
            <p:cNvCxnSpPr/>
            <p:nvPr>
              <p:custDataLst>
                <p:tags r:id="rId199"/>
              </p:custDataLst>
            </p:nvPr>
          </p:nvCxnSpPr>
          <p:spPr bwMode="auto">
            <a:xfrm>
              <a:off x="6156000" y="3996030"/>
              <a:ext cx="0" cy="21590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51" name="直接箭头连接符 50"/>
            <p:cNvCxnSpPr/>
            <p:nvPr>
              <p:custDataLst>
                <p:tags r:id="rId200"/>
              </p:custDataLst>
            </p:nvPr>
          </p:nvCxnSpPr>
          <p:spPr bwMode="auto">
            <a:xfrm>
              <a:off x="7416000" y="3923640"/>
              <a:ext cx="0" cy="2159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52" name="直接箭头连接符 51"/>
            <p:cNvCxnSpPr/>
            <p:nvPr>
              <p:custDataLst>
                <p:tags r:id="rId201"/>
              </p:custDataLst>
            </p:nvPr>
          </p:nvCxnSpPr>
          <p:spPr bwMode="auto">
            <a:xfrm>
              <a:off x="7344000" y="3851885"/>
              <a:ext cx="0" cy="28829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53" name="直接箭头连接符 52"/>
            <p:cNvCxnSpPr/>
            <p:nvPr>
              <p:custDataLst>
                <p:tags r:id="rId202"/>
              </p:custDataLst>
            </p:nvPr>
          </p:nvCxnSpPr>
          <p:spPr bwMode="auto">
            <a:xfrm>
              <a:off x="7488000" y="3996030"/>
              <a:ext cx="0" cy="144145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54" name="Text Box 291"/>
            <p:cNvSpPr txBox="1">
              <a:spLocks noChangeArrowheads="1"/>
            </p:cNvSpPr>
            <p:nvPr>
              <p:custDataLst>
                <p:tags r:id="rId203"/>
              </p:custDataLst>
            </p:nvPr>
          </p:nvSpPr>
          <p:spPr bwMode="auto">
            <a:xfrm>
              <a:off x="3455800" y="3491840"/>
              <a:ext cx="792000" cy="215900"/>
            </a:xfrm>
            <a:prstGeom prst="rect">
              <a:avLst/>
            </a:prstGeom>
            <a:solidFill>
              <a:srgbClr val="FFFFFF">
                <a:alpha val="78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连接电路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55" name="直接箭头连接符 54"/>
            <p:cNvCxnSpPr/>
            <p:nvPr>
              <p:custDataLst>
                <p:tags r:id="rId204"/>
              </p:custDataLst>
            </p:nvPr>
          </p:nvCxnSpPr>
          <p:spPr bwMode="auto">
            <a:xfrm flipV="1">
              <a:off x="3743800" y="3707740"/>
              <a:ext cx="0" cy="144145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56" name="直接箭头连接符 55"/>
            <p:cNvCxnSpPr/>
            <p:nvPr>
              <p:custDataLst>
                <p:tags r:id="rId205"/>
              </p:custDataLst>
            </p:nvPr>
          </p:nvCxnSpPr>
          <p:spPr bwMode="auto">
            <a:xfrm flipV="1">
              <a:off x="3851800" y="3707740"/>
              <a:ext cx="0" cy="2159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57" name="直接箭头连接符 56"/>
            <p:cNvCxnSpPr/>
            <p:nvPr>
              <p:custDataLst>
                <p:tags r:id="rId206"/>
              </p:custDataLst>
            </p:nvPr>
          </p:nvCxnSpPr>
          <p:spPr bwMode="auto">
            <a:xfrm>
              <a:off x="3959800" y="3707740"/>
              <a:ext cx="0" cy="28829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58" name="Text Box 61"/>
            <p:cNvSpPr txBox="1">
              <a:spLocks noChangeArrowheads="1"/>
            </p:cNvSpPr>
            <p:nvPr>
              <p:custDataLst>
                <p:tags r:id="rId207"/>
              </p:custDataLst>
            </p:nvPr>
          </p:nvSpPr>
          <p:spPr bwMode="auto">
            <a:xfrm>
              <a:off x="3959800" y="3276000"/>
              <a:ext cx="144145" cy="14414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80000"/>
                </a:lnSpc>
              </a:pPr>
              <a:r>
                <a:rPr lang="en-US" altLang="zh-CN" sz="1200" b="1" dirty="0">
                  <a:latin typeface="+mn-ea"/>
                  <a:ea typeface="+mn-ea"/>
                  <a:cs typeface="Times New Roman" panose="02020603050405020304" pitchFamily="18" charset="0"/>
                </a:rPr>
                <a:t>c</a:t>
              </a:r>
            </a:p>
          </p:txBody>
        </p:sp>
        <p:cxnSp>
          <p:nvCxnSpPr>
            <p:cNvPr id="60" name="直接连接符 59"/>
            <p:cNvCxnSpPr/>
            <p:nvPr>
              <p:custDataLst>
                <p:tags r:id="rId208"/>
              </p:custDataLst>
            </p:nvPr>
          </p:nvCxnSpPr>
          <p:spPr bwMode="auto">
            <a:xfrm>
              <a:off x="3923800" y="3347695"/>
              <a:ext cx="71755" cy="71755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" name="直接连接符 60"/>
            <p:cNvCxnSpPr/>
            <p:nvPr>
              <p:custDataLst>
                <p:tags r:id="rId209"/>
              </p:custDataLst>
            </p:nvPr>
          </p:nvCxnSpPr>
          <p:spPr bwMode="auto">
            <a:xfrm>
              <a:off x="3707800" y="3347695"/>
              <a:ext cx="71755" cy="71755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1" name="Text Box 61"/>
            <p:cNvSpPr txBox="1">
              <a:spLocks noChangeArrowheads="1"/>
            </p:cNvSpPr>
            <p:nvPr>
              <p:custDataLst>
                <p:tags r:id="rId210"/>
              </p:custDataLst>
            </p:nvPr>
          </p:nvSpPr>
          <p:spPr bwMode="auto">
            <a:xfrm>
              <a:off x="3599800" y="3348000"/>
              <a:ext cx="144145" cy="14414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80000"/>
                </a:lnSpc>
              </a:pPr>
              <a:r>
                <a:rPr lang="en-US" altLang="zh-CN" sz="1200" b="1" dirty="0">
                  <a:latin typeface="+mn-ea"/>
                  <a:ea typeface="+mn-ea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72" name="Rectangle 274"/>
            <p:cNvSpPr>
              <a:spLocks noChangeArrowheads="1"/>
            </p:cNvSpPr>
            <p:nvPr>
              <p:custDataLst>
                <p:tags r:id="rId211"/>
              </p:custDataLst>
            </p:nvPr>
          </p:nvSpPr>
          <p:spPr bwMode="auto">
            <a:xfrm>
              <a:off x="8424000" y="4932000"/>
              <a:ext cx="323850" cy="43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952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none" lIns="0" tIns="0" rIns="0" bIns="0" anchor="ctr"/>
            <a:lstStyle/>
            <a:p>
              <a:pPr>
                <a:lnSpc>
                  <a:spcPct val="90000"/>
                </a:lnSpc>
              </a:pPr>
              <a:endParaRPr lang="zh-CN" altLang="en-US"/>
            </a:p>
          </p:txBody>
        </p:sp>
        <p:cxnSp>
          <p:nvCxnSpPr>
            <p:cNvPr id="74" name="直接箭头连接符 73"/>
            <p:cNvCxnSpPr/>
            <p:nvPr>
              <p:custDataLst>
                <p:tags r:id="rId212"/>
              </p:custDataLst>
            </p:nvPr>
          </p:nvCxnSpPr>
          <p:spPr bwMode="auto">
            <a:xfrm flipV="1">
              <a:off x="8424000" y="5040000"/>
              <a:ext cx="32385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75" name="直接箭头连接符 74"/>
            <p:cNvCxnSpPr/>
            <p:nvPr>
              <p:custDataLst>
                <p:tags r:id="rId213"/>
              </p:custDataLst>
            </p:nvPr>
          </p:nvCxnSpPr>
          <p:spPr bwMode="auto">
            <a:xfrm flipV="1">
              <a:off x="8424000" y="5256000"/>
              <a:ext cx="32385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78" name="Text Box 392"/>
            <p:cNvSpPr txBox="1">
              <a:spLocks noChangeArrowheads="1"/>
            </p:cNvSpPr>
            <p:nvPr>
              <p:custDataLst>
                <p:tags r:id="rId214"/>
              </p:custDataLst>
            </p:nvPr>
          </p:nvSpPr>
          <p:spPr bwMode="auto">
            <a:xfrm>
              <a:off x="8424000" y="4752000"/>
              <a:ext cx="323850" cy="17970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+mn-ea"/>
                  <a:ea typeface="+mn-ea"/>
                  <a:cs typeface="Times New Roman" panose="02020603050405020304" pitchFamily="18" charset="0"/>
                </a:rPr>
                <a:t>w</a:t>
              </a:r>
              <a:r>
                <a:rPr lang="zh-CN" altLang="en-US" sz="1400" b="1" dirty="0">
                  <a:latin typeface="+mn-ea"/>
                  <a:ea typeface="+mn-ea"/>
                </a:rPr>
                <a:t>位</a:t>
              </a:r>
              <a:endParaRPr lang="en-US" altLang="zh-CN" sz="1400" b="1" dirty="0">
                <a:latin typeface="+mn-ea"/>
                <a:ea typeface="+mn-ea"/>
              </a:endParaRPr>
            </a:p>
          </p:txBody>
        </p:sp>
        <p:cxnSp>
          <p:nvCxnSpPr>
            <p:cNvPr id="287" name="直接箭头连接符 286">
              <a:extLst>
                <a:ext uri="{FF2B5EF4-FFF2-40B4-BE49-F238E27FC236}">
                  <a16:creationId xmlns:a16="http://schemas.microsoft.com/office/drawing/2014/main" id="{F4AA4AA1-674D-40BA-B7E5-574BD40EC976}"/>
                </a:ext>
              </a:extLst>
            </p:cNvPr>
            <p:cNvCxnSpPr/>
            <p:nvPr>
              <p:custDataLst>
                <p:tags r:id="rId215"/>
              </p:custDataLst>
            </p:nvPr>
          </p:nvCxnSpPr>
          <p:spPr bwMode="auto">
            <a:xfrm flipV="1">
              <a:off x="3131800" y="2952000"/>
              <a:ext cx="3240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82" name="直接箭头连接符 81"/>
            <p:cNvCxnSpPr>
              <a:cxnSpLocks/>
            </p:cNvCxnSpPr>
            <p:nvPr>
              <p:custDataLst>
                <p:tags r:id="rId216"/>
              </p:custDataLst>
            </p:nvPr>
          </p:nvCxnSpPr>
          <p:spPr bwMode="auto">
            <a:xfrm flipH="1" flipV="1">
              <a:off x="6552000" y="4500000"/>
              <a:ext cx="1980000" cy="6480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CC6600"/>
              </a:solidFill>
              <a:prstDash val="sysDash"/>
              <a:round/>
              <a:headEnd type="triangle" w="med" len="sm"/>
              <a:tailEnd type="triangle" w="med" len="sm"/>
            </a:ln>
            <a:effectLst/>
          </p:spPr>
        </p:cxnSp>
      </p:grpSp>
      <p:grpSp>
        <p:nvGrpSpPr>
          <p:cNvPr id="190" name="组合 189">
            <a:extLst>
              <a:ext uri="{FF2B5EF4-FFF2-40B4-BE49-F238E27FC236}">
                <a16:creationId xmlns:a16="http://schemas.microsoft.com/office/drawing/2014/main" id="{65AAC9A5-BCF9-4192-8706-E16E3FCB1A98}"/>
              </a:ext>
            </a:extLst>
          </p:cNvPr>
          <p:cNvGrpSpPr/>
          <p:nvPr/>
        </p:nvGrpSpPr>
        <p:grpSpPr>
          <a:xfrm>
            <a:off x="5760000" y="4139992"/>
            <a:ext cx="2123740" cy="935990"/>
            <a:chOff x="6012290" y="4212000"/>
            <a:chExt cx="2123740" cy="935990"/>
          </a:xfrm>
        </p:grpSpPr>
        <p:sp>
          <p:nvSpPr>
            <p:cNvPr id="298" name="Text Box 61">
              <a:extLst>
                <a:ext uri="{FF2B5EF4-FFF2-40B4-BE49-F238E27FC236}">
                  <a16:creationId xmlns:a16="http://schemas.microsoft.com/office/drawing/2014/main" id="{EC3016C1-0ACF-4241-8E69-82BFD923399A}"/>
                </a:ext>
              </a:extLst>
            </p:cNvPr>
            <p:cNvSpPr txBox="1">
              <a:spLocks noChangeArrowheads="1"/>
            </p:cNvSpPr>
            <p:nvPr>
              <p:custDataLst>
                <p:tags r:id="rId152"/>
              </p:custDataLst>
            </p:nvPr>
          </p:nvSpPr>
          <p:spPr bwMode="auto">
            <a:xfrm>
              <a:off x="6660290" y="4932090"/>
              <a:ext cx="1475740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>
                <a:lnSpc>
                  <a:spcPct val="90000"/>
                </a:lnSpc>
              </a:pPr>
              <a:r>
                <a:rPr lang="zh-CN" altLang="en-US" sz="1100" b="1" dirty="0">
                  <a:latin typeface="+mn-ea"/>
                </a:rPr>
                <a:t>①无 ②</a:t>
              </a:r>
              <a:r>
                <a:rPr lang="en-US" altLang="zh-CN" sz="1100" b="1" dirty="0">
                  <a:latin typeface="+mn-ea"/>
                </a:rPr>
                <a:t>Req/</a:t>
              </a:r>
              <a:r>
                <a:rPr lang="en-US" altLang="zh-CN" sz="1200" b="1" dirty="0">
                  <a:latin typeface="+mn-ea"/>
                </a:rPr>
                <a:t>Ack</a:t>
              </a:r>
              <a:r>
                <a:rPr lang="en-US" altLang="zh-CN" sz="1100" b="1" dirty="0">
                  <a:latin typeface="+mn-ea"/>
                </a:rPr>
                <a:t> </a:t>
              </a:r>
              <a:r>
                <a:rPr lang="zh-CN" altLang="en-US" sz="1100" b="1" dirty="0">
                  <a:latin typeface="+mn-ea"/>
                </a:rPr>
                <a:t>③</a:t>
              </a:r>
              <a:r>
                <a:rPr lang="en-US" altLang="zh-CN" sz="1100" b="1" dirty="0">
                  <a:latin typeface="+mn-ea"/>
                </a:rPr>
                <a:t>CLK</a:t>
              </a:r>
            </a:p>
          </p:txBody>
        </p:sp>
        <p:sp>
          <p:nvSpPr>
            <p:cNvPr id="300" name="Text Box 61">
              <a:extLst>
                <a:ext uri="{FF2B5EF4-FFF2-40B4-BE49-F238E27FC236}">
                  <a16:creationId xmlns:a16="http://schemas.microsoft.com/office/drawing/2014/main" id="{961757D5-7B84-43A5-B806-C19B9A2B3FFE}"/>
                </a:ext>
              </a:extLst>
            </p:cNvPr>
            <p:cNvSpPr txBox="1">
              <a:spLocks noChangeArrowheads="1"/>
            </p:cNvSpPr>
            <p:nvPr>
              <p:custDataLst>
                <p:tags r:id="rId153"/>
              </p:custDataLst>
            </p:nvPr>
          </p:nvSpPr>
          <p:spPr bwMode="auto">
            <a:xfrm>
              <a:off x="6012290" y="4968000"/>
              <a:ext cx="360000" cy="14414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 algn="ctr">
                <a:lnSpc>
                  <a:spcPct val="80000"/>
                </a:lnSpc>
              </a:pPr>
              <a:r>
                <a:rPr lang="en-US" altLang="zh-CN" sz="1200" b="1" dirty="0">
                  <a:latin typeface="+mn-ea"/>
                  <a:ea typeface="+mn-ea"/>
                  <a:cs typeface="Times New Roman" panose="02020603050405020304" pitchFamily="18" charset="0"/>
                </a:rPr>
                <a:t>1/</a:t>
              </a:r>
              <a:r>
                <a:rPr lang="zh-CN" altLang="en-US" sz="1200" b="1" dirty="0">
                  <a:latin typeface="+mn-ea"/>
                  <a:ea typeface="+mn-ea"/>
                  <a:cs typeface="Times New Roman" panose="02020603050405020304" pitchFamily="18" charset="0"/>
                </a:rPr>
                <a:t>多</a:t>
              </a:r>
              <a:endParaRPr lang="en-US" altLang="zh-CN" sz="1200" b="1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02" name="Text Box 18">
              <a:extLst>
                <a:ext uri="{FF2B5EF4-FFF2-40B4-BE49-F238E27FC236}">
                  <a16:creationId xmlns:a16="http://schemas.microsoft.com/office/drawing/2014/main" id="{BECB70A7-5DA3-4CE3-BC3D-783F45FFE8A8}"/>
                </a:ext>
              </a:extLst>
            </p:cNvPr>
            <p:cNvSpPr txBox="1">
              <a:spLocks noChangeArrowheads="1"/>
            </p:cNvSpPr>
            <p:nvPr>
              <p:custDataLst>
                <p:tags r:id="rId154"/>
              </p:custDataLst>
            </p:nvPr>
          </p:nvSpPr>
          <p:spPr bwMode="auto">
            <a:xfrm>
              <a:off x="6228290" y="4212000"/>
              <a:ext cx="683895" cy="396240"/>
            </a:xfrm>
            <a:prstGeom prst="rect">
              <a:avLst/>
            </a:prstGeom>
            <a:solidFill>
              <a:srgbClr val="FFCC99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+mn-ea"/>
                  <a:ea typeface="+mn-ea"/>
                </a:rPr>
                <a:t>I/O</a:t>
              </a:r>
              <a:r>
                <a:rPr lang="zh-CN" altLang="en-US" sz="1400" b="1" dirty="0">
                  <a:latin typeface="+mn-ea"/>
                  <a:ea typeface="+mn-ea"/>
                </a:rPr>
                <a:t>端口</a:t>
              </a:r>
              <a:endParaRPr lang="en-US" altLang="zh-CN" sz="1400" b="1" dirty="0">
                <a:latin typeface="+mn-ea"/>
                <a:ea typeface="+mn-ea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200" b="1" dirty="0">
                  <a:latin typeface="+mn-ea"/>
                  <a:ea typeface="+mn-ea"/>
                </a:rPr>
                <a:t>(</a:t>
              </a:r>
              <a:r>
                <a:rPr lang="en-US" altLang="zh-CN" sz="1200" b="1" dirty="0">
                  <a:latin typeface="+mn-ea"/>
                  <a:ea typeface="+mn-ea"/>
                  <a:cs typeface="Times New Roman" panose="02020603050405020304" pitchFamily="18" charset="0"/>
                </a:rPr>
                <a:t>p</a:t>
              </a:r>
              <a:r>
                <a:rPr lang="zh-CN" altLang="en-US" sz="1200" b="1" dirty="0">
                  <a:latin typeface="+mn-ea"/>
                  <a:ea typeface="+mn-ea"/>
                </a:rPr>
                <a:t>个</a:t>
              </a:r>
              <a:r>
                <a:rPr lang="en-US" altLang="zh-CN" sz="1200" b="1" dirty="0">
                  <a:latin typeface="+mn-ea"/>
                  <a:ea typeface="+mn-ea"/>
                </a:rPr>
                <a:t>)</a:t>
              </a:r>
              <a:endParaRPr lang="zh-CN" altLang="en-US" sz="1600" b="1" dirty="0">
                <a:latin typeface="+mn-ea"/>
                <a:ea typeface="+mn-ea"/>
              </a:endParaRPr>
            </a:p>
          </p:txBody>
        </p:sp>
      </p:grpSp>
      <p:sp>
        <p:nvSpPr>
          <p:cNvPr id="3" name="Text Box 6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16000" y="1727992"/>
            <a:ext cx="2916000" cy="1476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0" tIns="0" rIns="0" bIns="0" anchor="t" anchorCtr="0"/>
          <a:lstStyle/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MEM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组织：</a:t>
            </a:r>
            <a:r>
              <a:rPr lang="en-US" altLang="zh-CN" sz="1400" b="1" dirty="0">
                <a:latin typeface="+mn-ea"/>
              </a:rPr>
              <a:t>(</a:t>
            </a:r>
            <a:r>
              <a:rPr lang="zh-CN" altLang="en-US" sz="1400" b="1" dirty="0">
                <a:latin typeface="+mn-ea"/>
              </a:rPr>
              <a:t>实现</a:t>
            </a:r>
            <a:r>
              <a:rPr lang="zh-CN" altLang="en-US" sz="1400" b="1" u="sng" dirty="0">
                <a:highlight>
                  <a:srgbClr val="CCFFFF"/>
                </a:highlight>
                <a:latin typeface="+mn-ea"/>
              </a:rPr>
              <a:t>存储</a:t>
            </a:r>
            <a:r>
              <a:rPr lang="en-US" altLang="zh-CN" sz="1400" b="1" u="sng" dirty="0">
                <a:highlight>
                  <a:srgbClr val="CCFFFF"/>
                </a:highlight>
                <a:latin typeface="+mn-ea"/>
              </a:rPr>
              <a:t>+</a:t>
            </a:r>
            <a:r>
              <a:rPr lang="zh-CN" altLang="en-US" sz="1400" b="1" u="sng" dirty="0">
                <a:highlight>
                  <a:srgbClr val="CCFFFF"/>
                </a:highlight>
                <a:latin typeface="+mn-ea"/>
              </a:rPr>
              <a:t>按</a:t>
            </a:r>
            <a:r>
              <a:rPr lang="en-US" altLang="zh-CN" sz="1400" b="1" u="sng" dirty="0">
                <a:highlight>
                  <a:srgbClr val="CCFFFF"/>
                </a:highlight>
                <a:latin typeface="+mn-ea"/>
              </a:rPr>
              <a:t>VA</a:t>
            </a:r>
            <a:r>
              <a:rPr lang="zh-CN" altLang="en-US" sz="1400" b="1" u="sng" dirty="0">
                <a:highlight>
                  <a:srgbClr val="CCFFFF"/>
                </a:highlight>
                <a:latin typeface="+mn-ea"/>
              </a:rPr>
              <a:t>访问</a:t>
            </a:r>
            <a:r>
              <a:rPr lang="en-US" altLang="zh-CN" sz="14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  <a:sym typeface="+mn-ea"/>
              </a:rPr>
              <a:t>①</a:t>
            </a:r>
            <a:r>
              <a:rPr lang="zh-CN" altLang="en-US" sz="1600" b="1" dirty="0">
                <a:latin typeface="+mn-ea"/>
              </a:rPr>
              <a:t>参数</a:t>
            </a:r>
            <a:r>
              <a:rPr lang="en-US" altLang="zh-CN" sz="1400" b="1" dirty="0">
                <a:latin typeface="+mn-ea"/>
              </a:rPr>
              <a:t>(</a:t>
            </a:r>
            <a:r>
              <a:rPr lang="en-US" altLang="zh-CN" sz="1400" b="1" dirty="0" err="1">
                <a:latin typeface="+mn-ea"/>
              </a:rPr>
              <a:t>w&amp;N</a:t>
            </a:r>
            <a:r>
              <a:rPr lang="en-US" altLang="zh-CN" sz="1400" b="1" dirty="0" err="1">
                <a:cs typeface="Times New Roman" panose="02020603050405020304" pitchFamily="18" charset="0"/>
              </a:rPr>
              <a:t>~</a:t>
            </a:r>
            <a:r>
              <a:rPr lang="en-US" altLang="zh-CN" sz="1400" b="1" dirty="0" err="1">
                <a:latin typeface="+mn-ea"/>
              </a:rPr>
              <a:t>ISA</a:t>
            </a:r>
            <a:r>
              <a:rPr lang="zh-CN" altLang="en-US" sz="1400" b="1" dirty="0">
                <a:latin typeface="+mn-ea"/>
              </a:rPr>
              <a:t>、</a:t>
            </a:r>
            <a:r>
              <a:rPr lang="en-US" altLang="zh-CN" sz="1400" b="1" dirty="0">
                <a:latin typeface="+mn-ea"/>
              </a:rPr>
              <a:t>n</a:t>
            </a:r>
            <a:r>
              <a:rPr lang="en-US" altLang="zh-CN" sz="1400" b="1" dirty="0">
                <a:cs typeface="Times New Roman" panose="02020603050405020304" pitchFamily="18" charset="0"/>
                <a:sym typeface="+mn-ea"/>
              </a:rPr>
              <a:t>~</a:t>
            </a:r>
            <a:r>
              <a:rPr lang="zh-CN" altLang="en-US" sz="1400" b="1" dirty="0">
                <a:latin typeface="+mn-ea"/>
                <a:sym typeface="+mn-ea"/>
              </a:rPr>
              <a:t>设计</a:t>
            </a:r>
            <a:r>
              <a:rPr lang="en-US" altLang="zh-CN" sz="14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  <a:sym typeface="+mn-ea"/>
              </a:rPr>
              <a:t>②</a:t>
            </a:r>
            <a:r>
              <a:rPr lang="zh-CN" altLang="en-US" sz="1600" b="1" dirty="0">
                <a:latin typeface="+mn-ea"/>
              </a:rPr>
              <a:t>结构</a:t>
            </a:r>
            <a:r>
              <a:rPr lang="en-US" altLang="zh-CN" sz="1400" b="1" dirty="0">
                <a:latin typeface="+mn-ea"/>
              </a:rPr>
              <a:t>(</a:t>
            </a:r>
            <a:r>
              <a:rPr lang="zh-CN" altLang="en-US" sz="1400" b="1" dirty="0">
                <a:latin typeface="+mn-ea"/>
              </a:rPr>
              <a:t>层次</a:t>
            </a:r>
            <a:r>
              <a:rPr lang="en-US" altLang="zh-CN" sz="1400" b="1" dirty="0">
                <a:latin typeface="+mn-ea"/>
              </a:rPr>
              <a:t>,</a:t>
            </a:r>
            <a:r>
              <a:rPr lang="zh-CN" altLang="en-US" sz="1400" b="1" dirty="0">
                <a:latin typeface="+mn-ea"/>
              </a:rPr>
              <a:t>地址变换</a:t>
            </a:r>
            <a:r>
              <a:rPr lang="en-US" altLang="zh-CN" sz="1400" b="1" dirty="0">
                <a:latin typeface="+mn-ea"/>
              </a:rPr>
              <a:t>+</a:t>
            </a:r>
            <a:r>
              <a:rPr lang="zh-CN" altLang="en-US" sz="1400" b="1" dirty="0">
                <a:latin typeface="+mn-ea"/>
              </a:rPr>
              <a:t>层间管理</a:t>
            </a:r>
            <a:r>
              <a:rPr lang="en-US" altLang="zh-CN" sz="1400" b="1" dirty="0">
                <a:latin typeface="+mn-ea"/>
              </a:rPr>
              <a:t>)</a:t>
            </a:r>
            <a:endParaRPr lang="zh-CN" altLang="en-US" sz="14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</a:t>
            </a:r>
            <a:r>
              <a:rPr lang="zh-CN" altLang="en-US" sz="1600" b="1" dirty="0">
                <a:latin typeface="+mn-ea"/>
                <a:sym typeface="+mn-ea"/>
              </a:rPr>
              <a:t>③主存</a:t>
            </a:r>
            <a:r>
              <a:rPr lang="en-US" altLang="zh-CN" sz="1400" b="1" dirty="0">
                <a:latin typeface="+mn-ea"/>
                <a:sym typeface="+mn-ea"/>
              </a:rPr>
              <a:t>(</a:t>
            </a:r>
            <a:r>
              <a:rPr lang="zh-CN" altLang="en-US" sz="1400" b="1" dirty="0">
                <a:latin typeface="+mn-ea"/>
                <a:sym typeface="+mn-ea"/>
              </a:rPr>
              <a:t>设计</a:t>
            </a:r>
            <a:r>
              <a:rPr lang="en-US" altLang="zh-CN" sz="1400" b="1" dirty="0">
                <a:latin typeface="+mn-ea"/>
                <a:sym typeface="+mn-ea"/>
              </a:rPr>
              <a:t>&amp;</a:t>
            </a:r>
            <a:r>
              <a:rPr lang="zh-CN" altLang="en-US" sz="1400" b="1" dirty="0">
                <a:latin typeface="+mn-ea"/>
                <a:sym typeface="+mn-ea"/>
              </a:rPr>
              <a:t>优化</a:t>
            </a:r>
            <a:r>
              <a:rPr lang="en-US" altLang="zh-CN" sz="1400" b="1" dirty="0">
                <a:latin typeface="+mn-ea"/>
                <a:sym typeface="+mn-ea"/>
              </a:rPr>
              <a:t>[</a:t>
            </a:r>
            <a:r>
              <a:rPr lang="en-US" altLang="zh-CN" sz="1400" b="1" dirty="0">
                <a:cs typeface="Times New Roman" panose="02020603050405020304" pitchFamily="18" charset="0"/>
                <a:sym typeface="+mn-ea"/>
              </a:rPr>
              <a:t>~</a:t>
            </a:r>
            <a:r>
              <a:rPr lang="en-US" altLang="zh-CN" sz="1400" b="1" dirty="0">
                <a:latin typeface="宋体" panose="02010600030101010101" pitchFamily="2" charset="-122"/>
                <a:cs typeface="Times New Roman" panose="02020603050405020304" pitchFamily="18" charset="0"/>
                <a:sym typeface="+mn-ea"/>
              </a:rPr>
              <a:t>c]</a:t>
            </a:r>
            <a:r>
              <a:rPr lang="en-US" altLang="zh-CN" sz="1400" b="1" dirty="0">
                <a:latin typeface="+mn-ea"/>
                <a:sym typeface="+mn-ea"/>
              </a:rPr>
              <a:t>+</a:t>
            </a:r>
            <a:r>
              <a:rPr lang="zh-CN" altLang="en-US" sz="1400" b="1" dirty="0">
                <a:latin typeface="宋体" panose="02010600030101010101" pitchFamily="2" charset="-122"/>
                <a:cs typeface="Times New Roman" panose="02020603050405020304" pitchFamily="18" charset="0"/>
                <a:sym typeface="+mn-ea"/>
              </a:rPr>
              <a:t>连接</a:t>
            </a:r>
            <a:r>
              <a:rPr lang="en-US" altLang="zh-CN" sz="1400" b="1" dirty="0">
                <a:latin typeface="+mn-ea"/>
                <a:sym typeface="+mn-ea"/>
              </a:rPr>
              <a:t>)</a:t>
            </a:r>
            <a:endParaRPr lang="zh-CN" altLang="en-US" sz="1400" b="1" dirty="0">
              <a:latin typeface="+mn-ea"/>
              <a:sym typeface="+mn-ea"/>
            </a:endParaRPr>
          </a:p>
          <a:p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  <a:sym typeface="+mn-ea"/>
              </a:rPr>
              <a:t>④</a:t>
            </a:r>
            <a:r>
              <a:rPr lang="en-US" altLang="zh-CN" sz="1600" b="1" dirty="0">
                <a:latin typeface="+mn-ea"/>
                <a:sym typeface="+mn-ea"/>
              </a:rPr>
              <a:t>Cache</a:t>
            </a:r>
            <a:r>
              <a:rPr lang="en-US" altLang="zh-CN" sz="1400" b="1" dirty="0">
                <a:latin typeface="+mn-ea"/>
                <a:sym typeface="+mn-ea"/>
              </a:rPr>
              <a:t>(</a:t>
            </a:r>
            <a:r>
              <a:rPr lang="zh-CN" altLang="en-US" sz="1400" b="1" dirty="0">
                <a:latin typeface="+mn-ea"/>
                <a:sym typeface="+mn-ea"/>
              </a:rPr>
              <a:t>块交换→</a:t>
            </a:r>
            <a:r>
              <a:rPr lang="en-US" altLang="zh-CN" sz="1400" b="1" dirty="0">
                <a:latin typeface="+mn-ea"/>
                <a:sym typeface="+mn-ea"/>
              </a:rPr>
              <a:t>…</a:t>
            </a:r>
            <a:r>
              <a:rPr lang="zh-CN" altLang="en-US" sz="1400" b="1" dirty="0">
                <a:latin typeface="+mn-ea"/>
                <a:sym typeface="+mn-ea"/>
              </a:rPr>
              <a:t>控制器</a:t>
            </a:r>
            <a:r>
              <a:rPr lang="en-US" altLang="zh-CN" sz="1400" b="1" dirty="0">
                <a:latin typeface="+mn-ea"/>
                <a:sym typeface="+mn-ea"/>
              </a:rPr>
              <a:t>)</a:t>
            </a:r>
            <a:endParaRPr lang="zh-CN" altLang="en-US" sz="1400" b="1" dirty="0">
              <a:latin typeface="+mn-ea"/>
              <a:sym typeface="+mn-ea"/>
            </a:endParaRPr>
          </a:p>
          <a:p>
            <a:r>
              <a:rPr lang="zh-CN" altLang="en-US" sz="1600" b="1" dirty="0">
                <a:latin typeface="+mn-ea"/>
                <a:sym typeface="+mn-ea"/>
              </a:rPr>
              <a:t> </a:t>
            </a:r>
            <a:r>
              <a:rPr lang="en-US" altLang="zh-CN" sz="1600" b="1" dirty="0">
                <a:latin typeface="+mn-ea"/>
                <a:sym typeface="+mn-ea"/>
              </a:rPr>
              <a:t>⑤</a:t>
            </a:r>
            <a:r>
              <a:rPr lang="zh-CN" altLang="en-US" sz="1600" b="1" dirty="0">
                <a:latin typeface="+mn-ea"/>
                <a:sym typeface="+mn-ea"/>
              </a:rPr>
              <a:t>虚存</a:t>
            </a:r>
            <a:r>
              <a:rPr lang="en-US" altLang="zh-CN" sz="1400" b="1" dirty="0">
                <a:latin typeface="+mn-ea"/>
                <a:sym typeface="+mn-ea"/>
              </a:rPr>
              <a:t>(</a:t>
            </a:r>
            <a:r>
              <a:rPr lang="zh-CN" altLang="en-US" sz="1400" b="1" dirty="0">
                <a:latin typeface="+mn-ea"/>
                <a:sym typeface="+mn-ea"/>
              </a:rPr>
              <a:t>页交换→</a:t>
            </a:r>
            <a:r>
              <a:rPr lang="en-US" altLang="zh-CN" sz="1400" b="1" dirty="0">
                <a:latin typeface="+mn-ea"/>
                <a:sym typeface="+mn-ea"/>
              </a:rPr>
              <a:t>…</a:t>
            </a:r>
            <a:r>
              <a:rPr lang="en-US" altLang="zh-CN" sz="1400" b="1" dirty="0">
                <a:latin typeface="宋体" panose="02010600030101010101" pitchFamily="2" charset="-122"/>
                <a:cs typeface="Times New Roman" panose="02020603050405020304" pitchFamily="18" charset="0"/>
                <a:sym typeface="+mn-ea"/>
              </a:rPr>
              <a:t>MMU+</a:t>
            </a:r>
            <a:r>
              <a:rPr lang="zh-CN" altLang="en-US" sz="1400" b="1" dirty="0">
                <a:latin typeface="宋体" panose="02010600030101010101" pitchFamily="2" charset="-122"/>
                <a:cs typeface="Times New Roman" panose="02020603050405020304" pitchFamily="18" charset="0"/>
                <a:sym typeface="+mn-ea"/>
              </a:rPr>
              <a:t>软件</a:t>
            </a:r>
            <a:r>
              <a:rPr lang="en-US" altLang="zh-CN" sz="1400" b="1" dirty="0">
                <a:latin typeface="+mn-ea"/>
                <a:sym typeface="+mn-ea"/>
              </a:rPr>
              <a:t>)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t>37</a:t>
            </a:fld>
            <a:endParaRPr lang="en-US" altLang="zh-CN" dirty="0"/>
          </a:p>
        </p:txBody>
      </p:sp>
      <p:grpSp>
        <p:nvGrpSpPr>
          <p:cNvPr id="25" name="组合 24"/>
          <p:cNvGrpSpPr/>
          <p:nvPr/>
        </p:nvGrpSpPr>
        <p:grpSpPr>
          <a:xfrm>
            <a:off x="4427800" y="2340287"/>
            <a:ext cx="755650" cy="575310"/>
            <a:chOff x="3338" y="4212"/>
            <a:chExt cx="1190" cy="906"/>
          </a:xfrm>
        </p:grpSpPr>
        <p:sp>
          <p:nvSpPr>
            <p:cNvPr id="19" name="Text Box 18"/>
            <p:cNvSpPr txBox="1">
              <a:spLocks noChangeArrowheads="1"/>
            </p:cNvSpPr>
            <p:nvPr>
              <p:custDataLst>
                <p:tags r:id="rId147"/>
              </p:custDataLst>
            </p:nvPr>
          </p:nvSpPr>
          <p:spPr bwMode="auto">
            <a:xfrm>
              <a:off x="3338" y="4212"/>
              <a:ext cx="907" cy="624"/>
            </a:xfrm>
            <a:prstGeom prst="rect">
              <a:avLst/>
            </a:prstGeom>
            <a:solidFill>
              <a:srgbClr val="CC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+mn-ea"/>
                </a:rPr>
                <a:t>总线</a:t>
              </a:r>
              <a:endParaRPr lang="en-US" altLang="zh-CN" sz="1400" b="1" dirty="0">
                <a:latin typeface="+mn-ea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+mn-ea"/>
                </a:rPr>
                <a:t>仲裁器</a:t>
              </a:r>
              <a:endParaRPr lang="zh-CN" altLang="en-US" sz="1400" b="1" dirty="0">
                <a:latin typeface="+mn-ea"/>
                <a:ea typeface="+mn-ea"/>
              </a:endParaRPr>
            </a:p>
          </p:txBody>
        </p:sp>
        <p:cxnSp>
          <p:nvCxnSpPr>
            <p:cNvPr id="20" name="直接箭头连接符 19"/>
            <p:cNvCxnSpPr/>
            <p:nvPr>
              <p:custDataLst>
                <p:tags r:id="rId148"/>
              </p:custDataLst>
            </p:nvPr>
          </p:nvCxnSpPr>
          <p:spPr bwMode="auto">
            <a:xfrm flipV="1">
              <a:off x="3791" y="4835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1" name="直接箭头连接符 20"/>
            <p:cNvCxnSpPr/>
            <p:nvPr>
              <p:custDataLst>
                <p:tags r:id="rId149"/>
              </p:custDataLst>
            </p:nvPr>
          </p:nvCxnSpPr>
          <p:spPr bwMode="auto">
            <a:xfrm>
              <a:off x="3961" y="4835"/>
              <a:ext cx="0" cy="283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2" name="直接箭头连接符 21"/>
            <p:cNvCxnSpPr/>
            <p:nvPr>
              <p:custDataLst>
                <p:tags r:id="rId150"/>
              </p:custDataLst>
            </p:nvPr>
          </p:nvCxnSpPr>
          <p:spPr bwMode="auto">
            <a:xfrm flipH="1" flipV="1">
              <a:off x="4245" y="4438"/>
              <a:ext cx="283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23" name="直接箭头连接符 22"/>
            <p:cNvCxnSpPr/>
            <p:nvPr>
              <p:custDataLst>
                <p:tags r:id="rId151"/>
              </p:custDataLst>
            </p:nvPr>
          </p:nvCxnSpPr>
          <p:spPr bwMode="auto">
            <a:xfrm>
              <a:off x="4245" y="4608"/>
              <a:ext cx="283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</p:grpSp>
      <p:grpSp>
        <p:nvGrpSpPr>
          <p:cNvPr id="59" name="组合 58"/>
          <p:cNvGrpSpPr/>
          <p:nvPr/>
        </p:nvGrpSpPr>
        <p:grpSpPr>
          <a:xfrm>
            <a:off x="6444000" y="719992"/>
            <a:ext cx="2520000" cy="1368000"/>
            <a:chOff x="4915192" y="3582766"/>
            <a:chExt cx="2520000" cy="1368000"/>
          </a:xfrm>
        </p:grpSpPr>
        <p:sp>
          <p:nvSpPr>
            <p:cNvPr id="69" name="Text Box 36"/>
            <p:cNvSpPr txBox="1">
              <a:spLocks noChangeArrowheads="1"/>
            </p:cNvSpPr>
            <p:nvPr>
              <p:custDataLst>
                <p:tags r:id="rId137"/>
              </p:custDataLst>
            </p:nvPr>
          </p:nvSpPr>
          <p:spPr bwMode="auto">
            <a:xfrm>
              <a:off x="5635192" y="3797724"/>
              <a:ext cx="828000" cy="1152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1001</a:t>
              </a:r>
              <a:r>
                <a:rPr lang="en-US" altLang="zh-CN" sz="14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01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00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01000100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solidFill>
                    <a:srgbClr val="FF0000"/>
                  </a:solidFill>
                  <a:latin typeface="宋体" panose="02010600030101010101" pitchFamily="2" charset="-122"/>
                </a:rPr>
                <a:t>0101</a:t>
              </a:r>
              <a:r>
                <a:rPr lang="en-US" altLang="zh-CN" sz="14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01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10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…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solidFill>
                    <a:schemeClr val="tx1"/>
                  </a:solidFill>
                  <a:latin typeface="宋体" panose="02010600030101010101" pitchFamily="2" charset="-122"/>
                </a:rPr>
                <a:t>00110011</a:t>
              </a:r>
              <a:endParaRPr lang="en-US" altLang="zh-CN" sz="1400" b="1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…</a:t>
              </a:r>
            </a:p>
          </p:txBody>
        </p:sp>
        <p:cxnSp>
          <p:nvCxnSpPr>
            <p:cNvPr id="70" name="直接连接符 69"/>
            <p:cNvCxnSpPr/>
            <p:nvPr>
              <p:custDataLst>
                <p:tags r:id="rId138"/>
              </p:custDataLst>
            </p:nvPr>
          </p:nvCxnSpPr>
          <p:spPr bwMode="auto">
            <a:xfrm>
              <a:off x="5635192" y="3960766"/>
              <a:ext cx="828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2" name="直接连接符 61"/>
            <p:cNvCxnSpPr/>
            <p:nvPr>
              <p:custDataLst>
                <p:tags r:id="rId139"/>
              </p:custDataLst>
            </p:nvPr>
          </p:nvCxnSpPr>
          <p:spPr bwMode="auto">
            <a:xfrm>
              <a:off x="5635192" y="4302766"/>
              <a:ext cx="828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3" name="Text Box 36"/>
            <p:cNvSpPr txBox="1">
              <a:spLocks noChangeArrowheads="1"/>
            </p:cNvSpPr>
            <p:nvPr>
              <p:custDataLst>
                <p:tags r:id="rId140"/>
              </p:custDataLst>
            </p:nvPr>
          </p:nvSpPr>
          <p:spPr bwMode="auto">
            <a:xfrm>
              <a:off x="5023192" y="3797724"/>
              <a:ext cx="612000" cy="115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latin typeface="+mn-ea"/>
                </a:rPr>
                <a:t>0…000</a:t>
              </a:r>
              <a:endParaRPr lang="en-US" altLang="zh-CN" sz="1400" b="1" dirty="0">
                <a:latin typeface="+mn-ea"/>
                <a:ea typeface="+mn-ea"/>
              </a:endParaRPr>
            </a:p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latin typeface="+mn-ea"/>
                  <a:ea typeface="+mn-ea"/>
                </a:rPr>
                <a:t>0</a:t>
              </a:r>
              <a:r>
                <a:rPr lang="en-US" altLang="zh-CN" sz="1400" b="1" dirty="0">
                  <a:latin typeface="+mn-ea"/>
                </a:rPr>
                <a:t>…</a:t>
              </a:r>
              <a:r>
                <a:rPr lang="en-US" altLang="zh-CN" sz="1400" b="1" dirty="0">
                  <a:latin typeface="+mn-ea"/>
                  <a:ea typeface="+mn-ea"/>
                </a:rPr>
                <a:t>001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400" b="1" u="none" dirty="0">
                  <a:latin typeface="+mn-ea"/>
                  <a:ea typeface="+mn-ea"/>
                </a:rPr>
                <a:t>0…010</a:t>
              </a:r>
            </a:p>
            <a:p>
              <a:pPr algn="ctr">
                <a:lnSpc>
                  <a:spcPct val="70000"/>
                </a:lnSpc>
              </a:pPr>
              <a:r>
                <a:rPr lang="en-US" altLang="zh-CN" sz="1400" b="1" dirty="0">
                  <a:latin typeface="+mn-ea"/>
                </a:rPr>
                <a:t>…</a:t>
              </a:r>
              <a:r>
                <a:rPr lang="en-US" altLang="zh-CN" sz="1400" b="1" u="none" dirty="0">
                  <a:latin typeface="+mn-ea"/>
                  <a:ea typeface="+mn-ea"/>
                </a:rPr>
                <a:t>   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latin typeface="+mn-ea"/>
                </a:rPr>
                <a:t>0…044</a:t>
              </a:r>
            </a:p>
            <a:p>
              <a:pPr algn="ctr">
                <a:lnSpc>
                  <a:spcPct val="70000"/>
                </a:lnSpc>
              </a:pPr>
              <a:r>
                <a:rPr lang="en-US" altLang="zh-CN" sz="1400" b="1" dirty="0">
                  <a:latin typeface="+mn-ea"/>
                </a:rPr>
                <a:t>…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solidFill>
                    <a:srgbClr val="C00000"/>
                  </a:solidFill>
                  <a:highlight>
                    <a:srgbClr val="99CCFF"/>
                  </a:highlight>
                  <a:latin typeface="+mn-ea"/>
                </a:rPr>
                <a:t>2</a:t>
              </a:r>
              <a:r>
                <a:rPr lang="en-US" altLang="zh-CN" sz="1400" b="1" baseline="30000" dirty="0">
                  <a:solidFill>
                    <a:srgbClr val="C00000"/>
                  </a:solidFill>
                  <a:highlight>
                    <a:srgbClr val="99CCFF"/>
                  </a:highlight>
                  <a:latin typeface="+mn-ea"/>
                </a:rPr>
                <a:t>N</a:t>
              </a:r>
              <a:r>
                <a:rPr lang="en-US" altLang="zh-CN" sz="1400" b="1" dirty="0">
                  <a:solidFill>
                    <a:schemeClr val="tx1"/>
                  </a:solidFill>
                  <a:latin typeface="+mn-ea"/>
                </a:rPr>
                <a:t>-1</a:t>
              </a:r>
            </a:p>
          </p:txBody>
        </p:sp>
        <p:cxnSp>
          <p:nvCxnSpPr>
            <p:cNvPr id="76" name="直接连接符 75"/>
            <p:cNvCxnSpPr/>
            <p:nvPr>
              <p:custDataLst>
                <p:tags r:id="rId141"/>
              </p:custDataLst>
            </p:nvPr>
          </p:nvCxnSpPr>
          <p:spPr bwMode="auto">
            <a:xfrm>
              <a:off x="5635192" y="4122766"/>
              <a:ext cx="828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7" name="直接连接符 76"/>
            <p:cNvCxnSpPr/>
            <p:nvPr>
              <p:custDataLst>
                <p:tags r:id="rId142"/>
              </p:custDataLst>
            </p:nvPr>
          </p:nvCxnSpPr>
          <p:spPr bwMode="auto">
            <a:xfrm>
              <a:off x="5635192" y="4464766"/>
              <a:ext cx="828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4" name="直接连接符 63"/>
            <p:cNvCxnSpPr/>
            <p:nvPr>
              <p:custDataLst>
                <p:tags r:id="rId143"/>
              </p:custDataLst>
            </p:nvPr>
          </p:nvCxnSpPr>
          <p:spPr bwMode="auto">
            <a:xfrm>
              <a:off x="5635192" y="4806766"/>
              <a:ext cx="828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9" name="直接连接符 78"/>
            <p:cNvCxnSpPr/>
            <p:nvPr>
              <p:custDataLst>
                <p:tags r:id="rId144"/>
              </p:custDataLst>
            </p:nvPr>
          </p:nvCxnSpPr>
          <p:spPr bwMode="auto">
            <a:xfrm>
              <a:off x="5635192" y="4644766"/>
              <a:ext cx="828000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5" name="Text Box 36"/>
            <p:cNvSpPr txBox="1">
              <a:spLocks noChangeArrowheads="1"/>
            </p:cNvSpPr>
            <p:nvPr>
              <p:custDataLst>
                <p:tags r:id="rId145"/>
              </p:custDataLst>
            </p:nvPr>
          </p:nvSpPr>
          <p:spPr bwMode="auto">
            <a:xfrm>
              <a:off x="4915192" y="3582766"/>
              <a:ext cx="2448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zh-CN" altLang="en-US" sz="1400" b="1" dirty="0">
                  <a:highlight>
                    <a:srgbClr val="CCECFF"/>
                  </a:highlight>
                  <a:latin typeface="+mn-ea"/>
                </a:rPr>
                <a:t>逻辑地址</a:t>
              </a:r>
              <a:r>
                <a:rPr lang="zh-CN" altLang="en-US" sz="1400" b="1" baseline="-25000" dirty="0">
                  <a:highlight>
                    <a:srgbClr val="CCECFF"/>
                  </a:highlight>
                  <a:latin typeface="+mn-ea"/>
                </a:rPr>
                <a:t> </a:t>
              </a:r>
              <a:r>
                <a:rPr lang="zh-CN" altLang="en-US" sz="1400" b="1" dirty="0">
                  <a:highlight>
                    <a:srgbClr val="CC99FF"/>
                  </a:highlight>
                  <a:latin typeface="+mn-ea"/>
                </a:rPr>
                <a:t>程序内容</a:t>
              </a:r>
              <a:r>
                <a:rPr lang="zh-CN" altLang="en-US" sz="1400" b="1" dirty="0">
                  <a:latin typeface="+mn-ea"/>
                </a:rPr>
                <a:t>  指令功能</a:t>
              </a:r>
              <a:endParaRPr lang="en-US" altLang="zh-CN" sz="1400" b="1" dirty="0">
                <a:latin typeface="+mn-ea"/>
              </a:endParaRPr>
            </a:p>
          </p:txBody>
        </p:sp>
        <p:sp>
          <p:nvSpPr>
            <p:cNvPr id="66" name="Text Box 36"/>
            <p:cNvSpPr txBox="1">
              <a:spLocks noChangeArrowheads="1"/>
            </p:cNvSpPr>
            <p:nvPr>
              <p:custDataLst>
                <p:tags r:id="rId146"/>
              </p:custDataLst>
            </p:nvPr>
          </p:nvSpPr>
          <p:spPr bwMode="auto">
            <a:xfrm>
              <a:off x="6499192" y="3798766"/>
              <a:ext cx="936000" cy="115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wrap="square" lIns="0" tIns="0" rIns="0" bIns="0" anchor="t" anchorCtr="0">
              <a:no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R1</a:t>
              </a:r>
              <a:r>
                <a:rPr lang="zh-CN" altLang="en-US" sz="1400" b="1" dirty="0">
                  <a:latin typeface="宋体" panose="02010600030101010101" pitchFamily="2" charset="-122"/>
                </a:rPr>
                <a:t>←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M[44H]</a:t>
              </a:r>
            </a:p>
            <a:p>
              <a:pPr>
                <a:lnSpc>
                  <a:spcPct val="80000"/>
                </a:lnSpc>
              </a:pPr>
              <a:r>
                <a:rPr lang="en-US" altLang="zh-CN" sz="1400" b="1" dirty="0">
                  <a:latin typeface="+mn-ea"/>
                  <a:ea typeface="+mn-ea"/>
                </a:rPr>
                <a:t> </a:t>
              </a:r>
            </a:p>
            <a:p>
              <a:pPr>
                <a:lnSpc>
                  <a:spcPct val="80000"/>
                </a:lnSpc>
              </a:pPr>
              <a:r>
                <a:rPr lang="en-US" altLang="zh-CN" sz="1400" b="1" dirty="0">
                  <a:latin typeface="+mn-ea"/>
                </a:rPr>
                <a:t>R1</a:t>
              </a:r>
              <a:r>
                <a:rPr lang="zh-CN" altLang="en-US" sz="1400" b="1" dirty="0">
                  <a:latin typeface="宋体" panose="02010600030101010101" pitchFamily="2" charset="-122"/>
                </a:rPr>
                <a:t>←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(R1)+2</a:t>
              </a:r>
              <a:r>
                <a:rPr lang="en-US" altLang="zh-CN" sz="1400" b="1" u="none" dirty="0">
                  <a:latin typeface="+mn-ea"/>
                  <a:ea typeface="+mn-ea"/>
                </a:rPr>
                <a:t>   </a:t>
              </a:r>
            </a:p>
            <a:p>
              <a:pPr>
                <a:lnSpc>
                  <a:spcPct val="80000"/>
                </a:lnSpc>
              </a:pPr>
              <a:endParaRPr lang="en-US" altLang="zh-CN" sz="1400" b="1" dirty="0">
                <a:latin typeface="+mn-ea"/>
              </a:endParaRPr>
            </a:p>
            <a:p>
              <a:pPr>
                <a:lnSpc>
                  <a:spcPct val="80000"/>
                </a:lnSpc>
              </a:pPr>
              <a:r>
                <a:rPr lang="en-US" altLang="zh-CN" sz="1400" b="1" dirty="0">
                  <a:latin typeface="+mn-ea"/>
                </a:rPr>
                <a:t>x=33H</a:t>
              </a:r>
            </a:p>
            <a:p>
              <a:pPr>
                <a:lnSpc>
                  <a:spcPct val="80000"/>
                </a:lnSpc>
              </a:pPr>
              <a:endParaRPr lang="en-US" altLang="zh-CN" sz="1400" b="1" dirty="0">
                <a:latin typeface="+mn-ea"/>
              </a:endParaRPr>
            </a:p>
          </p:txBody>
        </p:sp>
      </p:grpSp>
      <p:grpSp>
        <p:nvGrpSpPr>
          <p:cNvPr id="119" name="组合 118"/>
          <p:cNvGrpSpPr/>
          <p:nvPr/>
        </p:nvGrpSpPr>
        <p:grpSpPr>
          <a:xfrm>
            <a:off x="3456000" y="719992"/>
            <a:ext cx="2915920" cy="1332230"/>
            <a:chOff x="-1531" y="1813"/>
            <a:chExt cx="4592" cy="2098"/>
          </a:xfrm>
        </p:grpSpPr>
        <p:sp>
          <p:nvSpPr>
            <p:cNvPr id="151" name="Text Box 160"/>
            <p:cNvSpPr txBox="1">
              <a:spLocks noChangeArrowheads="1"/>
            </p:cNvSpPr>
            <p:nvPr>
              <p:custDataLst>
                <p:tags r:id="rId128"/>
              </p:custDataLst>
            </p:nvPr>
          </p:nvSpPr>
          <p:spPr bwMode="auto">
            <a:xfrm>
              <a:off x="-1531" y="1813"/>
              <a:ext cx="2041" cy="209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0" tIns="0" rIns="0" bIns="0" anchor="t" anchorCtr="0"/>
            <a:lstStyle/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ISA</a:t>
              </a:r>
              <a:r>
                <a:rPr lang="zh-CN" altLang="en-US" sz="1600" b="1" dirty="0">
                  <a:solidFill>
                    <a:srgbClr val="C00000"/>
                  </a:solidFill>
                  <a:latin typeface="宋体" panose="02010600030101010101" pitchFamily="2" charset="-122"/>
                </a:rPr>
                <a:t>内容</a:t>
              </a:r>
              <a:r>
                <a:rPr lang="zh-CN" altLang="en-US" sz="16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：</a:t>
              </a:r>
              <a:endParaRPr lang="en-US" altLang="zh-CN" sz="1600" b="1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 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数据表示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 OPD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存放方式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 寻址方式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 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指令功能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 指令格式</a:t>
              </a:r>
            </a:p>
          </p:txBody>
        </p:sp>
        <p:grpSp>
          <p:nvGrpSpPr>
            <p:cNvPr id="116" name="组合 115"/>
            <p:cNvGrpSpPr/>
            <p:nvPr/>
          </p:nvGrpSpPr>
          <p:grpSpPr>
            <a:xfrm>
              <a:off x="623" y="3004"/>
              <a:ext cx="2209" cy="626"/>
              <a:chOff x="5623389" y="1204119"/>
              <a:chExt cx="1402594" cy="396634"/>
            </a:xfrm>
          </p:grpSpPr>
          <p:sp>
            <p:nvSpPr>
              <p:cNvPr id="143" name="Text Box 136"/>
              <p:cNvSpPr txBox="1">
                <a:spLocks noChangeArrowheads="1"/>
              </p:cNvSpPr>
              <p:nvPr>
                <p:custDataLst>
                  <p:tags r:id="rId130"/>
                </p:custDataLst>
              </p:nvPr>
            </p:nvSpPr>
            <p:spPr bwMode="auto">
              <a:xfrm>
                <a:off x="6019566" y="1420042"/>
                <a:ext cx="251910" cy="179897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RD</a:t>
                </a:r>
              </a:p>
            </p:txBody>
          </p:sp>
          <p:sp>
            <p:nvSpPr>
              <p:cNvPr id="144" name="Text Box 137"/>
              <p:cNvSpPr txBox="1">
                <a:spLocks noChangeArrowheads="1"/>
              </p:cNvSpPr>
              <p:nvPr>
                <p:custDataLst>
                  <p:tags r:id="rId131"/>
                </p:custDataLst>
              </p:nvPr>
            </p:nvSpPr>
            <p:spPr bwMode="auto">
              <a:xfrm>
                <a:off x="5623389" y="1420763"/>
                <a:ext cx="395966" cy="179990"/>
              </a:xfrm>
              <a:prstGeom prst="rect">
                <a:avLst/>
              </a:prstGeom>
              <a:solidFill>
                <a:srgbClr val="FFCCFF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op2</a:t>
                </a:r>
              </a:p>
            </p:txBody>
          </p:sp>
          <p:sp>
            <p:nvSpPr>
              <p:cNvPr id="145" name="Text Box 151"/>
              <p:cNvSpPr txBox="1">
                <a:spLocks noChangeArrowheads="1"/>
              </p:cNvSpPr>
              <p:nvPr>
                <p:custDataLst>
                  <p:tags r:id="rId132"/>
                </p:custDataLst>
              </p:nvPr>
            </p:nvSpPr>
            <p:spPr bwMode="auto">
              <a:xfrm>
                <a:off x="6522051" y="1420042"/>
                <a:ext cx="503932" cy="179897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A</a:t>
                </a:r>
              </a:p>
            </p:txBody>
          </p:sp>
          <p:sp>
            <p:nvSpPr>
              <p:cNvPr id="152" name="Text Box 136"/>
              <p:cNvSpPr txBox="1">
                <a:spLocks noChangeArrowheads="1"/>
              </p:cNvSpPr>
              <p:nvPr>
                <p:custDataLst>
                  <p:tags r:id="rId133"/>
                </p:custDataLst>
              </p:nvPr>
            </p:nvSpPr>
            <p:spPr bwMode="auto">
              <a:xfrm>
                <a:off x="6271544" y="1420042"/>
                <a:ext cx="251910" cy="179897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RS</a:t>
                </a:r>
              </a:p>
            </p:txBody>
          </p:sp>
          <p:sp>
            <p:nvSpPr>
              <p:cNvPr id="153" name="Text Box 136"/>
              <p:cNvSpPr txBox="1">
                <a:spLocks noChangeArrowheads="1"/>
              </p:cNvSpPr>
              <p:nvPr>
                <p:custDataLst>
                  <p:tags r:id="rId134"/>
                </p:custDataLst>
              </p:nvPr>
            </p:nvSpPr>
            <p:spPr bwMode="auto">
              <a:xfrm>
                <a:off x="6019566" y="1204119"/>
                <a:ext cx="251910" cy="179897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RD</a:t>
                </a:r>
              </a:p>
            </p:txBody>
          </p:sp>
          <p:sp>
            <p:nvSpPr>
              <p:cNvPr id="158" name="Text Box 137"/>
              <p:cNvSpPr txBox="1">
                <a:spLocks noChangeArrowheads="1"/>
              </p:cNvSpPr>
              <p:nvPr>
                <p:custDataLst>
                  <p:tags r:id="rId135"/>
                </p:custDataLst>
              </p:nvPr>
            </p:nvSpPr>
            <p:spPr bwMode="auto">
              <a:xfrm>
                <a:off x="5624089" y="1204119"/>
                <a:ext cx="395966" cy="179990"/>
              </a:xfrm>
              <a:prstGeom prst="rect">
                <a:avLst/>
              </a:prstGeom>
              <a:solidFill>
                <a:srgbClr val="FFCCFF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op1</a:t>
                </a:r>
              </a:p>
            </p:txBody>
          </p:sp>
          <p:sp>
            <p:nvSpPr>
              <p:cNvPr id="159" name="Text Box 136"/>
              <p:cNvSpPr txBox="1">
                <a:spLocks noChangeArrowheads="1"/>
              </p:cNvSpPr>
              <p:nvPr>
                <p:custDataLst>
                  <p:tags r:id="rId136"/>
                </p:custDataLst>
              </p:nvPr>
            </p:nvSpPr>
            <p:spPr bwMode="auto">
              <a:xfrm>
                <a:off x="6271544" y="1204119"/>
                <a:ext cx="251951" cy="179897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400" b="1" dirty="0">
                    <a:latin typeface="宋体" panose="02010600030101010101" pitchFamily="2" charset="-122"/>
                  </a:rPr>
                  <a:t>RS</a:t>
                </a:r>
              </a:p>
            </p:txBody>
          </p:sp>
        </p:grpSp>
        <p:sp>
          <p:nvSpPr>
            <p:cNvPr id="24" name="Text Box 61"/>
            <p:cNvSpPr txBox="1">
              <a:spLocks noChangeArrowheads="1"/>
            </p:cNvSpPr>
            <p:nvPr>
              <p:custDataLst>
                <p:tags r:id="rId129"/>
              </p:custDataLst>
            </p:nvPr>
          </p:nvSpPr>
          <p:spPr bwMode="auto">
            <a:xfrm>
              <a:off x="623" y="2324"/>
              <a:ext cx="2438" cy="62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400" b="1" dirty="0">
                  <a:latin typeface="+mn-ea"/>
                </a:rPr>
                <a:t>RD</a:t>
              </a:r>
              <a:r>
                <a:rPr lang="zh-CN" altLang="en-US" sz="1400" b="1" dirty="0">
                  <a:latin typeface="+mn-ea"/>
                </a:rPr>
                <a:t>←</a:t>
              </a:r>
              <a:r>
                <a:rPr lang="en-US" altLang="zh-CN" sz="1400" b="1" dirty="0">
                  <a:latin typeface="+mn-ea"/>
                </a:rPr>
                <a:t>(RD)</a:t>
              </a:r>
              <a:r>
                <a:rPr lang="en-US" altLang="zh-CN" sz="1400" b="1" baseline="-18000" dirty="0">
                  <a:latin typeface="+mn-ea"/>
                </a:rPr>
                <a:t> </a:t>
              </a:r>
              <a:r>
                <a:rPr lang="en-US" altLang="zh-CN" sz="1400" b="1" dirty="0">
                  <a:latin typeface="+mn-ea"/>
                </a:rPr>
                <a:t>op1</a:t>
              </a:r>
              <a:r>
                <a:rPr lang="en-US" altLang="zh-CN" sz="1400" b="1" baseline="-18000" dirty="0">
                  <a:latin typeface="+mn-ea"/>
                </a:rPr>
                <a:t> </a:t>
              </a:r>
              <a:r>
                <a:rPr lang="en-US" altLang="zh-CN" sz="1400" b="1" dirty="0">
                  <a:latin typeface="+mn-ea"/>
                </a:rPr>
                <a:t>(RS)</a:t>
              </a:r>
            </a:p>
            <a:p>
              <a:pPr>
                <a:lnSpc>
                  <a:spcPct val="90000"/>
                </a:lnSpc>
              </a:pPr>
              <a:r>
                <a:rPr lang="en-US" altLang="zh-CN" sz="1400" b="1" dirty="0">
                  <a:latin typeface="+mn-ea"/>
                </a:rPr>
                <a:t>RD</a:t>
              </a:r>
              <a:r>
                <a:rPr lang="zh-CN" altLang="en-US" sz="1400" b="1" dirty="0">
                  <a:latin typeface="+mn-ea"/>
                </a:rPr>
                <a:t>←</a:t>
              </a:r>
              <a:r>
                <a:rPr lang="en-US" altLang="zh-CN" sz="1400" b="1" dirty="0">
                  <a:latin typeface="+mn-ea"/>
                </a:rPr>
                <a:t>M[(RS)]</a:t>
              </a:r>
              <a:r>
                <a:rPr lang="en-US" altLang="zh-CN" sz="1400" b="1" baseline="-18000" dirty="0">
                  <a:latin typeface="+mn-ea"/>
                </a:rPr>
                <a:t> </a:t>
              </a:r>
              <a:r>
                <a:rPr lang="en-US" altLang="zh-CN" sz="1400" b="1" dirty="0">
                  <a:latin typeface="+mn-ea"/>
                </a:rPr>
                <a:t>op2</a:t>
              </a:r>
              <a:r>
                <a:rPr lang="en-US" altLang="zh-CN" sz="1400" b="1" baseline="-18000" dirty="0">
                  <a:latin typeface="+mn-ea"/>
                </a:rPr>
                <a:t> </a:t>
              </a:r>
              <a:r>
                <a:rPr lang="en-US" altLang="zh-CN" sz="1400" b="1" dirty="0">
                  <a:latin typeface="+mn-ea"/>
                </a:rPr>
                <a:t>A</a:t>
              </a:r>
            </a:p>
          </p:txBody>
        </p:sp>
      </p:grpSp>
      <p:sp>
        <p:nvSpPr>
          <p:cNvPr id="120" name="右箭头 119"/>
          <p:cNvSpPr/>
          <p:nvPr>
            <p:custDataLst>
              <p:tags r:id="rId2"/>
            </p:custDataLst>
          </p:nvPr>
        </p:nvSpPr>
        <p:spPr>
          <a:xfrm>
            <a:off x="6192000" y="1439992"/>
            <a:ext cx="252000" cy="180000"/>
          </a:xfrm>
          <a:prstGeom prst="rightArrow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下箭头 137"/>
          <p:cNvSpPr/>
          <p:nvPr>
            <p:custDataLst>
              <p:tags r:id="rId3"/>
            </p:custDataLst>
          </p:nvPr>
        </p:nvSpPr>
        <p:spPr>
          <a:xfrm>
            <a:off x="4103800" y="2087992"/>
            <a:ext cx="180000" cy="252000"/>
          </a:xfrm>
          <a:prstGeom prst="downArrow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5" name="Text Box 61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79512" y="260648"/>
            <a:ext cx="8352928" cy="426336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wrap="square" lIns="90000" tIns="46800" rIns="90000" bIns="46800" anchor="t" anchorCtr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>
                <a:solidFill>
                  <a:srgbClr val="FF3399"/>
                </a:solidFill>
                <a:latin typeface="+mn-ea"/>
              </a:rPr>
              <a:t>  </a:t>
            </a:r>
            <a:r>
              <a:rPr lang="en-US" altLang="zh-CN" sz="2000" b="1" dirty="0">
                <a:solidFill>
                  <a:srgbClr val="FF3399"/>
                </a:solidFill>
                <a:highlight>
                  <a:srgbClr val="FFFF00"/>
                </a:highlight>
                <a:latin typeface="+mn-ea"/>
              </a:rPr>
              <a:t>※</a:t>
            </a:r>
            <a:r>
              <a:rPr lang="zh-CN" altLang="en-US" sz="2000" b="1" dirty="0">
                <a:solidFill>
                  <a:srgbClr val="FF3399"/>
                </a:solidFill>
                <a:highlight>
                  <a:srgbClr val="FFFF00"/>
                </a:highlight>
                <a:latin typeface="+mn-ea"/>
              </a:rPr>
              <a:t>计算机组成总图</a:t>
            </a:r>
            <a:r>
              <a:rPr lang="zh-CN" altLang="en-US" sz="2000" b="1" dirty="0">
                <a:solidFill>
                  <a:srgbClr val="FF3399"/>
                </a:solidFill>
                <a:latin typeface="+mn-ea"/>
              </a:rPr>
              <a:t>：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</a:rPr>
              <a:t>＝硬件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sym typeface="+mn-ea"/>
              </a:rPr>
              <a:t>＋软件＋工作方式，</a:t>
            </a:r>
            <a:r>
              <a:rPr lang="zh-CN" altLang="en-US" sz="2000" b="1" u="sng" dirty="0">
                <a:solidFill>
                  <a:srgbClr val="990099"/>
                </a:solidFill>
                <a:latin typeface="+mn-ea"/>
                <a:sym typeface="+mn-ea"/>
              </a:rPr>
              <a:t>基于</a:t>
            </a:r>
            <a:r>
              <a:rPr lang="en-US" altLang="zh-CN" sz="2000" b="1" u="sng" dirty="0">
                <a:solidFill>
                  <a:srgbClr val="990099"/>
                </a:solidFill>
                <a:latin typeface="+mn-ea"/>
                <a:sym typeface="+mn-ea"/>
              </a:rPr>
              <a:t>ISA</a:t>
            </a:r>
            <a:r>
              <a:rPr lang="zh-CN" altLang="en-US" sz="2000" b="1" dirty="0">
                <a:solidFill>
                  <a:schemeClr val="tx1"/>
                </a:solidFill>
                <a:latin typeface="+mn-ea"/>
                <a:sym typeface="+mn-ea"/>
              </a:rPr>
              <a:t>组织</a:t>
            </a:r>
          </a:p>
        </p:txBody>
      </p:sp>
      <p:sp>
        <p:nvSpPr>
          <p:cNvPr id="373" name="Text Box 61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88000" y="5003992"/>
            <a:ext cx="4104000" cy="1476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0" tIns="0" rIns="0" bIns="0" anchor="t" anchorCtr="0"/>
          <a:lstStyle/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CPU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组织：</a:t>
            </a:r>
            <a:r>
              <a:rPr lang="en-US" altLang="zh-CN" sz="1400" b="1" dirty="0">
                <a:latin typeface="+mn-ea"/>
              </a:rPr>
              <a:t>(</a:t>
            </a:r>
            <a:r>
              <a:rPr lang="zh-CN" altLang="en-US" sz="1400" b="1" dirty="0">
                <a:latin typeface="+mn-ea"/>
              </a:rPr>
              <a:t>实现</a:t>
            </a:r>
            <a:r>
              <a:rPr lang="zh-CN" altLang="en-US" sz="1400" b="1" u="sng" dirty="0">
                <a:highlight>
                  <a:srgbClr val="CCFFFF"/>
                </a:highlight>
                <a:latin typeface="+mn-ea"/>
              </a:rPr>
              <a:t>程序的执行</a:t>
            </a:r>
            <a:r>
              <a:rPr lang="en-US" altLang="zh-CN" sz="14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①组成</a:t>
            </a:r>
            <a:r>
              <a:rPr lang="en-US" altLang="zh-CN" sz="1400" b="1" dirty="0">
                <a:latin typeface="+mn-ea"/>
                <a:sym typeface="+mn-ea"/>
              </a:rPr>
              <a:t>(DP+CU)</a:t>
            </a:r>
            <a:r>
              <a:rPr lang="zh-CN" altLang="en-US" sz="1600" b="1" dirty="0">
                <a:latin typeface="+mn-ea"/>
              </a:rPr>
              <a:t>，工作流程</a:t>
            </a:r>
            <a:r>
              <a:rPr lang="en-US" altLang="zh-CN" sz="1400" b="1" dirty="0">
                <a:latin typeface="+mn-ea"/>
              </a:rPr>
              <a:t>(</a:t>
            </a:r>
            <a:r>
              <a:rPr lang="zh-CN" altLang="en-US" sz="1400" b="1" dirty="0">
                <a:latin typeface="+mn-ea"/>
              </a:rPr>
              <a:t>执行指令</a:t>
            </a:r>
            <a:r>
              <a:rPr lang="en-US" altLang="zh-CN" sz="1400" b="1" dirty="0">
                <a:latin typeface="+mn-ea"/>
              </a:rPr>
              <a:t>+</a:t>
            </a:r>
            <a:r>
              <a:rPr lang="zh-CN" altLang="en-US" sz="1400" b="1" dirty="0">
                <a:latin typeface="+mn-ea"/>
              </a:rPr>
              <a:t>响应事件</a:t>
            </a:r>
            <a:r>
              <a:rPr lang="en-US" altLang="zh-CN" sz="1400" b="1" dirty="0">
                <a:latin typeface="+mn-ea"/>
              </a:rPr>
              <a:t>)</a:t>
            </a:r>
          </a:p>
          <a:p>
            <a:r>
              <a:rPr lang="zh-CN" altLang="en-US" sz="1600" b="1" dirty="0">
                <a:latin typeface="+mn-ea"/>
              </a:rPr>
              <a:t> ②</a:t>
            </a:r>
            <a:r>
              <a:rPr lang="en-US" altLang="zh-CN" sz="1600" b="1" dirty="0">
                <a:latin typeface="+mn-ea"/>
                <a:sym typeface="+mn-ea"/>
              </a:rPr>
              <a:t>DP</a:t>
            </a:r>
            <a:r>
              <a:rPr lang="zh-CN" altLang="en-US" sz="1600" b="1" dirty="0">
                <a:latin typeface="+mn-ea"/>
                <a:sym typeface="+mn-ea"/>
              </a:rPr>
              <a:t>组成</a:t>
            </a:r>
            <a:r>
              <a:rPr lang="en-US" altLang="zh-CN" sz="1400" b="1" dirty="0">
                <a:latin typeface="+mn-ea"/>
                <a:sym typeface="+mn-ea"/>
              </a:rPr>
              <a:t>(</a:t>
            </a:r>
            <a:r>
              <a:rPr lang="zh-CN" altLang="en-US" sz="1400" b="1" dirty="0">
                <a:latin typeface="+mn-ea"/>
                <a:sym typeface="+mn-ea"/>
              </a:rPr>
              <a:t>部件</a:t>
            </a:r>
            <a:r>
              <a:rPr lang="en-US" altLang="zh-CN" sz="1400" b="1" dirty="0">
                <a:latin typeface="+mn-ea"/>
                <a:sym typeface="+mn-ea"/>
              </a:rPr>
              <a:t>+</a:t>
            </a:r>
            <a:r>
              <a:rPr lang="zh-CN" altLang="en-US" sz="1400" b="1" dirty="0">
                <a:latin typeface="+mn-ea"/>
                <a:sym typeface="+mn-ea"/>
              </a:rPr>
              <a:t>互连</a:t>
            </a:r>
            <a:r>
              <a:rPr lang="en-US" altLang="zh-CN" sz="1400" b="1" dirty="0">
                <a:latin typeface="+mn-ea"/>
                <a:sym typeface="+mn-ea"/>
              </a:rPr>
              <a:t>) [</a:t>
            </a:r>
            <a:r>
              <a:rPr lang="zh-CN" altLang="en-US" sz="1400" b="1" dirty="0">
                <a:latin typeface="+mn-ea"/>
                <a:sym typeface="+mn-ea"/>
              </a:rPr>
              <a:t>部件</a:t>
            </a:r>
            <a:r>
              <a:rPr lang="en-US" altLang="zh-CN" sz="1400" b="1" dirty="0">
                <a:latin typeface="+mn-ea"/>
                <a:ea typeface="+mn-ea"/>
                <a:sym typeface="+mn-ea"/>
              </a:rPr>
              <a:t>=</a:t>
            </a:r>
            <a:r>
              <a:rPr lang="zh-CN" altLang="en-US" sz="1400" b="1" dirty="0">
                <a:latin typeface="+mn-ea"/>
                <a:ea typeface="+mn-ea"/>
                <a:sym typeface="+mn-ea"/>
              </a:rPr>
              <a:t>取指</a:t>
            </a:r>
            <a:r>
              <a:rPr lang="en-US" altLang="zh-CN" sz="1400" b="1" dirty="0">
                <a:latin typeface="+mn-ea"/>
                <a:ea typeface="+mn-ea"/>
                <a:sym typeface="+mn-ea"/>
              </a:rPr>
              <a:t>+</a:t>
            </a:r>
            <a:r>
              <a:rPr lang="zh-CN" altLang="en-US" sz="1400" b="1" dirty="0">
                <a:latin typeface="+mn-ea"/>
                <a:sym typeface="+mn-ea"/>
              </a:rPr>
              <a:t>运算器</a:t>
            </a:r>
            <a:r>
              <a:rPr lang="en-US" altLang="zh-CN" sz="1400" b="1" dirty="0">
                <a:latin typeface="+mn-ea"/>
                <a:sym typeface="+mn-ea"/>
              </a:rPr>
              <a:t>+…]</a:t>
            </a:r>
            <a:endParaRPr lang="en-US" altLang="zh-CN" sz="14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③</a:t>
            </a:r>
            <a:r>
              <a:rPr lang="zh-CN" altLang="en-US" sz="1600" b="1" dirty="0">
                <a:latin typeface="+mn-ea"/>
                <a:sym typeface="+mn-ea"/>
              </a:rPr>
              <a:t>指令执行过程组织</a:t>
            </a:r>
            <a:r>
              <a:rPr lang="en-US" altLang="zh-CN" sz="1400" b="1" dirty="0">
                <a:latin typeface="+mn-ea"/>
                <a:sym typeface="+mn-ea"/>
              </a:rPr>
              <a:t>(</a:t>
            </a:r>
            <a:r>
              <a:rPr lang="zh-CN" altLang="en-US" sz="1400" b="1" dirty="0">
                <a:latin typeface="+mn-ea"/>
                <a:sym typeface="+mn-ea"/>
              </a:rPr>
              <a:t>表示为各</a:t>
            </a:r>
            <a:r>
              <a:rPr lang="en-US" altLang="zh-CN" sz="1400" spc="-80" dirty="0" err="1">
                <a:sym typeface="+mn-ea"/>
              </a:rPr>
              <a:t>μ</a:t>
            </a:r>
            <a:r>
              <a:rPr lang="en-US" altLang="zh-CN" sz="1400" b="1" spc="-80" dirty="0" err="1">
                <a:latin typeface="宋体" panose="02010600030101010101" pitchFamily="2" charset="-122"/>
                <a:sym typeface="+mn-ea"/>
              </a:rPr>
              <a:t>OP</a:t>
            </a:r>
            <a:r>
              <a:rPr lang="en-US" altLang="zh-CN" sz="1400" b="1" dirty="0" err="1">
                <a:latin typeface="+mn-ea"/>
                <a:sym typeface="+mn-ea"/>
              </a:rPr>
              <a:t>Cmd</a:t>
            </a:r>
            <a:r>
              <a:rPr lang="zh-CN" altLang="en-US" sz="1400" b="1" dirty="0">
                <a:latin typeface="+mn-ea"/>
                <a:sym typeface="+mn-ea"/>
              </a:rPr>
              <a:t>序列</a:t>
            </a:r>
            <a:r>
              <a:rPr lang="en-US" altLang="zh-CN" sz="1400" b="1" dirty="0">
                <a:latin typeface="+mn-ea"/>
                <a:sym typeface="+mn-ea"/>
              </a:rPr>
              <a:t>)</a:t>
            </a:r>
            <a:endParaRPr lang="en-US" altLang="zh-CN" sz="14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 ④</a:t>
            </a:r>
            <a:r>
              <a:rPr lang="en-US" altLang="zh-CN" sz="1600" b="1" dirty="0">
                <a:latin typeface="+mn-ea"/>
              </a:rPr>
              <a:t>CU</a:t>
            </a:r>
            <a:r>
              <a:rPr lang="zh-CN" altLang="en-US" sz="1600" b="1" dirty="0">
                <a:latin typeface="+mn-ea"/>
              </a:rPr>
              <a:t>组成</a:t>
            </a:r>
            <a:r>
              <a:rPr lang="en-US" altLang="zh-CN" sz="1400" b="1" dirty="0">
                <a:latin typeface="+mn-ea"/>
              </a:rPr>
              <a:t>(3</a:t>
            </a:r>
            <a:r>
              <a:rPr lang="zh-CN" altLang="en-US" sz="1400" b="1" dirty="0">
                <a:latin typeface="+mn-ea"/>
              </a:rPr>
              <a:t>个部件</a:t>
            </a:r>
            <a:r>
              <a:rPr lang="en-US" altLang="zh-CN" sz="1400" b="1" dirty="0">
                <a:latin typeface="+mn-ea"/>
              </a:rPr>
              <a:t>,</a:t>
            </a:r>
            <a:r>
              <a:rPr lang="zh-CN" altLang="en-US" sz="1400" b="1" dirty="0">
                <a:latin typeface="+mn-ea"/>
              </a:rPr>
              <a:t>有序</a:t>
            </a:r>
            <a:r>
              <a:rPr lang="zh-CN" altLang="en-US" sz="1400" b="1" dirty="0">
                <a:latin typeface="+mn-ea"/>
                <a:sym typeface="+mn-ea"/>
              </a:rPr>
              <a:t>产生所需的</a:t>
            </a:r>
            <a:r>
              <a:rPr lang="en-US" altLang="zh-CN" sz="1400" spc="-80" dirty="0" err="1">
                <a:sym typeface="+mn-ea"/>
              </a:rPr>
              <a:t>μ</a:t>
            </a:r>
            <a:r>
              <a:rPr lang="en-US" altLang="zh-CN" sz="1400" b="1" spc="-80" dirty="0" err="1">
                <a:latin typeface="宋体" panose="02010600030101010101" pitchFamily="2" charset="-122"/>
                <a:sym typeface="+mn-ea"/>
              </a:rPr>
              <a:t>OP</a:t>
            </a:r>
            <a:r>
              <a:rPr lang="en-US" altLang="zh-CN" sz="1400" b="1" dirty="0" err="1">
                <a:latin typeface="+mn-ea"/>
                <a:sym typeface="+mn-ea"/>
              </a:rPr>
              <a:t>Cmd</a:t>
            </a:r>
            <a:r>
              <a:rPr lang="en-US" altLang="zh-CN" sz="1400" b="1" dirty="0">
                <a:latin typeface="+mn-ea"/>
                <a:sym typeface="+mn-ea"/>
              </a:rPr>
              <a:t>)</a:t>
            </a:r>
            <a:endParaRPr lang="en-US" altLang="zh-CN" sz="14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⑤中断机构组成</a:t>
            </a:r>
            <a:r>
              <a:rPr lang="en-US" altLang="zh-CN" sz="1400" b="1" dirty="0">
                <a:latin typeface="+mn-ea"/>
              </a:rPr>
              <a:t>(</a:t>
            </a:r>
            <a:r>
              <a:rPr lang="zh-CN" altLang="en-US" sz="1400" b="1" dirty="0">
                <a:latin typeface="+mn-ea"/>
              </a:rPr>
              <a:t>检测</a:t>
            </a:r>
            <a:r>
              <a:rPr lang="en-US" altLang="zh-CN" sz="1400" b="1" dirty="0">
                <a:latin typeface="+mn-ea"/>
              </a:rPr>
              <a:t>+</a:t>
            </a:r>
            <a:r>
              <a:rPr lang="zh-CN" altLang="en-US" sz="1400" b="1" dirty="0">
                <a:latin typeface="+mn-ea"/>
              </a:rPr>
              <a:t>响应</a:t>
            </a:r>
            <a:r>
              <a:rPr lang="en-US" altLang="zh-CN" sz="1400" b="1" dirty="0">
                <a:latin typeface="+mn-ea"/>
              </a:rPr>
              <a:t>) [</a:t>
            </a:r>
            <a:r>
              <a:rPr lang="zh-CN" altLang="en-US" sz="1400" b="1" dirty="0">
                <a:latin typeface="+mn-ea"/>
              </a:rPr>
              <a:t>异常</a:t>
            </a:r>
            <a:r>
              <a:rPr lang="en-US" altLang="zh-CN" sz="1400" b="1" dirty="0">
                <a:latin typeface="+mn-ea"/>
              </a:rPr>
              <a:t>/</a:t>
            </a:r>
            <a:r>
              <a:rPr lang="zh-CN" altLang="en-US" sz="1400" b="1" dirty="0">
                <a:latin typeface="+mn-ea"/>
              </a:rPr>
              <a:t>中断不同</a:t>
            </a:r>
            <a:r>
              <a:rPr lang="en-US" altLang="zh-CN" sz="1400" b="1" dirty="0">
                <a:latin typeface="+mn-ea"/>
              </a:rPr>
              <a:t>]</a:t>
            </a:r>
          </a:p>
        </p:txBody>
      </p:sp>
      <p:sp>
        <p:nvSpPr>
          <p:cNvPr id="374" name="Text Box 61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16000" y="719992"/>
            <a:ext cx="3132000" cy="1008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0" tIns="0" rIns="0" bIns="0" anchor="t" anchorCtr="0"/>
          <a:lstStyle/>
          <a:p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运算器组织：</a:t>
            </a:r>
            <a:r>
              <a:rPr lang="en-US" altLang="zh-CN" sz="1400" b="1" dirty="0">
                <a:latin typeface="+mn-ea"/>
              </a:rPr>
              <a:t>(</a:t>
            </a:r>
            <a:r>
              <a:rPr lang="zh-CN" altLang="en-US" sz="1400" b="1" dirty="0">
                <a:latin typeface="+mn-ea"/>
              </a:rPr>
              <a:t>实现</a:t>
            </a:r>
            <a:r>
              <a:rPr lang="en-US" altLang="zh-CN" sz="1400" b="1" u="sng" dirty="0">
                <a:highlight>
                  <a:srgbClr val="CCFFFF"/>
                </a:highlight>
                <a:latin typeface="+mn-ea"/>
              </a:rPr>
              <a:t>ISA</a:t>
            </a:r>
            <a:r>
              <a:rPr lang="zh-CN" altLang="en-US" sz="1400" b="1" u="sng" dirty="0">
                <a:highlight>
                  <a:srgbClr val="CCFFFF"/>
                </a:highlight>
                <a:latin typeface="+mn-ea"/>
              </a:rPr>
              <a:t>指令功能</a:t>
            </a:r>
            <a:r>
              <a:rPr lang="en-US" altLang="zh-CN" sz="14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①</a:t>
            </a:r>
            <a:r>
              <a:rPr lang="zh-CN" sz="1600" b="1" dirty="0">
                <a:latin typeface="+mn-ea"/>
              </a:rPr>
              <a:t>运算部件</a:t>
            </a:r>
            <a:r>
              <a:rPr lang="en-US" altLang="zh-CN" sz="1400" b="1" dirty="0">
                <a:latin typeface="+mn-ea"/>
              </a:rPr>
              <a:t>(</a:t>
            </a:r>
            <a:r>
              <a:rPr lang="zh-CN" altLang="en-US" sz="1400" b="1" dirty="0">
                <a:latin typeface="+mn-ea"/>
              </a:rPr>
              <a:t>满足</a:t>
            </a:r>
            <a:r>
              <a:rPr lang="zh-CN" altLang="en-US" sz="1400" b="1" dirty="0">
                <a:cs typeface="Times New Roman" panose="02020603050405020304" pitchFamily="18" charset="0"/>
              </a:rPr>
              <a:t>操作需求</a:t>
            </a:r>
            <a:r>
              <a:rPr lang="en-US" altLang="zh-CN" sz="1400" b="1" dirty="0">
                <a:latin typeface="+mn-ea"/>
                <a:ea typeface="+mn-ea"/>
                <a:cs typeface="Times New Roman" panose="02020603050405020304" pitchFamily="18" charset="0"/>
              </a:rPr>
              <a:t>[</a:t>
            </a:r>
            <a:r>
              <a:rPr lang="en-US" altLang="zh-CN" sz="1400" b="1" dirty="0">
                <a:cs typeface="Times New Roman" panose="02020603050405020304" pitchFamily="18" charset="0"/>
              </a:rPr>
              <a:t>~</a:t>
            </a:r>
            <a:r>
              <a:rPr lang="zh-CN" altLang="en-US" sz="1400" b="1" dirty="0">
                <a:latin typeface="+mn-ea"/>
                <a:ea typeface="+mn-ea"/>
                <a:cs typeface="Times New Roman" panose="02020603050405020304" pitchFamily="18" charset="0"/>
              </a:rPr>
              <a:t>表示</a:t>
            </a:r>
            <a:r>
              <a:rPr lang="en-US" altLang="zh-CN" sz="1400" b="1" dirty="0">
                <a:latin typeface="+mn-ea"/>
                <a:ea typeface="+mn-ea"/>
                <a:cs typeface="Times New Roman" panose="02020603050405020304" pitchFamily="18" charset="0"/>
              </a:rPr>
              <a:t>]</a:t>
            </a:r>
            <a:r>
              <a:rPr lang="en-US" altLang="zh-CN" sz="1400" b="1" dirty="0">
                <a:latin typeface="+mn-ea"/>
              </a:rPr>
              <a:t>)</a:t>
            </a:r>
            <a:endParaRPr lang="zh-CN" sz="1400" b="1" dirty="0">
              <a:latin typeface="+mn-ea"/>
            </a:endParaRPr>
          </a:p>
          <a:p>
            <a:r>
              <a:rPr lang="en-US" altLang="zh-CN" sz="1600" b="1" dirty="0">
                <a:latin typeface="+mn-ea"/>
                <a:sym typeface="+mn-ea"/>
              </a:rPr>
              <a:t> </a:t>
            </a:r>
            <a:r>
              <a:rPr lang="zh-CN" altLang="en-US" sz="1600" b="1" dirty="0">
                <a:latin typeface="+mn-ea"/>
                <a:sym typeface="+mn-ea"/>
              </a:rPr>
              <a:t>②存放</a:t>
            </a:r>
            <a:r>
              <a:rPr lang="zh-CN" sz="1600" b="1" dirty="0">
                <a:latin typeface="+mn-ea"/>
                <a:sym typeface="+mn-ea"/>
              </a:rPr>
              <a:t>部件</a:t>
            </a:r>
            <a:r>
              <a:rPr lang="en-US" altLang="zh-CN" sz="1400" b="1" dirty="0">
                <a:latin typeface="+mn-ea"/>
                <a:sym typeface="+mn-ea"/>
              </a:rPr>
              <a:t>(</a:t>
            </a:r>
            <a:r>
              <a:rPr lang="en-US" altLang="zh-CN" sz="1400" b="1" dirty="0" err="1">
                <a:latin typeface="+mn-ea"/>
                <a:sym typeface="+mn-ea"/>
              </a:rPr>
              <a:t>GPRs+PSR</a:t>
            </a:r>
            <a:r>
              <a:rPr lang="en-US" altLang="zh-CN" sz="1400" b="1" dirty="0">
                <a:latin typeface="+mn-ea"/>
                <a:sym typeface="+mn-ea"/>
              </a:rPr>
              <a:t>[</a:t>
            </a:r>
            <a:r>
              <a:rPr lang="en-US" altLang="zh-CN" sz="1400" b="1" dirty="0">
                <a:cs typeface="Times New Roman" panose="02020603050405020304" pitchFamily="18" charset="0"/>
              </a:rPr>
              <a:t>~</a:t>
            </a:r>
            <a:r>
              <a:rPr lang="en-US" altLang="zh-CN" sz="1400" b="1" dirty="0">
                <a:latin typeface="+mn-ea"/>
                <a:ea typeface="+mn-ea"/>
                <a:cs typeface="Times New Roman" panose="02020603050405020304" pitchFamily="18" charset="0"/>
              </a:rPr>
              <a:t>OPD</a:t>
            </a:r>
            <a:r>
              <a:rPr lang="zh-CN" altLang="en-US" sz="1400" b="1" dirty="0">
                <a:cs typeface="Times New Roman" panose="02020603050405020304" pitchFamily="18" charset="0"/>
              </a:rPr>
              <a:t>存放</a:t>
            </a:r>
            <a:r>
              <a:rPr lang="en-US" altLang="zh-CN" sz="1400" b="1" dirty="0">
                <a:latin typeface="+mn-ea"/>
                <a:ea typeface="+mn-ea"/>
                <a:cs typeface="Times New Roman" panose="02020603050405020304" pitchFamily="18" charset="0"/>
              </a:rPr>
              <a:t>]</a:t>
            </a:r>
            <a:r>
              <a:rPr lang="en-US" altLang="zh-CN" sz="1400" b="1" dirty="0">
                <a:latin typeface="+mn-ea"/>
                <a:sym typeface="+mn-ea"/>
              </a:rPr>
              <a:t>)</a:t>
            </a:r>
            <a:endParaRPr lang="zh-CN" altLang="en-US" sz="14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  <a:sym typeface="+mn-ea"/>
              </a:rPr>
              <a:t>③</a:t>
            </a:r>
            <a:r>
              <a:rPr lang="zh-CN" sz="1600" b="1" dirty="0">
                <a:latin typeface="+mn-ea"/>
                <a:sym typeface="+mn-ea"/>
              </a:rPr>
              <a:t>部件互连</a:t>
            </a:r>
            <a:r>
              <a:rPr lang="en-US" altLang="zh-CN" sz="1400" b="1" dirty="0">
                <a:latin typeface="+mn-ea"/>
                <a:sym typeface="+mn-ea"/>
              </a:rPr>
              <a:t>(</a:t>
            </a:r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结构</a:t>
            </a:r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+</a:t>
            </a:r>
            <a:r>
              <a: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连接</a:t>
            </a:r>
            <a:r>
              <a:rPr lang="en-US" altLang="zh-CN" sz="1400" b="1" dirty="0">
                <a:latin typeface="+mn-ea"/>
                <a:ea typeface="+mn-ea"/>
                <a:cs typeface="Times New Roman" panose="02020603050405020304" pitchFamily="18" charset="0"/>
                <a:sym typeface="+mn-ea"/>
              </a:rPr>
              <a:t>[</a:t>
            </a:r>
            <a:r>
              <a:rPr lang="en-US" altLang="zh-CN" sz="1400" b="1" dirty="0">
                <a:cs typeface="Times New Roman" panose="02020603050405020304" pitchFamily="18" charset="0"/>
                <a:sym typeface="+mn-ea"/>
              </a:rPr>
              <a:t>~</a:t>
            </a:r>
            <a:r>
              <a:rPr lang="zh-CN" altLang="en-US" sz="1400" b="1" dirty="0">
                <a:latin typeface="+mn-ea"/>
                <a:sym typeface="+mn-ea"/>
              </a:rPr>
              <a:t>数据路径</a:t>
            </a:r>
            <a:r>
              <a:rPr lang="en-US" altLang="zh-CN" sz="1400" b="1" dirty="0">
                <a:latin typeface="+mn-ea"/>
                <a:sym typeface="+mn-ea"/>
              </a:rPr>
              <a:t>])</a:t>
            </a:r>
          </a:p>
        </p:txBody>
      </p:sp>
      <p:grpSp>
        <p:nvGrpSpPr>
          <p:cNvPr id="375" name="组合 374"/>
          <p:cNvGrpSpPr/>
          <p:nvPr/>
        </p:nvGrpSpPr>
        <p:grpSpPr>
          <a:xfrm>
            <a:off x="324000" y="4283992"/>
            <a:ext cx="4211955" cy="683895"/>
            <a:chOff x="453" y="6804"/>
            <a:chExt cx="6633" cy="1077"/>
          </a:xfrm>
        </p:grpSpPr>
        <p:sp>
          <p:nvSpPr>
            <p:cNvPr id="376" name="Text Box 291"/>
            <p:cNvSpPr txBox="1">
              <a:spLocks noChangeArrowheads="1"/>
            </p:cNvSpPr>
            <p:nvPr>
              <p:custDataLst>
                <p:tags r:id="rId110"/>
              </p:custDataLst>
            </p:nvPr>
          </p:nvSpPr>
          <p:spPr bwMode="auto">
            <a:xfrm>
              <a:off x="1020" y="7598"/>
              <a:ext cx="5102" cy="283"/>
            </a:xfrm>
            <a:prstGeom prst="rect">
              <a:avLst/>
            </a:prstGeom>
            <a:solidFill>
              <a:srgbClr val="FFFFFF">
                <a:alpha val="78000"/>
              </a:srgbClr>
            </a:solidFill>
            <a:ln w="1270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程序</a:t>
              </a:r>
              <a:r>
                <a:rPr lang="en-US" altLang="zh-CN" sz="14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&amp;</a:t>
              </a:r>
              <a:r>
                <a:rPr lang="zh-CN" altLang="en-US" sz="14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数据</a:t>
              </a:r>
              <a:r>
                <a:rPr lang="zh-CN" altLang="en-US" sz="1400" b="1" dirty="0">
                  <a:latin typeface="宋体" panose="02010600030101010101" pitchFamily="2" charset="-122"/>
                </a:rPr>
                <a:t>放在</a:t>
              </a:r>
              <a:r>
                <a:rPr lang="zh-CN" altLang="en-US" sz="1400" b="1" dirty="0">
                  <a:highlight>
                    <a:srgbClr val="99CCFF"/>
                  </a:highlight>
                  <a:latin typeface="宋体" panose="02010600030101010101" pitchFamily="2" charset="-122"/>
                </a:rPr>
                <a:t>主存</a:t>
              </a:r>
              <a:r>
                <a:rPr lang="zh-CN" altLang="en-US" sz="1400" b="1" dirty="0">
                  <a:latin typeface="宋体" panose="02010600030101010101" pitchFamily="2" charset="-122"/>
                </a:rPr>
                <a:t>中，按</a:t>
              </a:r>
              <a:r>
                <a:rPr lang="zh-CN" altLang="en-US" sz="1400" b="1" dirty="0">
                  <a:highlight>
                    <a:srgbClr val="CCECFF"/>
                  </a:highlight>
                  <a:latin typeface="宋体" panose="02010600030101010101" pitchFamily="2" charset="-122"/>
                </a:rPr>
                <a:t>逻辑地址</a:t>
              </a:r>
              <a:r>
                <a:rPr lang="zh-CN" altLang="en-US" sz="1400" b="1" dirty="0">
                  <a:latin typeface="宋体" panose="02010600030101010101" pitchFamily="2" charset="-122"/>
                </a:rPr>
                <a:t>访问</a:t>
              </a:r>
            </a:p>
          </p:txBody>
        </p:sp>
        <p:sp>
          <p:nvSpPr>
            <p:cNvPr id="377" name="矩形 376"/>
            <p:cNvSpPr/>
            <p:nvPr>
              <p:custDataLst>
                <p:tags r:id="rId111"/>
              </p:custDataLst>
            </p:nvPr>
          </p:nvSpPr>
          <p:spPr bwMode="auto">
            <a:xfrm>
              <a:off x="566" y="6804"/>
              <a:ext cx="6406" cy="737"/>
            </a:xfrm>
            <a:prstGeom prst="rect">
              <a:avLst/>
            </a:prstGeom>
            <a:solidFill>
              <a:srgbClr val="CCFFFF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8" name="Text Box 311"/>
            <p:cNvSpPr txBox="1">
              <a:spLocks noChangeArrowheads="1"/>
            </p:cNvSpPr>
            <p:nvPr>
              <p:custDataLst>
                <p:tags r:id="rId112"/>
              </p:custDataLst>
            </p:nvPr>
          </p:nvSpPr>
          <p:spPr bwMode="auto">
            <a:xfrm>
              <a:off x="737" y="6861"/>
              <a:ext cx="964" cy="283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取指令</a:t>
              </a:r>
            </a:p>
          </p:txBody>
        </p:sp>
        <p:sp>
          <p:nvSpPr>
            <p:cNvPr id="379" name="Text Box 314"/>
            <p:cNvSpPr txBox="1">
              <a:spLocks noChangeArrowheads="1"/>
            </p:cNvSpPr>
            <p:nvPr>
              <p:custDataLst>
                <p:tags r:id="rId113"/>
              </p:custDataLst>
            </p:nvPr>
          </p:nvSpPr>
          <p:spPr bwMode="auto">
            <a:xfrm>
              <a:off x="1984" y="6861"/>
              <a:ext cx="1191" cy="28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分析指令</a:t>
              </a:r>
            </a:p>
          </p:txBody>
        </p:sp>
        <p:cxnSp>
          <p:nvCxnSpPr>
            <p:cNvPr id="380" name="直接箭头连接符 379"/>
            <p:cNvCxnSpPr/>
            <p:nvPr>
              <p:custDataLst>
                <p:tags r:id="rId114"/>
              </p:custDataLst>
            </p:nvPr>
          </p:nvCxnSpPr>
          <p:spPr bwMode="auto">
            <a:xfrm>
              <a:off x="1700" y="7031"/>
              <a:ext cx="283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81" name="直接箭头连接符 380"/>
            <p:cNvCxnSpPr/>
            <p:nvPr>
              <p:custDataLst>
                <p:tags r:id="rId115"/>
              </p:custDataLst>
            </p:nvPr>
          </p:nvCxnSpPr>
          <p:spPr bwMode="auto">
            <a:xfrm>
              <a:off x="3174" y="7031"/>
              <a:ext cx="283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82" name="直接箭头连接符 381"/>
            <p:cNvCxnSpPr/>
            <p:nvPr>
              <p:custDataLst>
                <p:tags r:id="rId116"/>
              </p:custDataLst>
            </p:nvPr>
          </p:nvCxnSpPr>
          <p:spPr bwMode="auto">
            <a:xfrm>
              <a:off x="6859" y="7031"/>
              <a:ext cx="227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83" name="直接箭头连接符 382"/>
            <p:cNvCxnSpPr/>
            <p:nvPr>
              <p:custDataLst>
                <p:tags r:id="rId117"/>
              </p:custDataLst>
            </p:nvPr>
          </p:nvCxnSpPr>
          <p:spPr bwMode="auto">
            <a:xfrm flipH="1">
              <a:off x="7086" y="7031"/>
              <a:ext cx="0" cy="85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84" name="直接箭头连接符 383"/>
            <p:cNvCxnSpPr/>
            <p:nvPr>
              <p:custDataLst>
                <p:tags r:id="rId118"/>
              </p:custDataLst>
            </p:nvPr>
          </p:nvCxnSpPr>
          <p:spPr bwMode="auto">
            <a:xfrm>
              <a:off x="453" y="7031"/>
              <a:ext cx="283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85" name="直接箭头连接符 384"/>
            <p:cNvCxnSpPr/>
            <p:nvPr>
              <p:custDataLst>
                <p:tags r:id="rId119"/>
              </p:custDataLst>
            </p:nvPr>
          </p:nvCxnSpPr>
          <p:spPr bwMode="auto">
            <a:xfrm flipH="1">
              <a:off x="453" y="7031"/>
              <a:ext cx="0" cy="85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386" name="直接箭头连接符 385"/>
            <p:cNvCxnSpPr/>
            <p:nvPr>
              <p:custDataLst>
                <p:tags r:id="rId120"/>
              </p:custDataLst>
            </p:nvPr>
          </p:nvCxnSpPr>
          <p:spPr bwMode="auto">
            <a:xfrm>
              <a:off x="453" y="7881"/>
              <a:ext cx="6633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87" name="Text Box 316"/>
            <p:cNvSpPr txBox="1">
              <a:spLocks noChangeArrowheads="1"/>
            </p:cNvSpPr>
            <p:nvPr>
              <p:custDataLst>
                <p:tags r:id="rId121"/>
              </p:custDataLst>
            </p:nvPr>
          </p:nvSpPr>
          <p:spPr bwMode="auto">
            <a:xfrm>
              <a:off x="963" y="7201"/>
              <a:ext cx="1928" cy="283"/>
            </a:xfrm>
            <a:prstGeom prst="rect">
              <a:avLst/>
            </a:prstGeom>
            <a:solidFill>
              <a:srgbClr val="CC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PC</a:t>
              </a:r>
              <a:r>
                <a:rPr lang="zh-CN" altLang="en-US" sz="14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←</a:t>
              </a:r>
              <a:r>
                <a:rPr lang="en-US" altLang="zh-CN" sz="14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(PC)</a:t>
              </a:r>
              <a:r>
                <a:rPr lang="zh-CN" altLang="en-US" sz="14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＋</a:t>
              </a:r>
              <a:r>
                <a:rPr lang="zh-CN" altLang="en-US" sz="1400" b="1" dirty="0">
                  <a:uFillTx/>
                  <a:latin typeface="宋体" panose="02010600030101010101" pitchFamily="2" charset="-122"/>
                  <a:cs typeface="宋体" panose="02010600030101010101" pitchFamily="2" charset="-122"/>
                  <a:sym typeface="Symbol" panose="05050102010706020507"/>
                </a:rPr>
                <a:t></a:t>
              </a:r>
              <a:r>
                <a:rPr lang="en-US" altLang="zh-CN" sz="1400" b="1" dirty="0">
                  <a:latin typeface="宋体" panose="02010600030101010101" pitchFamily="2" charset="-122"/>
                  <a:cs typeface="宋体" panose="02010600030101010101" pitchFamily="2" charset="-122"/>
                </a:rPr>
                <a:t>1</a:t>
              </a:r>
              <a:r>
                <a:rPr lang="zh-CN" altLang="en-US" sz="1400" b="1" dirty="0">
                  <a:uFillTx/>
                  <a:latin typeface="宋体" panose="02010600030101010101" pitchFamily="2" charset="-122"/>
                  <a:cs typeface="宋体" panose="02010600030101010101" pitchFamily="2" charset="-122"/>
                  <a:sym typeface="Symbol" panose="05050102010706020507"/>
                </a:rPr>
                <a:t></a:t>
              </a:r>
            </a:p>
          </p:txBody>
        </p:sp>
        <p:sp>
          <p:nvSpPr>
            <p:cNvPr id="388" name="Text Box 316"/>
            <p:cNvSpPr txBox="1">
              <a:spLocks noChangeArrowheads="1"/>
            </p:cNvSpPr>
            <p:nvPr>
              <p:custDataLst>
                <p:tags r:id="rId122"/>
              </p:custDataLst>
            </p:nvPr>
          </p:nvSpPr>
          <p:spPr bwMode="auto">
            <a:xfrm>
              <a:off x="3458" y="7201"/>
              <a:ext cx="3402" cy="283"/>
            </a:xfrm>
            <a:prstGeom prst="rect">
              <a:avLst/>
            </a:prstGeom>
            <a:solidFill>
              <a:srgbClr val="CCCCFF"/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PC</a:t>
              </a:r>
              <a:r>
                <a:rPr lang="zh-CN" altLang="en-US" sz="1400" b="1" dirty="0">
                  <a:latin typeface="宋体" panose="02010600030101010101" pitchFamily="2" charset="-122"/>
                </a:rPr>
                <a:t>←计算结果</a:t>
              </a:r>
            </a:p>
          </p:txBody>
        </p:sp>
        <p:sp>
          <p:nvSpPr>
            <p:cNvPr id="389" name="Text Box 316"/>
            <p:cNvSpPr txBox="1">
              <a:spLocks noChangeArrowheads="1"/>
            </p:cNvSpPr>
            <p:nvPr>
              <p:custDataLst>
                <p:tags r:id="rId123"/>
              </p:custDataLst>
            </p:nvPr>
          </p:nvSpPr>
          <p:spPr bwMode="auto">
            <a:xfrm>
              <a:off x="3458" y="6861"/>
              <a:ext cx="794" cy="283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取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OPD</a:t>
              </a:r>
            </a:p>
          </p:txBody>
        </p:sp>
        <p:sp>
          <p:nvSpPr>
            <p:cNvPr id="390" name="Text Box 316"/>
            <p:cNvSpPr txBox="1">
              <a:spLocks noChangeArrowheads="1"/>
            </p:cNvSpPr>
            <p:nvPr>
              <p:custDataLst>
                <p:tags r:id="rId124"/>
              </p:custDataLst>
            </p:nvPr>
          </p:nvSpPr>
          <p:spPr bwMode="auto">
            <a:xfrm>
              <a:off x="4535" y="6861"/>
              <a:ext cx="1247" cy="283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sz="1400" b="1" dirty="0">
                  <a:latin typeface="宋体" panose="02010600030101010101" pitchFamily="2" charset="-122"/>
                </a:rPr>
                <a:t>数据操作</a:t>
              </a:r>
            </a:p>
          </p:txBody>
        </p:sp>
        <p:sp>
          <p:nvSpPr>
            <p:cNvPr id="391" name="Text Box 316"/>
            <p:cNvSpPr txBox="1">
              <a:spLocks noChangeArrowheads="1"/>
            </p:cNvSpPr>
            <p:nvPr>
              <p:custDataLst>
                <p:tags r:id="rId125"/>
              </p:custDataLst>
            </p:nvPr>
          </p:nvSpPr>
          <p:spPr bwMode="auto">
            <a:xfrm>
              <a:off x="6066" y="6861"/>
              <a:ext cx="794" cy="283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存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OPD</a:t>
              </a:r>
            </a:p>
          </p:txBody>
        </p:sp>
        <p:cxnSp>
          <p:nvCxnSpPr>
            <p:cNvPr id="392" name="直接箭头连接符 391"/>
            <p:cNvCxnSpPr/>
            <p:nvPr>
              <p:custDataLst>
                <p:tags r:id="rId126"/>
              </p:custDataLst>
            </p:nvPr>
          </p:nvCxnSpPr>
          <p:spPr bwMode="auto">
            <a:xfrm>
              <a:off x="4252" y="7031"/>
              <a:ext cx="283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93" name="直接箭头连接符 392"/>
            <p:cNvCxnSpPr/>
            <p:nvPr>
              <p:custDataLst>
                <p:tags r:id="rId127"/>
              </p:custDataLst>
            </p:nvPr>
          </p:nvCxnSpPr>
          <p:spPr bwMode="auto">
            <a:xfrm>
              <a:off x="5782" y="7031"/>
              <a:ext cx="283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</p:grpSp>
      <p:grpSp>
        <p:nvGrpSpPr>
          <p:cNvPr id="186" name="组合 185">
            <a:extLst>
              <a:ext uri="{FF2B5EF4-FFF2-40B4-BE49-F238E27FC236}">
                <a16:creationId xmlns:a16="http://schemas.microsoft.com/office/drawing/2014/main" id="{F9046C49-D106-4D24-BC72-B134EEB0C01A}"/>
              </a:ext>
            </a:extLst>
          </p:cNvPr>
          <p:cNvGrpSpPr/>
          <p:nvPr/>
        </p:nvGrpSpPr>
        <p:grpSpPr>
          <a:xfrm>
            <a:off x="4064809" y="5003992"/>
            <a:ext cx="219159" cy="873264"/>
            <a:chOff x="3236841" y="4932000"/>
            <a:chExt cx="219159" cy="873264"/>
          </a:xfrm>
        </p:grpSpPr>
        <p:cxnSp>
          <p:nvCxnSpPr>
            <p:cNvPr id="289" name="直接连接符 288">
              <a:extLst>
                <a:ext uri="{FF2B5EF4-FFF2-40B4-BE49-F238E27FC236}">
                  <a16:creationId xmlns:a16="http://schemas.microsoft.com/office/drawing/2014/main" id="{6961C81D-B1DA-4D1B-B1F8-6BE8144B5D69}"/>
                </a:ext>
              </a:extLst>
            </p:cNvPr>
            <p:cNvCxnSpPr/>
            <p:nvPr/>
          </p:nvCxnSpPr>
          <p:spPr bwMode="auto">
            <a:xfrm flipH="1">
              <a:off x="3236841" y="5805264"/>
              <a:ext cx="216000" cy="0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triangle" w="med" len="med"/>
            </a:ln>
          </p:spPr>
        </p:cxnSp>
        <p:cxnSp>
          <p:nvCxnSpPr>
            <p:cNvPr id="290" name="直接连接符 289">
              <a:extLst>
                <a:ext uri="{FF2B5EF4-FFF2-40B4-BE49-F238E27FC236}">
                  <a16:creationId xmlns:a16="http://schemas.microsoft.com/office/drawing/2014/main" id="{42574096-CD00-41A1-A684-7BB65FB19638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456000" y="4932000"/>
              <a:ext cx="0" cy="864000"/>
            </a:xfrm>
            <a:prstGeom prst="line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293" name="直接连接符 292">
            <a:extLst>
              <a:ext uri="{FF2B5EF4-FFF2-40B4-BE49-F238E27FC236}">
                <a16:creationId xmlns:a16="http://schemas.microsoft.com/office/drawing/2014/main" id="{9B175B7B-02A9-4348-B067-D1776EE4B9DD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20000" y="3167992"/>
            <a:ext cx="2160000" cy="1620000"/>
          </a:xfrm>
          <a:prstGeom prst="line">
            <a:avLst/>
          </a:prstGeom>
          <a:noFill/>
          <a:ln w="9525" cap="flat" cmpd="sng" algn="ctr">
            <a:solidFill>
              <a:srgbClr val="CC6600"/>
            </a:solidFill>
            <a:prstDash val="sysDash"/>
            <a:round/>
            <a:headEnd type="none" w="med" len="med"/>
            <a:tailEnd type="triangle" w="med" len="med"/>
          </a:ln>
        </p:spPr>
      </p:cxnSp>
      <p:sp>
        <p:nvSpPr>
          <p:cNvPr id="295" name="Text Box 61">
            <a:extLst>
              <a:ext uri="{FF2B5EF4-FFF2-40B4-BE49-F238E27FC236}">
                <a16:creationId xmlns:a16="http://schemas.microsoft.com/office/drawing/2014/main" id="{372093C0-BAFF-4484-ABB6-7FDEFF3B28FD}"/>
              </a:ext>
            </a:extLst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216000" y="3239992"/>
            <a:ext cx="2592000" cy="1008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0" tIns="0" rIns="0" bIns="0" anchor="t" anchorCtr="0"/>
          <a:lstStyle/>
          <a:p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总线互连：</a:t>
            </a:r>
            <a:r>
              <a:rPr lang="en-US" altLang="zh-CN" sz="1400" b="1" dirty="0">
                <a:latin typeface="+mn-ea"/>
              </a:rPr>
              <a:t>(</a:t>
            </a:r>
            <a:r>
              <a:rPr lang="zh-CN" altLang="en-US" sz="1400" b="1" dirty="0">
                <a:latin typeface="+mn-ea"/>
              </a:rPr>
              <a:t>实现</a:t>
            </a:r>
            <a:r>
              <a:rPr lang="zh-CN" altLang="en-US" sz="1400" b="1" dirty="0">
                <a:highlight>
                  <a:srgbClr val="CCFFFF"/>
                </a:highlight>
                <a:latin typeface="+mn-ea"/>
              </a:rPr>
              <a:t>部件互连</a:t>
            </a:r>
            <a:r>
              <a:rPr lang="en-US" altLang="zh-CN" sz="1400" b="1" dirty="0">
                <a:latin typeface="+mn-ea"/>
              </a:rPr>
              <a:t>)</a:t>
            </a:r>
            <a:endParaRPr lang="zh-CN" altLang="en-US" sz="14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①</a:t>
            </a:r>
            <a:r>
              <a:rPr lang="zh-CN" altLang="en-US" sz="1600" b="1" dirty="0">
                <a:latin typeface="+mn-ea"/>
                <a:sym typeface="+mn-ea"/>
              </a:rPr>
              <a:t>操作过程</a:t>
            </a:r>
            <a:r>
              <a:rPr lang="en-US" altLang="zh-CN" sz="1400" b="1" dirty="0">
                <a:latin typeface="+mn-ea"/>
                <a:sym typeface="+mn-ea"/>
              </a:rPr>
              <a:t>(</a:t>
            </a:r>
            <a:r>
              <a:rPr lang="zh-CN" altLang="en-US" sz="1400" b="1" dirty="0">
                <a:latin typeface="+mn-ea"/>
              </a:rPr>
              <a:t>仲裁</a:t>
            </a:r>
            <a:r>
              <a:rPr lang="en-US" altLang="zh-CN" sz="1400" b="1" dirty="0">
                <a:latin typeface="+mn-ea"/>
              </a:rPr>
              <a:t>+</a:t>
            </a:r>
            <a:r>
              <a:rPr lang="zh-CN" altLang="en-US" sz="1400" b="1" dirty="0">
                <a:latin typeface="+mn-ea"/>
              </a:rPr>
              <a:t>传输</a:t>
            </a:r>
            <a:r>
              <a:rPr lang="en-US" altLang="zh-CN" sz="1400" b="1" dirty="0">
                <a:latin typeface="+mn-ea"/>
              </a:rPr>
              <a:t>[3</a:t>
            </a:r>
            <a:r>
              <a:rPr lang="zh-CN" altLang="en-US" sz="1400" b="1" dirty="0">
                <a:latin typeface="+mn-ea"/>
              </a:rPr>
              <a:t>步</a:t>
            </a:r>
            <a:r>
              <a:rPr lang="en-US" altLang="zh-CN" sz="1400" b="1" dirty="0">
                <a:latin typeface="+mn-ea"/>
              </a:rPr>
              <a:t>])</a:t>
            </a:r>
          </a:p>
          <a:p>
            <a:r>
              <a:rPr lang="zh-CN" altLang="en-US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  <a:sym typeface="+mn-ea"/>
              </a:rPr>
              <a:t>②</a:t>
            </a:r>
            <a:r>
              <a:rPr lang="zh-CN" altLang="en-US" sz="1600" b="1" dirty="0">
                <a:latin typeface="+mn-ea"/>
              </a:rPr>
              <a:t>仲裁方法</a:t>
            </a:r>
            <a:r>
              <a:rPr lang="en-US" altLang="zh-CN" sz="1400" b="1" dirty="0">
                <a:latin typeface="+mn-ea"/>
              </a:rPr>
              <a:t>(</a:t>
            </a:r>
            <a:r>
              <a:rPr lang="zh-CN" altLang="en-US" sz="1400" b="1" dirty="0">
                <a:latin typeface="+mn-ea"/>
              </a:rPr>
              <a:t>集中式有</a:t>
            </a:r>
            <a:r>
              <a:rPr lang="en-US" altLang="zh-CN" sz="1400" b="1" dirty="0">
                <a:latin typeface="+mn-ea"/>
              </a:rPr>
              <a:t>3</a:t>
            </a:r>
            <a:r>
              <a:rPr lang="zh-CN" altLang="en-US" sz="1400" b="1" dirty="0">
                <a:latin typeface="+mn-ea"/>
              </a:rPr>
              <a:t>种</a:t>
            </a:r>
            <a:r>
              <a:rPr lang="en-US" altLang="zh-CN" sz="1400" b="1" dirty="0"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③传输</a:t>
            </a:r>
            <a:r>
              <a:rPr lang="en-US" altLang="zh-CN" sz="1600" b="1" dirty="0">
                <a:latin typeface="+mn-ea"/>
              </a:rPr>
              <a:t>&amp;</a:t>
            </a:r>
            <a:r>
              <a:rPr lang="zh-CN" altLang="en-US" sz="1600" b="1" dirty="0">
                <a:latin typeface="+mn-ea"/>
              </a:rPr>
              <a:t>定时</a:t>
            </a:r>
            <a:r>
              <a:rPr lang="en-US" altLang="zh-CN" sz="1400" b="1" dirty="0">
                <a:latin typeface="+mn-ea"/>
              </a:rPr>
              <a:t>(</a:t>
            </a:r>
            <a:r>
              <a:rPr lang="zh-CN" altLang="en-US" sz="1400" b="1" dirty="0">
                <a:latin typeface="+mn-ea"/>
              </a:rPr>
              <a:t>协议</a:t>
            </a:r>
            <a:r>
              <a:rPr lang="en-US" altLang="zh-CN" sz="1400" b="1" dirty="0">
                <a:latin typeface="+mn-ea"/>
              </a:rPr>
              <a:t>/</a:t>
            </a:r>
            <a:r>
              <a:rPr lang="zh-CN" altLang="en-US" sz="1400" b="1" dirty="0">
                <a:latin typeface="+mn-ea"/>
              </a:rPr>
              <a:t>半同步等</a:t>
            </a:r>
            <a:r>
              <a:rPr lang="en-US" altLang="zh-CN" sz="1400" b="1" dirty="0">
                <a:latin typeface="+mn-ea"/>
              </a:rPr>
              <a:t>)</a:t>
            </a:r>
            <a:endParaRPr lang="zh-CN" altLang="en-US" sz="1400" b="1" dirty="0">
              <a:latin typeface="+mn-ea"/>
            </a:endParaRPr>
          </a:p>
        </p:txBody>
      </p:sp>
      <p:grpSp>
        <p:nvGrpSpPr>
          <p:cNvPr id="188" name="组合 187">
            <a:extLst>
              <a:ext uri="{FF2B5EF4-FFF2-40B4-BE49-F238E27FC236}">
                <a16:creationId xmlns:a16="http://schemas.microsoft.com/office/drawing/2014/main" id="{876D7387-9DD4-4633-A574-BBF58392F9AF}"/>
              </a:ext>
            </a:extLst>
          </p:cNvPr>
          <p:cNvGrpSpPr/>
          <p:nvPr/>
        </p:nvGrpSpPr>
        <p:grpSpPr>
          <a:xfrm>
            <a:off x="4788000" y="4139992"/>
            <a:ext cx="1872000" cy="683895"/>
            <a:chOff x="5471850" y="4212000"/>
            <a:chExt cx="1872000" cy="683895"/>
          </a:xfrm>
        </p:grpSpPr>
        <p:sp>
          <p:nvSpPr>
            <p:cNvPr id="7" name="Text Box 18"/>
            <p:cNvSpPr txBox="1">
              <a:spLocks noChangeArrowheads="1"/>
            </p:cNvSpPr>
            <p:nvPr>
              <p:custDataLst>
                <p:tags r:id="rId102"/>
              </p:custDataLst>
            </p:nvPr>
          </p:nvSpPr>
          <p:spPr bwMode="auto">
            <a:xfrm>
              <a:off x="5471850" y="4680000"/>
              <a:ext cx="756000" cy="180000"/>
            </a:xfrm>
            <a:prstGeom prst="rect">
              <a:avLst/>
            </a:prstGeom>
            <a:solidFill>
              <a:srgbClr val="CCE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+mn-ea"/>
                  <a:ea typeface="+mn-ea"/>
                </a:rPr>
                <a:t>设备</a:t>
              </a:r>
              <a:r>
                <a:rPr lang="zh-CN" altLang="en-US" sz="1400" b="1" dirty="0">
                  <a:latin typeface="+mn-ea"/>
                </a:rPr>
                <a:t>选择</a:t>
              </a:r>
              <a:endParaRPr lang="zh-CN" altLang="en-US" sz="1400" b="1" dirty="0">
                <a:latin typeface="+mn-ea"/>
                <a:ea typeface="+mn-ea"/>
              </a:endParaRPr>
            </a:p>
          </p:txBody>
        </p:sp>
        <p:sp>
          <p:nvSpPr>
            <p:cNvPr id="8" name="Text Box 18"/>
            <p:cNvSpPr txBox="1">
              <a:spLocks noChangeArrowheads="1"/>
            </p:cNvSpPr>
            <p:nvPr>
              <p:custDataLst>
                <p:tags r:id="rId103"/>
              </p:custDataLst>
            </p:nvPr>
          </p:nvSpPr>
          <p:spPr bwMode="auto">
            <a:xfrm>
              <a:off x="5723795" y="4212000"/>
              <a:ext cx="791845" cy="179705"/>
            </a:xfrm>
            <a:prstGeom prst="rect">
              <a:avLst/>
            </a:prstGeom>
            <a:solidFill>
              <a:srgbClr val="FF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+mn-ea"/>
                  <a:ea typeface="+mn-ea"/>
                </a:rPr>
                <a:t>控制逻辑</a:t>
              </a:r>
            </a:p>
          </p:txBody>
        </p:sp>
        <p:sp>
          <p:nvSpPr>
            <p:cNvPr id="9" name="Text Box 18"/>
            <p:cNvSpPr txBox="1">
              <a:spLocks noChangeArrowheads="1"/>
            </p:cNvSpPr>
            <p:nvPr>
              <p:custDataLst>
                <p:tags r:id="rId104"/>
              </p:custDataLst>
            </p:nvPr>
          </p:nvSpPr>
          <p:spPr bwMode="auto">
            <a:xfrm>
              <a:off x="6551850" y="4716190"/>
              <a:ext cx="792000" cy="179705"/>
            </a:xfrm>
            <a:prstGeom prst="rect">
              <a:avLst/>
            </a:prstGeom>
            <a:solidFill>
              <a:srgbClr val="CCCC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+mn-ea"/>
                  <a:ea typeface="+mn-ea"/>
                </a:rPr>
                <a:t>信号转换</a:t>
              </a:r>
            </a:p>
          </p:txBody>
        </p:sp>
        <p:cxnSp>
          <p:nvCxnSpPr>
            <p:cNvPr id="10" name="直接箭头连接符 9"/>
            <p:cNvCxnSpPr/>
            <p:nvPr>
              <p:custDataLst>
                <p:tags r:id="rId105"/>
              </p:custDataLst>
            </p:nvPr>
          </p:nvCxnSpPr>
          <p:spPr bwMode="auto">
            <a:xfrm>
              <a:off x="6839850" y="4608240"/>
              <a:ext cx="0" cy="10795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11" name="直接箭头连接符 10"/>
            <p:cNvCxnSpPr/>
            <p:nvPr>
              <p:custDataLst>
                <p:tags r:id="rId106"/>
              </p:custDataLst>
            </p:nvPr>
          </p:nvCxnSpPr>
          <p:spPr bwMode="auto">
            <a:xfrm>
              <a:off x="6515850" y="4538390"/>
              <a:ext cx="144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12" name="Text Box 18"/>
            <p:cNvSpPr txBox="1">
              <a:spLocks noChangeArrowheads="1"/>
            </p:cNvSpPr>
            <p:nvPr>
              <p:custDataLst>
                <p:tags r:id="rId107"/>
              </p:custDataLst>
            </p:nvPr>
          </p:nvSpPr>
          <p:spPr bwMode="auto">
            <a:xfrm>
              <a:off x="5722964" y="4427899"/>
              <a:ext cx="792000" cy="180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+mn-ea"/>
                  <a:ea typeface="+mn-ea"/>
                </a:rPr>
                <a:t>端口选择</a:t>
              </a:r>
            </a:p>
          </p:txBody>
        </p:sp>
        <p:cxnSp>
          <p:nvCxnSpPr>
            <p:cNvPr id="13" name="直接箭头连接符 12"/>
            <p:cNvCxnSpPr/>
            <p:nvPr>
              <p:custDataLst>
                <p:tags r:id="rId108"/>
              </p:custDataLst>
            </p:nvPr>
          </p:nvCxnSpPr>
          <p:spPr bwMode="auto">
            <a:xfrm>
              <a:off x="6515640" y="4284390"/>
              <a:ext cx="144145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14" name="直接箭头连接符 13"/>
            <p:cNvCxnSpPr/>
            <p:nvPr>
              <p:custDataLst>
                <p:tags r:id="rId109"/>
              </p:custDataLst>
            </p:nvPr>
          </p:nvCxnSpPr>
          <p:spPr bwMode="auto">
            <a:xfrm>
              <a:off x="5579850" y="4535850"/>
              <a:ext cx="144000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</p:grpSp>
      <p:grpSp>
        <p:nvGrpSpPr>
          <p:cNvPr id="304" name="组合 303">
            <a:extLst>
              <a:ext uri="{FF2B5EF4-FFF2-40B4-BE49-F238E27FC236}">
                <a16:creationId xmlns:a16="http://schemas.microsoft.com/office/drawing/2014/main" id="{E7051F3D-4E9E-4D06-9DF6-B9348C8142E1}"/>
              </a:ext>
            </a:extLst>
          </p:cNvPr>
          <p:cNvGrpSpPr/>
          <p:nvPr/>
        </p:nvGrpSpPr>
        <p:grpSpPr>
          <a:xfrm>
            <a:off x="5184000" y="2195992"/>
            <a:ext cx="3383700" cy="1440000"/>
            <a:chOff x="5184000" y="2268000"/>
            <a:chExt cx="3383700" cy="1440000"/>
          </a:xfrm>
        </p:grpSpPr>
        <p:cxnSp>
          <p:nvCxnSpPr>
            <p:cNvPr id="305" name="直接箭头连接符 304">
              <a:extLst>
                <a:ext uri="{FF2B5EF4-FFF2-40B4-BE49-F238E27FC236}">
                  <a16:creationId xmlns:a16="http://schemas.microsoft.com/office/drawing/2014/main" id="{01DB85AF-E368-4BCD-B431-365343FAA900}"/>
                </a:ext>
              </a:extLst>
            </p:cNvPr>
            <p:cNvCxnSpPr/>
            <p:nvPr>
              <p:custDataLst>
                <p:tags r:id="rId53"/>
              </p:custDataLst>
            </p:nvPr>
          </p:nvCxnSpPr>
          <p:spPr bwMode="auto">
            <a:xfrm flipV="1">
              <a:off x="5723799" y="3024000"/>
              <a:ext cx="432000" cy="6120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306" name="Rectangle 274">
              <a:extLst>
                <a:ext uri="{FF2B5EF4-FFF2-40B4-BE49-F238E27FC236}">
                  <a16:creationId xmlns:a16="http://schemas.microsoft.com/office/drawing/2014/main" id="{78BBC70A-6885-42ED-BB93-B5B21CB28E99}"/>
                </a:ext>
              </a:extLst>
            </p:cNvPr>
            <p:cNvSpPr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6731800" y="2340000"/>
              <a:ext cx="1548000" cy="756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952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  <p:sp>
          <p:nvSpPr>
            <p:cNvPr id="307" name="Text Box 256">
              <a:extLst>
                <a:ext uri="{FF2B5EF4-FFF2-40B4-BE49-F238E27FC236}">
                  <a16:creationId xmlns:a16="http://schemas.microsoft.com/office/drawing/2014/main" id="{C4BED2A1-7031-4C2B-A973-159DCE3CD5A3}"/>
                </a:ext>
              </a:extLst>
            </p:cNvPr>
            <p:cNvSpPr txBox="1"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6803800" y="2664000"/>
              <a:ext cx="216000" cy="288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ID</a:t>
              </a:r>
            </a:p>
          </p:txBody>
        </p:sp>
        <p:sp>
          <p:nvSpPr>
            <p:cNvPr id="308" name="Text Box 257">
              <a:extLst>
                <a:ext uri="{FF2B5EF4-FFF2-40B4-BE49-F238E27FC236}">
                  <a16:creationId xmlns:a16="http://schemas.microsoft.com/office/drawing/2014/main" id="{3226563E-CCBE-4F7F-9F88-2B586F375710}"/>
                </a:ext>
              </a:extLst>
            </p:cNvPr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6767800" y="2376000"/>
              <a:ext cx="1476000" cy="180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时序信号形成电路</a:t>
              </a:r>
            </a:p>
          </p:txBody>
        </p:sp>
        <p:sp>
          <p:nvSpPr>
            <p:cNvPr id="309" name="Text Box 258">
              <a:extLst>
                <a:ext uri="{FF2B5EF4-FFF2-40B4-BE49-F238E27FC236}">
                  <a16:creationId xmlns:a16="http://schemas.microsoft.com/office/drawing/2014/main" id="{B4372811-932D-4452-BBAF-22FADC809037}"/>
                </a:ext>
              </a:extLst>
            </p:cNvPr>
            <p:cNvSpPr txBox="1"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7163800" y="2663849"/>
              <a:ext cx="936000" cy="396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dirty="0" err="1"/>
                <a:t>μ</a:t>
              </a:r>
              <a:r>
                <a:rPr lang="en-US" altLang="zh-CN" sz="1400" b="1" dirty="0" err="1">
                  <a:latin typeface="宋体" panose="02010600030101010101" pitchFamily="2" charset="-122"/>
                </a:rPr>
                <a:t>OP</a:t>
              </a:r>
              <a:r>
                <a:rPr lang="zh-CN" altLang="en-US" sz="1400" b="1" dirty="0">
                  <a:latin typeface="宋体" panose="02010600030101010101" pitchFamily="2" charset="-122"/>
                </a:rPr>
                <a:t>控制信号形成电路</a:t>
              </a:r>
            </a:p>
          </p:txBody>
        </p:sp>
        <p:sp>
          <p:nvSpPr>
            <p:cNvPr id="310" name="Text Box 271">
              <a:extLst>
                <a:ext uri="{FF2B5EF4-FFF2-40B4-BE49-F238E27FC236}">
                  <a16:creationId xmlns:a16="http://schemas.microsoft.com/office/drawing/2014/main" id="{8B656098-07E1-41BB-B22A-6C7BB25F54B1}"/>
                </a:ext>
              </a:extLst>
            </p:cNvPr>
            <p:cNvSpPr txBox="1"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7451800" y="3096000"/>
              <a:ext cx="432000" cy="10795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solidFill>
                    <a:srgbClr val="FF3399"/>
                  </a:solidFill>
                  <a:latin typeface="+mn-ea"/>
                  <a:ea typeface="+mn-ea"/>
                </a:rPr>
                <a:t>……</a:t>
              </a:r>
            </a:p>
          </p:txBody>
        </p:sp>
        <p:cxnSp>
          <p:nvCxnSpPr>
            <p:cNvPr id="311" name="直接箭头连接符 310">
              <a:extLst>
                <a:ext uri="{FF2B5EF4-FFF2-40B4-BE49-F238E27FC236}">
                  <a16:creationId xmlns:a16="http://schemas.microsoft.com/office/drawing/2014/main" id="{B3FBE7D1-3D31-4EA4-ACB7-E701F114F68B}"/>
                </a:ext>
              </a:extLst>
            </p:cNvPr>
            <p:cNvCxnSpPr/>
            <p:nvPr>
              <p:custDataLst>
                <p:tags r:id="rId59"/>
              </p:custDataLst>
            </p:nvPr>
          </p:nvCxnSpPr>
          <p:spPr bwMode="auto">
            <a:xfrm>
              <a:off x="7019800" y="2700000"/>
              <a:ext cx="144145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12" name="直接箭头连接符 311">
              <a:extLst>
                <a:ext uri="{FF2B5EF4-FFF2-40B4-BE49-F238E27FC236}">
                  <a16:creationId xmlns:a16="http://schemas.microsoft.com/office/drawing/2014/main" id="{D93ECFA0-C7CA-4B43-A4BB-A22B64A7E2FA}"/>
                </a:ext>
              </a:extLst>
            </p:cNvPr>
            <p:cNvCxnSpPr/>
            <p:nvPr>
              <p:custDataLst>
                <p:tags r:id="rId60"/>
              </p:custDataLst>
            </p:nvPr>
          </p:nvCxnSpPr>
          <p:spPr bwMode="auto">
            <a:xfrm>
              <a:off x="7019800" y="2916000"/>
              <a:ext cx="144145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13" name="直接箭头连接符 312">
              <a:extLst>
                <a:ext uri="{FF2B5EF4-FFF2-40B4-BE49-F238E27FC236}">
                  <a16:creationId xmlns:a16="http://schemas.microsoft.com/office/drawing/2014/main" id="{8B05E862-EB65-43F9-8293-47B45B45351B}"/>
                </a:ext>
              </a:extLst>
            </p:cNvPr>
            <p:cNvCxnSpPr/>
            <p:nvPr>
              <p:custDataLst>
                <p:tags r:id="rId61"/>
              </p:custDataLst>
            </p:nvPr>
          </p:nvCxnSpPr>
          <p:spPr bwMode="auto">
            <a:xfrm>
              <a:off x="7812700" y="2556000"/>
              <a:ext cx="0" cy="1080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14" name="直接箭头连接符 313">
              <a:extLst>
                <a:ext uri="{FF2B5EF4-FFF2-40B4-BE49-F238E27FC236}">
                  <a16:creationId xmlns:a16="http://schemas.microsoft.com/office/drawing/2014/main" id="{BEFBAE04-A7C6-4638-8BA9-C754E8ABFD30}"/>
                </a:ext>
              </a:extLst>
            </p:cNvPr>
            <p:cNvCxnSpPr/>
            <p:nvPr>
              <p:custDataLst>
                <p:tags r:id="rId62"/>
              </p:custDataLst>
            </p:nvPr>
          </p:nvCxnSpPr>
          <p:spPr bwMode="auto">
            <a:xfrm>
              <a:off x="7524410" y="2556000"/>
              <a:ext cx="0" cy="1080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315" name="Text Box 271">
              <a:extLst>
                <a:ext uri="{FF2B5EF4-FFF2-40B4-BE49-F238E27FC236}">
                  <a16:creationId xmlns:a16="http://schemas.microsoft.com/office/drawing/2014/main" id="{27A3AE82-EC2F-4691-9745-18A7BE1D75CB}"/>
                </a:ext>
              </a:extLst>
            </p:cNvPr>
            <p:cNvSpPr txBox="1">
              <a:spLocks noChangeArrowheads="1"/>
            </p:cNvSpPr>
            <p:nvPr>
              <p:custDataLst>
                <p:tags r:id="rId63"/>
              </p:custDataLst>
            </p:nvPr>
          </p:nvSpPr>
          <p:spPr bwMode="auto">
            <a:xfrm>
              <a:off x="7559800" y="2556000"/>
              <a:ext cx="216000" cy="14478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solidFill>
                    <a:srgbClr val="C00000"/>
                  </a:solidFill>
                  <a:latin typeface="+mn-ea"/>
                  <a:ea typeface="+mn-ea"/>
                </a:rPr>
                <a:t>…</a:t>
              </a:r>
            </a:p>
          </p:txBody>
        </p:sp>
        <p:cxnSp>
          <p:nvCxnSpPr>
            <p:cNvPr id="316" name="直接箭头连接符 315">
              <a:extLst>
                <a:ext uri="{FF2B5EF4-FFF2-40B4-BE49-F238E27FC236}">
                  <a16:creationId xmlns:a16="http://schemas.microsoft.com/office/drawing/2014/main" id="{1D157357-0C67-4CC4-BF3C-16F1CDFFAE0C}"/>
                </a:ext>
              </a:extLst>
            </p:cNvPr>
            <p:cNvCxnSpPr/>
            <p:nvPr>
              <p:custDataLst>
                <p:tags r:id="rId64"/>
              </p:custDataLst>
            </p:nvPr>
          </p:nvCxnSpPr>
          <p:spPr bwMode="auto">
            <a:xfrm>
              <a:off x="6623800" y="2844000"/>
              <a:ext cx="180000" cy="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17" name="直接箭头连接符 316">
              <a:extLst>
                <a:ext uri="{FF2B5EF4-FFF2-40B4-BE49-F238E27FC236}">
                  <a16:creationId xmlns:a16="http://schemas.microsoft.com/office/drawing/2014/main" id="{9D0BA9B0-0DFE-4D34-AB46-C18D5C1CA688}"/>
                </a:ext>
              </a:extLst>
            </p:cNvPr>
            <p:cNvCxnSpPr/>
            <p:nvPr>
              <p:custDataLst>
                <p:tags r:id="rId65"/>
              </p:custDataLst>
            </p:nvPr>
          </p:nvCxnSpPr>
          <p:spPr bwMode="auto">
            <a:xfrm flipH="1">
              <a:off x="7919800" y="3060000"/>
              <a:ext cx="635" cy="1080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18" name="直接箭头连接符 317">
              <a:extLst>
                <a:ext uri="{FF2B5EF4-FFF2-40B4-BE49-F238E27FC236}">
                  <a16:creationId xmlns:a16="http://schemas.microsoft.com/office/drawing/2014/main" id="{27F98EDF-395B-40B1-AB37-11C8B02BC37F}"/>
                </a:ext>
              </a:extLst>
            </p:cNvPr>
            <p:cNvCxnSpPr/>
            <p:nvPr>
              <p:custDataLst>
                <p:tags r:id="rId66"/>
              </p:custDataLst>
            </p:nvPr>
          </p:nvCxnSpPr>
          <p:spPr bwMode="auto">
            <a:xfrm>
              <a:off x="7415800" y="3060000"/>
              <a:ext cx="0" cy="1080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319" name="Text Box 271">
              <a:extLst>
                <a:ext uri="{FF2B5EF4-FFF2-40B4-BE49-F238E27FC236}">
                  <a16:creationId xmlns:a16="http://schemas.microsoft.com/office/drawing/2014/main" id="{E1B9717E-D031-4BEE-83AD-398914EEC503}"/>
                </a:ext>
              </a:extLst>
            </p:cNvPr>
            <p:cNvSpPr txBox="1">
              <a:spLocks noChangeArrowheads="1"/>
            </p:cNvSpPr>
            <p:nvPr>
              <p:custDataLst>
                <p:tags r:id="rId67"/>
              </p:custDataLst>
            </p:nvPr>
          </p:nvSpPr>
          <p:spPr bwMode="auto">
            <a:xfrm>
              <a:off x="6983800" y="2700000"/>
              <a:ext cx="144145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0" tIns="0" rIns="0" bIns="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400" b="1" dirty="0">
                  <a:latin typeface="+mn-ea"/>
                  <a:ea typeface="+mn-ea"/>
                </a:rPr>
                <a:t>…</a:t>
              </a:r>
            </a:p>
          </p:txBody>
        </p:sp>
        <p:cxnSp>
          <p:nvCxnSpPr>
            <p:cNvPr id="320" name="直接箭头连接符 319">
              <a:extLst>
                <a:ext uri="{FF2B5EF4-FFF2-40B4-BE49-F238E27FC236}">
                  <a16:creationId xmlns:a16="http://schemas.microsoft.com/office/drawing/2014/main" id="{D856EBA8-0E40-4F33-97EB-B456F16770A2}"/>
                </a:ext>
              </a:extLst>
            </p:cNvPr>
            <p:cNvCxnSpPr/>
            <p:nvPr>
              <p:custDataLst>
                <p:tags r:id="rId68"/>
              </p:custDataLst>
            </p:nvPr>
          </p:nvCxnSpPr>
          <p:spPr bwMode="auto">
            <a:xfrm flipH="1">
              <a:off x="8099800" y="2916000"/>
              <a:ext cx="252000" cy="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21" name="直接箭头连接符 320">
              <a:extLst>
                <a:ext uri="{FF2B5EF4-FFF2-40B4-BE49-F238E27FC236}">
                  <a16:creationId xmlns:a16="http://schemas.microsoft.com/office/drawing/2014/main" id="{63C864CE-6060-4670-BDEC-50F4FE4BCD13}"/>
                </a:ext>
              </a:extLst>
            </p:cNvPr>
            <p:cNvCxnSpPr/>
            <p:nvPr>
              <p:custDataLst>
                <p:tags r:id="rId69"/>
              </p:custDataLst>
            </p:nvPr>
          </p:nvCxnSpPr>
          <p:spPr bwMode="auto">
            <a:xfrm flipH="1">
              <a:off x="6623800" y="2412000"/>
              <a:ext cx="144000" cy="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22" name="直接箭头连接符 321">
              <a:extLst>
                <a:ext uri="{FF2B5EF4-FFF2-40B4-BE49-F238E27FC236}">
                  <a16:creationId xmlns:a16="http://schemas.microsoft.com/office/drawing/2014/main" id="{11B40529-6A8F-408A-BA1E-C3650CA2C1B6}"/>
                </a:ext>
              </a:extLst>
            </p:cNvPr>
            <p:cNvCxnSpPr/>
            <p:nvPr>
              <p:custDataLst>
                <p:tags r:id="rId70"/>
              </p:custDataLst>
            </p:nvPr>
          </p:nvCxnSpPr>
          <p:spPr bwMode="auto">
            <a:xfrm flipH="1">
              <a:off x="6623800" y="2484000"/>
              <a:ext cx="144000" cy="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23" name="直接箭头连接符 117">
              <a:extLst>
                <a:ext uri="{FF2B5EF4-FFF2-40B4-BE49-F238E27FC236}">
                  <a16:creationId xmlns:a16="http://schemas.microsoft.com/office/drawing/2014/main" id="{AC75A54C-7B20-4E01-9FAB-A4E04CA46431}"/>
                </a:ext>
              </a:extLst>
            </p:cNvPr>
            <p:cNvCxnSpPr/>
            <p:nvPr>
              <p:custDataLst>
                <p:tags r:id="rId71"/>
              </p:custDataLst>
            </p:nvPr>
          </p:nvCxnSpPr>
          <p:spPr bwMode="auto">
            <a:xfrm>
              <a:off x="6155800" y="3024000"/>
              <a:ext cx="10080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324" name="Text Box 333">
              <a:extLst>
                <a:ext uri="{FF2B5EF4-FFF2-40B4-BE49-F238E27FC236}">
                  <a16:creationId xmlns:a16="http://schemas.microsoft.com/office/drawing/2014/main" id="{70C0B74F-38EB-45F8-9EAD-6DEBFFD0CFF3}"/>
                </a:ext>
              </a:extLst>
            </p:cNvPr>
            <p:cNvSpPr txBox="1">
              <a:spLocks noChangeArrowheads="1"/>
            </p:cNvSpPr>
            <p:nvPr>
              <p:custDataLst>
                <p:tags r:id="rId72"/>
              </p:custDataLst>
            </p:nvPr>
          </p:nvSpPr>
          <p:spPr bwMode="auto">
            <a:xfrm>
              <a:off x="5832134" y="2520000"/>
              <a:ext cx="216000" cy="1116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vert="eaVert"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通路结构</a:t>
              </a:r>
            </a:p>
          </p:txBody>
        </p:sp>
        <p:sp>
          <p:nvSpPr>
            <p:cNvPr id="325" name="Rectangle 274">
              <a:extLst>
                <a:ext uri="{FF2B5EF4-FFF2-40B4-BE49-F238E27FC236}">
                  <a16:creationId xmlns:a16="http://schemas.microsoft.com/office/drawing/2014/main" id="{2BCE1B6A-65D7-4F37-9A9A-294FA322BBFC}"/>
                </a:ext>
              </a:extLst>
            </p:cNvPr>
            <p:cNvSpPr>
              <a:spLocks noChangeArrowheads="1"/>
            </p:cNvSpPr>
            <p:nvPr>
              <p:custDataLst>
                <p:tags r:id="rId73"/>
              </p:custDataLst>
            </p:nvPr>
          </p:nvSpPr>
          <p:spPr bwMode="auto">
            <a:xfrm>
              <a:off x="6155800" y="2520000"/>
              <a:ext cx="468000" cy="46800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952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  <p:sp>
          <p:nvSpPr>
            <p:cNvPr id="326" name="Text Box 276">
              <a:extLst>
                <a:ext uri="{FF2B5EF4-FFF2-40B4-BE49-F238E27FC236}">
                  <a16:creationId xmlns:a16="http://schemas.microsoft.com/office/drawing/2014/main" id="{80B27591-40A0-494C-A0F4-0F68C1CA733C}"/>
                </a:ext>
              </a:extLst>
            </p:cNvPr>
            <p:cNvSpPr txBox="1">
              <a:spLocks noChangeArrowheads="1"/>
            </p:cNvSpPr>
            <p:nvPr>
              <p:custDataLst>
                <p:tags r:id="rId74"/>
              </p:custDataLst>
            </p:nvPr>
          </p:nvSpPr>
          <p:spPr bwMode="auto">
            <a:xfrm>
              <a:off x="6192179" y="2558099"/>
              <a:ext cx="396000" cy="180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PC</a:t>
              </a:r>
            </a:p>
          </p:txBody>
        </p:sp>
        <p:sp>
          <p:nvSpPr>
            <p:cNvPr id="327" name="Text Box 276">
              <a:extLst>
                <a:ext uri="{FF2B5EF4-FFF2-40B4-BE49-F238E27FC236}">
                  <a16:creationId xmlns:a16="http://schemas.microsoft.com/office/drawing/2014/main" id="{53DC78F3-AD0B-4D0B-B685-08BAA5F2666D}"/>
                </a:ext>
              </a:extLst>
            </p:cNvPr>
            <p:cNvSpPr txBox="1">
              <a:spLocks noChangeArrowheads="1"/>
            </p:cNvSpPr>
            <p:nvPr>
              <p:custDataLst>
                <p:tags r:id="rId75"/>
              </p:custDataLst>
            </p:nvPr>
          </p:nvSpPr>
          <p:spPr bwMode="auto">
            <a:xfrm>
              <a:off x="6192179" y="2773999"/>
              <a:ext cx="396000" cy="180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IR</a:t>
              </a:r>
            </a:p>
          </p:txBody>
        </p:sp>
        <p:cxnSp>
          <p:nvCxnSpPr>
            <p:cNvPr id="328" name="直接箭头连接符 327">
              <a:extLst>
                <a:ext uri="{FF2B5EF4-FFF2-40B4-BE49-F238E27FC236}">
                  <a16:creationId xmlns:a16="http://schemas.microsoft.com/office/drawing/2014/main" id="{BB0E25B0-BA2A-432C-9649-F435E5527EA4}"/>
                </a:ext>
              </a:extLst>
            </p:cNvPr>
            <p:cNvCxnSpPr/>
            <p:nvPr>
              <p:custDataLst>
                <p:tags r:id="rId76"/>
              </p:custDataLst>
            </p:nvPr>
          </p:nvCxnSpPr>
          <p:spPr bwMode="auto">
            <a:xfrm>
              <a:off x="6047800" y="2593760"/>
              <a:ext cx="144000" cy="635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29" name="直接箭头连接符 328">
              <a:extLst>
                <a:ext uri="{FF2B5EF4-FFF2-40B4-BE49-F238E27FC236}">
                  <a16:creationId xmlns:a16="http://schemas.microsoft.com/office/drawing/2014/main" id="{11EF8447-7317-4076-88D4-7417AF9F2DB5}"/>
                </a:ext>
              </a:extLst>
            </p:cNvPr>
            <p:cNvCxnSpPr/>
            <p:nvPr>
              <p:custDataLst>
                <p:tags r:id="rId77"/>
              </p:custDataLst>
            </p:nvPr>
          </p:nvCxnSpPr>
          <p:spPr bwMode="auto">
            <a:xfrm flipH="1" flipV="1">
              <a:off x="6047800" y="2701760"/>
              <a:ext cx="144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30" name="直接箭头连接符 329">
              <a:extLst>
                <a:ext uri="{FF2B5EF4-FFF2-40B4-BE49-F238E27FC236}">
                  <a16:creationId xmlns:a16="http://schemas.microsoft.com/office/drawing/2014/main" id="{E99EA17D-01D6-4EFC-B8B3-51ADDD510BD3}"/>
                </a:ext>
              </a:extLst>
            </p:cNvPr>
            <p:cNvCxnSpPr/>
            <p:nvPr>
              <p:custDataLst>
                <p:tags r:id="rId78"/>
              </p:custDataLst>
            </p:nvPr>
          </p:nvCxnSpPr>
          <p:spPr bwMode="auto">
            <a:xfrm>
              <a:off x="6047800" y="2845760"/>
              <a:ext cx="144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331" name="Text Box 227">
              <a:extLst>
                <a:ext uri="{FF2B5EF4-FFF2-40B4-BE49-F238E27FC236}">
                  <a16:creationId xmlns:a16="http://schemas.microsoft.com/office/drawing/2014/main" id="{AA6874FB-0291-4B67-87C1-C07F24332394}"/>
                </a:ext>
              </a:extLst>
            </p:cNvPr>
            <p:cNvSpPr txBox="1">
              <a:spLocks noChangeArrowheads="1"/>
            </p:cNvSpPr>
            <p:nvPr>
              <p:custDataLst>
                <p:tags r:id="rId79"/>
              </p:custDataLst>
            </p:nvPr>
          </p:nvSpPr>
          <p:spPr bwMode="auto">
            <a:xfrm>
              <a:off x="8351800" y="2844000"/>
              <a:ext cx="215900" cy="864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vert="eaVert"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中断机构</a:t>
              </a:r>
            </a:p>
          </p:txBody>
        </p:sp>
        <p:cxnSp>
          <p:nvCxnSpPr>
            <p:cNvPr id="332" name="直接箭头连接符 331">
              <a:extLst>
                <a:ext uri="{FF2B5EF4-FFF2-40B4-BE49-F238E27FC236}">
                  <a16:creationId xmlns:a16="http://schemas.microsoft.com/office/drawing/2014/main" id="{3E342FEE-68FD-47C4-83B9-D80E00651439}"/>
                </a:ext>
              </a:extLst>
            </p:cNvPr>
            <p:cNvCxnSpPr>
              <a:cxnSpLocks/>
            </p:cNvCxnSpPr>
            <p:nvPr>
              <p:custDataLst>
                <p:tags r:id="rId80"/>
              </p:custDataLst>
            </p:nvPr>
          </p:nvCxnSpPr>
          <p:spPr bwMode="auto">
            <a:xfrm>
              <a:off x="8495800" y="2304000"/>
              <a:ext cx="0" cy="54000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</p:cxnSp>
        <p:cxnSp>
          <p:nvCxnSpPr>
            <p:cNvPr id="333" name="直接箭头连接符 332">
              <a:extLst>
                <a:ext uri="{FF2B5EF4-FFF2-40B4-BE49-F238E27FC236}">
                  <a16:creationId xmlns:a16="http://schemas.microsoft.com/office/drawing/2014/main" id="{70D34902-98D5-49BB-AB10-16B3A9B257DA}"/>
                </a:ext>
              </a:extLst>
            </p:cNvPr>
            <p:cNvCxnSpPr/>
            <p:nvPr>
              <p:custDataLst>
                <p:tags r:id="rId81"/>
              </p:custDataLst>
            </p:nvPr>
          </p:nvCxnSpPr>
          <p:spPr bwMode="auto">
            <a:xfrm>
              <a:off x="6479800" y="2304000"/>
              <a:ext cx="2016000" cy="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334" name="Text Box 392">
              <a:extLst>
                <a:ext uri="{FF2B5EF4-FFF2-40B4-BE49-F238E27FC236}">
                  <a16:creationId xmlns:a16="http://schemas.microsoft.com/office/drawing/2014/main" id="{AA6E6CDA-D54A-463F-95FF-CDC54B819592}"/>
                </a:ext>
              </a:extLst>
            </p:cNvPr>
            <p:cNvSpPr txBox="1">
              <a:spLocks noChangeArrowheads="1"/>
            </p:cNvSpPr>
            <p:nvPr>
              <p:custDataLst>
                <p:tags r:id="rId82"/>
              </p:custDataLst>
            </p:nvPr>
          </p:nvSpPr>
          <p:spPr bwMode="auto">
            <a:xfrm>
              <a:off x="5831800" y="2268000"/>
              <a:ext cx="396000" cy="144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异常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335" name="Text Box 276">
              <a:extLst>
                <a:ext uri="{FF2B5EF4-FFF2-40B4-BE49-F238E27FC236}">
                  <a16:creationId xmlns:a16="http://schemas.microsoft.com/office/drawing/2014/main" id="{84396C58-2058-48DE-807A-ED6B7336A89C}"/>
                </a:ext>
              </a:extLst>
            </p:cNvPr>
            <p:cNvSpPr txBox="1">
              <a:spLocks noChangeArrowheads="1"/>
            </p:cNvSpPr>
            <p:nvPr>
              <p:custDataLst>
                <p:tags r:id="rId83"/>
              </p:custDataLst>
            </p:nvPr>
          </p:nvSpPr>
          <p:spPr bwMode="auto">
            <a:xfrm>
              <a:off x="6335800" y="2268000"/>
              <a:ext cx="144000" cy="144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+</a:t>
              </a:r>
            </a:p>
          </p:txBody>
        </p:sp>
        <p:cxnSp>
          <p:nvCxnSpPr>
            <p:cNvPr id="336" name="直接箭头连接符 335">
              <a:extLst>
                <a:ext uri="{FF2B5EF4-FFF2-40B4-BE49-F238E27FC236}">
                  <a16:creationId xmlns:a16="http://schemas.microsoft.com/office/drawing/2014/main" id="{6CCAD6E8-89D6-4BEB-951A-AAEE3F562469}"/>
                </a:ext>
              </a:extLst>
            </p:cNvPr>
            <p:cNvCxnSpPr/>
            <p:nvPr>
              <p:custDataLst>
                <p:tags r:id="rId84"/>
              </p:custDataLst>
            </p:nvPr>
          </p:nvCxnSpPr>
          <p:spPr bwMode="auto">
            <a:xfrm>
              <a:off x="6228079" y="2376000"/>
              <a:ext cx="108000" cy="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337" name="直接箭头连接符 336">
              <a:extLst>
                <a:ext uri="{FF2B5EF4-FFF2-40B4-BE49-F238E27FC236}">
                  <a16:creationId xmlns:a16="http://schemas.microsoft.com/office/drawing/2014/main" id="{EC5DF7F8-B304-4333-84D0-5F9C04D35C8E}"/>
                </a:ext>
              </a:extLst>
            </p:cNvPr>
            <p:cNvCxnSpPr/>
            <p:nvPr>
              <p:custDataLst>
                <p:tags r:id="rId85"/>
              </p:custDataLst>
            </p:nvPr>
          </p:nvCxnSpPr>
          <p:spPr bwMode="auto">
            <a:xfrm>
              <a:off x="6228079" y="2304000"/>
              <a:ext cx="108000" cy="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338" name="直接箭头连接符 337">
              <a:extLst>
                <a:ext uri="{FF2B5EF4-FFF2-40B4-BE49-F238E27FC236}">
                  <a16:creationId xmlns:a16="http://schemas.microsoft.com/office/drawing/2014/main" id="{6A2710D7-533C-478D-9FDE-FA2DBDED6351}"/>
                </a:ext>
              </a:extLst>
            </p:cNvPr>
            <p:cNvCxnSpPr/>
            <p:nvPr>
              <p:custDataLst>
                <p:tags r:id="rId86"/>
              </p:custDataLst>
            </p:nvPr>
          </p:nvCxnSpPr>
          <p:spPr bwMode="auto">
            <a:xfrm>
              <a:off x="6227800" y="2340000"/>
              <a:ext cx="108000" cy="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339" name="直接箭头连接符 338">
              <a:extLst>
                <a:ext uri="{FF2B5EF4-FFF2-40B4-BE49-F238E27FC236}">
                  <a16:creationId xmlns:a16="http://schemas.microsoft.com/office/drawing/2014/main" id="{32D7353D-2205-4C23-95D4-DC2557A5E017}"/>
                </a:ext>
              </a:extLst>
            </p:cNvPr>
            <p:cNvCxnSpPr/>
            <p:nvPr>
              <p:custDataLst>
                <p:tags r:id="rId87"/>
              </p:custDataLst>
            </p:nvPr>
          </p:nvCxnSpPr>
          <p:spPr bwMode="auto">
            <a:xfrm flipH="1">
              <a:off x="6047800" y="3240000"/>
              <a:ext cx="2304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40" name="直接箭头连接符 339">
              <a:extLst>
                <a:ext uri="{FF2B5EF4-FFF2-40B4-BE49-F238E27FC236}">
                  <a16:creationId xmlns:a16="http://schemas.microsoft.com/office/drawing/2014/main" id="{DAB15118-0E95-4E97-B4D1-DA1CDD6C93C5}"/>
                </a:ext>
              </a:extLst>
            </p:cNvPr>
            <p:cNvCxnSpPr/>
            <p:nvPr>
              <p:custDataLst>
                <p:tags r:id="rId88"/>
              </p:custDataLst>
            </p:nvPr>
          </p:nvCxnSpPr>
          <p:spPr bwMode="auto">
            <a:xfrm>
              <a:off x="6047800" y="3204000"/>
              <a:ext cx="2304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341" name="Text Box 291">
              <a:extLst>
                <a:ext uri="{FF2B5EF4-FFF2-40B4-BE49-F238E27FC236}">
                  <a16:creationId xmlns:a16="http://schemas.microsoft.com/office/drawing/2014/main" id="{FF095E49-DC9C-4F52-9335-70C0E88C0BE1}"/>
                </a:ext>
              </a:extLst>
            </p:cNvPr>
            <p:cNvSpPr txBox="1">
              <a:spLocks noChangeArrowheads="1"/>
            </p:cNvSpPr>
            <p:nvPr>
              <p:custDataLst>
                <p:tags r:id="rId89"/>
              </p:custDataLst>
            </p:nvPr>
          </p:nvSpPr>
          <p:spPr bwMode="auto">
            <a:xfrm>
              <a:off x="7811800" y="3311181"/>
              <a:ext cx="468000" cy="39600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8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总线逻辑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342" name="直接箭头连接符 341">
              <a:extLst>
                <a:ext uri="{FF2B5EF4-FFF2-40B4-BE49-F238E27FC236}">
                  <a16:creationId xmlns:a16="http://schemas.microsoft.com/office/drawing/2014/main" id="{68275D9B-399B-4CB1-BA1A-57E56E17C344}"/>
                </a:ext>
              </a:extLst>
            </p:cNvPr>
            <p:cNvCxnSpPr/>
            <p:nvPr>
              <p:custDataLst>
                <p:tags r:id="rId90"/>
              </p:custDataLst>
            </p:nvPr>
          </p:nvCxnSpPr>
          <p:spPr bwMode="auto">
            <a:xfrm>
              <a:off x="6047800" y="3527181"/>
              <a:ext cx="144000" cy="635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43" name="直接箭头连接符 342">
              <a:extLst>
                <a:ext uri="{FF2B5EF4-FFF2-40B4-BE49-F238E27FC236}">
                  <a16:creationId xmlns:a16="http://schemas.microsoft.com/office/drawing/2014/main" id="{911CC0E6-4B0E-43D7-A410-DBFA0F8CBF4C}"/>
                </a:ext>
              </a:extLst>
            </p:cNvPr>
            <p:cNvCxnSpPr/>
            <p:nvPr>
              <p:custDataLst>
                <p:tags r:id="rId91"/>
              </p:custDataLst>
            </p:nvPr>
          </p:nvCxnSpPr>
          <p:spPr bwMode="auto">
            <a:xfrm flipH="1" flipV="1">
              <a:off x="6047800" y="3599181"/>
              <a:ext cx="144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44" name="直接箭头连接符 343">
              <a:extLst>
                <a:ext uri="{FF2B5EF4-FFF2-40B4-BE49-F238E27FC236}">
                  <a16:creationId xmlns:a16="http://schemas.microsoft.com/office/drawing/2014/main" id="{156AE24B-2C36-4141-8AF5-906F4F7E4F84}"/>
                </a:ext>
              </a:extLst>
            </p:cNvPr>
            <p:cNvCxnSpPr/>
            <p:nvPr>
              <p:custDataLst>
                <p:tags r:id="rId92"/>
              </p:custDataLst>
            </p:nvPr>
          </p:nvCxnSpPr>
          <p:spPr bwMode="auto">
            <a:xfrm>
              <a:off x="6047800" y="3347756"/>
              <a:ext cx="144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345" name="Text Box 276">
              <a:extLst>
                <a:ext uri="{FF2B5EF4-FFF2-40B4-BE49-F238E27FC236}">
                  <a16:creationId xmlns:a16="http://schemas.microsoft.com/office/drawing/2014/main" id="{0044A348-522C-49D3-8105-F03533088C76}"/>
                </a:ext>
              </a:extLst>
            </p:cNvPr>
            <p:cNvSpPr txBox="1">
              <a:spLocks noChangeArrowheads="1"/>
            </p:cNvSpPr>
            <p:nvPr>
              <p:custDataLst>
                <p:tags r:id="rId93"/>
              </p:custDataLst>
            </p:nvPr>
          </p:nvSpPr>
          <p:spPr bwMode="auto">
            <a:xfrm>
              <a:off x="6192179" y="3276000"/>
              <a:ext cx="396000" cy="180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MAR</a:t>
              </a:r>
            </a:p>
          </p:txBody>
        </p:sp>
        <p:sp>
          <p:nvSpPr>
            <p:cNvPr id="346" name="Text Box 276">
              <a:extLst>
                <a:ext uri="{FF2B5EF4-FFF2-40B4-BE49-F238E27FC236}">
                  <a16:creationId xmlns:a16="http://schemas.microsoft.com/office/drawing/2014/main" id="{FAD5175B-C001-466C-BA25-5F30FABBBEFB}"/>
                </a:ext>
              </a:extLst>
            </p:cNvPr>
            <p:cNvSpPr txBox="1">
              <a:spLocks noChangeArrowheads="1"/>
            </p:cNvSpPr>
            <p:nvPr>
              <p:custDataLst>
                <p:tags r:id="rId94"/>
              </p:custDataLst>
            </p:nvPr>
          </p:nvSpPr>
          <p:spPr bwMode="auto">
            <a:xfrm>
              <a:off x="6192179" y="3491181"/>
              <a:ext cx="396000" cy="180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MDR</a:t>
              </a:r>
            </a:p>
          </p:txBody>
        </p:sp>
        <p:cxnSp>
          <p:nvCxnSpPr>
            <p:cNvPr id="347" name="直接箭头连接符 346">
              <a:extLst>
                <a:ext uri="{FF2B5EF4-FFF2-40B4-BE49-F238E27FC236}">
                  <a16:creationId xmlns:a16="http://schemas.microsoft.com/office/drawing/2014/main" id="{E434FFCC-D3F6-44E6-9277-925F8F71F9D0}"/>
                </a:ext>
              </a:extLst>
            </p:cNvPr>
            <p:cNvCxnSpPr/>
            <p:nvPr>
              <p:custDataLst>
                <p:tags r:id="rId95"/>
              </p:custDataLst>
            </p:nvPr>
          </p:nvCxnSpPr>
          <p:spPr bwMode="auto">
            <a:xfrm>
              <a:off x="6587800" y="3347756"/>
              <a:ext cx="144145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48" name="直接箭头连接符 347">
              <a:extLst>
                <a:ext uri="{FF2B5EF4-FFF2-40B4-BE49-F238E27FC236}">
                  <a16:creationId xmlns:a16="http://schemas.microsoft.com/office/drawing/2014/main" id="{487346D9-3CB0-4389-BA16-0B3D0AFFCB5A}"/>
                </a:ext>
              </a:extLst>
            </p:cNvPr>
            <p:cNvCxnSpPr/>
            <p:nvPr>
              <p:custDataLst>
                <p:tags r:id="rId96"/>
              </p:custDataLst>
            </p:nvPr>
          </p:nvCxnSpPr>
          <p:spPr bwMode="auto">
            <a:xfrm>
              <a:off x="6587800" y="3527181"/>
              <a:ext cx="612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49" name="直接箭头连接符 348">
              <a:extLst>
                <a:ext uri="{FF2B5EF4-FFF2-40B4-BE49-F238E27FC236}">
                  <a16:creationId xmlns:a16="http://schemas.microsoft.com/office/drawing/2014/main" id="{12CD763D-2B32-4102-A25D-31973F09129C}"/>
                </a:ext>
              </a:extLst>
            </p:cNvPr>
            <p:cNvCxnSpPr/>
            <p:nvPr>
              <p:custDataLst>
                <p:tags r:id="rId97"/>
              </p:custDataLst>
            </p:nvPr>
          </p:nvCxnSpPr>
          <p:spPr bwMode="auto">
            <a:xfrm flipH="1" flipV="1">
              <a:off x="6587800" y="3599181"/>
              <a:ext cx="1080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50" name="直接箭头连接符 349">
              <a:extLst>
                <a:ext uri="{FF2B5EF4-FFF2-40B4-BE49-F238E27FC236}">
                  <a16:creationId xmlns:a16="http://schemas.microsoft.com/office/drawing/2014/main" id="{FC13050B-8AF7-40C0-B090-AB6BDE5FD03A}"/>
                </a:ext>
              </a:extLst>
            </p:cNvPr>
            <p:cNvCxnSpPr/>
            <p:nvPr>
              <p:custDataLst>
                <p:tags r:id="rId98"/>
              </p:custDataLst>
            </p:nvPr>
          </p:nvCxnSpPr>
          <p:spPr bwMode="auto">
            <a:xfrm>
              <a:off x="6731799" y="3347756"/>
              <a:ext cx="1080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51" name="直接箭头连接符 350">
              <a:extLst>
                <a:ext uri="{FF2B5EF4-FFF2-40B4-BE49-F238E27FC236}">
                  <a16:creationId xmlns:a16="http://schemas.microsoft.com/office/drawing/2014/main" id="{AE2D635F-43F4-4D4E-AA9F-46E1A3D4FD18}"/>
                </a:ext>
              </a:extLst>
            </p:cNvPr>
            <p:cNvCxnSpPr/>
            <p:nvPr>
              <p:custDataLst>
                <p:tags r:id="rId99"/>
              </p:custDataLst>
            </p:nvPr>
          </p:nvCxnSpPr>
          <p:spPr bwMode="auto">
            <a:xfrm>
              <a:off x="7199800" y="3527181"/>
              <a:ext cx="612000" cy="635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52" name="直接箭头连接符 351">
              <a:extLst>
                <a:ext uri="{FF2B5EF4-FFF2-40B4-BE49-F238E27FC236}">
                  <a16:creationId xmlns:a16="http://schemas.microsoft.com/office/drawing/2014/main" id="{EFFA77AE-9CC8-45DA-80FE-67E4A80583D6}"/>
                </a:ext>
              </a:extLst>
            </p:cNvPr>
            <p:cNvCxnSpPr/>
            <p:nvPr>
              <p:custDataLst>
                <p:tags r:id="rId100"/>
              </p:custDataLst>
            </p:nvPr>
          </p:nvCxnSpPr>
          <p:spPr bwMode="auto">
            <a:xfrm flipH="1" flipV="1">
              <a:off x="7667800" y="3599181"/>
              <a:ext cx="144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353" name="Rectangle 274">
              <a:extLst>
                <a:ext uri="{FF2B5EF4-FFF2-40B4-BE49-F238E27FC236}">
                  <a16:creationId xmlns:a16="http://schemas.microsoft.com/office/drawing/2014/main" id="{33495C0E-1A7F-43B5-8D80-E5384B687F1A}"/>
                </a:ext>
              </a:extLst>
            </p:cNvPr>
            <p:cNvSpPr>
              <a:spLocks noChangeArrowheads="1"/>
            </p:cNvSpPr>
            <p:nvPr>
              <p:custDataLst>
                <p:tags r:id="rId101"/>
              </p:custDataLst>
            </p:nvPr>
          </p:nvSpPr>
          <p:spPr bwMode="auto">
            <a:xfrm>
              <a:off x="5184000" y="2412000"/>
              <a:ext cx="540000" cy="1152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vert="eaVert" wrap="none" lIns="0" tIns="0" rIns="0" bIns="0" anchor="ctr"/>
            <a:lstStyle/>
            <a:p>
              <a:pPr algn="ctr"/>
              <a:r>
                <a:rPr lang="zh-CN" altLang="en-US" sz="1600" dirty="0"/>
                <a:t>运算器</a:t>
              </a:r>
            </a:p>
          </p:txBody>
        </p:sp>
      </p:grpSp>
      <p:grpSp>
        <p:nvGrpSpPr>
          <p:cNvPr id="354" name="组合 353">
            <a:extLst>
              <a:ext uri="{FF2B5EF4-FFF2-40B4-BE49-F238E27FC236}">
                <a16:creationId xmlns:a16="http://schemas.microsoft.com/office/drawing/2014/main" id="{32011AEA-5EA8-4118-9769-038703249CDC}"/>
              </a:ext>
            </a:extLst>
          </p:cNvPr>
          <p:cNvGrpSpPr/>
          <p:nvPr/>
        </p:nvGrpSpPr>
        <p:grpSpPr>
          <a:xfrm>
            <a:off x="5184000" y="2339992"/>
            <a:ext cx="648200" cy="1223561"/>
            <a:chOff x="5183800" y="2412000"/>
            <a:chExt cx="648200" cy="1223561"/>
          </a:xfrm>
        </p:grpSpPr>
        <p:cxnSp>
          <p:nvCxnSpPr>
            <p:cNvPr id="355" name="直接箭头连接符 354">
              <a:extLst>
                <a:ext uri="{FF2B5EF4-FFF2-40B4-BE49-F238E27FC236}">
                  <a16:creationId xmlns:a16="http://schemas.microsoft.com/office/drawing/2014/main" id="{BC0F396B-A4D2-435E-8AD9-0C22B24EB2EC}"/>
                </a:ext>
              </a:extLst>
            </p:cNvPr>
            <p:cNvCxnSpPr>
              <a:cxnSpLocks/>
            </p:cNvCxnSpPr>
            <p:nvPr>
              <p:custDataLst>
                <p:tags r:id="rId35"/>
              </p:custDataLst>
            </p:nvPr>
          </p:nvCxnSpPr>
          <p:spPr bwMode="auto">
            <a:xfrm flipV="1">
              <a:off x="5399800" y="3635561"/>
              <a:ext cx="324000" cy="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356" name="Rectangle 274">
              <a:extLst>
                <a:ext uri="{FF2B5EF4-FFF2-40B4-BE49-F238E27FC236}">
                  <a16:creationId xmlns:a16="http://schemas.microsoft.com/office/drawing/2014/main" id="{270BD46A-EF35-40DB-9743-3C76F6B1EDBB}"/>
                </a:ext>
              </a:extLst>
            </p:cNvPr>
            <p:cNvSpPr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5183800" y="2412000"/>
              <a:ext cx="540000" cy="115200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lIns="0" tIns="0" rIns="0" bIns="0" anchor="ctr"/>
            <a:lstStyle/>
            <a:p>
              <a:endParaRPr lang="zh-CN" altLang="en-US"/>
            </a:p>
          </p:txBody>
        </p:sp>
        <p:cxnSp>
          <p:nvCxnSpPr>
            <p:cNvPr id="357" name="直接箭头连接符 356">
              <a:extLst>
                <a:ext uri="{FF2B5EF4-FFF2-40B4-BE49-F238E27FC236}">
                  <a16:creationId xmlns:a16="http://schemas.microsoft.com/office/drawing/2014/main" id="{21AAA1F0-BE98-4A4A-8D5A-1AE098EF8810}"/>
                </a:ext>
              </a:extLst>
            </p:cNvPr>
            <p:cNvCxnSpPr/>
            <p:nvPr>
              <p:custDataLst>
                <p:tags r:id="rId37"/>
              </p:custDataLst>
            </p:nvPr>
          </p:nvCxnSpPr>
          <p:spPr bwMode="auto">
            <a:xfrm>
              <a:off x="5652000" y="2556000"/>
              <a:ext cx="180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58" name="直接箭头连接符 357">
              <a:extLst>
                <a:ext uri="{FF2B5EF4-FFF2-40B4-BE49-F238E27FC236}">
                  <a16:creationId xmlns:a16="http://schemas.microsoft.com/office/drawing/2014/main" id="{4A3D7D18-7A04-4DEF-B4F6-BDA80A50D9DD}"/>
                </a:ext>
              </a:extLst>
            </p:cNvPr>
            <p:cNvCxnSpPr/>
            <p:nvPr>
              <p:custDataLst>
                <p:tags r:id="rId38"/>
              </p:custDataLst>
            </p:nvPr>
          </p:nvCxnSpPr>
          <p:spPr bwMode="auto">
            <a:xfrm flipH="1" flipV="1">
              <a:off x="5652000" y="2693941"/>
              <a:ext cx="180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68" name="直接箭头连接符 367">
              <a:extLst>
                <a:ext uri="{FF2B5EF4-FFF2-40B4-BE49-F238E27FC236}">
                  <a16:creationId xmlns:a16="http://schemas.microsoft.com/office/drawing/2014/main" id="{BD349880-7DEF-4445-AF0B-B913E727DA99}"/>
                </a:ext>
              </a:extLst>
            </p:cNvPr>
            <p:cNvCxnSpPr/>
            <p:nvPr>
              <p:custDataLst>
                <p:tags r:id="rId39"/>
              </p:custDataLst>
            </p:nvPr>
          </p:nvCxnSpPr>
          <p:spPr bwMode="auto">
            <a:xfrm>
              <a:off x="5652000" y="2628000"/>
              <a:ext cx="180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394" name="AutoShape 189">
              <a:extLst>
                <a:ext uri="{FF2B5EF4-FFF2-40B4-BE49-F238E27FC236}">
                  <a16:creationId xmlns:a16="http://schemas.microsoft.com/office/drawing/2014/main" id="{A3C05902-F7E0-4D0E-BEEF-FC59B3ACFBD1}"/>
                </a:ext>
              </a:extLst>
            </p:cNvPr>
            <p:cNvSpPr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5219800" y="2987561"/>
              <a:ext cx="468000" cy="179705"/>
            </a:xfrm>
            <a:custGeom>
              <a:avLst/>
              <a:gdLst>
                <a:gd name="G0" fmla="+- 4060 0 0"/>
                <a:gd name="G1" fmla="+- 21600 0 4060"/>
                <a:gd name="G2" fmla="*/ 4060 1 2"/>
                <a:gd name="G3" fmla="+- 21600 0 G2"/>
                <a:gd name="G4" fmla="+/ 4060 21600 2"/>
                <a:gd name="G5" fmla="+/ G1 0 2"/>
                <a:gd name="G6" fmla="*/ 21600 21600 4060"/>
                <a:gd name="G7" fmla="*/ G6 1 2"/>
                <a:gd name="G8" fmla="+- 21600 0 G7"/>
                <a:gd name="G9" fmla="*/ 21600 1 2"/>
                <a:gd name="G10" fmla="+- 4060 0 G9"/>
                <a:gd name="G11" fmla="?: G10 G8 0"/>
                <a:gd name="G12" fmla="?: G10 G7 21600"/>
                <a:gd name="T0" fmla="*/ 19570 w 21600"/>
                <a:gd name="T1" fmla="*/ 10800 h 21600"/>
                <a:gd name="T2" fmla="*/ 10800 w 21600"/>
                <a:gd name="T3" fmla="*/ 21600 h 21600"/>
                <a:gd name="T4" fmla="*/ 2030 w 21600"/>
                <a:gd name="T5" fmla="*/ 10800 h 21600"/>
                <a:gd name="T6" fmla="*/ 10800 w 21600"/>
                <a:gd name="T7" fmla="*/ 0 h 21600"/>
                <a:gd name="T8" fmla="*/ 3830 w 21600"/>
                <a:gd name="T9" fmla="*/ 3830 h 21600"/>
                <a:gd name="T10" fmla="*/ 17770 w 21600"/>
                <a:gd name="T11" fmla="*/ 1777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4060" y="21600"/>
                  </a:lnTo>
                  <a:lnTo>
                    <a:pt x="1754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+mn-ea"/>
                  <a:ea typeface="+mn-ea"/>
                </a:rPr>
                <a:t>ALU</a:t>
              </a:r>
              <a:endParaRPr lang="zh-CN" altLang="en-US" sz="1400" b="1" dirty="0">
                <a:latin typeface="+mn-ea"/>
                <a:ea typeface="+mn-ea"/>
              </a:endParaRPr>
            </a:p>
          </p:txBody>
        </p:sp>
        <p:cxnSp>
          <p:nvCxnSpPr>
            <p:cNvPr id="395" name="直接箭头连接符 394">
              <a:extLst>
                <a:ext uri="{FF2B5EF4-FFF2-40B4-BE49-F238E27FC236}">
                  <a16:creationId xmlns:a16="http://schemas.microsoft.com/office/drawing/2014/main" id="{419B3BE8-0725-47AE-A068-68922801539C}"/>
                </a:ext>
              </a:extLst>
            </p:cNvPr>
            <p:cNvCxnSpPr/>
            <p:nvPr>
              <p:custDataLst>
                <p:tags r:id="rId41"/>
              </p:custDataLst>
            </p:nvPr>
          </p:nvCxnSpPr>
          <p:spPr bwMode="auto">
            <a:xfrm flipH="1">
              <a:off x="5615800" y="3491561"/>
              <a:ext cx="216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96" name="直接箭头连接符 395">
              <a:extLst>
                <a:ext uri="{FF2B5EF4-FFF2-40B4-BE49-F238E27FC236}">
                  <a16:creationId xmlns:a16="http://schemas.microsoft.com/office/drawing/2014/main" id="{0CF0D121-B795-47BE-BAE0-A2D65994D43B}"/>
                </a:ext>
              </a:extLst>
            </p:cNvPr>
            <p:cNvCxnSpPr/>
            <p:nvPr>
              <p:custDataLst>
                <p:tags r:id="rId42"/>
              </p:custDataLst>
            </p:nvPr>
          </p:nvCxnSpPr>
          <p:spPr bwMode="auto">
            <a:xfrm>
              <a:off x="5615800" y="3383561"/>
              <a:ext cx="216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397" name="直接箭头连接符 396">
              <a:extLst>
                <a:ext uri="{FF2B5EF4-FFF2-40B4-BE49-F238E27FC236}">
                  <a16:creationId xmlns:a16="http://schemas.microsoft.com/office/drawing/2014/main" id="{B75E39E6-25E7-4547-97C4-935F589AF20A}"/>
                </a:ext>
              </a:extLst>
            </p:cNvPr>
            <p:cNvCxnSpPr/>
            <p:nvPr>
              <p:custDataLst>
                <p:tags r:id="rId43"/>
              </p:custDataLst>
            </p:nvPr>
          </p:nvCxnSpPr>
          <p:spPr bwMode="auto">
            <a:xfrm>
              <a:off x="5400335" y="3167561"/>
              <a:ext cx="1270" cy="17970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398" name="Text Box 276">
              <a:extLst>
                <a:ext uri="{FF2B5EF4-FFF2-40B4-BE49-F238E27FC236}">
                  <a16:creationId xmlns:a16="http://schemas.microsoft.com/office/drawing/2014/main" id="{B56D0BC3-6DCE-485E-A59F-D023E07A86B0}"/>
                </a:ext>
              </a:extLst>
            </p:cNvPr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5219800" y="3347561"/>
              <a:ext cx="396000" cy="180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PSR</a:t>
              </a:r>
            </a:p>
          </p:txBody>
        </p:sp>
        <p:sp>
          <p:nvSpPr>
            <p:cNvPr id="399" name="Text Box 314">
              <a:extLst>
                <a:ext uri="{FF2B5EF4-FFF2-40B4-BE49-F238E27FC236}">
                  <a16:creationId xmlns:a16="http://schemas.microsoft.com/office/drawing/2014/main" id="{DFBC6869-B728-45AF-A312-D1066039EB13}"/>
                </a:ext>
              </a:extLst>
            </p:cNvPr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5219800" y="2448000"/>
              <a:ext cx="432000" cy="288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GPRs</a:t>
              </a:r>
            </a:p>
          </p:txBody>
        </p:sp>
        <p:cxnSp>
          <p:nvCxnSpPr>
            <p:cNvPr id="400" name="直接箭头连接符 399">
              <a:extLst>
                <a:ext uri="{FF2B5EF4-FFF2-40B4-BE49-F238E27FC236}">
                  <a16:creationId xmlns:a16="http://schemas.microsoft.com/office/drawing/2014/main" id="{CACF6D5E-4CAA-4FCF-B5E3-5E325C83FF95}"/>
                </a:ext>
              </a:extLst>
            </p:cNvPr>
            <p:cNvCxnSpPr>
              <a:cxnSpLocks/>
            </p:cNvCxnSpPr>
            <p:nvPr>
              <p:custDataLst>
                <p:tags r:id="rId46"/>
              </p:custDataLst>
            </p:nvPr>
          </p:nvCxnSpPr>
          <p:spPr bwMode="auto">
            <a:xfrm>
              <a:off x="5327800" y="2807087"/>
              <a:ext cx="0" cy="18000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01" name="直接箭头连接符 400">
              <a:extLst>
                <a:ext uri="{FF2B5EF4-FFF2-40B4-BE49-F238E27FC236}">
                  <a16:creationId xmlns:a16="http://schemas.microsoft.com/office/drawing/2014/main" id="{335B5A14-747D-4C60-AC98-6E3087C3DF72}"/>
                </a:ext>
              </a:extLst>
            </p:cNvPr>
            <p:cNvCxnSpPr/>
            <p:nvPr>
              <p:custDataLst>
                <p:tags r:id="rId47"/>
              </p:custDataLst>
            </p:nvPr>
          </p:nvCxnSpPr>
          <p:spPr bwMode="auto">
            <a:xfrm flipH="1" flipV="1">
              <a:off x="5327800" y="2807561"/>
              <a:ext cx="504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402" name="直接箭头连接符 401">
              <a:extLst>
                <a:ext uri="{FF2B5EF4-FFF2-40B4-BE49-F238E27FC236}">
                  <a16:creationId xmlns:a16="http://schemas.microsoft.com/office/drawing/2014/main" id="{CA3386CB-3268-4172-A0F2-1BB8A827EB80}"/>
                </a:ext>
              </a:extLst>
            </p:cNvPr>
            <p:cNvCxnSpPr>
              <a:cxnSpLocks/>
            </p:cNvCxnSpPr>
            <p:nvPr>
              <p:custDataLst>
                <p:tags r:id="rId48"/>
              </p:custDataLst>
            </p:nvPr>
          </p:nvCxnSpPr>
          <p:spPr bwMode="auto">
            <a:xfrm>
              <a:off x="5579800" y="2879561"/>
              <a:ext cx="0" cy="10800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03" name="直接箭头连接符 402">
              <a:extLst>
                <a:ext uri="{FF2B5EF4-FFF2-40B4-BE49-F238E27FC236}">
                  <a16:creationId xmlns:a16="http://schemas.microsoft.com/office/drawing/2014/main" id="{94847B10-B957-4BD9-BD35-50A6B120ED79}"/>
                </a:ext>
              </a:extLst>
            </p:cNvPr>
            <p:cNvCxnSpPr/>
            <p:nvPr>
              <p:custDataLst>
                <p:tags r:id="rId49"/>
              </p:custDataLst>
            </p:nvPr>
          </p:nvCxnSpPr>
          <p:spPr bwMode="auto">
            <a:xfrm flipH="1" flipV="1">
              <a:off x="5579800" y="2879561"/>
              <a:ext cx="252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404" name="直接箭头连接符 403">
              <a:extLst>
                <a:ext uri="{FF2B5EF4-FFF2-40B4-BE49-F238E27FC236}">
                  <a16:creationId xmlns:a16="http://schemas.microsoft.com/office/drawing/2014/main" id="{2EEBA9D9-AFBA-47CD-AF1D-239710FB54E1}"/>
                </a:ext>
              </a:extLst>
            </p:cNvPr>
            <p:cNvCxnSpPr>
              <a:cxnSpLocks/>
            </p:cNvCxnSpPr>
            <p:nvPr>
              <p:custDataLst>
                <p:tags r:id="rId50"/>
              </p:custDataLst>
            </p:nvPr>
          </p:nvCxnSpPr>
          <p:spPr bwMode="auto">
            <a:xfrm>
              <a:off x="5471800" y="3167561"/>
              <a:ext cx="0" cy="7200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405" name="直接箭头连接符 404">
              <a:extLst>
                <a:ext uri="{FF2B5EF4-FFF2-40B4-BE49-F238E27FC236}">
                  <a16:creationId xmlns:a16="http://schemas.microsoft.com/office/drawing/2014/main" id="{9C31BAC9-E8DA-4C14-A219-E4A020796006}"/>
                </a:ext>
              </a:extLst>
            </p:cNvPr>
            <p:cNvCxnSpPr/>
            <p:nvPr>
              <p:custDataLst>
                <p:tags r:id="rId51"/>
              </p:custDataLst>
            </p:nvPr>
          </p:nvCxnSpPr>
          <p:spPr bwMode="auto">
            <a:xfrm>
              <a:off x="5471800" y="3239561"/>
              <a:ext cx="360000" cy="0"/>
            </a:xfrm>
            <a:prstGeom prst="straightConnector1">
              <a:avLst/>
            </a:prstGeom>
            <a:solidFill>
              <a:schemeClr val="accent1"/>
            </a:solidFill>
            <a:ln w="12700" cap="sq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06" name="直接箭头连接符 405">
              <a:extLst>
                <a:ext uri="{FF2B5EF4-FFF2-40B4-BE49-F238E27FC236}">
                  <a16:creationId xmlns:a16="http://schemas.microsoft.com/office/drawing/2014/main" id="{946B165E-DDB8-4F1F-AECA-F9C3F0685589}"/>
                </a:ext>
              </a:extLst>
            </p:cNvPr>
            <p:cNvCxnSpPr>
              <a:cxnSpLocks/>
            </p:cNvCxnSpPr>
            <p:nvPr>
              <p:custDataLst>
                <p:tags r:id="rId52"/>
              </p:custDataLst>
            </p:nvPr>
          </p:nvCxnSpPr>
          <p:spPr bwMode="auto">
            <a:xfrm>
              <a:off x="5399800" y="3527561"/>
              <a:ext cx="0" cy="10800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</p:grpSp>
      <p:sp>
        <p:nvSpPr>
          <p:cNvPr id="367" name="Text Box 291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7199795" y="3348137"/>
            <a:ext cx="467995" cy="252095"/>
          </a:xfrm>
          <a:prstGeom prst="rect">
            <a:avLst/>
          </a:prstGeom>
          <a:solidFill>
            <a:srgbClr val="FFCC99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r>
              <a:rPr lang="en-US" altLang="zh-CN" sz="1200" b="1" dirty="0">
                <a:latin typeface="宋体" panose="02010600030101010101" pitchFamily="2" charset="-122"/>
              </a:rPr>
              <a:t>Cache</a:t>
            </a:r>
          </a:p>
        </p:txBody>
      </p:sp>
      <p:sp>
        <p:nvSpPr>
          <p:cNvPr id="370" name="Text Box 276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6731800" y="3203992"/>
            <a:ext cx="360045" cy="179705"/>
          </a:xfrm>
          <a:prstGeom prst="rect">
            <a:avLst/>
          </a:prstGeom>
          <a:solidFill>
            <a:srgbClr val="CC99FF"/>
          </a:solidFill>
          <a:ln w="12700">
            <a:solidFill>
              <a:schemeClr val="tx1"/>
            </a:solidFill>
            <a:miter lim="800000"/>
          </a:ln>
          <a:effectLst/>
        </p:spPr>
        <p:txBody>
          <a:bodyPr lIns="18000" tIns="10800" rIns="18000" bIns="10800" anchor="ctr"/>
          <a:lstStyle/>
          <a:p>
            <a:pPr algn="ctr">
              <a:lnSpc>
                <a:spcPct val="90000"/>
              </a:lnSpc>
            </a:pPr>
            <a:r>
              <a:rPr lang="en-US" altLang="zh-CN" sz="1200" b="1" dirty="0">
                <a:latin typeface="宋体" panose="02010600030101010101" pitchFamily="2" charset="-122"/>
              </a:rPr>
              <a:t>MMU</a:t>
            </a:r>
          </a:p>
        </p:txBody>
      </p:sp>
      <p:sp>
        <p:nvSpPr>
          <p:cNvPr id="407" name="Text Box 18">
            <a:extLst>
              <a:ext uri="{FF2B5EF4-FFF2-40B4-BE49-F238E27FC236}">
                <a16:creationId xmlns:a16="http://schemas.microsoft.com/office/drawing/2014/main" id="{B660A94E-3E34-4CEC-B14E-66EA2BBE9E6E}"/>
              </a:ext>
            </a:extLst>
          </p:cNvPr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4464000" y="3131992"/>
            <a:ext cx="576000" cy="504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lIns="0" tIns="0" rIns="0" bIns="0" anchor="t" anchorCtr="0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b="1" dirty="0">
                <a:latin typeface="+mn-ea"/>
              </a:rPr>
              <a:t>单</a:t>
            </a:r>
            <a:r>
              <a:rPr lang="en-US" altLang="zh-CN" sz="1200" b="1" dirty="0">
                <a:latin typeface="+mn-ea"/>
              </a:rPr>
              <a:t>/</a:t>
            </a:r>
            <a:r>
              <a:rPr lang="zh-CN" altLang="en-US" sz="1200" b="1" dirty="0">
                <a:latin typeface="+mn-ea"/>
              </a:rPr>
              <a:t>多</a:t>
            </a:r>
            <a:r>
              <a:rPr lang="en-US" altLang="zh-CN" sz="1200" b="1" dirty="0">
                <a:latin typeface="+mn-ea"/>
              </a:rPr>
              <a:t>T</a:t>
            </a:r>
            <a:r>
              <a:rPr lang="en-US" altLang="zh-CN" sz="1200" b="1" baseline="-25000" dirty="0">
                <a:latin typeface="+mn-ea"/>
              </a:rPr>
              <a:t>C</a:t>
            </a:r>
            <a:endParaRPr lang="en-US" altLang="zh-CN" sz="1200" b="1" dirty="0">
              <a:latin typeface="+mn-ea"/>
            </a:endParaRP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1" dirty="0">
                <a:latin typeface="+mn-ea"/>
              </a:rPr>
              <a:t>DP</a:t>
            </a:r>
            <a:r>
              <a:rPr lang="zh-CN" altLang="en-US" sz="1200" b="1" dirty="0">
                <a:latin typeface="+mn-ea"/>
              </a:rPr>
              <a:t>总</a:t>
            </a:r>
            <a:r>
              <a:rPr lang="en-US" altLang="zh-CN" sz="1200" b="1" dirty="0">
                <a:latin typeface="+mn-ea"/>
              </a:rPr>
              <a:t>/</a:t>
            </a:r>
            <a:r>
              <a:rPr lang="zh-CN" altLang="en-US" sz="1200" b="1" dirty="0">
                <a:latin typeface="+mn-ea"/>
              </a:rPr>
              <a:t>专</a:t>
            </a:r>
            <a:endParaRPr lang="en-US" altLang="zh-CN" sz="1200" b="1" dirty="0">
              <a:latin typeface="+mn-ea"/>
            </a:endParaRPr>
          </a:p>
          <a:p>
            <a:pPr algn="ctr">
              <a:lnSpc>
                <a:spcPct val="90000"/>
              </a:lnSpc>
            </a:pPr>
            <a:r>
              <a:rPr lang="en-US" altLang="zh-CN" sz="1200" b="1" dirty="0">
                <a:latin typeface="+mn-ea"/>
              </a:rPr>
              <a:t>CU</a:t>
            </a:r>
            <a:r>
              <a:rPr lang="zh-CN" altLang="en-US" sz="1200" b="1" dirty="0">
                <a:latin typeface="+mn-ea"/>
              </a:rPr>
              <a:t>硬</a:t>
            </a:r>
            <a:r>
              <a:rPr lang="en-US" altLang="zh-CN" sz="1200" b="1" dirty="0">
                <a:latin typeface="+mn-ea"/>
              </a:rPr>
              <a:t>/</a:t>
            </a:r>
            <a:r>
              <a:rPr lang="zh-CN" altLang="en-US" sz="1200" b="1" dirty="0">
                <a:latin typeface="+mn-ea"/>
              </a:rPr>
              <a:t>微</a:t>
            </a:r>
          </a:p>
        </p:txBody>
      </p:sp>
      <p:grpSp>
        <p:nvGrpSpPr>
          <p:cNvPr id="200" name="组合 199">
            <a:extLst>
              <a:ext uri="{FF2B5EF4-FFF2-40B4-BE49-F238E27FC236}">
                <a16:creationId xmlns:a16="http://schemas.microsoft.com/office/drawing/2014/main" id="{AA545AC8-DF04-406C-9DE2-E99B2E6D3FF1}"/>
              </a:ext>
            </a:extLst>
          </p:cNvPr>
          <p:cNvGrpSpPr/>
          <p:nvPr/>
        </p:nvGrpSpPr>
        <p:grpSpPr>
          <a:xfrm>
            <a:off x="7812000" y="3347992"/>
            <a:ext cx="936000" cy="1440000"/>
            <a:chOff x="7812000" y="3420000"/>
            <a:chExt cx="936000" cy="1440000"/>
          </a:xfrm>
        </p:grpSpPr>
        <p:grpSp>
          <p:nvGrpSpPr>
            <p:cNvPr id="193" name="组合 192">
              <a:extLst>
                <a:ext uri="{FF2B5EF4-FFF2-40B4-BE49-F238E27FC236}">
                  <a16:creationId xmlns:a16="http://schemas.microsoft.com/office/drawing/2014/main" id="{B05AD661-C3D9-491F-BA21-21179A6621F4}"/>
                </a:ext>
              </a:extLst>
            </p:cNvPr>
            <p:cNvGrpSpPr/>
            <p:nvPr/>
          </p:nvGrpSpPr>
          <p:grpSpPr>
            <a:xfrm>
              <a:off x="7812000" y="4140000"/>
              <a:ext cx="576000" cy="396000"/>
              <a:chOff x="8352000" y="4140000"/>
              <a:chExt cx="576000" cy="396000"/>
            </a:xfrm>
          </p:grpSpPr>
          <p:sp>
            <p:nvSpPr>
              <p:cNvPr id="412" name="Text Box 61">
                <a:extLst>
                  <a:ext uri="{FF2B5EF4-FFF2-40B4-BE49-F238E27FC236}">
                    <a16:creationId xmlns:a16="http://schemas.microsoft.com/office/drawing/2014/main" id="{9F1C9A0A-ACBE-44AB-96EF-8249336D372D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31"/>
                </p:custDataLst>
              </p:nvPr>
            </p:nvSpPr>
            <p:spPr bwMode="auto">
              <a:xfrm>
                <a:off x="8352000" y="4212000"/>
                <a:ext cx="180000" cy="2159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vert="eaVert" lIns="0" tIns="0" rIns="0" bIns="0" anchor="ctr" anchorCtr="0"/>
              <a:lstStyle/>
              <a:p>
                <a:pPr algn="ctr">
                  <a:lnSpc>
                    <a:spcPct val="90000"/>
                  </a:lnSpc>
                </a:pPr>
                <a:r>
                  <a:rPr lang="en-US" altLang="zh-CN" sz="1200" b="1" dirty="0">
                    <a:solidFill>
                      <a:srgbClr val="C00000"/>
                    </a:solidFill>
                    <a:latin typeface="+mn-ea"/>
                    <a:cs typeface="Times New Roman" panose="02020603050405020304" pitchFamily="18" charset="0"/>
                  </a:rPr>
                  <a:t>…</a:t>
                </a:r>
              </a:p>
            </p:txBody>
          </p:sp>
          <p:sp>
            <p:nvSpPr>
              <p:cNvPr id="409" name="Text Box 20">
                <a:extLst>
                  <a:ext uri="{FF2B5EF4-FFF2-40B4-BE49-F238E27FC236}">
                    <a16:creationId xmlns:a16="http://schemas.microsoft.com/office/drawing/2014/main" id="{0F4D8940-550A-46C8-A05B-92115A2029DA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32"/>
                </p:custDataLst>
              </p:nvPr>
            </p:nvSpPr>
            <p:spPr bwMode="auto">
              <a:xfrm>
                <a:off x="8532000" y="4140000"/>
                <a:ext cx="396000" cy="396000"/>
              </a:xfrm>
              <a:prstGeom prst="rect">
                <a:avLst/>
              </a:prstGeom>
              <a:solidFill>
                <a:srgbClr val="FFCC99">
                  <a:alpha val="80000"/>
                </a:srgbClr>
              </a:solidFill>
              <a:ln w="12700">
                <a:solidFill>
                  <a:schemeClr val="tx1"/>
                </a:solidFill>
                <a:miter lim="800000"/>
              </a:ln>
              <a:effectLst/>
            </p:spPr>
            <p:txBody>
              <a:bodyPr vert="horz" lIns="0" tIns="0" rIns="0" bIns="0" anchor="ctr"/>
              <a:lstStyle/>
              <a:p>
                <a:pPr algn="ctr">
                  <a:lnSpc>
                    <a:spcPct val="90000"/>
                  </a:lnSpc>
                </a:pPr>
                <a:r>
                  <a:rPr lang="zh-CN" altLang="en-US" sz="1400" b="1" dirty="0">
                    <a:latin typeface="+mn-ea"/>
                    <a:ea typeface="+mn-ea"/>
                  </a:rPr>
                  <a:t>中断</a:t>
                </a:r>
                <a:r>
                  <a:rPr lang="en-US" altLang="zh-CN" sz="1400" b="1" dirty="0">
                    <a:latin typeface="+mn-ea"/>
                    <a:ea typeface="+mn-ea"/>
                  </a:rPr>
                  <a:t>Ctrl</a:t>
                </a:r>
                <a:endParaRPr lang="zh-CN" altLang="en-US" sz="1400" b="1" dirty="0">
                  <a:latin typeface="+mn-ea"/>
                  <a:ea typeface="+mn-ea"/>
                </a:endParaRPr>
              </a:p>
            </p:txBody>
          </p:sp>
          <p:cxnSp>
            <p:nvCxnSpPr>
              <p:cNvPr id="410" name="直接箭头连接符 409">
                <a:extLst>
                  <a:ext uri="{FF2B5EF4-FFF2-40B4-BE49-F238E27FC236}">
                    <a16:creationId xmlns:a16="http://schemas.microsoft.com/office/drawing/2014/main" id="{25DF7D60-76EB-4359-86EB-DDAC0AB3DFF8}"/>
                  </a:ext>
                </a:extLst>
              </p:cNvPr>
              <p:cNvCxnSpPr/>
              <p:nvPr>
                <p:custDataLst>
                  <p:tags r:id="rId33"/>
                </p:custDataLst>
              </p:nvPr>
            </p:nvCxnSpPr>
            <p:spPr bwMode="auto">
              <a:xfrm>
                <a:off x="8388000" y="4212000"/>
                <a:ext cx="144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  <p:cxnSp>
            <p:nvCxnSpPr>
              <p:cNvPr id="411" name="直接箭头连接符 410">
                <a:extLst>
                  <a:ext uri="{FF2B5EF4-FFF2-40B4-BE49-F238E27FC236}">
                    <a16:creationId xmlns:a16="http://schemas.microsoft.com/office/drawing/2014/main" id="{7461C490-2713-4272-A641-B4A0C7FF6D9E}"/>
                  </a:ext>
                </a:extLst>
              </p:cNvPr>
              <p:cNvCxnSpPr/>
              <p:nvPr>
                <p:custDataLst>
                  <p:tags r:id="rId34"/>
                </p:custDataLst>
              </p:nvPr>
            </p:nvCxnSpPr>
            <p:spPr bwMode="auto">
              <a:xfrm>
                <a:off x="8388000" y="4428000"/>
                <a:ext cx="14400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sq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triangle" w="med" len="sm"/>
              </a:ln>
              <a:effectLst/>
            </p:spPr>
          </p:cxnSp>
        </p:grpSp>
        <p:cxnSp>
          <p:nvCxnSpPr>
            <p:cNvPr id="414" name="直接箭头连接符 413">
              <a:extLst>
                <a:ext uri="{FF2B5EF4-FFF2-40B4-BE49-F238E27FC236}">
                  <a16:creationId xmlns:a16="http://schemas.microsoft.com/office/drawing/2014/main" id="{66842705-8E3D-495D-9D6E-EB583D02FA2F}"/>
                </a:ext>
              </a:extLst>
            </p:cNvPr>
            <p:cNvCxnSpPr>
              <a:cxnSpLocks/>
            </p:cNvCxnSpPr>
            <p:nvPr>
              <p:custDataLst>
                <p:tags r:id="rId19"/>
              </p:custDataLst>
            </p:nvPr>
          </p:nvCxnSpPr>
          <p:spPr bwMode="auto">
            <a:xfrm>
              <a:off x="8748000" y="3420000"/>
              <a:ext cx="0" cy="86400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grpSp>
          <p:nvGrpSpPr>
            <p:cNvPr id="194" name="组合 193">
              <a:extLst>
                <a:ext uri="{FF2B5EF4-FFF2-40B4-BE49-F238E27FC236}">
                  <a16:creationId xmlns:a16="http://schemas.microsoft.com/office/drawing/2014/main" id="{AB707FD8-9661-423D-A2BF-5807028A169D}"/>
                </a:ext>
              </a:extLst>
            </p:cNvPr>
            <p:cNvGrpSpPr/>
            <p:nvPr/>
          </p:nvGrpSpPr>
          <p:grpSpPr>
            <a:xfrm>
              <a:off x="8424000" y="4104000"/>
              <a:ext cx="324000" cy="180000"/>
              <a:chOff x="8388000" y="4032000"/>
              <a:chExt cx="324000" cy="180000"/>
            </a:xfrm>
          </p:grpSpPr>
          <p:sp>
            <p:nvSpPr>
              <p:cNvPr id="415" name="Text Box 392">
                <a:extLst>
                  <a:ext uri="{FF2B5EF4-FFF2-40B4-BE49-F238E27FC236}">
                    <a16:creationId xmlns:a16="http://schemas.microsoft.com/office/drawing/2014/main" id="{9194C499-BDD5-44DE-8623-0ECB5462BDCD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9"/>
                </p:custDataLst>
              </p:nvPr>
            </p:nvSpPr>
            <p:spPr bwMode="auto">
              <a:xfrm>
                <a:off x="8388000" y="4032000"/>
                <a:ext cx="324000" cy="1800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0" tIns="0" rIns="0" bIns="0" anchor="ctr" anchorCtr="0"/>
              <a:lstStyle/>
              <a:p>
                <a:pPr>
                  <a:lnSpc>
                    <a:spcPct val="90000"/>
                  </a:lnSpc>
                </a:pPr>
                <a:r>
                  <a:rPr lang="en-US" altLang="zh-CN" sz="1200" b="1" dirty="0">
                    <a:latin typeface="宋体" panose="02010600030101010101" pitchFamily="2" charset="-122"/>
                  </a:rPr>
                  <a:t>INTA</a:t>
                </a:r>
              </a:p>
            </p:txBody>
          </p:sp>
          <p:cxnSp>
            <p:nvCxnSpPr>
              <p:cNvPr id="416" name="直接箭头连接符 415">
                <a:extLst>
                  <a:ext uri="{FF2B5EF4-FFF2-40B4-BE49-F238E27FC236}">
                    <a16:creationId xmlns:a16="http://schemas.microsoft.com/office/drawing/2014/main" id="{80FA4404-7249-4B0D-80B7-837D1EF81D11}"/>
                  </a:ext>
                </a:extLst>
              </p:cNvPr>
              <p:cNvCxnSpPr/>
              <p:nvPr>
                <p:custDataLst>
                  <p:tags r:id="rId30"/>
                </p:custDataLst>
              </p:nvPr>
            </p:nvCxnSpPr>
            <p:spPr bwMode="auto">
              <a:xfrm flipV="1">
                <a:off x="8406000" y="4050000"/>
                <a:ext cx="280670" cy="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sm"/>
              </a:ln>
              <a:effectLst/>
            </p:spPr>
          </p:cxnSp>
        </p:grpSp>
        <p:cxnSp>
          <p:nvCxnSpPr>
            <p:cNvPr id="418" name="直接箭头连接符 417">
              <a:extLst>
                <a:ext uri="{FF2B5EF4-FFF2-40B4-BE49-F238E27FC236}">
                  <a16:creationId xmlns:a16="http://schemas.microsoft.com/office/drawing/2014/main" id="{F4769ABB-B94C-45BA-9D0A-1A68F5B975AD}"/>
                </a:ext>
              </a:extLst>
            </p:cNvPr>
            <p:cNvCxnSpPr>
              <a:cxnSpLocks/>
            </p:cNvCxnSpPr>
            <p:nvPr>
              <p:custDataLst>
                <p:tags r:id="rId20"/>
              </p:custDataLst>
            </p:nvPr>
          </p:nvCxnSpPr>
          <p:spPr bwMode="auto">
            <a:xfrm flipH="1">
              <a:off x="8388000" y="4284000"/>
              <a:ext cx="3600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19" name="直接箭头连接符 418">
              <a:extLst>
                <a:ext uri="{FF2B5EF4-FFF2-40B4-BE49-F238E27FC236}">
                  <a16:creationId xmlns:a16="http://schemas.microsoft.com/office/drawing/2014/main" id="{CB6E98E2-E610-4FED-A6B5-01CFC35AF7DA}"/>
                </a:ext>
              </a:extLst>
            </p:cNvPr>
            <p:cNvCxnSpPr/>
            <p:nvPr>
              <p:custDataLst>
                <p:tags r:id="rId21"/>
              </p:custDataLst>
            </p:nvPr>
          </p:nvCxnSpPr>
          <p:spPr bwMode="auto">
            <a:xfrm>
              <a:off x="8568000" y="3420000"/>
              <a:ext cx="1800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sp>
          <p:nvSpPr>
            <p:cNvPr id="420" name="Text Box 276">
              <a:extLst>
                <a:ext uri="{FF2B5EF4-FFF2-40B4-BE49-F238E27FC236}">
                  <a16:creationId xmlns:a16="http://schemas.microsoft.com/office/drawing/2014/main" id="{1E246227-9BD2-4E23-8850-BAA5ACAA6B35}"/>
                </a:ext>
              </a:extLst>
            </p:cNvPr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7992000" y="4608000"/>
              <a:ext cx="180000" cy="25200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+</a:t>
              </a:r>
            </a:p>
          </p:txBody>
        </p:sp>
        <p:sp>
          <p:nvSpPr>
            <p:cNvPr id="424" name="Text Box 61">
              <a:extLst>
                <a:ext uri="{FF2B5EF4-FFF2-40B4-BE49-F238E27FC236}">
                  <a16:creationId xmlns:a16="http://schemas.microsoft.com/office/drawing/2014/main" id="{CA84FFE3-1C97-40B5-8590-88B29B263A6B}"/>
                </a:ext>
              </a:extLst>
            </p:cNvPr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7812360" y="4644000"/>
              <a:ext cx="180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0" tIns="0" rIns="0" bIns="0" anchor="ctr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200" b="1" dirty="0">
                  <a:solidFill>
                    <a:srgbClr val="C00000"/>
                  </a:solidFill>
                  <a:latin typeface="+mn-ea"/>
                  <a:cs typeface="Times New Roman" panose="02020603050405020304" pitchFamily="18" charset="0"/>
                </a:rPr>
                <a:t>…</a:t>
              </a:r>
            </a:p>
          </p:txBody>
        </p:sp>
        <p:cxnSp>
          <p:nvCxnSpPr>
            <p:cNvPr id="425" name="直接箭头连接符 424">
              <a:extLst>
                <a:ext uri="{FF2B5EF4-FFF2-40B4-BE49-F238E27FC236}">
                  <a16:creationId xmlns:a16="http://schemas.microsoft.com/office/drawing/2014/main" id="{564AD759-64AE-4BFA-A015-E8C181CBFD8D}"/>
                </a:ext>
              </a:extLst>
            </p:cNvPr>
            <p:cNvCxnSpPr/>
            <p:nvPr>
              <p:custDataLst>
                <p:tags r:id="rId24"/>
              </p:custDataLst>
            </p:nvPr>
          </p:nvCxnSpPr>
          <p:spPr bwMode="auto">
            <a:xfrm>
              <a:off x="7848360" y="4644000"/>
              <a:ext cx="144000" cy="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26" name="直接箭头连接符 425">
              <a:extLst>
                <a:ext uri="{FF2B5EF4-FFF2-40B4-BE49-F238E27FC236}">
                  <a16:creationId xmlns:a16="http://schemas.microsoft.com/office/drawing/2014/main" id="{25777BE5-1026-4631-A72F-170BA9545322}"/>
                </a:ext>
              </a:extLst>
            </p:cNvPr>
            <p:cNvCxnSpPr/>
            <p:nvPr>
              <p:custDataLst>
                <p:tags r:id="rId25"/>
              </p:custDataLst>
            </p:nvPr>
          </p:nvCxnSpPr>
          <p:spPr bwMode="auto">
            <a:xfrm>
              <a:off x="7848360" y="4824000"/>
              <a:ext cx="144000" cy="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29" name="直接箭头连接符 428">
              <a:extLst>
                <a:ext uri="{FF2B5EF4-FFF2-40B4-BE49-F238E27FC236}">
                  <a16:creationId xmlns:a16="http://schemas.microsoft.com/office/drawing/2014/main" id="{9ED04566-441B-438B-B5AA-AA7FF724BDC4}"/>
                </a:ext>
              </a:extLst>
            </p:cNvPr>
            <p:cNvCxnSpPr/>
            <p:nvPr>
              <p:custDataLst>
                <p:tags r:id="rId26"/>
              </p:custDataLst>
            </p:nvPr>
          </p:nvCxnSpPr>
          <p:spPr bwMode="auto">
            <a:xfrm>
              <a:off x="8208000" y="3924000"/>
              <a:ext cx="0" cy="2159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30" name="直接箭头连接符 429">
              <a:extLst>
                <a:ext uri="{FF2B5EF4-FFF2-40B4-BE49-F238E27FC236}">
                  <a16:creationId xmlns:a16="http://schemas.microsoft.com/office/drawing/2014/main" id="{C5B72288-4D22-4905-ABE8-375AE0C2C172}"/>
                </a:ext>
              </a:extLst>
            </p:cNvPr>
            <p:cNvCxnSpPr/>
            <p:nvPr>
              <p:custDataLst>
                <p:tags r:id="rId27"/>
              </p:custDataLst>
            </p:nvPr>
          </p:nvCxnSpPr>
          <p:spPr bwMode="auto">
            <a:xfrm>
              <a:off x="8136000" y="3861048"/>
              <a:ext cx="0" cy="28829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31" name="直接箭头连接符 430">
              <a:extLst>
                <a:ext uri="{FF2B5EF4-FFF2-40B4-BE49-F238E27FC236}">
                  <a16:creationId xmlns:a16="http://schemas.microsoft.com/office/drawing/2014/main" id="{CC066A4C-29DE-4080-8515-32E46FB02A64}"/>
                </a:ext>
              </a:extLst>
            </p:cNvPr>
            <p:cNvCxnSpPr/>
            <p:nvPr>
              <p:custDataLst>
                <p:tags r:id="rId28"/>
              </p:custDataLst>
            </p:nvPr>
          </p:nvCxnSpPr>
          <p:spPr bwMode="auto">
            <a:xfrm>
              <a:off x="8280000" y="3996000"/>
              <a:ext cx="0" cy="144145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</p:grpSp>
      <p:sp>
        <p:nvSpPr>
          <p:cNvPr id="179" name="Text Box 291"/>
          <p:cNvSpPr txBox="1">
            <a:spLocks noChangeArrowheads="1"/>
          </p:cNvSpPr>
          <p:nvPr/>
        </p:nvSpPr>
        <p:spPr bwMode="auto">
          <a:xfrm>
            <a:off x="3635800" y="2807992"/>
            <a:ext cx="576000" cy="360045"/>
          </a:xfrm>
          <a:prstGeom prst="rect">
            <a:avLst/>
          </a:prstGeom>
          <a:solidFill>
            <a:srgbClr val="FFFFFF"/>
          </a:solidFill>
          <a:ln w="12700">
            <a:noFill/>
            <a:miter lim="800000"/>
          </a:ln>
          <a:effectLst/>
        </p:spPr>
        <p:txBody>
          <a:bodyPr lIns="0" tIns="0" rIns="0" bIns="0" anchor="ctr"/>
          <a:lstStyle/>
          <a:p>
            <a:pPr algn="ctr">
              <a:spcBef>
                <a:spcPts val="300"/>
              </a:spcBef>
            </a:pPr>
            <a:r>
              <a:rPr lang="zh-CN" altLang="en-US" sz="1200" b="1" dirty="0">
                <a:latin typeface="宋体" panose="02010600030101010101" pitchFamily="2" charset="-122"/>
              </a:rPr>
              <a:t>同</a:t>
            </a:r>
            <a:r>
              <a:rPr lang="en-US" altLang="zh-CN" sz="1200" b="1" dirty="0">
                <a:latin typeface="宋体" panose="02010600030101010101" pitchFamily="2" charset="-122"/>
              </a:rPr>
              <a:t>/</a:t>
            </a:r>
            <a:r>
              <a:rPr lang="zh-CN" altLang="en-US" sz="1200" b="1" dirty="0">
                <a:latin typeface="宋体" panose="02010600030101010101" pitchFamily="2" charset="-122"/>
              </a:rPr>
              <a:t>异步</a:t>
            </a:r>
            <a:endParaRPr lang="en-US" altLang="zh-CN" sz="1200" b="1" dirty="0">
              <a:latin typeface="宋体" panose="02010600030101010101" pitchFamily="2" charset="-122"/>
            </a:endParaRPr>
          </a:p>
          <a:p>
            <a:pPr algn="ctr">
              <a:lnSpc>
                <a:spcPct val="90000"/>
              </a:lnSpc>
            </a:pPr>
            <a:r>
              <a:rPr lang="zh-CN" altLang="en-US" sz="1200" b="1" dirty="0">
                <a:latin typeface="宋体" panose="02010600030101010101" pitchFamily="2" charset="-122"/>
              </a:rPr>
              <a:t>单</a:t>
            </a:r>
            <a:r>
              <a:rPr lang="en-US" altLang="zh-CN" sz="1200" b="1" dirty="0">
                <a:latin typeface="宋体" panose="02010600030101010101" pitchFamily="2" charset="-122"/>
              </a:rPr>
              <a:t>/</a:t>
            </a:r>
            <a:r>
              <a:rPr lang="zh-CN" altLang="en-US" sz="1200" b="1" dirty="0">
                <a:latin typeface="宋体" panose="02010600030101010101" pitchFamily="2" charset="-122"/>
              </a:rPr>
              <a:t>多体</a:t>
            </a:r>
            <a:endParaRPr lang="en-US" altLang="zh-CN" sz="1400" b="1" dirty="0">
              <a:latin typeface="宋体" panose="02010600030101010101" pitchFamily="2" charset="-122"/>
            </a:endParaRPr>
          </a:p>
        </p:txBody>
      </p:sp>
      <p:grpSp>
        <p:nvGrpSpPr>
          <p:cNvPr id="202" name="组合 201">
            <a:extLst>
              <a:ext uri="{FF2B5EF4-FFF2-40B4-BE49-F238E27FC236}">
                <a16:creationId xmlns:a16="http://schemas.microsoft.com/office/drawing/2014/main" id="{B87E9645-39CF-48C9-9E71-4BEA7D206459}"/>
              </a:ext>
            </a:extLst>
          </p:cNvPr>
          <p:cNvGrpSpPr/>
          <p:nvPr/>
        </p:nvGrpSpPr>
        <p:grpSpPr>
          <a:xfrm>
            <a:off x="8172000" y="3131992"/>
            <a:ext cx="720000" cy="1476000"/>
            <a:chOff x="8172000" y="3204000"/>
            <a:chExt cx="720000" cy="1476000"/>
          </a:xfrm>
        </p:grpSpPr>
        <p:cxnSp>
          <p:nvCxnSpPr>
            <p:cNvPr id="432" name="直接箭头连接符 431">
              <a:extLst>
                <a:ext uri="{FF2B5EF4-FFF2-40B4-BE49-F238E27FC236}">
                  <a16:creationId xmlns:a16="http://schemas.microsoft.com/office/drawing/2014/main" id="{CEF7B435-6D9F-4FBE-9BD0-C688EDF04C35}"/>
                </a:ext>
              </a:extLst>
            </p:cNvPr>
            <p:cNvCxnSpPr/>
            <p:nvPr>
              <p:custDataLst>
                <p:tags r:id="rId12"/>
              </p:custDataLst>
            </p:nvPr>
          </p:nvCxnSpPr>
          <p:spPr bwMode="auto">
            <a:xfrm flipH="1">
              <a:off x="8568000" y="3204000"/>
              <a:ext cx="3240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sp>
          <p:nvSpPr>
            <p:cNvPr id="433" name="Text Box 392">
              <a:extLst>
                <a:ext uri="{FF2B5EF4-FFF2-40B4-BE49-F238E27FC236}">
                  <a16:creationId xmlns:a16="http://schemas.microsoft.com/office/drawing/2014/main" id="{E31674CA-2163-48DD-AFF1-55B2D1E2AFD8}"/>
                </a:ext>
              </a:extLst>
            </p:cNvPr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8460000" y="4356000"/>
              <a:ext cx="360000" cy="324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0" tIns="0" rIns="0" bIns="0" anchor="t" anchorCtr="0"/>
            <a:lstStyle/>
            <a:p>
              <a:pPr algn="ctr">
                <a:lnSpc>
                  <a:spcPct val="90000"/>
                </a:lnSpc>
              </a:pPr>
              <a:r>
                <a:rPr lang="en-US" altLang="zh-CN" sz="1200" b="1" dirty="0">
                  <a:latin typeface="宋体" panose="02010600030101010101" pitchFamily="2" charset="-122"/>
                </a:rPr>
                <a:t>INTR</a:t>
              </a:r>
            </a:p>
            <a:p>
              <a:pPr algn="ctr">
                <a:lnSpc>
                  <a:spcPct val="90000"/>
                </a:lnSpc>
                <a:spcBef>
                  <a:spcPts val="0"/>
                </a:spcBef>
              </a:pPr>
              <a:r>
                <a:rPr lang="en-US" altLang="zh-CN" sz="1200" b="1" dirty="0">
                  <a:latin typeface="宋体" panose="02010600030101010101" pitchFamily="2" charset="-122"/>
                </a:rPr>
                <a:t>NMI</a:t>
              </a:r>
            </a:p>
          </p:txBody>
        </p:sp>
        <p:cxnSp>
          <p:nvCxnSpPr>
            <p:cNvPr id="434" name="直接箭头连接符 433">
              <a:extLst>
                <a:ext uri="{FF2B5EF4-FFF2-40B4-BE49-F238E27FC236}">
                  <a16:creationId xmlns:a16="http://schemas.microsoft.com/office/drawing/2014/main" id="{444D0B71-CA8C-4211-A3D6-59AF23415A5C}"/>
                </a:ext>
              </a:extLst>
            </p:cNvPr>
            <p:cNvCxnSpPr/>
            <p:nvPr>
              <p:custDataLst>
                <p:tags r:id="rId14"/>
              </p:custDataLst>
            </p:nvPr>
          </p:nvCxnSpPr>
          <p:spPr bwMode="auto">
            <a:xfrm flipH="1">
              <a:off x="8568000" y="3312000"/>
              <a:ext cx="2520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sm"/>
            </a:ln>
            <a:effectLst/>
          </p:spPr>
        </p:cxnSp>
        <p:cxnSp>
          <p:nvCxnSpPr>
            <p:cNvPr id="435" name="直接箭头连接符 434">
              <a:extLst>
                <a:ext uri="{FF2B5EF4-FFF2-40B4-BE49-F238E27FC236}">
                  <a16:creationId xmlns:a16="http://schemas.microsoft.com/office/drawing/2014/main" id="{1DF2A7BE-34BE-4DA0-ABE5-C0175E5F7E0C}"/>
                </a:ext>
              </a:extLst>
            </p:cNvPr>
            <p:cNvCxnSpPr>
              <a:cxnSpLocks/>
            </p:cNvCxnSpPr>
            <p:nvPr>
              <p:custDataLst>
                <p:tags r:id="rId15"/>
              </p:custDataLst>
            </p:nvPr>
          </p:nvCxnSpPr>
          <p:spPr bwMode="auto">
            <a:xfrm flipH="1" flipV="1">
              <a:off x="8820000" y="3312000"/>
              <a:ext cx="0" cy="104400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436" name="直接箭头连接符 435">
              <a:extLst>
                <a:ext uri="{FF2B5EF4-FFF2-40B4-BE49-F238E27FC236}">
                  <a16:creationId xmlns:a16="http://schemas.microsoft.com/office/drawing/2014/main" id="{88E3A9DC-ABC4-45FB-B83D-AF00B2075D65}"/>
                </a:ext>
              </a:extLst>
            </p:cNvPr>
            <p:cNvCxnSpPr>
              <a:cxnSpLocks/>
            </p:cNvCxnSpPr>
            <p:nvPr>
              <p:custDataLst>
                <p:tags r:id="rId16"/>
              </p:custDataLst>
            </p:nvPr>
          </p:nvCxnSpPr>
          <p:spPr bwMode="auto">
            <a:xfrm flipV="1">
              <a:off x="8388000" y="4356000"/>
              <a:ext cx="4320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437" name="直接箭头连接符 436">
              <a:extLst>
                <a:ext uri="{FF2B5EF4-FFF2-40B4-BE49-F238E27FC236}">
                  <a16:creationId xmlns:a16="http://schemas.microsoft.com/office/drawing/2014/main" id="{B605148B-36CF-4B2D-B3AF-04F8301B31E4}"/>
                </a:ext>
              </a:extLst>
            </p:cNvPr>
            <p:cNvCxnSpPr>
              <a:cxnSpLocks/>
            </p:cNvCxnSpPr>
            <p:nvPr>
              <p:custDataLst>
                <p:tags r:id="rId17"/>
              </p:custDataLst>
            </p:nvPr>
          </p:nvCxnSpPr>
          <p:spPr bwMode="auto">
            <a:xfrm flipV="1">
              <a:off x="8172000" y="4680000"/>
              <a:ext cx="720000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  <p:cxnSp>
          <p:nvCxnSpPr>
            <p:cNvPr id="438" name="直接箭头连接符 437">
              <a:extLst>
                <a:ext uri="{FF2B5EF4-FFF2-40B4-BE49-F238E27FC236}">
                  <a16:creationId xmlns:a16="http://schemas.microsoft.com/office/drawing/2014/main" id="{C2C7FCE3-6745-4FED-AD40-5112D70E2197}"/>
                </a:ext>
              </a:extLst>
            </p:cNvPr>
            <p:cNvCxnSpPr>
              <a:cxnSpLocks/>
            </p:cNvCxnSpPr>
            <p:nvPr>
              <p:custDataLst>
                <p:tags r:id="rId18"/>
              </p:custDataLst>
            </p:nvPr>
          </p:nvCxnSpPr>
          <p:spPr bwMode="auto">
            <a:xfrm flipH="1" flipV="1">
              <a:off x="8892000" y="3204000"/>
              <a:ext cx="0" cy="1476000"/>
            </a:xfrm>
            <a:prstGeom prst="straightConnector1">
              <a:avLst/>
            </a:prstGeom>
            <a:solidFill>
              <a:schemeClr val="accent1"/>
            </a:solidFill>
            <a:ln w="9525" cap="sq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sm"/>
            </a:ln>
            <a:effectLst/>
          </p:spPr>
        </p:cxnSp>
      </p:grpSp>
      <p:sp>
        <p:nvSpPr>
          <p:cNvPr id="238" name="Text Box 61">
            <a:extLst>
              <a:ext uri="{FF2B5EF4-FFF2-40B4-BE49-F238E27FC236}">
                <a16:creationId xmlns:a16="http://schemas.microsoft.com/office/drawing/2014/main" id="{3AC95FFF-1781-441B-A2C3-DA81A6A6BD30}"/>
              </a:ext>
            </a:extLst>
          </p:cNvPr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4464000" y="5436000"/>
            <a:ext cx="4680518" cy="1008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0" tIns="0" rIns="0" bIns="0" anchor="t" anchorCtr="0"/>
          <a:lstStyle/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I/O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系统组织：</a:t>
            </a:r>
            <a:r>
              <a:rPr lang="en-US" altLang="zh-CN" sz="1400" b="1" dirty="0">
                <a:latin typeface="+mn-ea"/>
              </a:rPr>
              <a:t>(</a:t>
            </a:r>
            <a:r>
              <a:rPr lang="zh-CN" altLang="en-US" sz="1400" b="1" dirty="0">
                <a:latin typeface="+mn-ea"/>
              </a:rPr>
              <a:t>实现</a:t>
            </a:r>
            <a:r>
              <a:rPr lang="zh-CN" altLang="en-US" sz="1400" b="1" dirty="0">
                <a:highlight>
                  <a:srgbClr val="CCFFFF"/>
                </a:highlight>
                <a:latin typeface="+mn-ea"/>
              </a:rPr>
              <a:t>主机</a:t>
            </a:r>
            <a:r>
              <a:rPr lang="en-US" altLang="zh-CN" sz="1400" b="1" dirty="0">
                <a:highlight>
                  <a:srgbClr val="CCFFFF"/>
                </a:highlight>
                <a:latin typeface="+mn-ea"/>
              </a:rPr>
              <a:t>-</a:t>
            </a:r>
            <a:r>
              <a:rPr lang="zh-CN" altLang="en-US" sz="1400" b="1" dirty="0">
                <a:highlight>
                  <a:srgbClr val="CCFFFF"/>
                </a:highlight>
                <a:latin typeface="+mn-ea"/>
              </a:rPr>
              <a:t>外设的数据交换</a:t>
            </a:r>
            <a:r>
              <a:rPr lang="en-US" altLang="zh-CN" sz="1400" b="1" dirty="0">
                <a:latin typeface="+mn-ea"/>
              </a:rPr>
              <a:t>)</a:t>
            </a:r>
          </a:p>
          <a:p>
            <a:r>
              <a:rPr lang="en-US" altLang="zh-CN" sz="1600" b="1" dirty="0">
                <a:solidFill>
                  <a:srgbClr val="990099"/>
                </a:solidFill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①</a:t>
            </a:r>
            <a:r>
              <a:rPr lang="zh-CN" sz="1600" b="1" dirty="0">
                <a:latin typeface="+mn-ea"/>
              </a:rPr>
              <a:t>主机</a:t>
            </a:r>
            <a:r>
              <a:rPr lang="en-US" altLang="zh-CN" sz="1600" b="1" dirty="0">
                <a:latin typeface="+mn-ea"/>
              </a:rPr>
              <a:t>-</a:t>
            </a:r>
            <a:r>
              <a:rPr lang="zh-CN" sz="1600" b="1" dirty="0">
                <a:latin typeface="+mn-ea"/>
              </a:rPr>
              <a:t>外设的联系</a:t>
            </a:r>
            <a:r>
              <a:rPr lang="en-US" altLang="zh-CN" sz="1400" b="1" dirty="0">
                <a:latin typeface="+mn-ea"/>
              </a:rPr>
              <a:t>(</a:t>
            </a:r>
            <a:r>
              <a:rPr lang="zh-CN" altLang="en-US" sz="1400" b="1" dirty="0">
                <a:latin typeface="+mn-ea"/>
              </a:rPr>
              <a:t>连接</a:t>
            </a:r>
            <a:r>
              <a:rPr lang="en-US" altLang="zh-CN" sz="1400" b="1" dirty="0">
                <a:latin typeface="+mn-ea"/>
              </a:rPr>
              <a:t>[</a:t>
            </a:r>
            <a:r>
              <a:rPr lang="zh-CN" altLang="en-US" sz="1400" b="1" dirty="0">
                <a:latin typeface="+mn-ea"/>
              </a:rPr>
              <a:t>总线</a:t>
            </a:r>
            <a:r>
              <a:rPr lang="en-US" altLang="zh-CN" sz="1400" b="1" dirty="0">
                <a:latin typeface="+mn-ea"/>
              </a:rPr>
              <a:t>]/</a:t>
            </a:r>
            <a:r>
              <a:rPr lang="zh-CN" altLang="en-US" sz="1400" b="1" dirty="0">
                <a:latin typeface="+mn-ea"/>
              </a:rPr>
              <a:t>编址</a:t>
            </a:r>
            <a:r>
              <a:rPr lang="en-US" altLang="zh-CN" sz="1400" b="1" dirty="0">
                <a:latin typeface="+mn-ea"/>
              </a:rPr>
              <a:t>[</a:t>
            </a:r>
            <a:r>
              <a:rPr lang="en-US" altLang="zh-CN" sz="1400" b="1" dirty="0">
                <a:latin typeface="+mn-lt"/>
              </a:rPr>
              <a:t>~</a:t>
            </a:r>
            <a:r>
              <a:rPr lang="en-US" altLang="zh-CN" sz="1400" b="1" dirty="0">
                <a:latin typeface="+mn-ea"/>
              </a:rPr>
              <a:t>x]/</a:t>
            </a:r>
            <a:r>
              <a:rPr lang="zh-CN" altLang="en-US" sz="1400" b="1" dirty="0">
                <a:latin typeface="+mn-ea"/>
              </a:rPr>
              <a:t>响应</a:t>
            </a:r>
            <a:r>
              <a:rPr lang="en-US" altLang="zh-CN" sz="1400" b="1" dirty="0">
                <a:latin typeface="+mn-ea"/>
              </a:rPr>
              <a:t>/</a:t>
            </a:r>
            <a:r>
              <a:rPr lang="zh-CN" altLang="en-US" sz="1400" b="1" dirty="0">
                <a:latin typeface="+mn-ea"/>
              </a:rPr>
              <a:t>联络</a:t>
            </a:r>
            <a:r>
              <a:rPr lang="en-US" altLang="zh-CN" sz="1400" b="1" dirty="0">
                <a:latin typeface="+mn-ea"/>
              </a:rPr>
              <a:t>)</a:t>
            </a:r>
          </a:p>
          <a:p>
            <a:r>
              <a:rPr lang="zh-CN" altLang="en-US" sz="1600" b="1" dirty="0">
                <a:latin typeface="+mn-ea"/>
              </a:rPr>
              <a:t> ②</a:t>
            </a:r>
            <a:r>
              <a:rPr lang="en-US" altLang="zh-CN" sz="1600" b="1" dirty="0">
                <a:latin typeface="+mn-ea"/>
              </a:rPr>
              <a:t>I/O</a:t>
            </a:r>
            <a:r>
              <a:rPr lang="zh-CN" altLang="en-US" sz="1600" b="1" dirty="0">
                <a:latin typeface="+mn-ea"/>
              </a:rPr>
              <a:t>接口组成</a:t>
            </a:r>
            <a:r>
              <a:rPr lang="en-US" altLang="zh-CN" sz="1400" b="1" dirty="0">
                <a:latin typeface="+mn-ea"/>
              </a:rPr>
              <a:t>(</a:t>
            </a:r>
            <a:r>
              <a:rPr lang="zh-CN" altLang="en-US" sz="1400" b="1" dirty="0">
                <a:latin typeface="+mn-ea"/>
              </a:rPr>
              <a:t>中转，端口</a:t>
            </a:r>
            <a:r>
              <a:rPr lang="en-US" altLang="zh-CN" sz="1400" b="1" dirty="0">
                <a:latin typeface="+mn-ea"/>
              </a:rPr>
              <a:t>+</a:t>
            </a:r>
            <a:r>
              <a:rPr lang="zh-CN" altLang="en-US" sz="1400" b="1" dirty="0">
                <a:latin typeface="+mn-ea"/>
              </a:rPr>
              <a:t>总线侧</a:t>
            </a:r>
            <a:r>
              <a:rPr lang="en-US" altLang="zh-CN" sz="1400" b="1" dirty="0">
                <a:latin typeface="+mn-ea"/>
              </a:rPr>
              <a:t>+</a:t>
            </a:r>
            <a:r>
              <a:rPr lang="zh-CN" altLang="en-US" sz="1400" b="1" dirty="0">
                <a:latin typeface="+mn-ea"/>
              </a:rPr>
              <a:t>通信侧</a:t>
            </a:r>
            <a:r>
              <a:rPr lang="en-US" altLang="zh-CN" sz="1400" b="1" dirty="0">
                <a:latin typeface="+mn-ea"/>
              </a:rPr>
              <a:t>)</a:t>
            </a:r>
            <a:endParaRPr lang="zh-CN" altLang="en-US" sz="14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③I/O</a:t>
            </a:r>
            <a:r>
              <a:rPr lang="zh-CN" altLang="en-US" sz="1600" b="1" dirty="0">
                <a:latin typeface="+mn-ea"/>
              </a:rPr>
              <a:t>方式实现</a:t>
            </a:r>
            <a:r>
              <a:rPr lang="en-US" altLang="zh-CN" sz="1400" b="1" dirty="0">
                <a:latin typeface="+mn-ea"/>
              </a:rPr>
              <a:t>(4</a:t>
            </a:r>
            <a:r>
              <a:rPr lang="zh-CN" altLang="en-US" sz="1400" b="1" dirty="0">
                <a:latin typeface="+mn-ea"/>
              </a:rPr>
              <a:t>种，控制流程</a:t>
            </a:r>
            <a:r>
              <a:rPr lang="en-US" altLang="zh-CN" sz="1400" b="1" dirty="0">
                <a:latin typeface="+mn-ea"/>
              </a:rPr>
              <a:t>/</a:t>
            </a:r>
            <a:r>
              <a:rPr lang="zh-CN" altLang="en-US" sz="1400" b="1" dirty="0">
                <a:latin typeface="+mn-ea"/>
              </a:rPr>
              <a:t>接口</a:t>
            </a:r>
            <a:r>
              <a:rPr lang="zh-CN" altLang="zh-CN" sz="1400" b="1" dirty="0">
                <a:latin typeface="+mn-ea"/>
              </a:rPr>
              <a:t>组织</a:t>
            </a:r>
            <a:r>
              <a:rPr lang="en-US" altLang="zh-CN" sz="1400" b="1" dirty="0">
                <a:latin typeface="+mn-ea"/>
              </a:rPr>
              <a:t>/</a:t>
            </a:r>
            <a:r>
              <a:rPr lang="zh-CN" altLang="en-US" sz="1400" b="1" dirty="0">
                <a:latin typeface="+mn-ea"/>
              </a:rPr>
              <a:t>软件编程</a:t>
            </a:r>
            <a:r>
              <a:rPr lang="en-US" altLang="zh-CN" sz="1400" b="1" dirty="0">
                <a:latin typeface="+mn-ea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3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3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3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9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3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3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3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3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3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1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/>
                                        <p:tgtEl>
                                          <p:spTgt spid="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4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500"/>
                            </p:stCondLst>
                            <p:childTnLst>
                              <p:par>
                                <p:cTn id="13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/>
                                        <p:tgtEl>
                                          <p:spTgt spid="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4" dur="500"/>
                                        <p:tgtEl>
                                          <p:spTgt spid="2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7" dur="500"/>
                                        <p:tgtEl>
                                          <p:spTgt spid="2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500"/>
                            </p:stCondLst>
                            <p:childTnLst>
                              <p:par>
                                <p:cTn id="14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6" dur="500"/>
                                        <p:tgtEl>
                                          <p:spTgt spid="2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1" dur="500"/>
                                        <p:tgtEl>
                                          <p:spTgt spid="2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6" dur="500"/>
                                        <p:tgtEl>
                                          <p:spTgt spid="2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9" dur="500"/>
                                        <p:tgtEl>
                                          <p:spTgt spid="2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500"/>
                            </p:stCondLst>
                            <p:childTnLst>
                              <p:par>
                                <p:cTn id="17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3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8" dur="500"/>
                                        <p:tgtEl>
                                          <p:spTgt spid="2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500"/>
                            </p:stCondLst>
                            <p:childTnLst>
                              <p:par>
                                <p:cTn id="18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2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7" dur="500"/>
                                        <p:tgtEl>
                                          <p:spTgt spid="2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2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 bldLvl="0" animBg="1"/>
      <p:bldP spid="138" grpId="0" bldLvl="0" animBg="1"/>
      <p:bldP spid="367" grpId="0" animBg="1"/>
      <p:bldP spid="370" grpId="0" animBg="1"/>
      <p:bldP spid="407" grpId="0"/>
      <p:bldP spid="179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2ZiYjY4MjU5YzBkYmJmZjUyNGJiOWY1ZTc3NzM1MG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69*70"/>
  <p:tag name="TABLE_ENDDRAG_RECT" val="36*317*669*7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3529</TotalTime>
  <Words>8783</Words>
  <Application>Microsoft Office PowerPoint</Application>
  <PresentationFormat>全屏显示(4:3)</PresentationFormat>
  <Paragraphs>1600</Paragraphs>
  <Slides>37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3" baseType="lpstr">
      <vt:lpstr>Arial Unicode MS</vt:lpstr>
      <vt:lpstr>MS Gothic</vt:lpstr>
      <vt:lpstr>黑体</vt:lpstr>
      <vt:lpstr>宋体</vt:lpstr>
      <vt:lpstr>Times New Roman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RGL</dc:creator>
  <cp:lastModifiedBy>guolin</cp:lastModifiedBy>
  <cp:revision>998</cp:revision>
  <dcterms:created xsi:type="dcterms:W3CDTF">2002-02-16T03:40:00Z</dcterms:created>
  <dcterms:modified xsi:type="dcterms:W3CDTF">2025-01-02T01:08:17Z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23197FB355F647CE8D33CE158749C363_12</vt:lpwstr>
  </property>
  <property fmtid="{D5CDD505-2E9C-101B-9397-08002B2CF9AE}" pid="3" name="KSOProductBuildVer">
    <vt:lpwstr>2052-12.1.0.16120</vt:lpwstr>
  </property>
</Properties>
</file>