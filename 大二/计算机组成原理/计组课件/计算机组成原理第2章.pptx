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5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6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8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22.xml" ContentType="application/vnd.openxmlformats-officedocument.presentationml.tags+xml"/>
  <Override PartName="/ppt/notesSlides/notesSlide14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15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46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47.xml" ContentType="application/vnd.openxmlformats-officedocument.presentationml.tags+xml"/>
  <Override PartName="/ppt/notesSlides/notesSlide30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36.xml" ContentType="application/vnd.openxmlformats-officedocument.presentationml.notesSlid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37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notesSlides/notesSlide41.xml" ContentType="application/vnd.openxmlformats-officedocument.presentationml.notesSlide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notesSlides/notesSlide42.xml" ContentType="application/vnd.openxmlformats-officedocument.presentationml.notesSlide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notesSlides/notesSlide43.xml" ContentType="application/vnd.openxmlformats-officedocument.presentationml.notesSlide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notesSlides/notesSlide44.xml" ContentType="application/vnd.openxmlformats-officedocument.presentationml.notesSlide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notesSlides/notesSlide49.xml" ContentType="application/vnd.openxmlformats-officedocument.presentationml.notesSlide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notesSlides/notesSlide50.xml" ContentType="application/vnd.openxmlformats-officedocument.presentationml.notesSlide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notesSlides/notesSlide51.xml" ContentType="application/vnd.openxmlformats-officedocument.presentationml.notesSlide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558" r:id="rId3"/>
    <p:sldId id="321" r:id="rId4"/>
    <p:sldId id="377" r:id="rId5"/>
    <p:sldId id="715" r:id="rId6"/>
    <p:sldId id="263" r:id="rId7"/>
    <p:sldId id="501" r:id="rId8"/>
    <p:sldId id="502" r:id="rId9"/>
    <p:sldId id="384" r:id="rId10"/>
    <p:sldId id="598" r:id="rId11"/>
    <p:sldId id="387" r:id="rId12"/>
    <p:sldId id="344" r:id="rId13"/>
    <p:sldId id="506" r:id="rId14"/>
    <p:sldId id="507" r:id="rId15"/>
    <p:sldId id="392" r:id="rId16"/>
    <p:sldId id="632" r:id="rId17"/>
    <p:sldId id="396" r:id="rId18"/>
    <p:sldId id="259" r:id="rId19"/>
    <p:sldId id="368" r:id="rId20"/>
    <p:sldId id="592" r:id="rId21"/>
    <p:sldId id="585" r:id="rId22"/>
    <p:sldId id="379" r:id="rId23"/>
    <p:sldId id="717" r:id="rId24"/>
    <p:sldId id="406" r:id="rId25"/>
    <p:sldId id="543" r:id="rId26"/>
    <p:sldId id="549" r:id="rId27"/>
    <p:sldId id="602" r:id="rId28"/>
    <p:sldId id="599" r:id="rId29"/>
    <p:sldId id="409" r:id="rId30"/>
    <p:sldId id="514" r:id="rId31"/>
    <p:sldId id="353" r:id="rId32"/>
    <p:sldId id="412" r:id="rId33"/>
    <p:sldId id="332" r:id="rId34"/>
    <p:sldId id="550" r:id="rId35"/>
    <p:sldId id="416" r:id="rId36"/>
    <p:sldId id="551" r:id="rId37"/>
    <p:sldId id="552" r:id="rId38"/>
    <p:sldId id="417" r:id="rId39"/>
    <p:sldId id="517" r:id="rId40"/>
    <p:sldId id="413" r:id="rId41"/>
    <p:sldId id="425" r:id="rId42"/>
    <p:sldId id="426" r:id="rId43"/>
    <p:sldId id="436" r:id="rId44"/>
    <p:sldId id="586" r:id="rId45"/>
    <p:sldId id="428" r:id="rId46"/>
    <p:sldId id="723" r:id="rId47"/>
    <p:sldId id="722" r:id="rId48"/>
    <p:sldId id="500" r:id="rId49"/>
    <p:sldId id="597" r:id="rId50"/>
    <p:sldId id="557" r:id="rId51"/>
    <p:sldId id="418" r:id="rId52"/>
    <p:sldId id="518" r:id="rId53"/>
    <p:sldId id="587" r:id="rId54"/>
    <p:sldId id="521" r:id="rId55"/>
    <p:sldId id="566" r:id="rId56"/>
    <p:sldId id="608" r:id="rId57"/>
    <p:sldId id="568" r:id="rId58"/>
    <p:sldId id="595" r:id="rId59"/>
    <p:sldId id="574" r:id="rId60"/>
    <p:sldId id="576" r:id="rId61"/>
    <p:sldId id="570" r:id="rId62"/>
    <p:sldId id="546" r:id="rId63"/>
    <p:sldId id="473" r:id="rId64"/>
    <p:sldId id="475" r:id="rId65"/>
    <p:sldId id="537" r:id="rId66"/>
    <p:sldId id="476" r:id="rId67"/>
    <p:sldId id="479" r:id="rId68"/>
    <p:sldId id="612" r:id="rId69"/>
    <p:sldId id="554" r:id="rId70"/>
    <p:sldId id="718" r:id="rId71"/>
    <p:sldId id="619" r:id="rId72"/>
    <p:sldId id="630" r:id="rId73"/>
    <p:sldId id="623" r:id="rId74"/>
    <p:sldId id="624" r:id="rId75"/>
    <p:sldId id="719" r:id="rId76"/>
    <p:sldId id="720" r:id="rId77"/>
    <p:sldId id="721" r:id="rId78"/>
  </p:sldIdLst>
  <p:sldSz cx="9144000" cy="6858000" type="screen4x3"/>
  <p:notesSz cx="6858000" cy="9144000"/>
  <p:custDataLst>
    <p:tags r:id="rId81"/>
  </p:custDataLst>
  <p:defaultTextStyle>
    <a:defPPr>
      <a:defRPr lang="zh-CN"/>
    </a:defPPr>
    <a:lvl1pPr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lnSpc>
        <a:spcPct val="125000"/>
      </a:lnSpc>
      <a:spcBef>
        <a:spcPct val="0"/>
      </a:spcBef>
      <a:spcAft>
        <a:spcPct val="0"/>
      </a:spcAft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CC3300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990099"/>
    <a:srgbClr val="99CCFF"/>
    <a:srgbClr val="CCFFFF"/>
    <a:srgbClr val="CCCCFF"/>
    <a:srgbClr val="CC99FF"/>
    <a:srgbClr val="FFCC99"/>
    <a:srgbClr val="FFCCFF"/>
    <a:srgbClr val="00FF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84" autoAdjust="0"/>
    <p:restoredTop sz="94388" autoAdjust="0"/>
  </p:normalViewPr>
  <p:slideViewPr>
    <p:cSldViewPr showGuides="1">
      <p:cViewPr varScale="1">
        <p:scale>
          <a:sx n="89" d="100"/>
          <a:sy n="89" d="100"/>
        </p:scale>
        <p:origin x="1348" y="64"/>
      </p:cViewPr>
      <p:guideLst>
        <p:guide orient="horz" pos="2124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EF9B27F6-252B-4348-BABE-898E991E8DFC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3CFE8EDC-34A9-4DEA-B9EA-ED3551F6672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学时（数据编码</a:t>
            </a:r>
            <a:r>
              <a:rPr lang="en-US" dirty="0">
                <a:sym typeface="+mn-ea"/>
              </a:rPr>
              <a:t>&amp;</a:t>
            </a:r>
            <a:r>
              <a:rPr lang="zh-CN" altLang="en-US" dirty="0">
                <a:sym typeface="+mn-ea"/>
              </a:rPr>
              <a:t>表示</a:t>
            </a:r>
            <a:r>
              <a:rPr lang="zh-CN" dirty="0"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，数据运算需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学时（含数电复习），运算器组成需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学时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spc="-100" dirty="0">
                <a:solidFill>
                  <a:schemeClr val="tx1"/>
                </a:solidFill>
              </a:rPr>
              <a:t>△表示考核要求较低，了解级别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记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，其余增减；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0x(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前缀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en-US" altLang="zh-CN" sz="11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</a:t>
            </a:r>
            <a:r>
              <a:rPr lang="en-US" altLang="zh-CN" dirty="0"/>
              <a:t>C </a:t>
            </a:r>
            <a:r>
              <a:rPr lang="zh-CN" altLang="en-US" dirty="0"/>
              <a:t>②</a:t>
            </a:r>
            <a:r>
              <a:rPr lang="en-US" altLang="zh-CN" dirty="0"/>
              <a:t>B </a:t>
            </a:r>
            <a:r>
              <a:rPr lang="zh-CN" altLang="en-US" dirty="0"/>
              <a:t>③</a:t>
            </a:r>
            <a:r>
              <a:rPr lang="en-US" altLang="zh-CN" dirty="0"/>
              <a:t>C </a:t>
            </a:r>
            <a:r>
              <a:rPr lang="zh-CN" altLang="en-US" dirty="0"/>
              <a:t>④</a:t>
            </a:r>
            <a:r>
              <a:rPr lang="en-US" altLang="zh-CN" dirty="0"/>
              <a:t>A </a:t>
            </a:r>
            <a:r>
              <a:rPr lang="zh-CN" altLang="en-US" dirty="0"/>
              <a:t>⑤</a:t>
            </a:r>
            <a:r>
              <a:rPr lang="en-US" altLang="zh-CN" dirty="0"/>
              <a:t>B </a:t>
            </a:r>
            <a:r>
              <a:rPr lang="zh-CN" altLang="en-US" dirty="0"/>
              <a:t>⑥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2BAF18F-04AB-450F-904F-078C1A5CD726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8421</a:t>
            </a:r>
            <a:r>
              <a:rPr lang="zh-CN" altLang="en-US" dirty="0"/>
              <a:t>码</a:t>
            </a:r>
            <a:r>
              <a:rPr lang="en-US" altLang="zh-CN" dirty="0"/>
              <a:t>—</a:t>
            </a:r>
            <a:r>
              <a:rPr lang="zh-CN" altLang="en-US" dirty="0"/>
              <a:t>便于运算；格雷码</a:t>
            </a:r>
            <a:r>
              <a:rPr lang="en-US" altLang="zh-CN" dirty="0"/>
              <a:t>—</a:t>
            </a:r>
            <a:r>
              <a:rPr lang="zh-CN" altLang="en-US" dirty="0"/>
              <a:t>用于计数器时，每次只有一位变化；其他码</a:t>
            </a:r>
            <a:r>
              <a:rPr lang="en-US" altLang="zh-CN" dirty="0"/>
              <a:t>--</a:t>
            </a:r>
            <a:r>
              <a:rPr lang="zh-CN" altLang="en-US" dirty="0"/>
              <a:t>加减法时，最高位能正确产生进</a:t>
            </a:r>
            <a:r>
              <a:rPr lang="en-US" altLang="zh-CN" dirty="0"/>
              <a:t>/</a:t>
            </a:r>
            <a:r>
              <a:rPr lang="zh-CN" altLang="en-US" dirty="0"/>
              <a:t>借位</a:t>
            </a:r>
          </a:p>
          <a:p>
            <a:r>
              <a:rPr lang="en-US" altLang="zh-CN" dirty="0"/>
              <a:t>2421</a:t>
            </a:r>
            <a:r>
              <a:rPr lang="zh-CN" altLang="en-US" dirty="0"/>
              <a:t>码</a:t>
            </a:r>
            <a:r>
              <a:rPr lang="en-US" altLang="zh-CN" dirty="0"/>
              <a:t>—bit3</a:t>
            </a:r>
            <a:r>
              <a:rPr lang="zh-CN" altLang="en-US" dirty="0"/>
              <a:t>的权为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5211</a:t>
            </a:r>
            <a:r>
              <a:rPr lang="zh-CN" altLang="en-US" dirty="0"/>
              <a:t>码</a:t>
            </a:r>
            <a:r>
              <a:rPr lang="en-US" altLang="zh-CN" dirty="0"/>
              <a:t>—bit3</a:t>
            </a:r>
            <a:r>
              <a:rPr lang="zh-CN" altLang="en-US" dirty="0"/>
              <a:t>的权为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84-2-1</a:t>
            </a:r>
            <a:r>
              <a:rPr lang="zh-CN" altLang="en-US" dirty="0"/>
              <a:t>码</a:t>
            </a:r>
            <a:r>
              <a:rPr lang="en-US" altLang="zh-CN" dirty="0"/>
              <a:t>—bit3</a:t>
            </a:r>
            <a:r>
              <a:rPr lang="zh-CN" altLang="en-US" dirty="0"/>
              <a:t>的权为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的权为－</a:t>
            </a:r>
            <a:r>
              <a:rPr lang="en-US" altLang="zh-CN" dirty="0"/>
              <a:t>2(</a:t>
            </a:r>
            <a:r>
              <a:rPr lang="zh-CN" altLang="en-US" dirty="0"/>
              <a:t>负</a:t>
            </a:r>
            <a:r>
              <a:rPr lang="en-US" altLang="zh-CN" dirty="0"/>
              <a:t>2)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的权为－</a:t>
            </a:r>
            <a:r>
              <a:rPr lang="en-US" altLang="zh-CN" dirty="0"/>
              <a:t>1(</a:t>
            </a:r>
            <a:r>
              <a:rPr lang="zh-CN" altLang="en-US" dirty="0"/>
              <a:t>负</a:t>
            </a:r>
            <a:r>
              <a:rPr lang="en-US" altLang="zh-CN" dirty="0"/>
              <a:t>1)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4311</a:t>
            </a:r>
            <a:r>
              <a:rPr lang="zh-CN" altLang="en-US" dirty="0"/>
              <a:t>码</a:t>
            </a:r>
            <a:r>
              <a:rPr lang="en-US" altLang="zh-CN" dirty="0"/>
              <a:t>-- bit3</a:t>
            </a:r>
            <a:r>
              <a:rPr lang="zh-CN" altLang="en-US" dirty="0"/>
              <a:t>的权为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bit2</a:t>
            </a:r>
            <a:r>
              <a:rPr lang="zh-CN" altLang="en-US" dirty="0"/>
              <a:t>的权为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bit1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bit0</a:t>
            </a:r>
            <a:r>
              <a:rPr lang="zh-CN" altLang="en-US" dirty="0"/>
              <a:t>的权为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后</a:t>
            </a:r>
            <a:r>
              <a:rPr lang="en-US" altLang="zh-CN" dirty="0"/>
              <a:t>4</a:t>
            </a:r>
            <a:r>
              <a:rPr lang="zh-CN" altLang="en-US" dirty="0"/>
              <a:t>种编码的特征：</a:t>
            </a:r>
            <a:r>
              <a:rPr lang="en-US" altLang="zh-CN" dirty="0"/>
              <a:t>0-9</a:t>
            </a:r>
            <a:r>
              <a:rPr lang="zh-CN" altLang="en-US" dirty="0"/>
              <a:t>、</a:t>
            </a:r>
            <a:r>
              <a:rPr lang="en-US" altLang="zh-CN" dirty="0"/>
              <a:t>1-8</a:t>
            </a:r>
            <a:r>
              <a:rPr lang="zh-CN" altLang="en-US" dirty="0"/>
              <a:t>、</a:t>
            </a:r>
            <a:r>
              <a:rPr lang="en-US" altLang="zh-CN" dirty="0"/>
              <a:t>2-7</a:t>
            </a:r>
            <a:r>
              <a:rPr lang="zh-CN" altLang="en-US" dirty="0"/>
              <a:t>、</a:t>
            </a:r>
            <a:r>
              <a:rPr lang="en-US" altLang="zh-CN" dirty="0"/>
              <a:t>3-6</a:t>
            </a:r>
            <a:r>
              <a:rPr lang="zh-CN" altLang="en-US" dirty="0"/>
              <a:t>、</a:t>
            </a:r>
            <a:r>
              <a:rPr lang="en-US" altLang="zh-CN" dirty="0"/>
              <a:t>4-5</a:t>
            </a:r>
            <a:r>
              <a:rPr lang="zh-CN" altLang="en-US" dirty="0"/>
              <a:t>按位或的结果刚好为</a:t>
            </a:r>
            <a:r>
              <a:rPr lang="en-US" altLang="zh-CN" dirty="0"/>
              <a:t>1111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Unicode</a:t>
            </a:r>
            <a:r>
              <a:rPr lang="zh-CN" altLang="en-US" dirty="0">
                <a:sym typeface="+mn-ea"/>
              </a:rPr>
              <a:t>有</a:t>
            </a:r>
            <a:r>
              <a:rPr lang="en-US" altLang="zh-CN" dirty="0">
                <a:sym typeface="+mn-ea"/>
              </a:rPr>
              <a:t>UTF-8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UCS-2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UTF-16</a:t>
            </a:r>
            <a:r>
              <a:rPr lang="zh-CN" altLang="en-US" dirty="0">
                <a:sym typeface="+mn-ea"/>
              </a:rPr>
              <a:t>等多种编码格式，</a:t>
            </a:r>
            <a:r>
              <a:rPr lang="en-US" altLang="zh-CN" dirty="0">
                <a:sym typeface="+mn-ea"/>
              </a:rPr>
              <a:t>UTF-8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UTF-16</a:t>
            </a:r>
            <a:r>
              <a:rPr lang="zh-CN" altLang="en-US" dirty="0">
                <a:sym typeface="+mn-ea"/>
              </a:rPr>
              <a:t>为变长编码，</a:t>
            </a:r>
            <a:r>
              <a:rPr lang="en-US" altLang="zh-CN" dirty="0">
                <a:sym typeface="+mn-ea"/>
              </a:rPr>
              <a:t>UCS-2</a:t>
            </a:r>
            <a:r>
              <a:rPr lang="zh-CN" altLang="en-US" dirty="0">
                <a:sym typeface="+mn-ea"/>
              </a:rPr>
              <a:t>为定长编码。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UTF-8</a:t>
            </a:r>
            <a:r>
              <a:rPr lang="zh-CN" altLang="en-US" dirty="0">
                <a:sym typeface="+mn-ea"/>
              </a:rPr>
              <a:t>长度为</a:t>
            </a:r>
            <a:r>
              <a:rPr lang="en-US" altLang="zh-CN" dirty="0">
                <a:sym typeface="+mn-ea"/>
              </a:rPr>
              <a:t>1B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2B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3B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4B</a:t>
            </a:r>
            <a:r>
              <a:rPr lang="zh-CN" altLang="en-US" dirty="0">
                <a:sym typeface="+mn-ea"/>
              </a:rPr>
              <a:t>，欧系语言字符用</a:t>
            </a:r>
            <a:r>
              <a:rPr lang="en-US" altLang="zh-CN" dirty="0">
                <a:sym typeface="+mn-ea"/>
              </a:rPr>
              <a:t>1</a:t>
            </a:r>
            <a:r>
              <a:rPr lang="en-US" dirty="0">
                <a:sym typeface="+mn-ea"/>
              </a:rPr>
              <a:t>Bytes</a:t>
            </a:r>
            <a:r>
              <a:rPr lang="zh-CN" altLang="en-US" dirty="0">
                <a:sym typeface="+mn-ea"/>
              </a:rPr>
              <a:t>或</a:t>
            </a:r>
            <a:r>
              <a:rPr lang="en-US" altLang="zh-CN" dirty="0">
                <a:sym typeface="+mn-ea"/>
              </a:rPr>
              <a:t>2</a:t>
            </a:r>
            <a:r>
              <a:rPr lang="en-US" dirty="0">
                <a:sym typeface="+mn-ea"/>
              </a:rPr>
              <a:t>Bytes</a:t>
            </a:r>
            <a:r>
              <a:rPr lang="zh-CN" altLang="en-US" dirty="0">
                <a:sym typeface="+mn-ea"/>
              </a:rPr>
              <a:t>表示，大部分亚系语言字符用</a:t>
            </a:r>
            <a:r>
              <a:rPr lang="en-US" altLang="zh-CN" dirty="0">
                <a:sym typeface="+mn-ea"/>
              </a:rPr>
              <a:t>3</a:t>
            </a:r>
            <a:r>
              <a:rPr lang="en-US" dirty="0">
                <a:sym typeface="+mn-ea"/>
              </a:rPr>
              <a:t>Bytes</a:t>
            </a:r>
            <a:r>
              <a:rPr lang="zh-CN" altLang="en-US" dirty="0">
                <a:sym typeface="+mn-ea"/>
              </a:rPr>
              <a:t>表示，一些补充字符用</a:t>
            </a:r>
            <a:r>
              <a:rPr lang="en-US" altLang="zh-CN" dirty="0">
                <a:sym typeface="+mn-ea"/>
              </a:rPr>
              <a:t>4</a:t>
            </a:r>
            <a:r>
              <a:rPr lang="en-US" dirty="0">
                <a:sym typeface="+mn-ea"/>
              </a:rPr>
              <a:t>Bytes</a:t>
            </a:r>
            <a:r>
              <a:rPr lang="zh-CN" altLang="en-US" dirty="0">
                <a:sym typeface="+mn-ea"/>
              </a:rPr>
              <a:t>表示。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UCS-2</a:t>
            </a:r>
            <a:r>
              <a:rPr lang="zh-CN" altLang="en-US" dirty="0">
                <a:sym typeface="+mn-ea"/>
              </a:rPr>
              <a:t>长度为</a:t>
            </a:r>
            <a:r>
              <a:rPr lang="en-US" altLang="zh-CN" dirty="0">
                <a:sym typeface="+mn-ea"/>
              </a:rPr>
              <a:t>2B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UTF-16</a:t>
            </a:r>
            <a:r>
              <a:rPr lang="zh-CN" altLang="en-US" dirty="0">
                <a:sym typeface="+mn-ea"/>
              </a:rPr>
              <a:t>长度为</a:t>
            </a:r>
            <a:r>
              <a:rPr lang="en-US" altLang="zh-CN" dirty="0">
                <a:sym typeface="+mn-ea"/>
              </a:rPr>
              <a:t>2B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4B</a:t>
            </a:r>
            <a:r>
              <a:rPr lang="zh-CN" altLang="en-US" dirty="0">
                <a:sym typeface="+mn-ea"/>
              </a:rPr>
              <a:t>，欧系语言的字符（包括</a:t>
            </a:r>
            <a:r>
              <a:rPr lang="en-US" altLang="zh-CN" dirty="0">
                <a:sym typeface="+mn-ea"/>
              </a:rPr>
              <a:t>ASCII</a:t>
            </a:r>
            <a:r>
              <a:rPr lang="zh-CN" altLang="en-US" dirty="0">
                <a:sym typeface="+mn-ea"/>
              </a:rPr>
              <a:t>码）和大部分的亚系语言是用</a:t>
            </a:r>
            <a:r>
              <a:rPr lang="en-US" altLang="zh-CN" dirty="0">
                <a:sym typeface="+mn-ea"/>
              </a:rPr>
              <a:t>2Bytes</a:t>
            </a:r>
            <a:r>
              <a:rPr lang="zh-CN" altLang="en-US" dirty="0">
                <a:sym typeface="+mn-ea"/>
              </a:rPr>
              <a:t>表示的。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码距反例：校验码为</a:t>
            </a:r>
            <a:r>
              <a:rPr lang="en-US" altLang="zh-CN" dirty="0"/>
              <a:t>000</a:t>
            </a:r>
            <a:r>
              <a:rPr lang="zh-CN" altLang="en-US" dirty="0"/>
              <a:t>～</a:t>
            </a:r>
            <a:r>
              <a:rPr lang="en-US" altLang="zh-CN" dirty="0"/>
              <a:t>111</a:t>
            </a:r>
            <a:r>
              <a:rPr lang="zh-CN" altLang="en-US" dirty="0"/>
              <a:t>，无法发现</a:t>
            </a:r>
            <a:r>
              <a:rPr lang="en-US" altLang="zh-CN" dirty="0"/>
              <a:t>000</a:t>
            </a:r>
            <a:r>
              <a:rPr lang="zh-CN" altLang="en-US" dirty="0"/>
              <a:t>错成</a:t>
            </a:r>
            <a:r>
              <a:rPr lang="en-US" altLang="zh-CN" dirty="0"/>
              <a:t>001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BA197E5-CD6B-4E25-92D3-F93262E84D8D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SEC(</a:t>
            </a:r>
            <a:r>
              <a:rPr kumimoji="1" lang="en-US" altLang="zh-CN" sz="1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Single error correction</a:t>
            </a:r>
            <a:r>
              <a:rPr kumimoji="1" lang="en-US" altLang="zh-CN" sz="18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lang="zh-CN" altLang="zh-CN" sz="18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4E48F21-25A8-44C9-A2F8-7713AD637361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校验位错的严重性小于数据位，故如此安排</a:t>
            </a:r>
            <a:r>
              <a:rPr lang="en-US" altLang="zh-CN" dirty="0"/>
              <a:t>P1P2P3P4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F08DBF7-3EB9-4DF8-B7EF-B2D775D85028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P27-</a:t>
            </a:r>
            <a:r>
              <a:rPr lang="zh-CN" altLang="en-US" dirty="0"/>
              <a:t>看检验位的编码目标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数据表示（</a:t>
            </a:r>
            <a:r>
              <a:rPr lang="en-US" altLang="zh-CN" dirty="0"/>
              <a:t>Data</a:t>
            </a:r>
            <a:r>
              <a:rPr lang="en-US" altLang="zh-CN" baseline="0" dirty="0"/>
              <a:t> Representation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8AB2958-8808-4C5A-A21E-238716B6508C}" type="slidenum">
              <a:rPr lang="en-US" altLang="zh-CN"/>
              <a:t>25</a:t>
            </a:fld>
            <a:endParaRPr lang="en-US" altLang="zh-CN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思考：补码便于运算实现</a:t>
            </a:r>
            <a:r>
              <a:rPr lang="en-US" altLang="zh-CN" dirty="0"/>
              <a:t>(</a:t>
            </a:r>
            <a:r>
              <a:rPr lang="zh-CN" altLang="en-US" dirty="0"/>
              <a:t>减法无需比较大小，符号</a:t>
            </a:r>
            <a:r>
              <a:rPr lang="en-US" altLang="zh-CN" dirty="0"/>
              <a:t>/</a:t>
            </a:r>
            <a:r>
              <a:rPr lang="zh-CN" altLang="en-US" dirty="0"/>
              <a:t>数据可一起运算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32</a:t>
            </a:r>
            <a:r>
              <a:rPr lang="zh-CN" altLang="en-US" dirty="0"/>
              <a:t>位的</a:t>
            </a:r>
            <a:r>
              <a:rPr lang="en-US" altLang="zh-CN" dirty="0"/>
              <a:t>C</a:t>
            </a:r>
            <a:r>
              <a:rPr lang="zh-CN" altLang="en-US" dirty="0"/>
              <a:t>语言编译器中，</a:t>
            </a:r>
            <a:r>
              <a:rPr lang="en-US" altLang="zh-CN" dirty="0" err="1"/>
              <a:t>int</a:t>
            </a:r>
            <a:r>
              <a:rPr lang="zh-CN" altLang="en-US" dirty="0"/>
              <a:t>和</a:t>
            </a:r>
            <a:r>
              <a:rPr lang="en-US" altLang="zh-CN" dirty="0"/>
              <a:t>long </a:t>
            </a:r>
            <a:r>
              <a:rPr lang="en-US" altLang="zh-CN" dirty="0" err="1"/>
              <a:t>int</a:t>
            </a:r>
            <a:r>
              <a:rPr lang="zh-CN" altLang="en-US" dirty="0"/>
              <a:t>的数据长度默认相同，可以不同（设置编译选项）。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思考：零扩展时，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>
                <a:solidFill>
                  <a:schemeClr val="tx1"/>
                </a:solidFill>
                <a:latin typeface="+mn-ea"/>
              </a:rPr>
              <a:t>n+k</a:t>
            </a:r>
            <a:r>
              <a:rPr kumimoji="1" lang="en-US" altLang="zh-CN" sz="8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dirty="0"/>
              <a:t>端接地；符号扩展时，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>
                <a:solidFill>
                  <a:schemeClr val="tx1"/>
                </a:solidFill>
                <a:latin typeface="+mn-ea"/>
              </a:rPr>
              <a:t>n+k</a:t>
            </a:r>
            <a:r>
              <a:rPr kumimoji="1" lang="en-US" altLang="zh-CN" sz="8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~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baseline="-14000" dirty="0" err="1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dirty="0"/>
              <a:t>端接</a:t>
            </a:r>
            <a:r>
              <a:rPr lang="en-US" altLang="zh-CN" dirty="0"/>
              <a:t>D</a:t>
            </a:r>
            <a:r>
              <a:rPr lang="en-US" altLang="zh-CN" baseline="-14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solidFill>
                  <a:schemeClr val="tx1"/>
                </a:solidFill>
              </a:rPr>
              <a:t>R</a:t>
            </a:r>
            <a:r>
              <a:rPr lang="en-US" altLang="zh-CN" sz="1200" baseline="-18000" dirty="0">
                <a:solidFill>
                  <a:schemeClr val="tx1"/>
                </a:solidFill>
              </a:rPr>
              <a:t>E</a:t>
            </a:r>
            <a:r>
              <a:rPr lang="en-US" altLang="zh-CN" sz="1200" dirty="0">
                <a:solidFill>
                  <a:schemeClr val="tx1"/>
                </a:solidFill>
              </a:rPr>
              <a:t>=2</a:t>
            </a:r>
            <a:r>
              <a:rPr lang="zh-CN" altLang="en-US" sz="1200" dirty="0">
                <a:solidFill>
                  <a:schemeClr val="tx1"/>
                </a:solidFill>
              </a:rPr>
              <a:t>的原因</a:t>
            </a:r>
            <a:r>
              <a:rPr lang="en-US" altLang="zh-CN" sz="1200" dirty="0">
                <a:solidFill>
                  <a:schemeClr val="tx1"/>
                </a:solidFill>
              </a:rPr>
              <a:t>--</a:t>
            </a:r>
            <a:r>
              <a:rPr lang="zh-CN" altLang="en-US" sz="1200" dirty="0">
                <a:solidFill>
                  <a:schemeClr val="tx1"/>
                </a:solidFill>
              </a:rPr>
              <a:t>整数的表数范围与基无关，</a:t>
            </a:r>
            <a:r>
              <a:rPr lang="zh-CN" altLang="en-US" sz="1100" dirty="0">
                <a:solidFill>
                  <a:schemeClr val="tx1"/>
                </a:solidFill>
              </a:rPr>
              <a:t>小利于对阶</a:t>
            </a:r>
            <a:endParaRPr lang="en-US" altLang="zh-CN" sz="1100" dirty="0">
              <a:solidFill>
                <a:schemeClr val="accent2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练习：</a:t>
            </a:r>
            <a:r>
              <a:rPr lang="en-US" altLang="zh-CN" dirty="0"/>
              <a:t>-54=10110</a:t>
            </a:r>
            <a:r>
              <a:rPr lang="en-US" altLang="zh-CN" baseline="0" dirty="0"/>
              <a:t> 1001010</a:t>
            </a:r>
            <a:r>
              <a:rPr lang="zh-CN" altLang="en-US" baseline="0" dirty="0"/>
              <a:t>，</a:t>
            </a:r>
            <a:r>
              <a:rPr lang="en-US" altLang="zh-CN" baseline="0" dirty="0"/>
              <a:t>645H=-0.111011</a:t>
            </a:r>
            <a:r>
              <a:rPr lang="zh-CN" altLang="en-US" baseline="0" dirty="0"/>
              <a:t>*</a:t>
            </a:r>
            <a:r>
              <a:rPr lang="en-US" altLang="zh-CN" baseline="0" dirty="0"/>
              <a:t>2</a:t>
            </a:r>
            <a:r>
              <a:rPr lang="en-US" altLang="zh-CN" baseline="30000" dirty="0"/>
              <a:t>-100</a:t>
            </a:r>
            <a:r>
              <a:rPr lang="zh-CN" altLang="en-US" baseline="0" dirty="0"/>
              <a:t>。          </a:t>
            </a:r>
            <a:r>
              <a:rPr lang="en-US" altLang="zh-CN" dirty="0"/>
              <a:t>P12-</a:t>
            </a:r>
            <a:r>
              <a:rPr lang="zh-CN" altLang="en-US" dirty="0"/>
              <a:t>看各种编码规则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7921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0FDB513-E615-41B2-847F-1451662208B9}" type="slidenum">
              <a:rPr lang="en-US" altLang="zh-CN"/>
              <a:t>31</a:t>
            </a:fld>
            <a:endParaRPr lang="en-US" altLang="zh-CN"/>
          </a:p>
        </p:txBody>
      </p:sp>
      <p:sp>
        <p:nvSpPr>
          <p:cNvPr id="308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IEEE-754</a:t>
            </a:r>
            <a:r>
              <a:rPr lang="zh-CN" altLang="en-US" dirty="0"/>
              <a:t>标准</a:t>
            </a:r>
            <a:r>
              <a:rPr lang="en-US" altLang="zh-CN" dirty="0"/>
              <a:t>1985</a:t>
            </a:r>
            <a:r>
              <a:rPr lang="zh-CN" altLang="en-US" dirty="0"/>
              <a:t>年发布，又称为</a:t>
            </a:r>
            <a:r>
              <a:rPr lang="en-US" altLang="zh-CN" dirty="0"/>
              <a:t>IEEE-754-1985</a:t>
            </a:r>
            <a:r>
              <a:rPr lang="zh-CN" altLang="en-US" dirty="0"/>
              <a:t>标准。</a:t>
            </a:r>
            <a:r>
              <a:rPr lang="en-US" altLang="zh-CN" dirty="0"/>
              <a:t>IEEE-754-2008</a:t>
            </a:r>
            <a:r>
              <a:rPr lang="zh-CN" altLang="en-US" dirty="0"/>
              <a:t>标准增加了半精度</a:t>
            </a:r>
            <a:r>
              <a:rPr lang="en-US" altLang="zh-CN" dirty="0"/>
              <a:t>(16</a:t>
            </a:r>
            <a:r>
              <a:rPr lang="zh-CN" altLang="en-US" dirty="0"/>
              <a:t>位</a:t>
            </a:r>
            <a:r>
              <a:rPr lang="en-US" altLang="zh-CN" dirty="0"/>
              <a:t>)</a:t>
            </a:r>
            <a:r>
              <a:rPr lang="zh-CN" altLang="en-US" dirty="0"/>
              <a:t>、四精度</a:t>
            </a:r>
            <a:r>
              <a:rPr lang="en-US" altLang="zh-CN" dirty="0"/>
              <a:t>(128</a:t>
            </a:r>
            <a:r>
              <a:rPr lang="zh-CN" altLang="en-US" dirty="0"/>
              <a:t>位</a:t>
            </a:r>
            <a:r>
              <a:rPr lang="en-US" altLang="zh-CN" dirty="0"/>
              <a:t>)</a:t>
            </a:r>
            <a:r>
              <a:rPr lang="zh-CN" altLang="en-US" dirty="0"/>
              <a:t>，半精度的</a:t>
            </a:r>
            <a:r>
              <a:rPr lang="en-US" altLang="zh-CN" dirty="0"/>
              <a:t>S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位，</a:t>
            </a:r>
            <a:r>
              <a:rPr lang="en-US" altLang="zh-CN" dirty="0"/>
              <a:t>E</a:t>
            </a:r>
            <a:r>
              <a:rPr lang="zh-CN" altLang="en-US" dirty="0"/>
              <a:t>为</a:t>
            </a:r>
            <a:r>
              <a:rPr lang="en-US" altLang="zh-CN" dirty="0"/>
              <a:t>5</a:t>
            </a:r>
            <a:r>
              <a:rPr lang="zh-CN" altLang="en-US" dirty="0"/>
              <a:t>位，</a:t>
            </a:r>
            <a:r>
              <a:rPr lang="en-US" altLang="zh-CN" dirty="0"/>
              <a:t>M</a:t>
            </a:r>
            <a:r>
              <a:rPr lang="zh-CN" altLang="en-US" dirty="0"/>
              <a:t>为</a:t>
            </a:r>
            <a:r>
              <a:rPr lang="en-US" altLang="zh-CN" dirty="0"/>
              <a:t>10</a:t>
            </a:r>
            <a:r>
              <a:rPr lang="zh-CN" altLang="en-US" dirty="0"/>
              <a:t>位，</a:t>
            </a:r>
            <a:r>
              <a:rPr lang="en-US" altLang="zh-CN" dirty="0"/>
              <a:t>E</a:t>
            </a:r>
            <a:r>
              <a:rPr lang="zh-CN" altLang="en-US" dirty="0"/>
              <a:t>、</a:t>
            </a:r>
            <a:r>
              <a:rPr lang="en-US" altLang="zh-CN" dirty="0"/>
              <a:t>M</a:t>
            </a:r>
            <a:r>
              <a:rPr lang="zh-CN" altLang="en-US" dirty="0"/>
              <a:t>编码方法不变。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1 10000110 011010…0=C3340000H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P83-</a:t>
            </a:r>
            <a:r>
              <a:rPr lang="zh-CN" altLang="en-US" dirty="0"/>
              <a:t>看加减运算的基础是逻辑运算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注：</a:t>
            </a:r>
            <a:r>
              <a:rPr lang="en-US" altLang="zh-CN" dirty="0"/>
              <a:t>Unicode</a:t>
            </a:r>
            <a:r>
              <a:rPr lang="zh-CN" altLang="en-US" dirty="0"/>
              <a:t>包含</a:t>
            </a:r>
            <a:r>
              <a:rPr lang="en-US" altLang="zh-CN" dirty="0"/>
              <a:t>ASCII</a:t>
            </a:r>
            <a:r>
              <a:rPr lang="zh-CN" altLang="en-US" dirty="0"/>
              <a:t>、汉字，</a:t>
            </a:r>
            <a:r>
              <a:rPr lang="en-US" altLang="zh-CN" dirty="0"/>
              <a:t>Unicode</a:t>
            </a:r>
            <a:r>
              <a:rPr lang="zh-CN" altLang="en-US" dirty="0"/>
              <a:t>与</a:t>
            </a:r>
            <a:r>
              <a:rPr lang="en-US" altLang="zh-CN" dirty="0"/>
              <a:t>ASCII</a:t>
            </a:r>
            <a:r>
              <a:rPr lang="zh-CN" altLang="en-US" dirty="0"/>
              <a:t>不兼容（</a:t>
            </a:r>
            <a:r>
              <a:rPr lang="en-US" altLang="zh-CN" dirty="0"/>
              <a:t>ASCII</a:t>
            </a:r>
            <a:r>
              <a:rPr lang="zh-CN" altLang="en-US" dirty="0"/>
              <a:t>用</a:t>
            </a:r>
            <a:r>
              <a:rPr lang="en-US" altLang="zh-CN" dirty="0"/>
              <a:t>Unicode</a:t>
            </a:r>
            <a:r>
              <a:rPr lang="zh-CN" altLang="en-US" dirty="0"/>
              <a:t>表示）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ASCII</a:t>
            </a:r>
            <a:r>
              <a:rPr lang="zh-CN" altLang="en-US" dirty="0"/>
              <a:t>码为</a:t>
            </a:r>
            <a:r>
              <a:rPr lang="en-US" altLang="zh-CN" dirty="0"/>
              <a:t>1000001B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1856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P-</a:t>
            </a:r>
            <a:r>
              <a:rPr lang="zh-CN" altLang="en-US" dirty="0"/>
              <a:t>看</a:t>
            </a:r>
            <a:r>
              <a:rPr lang="en-US" altLang="zh-CN" dirty="0"/>
              <a:t>[-X]</a:t>
            </a:r>
            <a:r>
              <a:rPr lang="zh-CN" altLang="en-US" baseline="-18000" dirty="0"/>
              <a:t>补</a:t>
            </a:r>
            <a:r>
              <a:rPr lang="zh-CN" altLang="en-US" dirty="0"/>
              <a:t>与</a:t>
            </a:r>
            <a:r>
              <a:rPr lang="en-US" altLang="zh-CN" dirty="0"/>
              <a:t>[X]</a:t>
            </a:r>
            <a:r>
              <a:rPr lang="zh-CN" altLang="en-US" baseline="-18000" dirty="0"/>
              <a:t>补</a:t>
            </a:r>
            <a:r>
              <a:rPr lang="zh-CN" altLang="en-US" dirty="0"/>
              <a:t>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9DF8B98-FB28-4A7D-A5E6-556048424D1F}" type="slidenum">
              <a:rPr lang="en-US" altLang="zh-CN"/>
              <a:t>41</a:t>
            </a:fld>
            <a:endParaRPr lang="en-US" altLang="zh-CN"/>
          </a:p>
        </p:txBody>
      </p:sp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[X+Y]</a:t>
            </a:r>
            <a:r>
              <a:rPr lang="zh-CN" altLang="en-US" baseline="-25000" dirty="0"/>
              <a:t>补</a:t>
            </a:r>
            <a:r>
              <a:rPr lang="en-US" altLang="zh-CN" dirty="0"/>
              <a:t>=00100111</a:t>
            </a:r>
            <a:r>
              <a:rPr lang="zh-CN" altLang="en-US" dirty="0"/>
              <a:t>，</a:t>
            </a:r>
            <a:r>
              <a:rPr lang="en-US" altLang="zh-CN" dirty="0"/>
              <a:t>[X-Y]</a:t>
            </a:r>
            <a:r>
              <a:rPr lang="zh-CN" altLang="en-US" baseline="-25000" dirty="0"/>
              <a:t>补</a:t>
            </a:r>
            <a:r>
              <a:rPr lang="en-US" altLang="zh-CN" dirty="0"/>
              <a:t>=11110111</a:t>
            </a:r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F0DF1D-44FC-4B5F-B12F-F7B19867F30D}" type="slidenum">
              <a:rPr lang="en-US" altLang="zh-CN"/>
              <a:t>42</a:t>
            </a:fld>
            <a:endParaRPr lang="en-US" altLang="zh-CN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思考②：</a:t>
            </a:r>
            <a:r>
              <a:rPr lang="en-US" altLang="zh-CN" dirty="0"/>
              <a:t>op</a:t>
            </a:r>
            <a:r>
              <a:rPr lang="zh-CN" altLang="en-US" dirty="0"/>
              <a:t>引脚处增加一个非门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EC6FC2B-17C4-47AB-AD0F-9779176E3C3F}" type="slidenum">
              <a:rPr lang="en-US" altLang="zh-CN"/>
              <a:t>43</a:t>
            </a:fld>
            <a:endParaRPr lang="en-US" altLang="zh-CN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练习：</a:t>
            </a:r>
            <a:r>
              <a:rPr lang="en-US" altLang="zh-CN" dirty="0"/>
              <a:t>[A]</a:t>
            </a:r>
            <a:r>
              <a:rPr lang="zh-CN" altLang="en-US" dirty="0"/>
              <a:t>补</a:t>
            </a:r>
            <a:r>
              <a:rPr lang="en-US" altLang="zh-CN" dirty="0"/>
              <a:t>=001111</a:t>
            </a:r>
            <a:r>
              <a:rPr lang="zh-CN" altLang="en-US" dirty="0"/>
              <a:t>，</a:t>
            </a:r>
            <a:r>
              <a:rPr lang="en-US" altLang="zh-CN" dirty="0"/>
              <a:t>[B]</a:t>
            </a:r>
            <a:r>
              <a:rPr lang="zh-CN" altLang="en-US" dirty="0"/>
              <a:t>补</a:t>
            </a:r>
            <a:r>
              <a:rPr lang="en-US" altLang="zh-CN" dirty="0"/>
              <a:t>=011000</a:t>
            </a:r>
            <a:r>
              <a:rPr lang="zh-CN" altLang="en-US" dirty="0"/>
              <a:t>，</a:t>
            </a:r>
            <a:r>
              <a:rPr lang="en-US" altLang="zh-CN" dirty="0"/>
              <a:t>[-B]</a:t>
            </a:r>
            <a:r>
              <a:rPr lang="zh-CN" altLang="en-US" dirty="0"/>
              <a:t>补</a:t>
            </a:r>
            <a:r>
              <a:rPr lang="en-US" altLang="zh-CN" dirty="0"/>
              <a:t>=101000</a:t>
            </a:r>
            <a:r>
              <a:rPr lang="zh-CN" altLang="en-US" dirty="0"/>
              <a:t>，</a:t>
            </a:r>
            <a:r>
              <a:rPr lang="en-US" altLang="zh-CN" dirty="0"/>
              <a:t>[A+B]</a:t>
            </a:r>
            <a:r>
              <a:rPr lang="zh-CN" altLang="en-US" dirty="0"/>
              <a:t>补</a:t>
            </a:r>
            <a:r>
              <a:rPr lang="en-US" altLang="zh-CN" dirty="0"/>
              <a:t>=100111</a:t>
            </a:r>
            <a:r>
              <a:rPr lang="zh-CN" altLang="en-US" dirty="0"/>
              <a:t>，</a:t>
            </a:r>
            <a:r>
              <a:rPr lang="en-US" altLang="zh-CN" dirty="0"/>
              <a:t>[A-B]</a:t>
            </a:r>
            <a:r>
              <a:rPr lang="zh-CN" altLang="en-US" dirty="0"/>
              <a:t>补</a:t>
            </a:r>
            <a:r>
              <a:rPr lang="en-US" altLang="zh-CN" dirty="0"/>
              <a:t>=110111</a:t>
            </a:r>
            <a:r>
              <a:rPr lang="zh-CN" altLang="en-US" dirty="0"/>
              <a:t>，</a:t>
            </a:r>
            <a:r>
              <a:rPr lang="en-US" altLang="zh-CN" dirty="0"/>
              <a:t>A+B</a:t>
            </a:r>
            <a:r>
              <a:rPr lang="zh-CN" altLang="en-US" dirty="0"/>
              <a:t>溢出：</a:t>
            </a:r>
            <a:r>
              <a:rPr lang="zh-CN" altLang="en-US" sz="1200" dirty="0">
                <a:solidFill>
                  <a:schemeClr val="accent2"/>
                </a:solidFill>
              </a:rPr>
              <a:t>①</a:t>
            </a:r>
            <a:r>
              <a:rPr lang="en-US" altLang="zh-CN" sz="1200" dirty="0">
                <a:solidFill>
                  <a:schemeClr val="accent2"/>
                </a:solidFill>
              </a:rPr>
              <a:t>(</a:t>
            </a:r>
            <a:r>
              <a:rPr lang="en-US" altLang="zh-CN" dirty="0"/>
              <a:t>0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/>
              <a:t>1)(0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/>
              <a:t>1)=1</a:t>
            </a:r>
            <a:r>
              <a:rPr lang="zh-CN" altLang="en-US" dirty="0"/>
              <a:t>，</a:t>
            </a:r>
            <a:r>
              <a:rPr lang="zh-CN" altLang="en-US" sz="1200" dirty="0">
                <a:solidFill>
                  <a:schemeClr val="accent2"/>
                </a:solidFill>
              </a:rPr>
              <a:t>②</a:t>
            </a:r>
            <a:r>
              <a:rPr lang="en-US" altLang="zh-CN" dirty="0"/>
              <a:t>0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/>
              <a:t>1=1</a:t>
            </a:r>
            <a:r>
              <a:rPr lang="zh-CN" altLang="en-US" dirty="0"/>
              <a:t>；</a:t>
            </a:r>
            <a:r>
              <a:rPr lang="en-US" altLang="zh-CN" dirty="0"/>
              <a:t>A-B</a:t>
            </a:r>
            <a:r>
              <a:rPr lang="zh-CN" altLang="en-US" dirty="0"/>
              <a:t>不溢出：</a:t>
            </a:r>
            <a:r>
              <a:rPr lang="zh-CN" altLang="en-US" sz="1200" dirty="0">
                <a:solidFill>
                  <a:schemeClr val="accent2"/>
                </a:solidFill>
              </a:rPr>
              <a:t>①</a:t>
            </a:r>
            <a:r>
              <a:rPr lang="en-US" altLang="zh-CN" sz="1200" dirty="0">
                <a:solidFill>
                  <a:schemeClr val="accent2"/>
                </a:solidFill>
              </a:rPr>
              <a:t>(</a:t>
            </a:r>
            <a:r>
              <a:rPr lang="en-US" altLang="zh-CN" dirty="0"/>
              <a:t>0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/>
              <a:t>1)(1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/>
              <a:t>1)=0</a:t>
            </a:r>
            <a:r>
              <a:rPr lang="zh-CN" altLang="en-US" dirty="0"/>
              <a:t>，</a:t>
            </a:r>
            <a:r>
              <a:rPr lang="zh-CN" altLang="en-US" sz="1200" dirty="0">
                <a:solidFill>
                  <a:schemeClr val="accent2"/>
                </a:solidFill>
              </a:rPr>
              <a:t>②</a:t>
            </a:r>
            <a:r>
              <a:rPr lang="en-US" altLang="zh-CN" dirty="0"/>
              <a:t>0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/>
              <a:t>0=0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方法</a:t>
            </a:r>
            <a:r>
              <a:rPr lang="zh-CN" altLang="en-US" sz="1200" dirty="0">
                <a:solidFill>
                  <a:schemeClr val="accent2"/>
                </a:solidFill>
              </a:rPr>
              <a:t>①</a:t>
            </a:r>
            <a:r>
              <a:rPr lang="zh-CN" altLang="en-US" dirty="0"/>
              <a:t>化简：</a:t>
            </a:r>
            <a:r>
              <a:rPr lang="en-US" altLang="zh-CN" dirty="0" err="1"/>
              <a:t>a#b#z+abz</a:t>
            </a:r>
            <a:r>
              <a:rPr lang="en-US" altLang="zh-CN" dirty="0"/>
              <a:t>#=a#b#z+a#zbz+az#b#z+az#bz#=(a#z+az#)(b#z+bz#)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P42-</a:t>
            </a:r>
            <a:r>
              <a:rPr lang="zh-CN" altLang="en-US" dirty="0"/>
              <a:t>看有</a:t>
            </a:r>
            <a:r>
              <a:rPr lang="en-US" altLang="zh-CN" dirty="0"/>
              <a:t>/</a:t>
            </a:r>
            <a:r>
              <a:rPr lang="zh-CN" altLang="en-US" dirty="0"/>
              <a:t>无符号运算规则，</a:t>
            </a:r>
            <a:r>
              <a:rPr lang="en-US" altLang="zh-CN" dirty="0"/>
              <a:t>P44-</a:t>
            </a:r>
            <a:r>
              <a:rPr lang="zh-CN" altLang="en-US" dirty="0"/>
              <a:t>看溢出判断方法不同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ym typeface="+mn-ea"/>
              </a:rPr>
              <a:t>练习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74H+A3H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74H-A3H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；有、无符号时，结果为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    </a:t>
            </a:r>
            <a:r>
              <a:rPr lang="en-US" altLang="zh-CN" dirty="0"/>
              <a:t>P36-</a:t>
            </a:r>
            <a:r>
              <a:rPr lang="zh-CN" altLang="en-US" dirty="0"/>
              <a:t>看字符的关系运算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52397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思考②：</a:t>
            </a:r>
            <a:r>
              <a:rPr lang="zh-CN" altLang="en-US" sz="1200" dirty="0">
                <a:solidFill>
                  <a:schemeClr val="tx1"/>
                </a:solidFill>
              </a:rPr>
              <a:t>加法时</a:t>
            </a:r>
            <a:r>
              <a:rPr lang="en-US" altLang="zh-CN" sz="1200" dirty="0" err="1">
                <a:solidFill>
                  <a:schemeClr val="tx1"/>
                </a:solidFill>
              </a:rPr>
              <a:t>C</a:t>
            </a:r>
            <a:r>
              <a:rPr lang="en-US" altLang="zh-CN" sz="1200" baseline="-18000" dirty="0" err="1">
                <a:solidFill>
                  <a:schemeClr val="tx1"/>
                </a:solidFill>
              </a:rPr>
              <a:t>in</a:t>
            </a:r>
            <a:r>
              <a:rPr lang="zh-CN" altLang="en-US" sz="1200" dirty="0">
                <a:solidFill>
                  <a:schemeClr val="tx1"/>
                </a:solidFill>
              </a:rPr>
              <a:t>＝</a:t>
            </a:r>
            <a:r>
              <a:rPr lang="en-US" altLang="zh-CN" sz="1200" dirty="0">
                <a:solidFill>
                  <a:schemeClr val="tx1"/>
                </a:solidFill>
              </a:rPr>
              <a:t>0</a:t>
            </a:r>
            <a:r>
              <a:rPr lang="zh-CN" altLang="en-US" sz="1200" dirty="0">
                <a:solidFill>
                  <a:schemeClr val="tx1"/>
                </a:solidFill>
              </a:rPr>
              <a:t>、减法时</a:t>
            </a:r>
            <a:r>
              <a:rPr lang="en-US" altLang="zh-CN" sz="1200" dirty="0" err="1">
                <a:solidFill>
                  <a:schemeClr val="tx1"/>
                </a:solidFill>
              </a:rPr>
              <a:t>C</a:t>
            </a:r>
            <a:r>
              <a:rPr lang="en-US" altLang="zh-CN" sz="1200" baseline="-18000" dirty="0" err="1">
                <a:solidFill>
                  <a:schemeClr val="tx1"/>
                </a:solidFill>
              </a:rPr>
              <a:t>in</a:t>
            </a:r>
            <a:r>
              <a:rPr lang="zh-CN" altLang="en-US" sz="1200" dirty="0">
                <a:solidFill>
                  <a:schemeClr val="tx1"/>
                </a:solidFill>
              </a:rPr>
              <a:t>＝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 。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72292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P48-</a:t>
            </a:r>
            <a:r>
              <a:rPr lang="zh-CN" altLang="en-US" dirty="0"/>
              <a:t>看补码加减法器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x=10000110B</a:t>
            </a:r>
            <a:r>
              <a:rPr lang="zh-CN" altLang="en-US" dirty="0"/>
              <a:t>，</a:t>
            </a:r>
            <a:r>
              <a:rPr lang="en-US" altLang="zh-CN" dirty="0"/>
              <a:t>y=11110110B</a:t>
            </a:r>
            <a:r>
              <a:rPr lang="zh-CN" altLang="en-US" dirty="0"/>
              <a:t>，</a:t>
            </a:r>
            <a:r>
              <a:rPr lang="en-US" altLang="zh-CN" dirty="0"/>
              <a:t>z1=x-y=(0)10010000</a:t>
            </a:r>
            <a:r>
              <a:rPr lang="zh-CN" altLang="en-US" dirty="0"/>
              <a:t>，</a:t>
            </a:r>
            <a:r>
              <a:rPr lang="en-US" altLang="zh-CN" dirty="0"/>
              <a:t>z2=</a:t>
            </a:r>
            <a:r>
              <a:rPr lang="en-US" altLang="zh-CN" dirty="0" err="1"/>
              <a:t>x+y</a:t>
            </a:r>
            <a:r>
              <a:rPr lang="en-US" altLang="zh-CN" dirty="0"/>
              <a:t>=(1)01111100</a:t>
            </a:r>
            <a:r>
              <a:rPr lang="zh-CN" altLang="en-US" dirty="0"/>
              <a:t>，</a:t>
            </a:r>
            <a:r>
              <a:rPr lang="en-US" altLang="zh-CN" dirty="0"/>
              <a:t>(R1)=86H</a:t>
            </a:r>
            <a:r>
              <a:rPr lang="zh-CN" altLang="en-US" dirty="0"/>
              <a:t>，</a:t>
            </a:r>
            <a:r>
              <a:rPr lang="en-US" altLang="zh-CN" dirty="0"/>
              <a:t>(R5)=90H</a:t>
            </a:r>
            <a:r>
              <a:rPr lang="zh-CN" altLang="en-US" dirty="0"/>
              <a:t>，</a:t>
            </a:r>
            <a:r>
              <a:rPr lang="en-US" altLang="zh-CN" dirty="0"/>
              <a:t>(R6)=7CH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m=86H=-122</a:t>
            </a:r>
            <a:r>
              <a:rPr lang="zh-CN" altLang="en-US" dirty="0"/>
              <a:t>，</a:t>
            </a:r>
            <a:r>
              <a:rPr lang="en-US" altLang="zh-CN" dirty="0"/>
              <a:t>n=F6H</a:t>
            </a:r>
            <a:r>
              <a:rPr lang="zh-CN" altLang="en-US" dirty="0"/>
              <a:t>，</a:t>
            </a:r>
            <a:r>
              <a:rPr lang="en-US" altLang="zh-CN" dirty="0"/>
              <a:t>k1=m-n=x-y=86H-F6H=90H=-112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）能。加法器实现的是模</a:t>
            </a:r>
            <a:r>
              <a:rPr lang="en-US" altLang="zh-CN" dirty="0"/>
              <a:t>2</a:t>
            </a:r>
            <a:r>
              <a:rPr lang="en-US" altLang="zh-CN" baseline="30000" dirty="0"/>
              <a:t>n</a:t>
            </a:r>
            <a:r>
              <a:rPr lang="zh-CN" altLang="en-US" dirty="0"/>
              <a:t>无符号加法运算；无符号的加法直接实现，减法用加补数来实现；根据补码加减公式，有符号的加法用机器数相加即可实现，减法用加机器数的补数即可实现；故整数加</a:t>
            </a:r>
            <a:r>
              <a:rPr lang="en-US" altLang="zh-CN" dirty="0"/>
              <a:t>/</a:t>
            </a:r>
            <a:r>
              <a:rPr lang="zh-CN" altLang="en-US" dirty="0"/>
              <a:t>减可用同一加法器及辅助电路实现。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）判断：若</a:t>
            </a:r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同号相加或异号相减，结果与被加</a:t>
            </a: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减</a:t>
            </a: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数异号，则结果溢出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应用：</a:t>
            </a:r>
            <a:r>
              <a:rPr lang="en-US" altLang="zh-CN" dirty="0"/>
              <a:t>m</a:t>
            </a:r>
            <a:r>
              <a:rPr lang="zh-CN" altLang="en-US" dirty="0"/>
              <a:t>、</a:t>
            </a:r>
            <a:r>
              <a:rPr lang="en-US" altLang="zh-CN" dirty="0"/>
              <a:t>n</a:t>
            </a:r>
            <a:r>
              <a:rPr lang="zh-CN" altLang="en-US" dirty="0"/>
              <a:t>机器数的最高位均为</a:t>
            </a:r>
            <a:r>
              <a:rPr lang="en-US" altLang="zh-CN" dirty="0"/>
              <a:t>1</a:t>
            </a:r>
            <a:r>
              <a:rPr lang="zh-CN" altLang="en-US" dirty="0"/>
              <a:t>，仅</a:t>
            </a:r>
            <a:r>
              <a:rPr lang="en-US" altLang="zh-CN" dirty="0"/>
              <a:t>k2</a:t>
            </a:r>
            <a:r>
              <a:rPr lang="zh-CN" altLang="en-US" dirty="0"/>
              <a:t>可能溢出（有符号加法），</a:t>
            </a:r>
            <a:r>
              <a:rPr lang="en-US" altLang="zh-CN" dirty="0"/>
              <a:t>k2=(1)01111100</a:t>
            </a:r>
            <a:r>
              <a:rPr lang="zh-CN" altLang="en-US" dirty="0"/>
              <a:t>，溢出。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B&gt;&gt;1=11110011</a:t>
            </a:r>
            <a:r>
              <a:rPr lang="zh-CN" altLang="en-US" dirty="0"/>
              <a:t>，</a:t>
            </a:r>
            <a:r>
              <a:rPr lang="en-US" altLang="zh-CN" dirty="0"/>
              <a:t>A+B&lt;&lt;2=10101011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P51-</a:t>
            </a:r>
            <a:r>
              <a:rPr lang="zh-CN" altLang="en-US" dirty="0"/>
              <a:t>看桶型移位器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看部分积</a:t>
            </a:r>
            <a:r>
              <a:rPr lang="en-US" altLang="zh-CN" dirty="0"/>
              <a:t>-</a:t>
            </a:r>
            <a:r>
              <a:rPr lang="zh-CN" altLang="en-US" dirty="0"/>
              <a:t>乘数空位的关系        思考②：加法器具有</a:t>
            </a:r>
            <a:r>
              <a:rPr lang="en-US" altLang="zh-CN" dirty="0"/>
              <a:t>Z=A</a:t>
            </a:r>
            <a:r>
              <a:rPr lang="zh-CN" altLang="en-US" dirty="0"/>
              <a:t>功能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看附加位初值，</a:t>
            </a:r>
            <a:r>
              <a:rPr lang="en-US" altLang="zh-CN" dirty="0"/>
              <a:t>P55-</a:t>
            </a:r>
            <a:r>
              <a:rPr lang="zh-CN" altLang="en-US" dirty="0"/>
              <a:t>看无符号乘法运算方法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P57-</a:t>
            </a:r>
            <a:r>
              <a:rPr lang="zh-CN" altLang="en-US" dirty="0"/>
              <a:t>看无符号乘法器组成、控制流程、溢出判断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P55-</a:t>
            </a:r>
            <a:r>
              <a:rPr lang="zh-CN" altLang="en-US" dirty="0"/>
              <a:t>看无符号乘法运算规则，</a:t>
            </a:r>
            <a:r>
              <a:rPr lang="en-US" altLang="zh-CN" dirty="0"/>
              <a:t>P57-</a:t>
            </a:r>
            <a:r>
              <a:rPr lang="zh-CN" altLang="en-US" dirty="0"/>
              <a:t>看无符号乘法组成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P46-</a:t>
            </a:r>
            <a:r>
              <a:rPr lang="zh-CN" altLang="en-US" dirty="0"/>
              <a:t>看标志位的逻辑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P69-</a:t>
            </a:r>
            <a:r>
              <a:rPr lang="zh-CN" altLang="en-US" dirty="0"/>
              <a:t>看全加器逻辑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484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D9526-6BBD-4A50-A669-516FE580F7E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0FAEB-EB5E-4D31-9EB0-9E44A91E62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B9B86-2936-4B08-BD86-E74C881D642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63C00-78FB-4CDD-A48C-06E9CF06F1B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EFD5D0-E101-4D84-8971-D7C8C16F485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2A0D0-3E82-4FF3-9CEB-6E3B37107FC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14ACA591-8AB8-422E-B769-DC3EBB4193A6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600" b="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A7E77-9B5E-4915-B2B7-6B73A385B0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1E5E7-4E2F-449F-B4DE-60BB993E18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00C549-99FE-4843-AD6F-6249B5E4707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4D215-3808-4588-927C-A27939A24F7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fld id="{2A93905D-6CB0-41A5-B23C-35C9B333FAA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6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3.xml"/><Relationship Id="rId5" Type="http://schemas.openxmlformats.org/officeDocument/2006/relationships/slide" Target="slide40.xml"/><Relationship Id="rId4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notesSlide" Target="../notesSlides/notesSlide3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tags" Target="../tags/tag50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tags" Target="../tags/tag49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29" Type="http://schemas.openxmlformats.org/officeDocument/2006/relationships/tags" Target="../tags/tag53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tags" Target="../tags/tag48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28" Type="http://schemas.openxmlformats.org/officeDocument/2006/relationships/tags" Target="../tags/tag52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31" Type="http://schemas.openxmlformats.org/officeDocument/2006/relationships/notesSlide" Target="../notesSlides/notesSlide5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tags" Target="../tags/tag51.xml"/><Relationship Id="rId30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notesSlide" Target="../notesSlides/notesSlide6.xml"/><Relationship Id="rId2" Type="http://schemas.openxmlformats.org/officeDocument/2006/relationships/tags" Target="../tags/tag55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" Target="slide40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tags" Target="../tags/tag107.xml"/><Relationship Id="rId26" Type="http://schemas.openxmlformats.org/officeDocument/2006/relationships/tags" Target="../tags/tag115.xml"/><Relationship Id="rId3" Type="http://schemas.openxmlformats.org/officeDocument/2006/relationships/tags" Target="../tags/tag92.xml"/><Relationship Id="rId21" Type="http://schemas.openxmlformats.org/officeDocument/2006/relationships/tags" Target="../tags/tag110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5" Type="http://schemas.openxmlformats.org/officeDocument/2006/relationships/tags" Target="../tags/tag114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20" Type="http://schemas.openxmlformats.org/officeDocument/2006/relationships/tags" Target="../tags/tag109.xml"/><Relationship Id="rId29" Type="http://schemas.openxmlformats.org/officeDocument/2006/relationships/tags" Target="../tags/tag118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24" Type="http://schemas.openxmlformats.org/officeDocument/2006/relationships/tags" Target="../tags/tag113.xml"/><Relationship Id="rId32" Type="http://schemas.openxmlformats.org/officeDocument/2006/relationships/notesSlide" Target="../notesSlides/notesSlide9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23" Type="http://schemas.openxmlformats.org/officeDocument/2006/relationships/tags" Target="../tags/tag112.xml"/><Relationship Id="rId28" Type="http://schemas.openxmlformats.org/officeDocument/2006/relationships/tags" Target="../tags/tag117.xml"/><Relationship Id="rId10" Type="http://schemas.openxmlformats.org/officeDocument/2006/relationships/tags" Target="../tags/tag99.xml"/><Relationship Id="rId19" Type="http://schemas.openxmlformats.org/officeDocument/2006/relationships/tags" Target="../tags/tag108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Relationship Id="rId22" Type="http://schemas.openxmlformats.org/officeDocument/2006/relationships/tags" Target="../tags/tag111.xml"/><Relationship Id="rId27" Type="http://schemas.openxmlformats.org/officeDocument/2006/relationships/tags" Target="../tags/tag116.xml"/><Relationship Id="rId30" Type="http://schemas.openxmlformats.org/officeDocument/2006/relationships/tags" Target="../tags/tag1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4" Type="http://schemas.openxmlformats.org/officeDocument/2006/relationships/notesSlide" Target="../notesSlides/notesSlid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125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7.xml"/><Relationship Id="rId4" Type="http://schemas.openxmlformats.org/officeDocument/2006/relationships/slide" Target="slid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slide" Target="slide9.xml"/><Relationship Id="rId5" Type="http://schemas.openxmlformats.org/officeDocument/2006/relationships/slide" Target="slide69.xml"/><Relationship Id="rId4" Type="http://schemas.openxmlformats.org/officeDocument/2006/relationships/notesSlide" Target="../notesSlides/notesSlide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45.xml"/><Relationship Id="rId4" Type="http://schemas.openxmlformats.org/officeDocument/2006/relationships/hyperlink" Target="&#35745;&#31639;&#26426;&#32452;&#25104;&#21407;&#29702;&#22797;&#20064;.pptx#-1,10,PowerPoint &#28436;&#31034;&#25991;&#31295;" TargetMode="Externa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tags" Target="../tags/tag162.xml"/><Relationship Id="rId18" Type="http://schemas.openxmlformats.org/officeDocument/2006/relationships/tags" Target="../tags/tag167.xml"/><Relationship Id="rId26" Type="http://schemas.openxmlformats.org/officeDocument/2006/relationships/notesSlide" Target="../notesSlides/notesSlide34.xml"/><Relationship Id="rId3" Type="http://schemas.openxmlformats.org/officeDocument/2006/relationships/tags" Target="../tags/tag152.xml"/><Relationship Id="rId21" Type="http://schemas.openxmlformats.org/officeDocument/2006/relationships/tags" Target="../tags/tag170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17" Type="http://schemas.openxmlformats.org/officeDocument/2006/relationships/tags" Target="../tags/tag166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151.xml"/><Relationship Id="rId16" Type="http://schemas.openxmlformats.org/officeDocument/2006/relationships/tags" Target="../tags/tag165.xml"/><Relationship Id="rId20" Type="http://schemas.openxmlformats.org/officeDocument/2006/relationships/tags" Target="../tags/tag169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24" Type="http://schemas.openxmlformats.org/officeDocument/2006/relationships/tags" Target="../tags/tag173.xml"/><Relationship Id="rId5" Type="http://schemas.openxmlformats.org/officeDocument/2006/relationships/tags" Target="../tags/tag154.xml"/><Relationship Id="rId15" Type="http://schemas.openxmlformats.org/officeDocument/2006/relationships/tags" Target="../tags/tag164.xml"/><Relationship Id="rId23" Type="http://schemas.openxmlformats.org/officeDocument/2006/relationships/tags" Target="../tags/tag172.xml"/><Relationship Id="rId10" Type="http://schemas.openxmlformats.org/officeDocument/2006/relationships/tags" Target="../tags/tag159.xml"/><Relationship Id="rId19" Type="http://schemas.openxmlformats.org/officeDocument/2006/relationships/tags" Target="../tags/tag168.xml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tags" Target="../tags/tag163.xml"/><Relationship Id="rId22" Type="http://schemas.openxmlformats.org/officeDocument/2006/relationships/tags" Target="../tags/tag17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22797;&#20064;.pptx#-1,10,PowerPoint &#28436;&#31034;&#25991;&#31295;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/><Relationship Id="rId13" Type="http://schemas.openxmlformats.org/officeDocument/2006/relationships/tags" Target="../tags/tag186.xml"/><Relationship Id="rId3" Type="http://schemas.openxmlformats.org/officeDocument/2006/relationships/tags" Target="../tags/tag176.xml"/><Relationship Id="rId7" Type="http://schemas.openxmlformats.org/officeDocument/2006/relationships/tags" Target="../tags/tag180.xml"/><Relationship Id="rId12" Type="http://schemas.openxmlformats.org/officeDocument/2006/relationships/tags" Target="../tags/tag185.xml"/><Relationship Id="rId17" Type="http://schemas.openxmlformats.org/officeDocument/2006/relationships/slide" Target="slide42.xml"/><Relationship Id="rId2" Type="http://schemas.openxmlformats.org/officeDocument/2006/relationships/tags" Target="../tags/tag175.xml"/><Relationship Id="rId16" Type="http://schemas.openxmlformats.org/officeDocument/2006/relationships/notesSlide" Target="../notesSlides/notesSlide36.xml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1" Type="http://schemas.openxmlformats.org/officeDocument/2006/relationships/tags" Target="../tags/tag184.xml"/><Relationship Id="rId5" Type="http://schemas.openxmlformats.org/officeDocument/2006/relationships/tags" Target="../tags/tag178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83.xml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tags" Target="../tags/tag18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13" Type="http://schemas.openxmlformats.org/officeDocument/2006/relationships/tags" Target="../tags/tag200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tags" Target="../tags/tag199.xml"/><Relationship Id="rId17" Type="http://schemas.openxmlformats.org/officeDocument/2006/relationships/slide" Target="slide36.xml"/><Relationship Id="rId2" Type="http://schemas.openxmlformats.org/officeDocument/2006/relationships/tags" Target="../tags/tag189.xml"/><Relationship Id="rId16" Type="http://schemas.openxmlformats.org/officeDocument/2006/relationships/notesSlide" Target="../notesSlides/notesSlide37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Relationship Id="rId14" Type="http://schemas.openxmlformats.org/officeDocument/2006/relationships/tags" Target="../tags/tag201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tags" Target="../tags/tag227.xml"/><Relationship Id="rId21" Type="http://schemas.openxmlformats.org/officeDocument/2006/relationships/tags" Target="../tags/tag222.xml"/><Relationship Id="rId34" Type="http://schemas.openxmlformats.org/officeDocument/2006/relationships/tags" Target="../tags/tag235.xml"/><Relationship Id="rId42" Type="http://schemas.openxmlformats.org/officeDocument/2006/relationships/tags" Target="../tags/tag243.xml"/><Relationship Id="rId47" Type="http://schemas.openxmlformats.org/officeDocument/2006/relationships/tags" Target="../tags/tag248.xml"/><Relationship Id="rId50" Type="http://schemas.openxmlformats.org/officeDocument/2006/relationships/tags" Target="../tags/tag251.xml"/><Relationship Id="rId55" Type="http://schemas.openxmlformats.org/officeDocument/2006/relationships/tags" Target="../tags/tag256.xml"/><Relationship Id="rId63" Type="http://schemas.openxmlformats.org/officeDocument/2006/relationships/tags" Target="../tags/tag264.xml"/><Relationship Id="rId68" Type="http://schemas.openxmlformats.org/officeDocument/2006/relationships/slide" Target="slide49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6" Type="http://schemas.openxmlformats.org/officeDocument/2006/relationships/tags" Target="../tags/tag217.xml"/><Relationship Id="rId29" Type="http://schemas.openxmlformats.org/officeDocument/2006/relationships/tags" Target="../tags/tag230.xml"/><Relationship Id="rId11" Type="http://schemas.openxmlformats.org/officeDocument/2006/relationships/tags" Target="../tags/tag212.xml"/><Relationship Id="rId24" Type="http://schemas.openxmlformats.org/officeDocument/2006/relationships/tags" Target="../tags/tag225.xml"/><Relationship Id="rId32" Type="http://schemas.openxmlformats.org/officeDocument/2006/relationships/tags" Target="../tags/tag233.xml"/><Relationship Id="rId37" Type="http://schemas.openxmlformats.org/officeDocument/2006/relationships/tags" Target="../tags/tag238.xml"/><Relationship Id="rId40" Type="http://schemas.openxmlformats.org/officeDocument/2006/relationships/tags" Target="../tags/tag241.xml"/><Relationship Id="rId45" Type="http://schemas.openxmlformats.org/officeDocument/2006/relationships/tags" Target="../tags/tag246.xml"/><Relationship Id="rId53" Type="http://schemas.openxmlformats.org/officeDocument/2006/relationships/tags" Target="../tags/tag254.xml"/><Relationship Id="rId58" Type="http://schemas.openxmlformats.org/officeDocument/2006/relationships/tags" Target="../tags/tag259.xml"/><Relationship Id="rId66" Type="http://schemas.openxmlformats.org/officeDocument/2006/relationships/notesSlide" Target="../notesSlides/notesSlide38.xml"/><Relationship Id="rId5" Type="http://schemas.openxmlformats.org/officeDocument/2006/relationships/tags" Target="../tags/tag206.xml"/><Relationship Id="rId61" Type="http://schemas.openxmlformats.org/officeDocument/2006/relationships/tags" Target="../tags/tag262.xml"/><Relationship Id="rId19" Type="http://schemas.openxmlformats.org/officeDocument/2006/relationships/tags" Target="../tags/tag220.xml"/><Relationship Id="rId14" Type="http://schemas.openxmlformats.org/officeDocument/2006/relationships/tags" Target="../tags/tag215.xml"/><Relationship Id="rId22" Type="http://schemas.openxmlformats.org/officeDocument/2006/relationships/tags" Target="../tags/tag223.xml"/><Relationship Id="rId27" Type="http://schemas.openxmlformats.org/officeDocument/2006/relationships/tags" Target="../tags/tag228.xml"/><Relationship Id="rId30" Type="http://schemas.openxmlformats.org/officeDocument/2006/relationships/tags" Target="../tags/tag231.xml"/><Relationship Id="rId35" Type="http://schemas.openxmlformats.org/officeDocument/2006/relationships/tags" Target="../tags/tag236.xml"/><Relationship Id="rId43" Type="http://schemas.openxmlformats.org/officeDocument/2006/relationships/tags" Target="../tags/tag244.xml"/><Relationship Id="rId48" Type="http://schemas.openxmlformats.org/officeDocument/2006/relationships/tags" Target="../tags/tag249.xml"/><Relationship Id="rId56" Type="http://schemas.openxmlformats.org/officeDocument/2006/relationships/tags" Target="../tags/tag257.xml"/><Relationship Id="rId64" Type="http://schemas.openxmlformats.org/officeDocument/2006/relationships/tags" Target="../tags/tag265.xml"/><Relationship Id="rId8" Type="http://schemas.openxmlformats.org/officeDocument/2006/relationships/tags" Target="../tags/tag209.xml"/><Relationship Id="rId51" Type="http://schemas.openxmlformats.org/officeDocument/2006/relationships/tags" Target="../tags/tag252.xml"/><Relationship Id="rId3" Type="http://schemas.openxmlformats.org/officeDocument/2006/relationships/tags" Target="../tags/tag204.xml"/><Relationship Id="rId12" Type="http://schemas.openxmlformats.org/officeDocument/2006/relationships/tags" Target="../tags/tag213.xml"/><Relationship Id="rId17" Type="http://schemas.openxmlformats.org/officeDocument/2006/relationships/tags" Target="../tags/tag218.xml"/><Relationship Id="rId25" Type="http://schemas.openxmlformats.org/officeDocument/2006/relationships/tags" Target="../tags/tag226.xml"/><Relationship Id="rId33" Type="http://schemas.openxmlformats.org/officeDocument/2006/relationships/tags" Target="../tags/tag234.xml"/><Relationship Id="rId38" Type="http://schemas.openxmlformats.org/officeDocument/2006/relationships/tags" Target="../tags/tag239.xml"/><Relationship Id="rId46" Type="http://schemas.openxmlformats.org/officeDocument/2006/relationships/tags" Target="../tags/tag247.xml"/><Relationship Id="rId59" Type="http://schemas.openxmlformats.org/officeDocument/2006/relationships/tags" Target="../tags/tag260.xml"/><Relationship Id="rId67" Type="http://schemas.openxmlformats.org/officeDocument/2006/relationships/slide" Target="slide73.xml"/><Relationship Id="rId20" Type="http://schemas.openxmlformats.org/officeDocument/2006/relationships/tags" Target="../tags/tag221.xml"/><Relationship Id="rId41" Type="http://schemas.openxmlformats.org/officeDocument/2006/relationships/tags" Target="../tags/tag242.xml"/><Relationship Id="rId54" Type="http://schemas.openxmlformats.org/officeDocument/2006/relationships/tags" Target="../tags/tag255.xml"/><Relationship Id="rId62" Type="http://schemas.openxmlformats.org/officeDocument/2006/relationships/tags" Target="../tags/tag26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5" Type="http://schemas.openxmlformats.org/officeDocument/2006/relationships/tags" Target="../tags/tag216.xml"/><Relationship Id="rId23" Type="http://schemas.openxmlformats.org/officeDocument/2006/relationships/tags" Target="../tags/tag224.xml"/><Relationship Id="rId28" Type="http://schemas.openxmlformats.org/officeDocument/2006/relationships/tags" Target="../tags/tag229.xml"/><Relationship Id="rId36" Type="http://schemas.openxmlformats.org/officeDocument/2006/relationships/tags" Target="../tags/tag237.xml"/><Relationship Id="rId49" Type="http://schemas.openxmlformats.org/officeDocument/2006/relationships/tags" Target="../tags/tag250.xml"/><Relationship Id="rId57" Type="http://schemas.openxmlformats.org/officeDocument/2006/relationships/tags" Target="../tags/tag258.xml"/><Relationship Id="rId10" Type="http://schemas.openxmlformats.org/officeDocument/2006/relationships/tags" Target="../tags/tag211.xml"/><Relationship Id="rId31" Type="http://schemas.openxmlformats.org/officeDocument/2006/relationships/tags" Target="../tags/tag232.xml"/><Relationship Id="rId44" Type="http://schemas.openxmlformats.org/officeDocument/2006/relationships/tags" Target="../tags/tag245.xml"/><Relationship Id="rId52" Type="http://schemas.openxmlformats.org/officeDocument/2006/relationships/tags" Target="../tags/tag253.xml"/><Relationship Id="rId60" Type="http://schemas.openxmlformats.org/officeDocument/2006/relationships/tags" Target="../tags/tag261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205.xml"/><Relationship Id="rId9" Type="http://schemas.openxmlformats.org/officeDocument/2006/relationships/tags" Target="../tags/tag210.xml"/><Relationship Id="rId13" Type="http://schemas.openxmlformats.org/officeDocument/2006/relationships/tags" Target="../tags/tag214.xml"/><Relationship Id="rId18" Type="http://schemas.openxmlformats.org/officeDocument/2006/relationships/tags" Target="../tags/tag219.xml"/><Relationship Id="rId39" Type="http://schemas.openxmlformats.org/officeDocument/2006/relationships/tags" Target="../tags/tag24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5" Type="http://schemas.openxmlformats.org/officeDocument/2006/relationships/slide" Target="slide53.xml"/><Relationship Id="rId4" Type="http://schemas.openxmlformats.org/officeDocument/2006/relationships/notesSlide" Target="../notesSlides/notesSlide41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tags" Target="../tags/tag280.xml"/><Relationship Id="rId18" Type="http://schemas.openxmlformats.org/officeDocument/2006/relationships/tags" Target="../tags/tag285.xml"/><Relationship Id="rId26" Type="http://schemas.openxmlformats.org/officeDocument/2006/relationships/tags" Target="../tags/tag293.xml"/><Relationship Id="rId39" Type="http://schemas.openxmlformats.org/officeDocument/2006/relationships/notesSlide" Target="../notesSlides/notesSlide42.xml"/><Relationship Id="rId21" Type="http://schemas.openxmlformats.org/officeDocument/2006/relationships/tags" Target="../tags/tag288.xml"/><Relationship Id="rId34" Type="http://schemas.openxmlformats.org/officeDocument/2006/relationships/tags" Target="../tags/tag301.xml"/><Relationship Id="rId7" Type="http://schemas.openxmlformats.org/officeDocument/2006/relationships/tags" Target="../tags/tag274.xml"/><Relationship Id="rId12" Type="http://schemas.openxmlformats.org/officeDocument/2006/relationships/tags" Target="../tags/tag279.xml"/><Relationship Id="rId17" Type="http://schemas.openxmlformats.org/officeDocument/2006/relationships/tags" Target="../tags/tag284.xml"/><Relationship Id="rId25" Type="http://schemas.openxmlformats.org/officeDocument/2006/relationships/tags" Target="../tags/tag292.xml"/><Relationship Id="rId33" Type="http://schemas.openxmlformats.org/officeDocument/2006/relationships/tags" Target="../tags/tag300.xml"/><Relationship Id="rId38" Type="http://schemas.openxmlformats.org/officeDocument/2006/relationships/slideLayout" Target="../slideLayouts/slideLayout7.xml"/><Relationship Id="rId2" Type="http://schemas.openxmlformats.org/officeDocument/2006/relationships/tags" Target="../tags/tag269.xml"/><Relationship Id="rId16" Type="http://schemas.openxmlformats.org/officeDocument/2006/relationships/tags" Target="../tags/tag283.xml"/><Relationship Id="rId20" Type="http://schemas.openxmlformats.org/officeDocument/2006/relationships/tags" Target="../tags/tag287.xml"/><Relationship Id="rId29" Type="http://schemas.openxmlformats.org/officeDocument/2006/relationships/tags" Target="../tags/tag296.xml"/><Relationship Id="rId1" Type="http://schemas.openxmlformats.org/officeDocument/2006/relationships/tags" Target="../tags/tag268.xml"/><Relationship Id="rId6" Type="http://schemas.openxmlformats.org/officeDocument/2006/relationships/tags" Target="../tags/tag273.xml"/><Relationship Id="rId11" Type="http://schemas.openxmlformats.org/officeDocument/2006/relationships/tags" Target="../tags/tag278.xml"/><Relationship Id="rId24" Type="http://schemas.openxmlformats.org/officeDocument/2006/relationships/tags" Target="../tags/tag291.xml"/><Relationship Id="rId32" Type="http://schemas.openxmlformats.org/officeDocument/2006/relationships/tags" Target="../tags/tag299.xml"/><Relationship Id="rId37" Type="http://schemas.openxmlformats.org/officeDocument/2006/relationships/tags" Target="../tags/tag304.xml"/><Relationship Id="rId5" Type="http://schemas.openxmlformats.org/officeDocument/2006/relationships/tags" Target="../tags/tag272.xml"/><Relationship Id="rId15" Type="http://schemas.openxmlformats.org/officeDocument/2006/relationships/tags" Target="../tags/tag282.xml"/><Relationship Id="rId23" Type="http://schemas.openxmlformats.org/officeDocument/2006/relationships/tags" Target="../tags/tag290.xml"/><Relationship Id="rId28" Type="http://schemas.openxmlformats.org/officeDocument/2006/relationships/tags" Target="../tags/tag295.xml"/><Relationship Id="rId36" Type="http://schemas.openxmlformats.org/officeDocument/2006/relationships/tags" Target="../tags/tag303.xml"/><Relationship Id="rId10" Type="http://schemas.openxmlformats.org/officeDocument/2006/relationships/tags" Target="../tags/tag277.xml"/><Relationship Id="rId19" Type="http://schemas.openxmlformats.org/officeDocument/2006/relationships/tags" Target="../tags/tag286.xml"/><Relationship Id="rId31" Type="http://schemas.openxmlformats.org/officeDocument/2006/relationships/tags" Target="../tags/tag298.xml"/><Relationship Id="rId4" Type="http://schemas.openxmlformats.org/officeDocument/2006/relationships/tags" Target="../tags/tag271.xml"/><Relationship Id="rId9" Type="http://schemas.openxmlformats.org/officeDocument/2006/relationships/tags" Target="../tags/tag276.xml"/><Relationship Id="rId14" Type="http://schemas.openxmlformats.org/officeDocument/2006/relationships/tags" Target="../tags/tag281.xml"/><Relationship Id="rId22" Type="http://schemas.openxmlformats.org/officeDocument/2006/relationships/tags" Target="../tags/tag289.xml"/><Relationship Id="rId27" Type="http://schemas.openxmlformats.org/officeDocument/2006/relationships/tags" Target="../tags/tag294.xml"/><Relationship Id="rId30" Type="http://schemas.openxmlformats.org/officeDocument/2006/relationships/tags" Target="../tags/tag297.xml"/><Relationship Id="rId35" Type="http://schemas.openxmlformats.org/officeDocument/2006/relationships/tags" Target="../tags/tag302.xml"/><Relationship Id="rId8" Type="http://schemas.openxmlformats.org/officeDocument/2006/relationships/tags" Target="../tags/tag275.xml"/><Relationship Id="rId3" Type="http://schemas.openxmlformats.org/officeDocument/2006/relationships/tags" Target="../tags/tag270.xml"/></Relationships>
</file>

<file path=ppt/slides/_rels/slide53.xml.rels><?xml version="1.0" encoding="UTF-8" standalone="yes"?>
<Relationships xmlns="http://schemas.openxmlformats.org/package/2006/relationships"><Relationship Id="rId26" Type="http://schemas.openxmlformats.org/officeDocument/2006/relationships/tags" Target="../tags/tag330.xml"/><Relationship Id="rId21" Type="http://schemas.openxmlformats.org/officeDocument/2006/relationships/tags" Target="../tags/tag325.xml"/><Relationship Id="rId42" Type="http://schemas.openxmlformats.org/officeDocument/2006/relationships/tags" Target="../tags/tag346.xml"/><Relationship Id="rId47" Type="http://schemas.openxmlformats.org/officeDocument/2006/relationships/tags" Target="../tags/tag351.xml"/><Relationship Id="rId63" Type="http://schemas.openxmlformats.org/officeDocument/2006/relationships/tags" Target="../tags/tag367.xml"/><Relationship Id="rId68" Type="http://schemas.openxmlformats.org/officeDocument/2006/relationships/notesSlide" Target="../notesSlides/notesSlide43.xml"/><Relationship Id="rId7" Type="http://schemas.openxmlformats.org/officeDocument/2006/relationships/tags" Target="../tags/tag311.xml"/><Relationship Id="rId2" Type="http://schemas.openxmlformats.org/officeDocument/2006/relationships/tags" Target="../tags/tag306.xml"/><Relationship Id="rId16" Type="http://schemas.openxmlformats.org/officeDocument/2006/relationships/tags" Target="../tags/tag320.xml"/><Relationship Id="rId29" Type="http://schemas.openxmlformats.org/officeDocument/2006/relationships/tags" Target="../tags/tag333.xml"/><Relationship Id="rId11" Type="http://schemas.openxmlformats.org/officeDocument/2006/relationships/tags" Target="../tags/tag315.xml"/><Relationship Id="rId24" Type="http://schemas.openxmlformats.org/officeDocument/2006/relationships/tags" Target="../tags/tag328.xml"/><Relationship Id="rId32" Type="http://schemas.openxmlformats.org/officeDocument/2006/relationships/tags" Target="../tags/tag336.xml"/><Relationship Id="rId37" Type="http://schemas.openxmlformats.org/officeDocument/2006/relationships/tags" Target="../tags/tag341.xml"/><Relationship Id="rId40" Type="http://schemas.openxmlformats.org/officeDocument/2006/relationships/tags" Target="../tags/tag344.xml"/><Relationship Id="rId45" Type="http://schemas.openxmlformats.org/officeDocument/2006/relationships/tags" Target="../tags/tag349.xml"/><Relationship Id="rId53" Type="http://schemas.openxmlformats.org/officeDocument/2006/relationships/tags" Target="../tags/tag357.xml"/><Relationship Id="rId58" Type="http://schemas.openxmlformats.org/officeDocument/2006/relationships/tags" Target="../tags/tag362.xml"/><Relationship Id="rId66" Type="http://schemas.openxmlformats.org/officeDocument/2006/relationships/tags" Target="../tags/tag370.xml"/><Relationship Id="rId5" Type="http://schemas.openxmlformats.org/officeDocument/2006/relationships/tags" Target="../tags/tag309.xml"/><Relationship Id="rId61" Type="http://schemas.openxmlformats.org/officeDocument/2006/relationships/tags" Target="../tags/tag365.xml"/><Relationship Id="rId19" Type="http://schemas.openxmlformats.org/officeDocument/2006/relationships/tags" Target="../tags/tag323.xml"/><Relationship Id="rId14" Type="http://schemas.openxmlformats.org/officeDocument/2006/relationships/tags" Target="../tags/tag318.xml"/><Relationship Id="rId22" Type="http://schemas.openxmlformats.org/officeDocument/2006/relationships/tags" Target="../tags/tag326.xml"/><Relationship Id="rId27" Type="http://schemas.openxmlformats.org/officeDocument/2006/relationships/tags" Target="../tags/tag331.xml"/><Relationship Id="rId30" Type="http://schemas.openxmlformats.org/officeDocument/2006/relationships/tags" Target="../tags/tag334.xml"/><Relationship Id="rId35" Type="http://schemas.openxmlformats.org/officeDocument/2006/relationships/tags" Target="../tags/tag339.xml"/><Relationship Id="rId43" Type="http://schemas.openxmlformats.org/officeDocument/2006/relationships/tags" Target="../tags/tag347.xml"/><Relationship Id="rId48" Type="http://schemas.openxmlformats.org/officeDocument/2006/relationships/tags" Target="../tags/tag352.xml"/><Relationship Id="rId56" Type="http://schemas.openxmlformats.org/officeDocument/2006/relationships/tags" Target="../tags/tag360.xml"/><Relationship Id="rId64" Type="http://schemas.openxmlformats.org/officeDocument/2006/relationships/tags" Target="../tags/tag368.xml"/><Relationship Id="rId69" Type="http://schemas.openxmlformats.org/officeDocument/2006/relationships/slide" Target="slide51.xml"/><Relationship Id="rId8" Type="http://schemas.openxmlformats.org/officeDocument/2006/relationships/tags" Target="../tags/tag312.xml"/><Relationship Id="rId51" Type="http://schemas.openxmlformats.org/officeDocument/2006/relationships/tags" Target="../tags/tag355.xml"/><Relationship Id="rId3" Type="http://schemas.openxmlformats.org/officeDocument/2006/relationships/tags" Target="../tags/tag307.xml"/><Relationship Id="rId12" Type="http://schemas.openxmlformats.org/officeDocument/2006/relationships/tags" Target="../tags/tag316.xml"/><Relationship Id="rId17" Type="http://schemas.openxmlformats.org/officeDocument/2006/relationships/tags" Target="../tags/tag321.xml"/><Relationship Id="rId25" Type="http://schemas.openxmlformats.org/officeDocument/2006/relationships/tags" Target="../tags/tag329.xml"/><Relationship Id="rId33" Type="http://schemas.openxmlformats.org/officeDocument/2006/relationships/tags" Target="../tags/tag337.xml"/><Relationship Id="rId38" Type="http://schemas.openxmlformats.org/officeDocument/2006/relationships/tags" Target="../tags/tag342.xml"/><Relationship Id="rId46" Type="http://schemas.openxmlformats.org/officeDocument/2006/relationships/tags" Target="../tags/tag350.xml"/><Relationship Id="rId59" Type="http://schemas.openxmlformats.org/officeDocument/2006/relationships/tags" Target="../tags/tag363.xml"/><Relationship Id="rId67" Type="http://schemas.openxmlformats.org/officeDocument/2006/relationships/slideLayout" Target="../slideLayouts/slideLayout7.xml"/><Relationship Id="rId20" Type="http://schemas.openxmlformats.org/officeDocument/2006/relationships/tags" Target="../tags/tag324.xml"/><Relationship Id="rId41" Type="http://schemas.openxmlformats.org/officeDocument/2006/relationships/tags" Target="../tags/tag345.xml"/><Relationship Id="rId54" Type="http://schemas.openxmlformats.org/officeDocument/2006/relationships/tags" Target="../tags/tag358.xml"/><Relationship Id="rId62" Type="http://schemas.openxmlformats.org/officeDocument/2006/relationships/tags" Target="../tags/tag366.xml"/><Relationship Id="rId1" Type="http://schemas.openxmlformats.org/officeDocument/2006/relationships/tags" Target="../tags/tag305.xml"/><Relationship Id="rId6" Type="http://schemas.openxmlformats.org/officeDocument/2006/relationships/tags" Target="../tags/tag310.xml"/><Relationship Id="rId15" Type="http://schemas.openxmlformats.org/officeDocument/2006/relationships/tags" Target="../tags/tag319.xml"/><Relationship Id="rId23" Type="http://schemas.openxmlformats.org/officeDocument/2006/relationships/tags" Target="../tags/tag327.xml"/><Relationship Id="rId28" Type="http://schemas.openxmlformats.org/officeDocument/2006/relationships/tags" Target="../tags/tag332.xml"/><Relationship Id="rId36" Type="http://schemas.openxmlformats.org/officeDocument/2006/relationships/tags" Target="../tags/tag340.xml"/><Relationship Id="rId49" Type="http://schemas.openxmlformats.org/officeDocument/2006/relationships/tags" Target="../tags/tag353.xml"/><Relationship Id="rId57" Type="http://schemas.openxmlformats.org/officeDocument/2006/relationships/tags" Target="../tags/tag361.xml"/><Relationship Id="rId10" Type="http://schemas.openxmlformats.org/officeDocument/2006/relationships/tags" Target="../tags/tag314.xml"/><Relationship Id="rId31" Type="http://schemas.openxmlformats.org/officeDocument/2006/relationships/tags" Target="../tags/tag335.xml"/><Relationship Id="rId44" Type="http://schemas.openxmlformats.org/officeDocument/2006/relationships/tags" Target="../tags/tag348.xml"/><Relationship Id="rId52" Type="http://schemas.openxmlformats.org/officeDocument/2006/relationships/tags" Target="../tags/tag356.xml"/><Relationship Id="rId60" Type="http://schemas.openxmlformats.org/officeDocument/2006/relationships/tags" Target="../tags/tag364.xml"/><Relationship Id="rId65" Type="http://schemas.openxmlformats.org/officeDocument/2006/relationships/tags" Target="../tags/tag369.xml"/><Relationship Id="rId4" Type="http://schemas.openxmlformats.org/officeDocument/2006/relationships/tags" Target="../tags/tag308.xml"/><Relationship Id="rId9" Type="http://schemas.openxmlformats.org/officeDocument/2006/relationships/tags" Target="../tags/tag313.xml"/><Relationship Id="rId13" Type="http://schemas.openxmlformats.org/officeDocument/2006/relationships/tags" Target="../tags/tag317.xml"/><Relationship Id="rId18" Type="http://schemas.openxmlformats.org/officeDocument/2006/relationships/tags" Target="../tags/tag322.xml"/><Relationship Id="rId39" Type="http://schemas.openxmlformats.org/officeDocument/2006/relationships/tags" Target="../tags/tag343.xml"/><Relationship Id="rId34" Type="http://schemas.openxmlformats.org/officeDocument/2006/relationships/tags" Target="../tags/tag338.xml"/><Relationship Id="rId50" Type="http://schemas.openxmlformats.org/officeDocument/2006/relationships/tags" Target="../tags/tag354.xml"/><Relationship Id="rId55" Type="http://schemas.openxmlformats.org/officeDocument/2006/relationships/tags" Target="../tags/tag359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378.xml"/><Relationship Id="rId3" Type="http://schemas.openxmlformats.org/officeDocument/2006/relationships/tags" Target="../tags/tag373.xml"/><Relationship Id="rId7" Type="http://schemas.openxmlformats.org/officeDocument/2006/relationships/tags" Target="../tags/tag377.xml"/><Relationship Id="rId2" Type="http://schemas.openxmlformats.org/officeDocument/2006/relationships/tags" Target="../tags/tag372.xml"/><Relationship Id="rId1" Type="http://schemas.openxmlformats.org/officeDocument/2006/relationships/tags" Target="../tags/tag371.xml"/><Relationship Id="rId6" Type="http://schemas.openxmlformats.org/officeDocument/2006/relationships/tags" Target="../tags/tag376.xml"/><Relationship Id="rId11" Type="http://schemas.openxmlformats.org/officeDocument/2006/relationships/notesSlide" Target="../notesSlides/notesSlide44.xml"/><Relationship Id="rId5" Type="http://schemas.openxmlformats.org/officeDocument/2006/relationships/tags" Target="../tags/tag37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74.xml"/><Relationship Id="rId9" Type="http://schemas.openxmlformats.org/officeDocument/2006/relationships/tags" Target="../tags/tag37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6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0.xml"/><Relationship Id="rId4" Type="http://schemas.openxmlformats.org/officeDocument/2006/relationships/slide" Target="slide5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388.xml"/><Relationship Id="rId13" Type="http://schemas.openxmlformats.org/officeDocument/2006/relationships/tags" Target="../tags/tag393.xml"/><Relationship Id="rId18" Type="http://schemas.openxmlformats.org/officeDocument/2006/relationships/slide" Target="slide61.xml"/><Relationship Id="rId3" Type="http://schemas.openxmlformats.org/officeDocument/2006/relationships/tags" Target="../tags/tag383.xml"/><Relationship Id="rId7" Type="http://schemas.openxmlformats.org/officeDocument/2006/relationships/tags" Target="../tags/tag387.xml"/><Relationship Id="rId12" Type="http://schemas.openxmlformats.org/officeDocument/2006/relationships/tags" Target="../tags/tag392.xml"/><Relationship Id="rId17" Type="http://schemas.openxmlformats.org/officeDocument/2006/relationships/slide" Target="slide60.xml"/><Relationship Id="rId2" Type="http://schemas.openxmlformats.org/officeDocument/2006/relationships/tags" Target="../tags/tag382.xml"/><Relationship Id="rId16" Type="http://schemas.openxmlformats.org/officeDocument/2006/relationships/notesSlide" Target="../notesSlides/notesSlide45.xml"/><Relationship Id="rId1" Type="http://schemas.openxmlformats.org/officeDocument/2006/relationships/tags" Target="../tags/tag381.xml"/><Relationship Id="rId6" Type="http://schemas.openxmlformats.org/officeDocument/2006/relationships/tags" Target="../tags/tag386.xml"/><Relationship Id="rId11" Type="http://schemas.openxmlformats.org/officeDocument/2006/relationships/tags" Target="../tags/tag391.xml"/><Relationship Id="rId5" Type="http://schemas.openxmlformats.org/officeDocument/2006/relationships/tags" Target="../tags/tag38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390.xml"/><Relationship Id="rId4" Type="http://schemas.openxmlformats.org/officeDocument/2006/relationships/tags" Target="../tags/tag384.xml"/><Relationship Id="rId9" Type="http://schemas.openxmlformats.org/officeDocument/2006/relationships/tags" Target="../tags/tag389.xml"/><Relationship Id="rId14" Type="http://schemas.openxmlformats.org/officeDocument/2006/relationships/tags" Target="../tags/tag39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96.xml"/><Relationship Id="rId1" Type="http://schemas.openxmlformats.org/officeDocument/2006/relationships/tags" Target="../tags/tag395.xml"/><Relationship Id="rId5" Type="http://schemas.openxmlformats.org/officeDocument/2006/relationships/slide" Target="slide57.xml"/><Relationship Id="rId4" Type="http://schemas.openxmlformats.org/officeDocument/2006/relationships/notesSlide" Target="../notesSlides/notesSlide4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404.xml"/><Relationship Id="rId3" Type="http://schemas.openxmlformats.org/officeDocument/2006/relationships/tags" Target="../tags/tag399.xml"/><Relationship Id="rId7" Type="http://schemas.openxmlformats.org/officeDocument/2006/relationships/tags" Target="../tags/tag403.xml"/><Relationship Id="rId2" Type="http://schemas.openxmlformats.org/officeDocument/2006/relationships/tags" Target="../tags/tag398.xml"/><Relationship Id="rId1" Type="http://schemas.openxmlformats.org/officeDocument/2006/relationships/tags" Target="../tags/tag397.xml"/><Relationship Id="rId6" Type="http://schemas.openxmlformats.org/officeDocument/2006/relationships/tags" Target="../tags/tag402.xml"/><Relationship Id="rId5" Type="http://schemas.openxmlformats.org/officeDocument/2006/relationships/tags" Target="../tags/tag401.xml"/><Relationship Id="rId4" Type="http://schemas.openxmlformats.org/officeDocument/2006/relationships/tags" Target="../tags/tag400.xml"/><Relationship Id="rId9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" Type="http://schemas.openxmlformats.org/officeDocument/2006/relationships/tags" Target="../tags/tag405.xml"/><Relationship Id="rId4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tags" Target="../tags/tag420.xml"/><Relationship Id="rId18" Type="http://schemas.openxmlformats.org/officeDocument/2006/relationships/tags" Target="../tags/tag425.xml"/><Relationship Id="rId26" Type="http://schemas.openxmlformats.org/officeDocument/2006/relationships/tags" Target="../tags/tag433.xml"/><Relationship Id="rId39" Type="http://schemas.openxmlformats.org/officeDocument/2006/relationships/tags" Target="../tags/tag446.xml"/><Relationship Id="rId21" Type="http://schemas.openxmlformats.org/officeDocument/2006/relationships/tags" Target="../tags/tag428.xml"/><Relationship Id="rId34" Type="http://schemas.openxmlformats.org/officeDocument/2006/relationships/tags" Target="../tags/tag441.xml"/><Relationship Id="rId42" Type="http://schemas.openxmlformats.org/officeDocument/2006/relationships/tags" Target="../tags/tag449.xml"/><Relationship Id="rId47" Type="http://schemas.openxmlformats.org/officeDocument/2006/relationships/tags" Target="../tags/tag454.xml"/><Relationship Id="rId50" Type="http://schemas.openxmlformats.org/officeDocument/2006/relationships/tags" Target="../tags/tag457.xml"/><Relationship Id="rId55" Type="http://schemas.openxmlformats.org/officeDocument/2006/relationships/tags" Target="../tags/tag462.xml"/><Relationship Id="rId63" Type="http://schemas.openxmlformats.org/officeDocument/2006/relationships/notesSlide" Target="../notesSlides/notesSlide49.xml"/><Relationship Id="rId7" Type="http://schemas.openxmlformats.org/officeDocument/2006/relationships/tags" Target="../tags/tag414.xml"/><Relationship Id="rId2" Type="http://schemas.openxmlformats.org/officeDocument/2006/relationships/tags" Target="../tags/tag409.xml"/><Relationship Id="rId16" Type="http://schemas.openxmlformats.org/officeDocument/2006/relationships/tags" Target="../tags/tag423.xml"/><Relationship Id="rId29" Type="http://schemas.openxmlformats.org/officeDocument/2006/relationships/tags" Target="../tags/tag436.xml"/><Relationship Id="rId11" Type="http://schemas.openxmlformats.org/officeDocument/2006/relationships/tags" Target="../tags/tag418.xml"/><Relationship Id="rId24" Type="http://schemas.openxmlformats.org/officeDocument/2006/relationships/tags" Target="../tags/tag431.xml"/><Relationship Id="rId32" Type="http://schemas.openxmlformats.org/officeDocument/2006/relationships/tags" Target="../tags/tag439.xml"/><Relationship Id="rId37" Type="http://schemas.openxmlformats.org/officeDocument/2006/relationships/tags" Target="../tags/tag444.xml"/><Relationship Id="rId40" Type="http://schemas.openxmlformats.org/officeDocument/2006/relationships/tags" Target="../tags/tag447.xml"/><Relationship Id="rId45" Type="http://schemas.openxmlformats.org/officeDocument/2006/relationships/tags" Target="../tags/tag452.xml"/><Relationship Id="rId53" Type="http://schemas.openxmlformats.org/officeDocument/2006/relationships/tags" Target="../tags/tag460.xml"/><Relationship Id="rId58" Type="http://schemas.openxmlformats.org/officeDocument/2006/relationships/tags" Target="../tags/tag465.xml"/><Relationship Id="rId5" Type="http://schemas.openxmlformats.org/officeDocument/2006/relationships/tags" Target="../tags/tag412.xml"/><Relationship Id="rId61" Type="http://schemas.openxmlformats.org/officeDocument/2006/relationships/tags" Target="../tags/tag468.xml"/><Relationship Id="rId19" Type="http://schemas.openxmlformats.org/officeDocument/2006/relationships/tags" Target="../tags/tag426.xml"/><Relationship Id="rId14" Type="http://schemas.openxmlformats.org/officeDocument/2006/relationships/tags" Target="../tags/tag421.xml"/><Relationship Id="rId22" Type="http://schemas.openxmlformats.org/officeDocument/2006/relationships/tags" Target="../tags/tag429.xml"/><Relationship Id="rId27" Type="http://schemas.openxmlformats.org/officeDocument/2006/relationships/tags" Target="../tags/tag434.xml"/><Relationship Id="rId30" Type="http://schemas.openxmlformats.org/officeDocument/2006/relationships/tags" Target="../tags/tag437.xml"/><Relationship Id="rId35" Type="http://schemas.openxmlformats.org/officeDocument/2006/relationships/tags" Target="../tags/tag442.xml"/><Relationship Id="rId43" Type="http://schemas.openxmlformats.org/officeDocument/2006/relationships/tags" Target="../tags/tag450.xml"/><Relationship Id="rId48" Type="http://schemas.openxmlformats.org/officeDocument/2006/relationships/tags" Target="../tags/tag455.xml"/><Relationship Id="rId56" Type="http://schemas.openxmlformats.org/officeDocument/2006/relationships/tags" Target="../tags/tag463.xml"/><Relationship Id="rId64" Type="http://schemas.openxmlformats.org/officeDocument/2006/relationships/slide" Target="slide74.xml"/><Relationship Id="rId8" Type="http://schemas.openxmlformats.org/officeDocument/2006/relationships/tags" Target="../tags/tag415.xml"/><Relationship Id="rId51" Type="http://schemas.openxmlformats.org/officeDocument/2006/relationships/tags" Target="../tags/tag458.xml"/><Relationship Id="rId3" Type="http://schemas.openxmlformats.org/officeDocument/2006/relationships/tags" Target="../tags/tag410.xml"/><Relationship Id="rId12" Type="http://schemas.openxmlformats.org/officeDocument/2006/relationships/tags" Target="../tags/tag419.xml"/><Relationship Id="rId17" Type="http://schemas.openxmlformats.org/officeDocument/2006/relationships/tags" Target="../tags/tag424.xml"/><Relationship Id="rId25" Type="http://schemas.openxmlformats.org/officeDocument/2006/relationships/tags" Target="../tags/tag432.xml"/><Relationship Id="rId33" Type="http://schemas.openxmlformats.org/officeDocument/2006/relationships/tags" Target="../tags/tag440.xml"/><Relationship Id="rId38" Type="http://schemas.openxmlformats.org/officeDocument/2006/relationships/tags" Target="../tags/tag445.xml"/><Relationship Id="rId46" Type="http://schemas.openxmlformats.org/officeDocument/2006/relationships/tags" Target="../tags/tag453.xml"/><Relationship Id="rId59" Type="http://schemas.openxmlformats.org/officeDocument/2006/relationships/tags" Target="../tags/tag466.xml"/><Relationship Id="rId20" Type="http://schemas.openxmlformats.org/officeDocument/2006/relationships/tags" Target="../tags/tag427.xml"/><Relationship Id="rId41" Type="http://schemas.openxmlformats.org/officeDocument/2006/relationships/tags" Target="../tags/tag448.xml"/><Relationship Id="rId54" Type="http://schemas.openxmlformats.org/officeDocument/2006/relationships/tags" Target="../tags/tag461.xml"/><Relationship Id="rId62" Type="http://schemas.openxmlformats.org/officeDocument/2006/relationships/slideLayout" Target="../slideLayouts/slideLayout7.xml"/><Relationship Id="rId1" Type="http://schemas.openxmlformats.org/officeDocument/2006/relationships/tags" Target="../tags/tag408.xml"/><Relationship Id="rId6" Type="http://schemas.openxmlformats.org/officeDocument/2006/relationships/tags" Target="../tags/tag413.xml"/><Relationship Id="rId15" Type="http://schemas.openxmlformats.org/officeDocument/2006/relationships/tags" Target="../tags/tag422.xml"/><Relationship Id="rId23" Type="http://schemas.openxmlformats.org/officeDocument/2006/relationships/tags" Target="../tags/tag430.xml"/><Relationship Id="rId28" Type="http://schemas.openxmlformats.org/officeDocument/2006/relationships/tags" Target="../tags/tag435.xml"/><Relationship Id="rId36" Type="http://schemas.openxmlformats.org/officeDocument/2006/relationships/tags" Target="../tags/tag443.xml"/><Relationship Id="rId49" Type="http://schemas.openxmlformats.org/officeDocument/2006/relationships/tags" Target="../tags/tag456.xml"/><Relationship Id="rId57" Type="http://schemas.openxmlformats.org/officeDocument/2006/relationships/tags" Target="../tags/tag464.xml"/><Relationship Id="rId10" Type="http://schemas.openxmlformats.org/officeDocument/2006/relationships/tags" Target="../tags/tag417.xml"/><Relationship Id="rId31" Type="http://schemas.openxmlformats.org/officeDocument/2006/relationships/tags" Target="../tags/tag438.xml"/><Relationship Id="rId44" Type="http://schemas.openxmlformats.org/officeDocument/2006/relationships/tags" Target="../tags/tag451.xml"/><Relationship Id="rId52" Type="http://schemas.openxmlformats.org/officeDocument/2006/relationships/tags" Target="../tags/tag459.xml"/><Relationship Id="rId60" Type="http://schemas.openxmlformats.org/officeDocument/2006/relationships/tags" Target="../tags/tag467.xml"/><Relationship Id="rId4" Type="http://schemas.openxmlformats.org/officeDocument/2006/relationships/tags" Target="../tags/tag411.xml"/><Relationship Id="rId9" Type="http://schemas.openxmlformats.org/officeDocument/2006/relationships/tags" Target="../tags/tag416.xml"/></Relationships>
</file>

<file path=ppt/slides/_rels/slide70.xml.rels><?xml version="1.0" encoding="UTF-8" standalone="yes"?>
<Relationships xmlns="http://schemas.openxmlformats.org/package/2006/relationships"><Relationship Id="rId13" Type="http://schemas.openxmlformats.org/officeDocument/2006/relationships/tags" Target="../tags/tag481.xml"/><Relationship Id="rId18" Type="http://schemas.openxmlformats.org/officeDocument/2006/relationships/tags" Target="../tags/tag486.xml"/><Relationship Id="rId26" Type="http://schemas.openxmlformats.org/officeDocument/2006/relationships/tags" Target="../tags/tag494.xml"/><Relationship Id="rId39" Type="http://schemas.openxmlformats.org/officeDocument/2006/relationships/tags" Target="../tags/tag507.xml"/><Relationship Id="rId21" Type="http://schemas.openxmlformats.org/officeDocument/2006/relationships/tags" Target="../tags/tag489.xml"/><Relationship Id="rId34" Type="http://schemas.openxmlformats.org/officeDocument/2006/relationships/tags" Target="../tags/tag502.xml"/><Relationship Id="rId42" Type="http://schemas.openxmlformats.org/officeDocument/2006/relationships/slide" Target="slide40.xml"/><Relationship Id="rId7" Type="http://schemas.openxmlformats.org/officeDocument/2006/relationships/tags" Target="../tags/tag475.xml"/><Relationship Id="rId2" Type="http://schemas.openxmlformats.org/officeDocument/2006/relationships/tags" Target="../tags/tag470.xml"/><Relationship Id="rId16" Type="http://schemas.openxmlformats.org/officeDocument/2006/relationships/tags" Target="../tags/tag484.xml"/><Relationship Id="rId20" Type="http://schemas.openxmlformats.org/officeDocument/2006/relationships/tags" Target="../tags/tag488.xml"/><Relationship Id="rId29" Type="http://schemas.openxmlformats.org/officeDocument/2006/relationships/tags" Target="../tags/tag497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469.xml"/><Relationship Id="rId6" Type="http://schemas.openxmlformats.org/officeDocument/2006/relationships/tags" Target="../tags/tag474.xml"/><Relationship Id="rId11" Type="http://schemas.openxmlformats.org/officeDocument/2006/relationships/tags" Target="../tags/tag479.xml"/><Relationship Id="rId24" Type="http://schemas.openxmlformats.org/officeDocument/2006/relationships/tags" Target="../tags/tag492.xml"/><Relationship Id="rId32" Type="http://schemas.openxmlformats.org/officeDocument/2006/relationships/tags" Target="../tags/tag500.xml"/><Relationship Id="rId37" Type="http://schemas.openxmlformats.org/officeDocument/2006/relationships/tags" Target="../tags/tag505.xml"/><Relationship Id="rId40" Type="http://schemas.openxmlformats.org/officeDocument/2006/relationships/tags" Target="../tags/tag508.xml"/><Relationship Id="rId5" Type="http://schemas.openxmlformats.org/officeDocument/2006/relationships/tags" Target="../tags/tag473.xml"/><Relationship Id="rId15" Type="http://schemas.openxmlformats.org/officeDocument/2006/relationships/tags" Target="../tags/tag483.xml"/><Relationship Id="rId23" Type="http://schemas.openxmlformats.org/officeDocument/2006/relationships/tags" Target="../tags/tag491.xml"/><Relationship Id="rId28" Type="http://schemas.openxmlformats.org/officeDocument/2006/relationships/tags" Target="../tags/tag496.xml"/><Relationship Id="rId36" Type="http://schemas.openxmlformats.org/officeDocument/2006/relationships/tags" Target="../tags/tag504.xml"/><Relationship Id="rId10" Type="http://schemas.openxmlformats.org/officeDocument/2006/relationships/tags" Target="../tags/tag478.xml"/><Relationship Id="rId19" Type="http://schemas.openxmlformats.org/officeDocument/2006/relationships/tags" Target="../tags/tag487.xml"/><Relationship Id="rId31" Type="http://schemas.openxmlformats.org/officeDocument/2006/relationships/tags" Target="../tags/tag499.xml"/><Relationship Id="rId4" Type="http://schemas.openxmlformats.org/officeDocument/2006/relationships/tags" Target="../tags/tag472.xml"/><Relationship Id="rId9" Type="http://schemas.openxmlformats.org/officeDocument/2006/relationships/tags" Target="../tags/tag477.xml"/><Relationship Id="rId14" Type="http://schemas.openxmlformats.org/officeDocument/2006/relationships/tags" Target="../tags/tag482.xml"/><Relationship Id="rId22" Type="http://schemas.openxmlformats.org/officeDocument/2006/relationships/tags" Target="../tags/tag490.xml"/><Relationship Id="rId27" Type="http://schemas.openxmlformats.org/officeDocument/2006/relationships/tags" Target="../tags/tag495.xml"/><Relationship Id="rId30" Type="http://schemas.openxmlformats.org/officeDocument/2006/relationships/tags" Target="../tags/tag498.xml"/><Relationship Id="rId35" Type="http://schemas.openxmlformats.org/officeDocument/2006/relationships/tags" Target="../tags/tag503.xml"/><Relationship Id="rId8" Type="http://schemas.openxmlformats.org/officeDocument/2006/relationships/tags" Target="../tags/tag476.xml"/><Relationship Id="rId3" Type="http://schemas.openxmlformats.org/officeDocument/2006/relationships/tags" Target="../tags/tag471.xml"/><Relationship Id="rId12" Type="http://schemas.openxmlformats.org/officeDocument/2006/relationships/tags" Target="../tags/tag480.xml"/><Relationship Id="rId17" Type="http://schemas.openxmlformats.org/officeDocument/2006/relationships/tags" Target="../tags/tag485.xml"/><Relationship Id="rId25" Type="http://schemas.openxmlformats.org/officeDocument/2006/relationships/tags" Target="../tags/tag493.xml"/><Relationship Id="rId33" Type="http://schemas.openxmlformats.org/officeDocument/2006/relationships/tags" Target="../tags/tag501.xml"/><Relationship Id="rId38" Type="http://schemas.openxmlformats.org/officeDocument/2006/relationships/tags" Target="../tags/tag50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11.xml"/><Relationship Id="rId1" Type="http://schemas.openxmlformats.org/officeDocument/2006/relationships/tags" Target="../tags/tag5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13.xml"/><Relationship Id="rId1" Type="http://schemas.openxmlformats.org/officeDocument/2006/relationships/tags" Target="../tags/tag512.xml"/><Relationship Id="rId5" Type="http://schemas.openxmlformats.org/officeDocument/2006/relationships/slide" Target="slide69.xml"/><Relationship Id="rId4" Type="http://schemas.openxmlformats.org/officeDocument/2006/relationships/notesSlide" Target="../notesSlides/notesSlide5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5&#31456;.pptx#-1,18,PowerPoint &#28436;&#31034;&#25991;&#31295;" TargetMode="Externa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838200" y="2595563"/>
            <a:ext cx="7621588" cy="938719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4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第二章 数据的表示与运算 </a:t>
            </a:r>
            <a:endParaRPr lang="zh-CN" altLang="en-US" sz="4400" b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04664"/>
            <a:ext cx="8821644" cy="5431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⑴数据的编码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机器数编码、十进制数编码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</a:rPr>
              <a:t>△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、字符编码，校验码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</a:rPr>
              <a:t>△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⑵数据的表示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数据表示方法，整数的表示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含</a:t>
            </a:r>
            <a:r>
              <a:rPr lang="zh-CN" altLang="en-US" sz="1800" u="sng" dirty="0">
                <a:solidFill>
                  <a:schemeClr val="tx1"/>
                </a:solidFill>
              </a:rPr>
              <a:t>位扩展运算</a:t>
            </a:r>
            <a:r>
              <a:rPr lang="zh-CN" altLang="en-US" sz="1800" dirty="0">
                <a:solidFill>
                  <a:schemeClr val="tx1"/>
                </a:solidFill>
              </a:rPr>
              <a:t>方法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实数的表示，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非数值数据的表示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含</a:t>
            </a:r>
            <a:r>
              <a:rPr lang="zh-CN" altLang="en-US" sz="1800" u="sng" dirty="0">
                <a:solidFill>
                  <a:schemeClr val="tx1"/>
                </a:solidFill>
              </a:rPr>
              <a:t>逻辑运算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u="sng" dirty="0">
                <a:solidFill>
                  <a:schemeClr val="tx1"/>
                </a:solidFill>
              </a:rPr>
              <a:t>关系</a:t>
            </a:r>
            <a:r>
              <a:rPr lang="zh-CN" altLang="en-US" sz="1800" b="1" u="sng" dirty="0">
                <a:solidFill>
                  <a:schemeClr val="tx1"/>
                </a:solidFill>
              </a:rPr>
              <a:t>运算</a:t>
            </a:r>
            <a:r>
              <a:rPr lang="zh-CN" altLang="en-US" sz="1800" b="1" dirty="0">
                <a:solidFill>
                  <a:schemeClr val="tx1"/>
                </a:solidFill>
              </a:rPr>
              <a:t>方法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⑶数据的运算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r>
              <a:rPr lang="zh-CN" altLang="en-US" sz="2200" dirty="0">
                <a:solidFill>
                  <a:schemeClr val="accent2"/>
                </a:solidFill>
              </a:rPr>
              <a:t>     定点运算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spc="-100" dirty="0">
                <a:solidFill>
                  <a:schemeClr val="tx1"/>
                </a:solidFill>
              </a:rPr>
              <a:t>有</a:t>
            </a:r>
            <a:r>
              <a:rPr lang="en-US" altLang="zh-CN" sz="2200" spc="-100" dirty="0">
                <a:solidFill>
                  <a:schemeClr val="tx1"/>
                </a:solidFill>
              </a:rPr>
              <a:t>/</a:t>
            </a:r>
            <a:r>
              <a:rPr lang="zh-CN" altLang="en-US" sz="2200" spc="-100" dirty="0">
                <a:solidFill>
                  <a:schemeClr val="tx1"/>
                </a:solidFill>
              </a:rPr>
              <a:t>无符号的</a:t>
            </a:r>
            <a:r>
              <a:rPr lang="zh-CN" altLang="en-US" sz="2200" b="1" spc="-100" dirty="0">
                <a:solidFill>
                  <a:schemeClr val="tx1"/>
                </a:solidFill>
              </a:rPr>
              <a:t>加</a:t>
            </a:r>
            <a:r>
              <a:rPr lang="en-US" altLang="zh-CN" sz="2200" b="1" spc="-100" dirty="0">
                <a:solidFill>
                  <a:schemeClr val="tx1"/>
                </a:solidFill>
              </a:rPr>
              <a:t>/</a:t>
            </a:r>
            <a:r>
              <a:rPr lang="zh-CN" altLang="en-US" sz="2200" b="1" spc="-100" dirty="0">
                <a:solidFill>
                  <a:schemeClr val="tx1"/>
                </a:solidFill>
              </a:rPr>
              <a:t>减、移位、</a:t>
            </a:r>
            <a:r>
              <a:rPr lang="zh-CN" altLang="en-US" sz="2200" spc="-100" dirty="0">
                <a:solidFill>
                  <a:schemeClr val="tx1"/>
                </a:solidFill>
              </a:rPr>
              <a:t>乘法</a:t>
            </a:r>
            <a:r>
              <a:rPr lang="en-US" altLang="zh-CN" sz="1800" spc="-100" dirty="0">
                <a:solidFill>
                  <a:schemeClr val="tx1"/>
                </a:solidFill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</a:rPr>
              <a:t>△</a:t>
            </a:r>
            <a:r>
              <a:rPr lang="en-US" altLang="zh-CN" sz="1800" spc="-100" dirty="0">
                <a:solidFill>
                  <a:schemeClr val="tx1"/>
                </a:solidFill>
              </a:rPr>
              <a:t>)</a:t>
            </a:r>
            <a:r>
              <a:rPr lang="zh-CN" altLang="en-US" sz="2200" spc="-100" dirty="0">
                <a:solidFill>
                  <a:schemeClr val="tx1"/>
                </a:solidFill>
              </a:rPr>
              <a:t>运算</a:t>
            </a:r>
            <a:r>
              <a:rPr lang="en-US" altLang="zh-CN" sz="1800" spc="-100" dirty="0">
                <a:solidFill>
                  <a:schemeClr val="tx1"/>
                </a:solidFill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</a:rPr>
              <a:t>方法</a:t>
            </a:r>
            <a:r>
              <a:rPr lang="en-US" altLang="zh-CN" sz="1800" spc="-100" dirty="0">
                <a:solidFill>
                  <a:schemeClr val="tx1"/>
                </a:solidFill>
              </a:rPr>
              <a:t>/</a:t>
            </a:r>
            <a:r>
              <a:rPr lang="zh-CN" altLang="en-US" sz="1800" b="1" spc="-100" dirty="0">
                <a:solidFill>
                  <a:schemeClr val="tx1"/>
                </a:solidFill>
              </a:rPr>
              <a:t>部件组织</a:t>
            </a:r>
            <a:r>
              <a:rPr lang="en-US" altLang="zh-CN" sz="1800" b="1" spc="-100" dirty="0">
                <a:solidFill>
                  <a:schemeClr val="tx1"/>
                </a:solidFill>
              </a:rPr>
              <a:t>)</a:t>
            </a:r>
            <a:endParaRPr lang="en-US" altLang="zh-CN" sz="2200" b="1" spc="-1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浮点运算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加减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</a:rPr>
              <a:t>△</a:t>
            </a:r>
            <a:r>
              <a:rPr lang="en-US" altLang="zh-CN" sz="1800" spc="-100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运算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⑷</a:t>
            </a:r>
            <a:r>
              <a:rPr lang="zh-CN" altLang="en-US" sz="2200" dirty="0">
                <a:solidFill>
                  <a:srgbClr val="C00000"/>
                </a:solidFill>
              </a:rPr>
              <a:t>运算器的组成</a:t>
            </a:r>
            <a:endParaRPr lang="en-US" altLang="zh-CN" sz="2200" dirty="0">
              <a:solidFill>
                <a:srgbClr val="C00000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 加法器的组成，运算器的组成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功能组织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部件设计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部件连接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71780" indent="-271780">
              <a:spcBef>
                <a:spcPts val="300"/>
              </a:spcBef>
            </a:pPr>
            <a:r>
              <a:rPr lang="en-US" altLang="zh-CN" dirty="0">
                <a:solidFill>
                  <a:srgbClr val="FF3399"/>
                </a:solidFill>
              </a:rPr>
              <a:t> ※</a:t>
            </a:r>
            <a:r>
              <a:rPr lang="zh-CN" altLang="en-US" dirty="0">
                <a:solidFill>
                  <a:srgbClr val="FF3399"/>
                </a:solidFill>
              </a:rPr>
              <a:t>总体要求：</a:t>
            </a:r>
            <a:r>
              <a:rPr lang="zh-CN" altLang="en-US" sz="2200" u="sng" dirty="0">
                <a:solidFill>
                  <a:schemeClr val="accent2"/>
                </a:solidFill>
              </a:rPr>
              <a:t>掌握</a:t>
            </a:r>
            <a:r>
              <a:rPr lang="zh-CN" altLang="en-US" sz="2200" dirty="0">
                <a:solidFill>
                  <a:schemeClr val="tx1"/>
                </a:solidFill>
              </a:rPr>
              <a:t>数据表示方法，</a:t>
            </a:r>
            <a:r>
              <a:rPr lang="zh-CN" altLang="en-US" sz="2200" u="sng" dirty="0">
                <a:solidFill>
                  <a:schemeClr val="accent2"/>
                </a:solidFill>
              </a:rPr>
              <a:t>可组织</a:t>
            </a:r>
            <a:r>
              <a:rPr lang="zh-CN" altLang="en-US" sz="2200" dirty="0">
                <a:solidFill>
                  <a:schemeClr val="tx1"/>
                </a:solidFill>
              </a:rPr>
              <a:t>运算方法及运算部件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7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588918" y="980729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588918" y="1844825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588918" y="321297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452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588918" y="407776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452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588918" y="450912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73B02-2F07-4D10-BAF3-BB6E6B1CEC22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§2.1 </a:t>
            </a:r>
            <a:r>
              <a:rPr lang="zh-CN" altLang="en-US" sz="2800" dirty="0">
                <a:solidFill>
                  <a:schemeClr val="tx1"/>
                </a:solidFill>
              </a:rPr>
              <a:t>数据的编码</a:t>
            </a:r>
          </a:p>
        </p:txBody>
      </p:sp>
      <p:sp>
        <p:nvSpPr>
          <p:cNvPr id="114700" name="Text Box 12"/>
          <p:cNvSpPr txBox="1">
            <a:spLocks noChangeArrowheads="1"/>
          </p:cNvSpPr>
          <p:nvPr/>
        </p:nvSpPr>
        <p:spPr bwMode="auto">
          <a:xfrm>
            <a:off x="179389" y="1196752"/>
            <a:ext cx="4392611" cy="45610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FF3399"/>
                </a:solidFill>
                <a:latin typeface="+mn-ea"/>
              </a:rPr>
              <a:t>、进制及其转换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又称数制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)</a:t>
            </a:r>
            <a:endParaRPr lang="zh-CN" altLang="en-US" sz="1800" dirty="0">
              <a:solidFill>
                <a:srgbClr val="FF3399"/>
              </a:solidFill>
              <a:latin typeface="+mn-ea"/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常用的进制：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en-US" altLang="zh-CN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进制→十进制数转换：</a:t>
            </a:r>
            <a:endParaRPr lang="en-US" altLang="zh-CN" sz="2200" dirty="0">
              <a:solidFill>
                <a:srgbClr val="C00000"/>
              </a:solidFill>
              <a:cs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*十进制→</a:t>
            </a:r>
            <a:r>
              <a:rPr lang="en-US" altLang="zh-CN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进制数转换：</a:t>
            </a:r>
          </a:p>
          <a:p>
            <a:pPr marL="0" indent="0" eaLnBrk="1" latinLnBrk="0" hangingPunct="1">
              <a:spcBef>
                <a:spcPts val="0"/>
              </a:spcBef>
            </a:pPr>
            <a:endParaRPr lang="en-US" altLang="zh-CN" sz="2200" dirty="0">
              <a:solidFill>
                <a:srgbClr val="FF3399"/>
              </a:solidFill>
            </a:endParaRPr>
          </a:p>
          <a:p>
            <a:pPr marL="0" indent="0" eaLnBrk="1" latinLnBrk="0" hangingPunct="1">
              <a:spcBef>
                <a:spcPts val="0"/>
              </a:spcBef>
            </a:pPr>
            <a:endParaRPr lang="en-US" altLang="zh-CN" sz="2200" dirty="0">
              <a:solidFill>
                <a:srgbClr val="FF3399"/>
              </a:solidFill>
            </a:endParaRPr>
          </a:p>
          <a:p>
            <a:pPr marL="0" indent="0" eaLnBrk="1" latinLnBrk="0" hangingPunct="1">
              <a:spcBef>
                <a:spcPts val="0"/>
              </a:spcBef>
            </a:pPr>
            <a:endParaRPr lang="en-US" altLang="zh-CN" sz="2200" dirty="0">
              <a:solidFill>
                <a:srgbClr val="FF3399"/>
              </a:solidFill>
            </a:endParaRPr>
          </a:p>
          <a:p>
            <a:pPr marL="0" indent="0" eaLnBrk="1" latinLnBrk="0" hangingPunct="1">
              <a:spcBef>
                <a:spcPts val="0"/>
              </a:spcBef>
            </a:pPr>
            <a:endParaRPr lang="en-US" altLang="zh-CN" sz="2200" dirty="0">
              <a:solidFill>
                <a:srgbClr val="FF3399"/>
              </a:solidFill>
            </a:endParaRPr>
          </a:p>
          <a:p>
            <a:pPr>
              <a:spcBef>
                <a:spcPts val="2400"/>
              </a:spcBef>
            </a:pPr>
            <a:r>
              <a:rPr lang="en-US" altLang="zh-CN" sz="2200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*二</a:t>
            </a:r>
            <a:r>
              <a:rPr lang="en-US" altLang="zh-CN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八</a:t>
            </a:r>
            <a:r>
              <a:rPr lang="en-US" altLang="zh-CN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十六进制数转换：</a:t>
            </a:r>
            <a:endParaRPr lang="zh-CN" altLang="en-US" sz="2200" dirty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  <p:sp>
        <p:nvSpPr>
          <p:cNvPr id="114701" name="Text Box 13"/>
          <p:cNvSpPr txBox="1">
            <a:spLocks noChangeArrowheads="1"/>
          </p:cNvSpPr>
          <p:nvPr/>
        </p:nvSpPr>
        <p:spPr bwMode="auto">
          <a:xfrm>
            <a:off x="2195736" y="1700808"/>
            <a:ext cx="6768875" cy="4221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二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八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十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十六进制，书写后缀为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O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D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常缺省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H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2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F3399"/>
                </a:solidFill>
              </a:rPr>
              <a:t> ※</a:t>
            </a:r>
            <a:r>
              <a:rPr lang="zh-CN" altLang="en-US" sz="2000" dirty="0">
                <a:solidFill>
                  <a:srgbClr val="FF3399"/>
                </a:solidFill>
              </a:rPr>
              <a:t>主要内容：</a:t>
            </a:r>
            <a:r>
              <a:rPr lang="zh-CN" altLang="en-US" sz="2000" dirty="0">
                <a:solidFill>
                  <a:schemeClr val="tx1"/>
                </a:solidFill>
              </a:rPr>
              <a:t>进制转换，机器数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zh-CN" altLang="en-US" sz="2000" dirty="0">
                <a:solidFill>
                  <a:schemeClr val="tx1"/>
                </a:solidFill>
              </a:rPr>
              <a:t>十进制数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zh-CN" altLang="en-US" sz="2000" dirty="0">
                <a:solidFill>
                  <a:schemeClr val="tx1"/>
                </a:solidFill>
              </a:rPr>
              <a:t>字符的编码，校验码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187624" y="2134792"/>
            <a:ext cx="702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</a:rPr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十六进制数码</a:t>
            </a:r>
            <a:r>
              <a:rPr lang="en-US" altLang="zh-CN" sz="18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800" dirty="0">
                <a:solidFill>
                  <a:schemeClr val="tx1"/>
                </a:solidFill>
              </a:rPr>
              <a:t>F</a:t>
            </a:r>
            <a:r>
              <a:rPr lang="zh-CN" altLang="en-US" sz="1800" dirty="0">
                <a:solidFill>
                  <a:schemeClr val="tx1"/>
                </a:solidFill>
              </a:rPr>
              <a:t>的值如何记忆？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zh-CN" altLang="en-US" sz="1800" dirty="0">
                <a:solidFill>
                  <a:schemeClr val="tx1"/>
                </a:solidFill>
              </a:rPr>
              <a:t>语言中</a:t>
            </a:r>
            <a:r>
              <a:rPr lang="en-US" altLang="zh-CN" sz="1800" dirty="0">
                <a:solidFill>
                  <a:schemeClr val="tx1"/>
                </a:solidFill>
              </a:rPr>
              <a:t>16</a:t>
            </a:r>
            <a:r>
              <a:rPr lang="zh-CN" altLang="en-US" sz="1800" dirty="0">
                <a:solidFill>
                  <a:schemeClr val="tx1"/>
                </a:solidFill>
              </a:rPr>
              <a:t>进制数如何表示？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D715637D-173C-4D66-BA8C-C36B2BA0A7E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576" y="2426105"/>
            <a:ext cx="8280920" cy="15620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按位权展开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(10.1)</a:t>
            </a:r>
            <a:r>
              <a:rPr lang="en-US" altLang="zh-CN" sz="18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</a:rPr>
              <a:t>(1*2</a:t>
            </a:r>
            <a:r>
              <a:rPr lang="en-US" altLang="zh-CN" sz="1800" baseline="30000" dirty="0">
                <a:solidFill>
                  <a:schemeClr val="tx1"/>
                </a:solidFill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</a:rPr>
              <a:t>+1*2</a:t>
            </a:r>
            <a:r>
              <a:rPr lang="en-US" altLang="zh-CN" sz="1800" baseline="30000" dirty="0">
                <a:solidFill>
                  <a:schemeClr val="tx1"/>
                </a:solidFill>
                <a:cs typeface="宋体" panose="02010600030101010101" pitchFamily="2" charset="-122"/>
              </a:rPr>
              <a:t>-1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</a:rPr>
              <a:t>)</a:t>
            </a:r>
            <a:r>
              <a:rPr lang="en-US" altLang="zh-CN" sz="1800" baseline="-18000" dirty="0">
                <a:solidFill>
                  <a:schemeClr val="tx1"/>
                </a:solidFill>
                <a:cs typeface="宋体" panose="02010600030101010101" pitchFamily="2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</a:rPr>
              <a:t>2.5</a:t>
            </a:r>
            <a:r>
              <a:rPr lang="en-US" altLang="zh-CN" sz="1800" dirty="0">
                <a:solidFill>
                  <a:srgbClr val="FF3399"/>
                </a:solidFill>
                <a:cs typeface="宋体" panose="02010600030101010101" pitchFamily="2" charset="-122"/>
              </a:rPr>
              <a:t>D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整数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小数</a:t>
            </a:r>
            <a:r>
              <a:rPr lang="zh-CN" altLang="en-US" sz="2200" u="sng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分别转换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highlight>
                  <a:srgbClr val="C0C0C0"/>
                </a:highlight>
                <a:cs typeface="宋体" panose="02010600030101010101" pitchFamily="2" charset="-122"/>
                <a:sym typeface="+mn-ea"/>
              </a:rPr>
              <a:t>除基取余</a:t>
            </a:r>
            <a:r>
              <a:rPr lang="en-US" altLang="zh-CN" sz="1800" b="1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highlight>
                  <a:srgbClr val="FFFF00"/>
                </a:highlight>
                <a:cs typeface="宋体" panose="02010600030101010101" pitchFamily="2" charset="-122"/>
                <a:sym typeface="+mn-ea"/>
              </a:rPr>
              <a:t>减权定位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法→</a:t>
            </a:r>
            <a:r>
              <a:rPr lang="zh-CN" altLang="en-US" sz="1800" b="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┘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800" b="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highlight>
                  <a:srgbClr val="C0C0C0"/>
                </a:highlight>
                <a:sym typeface="+mn-ea"/>
              </a:rPr>
              <a:t>乘基取整</a:t>
            </a:r>
            <a:r>
              <a:rPr lang="en-US" altLang="zh-CN" sz="1800" b="1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减权定位</a:t>
            </a:r>
            <a:r>
              <a:rPr lang="zh-CN" altLang="en-US" sz="1800" b="1" dirty="0">
                <a:solidFill>
                  <a:schemeClr val="tx1"/>
                </a:solidFill>
                <a:sym typeface="+mn-ea"/>
              </a:rPr>
              <a:t>法   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←减权定位</a:t>
            </a:r>
            <a:r>
              <a:rPr lang="zh-CN" altLang="en-US" sz="1600" dirty="0">
                <a:solidFill>
                  <a:srgbClr val="FF3399"/>
                </a:solidFill>
                <a:cs typeface="宋体" panose="02010600030101010101" pitchFamily="2" charset="-122"/>
                <a:sym typeface="+mn-ea"/>
              </a:rPr>
              <a:t>更快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!</a:t>
            </a:r>
            <a:endParaRPr lang="zh-CN" altLang="en-US" sz="1600" b="1" u="sng" dirty="0">
              <a:solidFill>
                <a:schemeClr val="tx1"/>
              </a:solidFill>
              <a:sym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1—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10.25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</a:t>
            </a:r>
            <a:r>
              <a:rPr lang="en-US" altLang="zh-CN" sz="20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</a:t>
            </a:r>
            <a:r>
              <a:rPr lang="en-US" altLang="zh-CN" sz="20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-2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dirty="0">
                <a:solidFill>
                  <a:schemeClr val="accent2"/>
                </a:solidFill>
                <a:cs typeface="宋体" panose="02010600030101010101" pitchFamily="2" charset="-122"/>
                <a:sym typeface="+mn-ea"/>
              </a:rPr>
              <a:t>1010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endParaRPr lang="en-US" altLang="zh-CN" sz="2000" b="1" u="sng" baseline="-18000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9A0276B2-36B6-4C67-A366-3268229F95B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3568" y="5805264"/>
            <a:ext cx="7416824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11425" indent="-2511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练习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(515.75)</a:t>
            </a:r>
            <a:r>
              <a:rPr lang="en-US" altLang="zh-CN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1000000011.11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1003.6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203.C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11425" indent="-25114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2D.E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101101.111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55.7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rgbClr val="33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45.875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D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C9EDBA-5680-4B8B-A498-39455F15AD6B}"/>
              </a:ext>
            </a:extLst>
          </p:cNvPr>
          <p:cNvGrpSpPr/>
          <p:nvPr/>
        </p:nvGrpSpPr>
        <p:grpSpPr>
          <a:xfrm>
            <a:off x="2448000" y="5863947"/>
            <a:ext cx="4968480" cy="566744"/>
            <a:chOff x="2588561" y="5217192"/>
            <a:chExt cx="4968480" cy="56674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3C7ABE-964A-44F0-B0A1-BF8268BA8C4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3291041" y="5217192"/>
              <a:ext cx="1620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10AF761-EB1F-4F5A-9B72-C211735E801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2588561" y="5531936"/>
              <a:ext cx="1260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2B3A98B-6F6A-404B-97CC-201A3531A8F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5540761" y="5217192"/>
              <a:ext cx="774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3E220D5-5B6D-4DD9-AD14-AB67E24F70D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4244745" y="5531936"/>
              <a:ext cx="522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46BF820-ADD7-49C4-9619-F9241D8E218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6909041" y="5217192"/>
              <a:ext cx="648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35B7775-8011-4126-A16B-8BD12C7E7C7D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5144929" y="5531936"/>
              <a:ext cx="792000" cy="252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" name="Text Box 5">
            <a:extLst>
              <a:ext uri="{FF2B5EF4-FFF2-40B4-BE49-F238E27FC236}">
                <a16:creationId xmlns:a16="http://schemas.microsoft.com/office/drawing/2014/main" id="{3C2C3F22-35D7-48DF-BD1C-138E1F38E3C8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563888" y="5275244"/>
            <a:ext cx="5400723" cy="458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整数</a:t>
            </a:r>
            <a:r>
              <a:rPr lang="en-US" altLang="zh-CN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小数</a:t>
            </a:r>
            <a:r>
              <a:rPr lang="zh-CN" altLang="en-US" sz="2200" u="sng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分别转换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，位数不够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两边补零</a:t>
            </a:r>
            <a:endParaRPr lang="en-US" altLang="zh-CN" sz="1800" b="1" baseline="-180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A1AC6E4-5195-4627-9C7A-994E0EE7F7A1}"/>
              </a:ext>
            </a:extLst>
          </p:cNvPr>
          <p:cNvGrpSpPr/>
          <p:nvPr/>
        </p:nvGrpSpPr>
        <p:grpSpPr>
          <a:xfrm>
            <a:off x="1118870" y="4032272"/>
            <a:ext cx="2160270" cy="1259840"/>
            <a:chOff x="1084" y="5046"/>
            <a:chExt cx="3402" cy="1984"/>
          </a:xfrm>
        </p:grpSpPr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7B3D9C8E-4F82-4FA7-B3CC-A3B8AA167084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84" y="5046"/>
              <a:ext cx="3402" cy="19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2   10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低位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2   5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</a:p>
            <a:p>
              <a:pPr marL="457200" indent="-45720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2  2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</a:p>
            <a:p>
              <a:pPr marL="457200" indent="-4572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 2 1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高位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457200" indent="-45720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   0  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余数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39" name="肘形连接符 3">
              <a:extLst>
                <a:ext uri="{FF2B5EF4-FFF2-40B4-BE49-F238E27FC236}">
                  <a16:creationId xmlns:a16="http://schemas.microsoft.com/office/drawing/2014/main" id="{BC3553C9-1B8C-457B-9C2B-CB4E30213D55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1871" y="6237"/>
              <a:ext cx="454" cy="397"/>
            </a:xfrm>
            <a:prstGeom prst="bentConnector3">
              <a:avLst>
                <a:gd name="adj1" fmla="val 1272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肘形连接符 4">
              <a:extLst>
                <a:ext uri="{FF2B5EF4-FFF2-40B4-BE49-F238E27FC236}">
                  <a16:creationId xmlns:a16="http://schemas.microsoft.com/office/drawing/2014/main" id="{76543FC1-149E-45A7-955D-B9F0B61E0312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1701" y="5840"/>
              <a:ext cx="624" cy="397"/>
            </a:xfrm>
            <a:prstGeom prst="bentConnector3">
              <a:avLst>
                <a:gd name="adj1" fmla="val 95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肘形连接符 5">
              <a:extLst>
                <a:ext uri="{FF2B5EF4-FFF2-40B4-BE49-F238E27FC236}">
                  <a16:creationId xmlns:a16="http://schemas.microsoft.com/office/drawing/2014/main" id="{8ED967B0-FB05-45B3-AF2E-35FBC3DA099D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1531" y="5443"/>
              <a:ext cx="794" cy="397"/>
            </a:xfrm>
            <a:prstGeom prst="bentConnector3">
              <a:avLst>
                <a:gd name="adj1" fmla="val 309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肘形连接符 6">
              <a:extLst>
                <a:ext uri="{FF2B5EF4-FFF2-40B4-BE49-F238E27FC236}">
                  <a16:creationId xmlns:a16="http://schemas.microsoft.com/office/drawing/2014/main" id="{0421B013-4841-47D5-9E57-03B077DCD16D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>
              <a:off x="1361" y="5102"/>
              <a:ext cx="964" cy="340"/>
            </a:xfrm>
            <a:prstGeom prst="bentConnector3">
              <a:avLst>
                <a:gd name="adj1" fmla="val 209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50810E81-7A6C-4553-820A-629939996D4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 flipV="1">
              <a:off x="3460" y="5471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4" name="Text Box 51">
            <a:extLst>
              <a:ext uri="{FF2B5EF4-FFF2-40B4-BE49-F238E27FC236}">
                <a16:creationId xmlns:a16="http://schemas.microsoft.com/office/drawing/2014/main" id="{96E6B7E0-7A0B-448B-A5CC-A91C914F6D7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53936" y="4005064"/>
            <a:ext cx="2232000" cy="1260000"/>
          </a:xfrm>
          <a:prstGeom prst="rect">
            <a:avLst/>
          </a:prstGeom>
          <a:solidFill>
            <a:srgbClr val="CCFFFF">
              <a:alpha val="80000"/>
            </a:srgbClr>
          </a:solidFill>
          <a:ln w="9525">
            <a:noFill/>
            <a:miter lim="800000"/>
          </a:ln>
          <a:effectLst/>
        </p:spPr>
        <p:txBody>
          <a:bodyPr lIns="18000" tIns="10795" rIns="18000" bIns="10800"/>
          <a:lstStyle/>
          <a:p>
            <a:pPr marL="457200" indent="-457200" eaLnBrk="1" latinLnBrk="0" hangingPunct="1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＜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marL="457200" indent="-457200" eaLnBrk="1" latinLnBrk="0" hangingPunct="1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marL="457200" indent="-457200" eaLnBrk="1" latinLnBrk="0" hangingPunct="1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eaLnBrk="1" latinLnBrk="0" hangingPunct="1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1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</a:rPr>
              <a:t>≥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 eaLnBrk="1" latinLnBrk="0" hangingPunct="1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</a:rPr>
              <a:t>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Text Box 51">
            <a:extLst>
              <a:ext uri="{FF2B5EF4-FFF2-40B4-BE49-F238E27FC236}">
                <a16:creationId xmlns:a16="http://schemas.microsoft.com/office/drawing/2014/main" id="{6F92B0BC-CA37-49B3-8B8E-651DDB99A19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59755" y="4581128"/>
            <a:ext cx="2628000" cy="576000"/>
          </a:xfrm>
          <a:prstGeom prst="rect">
            <a:avLst/>
          </a:prstGeom>
          <a:solidFill>
            <a:srgbClr val="CCFFFF">
              <a:alpha val="80000"/>
            </a:srgbClr>
          </a:solidFill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marL="457200" indent="-457200">
              <a:lnSpc>
                <a:spcPct val="105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0.25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-1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</a:rPr>
              <a:t>＜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-1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05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0.25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1800" b="1" baseline="-1800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-2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 Box 4">
            <a:extLst>
              <a:ext uri="{FF2B5EF4-FFF2-40B4-BE49-F238E27FC236}">
                <a16:creationId xmlns:a16="http://schemas.microsoft.com/office/drawing/2014/main" id="{EA0ED2FE-DEEF-4539-A0FC-A79F0B4B495B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59450" y="4005216"/>
            <a:ext cx="2989014" cy="540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marL="457200" indent="-457200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0.25×2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.5   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高位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0.5 ×2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.0   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低位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3D8B9B-F391-4A64-8063-92ABBF9136D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24640" y="507952"/>
            <a:ext cx="939848" cy="109860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40"/>
    </mc:Choice>
    <mc:Fallback xmlns="">
      <p:transition spd="slow" advTm="9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0" grpId="0" bldLvl="0"/>
      <p:bldP spid="114701" grpId="0"/>
      <p:bldP spid="13" grpId="0" bldLvl="0" animBg="1"/>
      <p:bldP spid="15" grpId="0" bldLvl="0" animBg="1"/>
      <p:bldP spid="23" grpId="0" bldLvl="0" animBg="1"/>
      <p:bldP spid="44" grpId="0" animBg="1"/>
      <p:bldP spid="45" grpId="0" animBg="1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43893" y="332656"/>
            <a:ext cx="3492003" cy="48939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、机器数及其编码</a:t>
            </a:r>
          </a:p>
          <a:p>
            <a:pPr marL="2336800" indent="-2336800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数值数据：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数学上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336800" indent="-2336800">
              <a:lnSpc>
                <a:spcPct val="120000"/>
              </a:lnSpc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表示格式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336800" indent="-2336800">
              <a:lnSpc>
                <a:spcPct val="105000"/>
              </a:lnSpc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2336800" indent="-2336800"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u="sng" dirty="0">
              <a:solidFill>
                <a:srgbClr val="990099"/>
              </a:solidFill>
            </a:endParaRPr>
          </a:p>
          <a:p>
            <a:pPr marL="2336800" indent="-2336800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机器数：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511425" indent="-2511425">
              <a:lnSpc>
                <a:spcPct val="90000"/>
              </a:lnSpc>
            </a:pPr>
            <a:endParaRPr lang="en-US" altLang="zh-CN" sz="1600" b="0" dirty="0">
              <a:solidFill>
                <a:schemeClr val="tx1"/>
              </a:solidFill>
            </a:endParaRPr>
          </a:p>
          <a:p>
            <a:pPr marL="2511425" indent="-2511425"/>
            <a:endParaRPr lang="en-US" altLang="zh-CN" sz="1800" dirty="0">
              <a:solidFill>
                <a:schemeClr val="accent2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真值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2511425" indent="-2511425">
              <a:spcBef>
                <a:spcPts val="2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机器数</a:t>
            </a:r>
            <a:r>
              <a:rPr lang="zh-CN" altLang="en-US" sz="2200" dirty="0">
                <a:solidFill>
                  <a:srgbClr val="C00000"/>
                </a:solidFill>
                <a:sym typeface="+mn-ea"/>
              </a:rPr>
              <a:t>的</a:t>
            </a:r>
            <a:r>
              <a:rPr lang="zh-CN" altLang="en-US" sz="2200" dirty="0">
                <a:solidFill>
                  <a:srgbClr val="C00000"/>
                </a:solidFill>
              </a:rPr>
              <a:t>编码：     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511425" indent="-2511425"/>
            <a:r>
              <a:rPr lang="zh-CN" altLang="en-US" sz="2200" dirty="0">
                <a:solidFill>
                  <a:schemeClr val="accent2"/>
                </a:solidFill>
              </a:rPr>
              <a:t>    目标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类型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79AC3-BB89-4712-9B53-08A29ECD4132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17" name="Text Box 349"/>
          <p:cNvSpPr txBox="1">
            <a:spLocks noChangeArrowheads="1"/>
          </p:cNvSpPr>
          <p:nvPr/>
        </p:nvSpPr>
        <p:spPr bwMode="auto">
          <a:xfrm>
            <a:off x="755575" y="5517232"/>
            <a:ext cx="7524000" cy="324000"/>
          </a:xfrm>
          <a:prstGeom prst="rect">
            <a:avLst/>
          </a:prstGeom>
          <a:solidFill>
            <a:srgbClr val="CCFFFF">
              <a:alpha val="80000"/>
            </a:srgbClr>
          </a:solidFill>
          <a:ln w="15875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FF3399"/>
                </a:solidFill>
              </a:rPr>
              <a:t>PPT</a:t>
            </a:r>
            <a:r>
              <a:rPr lang="zh-CN" altLang="en-US" sz="1800" dirty="0">
                <a:solidFill>
                  <a:srgbClr val="FF3399"/>
                </a:solidFill>
              </a:rPr>
              <a:t>约定：</a:t>
            </a:r>
            <a:r>
              <a:rPr lang="zh-CN" altLang="en-US" sz="1800" dirty="0">
                <a:solidFill>
                  <a:schemeClr val="tx1"/>
                </a:solidFill>
              </a:rPr>
              <a:t>本章数据的</a:t>
            </a:r>
            <a:r>
              <a:rPr lang="zh-CN" altLang="en-US" sz="1800" u="sng" dirty="0">
                <a:solidFill>
                  <a:schemeClr val="tx1"/>
                </a:solidFill>
              </a:rPr>
              <a:t>书写方式</a:t>
            </a:r>
            <a:r>
              <a:rPr lang="zh-CN" altLang="en-US" sz="1800" dirty="0">
                <a:solidFill>
                  <a:schemeClr val="tx1"/>
                </a:solidFill>
              </a:rPr>
              <a:t>默认为二进制、省略后缀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zh-CN" altLang="en-US" sz="1800" dirty="0">
                <a:solidFill>
                  <a:schemeClr val="tx1"/>
                </a:solidFill>
              </a:rPr>
              <a:t>，特殊说明除外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1547664" y="1196752"/>
            <a:ext cx="7273056" cy="2701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en-US" altLang="zh-CN" sz="2200" dirty="0">
                <a:solidFill>
                  <a:schemeClr val="tx1"/>
                </a:solidFill>
              </a:rPr>
              <a:t>    [</a:t>
            </a:r>
            <a:r>
              <a:rPr lang="zh-CN" altLang="en-US" sz="2200" dirty="0">
                <a:solidFill>
                  <a:schemeClr val="tx1"/>
                </a:solidFill>
              </a:rPr>
              <a:t>符号</a:t>
            </a:r>
            <a:r>
              <a:rPr lang="en-US" altLang="zh-CN" sz="2200" dirty="0">
                <a:solidFill>
                  <a:schemeClr val="tx1"/>
                </a:solidFill>
              </a:rPr>
              <a:t>] </a:t>
            </a:r>
            <a:r>
              <a:rPr lang="zh-CN" altLang="en-US" sz="2200" dirty="0">
                <a:solidFill>
                  <a:schemeClr val="tx1"/>
                </a:solidFill>
              </a:rPr>
              <a:t>数码 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zh-CN" altLang="en-US" sz="2200" dirty="0">
                <a:solidFill>
                  <a:schemeClr val="tx1"/>
                </a:solidFill>
              </a:rPr>
              <a:t>小数点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zh-CN" altLang="en-US" sz="2200" dirty="0">
                <a:solidFill>
                  <a:schemeClr val="tx1"/>
                </a:solidFill>
              </a:rPr>
              <a:t>数码</a:t>
            </a:r>
            <a:r>
              <a:rPr lang="en-US" altLang="zh-CN" sz="2200" dirty="0">
                <a:solidFill>
                  <a:schemeClr val="tx1"/>
                </a:solidFill>
              </a:rPr>
              <a:t>]        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[ ]</a:t>
            </a:r>
            <a:r>
              <a:rPr lang="zh-CN" altLang="en-US" sz="1600" dirty="0">
                <a:solidFill>
                  <a:schemeClr val="tx1"/>
                </a:solidFill>
              </a:rPr>
              <a:t>表示可</a:t>
            </a:r>
            <a:r>
              <a:rPr lang="zh-CN" altLang="en-US" sz="1600" dirty="0">
                <a:solidFill>
                  <a:schemeClr val="accent2"/>
                </a:solidFill>
              </a:rPr>
              <a:t>缺省</a:t>
            </a:r>
            <a:endParaRPr lang="en-US" altLang="zh-CN" sz="1600" dirty="0">
              <a:solidFill>
                <a:schemeClr val="accent2"/>
              </a:solidFill>
            </a:endParaRPr>
          </a:p>
          <a:p>
            <a:pPr marL="2336800" indent="-2336800"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</a:t>
            </a:r>
            <a:r>
              <a:rPr lang="zh-CN" altLang="en-US" sz="1800" dirty="0">
                <a:solidFill>
                  <a:srgbClr val="0070C0"/>
                </a:solidFill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</a:rPr>
              <a:t>(-10.1)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(+10)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(-10)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(10)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336800" indent="-2336800"/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符号与数值</a:t>
            </a:r>
            <a:r>
              <a:rPr lang="zh-CN" altLang="en-US" sz="2200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分开运算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200" dirty="0">
                <a:solidFill>
                  <a:schemeClr val="tx1"/>
                </a:solidFill>
              </a:rPr>
              <a:t>减法</a:t>
            </a:r>
            <a:r>
              <a:rPr lang="zh-CN" altLang="en-US" sz="2200" u="sng" dirty="0">
                <a:solidFill>
                  <a:srgbClr val="0070C0"/>
                </a:solidFill>
              </a:rPr>
              <a:t>先比较大小</a:t>
            </a:r>
            <a:endParaRPr lang="en-US" altLang="zh-CN" sz="2200" u="sng" dirty="0">
              <a:solidFill>
                <a:srgbClr val="0070C0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指计算机内部</a:t>
            </a:r>
            <a:r>
              <a:rPr lang="zh-CN" altLang="en-US" sz="2200" u="sng" dirty="0">
                <a:solidFill>
                  <a:srgbClr val="990099"/>
                </a:solidFill>
              </a:rPr>
              <a:t>用编码表示</a:t>
            </a:r>
            <a:r>
              <a:rPr lang="zh-CN" altLang="en-US" sz="2200" dirty="0">
                <a:solidFill>
                  <a:schemeClr val="tx1"/>
                </a:solidFill>
              </a:rPr>
              <a:t>的数据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511425" indent="-2511425">
              <a:lnSpc>
                <a:spcPct val="90000"/>
              </a:lnSpc>
            </a:pPr>
            <a:r>
              <a:rPr lang="zh-CN" altLang="en-US" sz="1600" b="0" dirty="0">
                <a:solidFill>
                  <a:schemeClr val="tx1"/>
                </a:solidFill>
              </a:rPr>
              <a:t>         └</a:t>
            </a:r>
            <a:r>
              <a:rPr lang="zh-CN" altLang="en-US" sz="1600" dirty="0">
                <a:solidFill>
                  <a:schemeClr val="tx1"/>
                </a:solidFill>
              </a:rPr>
              <a:t>→二进制→</a:t>
            </a:r>
            <a:r>
              <a:rPr lang="zh-CN" altLang="en-US" sz="1600" b="0" dirty="0">
                <a:solidFill>
                  <a:schemeClr val="tx1"/>
                </a:solidFill>
              </a:rPr>
              <a:t>┘   └</a:t>
            </a:r>
            <a:r>
              <a:rPr lang="zh-CN" altLang="en-US" sz="1600" dirty="0">
                <a:solidFill>
                  <a:schemeClr val="tx1"/>
                </a:solidFill>
              </a:rPr>
              <a:t>←表示符号、小数点及位置</a:t>
            </a:r>
            <a:endParaRPr lang="en-US" altLang="zh-CN" sz="1600" b="0" dirty="0">
              <a:solidFill>
                <a:schemeClr val="tx1"/>
              </a:solidFill>
            </a:endParaRPr>
          </a:p>
          <a:p>
            <a:pPr marL="2511425" indent="-2511425"/>
            <a:r>
              <a:rPr lang="zh-CN" altLang="en-US" sz="1800" dirty="0">
                <a:solidFill>
                  <a:srgbClr val="0070C0"/>
                </a:solidFill>
              </a:rPr>
              <a:t>  如：</a:t>
            </a:r>
            <a:r>
              <a:rPr lang="en-US" altLang="zh-CN" sz="1800" dirty="0">
                <a:solidFill>
                  <a:schemeClr val="tx1"/>
                </a:solidFill>
              </a:rPr>
              <a:t>(+10)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→(</a:t>
            </a:r>
            <a:r>
              <a:rPr lang="en-US" altLang="zh-CN" sz="1800" dirty="0">
                <a:solidFill>
                  <a:srgbClr val="FF3399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10)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(-10)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→(</a:t>
            </a:r>
            <a:r>
              <a:rPr lang="en-US" altLang="zh-CN" sz="1800" dirty="0">
                <a:solidFill>
                  <a:srgbClr val="FF33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10)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(-10.1)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→(</a:t>
            </a:r>
            <a:r>
              <a:rPr lang="en-US" altLang="zh-CN" sz="1800" dirty="0">
                <a:solidFill>
                  <a:srgbClr val="FF33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CC99"/>
                </a:highlight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</a:rPr>
              <a:t>101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accent2"/>
                </a:solidFill>
              </a:rPr>
              <a:t> 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指机器数表示的</a:t>
            </a:r>
            <a:r>
              <a:rPr lang="zh-CN" altLang="en-US" sz="2200" u="sng" dirty="0">
                <a:solidFill>
                  <a:srgbClr val="990099"/>
                </a:solidFill>
              </a:rPr>
              <a:t>数学值</a:t>
            </a:r>
          </a:p>
        </p:txBody>
      </p:sp>
      <p:sp>
        <p:nvSpPr>
          <p:cNvPr id="18" name="Text Box 35"/>
          <p:cNvSpPr txBox="1">
            <a:spLocks noChangeArrowheads="1"/>
          </p:cNvSpPr>
          <p:nvPr/>
        </p:nvSpPr>
        <p:spPr bwMode="auto">
          <a:xfrm>
            <a:off x="1584052" y="4221088"/>
            <a:ext cx="7226795" cy="12426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11425" indent="-2511425"/>
            <a:r>
              <a:rPr lang="zh-CN" altLang="en-US" sz="2200" u="sng" dirty="0">
                <a:solidFill>
                  <a:srgbClr val="990099"/>
                </a:solidFill>
              </a:rPr>
              <a:t>便于</a:t>
            </a:r>
            <a:r>
              <a:rPr lang="zh-CN" altLang="en-US" sz="2200" dirty="0">
                <a:solidFill>
                  <a:schemeClr val="tx1"/>
                </a:solidFill>
              </a:rPr>
              <a:t>运算的</a:t>
            </a:r>
            <a:r>
              <a:rPr lang="zh-CN" altLang="en-US" sz="2200" u="sng" dirty="0">
                <a:solidFill>
                  <a:srgbClr val="990099"/>
                </a:solidFill>
              </a:rPr>
              <a:t>硬件实现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spc="-130" dirty="0">
                <a:solidFill>
                  <a:schemeClr val="tx1"/>
                </a:solidFill>
              </a:rPr>
              <a:t>如符号</a:t>
            </a:r>
            <a:r>
              <a:rPr lang="en-US" altLang="zh-CN" sz="1800" spc="-130" dirty="0">
                <a:solidFill>
                  <a:schemeClr val="tx1"/>
                </a:solidFill>
              </a:rPr>
              <a:t>/</a:t>
            </a:r>
            <a:r>
              <a:rPr lang="zh-CN" altLang="en-US" sz="1800" spc="-130" dirty="0">
                <a:solidFill>
                  <a:schemeClr val="tx1"/>
                </a:solidFill>
              </a:rPr>
              <a:t>数值</a:t>
            </a:r>
            <a:r>
              <a:rPr lang="zh-CN" altLang="en-US" sz="1800" u="sng" spc="-130" dirty="0">
                <a:solidFill>
                  <a:schemeClr val="tx1"/>
                </a:solidFill>
                <a:highlight>
                  <a:srgbClr val="CCFFFF"/>
                </a:highlight>
              </a:rPr>
              <a:t>一起运算</a:t>
            </a:r>
            <a:r>
              <a:rPr lang="zh-CN" altLang="en-US" sz="1800" spc="-130" dirty="0">
                <a:solidFill>
                  <a:schemeClr val="tx1"/>
                </a:solidFill>
              </a:rPr>
              <a:t>、减法</a:t>
            </a:r>
            <a:r>
              <a:rPr lang="zh-CN" altLang="en-US" sz="1800" u="sng" spc="-130" dirty="0">
                <a:solidFill>
                  <a:schemeClr val="tx1"/>
                </a:solidFill>
                <a:highlight>
                  <a:srgbClr val="CCFFFF"/>
                </a:highlight>
              </a:rPr>
              <a:t>不比较大小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511425" indent="-2511425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原码、补码、移码等，均用</a:t>
            </a:r>
            <a:r>
              <a:rPr lang="zh-CN" altLang="en-US" sz="2200" u="sng" dirty="0">
                <a:solidFill>
                  <a:srgbClr val="FF3399"/>
                </a:solidFill>
              </a:rPr>
              <a:t>二进制</a:t>
            </a:r>
            <a:r>
              <a:rPr lang="zh-CN" altLang="en-US" sz="2200" dirty="0">
                <a:solidFill>
                  <a:schemeClr val="tx1"/>
                </a:solidFill>
              </a:rPr>
              <a:t>表示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511425" indent="-2511425">
              <a:lnSpc>
                <a:spcPct val="105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尾数</a:t>
            </a:r>
            <a:r>
              <a:rPr lang="en-US" altLang="zh-CN" sz="1600" dirty="0">
                <a:solidFill>
                  <a:schemeClr val="tx1"/>
                </a:solidFill>
              </a:rPr>
              <a:t>)  (</a:t>
            </a:r>
            <a:r>
              <a:rPr lang="zh-CN" altLang="en-US" sz="1600" dirty="0">
                <a:solidFill>
                  <a:schemeClr val="tx1"/>
                </a:solidFill>
              </a:rPr>
              <a:t>整数</a:t>
            </a:r>
            <a:r>
              <a:rPr lang="en-US" altLang="zh-CN" sz="1600" dirty="0">
                <a:solidFill>
                  <a:schemeClr val="tx1"/>
                </a:solidFill>
              </a:rPr>
              <a:t>)   (</a:t>
            </a:r>
            <a:r>
              <a:rPr lang="zh-CN" altLang="en-US" sz="1600" dirty="0">
                <a:solidFill>
                  <a:schemeClr val="tx1"/>
                </a:solidFill>
              </a:rPr>
              <a:t>阶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>
                <a:solidFill>
                  <a:schemeClr val="tx1"/>
                </a:solidFill>
              </a:rPr>
              <a:t>         ←应用例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93527" name="Text Box 3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24000"/>
            <a:ext cx="4236085" cy="53817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</a:rPr>
              <a:t>原码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sign-magnitude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FF3399"/>
                </a:solidFill>
              </a:rPr>
              <a:t>表示法</a:t>
            </a:r>
            <a:endParaRPr lang="en-US" altLang="zh-CN" sz="2200" b="1" dirty="0">
              <a:solidFill>
                <a:srgbClr val="FF3399"/>
              </a:solidFill>
            </a:endParaRPr>
          </a:p>
          <a:p>
            <a:pPr marL="1973580" indent="-197358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编码思想：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整数原码定义：</a:t>
            </a: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cs typeface="宋体" panose="02010600030101010101" pitchFamily="2" charset="-122"/>
                <a:sym typeface="+mn-ea"/>
              </a:rPr>
              <a:t>小数原码定义：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原码的特性：</a:t>
            </a:r>
          </a:p>
          <a:p>
            <a:pPr marL="1973580" indent="-197358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表示特性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3" name="Text Box 343"/>
          <p:cNvSpPr txBox="1">
            <a:spLocks noChangeArrowheads="1"/>
          </p:cNvSpPr>
          <p:nvPr/>
        </p:nvSpPr>
        <p:spPr bwMode="auto">
          <a:xfrm>
            <a:off x="1835696" y="791845"/>
            <a:ext cx="6988175" cy="319318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机器数的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最高位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符号位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用</a:t>
            </a:r>
            <a:r>
              <a:rPr lang="en-US" altLang="zh-CN" sz="2200" u="sng" dirty="0">
                <a:solidFill>
                  <a:schemeClr val="tx1"/>
                </a:solidFill>
                <a:latin typeface="+mn-ea"/>
                <a:ea typeface="+mn-ea"/>
              </a:rPr>
              <a:t>0/1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表示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+/-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</a:p>
          <a:p>
            <a:pPr marL="1973580" indent="-1973580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  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其余位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数值位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为真值的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绝对值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±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…x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i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x</a:t>
            </a:r>
            <a:r>
              <a:rPr lang="en-US" altLang="zh-CN" sz="2200" baseline="-18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…x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</a:t>
            </a:r>
          </a:p>
          <a:p>
            <a:pPr marL="1973580" indent="-1973580"/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973580" indent="-1973580"/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973580" indent="-1973580">
              <a:spcBef>
                <a:spcPts val="30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±0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.x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…x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-(n-1)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x</a:t>
            </a:r>
            <a:r>
              <a:rPr lang="en-US" altLang="zh-CN" sz="2200" baseline="-18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.x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…x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-(n-1)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   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恒为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0─→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编码时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省略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</a:t>
            </a:r>
            <a:r>
              <a:rPr lang="en-US" altLang="zh-CN" sz="1800" b="0" spc="-5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┘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硬件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隐含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表示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                                        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此处</a:t>
            </a:r>
            <a:r>
              <a:rPr lang="zh-CN" altLang="en-US" sz="16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便于阅读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) </a:t>
            </a:r>
            <a:endParaRPr lang="en-US" altLang="zh-CN" sz="1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3533" name="Text Box 3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000" y="2060848"/>
            <a:ext cx="8785225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1—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000" dirty="0">
                <a:latin typeface="+mn-ea"/>
                <a:ea typeface="+mn-ea"/>
              </a:rPr>
              <a:t>+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000" dirty="0">
                <a:latin typeface="+mn-ea"/>
                <a:ea typeface="+mn-ea"/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101</a:t>
            </a:r>
          </a:p>
          <a:p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        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+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000]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000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000]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000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</a:t>
            </a:r>
            <a:r>
              <a:rPr lang="en-US" altLang="zh-CN" sz="2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※[+0]</a:t>
            </a:r>
            <a:r>
              <a:rPr lang="zh-CN" altLang="en-US" sz="2000" baseline="-18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原</a:t>
            </a:r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≠</a:t>
            </a:r>
            <a:r>
              <a:rPr lang="en-US" altLang="zh-CN" sz="2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[-0]</a:t>
            </a:r>
            <a:r>
              <a:rPr lang="zh-CN" altLang="en-US" sz="2000" baseline="-18000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原</a:t>
            </a: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179705" y="3614515"/>
            <a:ext cx="6654165" cy="8225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2—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000" dirty="0">
                <a:latin typeface="+mn-ea"/>
                <a:ea typeface="+mn-ea"/>
              </a:rPr>
              <a:t>+0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.101]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.101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en-US" altLang="zh-CN" sz="2000" dirty="0">
                <a:latin typeface="+mn-ea"/>
                <a:ea typeface="+mn-ea"/>
              </a:rPr>
              <a:t>-0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.101]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.101</a:t>
            </a:r>
          </a:p>
          <a:p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         若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.01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，则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000" dirty="0">
                <a:latin typeface="+mn-ea"/>
                <a:ea typeface="+mn-ea"/>
              </a:rPr>
              <a:t>-0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.01</a:t>
            </a:r>
          </a:p>
        </p:txBody>
      </p:sp>
      <p:sp>
        <p:nvSpPr>
          <p:cNvPr id="67625" name="Text Box 41"/>
          <p:cNvSpPr txBox="1">
            <a:spLocks noChangeArrowheads="1"/>
          </p:cNvSpPr>
          <p:nvPr/>
        </p:nvSpPr>
        <p:spPr bwMode="auto">
          <a:xfrm>
            <a:off x="2195736" y="4797152"/>
            <a:ext cx="6624320" cy="148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与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表示值的范围相同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[+0]</a:t>
            </a:r>
            <a:r>
              <a:rPr lang="zh-CN" altLang="en-US" sz="18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≠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[-0]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符号与数值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分开运算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、减法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先比较大小</a:t>
            </a:r>
            <a:endParaRPr lang="en-US" altLang="zh-CN" sz="2200" u="sng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        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不利于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硬件实现←</a:t>
            </a:r>
            <a:r>
              <a:rPr sz="1800" b="0" dirty="0">
                <a:solidFill>
                  <a:schemeClr val="tx1"/>
                </a:solidFill>
                <a:latin typeface="+mn-ea"/>
                <a:ea typeface="+mn-ea"/>
              </a:rPr>
              <a:t>┴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常用减法实现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                     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运算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次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zh-CN" altLang="en-US" sz="1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3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7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7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7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7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1724-601E-435D-B6AA-51BC763A6C42}" type="slidenum">
              <a:rPr lang="en-US" altLang="zh-CN"/>
              <a:t>6</a:t>
            </a:fld>
            <a:endParaRPr lang="en-US" altLang="zh-CN" dirty="0"/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179388" y="33265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补码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t</a:t>
            </a:r>
            <a:r>
              <a:rPr lang="en-US" altLang="zh-CN" sz="1800" b="0" dirty="0" err="1">
                <a:solidFill>
                  <a:schemeClr val="tx1"/>
                </a:solidFill>
                <a:latin typeface="+mn-lt"/>
              </a:rPr>
              <a:t>wo</a:t>
            </a:r>
            <a:r>
              <a:rPr lang="en-US" altLang="zh-CN" sz="1800" b="0" dirty="0" err="1">
                <a:solidFill>
                  <a:schemeClr val="tx1"/>
                </a:solidFill>
                <a:latin typeface="+mn-lt"/>
                <a:sym typeface="Symbol" panose="05050102010706020507"/>
              </a:rPr>
              <a:t></a:t>
            </a:r>
            <a:r>
              <a:rPr lang="en-US" altLang="zh-CN" sz="1800" b="0" dirty="0" err="1">
                <a:solidFill>
                  <a:schemeClr val="tx1"/>
                </a:solidFill>
                <a:latin typeface="+mn-lt"/>
              </a:rPr>
              <a:t>s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 complement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rgbClr val="FF3399"/>
                </a:solidFill>
              </a:rPr>
              <a:t>表示法</a:t>
            </a:r>
          </a:p>
          <a:p>
            <a:pPr marL="1973580" indent="-1973580"/>
            <a:r>
              <a:rPr lang="zh-CN" altLang="en-US" sz="2200" dirty="0">
                <a:solidFill>
                  <a:schemeClr val="accent2"/>
                </a:solidFill>
              </a:rPr>
              <a:t>   编码目标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①</a:t>
            </a:r>
            <a:r>
              <a:rPr lang="zh-CN" altLang="en-US" sz="2200" dirty="0">
                <a:solidFill>
                  <a:schemeClr val="tx1"/>
                </a:solidFill>
              </a:rPr>
              <a:t>减法</a:t>
            </a:r>
            <a:r>
              <a:rPr lang="zh-CN" altLang="en-US" sz="2200" u="sng" dirty="0">
                <a:solidFill>
                  <a:srgbClr val="0070C0"/>
                </a:solidFill>
              </a:rPr>
              <a:t>不比较大小</a:t>
            </a:r>
            <a:r>
              <a:rPr lang="zh-CN" altLang="en-US" sz="2200" dirty="0">
                <a:solidFill>
                  <a:schemeClr val="tx1"/>
                </a:solidFill>
              </a:rPr>
              <a:t> ②符号与数值</a:t>
            </a:r>
            <a:r>
              <a:rPr lang="zh-CN" altLang="en-US" sz="2200" u="sng" dirty="0">
                <a:solidFill>
                  <a:srgbClr val="0070C0"/>
                </a:solidFill>
              </a:rPr>
              <a:t>一起运算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179388" y="1260000"/>
            <a:ext cx="8857108" cy="43122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有模运算：                                   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适于定长运算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</a:rPr>
              <a:t>    同余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补数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—</a:t>
            </a: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dirty="0">
                <a:solidFill>
                  <a:srgbClr val="990099"/>
                </a:solidFill>
                <a:sym typeface="+mn-ea"/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  <a:sym typeface="+mn-ea"/>
              </a:rPr>
              <a:t>运算特征：</a:t>
            </a:r>
          </a:p>
          <a:p>
            <a:pPr marL="2786380" indent="-2786380">
              <a:lnSpc>
                <a:spcPct val="100000"/>
              </a:lnSpc>
              <a:spcAft>
                <a:spcPts val="0"/>
              </a:spcAft>
            </a:pPr>
            <a:endParaRPr lang="en-US" altLang="zh-CN" sz="1800" dirty="0">
              <a:solidFill>
                <a:srgbClr val="C00000"/>
              </a:solidFill>
              <a:sym typeface="+mn-ea"/>
            </a:endParaRPr>
          </a:p>
          <a:p>
            <a:pPr marL="2786380" indent="-27863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  <a:sym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sym typeface="+mn-ea"/>
              </a:rPr>
              <a:t>编码目标的实现策略</a:t>
            </a:r>
            <a:r>
              <a:rPr lang="zh-CN" altLang="en-US" sz="2200" dirty="0">
                <a:sym typeface="+mn-ea"/>
              </a:rPr>
              <a:t>： 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CCFFFF"/>
                </a:highlight>
                <a:sym typeface="+mn-ea"/>
              </a:rPr>
              <a:t>硬件为有模运算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786380" indent="-2786380"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  <a:sym typeface="+mn-ea"/>
              </a:rPr>
              <a:t>    目标①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—</a:t>
            </a:r>
            <a:endParaRPr lang="en-US" altLang="zh-CN" sz="2200" dirty="0">
              <a:solidFill>
                <a:schemeClr val="accent2"/>
              </a:solidFill>
            </a:endParaRPr>
          </a:p>
          <a:p>
            <a:pPr marL="2786380" indent="-2786380">
              <a:lnSpc>
                <a:spcPct val="125000"/>
              </a:lnSpc>
              <a:spcAft>
                <a:spcPts val="0"/>
              </a:spcAft>
            </a:pPr>
            <a:endParaRPr lang="zh-CN" altLang="en-US" sz="1800" dirty="0">
              <a:solidFill>
                <a:schemeClr val="accent2"/>
              </a:solidFill>
              <a:sym typeface="+mn-ea"/>
            </a:endParaRPr>
          </a:p>
          <a:p>
            <a:pPr marL="2786380" indent="-2786380"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  <a:sym typeface="+mn-ea"/>
              </a:rPr>
              <a:t>    </a:t>
            </a:r>
            <a:r>
              <a:rPr lang="zh-CN" sz="2200" dirty="0">
                <a:solidFill>
                  <a:schemeClr val="accent2"/>
                </a:solidFill>
                <a:sym typeface="+mn-ea"/>
              </a:rPr>
              <a:t>目标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②—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1043608" y="1268760"/>
            <a:ext cx="8064896" cy="26454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仅计量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小于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模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的部分，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丢弃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其余部分</a:t>
            </a:r>
          </a:p>
          <a:p>
            <a:pPr marL="2786380" indent="-2786380">
              <a:spcAft>
                <a:spcPts val="0"/>
              </a:spcAft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        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如：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时针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模＝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12)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从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点拨到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点，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9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7 (mod 12)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786380" indent="-2786380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spc="-50" dirty="0" err="1">
                <a:solidFill>
                  <a:schemeClr val="tx1"/>
                </a:solidFill>
                <a:latin typeface="+mn-ea"/>
                <a:ea typeface="+mn-ea"/>
              </a:rPr>
              <a:t>kM</a:t>
            </a:r>
            <a:r>
              <a:rPr lang="en-US" altLang="zh-CN" sz="1800" spc="-5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800" spc="-50" dirty="0">
                <a:solidFill>
                  <a:schemeClr val="tx1"/>
                </a:solidFill>
                <a:latin typeface="+mn-ea"/>
              </a:rPr>
              <a:t>(k</a:t>
            </a:r>
            <a:r>
              <a:rPr lang="zh-CN" altLang="en-US" sz="1800" spc="-50" dirty="0">
                <a:solidFill>
                  <a:schemeClr val="tx1"/>
                </a:solidFill>
                <a:latin typeface="+mn-ea"/>
              </a:rPr>
              <a:t>为整数</a:t>
            </a:r>
            <a:r>
              <a:rPr lang="en-US" altLang="zh-CN" sz="1800" spc="-5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</a:rPr>
              <a:t>，记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A≡B (mod M)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</a:rPr>
              <a:t>，称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zh-CN" altLang="en-US" sz="2200" u="sng" spc="-50" dirty="0">
                <a:solidFill>
                  <a:schemeClr val="tx1"/>
                </a:solidFill>
                <a:latin typeface="+mn-ea"/>
                <a:ea typeface="+mn-ea"/>
              </a:rPr>
              <a:t>模</a:t>
            </a:r>
            <a:r>
              <a:rPr lang="en-US" altLang="zh-CN" sz="2200" u="sng" spc="-5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200" u="sng" spc="-50" dirty="0">
                <a:solidFill>
                  <a:schemeClr val="tx1"/>
                </a:solidFill>
                <a:latin typeface="+mn-ea"/>
                <a:ea typeface="+mn-ea"/>
              </a:rPr>
              <a:t>的同余</a:t>
            </a:r>
            <a:endParaRPr lang="en-US" altLang="zh-CN" sz="2200" u="sng" spc="-5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786380" indent="-2786380">
              <a:lnSpc>
                <a:spcPct val="105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        如：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+3≡+19 (mod 16)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-3≡+13 (mod 16)</a:t>
            </a:r>
          </a:p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a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，称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a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互为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模</a:t>
            </a:r>
            <a:r>
              <a:rPr lang="en-US" altLang="zh-CN" sz="2200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M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的补数</a:t>
            </a:r>
            <a:endParaRPr lang="en-US" altLang="zh-CN" sz="2200" u="sng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     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－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a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(mod M)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</a:rPr>
              <a:t>            </a:t>
            </a:r>
            <a:r>
              <a:rPr lang="zh-CN" altLang="en-US" sz="1800" b="0" baseline="-180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b="0" spc="-50" dirty="0">
                <a:solidFill>
                  <a:schemeClr val="tx1"/>
                </a:solidFill>
                <a:latin typeface="+mn-ea"/>
                <a:ea typeface="+mn-ea"/>
              </a:rPr>
              <a:t>└</a:t>
            </a:r>
            <a:r>
              <a:rPr lang="zh-CN" altLang="en-US" sz="1800" spc="-50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zh-CN" altLang="en-US" sz="1800" spc="-50" dirty="0">
                <a:solidFill>
                  <a:srgbClr val="FF3399"/>
                </a:solidFill>
                <a:latin typeface="+mn-ea"/>
                <a:ea typeface="+mn-ea"/>
              </a:rPr>
              <a:t>减法可用加法实现</a:t>
            </a:r>
            <a:r>
              <a:rPr lang="zh-CN" altLang="en-US" sz="1800" spc="-50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zh-CN" altLang="en-US" sz="1800" b="0" spc="-50" dirty="0">
                <a:solidFill>
                  <a:schemeClr val="tx1"/>
                </a:solidFill>
                <a:latin typeface="+mn-ea"/>
                <a:ea typeface="+mn-ea"/>
              </a:rPr>
              <a:t>┴</a:t>
            </a:r>
            <a:r>
              <a:rPr lang="zh-CN" altLang="en-US" sz="1800" spc="-50" dirty="0">
                <a:solidFill>
                  <a:schemeClr val="tx1"/>
                </a:solidFill>
                <a:latin typeface="+mn-ea"/>
                <a:ea typeface="+mn-ea"/>
              </a:rPr>
              <a:t>→可简化硬件</a:t>
            </a: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907704" y="4365104"/>
            <a:ext cx="7128792" cy="19298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正数用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本身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、负数用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正补数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表示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←利于</a:t>
            </a:r>
            <a:r>
              <a:rPr lang="zh-CN" altLang="en-US" sz="1600" spc="8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减法用加法实现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  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如：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模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-6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)≡4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＋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←→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100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  <a:sym typeface="+mn-ea"/>
              </a:rPr>
              <a:t>1</a:t>
            </a:r>
            <a:r>
              <a:rPr lang="en-US" altLang="zh-CN" sz="18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+mn-ea"/>
              </a:rPr>
              <a:t>010</a:t>
            </a:r>
            <a:endParaRPr lang="en-US" altLang="zh-CN" sz="1800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结果符号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等于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其值类型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spc="-1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本身</a:t>
            </a:r>
            <a:r>
              <a:rPr lang="en-US" altLang="zh-CN" sz="1800" spc="-1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/</a:t>
            </a:r>
            <a:r>
              <a:rPr lang="zh-CN" altLang="en-US" sz="1800" spc="-1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正补数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←讨论</a:t>
            </a:r>
            <a:r>
              <a:rPr lang="zh-CN" altLang="en-US" sz="1600" spc="-1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补码运算时证明</a:t>
            </a:r>
            <a:endParaRPr lang="en-US" altLang="zh-CN" sz="1600" spc="-10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  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如：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模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(-6)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-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sym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←→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  <a:sym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sym typeface="+mn-ea"/>
              </a:rPr>
              <a:t>100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  <a:sym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sym typeface="+mn-ea"/>
              </a:rPr>
              <a:t>010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00FFFF"/>
                </a:highlight>
                <a:latin typeface="+mn-ea"/>
                <a:ea typeface="+mn-ea"/>
                <a:sym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  <a:sym typeface="+mn-ea"/>
              </a:rPr>
              <a:t>110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sym typeface="+mn-ea"/>
              </a:rPr>
              <a:t>             4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+mn-ea"/>
              </a:rPr>
              <a:t>(-3)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dirty="0">
                <a:solidFill>
                  <a:srgbClr val="FF3399"/>
                </a:solidFill>
                <a:latin typeface="+mn-ea"/>
              </a:rPr>
              <a:t>+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sym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←→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  <a:sym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sym typeface="+mn-ea"/>
              </a:rPr>
              <a:t>100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  <a:sym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sym typeface="+mn-ea"/>
              </a:rPr>
              <a:t>101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00FFFF"/>
                </a:highlight>
                <a:latin typeface="+mn-ea"/>
                <a:sym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sym typeface="+mn-ea"/>
              </a:rPr>
              <a:t>001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sym typeface="+mn-ea"/>
              </a:rPr>
              <a:t> </a:t>
            </a:r>
            <a:endParaRPr lang="zh-CN" altLang="en-US" sz="1800" spc="-100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AD6B8D-D769-425F-B2BA-70B5E394AFF6}"/>
              </a:ext>
            </a:extLst>
          </p:cNvPr>
          <p:cNvGrpSpPr/>
          <p:nvPr/>
        </p:nvGrpSpPr>
        <p:grpSpPr>
          <a:xfrm>
            <a:off x="5179170" y="5517232"/>
            <a:ext cx="1692000" cy="432881"/>
            <a:chOff x="5179170" y="5769919"/>
            <a:chExt cx="1692000" cy="43288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E89B47E-B874-4280-802C-8DE79D7D93E1}"/>
                </a:ext>
              </a:extLst>
            </p:cNvPr>
            <p:cNvCxnSpPr>
              <a:cxnSpLocks/>
            </p:cNvCxnSpPr>
            <p:nvPr>
              <p:custDataLst>
                <p:tags r:id="rId1"/>
              </p:custDataLst>
            </p:nvPr>
          </p:nvCxnSpPr>
          <p:spPr>
            <a:xfrm>
              <a:off x="5867740" y="5769919"/>
              <a:ext cx="972000" cy="108000"/>
            </a:xfrm>
            <a:prstGeom prst="line">
              <a:avLst/>
            </a:prstGeom>
            <a:noFill/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31D940E-8EA8-45CE-A363-5CAB6C4716D0}"/>
                </a:ext>
              </a:extLst>
            </p:cNvPr>
            <p:cNvCxnSpPr>
              <a:cxnSpLocks/>
            </p:cNvCxnSpPr>
            <p:nvPr>
              <p:custDataLst>
                <p:tags r:id="rId2"/>
              </p:custDataLst>
            </p:nvPr>
          </p:nvCxnSpPr>
          <p:spPr>
            <a:xfrm>
              <a:off x="5179170" y="5770800"/>
              <a:ext cx="1692000" cy="432000"/>
            </a:xfrm>
            <a:prstGeom prst="line">
              <a:avLst/>
            </a:prstGeom>
            <a:noFill/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3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651E-4F17-46BA-803F-F4A3BBFA307B}" type="slidenum">
              <a:rPr lang="en-US" altLang="zh-CN"/>
              <a:t>7</a:t>
            </a:fld>
            <a:endParaRPr lang="en-US" altLang="zh-CN" dirty="0"/>
          </a:p>
        </p:txBody>
      </p:sp>
      <p:sp>
        <p:nvSpPr>
          <p:cNvPr id="370694" name="Text Box 6"/>
          <p:cNvSpPr txBox="1">
            <a:spLocks noChangeArrowheads="1"/>
          </p:cNvSpPr>
          <p:nvPr/>
        </p:nvSpPr>
        <p:spPr bwMode="auto">
          <a:xfrm>
            <a:off x="179705" y="332656"/>
            <a:ext cx="2654300" cy="56630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zh-CN" altLang="en-US" sz="2200" dirty="0">
                <a:solidFill>
                  <a:srgbClr val="C00000"/>
                </a:solidFill>
              </a:rPr>
              <a:t> *编码思想：</a:t>
            </a:r>
          </a:p>
          <a:p>
            <a:pPr marL="1973580" indent="-1973580"/>
            <a:endParaRPr lang="zh-CN" altLang="en-US" sz="2200" dirty="0">
              <a:solidFill>
                <a:srgbClr val="C00000"/>
              </a:solidFill>
              <a:sym typeface="+mn-ea"/>
            </a:endParaRPr>
          </a:p>
          <a:p>
            <a:pPr marL="1973580" indent="-1973580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  <a:sym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sym typeface="+mn-ea"/>
              </a:rPr>
              <a:t>整数补码定义：</a:t>
            </a: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/>
            <a:endParaRPr lang="en-US" altLang="zh-CN" sz="2200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/>
            <a:endParaRPr lang="zh-CN" altLang="en-US" sz="2200" u="sng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小数补码定义：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59205" y="1664350"/>
            <a:ext cx="7204075" cy="684530"/>
            <a:chOff x="1757" y="7668"/>
            <a:chExt cx="11345" cy="1078"/>
          </a:xfrm>
        </p:grpSpPr>
        <p:sp>
          <p:nvSpPr>
            <p:cNvPr id="4" name="Text Box 1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412" y="7668"/>
              <a:ext cx="6690" cy="107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  <a:cs typeface="宋体" panose="02010600030101010101" pitchFamily="2" charset="-122"/>
                </a:rPr>
                <a:t>0×2</a:t>
              </a:r>
              <a:r>
                <a:rPr lang="en-US" altLang="zh-CN" sz="2000" b="1" baseline="30000" dirty="0">
                  <a:solidFill>
                    <a:srgbClr val="C00000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＋</a:t>
              </a:r>
              <a:r>
                <a:rPr lang="en-US" altLang="zh-CN" sz="20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             0≤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＜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2</a:t>
              </a:r>
              <a:r>
                <a:rPr lang="en-US" altLang="zh-CN" sz="20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endParaRPr lang="en-US" altLang="zh-CN" sz="2000" b="1" baseline="30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0000"/>
                </a:spcBef>
              </a:pPr>
              <a:r>
                <a:rPr lang="en-US" altLang="zh-CN" sz="2000" b="1" dirty="0">
                  <a:solidFill>
                    <a:srgbClr val="C00000"/>
                  </a:solidFill>
                  <a:latin typeface="+mn-ea"/>
                  <a:ea typeface="+mn-ea"/>
                  <a:cs typeface="宋体" panose="02010600030101010101" pitchFamily="2" charset="-122"/>
                </a:rPr>
                <a:t>1×2</a:t>
              </a:r>
              <a:r>
                <a:rPr lang="en-US" altLang="zh-CN" sz="2000" b="1" baseline="30000" dirty="0">
                  <a:solidFill>
                    <a:srgbClr val="C00000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＋</a:t>
              </a:r>
              <a:r>
                <a:rPr lang="en-US" altLang="zh-CN" sz="20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2</a:t>
              </a:r>
              <a:r>
                <a:rPr lang="en-US" altLang="zh-CN" sz="2000" b="1" baseline="30000" dirty="0">
                  <a:solidFill>
                    <a:schemeClr val="tx1"/>
                  </a:solidFill>
                  <a:highlight>
                    <a:srgbClr val="CCFFFF"/>
                  </a:highlight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zh-CN" altLang="en-US" sz="20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－</a:t>
              </a:r>
              <a:r>
                <a:rPr lang="en-US" altLang="zh-CN" sz="20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|</a:t>
              </a:r>
              <a:r>
                <a:rPr lang="en-US" altLang="zh-CN" sz="20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|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   -2</a:t>
              </a:r>
              <a:r>
                <a:rPr lang="en-US" altLang="zh-CN" sz="20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≤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＜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</a:p>
          </p:txBody>
        </p:sp>
        <p:sp>
          <p:nvSpPr>
            <p:cNvPr id="5" name="Text Box 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757" y="7983"/>
              <a:ext cx="4593" cy="6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[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]</a:t>
              </a:r>
              <a:r>
                <a:rPr lang="zh-CN" altLang="en-US" sz="2000" b="1" baseline="-20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补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2</a:t>
              </a:r>
              <a:r>
                <a:rPr lang="en-US" altLang="zh-CN" sz="20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＋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 (mod 2</a:t>
              </a:r>
              <a:r>
                <a:rPr lang="en-US" altLang="zh-CN" sz="20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)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</a:p>
          </p:txBody>
        </p:sp>
        <p:sp>
          <p:nvSpPr>
            <p:cNvPr id="6" name="AutoShape 11"/>
            <p:cNvSpPr/>
            <p:nvPr>
              <p:custDataLst>
                <p:tags r:id="rId29"/>
              </p:custDataLst>
            </p:nvPr>
          </p:nvSpPr>
          <p:spPr bwMode="auto">
            <a:xfrm>
              <a:off x="6297" y="7835"/>
              <a:ext cx="115" cy="793"/>
            </a:xfrm>
            <a:prstGeom prst="leftBrace">
              <a:avLst>
                <a:gd name="adj1" fmla="val 26549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Text Box 34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0236" y="2343995"/>
            <a:ext cx="8210236" cy="31248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3—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[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1000+(1000-001)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</a:t>
            </a:r>
            <a:endParaRPr lang="en-US" altLang="zh-CN" sz="2000" b="1" dirty="0">
              <a:solidFill>
                <a:schemeClr val="tx1"/>
              </a:solidFill>
              <a:highlight>
                <a:srgbClr val="FFFF00"/>
              </a:highligh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[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1000+(1000-111)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spcBef>
                <a:spcPts val="300"/>
              </a:spcBef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练习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1—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-01100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，求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[A]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>
              <a:spcBef>
                <a:spcPts val="300"/>
              </a:spcBef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4—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[+000]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[-000]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0000</a:t>
            </a:r>
          </a:p>
          <a:p>
            <a:pPr marL="1973580" indent="-1973580"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※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的补码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唯一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 marL="1973580" indent="-1973580">
              <a:spcBef>
                <a:spcPts val="300"/>
              </a:spcBef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5—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X≥0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[X]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111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2000" b="1" baseline="-180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max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4-1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-1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+7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973580" indent="-1973580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X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[X]</a:t>
            </a:r>
            <a:r>
              <a:rPr lang="zh-CN" altLang="en-US" sz="20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≥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00FF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2000" b="1" baseline="-180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min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-2</a:t>
            </a:r>
            <a:r>
              <a:rPr lang="en-US" altLang="zh-CN" sz="2000" b="1" baseline="3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4-1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-8 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※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补码比原码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多表示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个数</a:t>
            </a:r>
            <a:endParaRPr lang="zh-CN" altLang="en-US" sz="1800" b="1" u="sng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868560" y="2708920"/>
            <a:ext cx="2825908" cy="1944008"/>
            <a:chOff x="5868560" y="908744"/>
            <a:chExt cx="2825908" cy="1944008"/>
          </a:xfrm>
        </p:grpSpPr>
        <p:sp>
          <p:nvSpPr>
            <p:cNvPr id="100" name="椭圆 99"/>
            <p:cNvSpPr/>
            <p:nvPr>
              <p:custDataLst>
                <p:tags r:id="rId9"/>
              </p:custDataLst>
            </p:nvPr>
          </p:nvSpPr>
          <p:spPr bwMode="auto">
            <a:xfrm>
              <a:off x="5940552" y="980752"/>
              <a:ext cx="2520000" cy="1872000"/>
            </a:xfrm>
            <a:prstGeom prst="ellipse">
              <a:avLst/>
            </a:prstGeom>
            <a:solidFill>
              <a:srgbClr val="CCE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1" name="Text Box 26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012560" y="1124768"/>
              <a:ext cx="2681908" cy="158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5000"/>
                </a:lnSpc>
              </a:pP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    -001       </a:t>
              </a:r>
              <a:r>
                <a:rPr lang="en-US" altLang="zh-CN" sz="14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+001</a:t>
              </a: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 -101              +010</a:t>
              </a:r>
            </a:p>
            <a:p>
              <a:pPr>
                <a:lnSpc>
                  <a:spcPct val="95000"/>
                </a:lnSpc>
              </a:pPr>
              <a:r>
                <a:rPr lang="en-US" altLang="zh-CN" sz="11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-011                 +011</a:t>
              </a: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-100                  +100</a:t>
              </a:r>
            </a:p>
            <a:p>
              <a:pPr>
                <a:lnSpc>
                  <a:spcPct val="95000"/>
                </a:lnSpc>
              </a:pPr>
              <a:r>
                <a:rPr lang="en-US" altLang="zh-CN" sz="11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-101                </a:t>
              </a:r>
              <a:r>
                <a:rPr lang="en-US" altLang="zh-CN" sz="14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+101</a:t>
              </a: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 -110            </a:t>
              </a:r>
              <a:r>
                <a:rPr lang="en-US" altLang="zh-CN" sz="14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+110</a:t>
              </a:r>
            </a:p>
            <a:p>
              <a:pPr>
                <a:lnSpc>
                  <a:spcPct val="95000"/>
                </a:lnSpc>
              </a:pP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    -111        +111</a:t>
              </a:r>
            </a:p>
          </p:txBody>
        </p:sp>
        <p:cxnSp>
          <p:nvCxnSpPr>
            <p:cNvPr id="102" name="直接连接符 101"/>
            <p:cNvCxnSpPr/>
            <p:nvPr>
              <p:custDataLst>
                <p:tags r:id="rId11"/>
              </p:custDataLst>
            </p:nvPr>
          </p:nvCxnSpPr>
          <p:spPr bwMode="auto">
            <a:xfrm>
              <a:off x="5868560" y="191685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6040268" y="1457100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6286738" y="1224484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904560" y="168697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15"/>
              </p:custDataLst>
            </p:nvPr>
          </p:nvCxnSpPr>
          <p:spPr bwMode="auto">
            <a:xfrm>
              <a:off x="8424840" y="191685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8253116" y="1457100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8008003" y="1224484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8388824" y="168697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6308900" y="2623082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6056860" y="239046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5918414" y="216058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962346" y="2623082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8225408" y="2390466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8374970" y="2160588"/>
              <a:ext cx="10800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25"/>
              </p:custDataLst>
            </p:nvPr>
          </p:nvCxnSpPr>
          <p:spPr bwMode="auto">
            <a:xfrm>
              <a:off x="7236696" y="908744"/>
              <a:ext cx="0" cy="10800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 Box 26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092720" y="1016776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5000"/>
                </a:lnSpc>
              </a:pPr>
              <a:r>
                <a:rPr lang="en-US" altLang="zh-CN" sz="1600" spc="-100" dirty="0">
                  <a:solidFill>
                    <a:schemeClr val="tx1"/>
                  </a:solidFill>
                </a:rPr>
                <a:t>000</a:t>
              </a:r>
            </a:p>
          </p:txBody>
        </p:sp>
      </p:grpSp>
      <p:sp>
        <p:nvSpPr>
          <p:cNvPr id="164" name="Text Box 26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436496" y="2924944"/>
            <a:ext cx="3600000" cy="158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 anchor="ctr"/>
          <a:lstStyle/>
          <a:p>
            <a:pPr>
              <a:lnSpc>
                <a:spcPct val="95000"/>
              </a:lnSpc>
            </a:pP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4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1111                   </a:t>
            </a:r>
            <a:r>
              <a:rPr lang="en-US" altLang="zh-CN" sz="14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0001</a:t>
            </a:r>
          </a:p>
          <a:p>
            <a:pPr>
              <a:lnSpc>
                <a:spcPct val="95000"/>
              </a:lnSpc>
            </a:pPr>
            <a:r>
              <a:rPr lang="en-US" altLang="zh-CN" sz="14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1110                     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0010</a:t>
            </a:r>
          </a:p>
          <a:p>
            <a:pPr>
              <a:lnSpc>
                <a:spcPct val="95000"/>
              </a:lnSpc>
            </a:pPr>
            <a:r>
              <a:rPr lang="en-US" altLang="zh-CN" sz="11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1101                              0011</a:t>
            </a:r>
          </a:p>
          <a:p>
            <a:pPr>
              <a:lnSpc>
                <a:spcPct val="95000"/>
              </a:lnSpc>
            </a:pP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1100                               0100</a:t>
            </a:r>
          </a:p>
          <a:p>
            <a:pPr>
              <a:lnSpc>
                <a:spcPct val="95000"/>
              </a:lnSpc>
            </a:pPr>
            <a:r>
              <a:rPr lang="en-US" altLang="zh-CN" sz="11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1011                              0101</a:t>
            </a:r>
          </a:p>
          <a:p>
            <a:pPr>
              <a:lnSpc>
                <a:spcPct val="95000"/>
              </a:lnSpc>
            </a:pP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 1010                          </a:t>
            </a:r>
            <a:r>
              <a:rPr lang="en-US" altLang="zh-CN" sz="14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0110</a:t>
            </a:r>
          </a:p>
          <a:p>
            <a:pPr>
              <a:lnSpc>
                <a:spcPct val="95000"/>
              </a:lnSpc>
            </a:pP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     1001                     0111</a:t>
            </a:r>
          </a:p>
        </p:txBody>
      </p:sp>
      <p:grpSp>
        <p:nvGrpSpPr>
          <p:cNvPr id="165" name="组合 164"/>
          <p:cNvGrpSpPr/>
          <p:nvPr/>
        </p:nvGrpSpPr>
        <p:grpSpPr>
          <a:xfrm>
            <a:off x="6948664" y="4444097"/>
            <a:ext cx="504190" cy="281047"/>
            <a:chOff x="4860032" y="4732129"/>
            <a:chExt cx="504190" cy="281047"/>
          </a:xfrm>
        </p:grpSpPr>
        <p:cxnSp>
          <p:nvCxnSpPr>
            <p:cNvPr id="166" name="直接连接符 165"/>
            <p:cNvCxnSpPr/>
            <p:nvPr>
              <p:custDataLst>
                <p:tags r:id="rId7"/>
              </p:custDataLst>
            </p:nvPr>
          </p:nvCxnSpPr>
          <p:spPr bwMode="auto">
            <a:xfrm>
              <a:off x="5148064" y="4905176"/>
              <a:ext cx="0" cy="10800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7" name="Text Box 26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860032" y="4732129"/>
              <a:ext cx="504190" cy="1727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5000"/>
                </a:lnSpc>
              </a:pPr>
              <a:r>
                <a:rPr lang="en-US" altLang="zh-CN" sz="1600" b="1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-1000</a:t>
              </a:r>
            </a:p>
          </p:txBody>
        </p:sp>
      </p:grpSp>
      <p:sp>
        <p:nvSpPr>
          <p:cNvPr id="171" name="Text Box 26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48664" y="4725144"/>
            <a:ext cx="504000" cy="21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85000"/>
              </a:lnSpc>
            </a:pP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1000</a:t>
            </a:r>
          </a:p>
        </p:txBody>
      </p:sp>
      <p:sp>
        <p:nvSpPr>
          <p:cNvPr id="172" name="Text Box 26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948664" y="2492896"/>
            <a:ext cx="504000" cy="21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85000"/>
              </a:lnSpc>
            </a:pP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</a:rPr>
              <a:t>0000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864519" y="332656"/>
            <a:ext cx="7027961" cy="135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机器数的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最高位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符号位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用</a:t>
            </a:r>
            <a:r>
              <a:rPr lang="en-US" altLang="zh-CN" sz="2200" u="sng" dirty="0">
                <a:solidFill>
                  <a:schemeClr val="tx1"/>
                </a:solidFill>
                <a:latin typeface="+mn-ea"/>
                <a:ea typeface="+mn-ea"/>
              </a:rPr>
              <a:t>0/1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表示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+/-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</a:p>
          <a:p>
            <a:pPr marL="1973580" indent="-1973580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  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其余位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数值位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本身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正补数</a:t>
            </a:r>
          </a:p>
          <a:p>
            <a:pPr marL="1973580" indent="-1973580">
              <a:spcBef>
                <a:spcPts val="30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±x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…x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，则模为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2</a:t>
            </a:r>
            <a:r>
              <a:rPr lang="en-US" altLang="zh-CN" sz="2200" baseline="30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x</a:t>
            </a: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…x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</a:t>
            </a:r>
            <a:endParaRPr lang="zh-CN" altLang="en-US" sz="2200" u="sng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4388" name="Text Box 52"/>
          <p:cNvSpPr txBox="1">
            <a:spLocks noChangeArrowheads="1"/>
          </p:cNvSpPr>
          <p:nvPr/>
        </p:nvSpPr>
        <p:spPr bwMode="auto">
          <a:xfrm>
            <a:off x="2483768" y="5445224"/>
            <a:ext cx="6468745" cy="8141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±0.x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-(n-1)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x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accent2"/>
                </a:solidFill>
                <a:latin typeface="+mn-ea"/>
                <a:ea typeface="+mn-ea"/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.x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…x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-(n-1)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类似于整数补码定义，模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742BC2F-87B2-4401-912C-702A132DDE70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 flipH="1">
            <a:off x="5958560" y="1195200"/>
            <a:ext cx="576000" cy="828000"/>
          </a:xfrm>
          <a:prstGeom prst="line">
            <a:avLst/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819"/>
    </mc:Choice>
    <mc:Fallback xmlns="">
      <p:transition spd="slow" advTm="308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bldLvl="0" animBg="1"/>
      <p:bldP spid="171" grpId="0" bldLvl="0" animBg="1"/>
      <p:bldP spid="172" grpId="0" bldLvl="0" animBg="1"/>
      <p:bldP spid="143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36A44-BCBA-4DC3-A03C-46DDD3472C95}" type="slidenum">
              <a:rPr lang="en-US" altLang="zh-CN"/>
              <a:t>8</a:t>
            </a:fld>
            <a:endParaRPr lang="en-US" altLang="zh-CN"/>
          </a:p>
        </p:txBody>
      </p:sp>
      <p:sp>
        <p:nvSpPr>
          <p:cNvPr id="371734" name="Text Box 22"/>
          <p:cNvSpPr txBox="1">
            <a:spLocks noChangeArrowheads="1"/>
          </p:cNvSpPr>
          <p:nvPr/>
        </p:nvSpPr>
        <p:spPr bwMode="auto">
          <a:xfrm>
            <a:off x="179388" y="334293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补码的特性：</a:t>
            </a: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与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accent2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的关系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设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＝±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…x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，[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aseline="-20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…y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0</a:t>
            </a:r>
          </a:p>
        </p:txBody>
      </p:sp>
      <p:sp>
        <p:nvSpPr>
          <p:cNvPr id="33" name="Text Box 3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256665"/>
            <a:ext cx="8508365" cy="52424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① 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≥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时，[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-1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时，  </a:t>
            </a:r>
            <a:r>
              <a:rPr lang="zh-CN" altLang="en-US" sz="2200" b="1" spc="4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② 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时，[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n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-1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endParaRPr lang="zh-CN" altLang="en-US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  <a:p>
            <a:pPr marL="1973580" indent="-1973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→[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简便方法：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6—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若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+101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-101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，则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[X]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0101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[Y]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1011</a:t>
            </a:r>
          </a:p>
          <a:p>
            <a:pPr marL="1973580" indent="-197358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Y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简便方法：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7—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若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[X]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0101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[Y]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1011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，则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+101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-101</a:t>
            </a:r>
          </a:p>
        </p:txBody>
      </p:sp>
      <p:sp>
        <p:nvSpPr>
          <p:cNvPr id="35" name="Text Box 2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35896" y="1224280"/>
            <a:ext cx="1296000" cy="807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  <a:ea typeface="+mn-ea"/>
              </a:rPr>
              <a:t>0</a:t>
            </a:r>
            <a:r>
              <a:rPr lang="en-US" altLang="zh-CN" sz="22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x</a:t>
            </a:r>
            <a:r>
              <a:rPr lang="en-US" altLang="zh-CN" sz="2200" b="1" baseline="-20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n-2</a:t>
            </a:r>
            <a:r>
              <a:rPr lang="en-US" altLang="zh-CN" sz="22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…x</a:t>
            </a:r>
            <a:r>
              <a:rPr lang="en-US" altLang="zh-CN" sz="2200" b="1" baseline="-20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  <a:ea typeface="+mn-ea"/>
                <a:cs typeface="宋体" panose="02010600030101010101" pitchFamily="2" charset="-122"/>
              </a:rPr>
              <a:t>+</a:t>
            </a:r>
            <a:r>
              <a:rPr lang="en-US" altLang="zh-CN" sz="22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y</a:t>
            </a:r>
            <a:r>
              <a:rPr lang="en-US" altLang="zh-CN" sz="2200" b="1" baseline="-18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n-2</a:t>
            </a:r>
            <a:r>
              <a:rPr lang="en-US" altLang="zh-CN" sz="22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…y</a:t>
            </a:r>
            <a:r>
              <a:rPr lang="en-US" altLang="zh-CN" sz="2200" b="1" baseline="-18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0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3348300" y="2060848"/>
            <a:ext cx="5184140" cy="756285"/>
            <a:chOff x="4987" y="4247"/>
            <a:chExt cx="8164" cy="1191"/>
          </a:xfrm>
        </p:grpSpPr>
        <p:sp>
          <p:nvSpPr>
            <p:cNvPr id="37" name="Text Box 1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87" y="4247"/>
              <a:ext cx="8164" cy="1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53975" tIns="0" rIns="36195" bIns="10795">
              <a:no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  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+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[2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+(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2</a:t>
              </a:r>
              <a:r>
                <a:rPr lang="en-US" altLang="zh-CN" sz="2200" b="1" baseline="30000" dirty="0">
                  <a:solidFill>
                    <a:schemeClr val="tx1"/>
                  </a:solidFill>
                  <a:highlight>
                    <a:srgbClr val="CCFFFF"/>
                  </a:highlight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-1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)+1]+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 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10…0+(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1…1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)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+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+1</a:t>
              </a:r>
            </a:p>
          </p:txBody>
        </p:sp>
        <p:cxnSp>
          <p:nvCxnSpPr>
            <p:cNvPr id="38" name="直接连接符 37"/>
            <p:cNvCxnSpPr/>
            <p:nvPr>
              <p:custDataLst>
                <p:tags r:id="rId14"/>
              </p:custDataLst>
            </p:nvPr>
          </p:nvCxnSpPr>
          <p:spPr>
            <a:xfrm flipV="1">
              <a:off x="10996" y="4942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直接连接符 38"/>
            <p:cNvCxnSpPr/>
            <p:nvPr>
              <p:custDataLst>
                <p:tags r:id="rId15"/>
              </p:custDataLst>
            </p:nvPr>
          </p:nvCxnSpPr>
          <p:spPr>
            <a:xfrm flipV="1">
              <a:off x="12101" y="4942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" name="组合 39"/>
          <p:cNvGrpSpPr/>
          <p:nvPr/>
        </p:nvGrpSpPr>
        <p:grpSpPr>
          <a:xfrm>
            <a:off x="2915816" y="2780928"/>
            <a:ext cx="5652135" cy="756285"/>
            <a:chOff x="3314" y="5064"/>
            <a:chExt cx="8901" cy="1191"/>
          </a:xfrm>
        </p:grpSpPr>
        <p:sp>
          <p:nvSpPr>
            <p:cNvPr id="41" name="Text Box 2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314" y="5064"/>
              <a:ext cx="8901" cy="1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36195" tIns="0" rIns="36195" bIns="10795">
              <a:no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  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]</a:t>
              </a:r>
              <a:r>
                <a:rPr lang="zh-CN" altLang="en-US" sz="2200" b="1" baseline="-20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补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-2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-[2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+(2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-1)+1]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2</a:t>
              </a:r>
              <a:r>
                <a:rPr lang="en-US" altLang="zh-CN" sz="2200" b="1" baseline="30000" dirty="0">
                  <a:solidFill>
                    <a:schemeClr val="tx1"/>
                  </a:solidFill>
                  <a:highlight>
                    <a:srgbClr val="CCFFFF"/>
                  </a:highlight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-2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-[(1…1-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)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+1]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-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+1</a:t>
              </a:r>
            </a:p>
          </p:txBody>
        </p:sp>
        <p:cxnSp>
          <p:nvCxnSpPr>
            <p:cNvPr id="42" name="直接连接符 41"/>
            <p:cNvCxnSpPr/>
            <p:nvPr>
              <p:custDataLst>
                <p:tags r:id="rId11"/>
              </p:custDataLst>
            </p:nvPr>
          </p:nvCxnSpPr>
          <p:spPr>
            <a:xfrm flipV="1">
              <a:off x="10193" y="5747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直接连接符 42"/>
            <p:cNvCxnSpPr/>
            <p:nvPr>
              <p:custDataLst>
                <p:tags r:id="rId12"/>
              </p:custDataLst>
            </p:nvPr>
          </p:nvCxnSpPr>
          <p:spPr>
            <a:xfrm flipV="1">
              <a:off x="11291" y="5747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" name="组合 43"/>
          <p:cNvGrpSpPr/>
          <p:nvPr/>
        </p:nvGrpSpPr>
        <p:grpSpPr>
          <a:xfrm>
            <a:off x="3857699" y="3501008"/>
            <a:ext cx="4530725" cy="1043940"/>
            <a:chOff x="5715" y="5606"/>
            <a:chExt cx="7135" cy="1644"/>
          </a:xfrm>
        </p:grpSpPr>
        <p:sp>
          <p:nvSpPr>
            <p:cNvPr id="45" name="Text Box 2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715" y="5606"/>
              <a:ext cx="7135" cy="164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      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…x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 </a:t>
              </a:r>
            </a:p>
            <a:p>
              <a:pPr>
                <a:lnSpc>
                  <a:spcPct val="100000"/>
                </a:lnSpc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-2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＜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＜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sym typeface="+mn-ea"/>
                </a:rPr>
                <a:t>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+1</a:t>
              </a:r>
              <a:endPara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   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-2</a:t>
              </a:r>
              <a:r>
                <a:rPr lang="en-US" altLang="zh-CN" sz="2200" b="1" baseline="300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sym typeface="+mn-ea"/>
                </a:rPr>
                <a:t>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endParaRPr lang="en-US" altLang="zh-CN" sz="2200" b="1" baseline="-20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6" name="直接连接符 45"/>
            <p:cNvCxnSpPr/>
            <p:nvPr>
              <p:custDataLst>
                <p:tags r:id="rId8"/>
              </p:custDataLst>
            </p:nvPr>
          </p:nvCxnSpPr>
          <p:spPr>
            <a:xfrm flipV="1">
              <a:off x="10156" y="6391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直接连接符 46"/>
            <p:cNvCxnSpPr/>
            <p:nvPr>
              <p:custDataLst>
                <p:tags r:id="rId9"/>
              </p:custDataLst>
            </p:nvPr>
          </p:nvCxnSpPr>
          <p:spPr>
            <a:xfrm flipV="1">
              <a:off x="11262" y="6391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组合 47"/>
          <p:cNvGrpSpPr/>
          <p:nvPr/>
        </p:nvGrpSpPr>
        <p:grpSpPr>
          <a:xfrm>
            <a:off x="3563888" y="5013176"/>
            <a:ext cx="5054600" cy="1043940"/>
            <a:chOff x="5811" y="8179"/>
            <a:chExt cx="7960" cy="1644"/>
          </a:xfrm>
        </p:grpSpPr>
        <p:sp>
          <p:nvSpPr>
            <p:cNvPr id="49" name="Text Box 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811" y="8179"/>
              <a:ext cx="7960" cy="164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tIns="108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n-1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          </a:t>
              </a:r>
              <a:r>
                <a:rPr lang="en-US" altLang="zh-CN" sz="2200" b="1" spc="600" dirty="0">
                  <a:solidFill>
                    <a:schemeClr val="tx1"/>
                  </a:solidFill>
                  <a:uFillTx/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 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</a:rPr>
                <a:t>+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y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…y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；</a:t>
              </a:r>
            </a:p>
            <a:p>
              <a:pPr>
                <a:lnSpc>
                  <a:spcPct val="100000"/>
                </a:lnSpc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n-1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且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≠0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sym typeface="+mn-ea"/>
                </a:rPr>
                <a:t>-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+1</a:t>
              </a:r>
              <a:endPara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n-1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且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sym typeface="+mn-ea"/>
                </a:rPr>
                <a:t>-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2</a:t>
              </a:r>
              <a:r>
                <a:rPr lang="en-US" altLang="zh-CN" sz="2200" b="1" baseline="30000" dirty="0">
                  <a:solidFill>
                    <a:schemeClr val="tx1"/>
                  </a:solidFill>
                  <a:highlight>
                    <a:srgbClr val="FFFF00"/>
                  </a:highlight>
                  <a:uFillTx/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n-1</a:t>
              </a:r>
            </a:p>
          </p:txBody>
        </p:sp>
        <p:cxnSp>
          <p:nvCxnSpPr>
            <p:cNvPr id="50" name="直接连接符 49"/>
            <p:cNvCxnSpPr/>
            <p:nvPr>
              <p:custDataLst>
                <p:tags r:id="rId5"/>
              </p:custDataLst>
            </p:nvPr>
          </p:nvCxnSpPr>
          <p:spPr>
            <a:xfrm flipV="1">
              <a:off x="11214" y="8902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直接连接符 50"/>
            <p:cNvCxnSpPr/>
            <p:nvPr>
              <p:custDataLst>
                <p:tags r:id="rId6"/>
              </p:custDataLst>
            </p:nvPr>
          </p:nvCxnSpPr>
          <p:spPr>
            <a:xfrm flipV="1">
              <a:off x="12331" y="8902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" name="AutoShape 29">
            <a:extLst>
              <a:ext uri="{FF2B5EF4-FFF2-40B4-BE49-F238E27FC236}">
                <a16:creationId xmlns:a16="http://schemas.microsoft.com/office/drawing/2014/main" id="{388F477F-6226-4B5E-850D-A895E697BB5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436096" y="1772816"/>
            <a:ext cx="3528000" cy="252000"/>
          </a:xfrm>
          <a:prstGeom prst="borderCallout2">
            <a:avLst>
              <a:gd name="adj1" fmla="val 97765"/>
              <a:gd name="adj2" fmla="val 81479"/>
              <a:gd name="adj3" fmla="val 211652"/>
              <a:gd name="adj4" fmla="val 81069"/>
              <a:gd name="adj5" fmla="val 262078"/>
              <a:gd name="adj6" fmla="val 7693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不影响符号位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srgbClr val="FF3399"/>
                </a:solidFill>
                <a:cs typeface="宋体" panose="02010600030101010101" pitchFamily="2" charset="-122"/>
              </a:rPr>
              <a:t>不含</a:t>
            </a:r>
            <a:r>
              <a: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aseline="-20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n-1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aseline="-200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</a:rPr>
              <a:t>=10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</a:rPr>
              <a:t>0)</a:t>
            </a:r>
            <a:endParaRPr lang="zh-CN" altLang="en-US" sz="1600" dirty="0">
              <a:solidFill>
                <a:schemeClr val="tx1"/>
              </a:solidFill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71"/>
    </mc:Choice>
    <mc:Fallback xmlns="">
      <p:transition spd="slow" advTm="7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2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64019-76E6-4880-AE9D-0B5FE069B0DC}" type="slidenum">
              <a:rPr lang="en-US" altLang="zh-CN"/>
              <a:t>9</a:t>
            </a:fld>
            <a:endParaRPr lang="en-US" altLang="zh-CN"/>
          </a:p>
        </p:txBody>
      </p:sp>
      <p:sp>
        <p:nvSpPr>
          <p:cNvPr id="32" name="Text Box 42"/>
          <p:cNvSpPr txBox="1">
            <a:spLocks noChangeArrowheads="1"/>
          </p:cNvSpPr>
          <p:nvPr/>
        </p:nvSpPr>
        <p:spPr bwMode="auto">
          <a:xfrm>
            <a:off x="179512" y="4513421"/>
            <a:ext cx="8785101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>
                <a:solidFill>
                  <a:srgbClr val="FF3399"/>
                </a:solidFill>
              </a:rPr>
              <a:t>注意：</a:t>
            </a:r>
            <a:r>
              <a:rPr lang="zh-CN" altLang="en-US" sz="2200" dirty="0">
                <a:solidFill>
                  <a:schemeClr val="tx1"/>
                </a:solidFill>
              </a:rPr>
              <a:t>上述方法</a:t>
            </a:r>
            <a:r>
              <a:rPr lang="zh-CN" altLang="en-US" sz="2200" u="sng" dirty="0">
                <a:solidFill>
                  <a:srgbClr val="0070C0"/>
                </a:solidFill>
              </a:rPr>
              <a:t>也适用于</a:t>
            </a:r>
            <a:r>
              <a:rPr lang="zh-CN" altLang="en-US" sz="2200" dirty="0">
                <a:solidFill>
                  <a:schemeClr val="tx1"/>
                </a:solidFill>
              </a:rPr>
              <a:t>小数补码</a:t>
            </a:r>
          </a:p>
        </p:txBody>
      </p:sp>
      <p:sp>
        <p:nvSpPr>
          <p:cNvPr id="93527" name="Text Box 3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23850"/>
            <a:ext cx="8640767" cy="40974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[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与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[-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的关系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设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n-1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n-2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…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←减法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X-Y=X+(-Y)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≥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n-1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补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endParaRPr lang="zh-CN" altLang="en-US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n-1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2</a:t>
            </a:r>
            <a:r>
              <a:rPr lang="en-US" altLang="zh-CN" sz="2200" b="1" baseline="30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n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-|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|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         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-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]</a:t>
            </a:r>
            <a:r>
              <a:rPr lang="zh-CN" altLang="en-US" sz="2200" b="1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补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＝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→[-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200" b="1" baseline="-20000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简便方法：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 </a:t>
            </a: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8—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[X]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0101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[Y]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1011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，则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[-X]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1011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[-Y]</a:t>
            </a:r>
            <a:r>
              <a:rPr lang="zh-CN" altLang="en-US" sz="2000" b="1" baseline="-18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0101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456520" y="1196958"/>
            <a:ext cx="3528060" cy="360045"/>
            <a:chOff x="3685" y="8802"/>
            <a:chExt cx="5556" cy="567"/>
          </a:xfrm>
        </p:grpSpPr>
        <p:sp>
          <p:nvSpPr>
            <p:cNvPr id="26" name="Text Box 1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85" y="8802"/>
              <a:ext cx="5556" cy="56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53975" tIns="10795" rIns="36195" bIns="10795">
              <a:no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宋体" panose="02010600030101010101" pitchFamily="2" charset="-122"/>
                </a:rPr>
                <a:t>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</a:rPr>
                <a:t>+1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+1</a:t>
              </a:r>
            </a:p>
          </p:txBody>
        </p:sp>
        <p:cxnSp>
          <p:nvCxnSpPr>
            <p:cNvPr id="5" name="直接连接符 4"/>
            <p:cNvCxnSpPr/>
            <p:nvPr>
              <p:custDataLst>
                <p:tags r:id="rId12"/>
              </p:custDataLst>
            </p:nvPr>
          </p:nvCxnSpPr>
          <p:spPr>
            <a:xfrm flipV="1">
              <a:off x="4007" y="8986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>
              <p:custDataLst>
                <p:tags r:id="rId13"/>
              </p:custDataLst>
            </p:nvPr>
          </p:nvCxnSpPr>
          <p:spPr>
            <a:xfrm flipV="1">
              <a:off x="5119" y="8986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" name="直接连接符 2"/>
            <p:cNvCxnSpPr/>
            <p:nvPr>
              <p:custDataLst>
                <p:tags r:id="rId14"/>
              </p:custDataLst>
            </p:nvPr>
          </p:nvCxnSpPr>
          <p:spPr>
            <a:xfrm flipV="1">
              <a:off x="7040" y="8986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>
              <p:custDataLst>
                <p:tags r:id="rId15"/>
              </p:custDataLst>
            </p:nvPr>
          </p:nvCxnSpPr>
          <p:spPr>
            <a:xfrm flipV="1">
              <a:off x="8135" y="8986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16"/>
              </p:custDataLst>
            </p:nvPr>
          </p:nvCxnSpPr>
          <p:spPr>
            <a:xfrm flipV="1">
              <a:off x="6377" y="8986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AutoShape 29"/>
          <p:cNvSpPr/>
          <p:nvPr>
            <p:custDataLst>
              <p:tags r:id="rId2"/>
            </p:custDataLst>
          </p:nvPr>
        </p:nvSpPr>
        <p:spPr bwMode="auto">
          <a:xfrm>
            <a:off x="6948264" y="2744984"/>
            <a:ext cx="2052000" cy="540000"/>
          </a:xfrm>
          <a:prstGeom prst="borderCallout2">
            <a:avLst>
              <a:gd name="adj1" fmla="val 50605"/>
              <a:gd name="adj2" fmla="val 68"/>
              <a:gd name="adj3" fmla="val 50902"/>
              <a:gd name="adj4" fmla="val -17568"/>
              <a:gd name="adj5" fmla="val -7798"/>
              <a:gd name="adj6" fmla="val -2384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+1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不影响符号位</a:t>
            </a:r>
          </a:p>
          <a:p>
            <a:pPr algn="ctr"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srgbClr val="FF3399"/>
                </a:solidFill>
                <a:cs typeface="宋体" panose="02010600030101010101" pitchFamily="2" charset="-122"/>
              </a:rPr>
              <a:t>不含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n-1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=10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…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0)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404000" y="3140958"/>
            <a:ext cx="5039995" cy="791845"/>
            <a:chOff x="5837" y="5380"/>
            <a:chExt cx="7937" cy="1247"/>
          </a:xfrm>
        </p:grpSpPr>
        <p:sp>
          <p:nvSpPr>
            <p:cNvPr id="19" name="Text Box 2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837" y="5380"/>
              <a:ext cx="7937" cy="124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≠10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+1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；</a:t>
              </a:r>
            </a:p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10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时[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-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="1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无法表示</a:t>
              </a:r>
              <a:endParaRPr lang="zh-CN" altLang="en-US" sz="2200" b="1" baseline="-20000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+mn-ea"/>
                <a:ea typeface="+mn-ea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8"/>
              </p:custDataLst>
            </p:nvPr>
          </p:nvCxnSpPr>
          <p:spPr>
            <a:xfrm flipV="1">
              <a:off x="11251" y="5610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9"/>
              </p:custDataLst>
            </p:nvPr>
          </p:nvCxnSpPr>
          <p:spPr>
            <a:xfrm flipV="1">
              <a:off x="12368" y="5610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10"/>
              </p:custDataLst>
            </p:nvPr>
          </p:nvCxnSpPr>
          <p:spPr>
            <a:xfrm flipV="1">
              <a:off x="10599" y="5610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" name="组合 6"/>
          <p:cNvGrpSpPr/>
          <p:nvPr/>
        </p:nvGrpSpPr>
        <p:grpSpPr>
          <a:xfrm>
            <a:off x="3347864" y="1969753"/>
            <a:ext cx="4566285" cy="683895"/>
            <a:chOff x="3685" y="8802"/>
            <a:chExt cx="7191" cy="1077"/>
          </a:xfrm>
        </p:grpSpPr>
        <p:sp>
          <p:nvSpPr>
            <p:cNvPr id="10" name="Text Box 1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685" y="8802"/>
              <a:ext cx="7191" cy="10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53975" tIns="10795" rIns="36195" bIns="10795">
              <a:no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|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|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</a:rPr>
                <a:t>＝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2</a:t>
              </a:r>
              <a:r>
                <a:rPr lang="en-US" altLang="zh-CN" sz="2200" baseline="30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-[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]</a:t>
              </a:r>
              <a:r>
                <a:rPr lang="zh-CN" altLang="en-US" sz="2200" baseline="-25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补</a:t>
              </a:r>
              <a:r>
                <a:rPr lang="zh-CN" altLang="en-US" sz="22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1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1-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n-1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n-2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…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aseline="-18000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0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+1</a:t>
              </a:r>
              <a:endPara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            </a:t>
              </a:r>
              <a:r>
                <a:rPr lang="zh-CN" altLang="en-US" sz="2200" b="1" dirty="0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00FFFF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n-1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n-2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200" b="1" baseline="-2000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altLang="zh-CN" sz="2200" b="1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  <a:cs typeface="宋体" panose="02010600030101010101" pitchFamily="2" charset="-122"/>
                  <a:sym typeface="+mn-ea"/>
                </a:rPr>
                <a:t>+1</a:t>
              </a:r>
            </a:p>
          </p:txBody>
        </p:sp>
        <p:cxnSp>
          <p:nvCxnSpPr>
            <p:cNvPr id="17" name="直接连接符 16"/>
            <p:cNvCxnSpPr/>
            <p:nvPr>
              <p:custDataLst>
                <p:tags r:id="rId4"/>
              </p:custDataLst>
            </p:nvPr>
          </p:nvCxnSpPr>
          <p:spPr>
            <a:xfrm flipV="1">
              <a:off x="7569" y="9498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5"/>
              </p:custDataLst>
            </p:nvPr>
          </p:nvCxnSpPr>
          <p:spPr>
            <a:xfrm flipV="1">
              <a:off x="8674" y="9498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6"/>
              </p:custDataLst>
            </p:nvPr>
          </p:nvCxnSpPr>
          <p:spPr>
            <a:xfrm flipV="1">
              <a:off x="6888" y="9498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" name="AutoShape 611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BFE38C42-AEAB-4209-809B-083D5C03C3E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3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35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1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83568" y="5062825"/>
            <a:ext cx="8028000" cy="1193596"/>
            <a:chOff x="683568" y="4077360"/>
            <a:chExt cx="8028000" cy="1193596"/>
          </a:xfrm>
        </p:grpSpPr>
        <p:sp>
          <p:nvSpPr>
            <p:cNvPr id="13" name="Text Box 100"/>
            <p:cNvSpPr txBox="1">
              <a:spLocks noChangeArrowheads="1"/>
            </p:cNvSpPr>
            <p:nvPr/>
          </p:nvSpPr>
          <p:spPr bwMode="auto">
            <a:xfrm>
              <a:off x="683568" y="4077360"/>
              <a:ext cx="8028000" cy="11935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原码、补码编码规则： 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设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X=±x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…x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X≥0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[X]</a:t>
              </a:r>
              <a:r>
                <a:rPr lang="zh-CN" altLang="en-US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原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0x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…x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；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[X]</a:t>
              </a:r>
              <a:r>
                <a:rPr lang="zh-CN" altLang="en-US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补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0x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…x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 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，</a:t>
              </a:r>
              <a:r>
                <a:rPr lang="zh-CN" altLang="en-US" sz="2000" spc="3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[-X]</a:t>
              </a:r>
              <a:r>
                <a:rPr lang="zh-CN" altLang="en-US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补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…x</a:t>
              </a:r>
              <a:r>
                <a:rPr lang="en-US" altLang="zh-CN" sz="2000" baseline="-18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+1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</a:p>
            <a:p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X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＜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[X]</a:t>
              </a:r>
              <a:r>
                <a:rPr lang="zh-CN" altLang="en-US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原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1x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…x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；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[X]</a:t>
              </a:r>
              <a:r>
                <a:rPr lang="zh-CN" altLang="en-US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补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…x</a:t>
              </a:r>
              <a:r>
                <a:rPr lang="en-US" altLang="zh-CN" sz="2000" baseline="-18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highlight>
                    <a:srgbClr val="CCFFFF"/>
                  </a:highlight>
                  <a:latin typeface="+mn-ea"/>
                  <a:ea typeface="+mn-ea"/>
                </a:rPr>
                <a:t>+1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，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[-X]</a:t>
              </a:r>
              <a:r>
                <a:rPr lang="zh-CN" altLang="en-US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补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0x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…x</a:t>
              </a:r>
              <a:r>
                <a:rPr lang="en-US" altLang="zh-CN" sz="20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endParaRPr lang="en-US" altLang="zh-CN" sz="2000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" name="Line 101"/>
            <p:cNvSpPr>
              <a:spLocks noChangeShapeType="1"/>
            </p:cNvSpPr>
            <p:nvPr/>
          </p:nvSpPr>
          <p:spPr bwMode="auto">
            <a:xfrm>
              <a:off x="7488000" y="4619735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2"/>
            <p:cNvSpPr>
              <a:spLocks noChangeShapeType="1"/>
            </p:cNvSpPr>
            <p:nvPr/>
          </p:nvSpPr>
          <p:spPr bwMode="auto">
            <a:xfrm>
              <a:off x="8125200" y="4619735"/>
              <a:ext cx="1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01"/>
            <p:cNvSpPr>
              <a:spLocks noChangeShapeType="1"/>
            </p:cNvSpPr>
            <p:nvPr/>
          </p:nvSpPr>
          <p:spPr bwMode="auto">
            <a:xfrm>
              <a:off x="5058000" y="5001335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2"/>
            <p:cNvSpPr>
              <a:spLocks noChangeShapeType="1"/>
            </p:cNvSpPr>
            <p:nvPr/>
          </p:nvSpPr>
          <p:spPr bwMode="auto">
            <a:xfrm>
              <a:off x="5688000" y="5001335"/>
              <a:ext cx="1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179388" y="332656"/>
            <a:ext cx="8785100" cy="21306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练习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3—</a:t>
            </a:r>
          </a:p>
          <a:p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①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+01001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分别为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       A. 001001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010111  B. 101001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101001  C. 001001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001001 </a:t>
            </a:r>
          </a:p>
          <a:p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②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-01010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分别为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       A. 101010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101010  B. 101010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110110  C. 001010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010110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Text Box 53"/>
          <p:cNvSpPr txBox="1">
            <a:spLocks noChangeArrowheads="1"/>
          </p:cNvSpPr>
          <p:nvPr/>
        </p:nvSpPr>
        <p:spPr bwMode="auto">
          <a:xfrm>
            <a:off x="179388" y="2420888"/>
            <a:ext cx="8785099" cy="16689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③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001010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分别为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       A. +01010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110110  B. +10110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010110  C. +01010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001010</a:t>
            </a:r>
            <a:endParaRPr lang="en-US" altLang="zh-CN" sz="2000" dirty="0">
              <a:solidFill>
                <a:srgbClr val="990099"/>
              </a:solidFill>
              <a:latin typeface="+mn-ea"/>
              <a:ea typeface="+mn-ea"/>
            </a:endParaRPr>
          </a:p>
          <a:p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④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101110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分别为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       A. -01110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110010  B. -10010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110010  C. -01110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010010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Text Box 59"/>
          <p:cNvSpPr txBox="1">
            <a:spLocks noChangeArrowheads="1"/>
          </p:cNvSpPr>
          <p:nvPr/>
        </p:nvSpPr>
        <p:spPr bwMode="auto">
          <a:xfrm>
            <a:off x="179389" y="4005064"/>
            <a:ext cx="8785098" cy="9398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⑤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001110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+01110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[-X]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110010</a:t>
            </a:r>
          </a:p>
          <a:p>
            <a:pPr>
              <a:lnSpc>
                <a:spcPct val="135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101110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-10010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[-Y]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010010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3960288" y="4149080"/>
            <a:ext cx="3204000" cy="720048"/>
            <a:chOff x="3894732" y="4149080"/>
            <a:chExt cx="3204000" cy="720048"/>
          </a:xfrm>
        </p:grpSpPr>
        <p:sp>
          <p:nvSpPr>
            <p:cNvPr id="15" name="矩形 14"/>
            <p:cNvSpPr/>
            <p:nvPr/>
          </p:nvSpPr>
          <p:spPr bwMode="auto">
            <a:xfrm>
              <a:off x="3894732" y="4151521"/>
              <a:ext cx="936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3894732" y="4581128"/>
              <a:ext cx="936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6162732" y="4149080"/>
              <a:ext cx="936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6162732" y="4578687"/>
              <a:ext cx="936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DBB0-2797-4D1B-B867-62871D74DBD1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210970" name="Text Box 26"/>
          <p:cNvSpPr txBox="1">
            <a:spLocks noChangeArrowheads="1"/>
          </p:cNvSpPr>
          <p:nvPr/>
        </p:nvSpPr>
        <p:spPr bwMode="auto">
          <a:xfrm>
            <a:off x="179705" y="332740"/>
            <a:ext cx="8712835" cy="1195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移码表示法</a:t>
            </a:r>
          </a:p>
          <a:p>
            <a:pPr marL="1973580" indent="-1973580"/>
            <a:r>
              <a:rPr lang="zh-CN" altLang="en-US" sz="2200" dirty="0">
                <a:solidFill>
                  <a:schemeClr val="accent2"/>
                </a:solidFill>
              </a:rPr>
              <a:t>   编码目标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真值</a:t>
            </a:r>
            <a:r>
              <a:rPr lang="zh-CN" altLang="en-US" sz="2200" u="sng" dirty="0">
                <a:solidFill>
                  <a:schemeClr val="tx1"/>
                </a:solidFill>
              </a:rPr>
              <a:t>连续</a:t>
            </a:r>
            <a:r>
              <a:rPr lang="zh-CN" altLang="en-US" sz="2200" dirty="0">
                <a:solidFill>
                  <a:schemeClr val="tx1"/>
                </a:solidFill>
              </a:rPr>
              <a:t>时，机器数</a:t>
            </a:r>
            <a:r>
              <a:rPr lang="zh-CN" altLang="en-US" sz="2200" u="sng" dirty="0">
                <a:solidFill>
                  <a:schemeClr val="tx1"/>
                </a:solidFill>
              </a:rPr>
              <a:t>也连续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机器数＝真值＋偏移量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 marL="1973580" indent="-1973580"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                      </a:t>
            </a:r>
            <a:r>
              <a:rPr lang="en-US" altLang="zh-CN" sz="1800" b="0" dirty="0">
                <a:solidFill>
                  <a:schemeClr val="tx1"/>
                </a:solidFill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便于比较大小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符号与数值一起运算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210971" name="Text Box 27"/>
          <p:cNvSpPr txBox="1">
            <a:spLocks noChangeArrowheads="1"/>
          </p:cNvSpPr>
          <p:nvPr/>
        </p:nvSpPr>
        <p:spPr bwMode="auto">
          <a:xfrm>
            <a:off x="179388" y="2564904"/>
            <a:ext cx="8785225" cy="1963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整数移码定义：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±x</a:t>
            </a:r>
            <a:r>
              <a:rPr lang="en-US" altLang="zh-CN" sz="2200" spc="-1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…x</a:t>
            </a:r>
            <a:r>
              <a:rPr lang="en-US" altLang="zh-CN" sz="2200" spc="-1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，则模＝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200" spc="-100" baseline="300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、偏移量＝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200" spc="-100" baseline="30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</a:p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2</a:t>
            </a:r>
            <a:r>
              <a:rPr lang="en-US" altLang="zh-CN" sz="2200" baseline="30000" dirty="0">
                <a:solidFill>
                  <a:srgbClr val="990099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X (mod 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2</a:t>
            </a:r>
            <a:r>
              <a:rPr lang="en-US" altLang="zh-CN" sz="2200" baseline="30000" dirty="0">
                <a:solidFill>
                  <a:srgbClr val="990099"/>
                </a:solidFill>
                <a:latin typeface="+mn-ea"/>
                <a:ea typeface="+mn-ea"/>
              </a:rPr>
              <a:t>n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200" baseline="30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X   -2</a:t>
            </a:r>
            <a:r>
              <a:rPr lang="en-US" altLang="zh-CN" sz="2200" baseline="30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≤X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200" baseline="30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</a:p>
          <a:p>
            <a:pPr marL="1973580" indent="-1973580">
              <a:spcBef>
                <a:spcPts val="2400"/>
              </a:spcBef>
            </a:pPr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9—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[-111]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=0001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[-001]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=0111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[±000]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=1000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</a:p>
          <a:p>
            <a:pPr marL="1973580" indent="-1973580"/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        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[+001]</a:t>
            </a:r>
            <a:r>
              <a:rPr lang="zh-CN" altLang="en-US" sz="2000" baseline="-20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=1001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[+111]</a:t>
            </a:r>
            <a:r>
              <a:rPr lang="zh-CN" altLang="en-US" sz="2000" baseline="-20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=1111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[-1000]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=0000</a:t>
            </a:r>
            <a:endParaRPr lang="en-US" altLang="zh-CN" sz="2000" baseline="30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10983" name="Group 39"/>
          <p:cNvGrpSpPr/>
          <p:nvPr/>
        </p:nvGrpSpPr>
        <p:grpSpPr bwMode="auto">
          <a:xfrm>
            <a:off x="1476375" y="1556792"/>
            <a:ext cx="7056438" cy="971550"/>
            <a:chOff x="930" y="2251"/>
            <a:chExt cx="4445" cy="612"/>
          </a:xfrm>
        </p:grpSpPr>
        <p:sp>
          <p:nvSpPr>
            <p:cNvPr id="210974" name="Text Box 30"/>
            <p:cNvSpPr txBox="1">
              <a:spLocks noChangeArrowheads="1"/>
            </p:cNvSpPr>
            <p:nvPr/>
          </p:nvSpPr>
          <p:spPr bwMode="auto">
            <a:xfrm>
              <a:off x="930" y="2251"/>
              <a:ext cx="4445" cy="6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补码</a:t>
              </a:r>
              <a:r>
                <a:rPr lang="zh-CN" altLang="en-US" sz="1800" dirty="0">
                  <a:solidFill>
                    <a:srgbClr val="FF3399"/>
                  </a:solidFill>
                </a:rPr>
                <a:t>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移码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</a:t>
              </a:r>
            </a:p>
            <a:p>
              <a:pPr>
                <a:lnSpc>
                  <a:spcPct val="1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真值    </a:t>
              </a:r>
              <a:r>
                <a:rPr lang="en-US" altLang="zh-CN" sz="1800" dirty="0">
                  <a:solidFill>
                    <a:schemeClr val="tx1"/>
                  </a:solidFill>
                </a:rPr>
                <a:t>-2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  -(2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-1)    </a:t>
              </a:r>
              <a:r>
                <a:rPr lang="en-US" altLang="zh-CN" sz="18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-1     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       +1      +(2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-1)</a:t>
              </a:r>
            </a:p>
          </p:txBody>
        </p:sp>
        <p:grpSp>
          <p:nvGrpSpPr>
            <p:cNvPr id="210975" name="Group 31"/>
            <p:cNvGrpSpPr/>
            <p:nvPr/>
          </p:nvGrpSpPr>
          <p:grpSpPr bwMode="auto">
            <a:xfrm>
              <a:off x="1519" y="2614"/>
              <a:ext cx="3674" cy="90"/>
              <a:chOff x="1792" y="1481"/>
              <a:chExt cx="3674" cy="90"/>
            </a:xfrm>
          </p:grpSpPr>
          <p:sp>
            <p:nvSpPr>
              <p:cNvPr id="210976" name="Line 32"/>
              <p:cNvSpPr>
                <a:spLocks noChangeShapeType="1"/>
              </p:cNvSpPr>
              <p:nvPr/>
            </p:nvSpPr>
            <p:spPr bwMode="auto">
              <a:xfrm flipV="1">
                <a:off x="1792" y="1526"/>
                <a:ext cx="367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7" name="Line 33"/>
              <p:cNvSpPr>
                <a:spLocks noChangeShapeType="1"/>
              </p:cNvSpPr>
              <p:nvPr/>
            </p:nvSpPr>
            <p:spPr bwMode="auto">
              <a:xfrm flipV="1">
                <a:off x="2472" y="148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8" name="Line 34"/>
              <p:cNvSpPr>
                <a:spLocks noChangeShapeType="1"/>
              </p:cNvSpPr>
              <p:nvPr/>
            </p:nvSpPr>
            <p:spPr bwMode="auto">
              <a:xfrm flipV="1">
                <a:off x="5239" y="148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9" name="Line 35"/>
              <p:cNvSpPr>
                <a:spLocks noChangeShapeType="1"/>
              </p:cNvSpPr>
              <p:nvPr/>
            </p:nvSpPr>
            <p:spPr bwMode="auto">
              <a:xfrm flipV="1">
                <a:off x="3833" y="148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0" name="Line 36"/>
              <p:cNvSpPr>
                <a:spLocks noChangeShapeType="1"/>
              </p:cNvSpPr>
              <p:nvPr/>
            </p:nvSpPr>
            <p:spPr bwMode="auto">
              <a:xfrm flipV="1">
                <a:off x="3288" y="1481"/>
                <a:ext cx="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1" name="Line 37"/>
              <p:cNvSpPr>
                <a:spLocks noChangeShapeType="1"/>
              </p:cNvSpPr>
              <p:nvPr/>
            </p:nvSpPr>
            <p:spPr bwMode="auto">
              <a:xfrm flipV="1">
                <a:off x="4422" y="1481"/>
                <a:ext cx="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2" name="Line 38"/>
              <p:cNvSpPr>
                <a:spLocks noChangeShapeType="1"/>
              </p:cNvSpPr>
              <p:nvPr/>
            </p:nvSpPr>
            <p:spPr bwMode="auto">
              <a:xfrm flipV="1">
                <a:off x="1882" y="1481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0984" name="Text Box 40"/>
          <p:cNvSpPr txBox="1">
            <a:spLocks noChangeArrowheads="1"/>
          </p:cNvSpPr>
          <p:nvPr/>
        </p:nvSpPr>
        <p:spPr bwMode="auto">
          <a:xfrm>
            <a:off x="179263" y="4509120"/>
            <a:ext cx="8785225" cy="13442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698625" indent="-1698625"/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移码的特性：</a:t>
            </a:r>
          </a:p>
          <a:p>
            <a:pPr marL="1698625" indent="-1698625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①数轴上数的移码为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连续编码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，便于比较大小</a:t>
            </a:r>
          </a:p>
          <a:p>
            <a:pPr marL="1698625" indent="-1698625">
              <a:lnSpc>
                <a:spcPct val="135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②相对于补码，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移符号位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补符号位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移数值位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补数值位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Line 124"/>
          <p:cNvSpPr>
            <a:spLocks noChangeShapeType="1"/>
          </p:cNvSpPr>
          <p:nvPr/>
        </p:nvSpPr>
        <p:spPr bwMode="auto">
          <a:xfrm flipV="1">
            <a:off x="4283968" y="5454032"/>
            <a:ext cx="1116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1" name="AutoShape 29"/>
          <p:cNvSpPr/>
          <p:nvPr/>
        </p:nvSpPr>
        <p:spPr bwMode="auto">
          <a:xfrm>
            <a:off x="2843808" y="3465032"/>
            <a:ext cx="4644000" cy="252000"/>
          </a:xfrm>
          <a:prstGeom prst="borderCallout2">
            <a:avLst>
              <a:gd name="adj1" fmla="val 54480"/>
              <a:gd name="adj2" fmla="val 239"/>
              <a:gd name="adj3" fmla="val 54326"/>
              <a:gd name="adj4" fmla="val -5692"/>
              <a:gd name="adj5" fmla="val -46296"/>
              <a:gd name="adj6" fmla="val -9086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补码为</a:t>
            </a: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r>
              <a:rPr lang="en-US" altLang="zh-CN" sz="1600" baseline="30000" dirty="0">
                <a:solidFill>
                  <a:schemeClr val="tx1"/>
                </a:solidFill>
              </a:rPr>
              <a:t>n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负数的符号位</a:t>
            </a:r>
            <a:r>
              <a:rPr lang="en-US" altLang="zh-CN" sz="1600" dirty="0">
                <a:solidFill>
                  <a:schemeClr val="tx1"/>
                </a:solidFill>
              </a:rPr>
              <a:t>=1)</a:t>
            </a:r>
            <a:r>
              <a:rPr lang="zh-CN" altLang="en-US" sz="1600" dirty="0">
                <a:solidFill>
                  <a:schemeClr val="tx1"/>
                </a:solidFill>
              </a:rPr>
              <a:t>，移码正数的符号位</a:t>
            </a:r>
            <a:r>
              <a:rPr lang="en-US" altLang="zh-CN" sz="1600" dirty="0">
                <a:solidFill>
                  <a:schemeClr val="tx1"/>
                </a:solidFill>
              </a:rPr>
              <a:t>=1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0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0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0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84" grpId="0" bldLvl="0" animBg="1"/>
      <p:bldP spid="19" grpId="0" bldLvl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CF2B8-C638-4DDE-B232-B89798203936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28" name="Text Box 31"/>
          <p:cNvSpPr txBox="1">
            <a:spLocks noChangeArrowheads="1"/>
          </p:cNvSpPr>
          <p:nvPr/>
        </p:nvSpPr>
        <p:spPr bwMode="auto">
          <a:xfrm>
            <a:off x="179388" y="332656"/>
            <a:ext cx="8785225" cy="2695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1973580" indent="-1973580"/>
            <a:r>
              <a:rPr lang="en-US" altLang="zh-CN" sz="2200" b="0" dirty="0">
                <a:solidFill>
                  <a:srgbClr val="FF3399"/>
                </a:solidFill>
              </a:rPr>
              <a:t> ※</a:t>
            </a:r>
            <a:r>
              <a:rPr lang="zh-CN" altLang="en-US" sz="2200" dirty="0">
                <a:solidFill>
                  <a:srgbClr val="FF3399"/>
                </a:solidFill>
              </a:rPr>
              <a:t>机器数编码小结：</a:t>
            </a:r>
          </a:p>
          <a:p>
            <a:pPr marL="1973580" indent="-1973580">
              <a:spcBef>
                <a:spcPts val="200"/>
              </a:spcBef>
            </a:pP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①</a:t>
            </a:r>
            <a:r>
              <a:rPr lang="zh-CN" altLang="en-US" sz="2200" spc="-40" dirty="0">
                <a:solidFill>
                  <a:srgbClr val="0070C0"/>
                </a:solidFill>
                <a:latin typeface="+mn-ea"/>
                <a:ea typeface="+mn-ea"/>
              </a:rPr>
              <a:t>原码</a:t>
            </a:r>
            <a:r>
              <a:rPr lang="en-US" altLang="zh-CN" sz="2200" spc="-4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2200" spc="-40" dirty="0">
                <a:solidFill>
                  <a:srgbClr val="0070C0"/>
                </a:solidFill>
                <a:latin typeface="+mn-ea"/>
                <a:ea typeface="+mn-ea"/>
              </a:rPr>
              <a:t>补码</a:t>
            </a:r>
            <a:r>
              <a:rPr lang="en-US" altLang="zh-CN" sz="2200" spc="-4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2200" spc="-40" dirty="0">
                <a:solidFill>
                  <a:srgbClr val="0070C0"/>
                </a:solidFill>
                <a:latin typeface="+mn-ea"/>
                <a:ea typeface="+mn-ea"/>
              </a:rPr>
              <a:t>移码</a:t>
            </a:r>
            <a:r>
              <a:rPr lang="zh-CN" altLang="en-US" sz="2200" spc="-4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2200" u="sng" spc="-40" dirty="0">
                <a:solidFill>
                  <a:srgbClr val="990099"/>
                </a:solidFill>
                <a:latin typeface="+mn-ea"/>
                <a:ea typeface="+mn-ea"/>
              </a:rPr>
              <a:t>最高位</a:t>
            </a:r>
            <a:r>
              <a:rPr lang="zh-CN" altLang="en-US" sz="2200" spc="-40" dirty="0">
                <a:solidFill>
                  <a:schemeClr val="tx1"/>
                </a:solidFill>
                <a:latin typeface="+mn-ea"/>
                <a:ea typeface="+mn-ea"/>
              </a:rPr>
              <a:t>均为</a:t>
            </a:r>
            <a:r>
              <a:rPr lang="zh-CN" altLang="en-US" sz="2200" u="sng" spc="-40" dirty="0">
                <a:solidFill>
                  <a:schemeClr val="tx1"/>
                </a:solidFill>
                <a:latin typeface="+mn-ea"/>
                <a:ea typeface="+mn-ea"/>
              </a:rPr>
              <a:t>符号位</a:t>
            </a:r>
            <a:r>
              <a:rPr lang="zh-CN" altLang="en-US" sz="2200" spc="-4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zh-CN" altLang="en-US" sz="2200" u="sng" spc="-40" dirty="0">
                <a:solidFill>
                  <a:srgbClr val="990099"/>
                </a:solidFill>
                <a:latin typeface="+mn-ea"/>
                <a:ea typeface="+mn-ea"/>
              </a:rPr>
              <a:t>其余位</a:t>
            </a:r>
            <a:r>
              <a:rPr lang="zh-CN" altLang="en-US" sz="2200" spc="-40" dirty="0">
                <a:solidFill>
                  <a:schemeClr val="tx1"/>
                </a:solidFill>
                <a:latin typeface="+mn-ea"/>
                <a:ea typeface="+mn-ea"/>
              </a:rPr>
              <a:t>均为</a:t>
            </a:r>
            <a:r>
              <a:rPr lang="zh-CN" altLang="en-US" sz="2200" u="sng" spc="-40" dirty="0">
                <a:solidFill>
                  <a:schemeClr val="tx1"/>
                </a:solidFill>
                <a:latin typeface="+mn-ea"/>
                <a:ea typeface="+mn-ea"/>
              </a:rPr>
              <a:t>数值位</a:t>
            </a:r>
            <a:endParaRPr lang="en-US" altLang="zh-CN" sz="2200" u="sng" spc="-4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②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符号位中，</a:t>
            </a:r>
            <a:r>
              <a:rPr lang="zh-CN" altLang="en-US" sz="2200" spc="-40" dirty="0">
                <a:solidFill>
                  <a:srgbClr val="0070C0"/>
                </a:solidFill>
                <a:latin typeface="+mn-ea"/>
                <a:ea typeface="+mn-ea"/>
              </a:rPr>
              <a:t>原码</a:t>
            </a:r>
            <a:r>
              <a:rPr lang="en-US" altLang="zh-CN" sz="2200" spc="-4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2200" spc="-40" dirty="0">
                <a:solidFill>
                  <a:srgbClr val="0070C0"/>
                </a:solidFill>
                <a:latin typeface="+mn-ea"/>
                <a:ea typeface="+mn-ea"/>
              </a:rPr>
              <a:t>补码</a:t>
            </a:r>
            <a:r>
              <a:rPr lang="zh-CN" altLang="en-US" sz="2200" spc="-40" dirty="0">
                <a:solidFill>
                  <a:schemeClr val="tx1"/>
                </a:solidFill>
                <a:latin typeface="+mn-ea"/>
                <a:ea typeface="+mn-ea"/>
              </a:rPr>
              <a:t>用</a:t>
            </a:r>
            <a:r>
              <a:rPr lang="en-US" altLang="zh-CN" sz="2200" u="sng" spc="-40" dirty="0">
                <a:solidFill>
                  <a:srgbClr val="990099"/>
                </a:solidFill>
                <a:latin typeface="+mn-ea"/>
                <a:ea typeface="+mn-ea"/>
              </a:rPr>
              <a:t>0/1</a:t>
            </a:r>
            <a:r>
              <a:rPr lang="zh-CN" altLang="en-US" sz="2200" spc="-40" dirty="0">
                <a:solidFill>
                  <a:schemeClr val="tx1"/>
                </a:solidFill>
                <a:latin typeface="+mn-ea"/>
                <a:ea typeface="+mn-ea"/>
              </a:rPr>
              <a:t>表示</a:t>
            </a:r>
            <a:r>
              <a:rPr lang="zh-CN" altLang="en-US" sz="2200" u="sng" spc="-40" dirty="0">
                <a:solidFill>
                  <a:schemeClr val="tx1"/>
                </a:solidFill>
                <a:latin typeface="+mn-ea"/>
                <a:ea typeface="+mn-ea"/>
              </a:rPr>
              <a:t>正</a:t>
            </a:r>
            <a:r>
              <a:rPr lang="en-US" altLang="zh-CN" sz="2200" u="sng" spc="-4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u="sng" spc="-40" dirty="0">
                <a:solidFill>
                  <a:schemeClr val="tx1"/>
                </a:solidFill>
                <a:latin typeface="+mn-ea"/>
                <a:ea typeface="+mn-ea"/>
              </a:rPr>
              <a:t>负</a:t>
            </a:r>
            <a:r>
              <a:rPr lang="zh-CN" altLang="en-US" sz="2200" spc="-4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spc="-40" dirty="0">
                <a:solidFill>
                  <a:srgbClr val="0070C0"/>
                </a:solidFill>
                <a:latin typeface="+mn-ea"/>
                <a:ea typeface="+mn-ea"/>
              </a:rPr>
              <a:t>移码</a:t>
            </a:r>
            <a:r>
              <a:rPr lang="zh-CN" altLang="en-US" sz="2200" u="sng" spc="-40" dirty="0">
                <a:solidFill>
                  <a:srgbClr val="990099"/>
                </a:solidFill>
                <a:latin typeface="+mn-ea"/>
                <a:ea typeface="+mn-ea"/>
              </a:rPr>
              <a:t>反之</a:t>
            </a:r>
            <a:endParaRPr lang="en-US" altLang="zh-CN" sz="2200" u="sng" dirty="0">
              <a:solidFill>
                <a:srgbClr val="990099"/>
              </a:solidFill>
              <a:latin typeface="+mn-ea"/>
              <a:ea typeface="+mn-ea"/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③数值位中，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≥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时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dirty="0">
                <a:solidFill>
                  <a:srgbClr val="0070C0"/>
                </a:solidFill>
                <a:latin typeface="+mn-ea"/>
                <a:ea typeface="+mn-ea"/>
              </a:rPr>
              <a:t>原码</a:t>
            </a:r>
            <a:r>
              <a:rPr lang="en-US" altLang="zh-CN" sz="220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latin typeface="+mn-ea"/>
                <a:ea typeface="+mn-ea"/>
              </a:rPr>
              <a:t>补码</a:t>
            </a:r>
            <a:r>
              <a:rPr lang="en-US" altLang="zh-CN" sz="220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latin typeface="+mn-ea"/>
                <a:ea typeface="+mn-ea"/>
              </a:rPr>
              <a:t>移码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|X|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           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＜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时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dirty="0">
                <a:solidFill>
                  <a:srgbClr val="0070C0"/>
                </a:solidFill>
                <a:latin typeface="+mn-ea"/>
                <a:ea typeface="+mn-ea"/>
              </a:rPr>
              <a:t>原码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|X|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dirty="0">
                <a:solidFill>
                  <a:srgbClr val="0070C0"/>
                </a:solidFill>
                <a:latin typeface="+mn-ea"/>
                <a:ea typeface="+mn-ea"/>
              </a:rPr>
              <a:t>补码</a:t>
            </a:r>
            <a:r>
              <a:rPr lang="en-US" altLang="zh-CN" sz="2200" dirty="0">
                <a:solidFill>
                  <a:srgbClr val="0070C0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latin typeface="+mn-ea"/>
                <a:ea typeface="+mn-ea"/>
              </a:rPr>
              <a:t>移码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|X|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n-US" altLang="zh-CN" sz="2200" baseline="-160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</a:rPr>
              <a:t>    ④</a:t>
            </a:r>
            <a:r>
              <a:rPr lang="zh-CN" altLang="en-US" sz="2200" dirty="0">
                <a:solidFill>
                  <a:srgbClr val="0070C0"/>
                </a:solidFill>
              </a:rPr>
              <a:t>补码、移码</a:t>
            </a:r>
            <a:r>
              <a:rPr lang="zh-CN" altLang="en-US" sz="2200" dirty="0">
                <a:solidFill>
                  <a:schemeClr val="tx1"/>
                </a:solidFill>
              </a:rPr>
              <a:t>比原码</a:t>
            </a:r>
            <a:r>
              <a:rPr lang="zh-CN" altLang="en-US" sz="2200" u="sng" dirty="0">
                <a:solidFill>
                  <a:srgbClr val="990099"/>
                </a:solidFill>
              </a:rPr>
              <a:t>多表示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个负数</a:t>
            </a:r>
            <a:endParaRPr lang="en-US" altLang="zh-CN" sz="2200" dirty="0">
              <a:solidFill>
                <a:srgbClr val="990099"/>
              </a:solidFill>
            </a:endParaRPr>
          </a:p>
        </p:txBody>
      </p:sp>
      <p:sp>
        <p:nvSpPr>
          <p:cNvPr id="29" name="Line 32"/>
          <p:cNvSpPr>
            <a:spLocks noChangeShapeType="1"/>
          </p:cNvSpPr>
          <p:nvPr/>
        </p:nvSpPr>
        <p:spPr bwMode="auto">
          <a:xfrm flipV="1">
            <a:off x="6804000" y="2106000"/>
            <a:ext cx="324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260797" y="2996952"/>
            <a:ext cx="6840000" cy="1692000"/>
            <a:chOff x="1043608" y="3537000"/>
            <a:chExt cx="6840000" cy="1692000"/>
          </a:xfrm>
        </p:grpSpPr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1043608" y="3537000"/>
              <a:ext cx="6840000" cy="16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原码    </a:t>
              </a:r>
              <a:r>
                <a:rPr lang="zh-CN" altLang="en-US" sz="1800" dirty="0">
                  <a:solidFill>
                    <a:srgbClr val="990099"/>
                  </a:solidFill>
                </a:rPr>
                <a:t>无</a:t>
              </a:r>
              <a:r>
                <a:rPr lang="zh-CN" altLang="en-US" sz="1800" dirty="0">
                  <a:solidFill>
                    <a:srgbClr val="FF3399"/>
                  </a:solidFill>
                </a:rPr>
                <a:t>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</a:t>
              </a:r>
            </a:p>
            <a:p>
              <a:pPr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                          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补码</a:t>
              </a:r>
              <a:r>
                <a:rPr lang="zh-CN" altLang="en-US" sz="1800" dirty="0"/>
                <a:t> </a:t>
              </a:r>
              <a:r>
                <a:rPr lang="zh-CN" altLang="en-US" sz="1800" dirty="0">
                  <a:solidFill>
                    <a:srgbClr val="FF3399"/>
                  </a:solidFill>
                </a:rPr>
                <a:t>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移码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1800" dirty="0">
                  <a:solidFill>
                    <a:srgbClr val="FF33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1…11</a:t>
              </a:r>
            </a:p>
            <a:p>
              <a:pPr>
                <a:lnSpc>
                  <a:spcPct val="100000"/>
                </a:lnSpc>
                <a:spcBef>
                  <a:spcPts val="1200"/>
                </a:spcBef>
              </a:pPr>
              <a:r>
                <a:rPr lang="zh-CN" altLang="en-US" sz="1800" dirty="0">
                  <a:solidFill>
                    <a:schemeClr val="tx1"/>
                  </a:solidFill>
                </a:rPr>
                <a:t>真值   </a:t>
              </a:r>
              <a:r>
                <a:rPr lang="en-US" altLang="zh-CN" sz="1800" dirty="0">
                  <a:solidFill>
                    <a:schemeClr val="tx1"/>
                  </a:solidFill>
                </a:rPr>
                <a:t>-2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  -(2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-1)    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-1     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     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+1      +(2</a:t>
              </a:r>
              <a:r>
                <a:rPr lang="en-US" altLang="zh-CN" sz="18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</a:rPr>
                <a:t>-1)</a:t>
              </a:r>
            </a:p>
          </p:txBody>
        </p:sp>
        <p:grpSp>
          <p:nvGrpSpPr>
            <p:cNvPr id="34" name="Group 34"/>
            <p:cNvGrpSpPr/>
            <p:nvPr/>
          </p:nvGrpSpPr>
          <p:grpSpPr bwMode="auto">
            <a:xfrm>
              <a:off x="1907207" y="4652675"/>
              <a:ext cx="5903913" cy="142875"/>
              <a:chOff x="1428" y="2613"/>
              <a:chExt cx="3719" cy="90"/>
            </a:xfrm>
          </p:grpSpPr>
          <p:sp>
            <p:nvSpPr>
              <p:cNvPr id="35" name="Line 35"/>
              <p:cNvSpPr>
                <a:spLocks noChangeShapeType="1"/>
              </p:cNvSpPr>
              <p:nvPr/>
            </p:nvSpPr>
            <p:spPr bwMode="auto">
              <a:xfrm>
                <a:off x="1428" y="2659"/>
                <a:ext cx="371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36"/>
              <p:cNvSpPr>
                <a:spLocks noChangeShapeType="1"/>
              </p:cNvSpPr>
              <p:nvPr/>
            </p:nvSpPr>
            <p:spPr bwMode="auto">
              <a:xfrm flipV="1">
                <a:off x="2109" y="2613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7"/>
              <p:cNvSpPr>
                <a:spLocks noChangeShapeType="1"/>
              </p:cNvSpPr>
              <p:nvPr/>
            </p:nvSpPr>
            <p:spPr bwMode="auto">
              <a:xfrm flipV="1">
                <a:off x="4921" y="2613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38"/>
              <p:cNvSpPr>
                <a:spLocks noChangeShapeType="1"/>
              </p:cNvSpPr>
              <p:nvPr/>
            </p:nvSpPr>
            <p:spPr bwMode="auto">
              <a:xfrm flipV="1">
                <a:off x="3515" y="2613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39"/>
              <p:cNvSpPr>
                <a:spLocks noChangeShapeType="1"/>
              </p:cNvSpPr>
              <p:nvPr/>
            </p:nvSpPr>
            <p:spPr bwMode="auto">
              <a:xfrm flipV="1">
                <a:off x="2925" y="2613"/>
                <a:ext cx="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40"/>
              <p:cNvSpPr>
                <a:spLocks noChangeShapeType="1"/>
              </p:cNvSpPr>
              <p:nvPr/>
            </p:nvSpPr>
            <p:spPr bwMode="auto">
              <a:xfrm flipV="1">
                <a:off x="4105" y="2613"/>
                <a:ext cx="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41"/>
              <p:cNvSpPr>
                <a:spLocks noChangeShapeType="1"/>
              </p:cNvSpPr>
              <p:nvPr/>
            </p:nvSpPr>
            <p:spPr bwMode="auto">
              <a:xfrm flipV="1">
                <a:off x="1564" y="2613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179388" y="4581128"/>
            <a:ext cx="8857107" cy="8319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  <a:latin typeface="+mn-ea"/>
                <a:ea typeface="+mn-ea"/>
              </a:rPr>
              <a:t>测试</a:t>
            </a:r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+01001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时，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001001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001001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[X]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101001</a:t>
            </a:r>
          </a:p>
          <a:p>
            <a:pPr>
              <a:lnSpc>
                <a:spcPct val="135000"/>
              </a:lnSpc>
            </a:pPr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         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-01010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时，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101010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110110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[Y]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移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010110             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95936" y="4653136"/>
            <a:ext cx="4500064" cy="694110"/>
            <a:chOff x="4226276" y="5445224"/>
            <a:chExt cx="4500064" cy="694110"/>
          </a:xfrm>
        </p:grpSpPr>
        <p:sp>
          <p:nvSpPr>
            <p:cNvPr id="44" name="矩形 43"/>
            <p:cNvSpPr/>
            <p:nvPr/>
          </p:nvSpPr>
          <p:spPr bwMode="auto">
            <a:xfrm>
              <a:off x="4226276" y="5445224"/>
              <a:ext cx="828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4226276" y="5851334"/>
              <a:ext cx="828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6098340" y="5445224"/>
              <a:ext cx="792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6098340" y="5851334"/>
              <a:ext cx="792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7934340" y="5445224"/>
              <a:ext cx="792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7934340" y="5851334"/>
              <a:ext cx="792000" cy="288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4" name="AutoShape 4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089525" cy="4161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  <a:latin typeface="+mn-ea"/>
              </a:rPr>
              <a:t>3</a:t>
            </a:r>
            <a:r>
              <a:rPr lang="zh-CN" altLang="en-US" dirty="0">
                <a:solidFill>
                  <a:srgbClr val="FF3399"/>
                </a:solidFill>
                <a:latin typeface="+mn-ea"/>
              </a:rPr>
              <a:t>、十进制数编码</a:t>
            </a: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*编码方式：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sym typeface="+mn-ea"/>
              </a:rPr>
              <a:t>*</a:t>
            </a:r>
            <a:r>
              <a:rPr lang="en-US" altLang="zh-CN" sz="2200" dirty="0">
                <a:solidFill>
                  <a:srgbClr val="C00000"/>
                </a:solidFill>
                <a:sym typeface="+mn-ea"/>
              </a:rPr>
              <a:t>BCD</a:t>
            </a:r>
            <a:r>
              <a:rPr lang="zh-CN" altLang="en-US" sz="2200" dirty="0">
                <a:solidFill>
                  <a:srgbClr val="C00000"/>
                </a:solidFill>
                <a:sym typeface="+mn-ea"/>
              </a:rPr>
              <a:t>码的种类：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dirty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dirty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dirty="0">
              <a:solidFill>
                <a:srgbClr val="C00000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  <a:sym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sym typeface="+mn-ea"/>
              </a:rPr>
              <a:t>十进制数的表示：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常仅整数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  <a:sym typeface="+mn-ea"/>
              </a:rPr>
              <a:t>    格式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  <a:sym typeface="+mn-ea"/>
              </a:rPr>
              <a:t>    编码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—</a:t>
            </a:r>
          </a:p>
        </p:txBody>
      </p:sp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331CE-E610-4A6A-8910-72D302E3434F}" type="slidenum">
              <a:rPr lang="en-US" altLang="zh-CN"/>
              <a:t>13</a:t>
            </a:fld>
            <a:endParaRPr lang="en-US" altLang="zh-CN" dirty="0"/>
          </a:p>
        </p:txBody>
      </p:sp>
      <p:sp>
        <p:nvSpPr>
          <p:cNvPr id="375813" name="Text Box 5"/>
          <p:cNvSpPr txBox="1">
            <a:spLocks noChangeArrowheads="1"/>
          </p:cNvSpPr>
          <p:nvPr/>
        </p:nvSpPr>
        <p:spPr bwMode="auto">
          <a:xfrm>
            <a:off x="1043608" y="812287"/>
            <a:ext cx="7957548" cy="44889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</a:rPr>
              <a:t>      BCD</a:t>
            </a:r>
            <a:r>
              <a:rPr lang="zh-CN" altLang="en-US" sz="2200" dirty="0">
                <a:solidFill>
                  <a:schemeClr val="tx1"/>
                </a:solidFill>
              </a:rPr>
              <a:t>码，即用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位二进制编码表示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位十进制数位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600" b="0" dirty="0">
                <a:solidFill>
                  <a:schemeClr val="tx1"/>
                </a:solidFill>
              </a:rPr>
              <a:t>          └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Binary Coded Decimal</a:t>
            </a:r>
            <a:endParaRPr lang="en-US" altLang="zh-CN" sz="1600" dirty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         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分为</a:t>
            </a:r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有权码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(8421/5211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等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和</a:t>
            </a:r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无权码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格雷码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余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码等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chemeClr val="tx1"/>
                </a:solidFill>
              </a:rPr>
              <a:t>                   └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rgbClr val="990099"/>
                </a:solidFill>
                <a:sym typeface="+mn-ea"/>
              </a:rPr>
              <a:t>缺省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为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8421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码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！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特殊声明除外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endParaRPr lang="en-US" altLang="zh-CN" sz="22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                ，长度＝</a:t>
            </a:r>
            <a:r>
              <a:rPr lang="en-US" altLang="zh-CN" sz="22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×存储单元长度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数值位为</a:t>
            </a:r>
            <a:r>
              <a:rPr lang="en-US" altLang="zh-CN" sz="2200" u="sng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BCD</a:t>
            </a:r>
            <a:r>
              <a:rPr lang="zh-CN" altLang="en-US" sz="2200" u="sng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码</a:t>
            </a:r>
            <a:r>
              <a:rPr lang="zh-CN" altLang="en-US" sz="22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，符号位为</a:t>
            </a:r>
            <a:r>
              <a:rPr lang="zh-CN" altLang="en-US" sz="2200" u="sng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特殊编码</a:t>
            </a:r>
            <a:r>
              <a:rPr lang="en-US" altLang="zh-CN" sz="16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6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+/-/</a:t>
            </a:r>
            <a:r>
              <a:rPr lang="zh-CN" altLang="en-US" sz="16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无为</a:t>
            </a:r>
            <a:r>
              <a:rPr lang="en-US" altLang="zh-CN" sz="1600" dirty="0">
                <a:solidFill>
                  <a:schemeClr val="tx1"/>
                </a:solidFill>
                <a:uFillTx/>
                <a:cs typeface="宋体" panose="02010600030101010101" pitchFamily="2" charset="-122"/>
                <a:sym typeface="+mn-ea"/>
              </a:rPr>
              <a:t>1100/1101/1111)</a:t>
            </a:r>
          </a:p>
          <a:p>
            <a:pPr marL="1973580" indent="-1973580">
              <a:spcBef>
                <a:spcPts val="30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en-US" altLang="zh-CN" sz="2000" baseline="-25000" dirty="0">
                <a:solidFill>
                  <a:srgbClr val="990099"/>
                </a:solidFill>
              </a:rPr>
              <a:t> </a:t>
            </a:r>
            <a:r>
              <a:rPr lang="en-US" altLang="zh-CN" sz="2000" spc="-50" dirty="0"/>
              <a:t>+</a:t>
            </a:r>
            <a:r>
              <a:rPr lang="en-US" altLang="zh-CN" sz="2000" spc="-50" dirty="0">
                <a:solidFill>
                  <a:schemeClr val="tx1"/>
                </a:solidFill>
              </a:rPr>
              <a:t>427</a:t>
            </a:r>
            <a:r>
              <a:rPr lang="zh-CN" altLang="en-US" sz="2000" spc="-50" dirty="0">
                <a:solidFill>
                  <a:schemeClr val="tx1"/>
                </a:solidFill>
              </a:rPr>
              <a:t>为</a:t>
            </a:r>
            <a:r>
              <a:rPr lang="en-US" altLang="zh-CN" sz="2000" spc="-50" dirty="0">
                <a:solidFill>
                  <a:schemeClr val="tx1"/>
                </a:solidFill>
              </a:rPr>
              <a:t>0100 0010 0111 </a:t>
            </a:r>
            <a:r>
              <a:rPr lang="en-US" altLang="zh-CN" sz="2000" spc="-50" dirty="0"/>
              <a:t>1100</a:t>
            </a:r>
            <a:r>
              <a:rPr lang="zh-CN" altLang="en-US" sz="2000" spc="-50" dirty="0">
                <a:solidFill>
                  <a:schemeClr val="tx1"/>
                </a:solidFill>
              </a:rPr>
              <a:t>，</a:t>
            </a:r>
            <a:r>
              <a:rPr lang="en-US" altLang="zh-CN" sz="2000" spc="-50" dirty="0"/>
              <a:t>-</a:t>
            </a:r>
            <a:r>
              <a:rPr lang="en-US" altLang="zh-CN" sz="2000" spc="-50" dirty="0">
                <a:solidFill>
                  <a:schemeClr val="tx1"/>
                </a:solidFill>
              </a:rPr>
              <a:t>23</a:t>
            </a:r>
            <a:r>
              <a:rPr lang="zh-CN" altLang="en-US" sz="2000" spc="-50" dirty="0">
                <a:solidFill>
                  <a:schemeClr val="tx1"/>
                </a:solidFill>
              </a:rPr>
              <a:t>为</a:t>
            </a:r>
            <a:r>
              <a:rPr lang="en-US" altLang="zh-CN" sz="2000" spc="-50" dirty="0">
                <a:solidFill>
                  <a:srgbClr val="0070C0"/>
                </a:solidFill>
              </a:rPr>
              <a:t>0000</a:t>
            </a:r>
            <a:r>
              <a:rPr lang="en-US" altLang="zh-CN" sz="2000" spc="-50" dirty="0">
                <a:solidFill>
                  <a:schemeClr val="tx1"/>
                </a:solidFill>
              </a:rPr>
              <a:t> 0010 0011 </a:t>
            </a:r>
            <a:r>
              <a:rPr lang="en-US" altLang="zh-CN" sz="2000" spc="-50" dirty="0"/>
              <a:t>1101</a:t>
            </a:r>
            <a:r>
              <a:rPr lang="zh-CN" altLang="en-US" sz="2000" spc="-50" dirty="0">
                <a:solidFill>
                  <a:schemeClr val="tx1"/>
                </a:solidFill>
              </a:rPr>
              <a:t>，</a:t>
            </a:r>
            <a:endParaRPr lang="en-US" altLang="zh-CN" sz="2000" spc="-50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sz="2000" spc="-50" dirty="0"/>
              <a:t>           </a:t>
            </a:r>
            <a:r>
              <a:rPr lang="en-US" altLang="zh-CN" sz="2000" spc="-50" dirty="0">
                <a:solidFill>
                  <a:schemeClr val="tx1"/>
                </a:solidFill>
              </a:rPr>
              <a:t>426</a:t>
            </a:r>
            <a:r>
              <a:rPr lang="zh-CN" altLang="en-US" sz="2000" spc="-50" dirty="0">
                <a:solidFill>
                  <a:schemeClr val="tx1"/>
                </a:solidFill>
              </a:rPr>
              <a:t>为</a:t>
            </a:r>
            <a:r>
              <a:rPr lang="en-US" altLang="zh-CN" sz="2000" spc="-50" dirty="0">
                <a:solidFill>
                  <a:schemeClr val="tx1"/>
                </a:solidFill>
              </a:rPr>
              <a:t>0100 0010 0110 </a:t>
            </a:r>
            <a:r>
              <a:rPr lang="en-US" altLang="zh-CN" sz="2000" spc="-50" dirty="0"/>
              <a:t>1111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376045" name="Group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528894"/>
              </p:ext>
            </p:extLst>
          </p:nvPr>
        </p:nvGraphicFramePr>
        <p:xfrm>
          <a:off x="1043608" y="2325216"/>
          <a:ext cx="7343855" cy="805464"/>
        </p:xfrm>
        <a:graphic>
          <a:graphicData uri="http://schemas.openxmlformats.org/drawingml/2006/table">
            <a:tbl>
              <a:tblPr/>
              <a:tblGrid>
                <a:gridCol w="1099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42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42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42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42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2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78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0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8421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0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余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763688" y="3682800"/>
            <a:ext cx="2807845" cy="288635"/>
            <a:chOff x="4762" y="8392"/>
            <a:chExt cx="4422" cy="455"/>
          </a:xfrm>
        </p:grpSpPr>
        <p:sp>
          <p:nvSpPr>
            <p:cNvPr id="127074" name="Text Box 9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762" y="8392"/>
              <a:ext cx="1247" cy="45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数值位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="1" i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7075" name="Text Box 9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937" y="8392"/>
              <a:ext cx="1247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符号位</a:t>
              </a:r>
              <a:endParaRPr lang="zh-CN" altLang="en-US" sz="1800" b="1" i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7076" name="Text Box 10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690" y="8392"/>
              <a:ext cx="1247" cy="45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数值位</a:t>
              </a:r>
              <a:endParaRPr lang="zh-CN" altLang="en-US" sz="1800" b="1" i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" name="Text Box 9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009" y="8393"/>
              <a:ext cx="680" cy="45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  <a:endParaRPr lang="en-US" altLang="zh-CN" sz="1800" b="1" i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7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58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758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758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758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677F-3574-4D6E-BFE9-362E72D7945A}" type="slidenum">
              <a:rPr lang="en-US" altLang="zh-CN"/>
              <a:t>14</a:t>
            </a:fld>
            <a:endParaRPr lang="en-US" altLang="zh-CN"/>
          </a:p>
        </p:txBody>
      </p:sp>
      <p:sp>
        <p:nvSpPr>
          <p:cNvPr id="377053" name="Text Box 221"/>
          <p:cNvSpPr txBox="1">
            <a:spLocks noChangeArrowheads="1"/>
          </p:cNvSpPr>
          <p:nvPr/>
        </p:nvSpPr>
        <p:spPr bwMode="auto">
          <a:xfrm>
            <a:off x="179512" y="332656"/>
            <a:ext cx="8785225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sz="2400" dirty="0">
                <a:solidFill>
                  <a:srgbClr val="FF3399"/>
                </a:solidFill>
                <a:latin typeface="+mn-ea"/>
                <a:ea typeface="+mn-ea"/>
              </a:rPr>
              <a:t>4</a:t>
            </a:r>
            <a:r>
              <a:rPr lang="zh-CN" altLang="en-US" sz="2400" dirty="0">
                <a:solidFill>
                  <a:srgbClr val="FF3399"/>
                </a:solidFill>
                <a:latin typeface="+mn-ea"/>
                <a:ea typeface="+mn-ea"/>
              </a:rPr>
              <a:t>、字符编码</a:t>
            </a:r>
            <a:endParaRPr lang="en-US" altLang="zh-CN" sz="2400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指字符在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字符集中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唯一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数字化代码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表示</a:t>
            </a:r>
            <a:r>
              <a:rPr lang="zh-CN" altLang="en-US" sz="1800" u="sng" dirty="0">
                <a:solidFill>
                  <a:srgbClr val="990099"/>
                </a:solidFill>
                <a:latin typeface="+mn-ea"/>
                <a:ea typeface="+mn-ea"/>
              </a:rPr>
              <a:t>序号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zh-CN" altLang="en-US" sz="1800" u="sng" dirty="0">
                <a:solidFill>
                  <a:srgbClr val="990099"/>
                </a:solidFill>
                <a:latin typeface="+mn-ea"/>
                <a:ea typeface="+mn-ea"/>
              </a:rPr>
              <a:t>特征号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zh-CN" altLang="en-US" sz="2200" dirty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377055" name="Text Box 223"/>
          <p:cNvSpPr txBox="1">
            <a:spLocks noChangeArrowheads="1"/>
          </p:cNvSpPr>
          <p:nvPr/>
        </p:nvSpPr>
        <p:spPr bwMode="auto">
          <a:xfrm>
            <a:off x="179263" y="1268760"/>
            <a:ext cx="8785225" cy="10634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编码种类：</a:t>
            </a:r>
            <a:r>
              <a:rPr lang="zh-CN" altLang="en-US" sz="2200" dirty="0">
                <a:solidFill>
                  <a:schemeClr val="tx1"/>
                </a:solidFill>
              </a:rPr>
              <a:t>交换码、内码、输入码、字模码等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                 </a:t>
            </a:r>
            <a:r>
              <a:rPr lang="en-US" altLang="zh-CN" sz="1800" b="0" dirty="0">
                <a:solidFill>
                  <a:schemeClr val="tx1"/>
                </a:solidFill>
                <a:sym typeface="+mn-ea"/>
              </a:rPr>
              <a:t>│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       </a:t>
            </a:r>
            <a:r>
              <a:rPr sz="1800" b="0" dirty="0">
                <a:solidFill>
                  <a:schemeClr val="tx1"/>
                </a:solidFill>
                <a:sym typeface="+mn-ea"/>
              </a:rPr>
              <a:t>└</a:t>
            </a:r>
            <a:r>
              <a:rPr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  <a:sym typeface="+mn-ea"/>
              </a:rPr>
              <a:t>存储时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的编码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数据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，如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char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型字符的值</a:t>
            </a:r>
            <a:endParaRPr lang="en-US" altLang="zh-CN" sz="18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accent2"/>
                </a:solidFill>
              </a:rPr>
              <a:t>                 </a:t>
            </a:r>
            <a:r>
              <a:rPr sz="1800" b="0" dirty="0">
                <a:solidFill>
                  <a:schemeClr val="tx1"/>
                </a:solidFill>
                <a:sym typeface="+mn-ea"/>
              </a:rPr>
              <a:t>└</a:t>
            </a:r>
            <a:r>
              <a:rPr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</a:rPr>
              <a:t>传送时</a:t>
            </a:r>
            <a:r>
              <a:rPr lang="zh-CN" altLang="en-US" sz="1800" dirty="0">
                <a:solidFill>
                  <a:schemeClr val="tx1"/>
                </a:solidFill>
              </a:rPr>
              <a:t>的编码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序号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，如字符的</a:t>
            </a:r>
            <a:r>
              <a:rPr lang="en-US" altLang="zh-CN" sz="1800" dirty="0">
                <a:solidFill>
                  <a:schemeClr val="tx1"/>
                </a:solidFill>
              </a:rPr>
              <a:t>ASCII</a:t>
            </a:r>
            <a:r>
              <a:rPr lang="zh-CN" altLang="en-US" sz="1800" dirty="0">
                <a:solidFill>
                  <a:schemeClr val="tx1"/>
                </a:solidFill>
              </a:rPr>
              <a:t>码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48" name="AutoShape 29"/>
          <p:cNvSpPr/>
          <p:nvPr/>
        </p:nvSpPr>
        <p:spPr bwMode="auto">
          <a:xfrm>
            <a:off x="6948000" y="3545800"/>
            <a:ext cx="1800000" cy="252000"/>
          </a:xfrm>
          <a:prstGeom prst="borderCallout2">
            <a:avLst>
              <a:gd name="adj1" fmla="val 53212"/>
              <a:gd name="adj2" fmla="val -181"/>
              <a:gd name="adj3" fmla="val 51986"/>
              <a:gd name="adj4" fmla="val -10642"/>
              <a:gd name="adj5" fmla="val -144844"/>
              <a:gd name="adj6" fmla="val -1887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位数～字符集大小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972185" y="2357640"/>
            <a:ext cx="8027670" cy="1115060"/>
            <a:chOff x="1531" y="5556"/>
            <a:chExt cx="12642" cy="1756"/>
          </a:xfrm>
        </p:grpSpPr>
        <p:sp>
          <p:nvSpPr>
            <p:cNvPr id="2" name="Text Box 225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531" y="5783"/>
              <a:ext cx="850" cy="39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>
                  <a:solidFill>
                    <a:schemeClr val="tx1"/>
                  </a:solidFill>
                </a:rPr>
                <a:t>键盘</a:t>
              </a:r>
            </a:p>
          </p:txBody>
        </p:sp>
        <p:sp>
          <p:nvSpPr>
            <p:cNvPr id="4" name="Rectangle 22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855" y="5556"/>
              <a:ext cx="5953" cy="175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Rectangle 23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556" y="5669"/>
              <a:ext cx="2041" cy="1531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Text Box 23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025" y="5613"/>
              <a:ext cx="397" cy="79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转换</a:t>
              </a:r>
            </a:p>
          </p:txBody>
        </p:sp>
        <p:sp>
          <p:nvSpPr>
            <p:cNvPr id="7" name="Text Box 23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844" y="5669"/>
              <a:ext cx="850" cy="7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处理器</a:t>
              </a:r>
            </a:p>
          </p:txBody>
        </p:sp>
        <p:sp>
          <p:nvSpPr>
            <p:cNvPr id="8" name="Text Box 23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765" y="6576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dirty="0">
                  <a:solidFill>
                    <a:schemeClr val="tx1"/>
                  </a:solidFill>
                </a:rPr>
                <a:t>I/O</a:t>
              </a:r>
              <a:r>
                <a:rPr lang="zh-CN" altLang="en-US" sz="1800" dirty="0">
                  <a:solidFill>
                    <a:schemeClr val="tx1"/>
                  </a:solidFill>
                </a:rPr>
                <a:t>接口</a:t>
              </a:r>
            </a:p>
          </p:txBody>
        </p:sp>
        <p:sp>
          <p:nvSpPr>
            <p:cNvPr id="9" name="Text Box 24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51" y="6293"/>
              <a:ext cx="1191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>
                  <a:solidFill>
                    <a:srgbClr val="FF3300"/>
                  </a:solidFill>
                </a:rPr>
                <a:t>字模码</a:t>
              </a:r>
            </a:p>
          </p:txBody>
        </p:sp>
        <p:sp>
          <p:nvSpPr>
            <p:cNvPr id="10" name="Text Box 24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592" y="5613"/>
              <a:ext cx="8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rgbClr val="FF3300"/>
                  </a:solidFill>
                </a:rPr>
                <a:t>内码</a:t>
              </a:r>
            </a:p>
          </p:txBody>
        </p:sp>
        <p:sp>
          <p:nvSpPr>
            <p:cNvPr id="11" name="Text Box 24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51" y="5613"/>
              <a:ext cx="1191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rgbClr val="FF3300"/>
                  </a:solidFill>
                </a:rPr>
                <a:t>输入码</a:t>
              </a:r>
            </a:p>
          </p:txBody>
        </p:sp>
        <p:sp>
          <p:nvSpPr>
            <p:cNvPr id="12" name="Text Box 25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531" y="6293"/>
              <a:ext cx="850" cy="79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>
                  <a:solidFill>
                    <a:schemeClr val="tx1"/>
                  </a:solidFill>
                </a:rPr>
                <a:t>显示器</a:t>
              </a:r>
            </a:p>
          </p:txBody>
        </p:sp>
        <p:sp>
          <p:nvSpPr>
            <p:cNvPr id="13" name="Text Box 25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12" y="6803"/>
              <a:ext cx="136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计算机</a:t>
              </a:r>
              <a:r>
                <a:rPr lang="en-US" altLang="zh-CN" sz="18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" name="Text Box 26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768" y="5613"/>
              <a:ext cx="847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rgbClr val="FF3300"/>
                  </a:solidFill>
                </a:rPr>
                <a:t>内码</a:t>
              </a:r>
            </a:p>
          </p:txBody>
        </p:sp>
        <p:sp>
          <p:nvSpPr>
            <p:cNvPr id="15" name="Text Box 26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727" y="5783"/>
              <a:ext cx="1701" cy="3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字符数据</a:t>
              </a:r>
            </a:p>
          </p:txBody>
        </p:sp>
        <p:sp>
          <p:nvSpPr>
            <p:cNvPr id="16" name="Text Box 26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726" y="6293"/>
              <a:ext cx="1191" cy="7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字符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字模库</a:t>
              </a:r>
            </a:p>
          </p:txBody>
        </p:sp>
        <p:sp>
          <p:nvSpPr>
            <p:cNvPr id="17" name="Text Box 26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917" y="6721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MEM</a:t>
              </a:r>
            </a:p>
          </p:txBody>
        </p:sp>
        <p:sp>
          <p:nvSpPr>
            <p:cNvPr id="18" name="Text Box 25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921" y="6406"/>
              <a:ext cx="1191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rgbClr val="FF3300"/>
                  </a:solidFill>
                </a:rPr>
                <a:t>交换码</a:t>
              </a:r>
            </a:p>
          </p:txBody>
        </p:sp>
        <p:cxnSp>
          <p:nvCxnSpPr>
            <p:cNvPr id="19" name="直接连接符 18"/>
            <p:cNvCxnSpPr/>
            <p:nvPr>
              <p:custDataLst>
                <p:tags r:id="rId18"/>
              </p:custDataLst>
            </p:nvPr>
          </p:nvCxnSpPr>
          <p:spPr>
            <a:xfrm>
              <a:off x="7426" y="6009"/>
              <a:ext cx="141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19"/>
              </p:custDataLst>
            </p:nvPr>
          </p:nvCxnSpPr>
          <p:spPr>
            <a:xfrm>
              <a:off x="8163" y="6009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20"/>
              </p:custDataLst>
            </p:nvPr>
          </p:nvCxnSpPr>
          <p:spPr>
            <a:xfrm>
              <a:off x="4422" y="6009"/>
              <a:ext cx="1304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直接连接符 22"/>
            <p:cNvCxnSpPr/>
            <p:nvPr>
              <p:custDataLst>
                <p:tags r:id="rId21"/>
              </p:custDataLst>
            </p:nvPr>
          </p:nvCxnSpPr>
          <p:spPr>
            <a:xfrm>
              <a:off x="2381" y="6009"/>
              <a:ext cx="1644" cy="0"/>
            </a:xfrm>
            <a:prstGeom prst="line">
              <a:avLst/>
            </a:prstGeom>
            <a:noFill/>
            <a:ln w="158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22"/>
              </p:custDataLst>
            </p:nvPr>
          </p:nvCxnSpPr>
          <p:spPr>
            <a:xfrm flipH="1" flipV="1">
              <a:off x="2381" y="6690"/>
              <a:ext cx="3345" cy="0"/>
            </a:xfrm>
            <a:prstGeom prst="line">
              <a:avLst/>
            </a:prstGeom>
            <a:noFill/>
            <a:ln w="158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23"/>
              </p:custDataLst>
            </p:nvPr>
          </p:nvCxnSpPr>
          <p:spPr>
            <a:xfrm flipH="1" flipV="1">
              <a:off x="9128" y="6803"/>
              <a:ext cx="2268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6" name="Text Box 23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473" y="5670"/>
              <a:ext cx="850" cy="7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chemeClr val="tx1"/>
                  </a:solidFill>
                </a:rPr>
                <a:t>处理器</a:t>
              </a:r>
            </a:p>
          </p:txBody>
        </p:sp>
        <p:sp>
          <p:nvSpPr>
            <p:cNvPr id="27" name="Text Box 23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1394" y="6576"/>
              <a:ext cx="136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dirty="0">
                  <a:solidFill>
                    <a:schemeClr val="tx1"/>
                  </a:solidFill>
                </a:rPr>
                <a:t>I/O</a:t>
              </a:r>
              <a:r>
                <a:rPr lang="zh-CN" altLang="en-US" sz="1800" dirty="0">
                  <a:solidFill>
                    <a:schemeClr val="tx1"/>
                  </a:solidFill>
                </a:rPr>
                <a:t>接口</a:t>
              </a:r>
            </a:p>
          </p:txBody>
        </p:sp>
        <p:sp>
          <p:nvSpPr>
            <p:cNvPr id="28" name="Text Box 26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1452" y="5613"/>
              <a:ext cx="847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dirty="0">
                  <a:solidFill>
                    <a:srgbClr val="FF3300"/>
                  </a:solidFill>
                </a:rPr>
                <a:t>内码</a:t>
              </a:r>
            </a:p>
          </p:txBody>
        </p:sp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>
              <a:off x="11395" y="6009"/>
              <a:ext cx="107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>
              <a:off x="11792" y="6009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sp>
          <p:nvSpPr>
            <p:cNvPr id="31" name="Rectangle 226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1225" y="5556"/>
              <a:ext cx="2948" cy="175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254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2756" y="6860"/>
              <a:ext cx="136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计算机</a:t>
              </a: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sp>
        <p:nvSpPr>
          <p:cNvPr id="210105" name="Text Box 185"/>
          <p:cNvSpPr txBox="1">
            <a:spLocks noChangeArrowheads="1"/>
          </p:cNvSpPr>
          <p:nvPr/>
        </p:nvSpPr>
        <p:spPr bwMode="auto">
          <a:xfrm>
            <a:off x="179388" y="3861048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常见的字符编码：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指</a:t>
            </a:r>
            <a:r>
              <a:rPr lang="zh-CN" altLang="en-US" sz="1800" u="sng" dirty="0">
                <a:solidFill>
                  <a:schemeClr val="tx1"/>
                </a:solidFill>
                <a:highlight>
                  <a:srgbClr val="FFFF00"/>
                </a:highlight>
              </a:rPr>
              <a:t>交换码</a:t>
            </a:r>
            <a:r>
              <a:rPr lang="en-US" altLang="zh-CN" sz="1800" dirty="0">
                <a:solidFill>
                  <a:schemeClr val="tx1"/>
                </a:solidFill>
              </a:rPr>
              <a:t>)               </a:t>
            </a:r>
            <a:r>
              <a:rPr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sz="1800" u="sng" dirty="0">
                <a:solidFill>
                  <a:schemeClr val="tx1"/>
                </a:solidFill>
                <a:highlight>
                  <a:srgbClr val="CCFFFF"/>
                </a:highlight>
                <a:sym typeface="+mn-ea"/>
              </a:rPr>
              <a:t>内码</a:t>
            </a:r>
            <a:r>
              <a:rPr lang="zh-CN" sz="1800" dirty="0">
                <a:solidFill>
                  <a:schemeClr val="tx1"/>
                </a:solidFill>
                <a:sym typeface="+mn-ea"/>
              </a:rPr>
              <a:t>常称为</a:t>
            </a:r>
            <a:r>
              <a:rPr lang="zh-CN" sz="1800" u="sng" dirty="0">
                <a:solidFill>
                  <a:schemeClr val="tx1"/>
                </a:solidFill>
                <a:sym typeface="+mn-ea"/>
              </a:rPr>
              <a:t>字符数据</a:t>
            </a:r>
          </a:p>
        </p:txBody>
      </p:sp>
      <p:graphicFrame>
        <p:nvGraphicFramePr>
          <p:cNvPr id="33" name="Group 230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4675374"/>
              </p:ext>
            </p:extLst>
          </p:nvPr>
        </p:nvGraphicFramePr>
        <p:xfrm>
          <a:off x="1043608" y="4374144"/>
          <a:ext cx="7656830" cy="1803816"/>
        </p:xfrm>
        <a:graphic>
          <a:graphicData uri="http://schemas.openxmlformats.org/drawingml/2006/table">
            <a:tbl>
              <a:tblPr/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4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编码类型</a:t>
                      </a:r>
                    </a:p>
                  </a:txBody>
                  <a:tcPr marL="36000" marR="36000" marT="108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码点个数</a:t>
                      </a:r>
                    </a:p>
                  </a:txBody>
                  <a:tcPr marL="0" marR="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编码长度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108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</a:t>
                      </a:r>
                    </a:p>
                  </a:txBody>
                  <a:tcPr marL="0" marR="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美国标准信息交换码，英文，使用最广泛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EBCDIC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108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256</a:t>
                      </a:r>
                    </a:p>
                  </a:txBody>
                  <a:tcPr marL="0" marR="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十进制交换码，英文，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IBM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定义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72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Unicode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108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65536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统一字符码，有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UCS-2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UCS-4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两种字符集，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支持各国语言，使用较广泛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72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ANSI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108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256</a:t>
                      </a:r>
                    </a:p>
                  </a:txBody>
                  <a:tcPr marL="0" marR="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美国国家标准协会交换码，英文，含</a:t>
                      </a:r>
                      <a:r>
                        <a:rPr kumimoji="1" lang="en-US" altLang="zh-CN" sz="1800" b="1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kumimoji="1" lang="zh-CN" altLang="en-US" sz="1800" b="1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7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GB2312-80</a:t>
                      </a:r>
                    </a:p>
                  </a:txBody>
                  <a:tcPr marL="36000" marR="36000" marT="108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7445</a:t>
                      </a:r>
                    </a:p>
                  </a:txBody>
                  <a:tcPr marL="0" marR="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汉字国标码，中文</a:t>
                      </a:r>
                    </a:p>
                  </a:txBody>
                  <a:tcPr marL="36000" marR="36000" marT="108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" name="AutoShape 29"/>
          <p:cNvSpPr/>
          <p:nvPr/>
        </p:nvSpPr>
        <p:spPr bwMode="auto">
          <a:xfrm>
            <a:off x="1440008" y="3545800"/>
            <a:ext cx="3204000" cy="252000"/>
          </a:xfrm>
          <a:prstGeom prst="borderCallout2">
            <a:avLst>
              <a:gd name="adj1" fmla="val 49136"/>
              <a:gd name="adj2" fmla="val 100214"/>
              <a:gd name="adj3" fmla="val 50113"/>
              <a:gd name="adj4" fmla="val 106094"/>
              <a:gd name="adj5" fmla="val -354784"/>
              <a:gd name="adj6" fmla="val 11293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位数～</a:t>
            </a:r>
            <a:r>
              <a:rPr lang="zh-CN" altLang="en-US" sz="1600" spc="-50" dirty="0">
                <a:solidFill>
                  <a:schemeClr val="tx1"/>
                </a:solidFill>
              </a:rPr>
              <a:t>字符集大小、</a:t>
            </a:r>
            <a:r>
              <a:rPr lang="zh-CN" altLang="en-US" sz="1600" spc="-50" dirty="0">
                <a:solidFill>
                  <a:schemeClr val="tx1"/>
                </a:solidFill>
                <a:highlight>
                  <a:srgbClr val="99CCFF"/>
                </a:highlight>
              </a:rPr>
              <a:t>存储单元长度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7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7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7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210105" grpId="0" animBg="1"/>
      <p:bldP spid="5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20" name="Text Box 8"/>
          <p:cNvSpPr txBox="1">
            <a:spLocks noChangeArrowheads="1"/>
          </p:cNvSpPr>
          <p:nvPr/>
        </p:nvSpPr>
        <p:spPr bwMode="auto">
          <a:xfrm>
            <a:off x="179388" y="332656"/>
            <a:ext cx="5069754" cy="58434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sz="2400" dirty="0">
                <a:solidFill>
                  <a:srgbClr val="FF3399"/>
                </a:solidFill>
                <a:latin typeface="+mn-ea"/>
                <a:ea typeface="+mn-ea"/>
              </a:rPr>
              <a:t>5</a:t>
            </a:r>
            <a:r>
              <a:rPr lang="zh-CN" altLang="en-US" sz="2400" dirty="0">
                <a:solidFill>
                  <a:srgbClr val="FF3399"/>
                </a:solidFill>
                <a:latin typeface="+mn-ea"/>
                <a:ea typeface="+mn-ea"/>
              </a:rPr>
              <a:t>、校验码</a:t>
            </a:r>
            <a:endParaRPr lang="en-US" altLang="zh-CN" sz="2400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数据校验过程：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基于</a:t>
            </a:r>
            <a:r>
              <a:rPr lang="zh-CN" altLang="en-US" sz="1800" dirty="0">
                <a:solidFill>
                  <a:srgbClr val="FF3399"/>
                </a:solidFill>
                <a:latin typeface="+mn-ea"/>
                <a:ea typeface="+mn-ea"/>
              </a:rPr>
              <a:t>冗余校验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思想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1800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1600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*校验码组成：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1600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 *校验原理：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检错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纠错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*检验方式：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校验码类型：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115616" y="2132856"/>
            <a:ext cx="7776071" cy="937016"/>
            <a:chOff x="1116409" y="2348533"/>
            <a:chExt cx="7776071" cy="937016"/>
          </a:xfrm>
        </p:grpSpPr>
        <p:grpSp>
          <p:nvGrpSpPr>
            <p:cNvPr id="74" name="组合 73"/>
            <p:cNvGrpSpPr/>
            <p:nvPr/>
          </p:nvGrpSpPr>
          <p:grpSpPr>
            <a:xfrm>
              <a:off x="2309046" y="2349549"/>
              <a:ext cx="3374078" cy="936000"/>
              <a:chOff x="2309046" y="2349549"/>
              <a:chExt cx="3374078" cy="936000"/>
            </a:xfrm>
          </p:grpSpPr>
          <p:sp>
            <p:nvSpPr>
              <p:cNvPr id="104" name="Text Box 11"/>
              <p:cNvSpPr txBox="1">
                <a:spLocks noChangeArrowheads="1"/>
              </p:cNvSpPr>
              <p:nvPr/>
            </p:nvSpPr>
            <p:spPr bwMode="auto">
              <a:xfrm>
                <a:off x="3419872" y="2349549"/>
                <a:ext cx="1152427" cy="9360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存储器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或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传输线路</a:t>
                </a:r>
              </a:p>
            </p:txBody>
          </p:sp>
          <p:sp>
            <p:nvSpPr>
              <p:cNvPr id="105" name="Line 104"/>
              <p:cNvSpPr>
                <a:spLocks noChangeShapeType="1"/>
              </p:cNvSpPr>
              <p:nvPr/>
            </p:nvSpPr>
            <p:spPr bwMode="auto">
              <a:xfrm>
                <a:off x="4572298" y="2924597"/>
                <a:ext cx="1110826" cy="2481"/>
              </a:xfrm>
              <a:prstGeom prst="line">
                <a:avLst/>
              </a:prstGeom>
              <a:noFill/>
              <a:ln w="31750" cmpd="dbl">
                <a:solidFill>
                  <a:schemeClr val="accent2"/>
                </a:solidFill>
                <a:round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104"/>
              <p:cNvSpPr>
                <a:spLocks noChangeShapeType="1"/>
              </p:cNvSpPr>
              <p:nvPr/>
            </p:nvSpPr>
            <p:spPr bwMode="auto">
              <a:xfrm>
                <a:off x="2309046" y="2924597"/>
                <a:ext cx="1110826" cy="2481"/>
              </a:xfrm>
              <a:prstGeom prst="line">
                <a:avLst/>
              </a:prstGeom>
              <a:noFill/>
              <a:ln w="31750" cmpd="dbl">
                <a:solidFill>
                  <a:schemeClr val="accent2"/>
                </a:solidFill>
                <a:round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Text Box 93"/>
              <p:cNvSpPr txBox="1">
                <a:spLocks noChangeArrowheads="1"/>
              </p:cNvSpPr>
              <p:nvPr/>
            </p:nvSpPr>
            <p:spPr bwMode="auto">
              <a:xfrm>
                <a:off x="2988072" y="2708573"/>
                <a:ext cx="216000" cy="21602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M</a:t>
                </a:r>
              </a:p>
            </p:txBody>
          </p:sp>
          <p:sp>
            <p:nvSpPr>
              <p:cNvPr id="108" name="Text Box 118"/>
              <p:cNvSpPr txBox="1">
                <a:spLocks noChangeArrowheads="1"/>
              </p:cNvSpPr>
              <p:nvPr/>
            </p:nvSpPr>
            <p:spPr bwMode="auto">
              <a:xfrm>
                <a:off x="4860793" y="2708573"/>
                <a:ext cx="252000" cy="21602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M</a:t>
                </a:r>
                <a:r>
                  <a:rPr lang="en-US" altLang="zh-CN" sz="1600" dirty="0">
                    <a:solidFill>
                      <a:schemeClr val="accent2"/>
                    </a:solidFill>
                    <a:latin typeface="+mn-ea"/>
                    <a:ea typeface="+mn-ea"/>
                    <a:sym typeface="Symbol" panose="05050102010706020507"/>
                  </a:rPr>
                  <a:t></a:t>
                </a:r>
                <a:endParaRPr lang="en-US" altLang="zh-CN" sz="1600" dirty="0">
                  <a:solidFill>
                    <a:schemeClr val="accent2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88" name="Rectangle 40"/>
            <p:cNvSpPr>
              <a:spLocks noChangeArrowheads="1"/>
            </p:cNvSpPr>
            <p:nvPr/>
          </p:nvSpPr>
          <p:spPr bwMode="auto">
            <a:xfrm>
              <a:off x="1116409" y="2349549"/>
              <a:ext cx="1584325" cy="93600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Rectangle 41"/>
            <p:cNvSpPr>
              <a:spLocks noChangeArrowheads="1"/>
            </p:cNvSpPr>
            <p:nvPr/>
          </p:nvSpPr>
          <p:spPr bwMode="auto">
            <a:xfrm>
              <a:off x="5289848" y="2348533"/>
              <a:ext cx="3602632" cy="93600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AutoShape 100"/>
            <p:cNvSpPr>
              <a:spLocks noChangeArrowheads="1"/>
            </p:cNvSpPr>
            <p:nvPr/>
          </p:nvSpPr>
          <p:spPr bwMode="auto">
            <a:xfrm>
              <a:off x="1260872" y="2492549"/>
              <a:ext cx="576263" cy="288000"/>
            </a:xfrm>
            <a:prstGeom prst="can">
              <a:avLst>
                <a:gd name="adj" fmla="val 35167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1" name="Line 101"/>
            <p:cNvSpPr>
              <a:spLocks noChangeShapeType="1"/>
            </p:cNvSpPr>
            <p:nvPr/>
          </p:nvSpPr>
          <p:spPr bwMode="auto">
            <a:xfrm flipH="1">
              <a:off x="1548209" y="2780581"/>
              <a:ext cx="0" cy="36000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Box 102"/>
            <p:cNvSpPr txBox="1">
              <a:spLocks noChangeArrowheads="1"/>
            </p:cNvSpPr>
            <p:nvPr/>
          </p:nvSpPr>
          <p:spPr bwMode="auto">
            <a:xfrm>
              <a:off x="1908572" y="2348533"/>
              <a:ext cx="790575" cy="287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发送方</a:t>
              </a:r>
              <a:endParaRPr lang="zh-CN" altLang="en-US" sz="1800" dirty="0"/>
            </a:p>
          </p:txBody>
        </p:sp>
        <p:sp>
          <p:nvSpPr>
            <p:cNvPr id="93" name="Text Box 112"/>
            <p:cNvSpPr txBox="1">
              <a:spLocks noChangeArrowheads="1"/>
            </p:cNvSpPr>
            <p:nvPr/>
          </p:nvSpPr>
          <p:spPr bwMode="auto">
            <a:xfrm>
              <a:off x="7699348" y="2420565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accent2"/>
                  </a:solidFill>
                  <a:latin typeface="+mn-ea"/>
                  <a:ea typeface="+mn-ea"/>
                </a:rPr>
                <a:t>M</a:t>
              </a:r>
            </a:p>
          </p:txBody>
        </p:sp>
        <p:sp>
          <p:nvSpPr>
            <p:cNvPr id="99" name="Line 121"/>
            <p:cNvSpPr>
              <a:spLocks noChangeShapeType="1"/>
            </p:cNvSpPr>
            <p:nvPr/>
          </p:nvSpPr>
          <p:spPr bwMode="auto">
            <a:xfrm>
              <a:off x="7627341" y="2636565"/>
              <a:ext cx="432048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AutoShape 122"/>
            <p:cNvSpPr>
              <a:spLocks noChangeArrowheads="1"/>
            </p:cNvSpPr>
            <p:nvPr/>
          </p:nvSpPr>
          <p:spPr bwMode="auto">
            <a:xfrm>
              <a:off x="7771157" y="2852589"/>
              <a:ext cx="576263" cy="288000"/>
            </a:xfrm>
            <a:prstGeom prst="can">
              <a:avLst>
                <a:gd name="adj" fmla="val 35167"/>
              </a:avLst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1" name="Line 123"/>
            <p:cNvSpPr>
              <a:spLocks noChangeShapeType="1"/>
            </p:cNvSpPr>
            <p:nvPr/>
          </p:nvSpPr>
          <p:spPr bwMode="auto">
            <a:xfrm flipH="1">
              <a:off x="8059387" y="2636564"/>
              <a:ext cx="1" cy="30600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Box 124"/>
            <p:cNvSpPr txBox="1">
              <a:spLocks noChangeArrowheads="1"/>
            </p:cNvSpPr>
            <p:nvPr/>
          </p:nvSpPr>
          <p:spPr bwMode="auto">
            <a:xfrm>
              <a:off x="8101905" y="2348533"/>
              <a:ext cx="790575" cy="287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接收方</a:t>
              </a:r>
              <a:endParaRPr lang="zh-CN" altLang="en-US" sz="1800" dirty="0"/>
            </a:p>
          </p:txBody>
        </p:sp>
        <p:sp>
          <p:nvSpPr>
            <p:cNvPr id="103" name="Line 92"/>
            <p:cNvSpPr>
              <a:spLocks noChangeShapeType="1"/>
            </p:cNvSpPr>
            <p:nvPr/>
          </p:nvSpPr>
          <p:spPr bwMode="auto">
            <a:xfrm>
              <a:off x="1548209" y="2924597"/>
              <a:ext cx="863551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headEnd type="oval" w="sm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Text Box 131"/>
          <p:cNvSpPr txBox="1">
            <a:spLocks noChangeArrowheads="1"/>
          </p:cNvSpPr>
          <p:nvPr/>
        </p:nvSpPr>
        <p:spPr bwMode="auto">
          <a:xfrm>
            <a:off x="1619672" y="4293096"/>
            <a:ext cx="6985025" cy="18038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u="sng" dirty="0">
                <a:solidFill>
                  <a:srgbClr val="990099"/>
                </a:solidFill>
              </a:rPr>
              <a:t>判断</a:t>
            </a:r>
            <a:r>
              <a:rPr lang="zh-CN" altLang="en-US" sz="2200" dirty="0">
                <a:solidFill>
                  <a:srgbClr val="0070C0"/>
                </a:solidFill>
              </a:rPr>
              <a:t>所收</a:t>
            </a:r>
            <a:r>
              <a:rPr lang="zh-CN" altLang="en-US" sz="2200" dirty="0">
                <a:solidFill>
                  <a:schemeClr val="tx1"/>
                </a:solidFill>
              </a:rPr>
              <a:t>校验码∈合法码字</a:t>
            </a:r>
            <a:r>
              <a:rPr lang="en-US" altLang="zh-CN" sz="2200" dirty="0">
                <a:solidFill>
                  <a:schemeClr val="tx1"/>
                </a:solidFill>
              </a:rPr>
              <a:t>?</a:t>
            </a: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基于非法码字→</a:t>
            </a:r>
            <a:r>
              <a:rPr lang="zh-CN" altLang="en-US" sz="2200" u="sng" dirty="0">
                <a:solidFill>
                  <a:srgbClr val="990099"/>
                </a:solidFill>
              </a:rPr>
              <a:t>定位</a:t>
            </a:r>
            <a:r>
              <a:rPr lang="zh-CN" altLang="en-US" sz="2200" dirty="0">
                <a:solidFill>
                  <a:schemeClr val="tx1"/>
                </a:solidFill>
              </a:rPr>
              <a:t>错误→</a:t>
            </a:r>
            <a:r>
              <a:rPr lang="zh-CN" altLang="en-US" sz="2200" u="sng" dirty="0">
                <a:solidFill>
                  <a:srgbClr val="990099"/>
                </a:solidFill>
              </a:rPr>
              <a:t>纠正</a:t>
            </a:r>
            <a:r>
              <a:rPr lang="zh-CN" altLang="en-US" sz="2200" dirty="0">
                <a:solidFill>
                  <a:schemeClr val="tx1"/>
                </a:solidFill>
              </a:rPr>
              <a:t>错误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取反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tx1"/>
                </a:solidFill>
              </a:rPr>
              <a:t>  并行校验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接收完才校验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、串行校验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边接收边校验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lang="zh-CN" altLang="en-US" sz="2200" spc="-30" dirty="0">
                <a:solidFill>
                  <a:schemeClr val="tx1"/>
                </a:solidFill>
              </a:rPr>
              <a:t>    奇偶校验码、海明校验码，循环冗余校验码</a:t>
            </a:r>
            <a:r>
              <a:rPr lang="en-US" altLang="zh-CN" sz="2200" dirty="0">
                <a:solidFill>
                  <a:schemeClr val="tx1"/>
                </a:solidFill>
              </a:rPr>
              <a:t>(CRC)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C661-6600-44DF-9B78-B8289BB0D6B1}" type="slidenum">
              <a:rPr lang="en-US" altLang="zh-CN"/>
              <a:t>15</a:t>
            </a:fld>
            <a:endParaRPr lang="en-US" altLang="zh-CN"/>
          </a:p>
        </p:txBody>
      </p:sp>
      <p:sp>
        <p:nvSpPr>
          <p:cNvPr id="218119" name="Text Box 7"/>
          <p:cNvSpPr txBox="1">
            <a:spLocks noChangeArrowheads="1"/>
          </p:cNvSpPr>
          <p:nvPr/>
        </p:nvSpPr>
        <p:spPr bwMode="auto">
          <a:xfrm>
            <a:off x="755203" y="1196752"/>
            <a:ext cx="8209285" cy="8913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437005" indent="-1437005"/>
            <a:r>
              <a:rPr lang="zh-CN" altLang="en-US" sz="2200" dirty="0">
                <a:solidFill>
                  <a:schemeClr val="tx1"/>
                </a:solidFill>
              </a:rPr>
              <a:t>①用待发数据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sz="2200" u="sng" dirty="0">
                <a:solidFill>
                  <a:srgbClr val="990099"/>
                </a:solidFill>
              </a:rPr>
              <a:t>形成</a:t>
            </a:r>
            <a:r>
              <a:rPr lang="zh-CN" altLang="en-US" sz="2200" dirty="0">
                <a:solidFill>
                  <a:schemeClr val="tx1"/>
                </a:solidFill>
              </a:rPr>
              <a:t>校验信息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zh-CN" altLang="en-US" sz="2200" dirty="0">
                <a:solidFill>
                  <a:schemeClr val="tx1"/>
                </a:solidFill>
              </a:rPr>
              <a:t>与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一起传送</a:t>
            </a:r>
          </a:p>
          <a:p>
            <a:pPr marL="1437005" indent="-1437005"/>
            <a:r>
              <a:rPr lang="zh-CN" altLang="en-US" sz="2200" dirty="0">
                <a:solidFill>
                  <a:schemeClr val="tx1"/>
                </a:solidFill>
              </a:rPr>
              <a:t>②用所收数据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u="sng" dirty="0">
                <a:solidFill>
                  <a:srgbClr val="990099"/>
                </a:solidFill>
              </a:rPr>
              <a:t>形成</a:t>
            </a:r>
            <a:r>
              <a:rPr lang="zh-CN" altLang="en-US" sz="2200" dirty="0">
                <a:solidFill>
                  <a:schemeClr val="tx1"/>
                </a:solidFill>
              </a:rPr>
              <a:t>校验信息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rgbClr val="990099"/>
                </a:solidFill>
              </a:rPr>
              <a:t>比较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</a:rPr>
              <a:t>及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rgbClr val="990099"/>
                </a:solidFill>
              </a:rPr>
              <a:t>校验</a:t>
            </a:r>
            <a:r>
              <a:rPr lang="zh-CN" altLang="en-US" sz="2200" dirty="0">
                <a:solidFill>
                  <a:schemeClr val="tx1"/>
                </a:solidFill>
              </a:rPr>
              <a:t>数据</a:t>
            </a:r>
          </a:p>
        </p:txBody>
      </p:sp>
      <p:sp>
        <p:nvSpPr>
          <p:cNvPr id="218243" name="Text Box 131"/>
          <p:cNvSpPr txBox="1">
            <a:spLocks noChangeArrowheads="1"/>
          </p:cNvSpPr>
          <p:nvPr/>
        </p:nvSpPr>
        <p:spPr bwMode="auto">
          <a:xfrm>
            <a:off x="2195735" y="3140968"/>
            <a:ext cx="3602632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数据位＋校验位，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码距</a:t>
            </a:r>
            <a:r>
              <a:rPr lang="zh-CN" altLang="en-US" sz="2200" dirty="0">
                <a:solidFill>
                  <a:srgbClr val="FF3399"/>
                </a:solidFill>
              </a:rPr>
              <a:t>≥</a:t>
            </a:r>
            <a:r>
              <a:rPr lang="en-US" altLang="zh-CN" sz="2200" dirty="0">
                <a:solidFill>
                  <a:srgbClr val="FF3399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合法码字＜全部编码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endParaRPr lang="en-US" altLang="zh-CN" sz="2200" u="sng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 bwMode="auto">
          <a:xfrm flipH="1">
            <a:off x="2771800" y="3970800"/>
            <a:ext cx="2232200" cy="432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98" name="Text Box 131"/>
          <p:cNvSpPr txBox="1">
            <a:spLocks noChangeArrowheads="1"/>
          </p:cNvSpPr>
          <p:nvPr/>
        </p:nvSpPr>
        <p:spPr bwMode="auto">
          <a:xfrm>
            <a:off x="5796488" y="3429000"/>
            <a:ext cx="3168000" cy="900000"/>
          </a:xfrm>
          <a:prstGeom prst="rect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Dot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marL="715963" indent="-715963">
              <a:lnSpc>
                <a:spcPct val="110000"/>
              </a:lnSpc>
            </a:pPr>
            <a:r>
              <a:rPr lang="zh-CN" altLang="en-US" sz="1800" dirty="0">
                <a:solidFill>
                  <a:srgbClr val="C00000"/>
                </a:solidFill>
                <a:latin typeface="+mn-ea"/>
                <a:ea typeface="+mn-ea"/>
              </a:rPr>
              <a:t>码距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—</a:t>
            </a:r>
            <a:r>
              <a:rPr lang="zh-CN" altLang="en-US" sz="1800" spc="-30" dirty="0">
                <a:solidFill>
                  <a:schemeClr val="tx1"/>
                </a:solidFill>
                <a:latin typeface="+mn-ea"/>
                <a:ea typeface="+mn-ea"/>
              </a:rPr>
              <a:t>任意</a:t>
            </a:r>
            <a:r>
              <a:rPr lang="en-US" altLang="zh-CN" sz="1800" spc="-3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1800" spc="-30" dirty="0">
                <a:solidFill>
                  <a:schemeClr val="tx1"/>
                </a:solidFill>
                <a:latin typeface="+mn-ea"/>
                <a:ea typeface="+mn-ea"/>
              </a:rPr>
              <a:t>个编码中</a:t>
            </a:r>
            <a:r>
              <a:rPr lang="zh-CN" altLang="en-US" sz="1800" u="sng" spc="-30" dirty="0">
                <a:solidFill>
                  <a:srgbClr val="0070C0"/>
                </a:solidFill>
                <a:latin typeface="+mn-ea"/>
                <a:ea typeface="+mn-ea"/>
              </a:rPr>
              <a:t>位值不同</a:t>
            </a:r>
            <a:r>
              <a:rPr lang="zh-CN" altLang="en-US" sz="1800" spc="-3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1800" u="sng" spc="-30" dirty="0">
                <a:solidFill>
                  <a:schemeClr val="tx1"/>
                </a:solidFill>
                <a:latin typeface="+mn-ea"/>
                <a:ea typeface="+mn-ea"/>
              </a:rPr>
              <a:t>最小个数</a:t>
            </a:r>
            <a:endParaRPr lang="en-US" altLang="zh-CN" sz="1800" spc="-3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715963" indent="-715963">
              <a:lnSpc>
                <a:spcPct val="110000"/>
              </a:lnSpc>
            </a:pPr>
            <a:r>
              <a:rPr lang="zh-CN" altLang="en-US" sz="1800" spc="-30" dirty="0">
                <a:solidFill>
                  <a:schemeClr val="tx1"/>
                </a:solidFill>
                <a:latin typeface="+mn-ea"/>
                <a:ea typeface="+mn-ea"/>
              </a:rPr>
              <a:t>  如</a:t>
            </a:r>
            <a:r>
              <a:rPr lang="en-US" altLang="zh-CN" sz="1800" spc="-30" dirty="0">
                <a:solidFill>
                  <a:schemeClr val="tx1"/>
                </a:solidFill>
                <a:latin typeface="+mn-ea"/>
                <a:ea typeface="+mn-ea"/>
              </a:rPr>
              <a:t>:{000,011,101,110}</a:t>
            </a:r>
            <a:r>
              <a:rPr lang="zh-CN" altLang="en-US" sz="1800" spc="-3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spc="-3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109" name="组合 108"/>
          <p:cNvGrpSpPr/>
          <p:nvPr/>
        </p:nvGrpSpPr>
        <p:grpSpPr>
          <a:xfrm>
            <a:off x="1547664" y="2204864"/>
            <a:ext cx="6077543" cy="792064"/>
            <a:chOff x="1549797" y="2347863"/>
            <a:chExt cx="6077543" cy="792064"/>
          </a:xfrm>
        </p:grpSpPr>
        <p:sp>
          <p:nvSpPr>
            <p:cNvPr id="110" name="Text Box 94"/>
            <p:cNvSpPr txBox="1">
              <a:spLocks noChangeArrowheads="1"/>
            </p:cNvSpPr>
            <p:nvPr/>
          </p:nvSpPr>
          <p:spPr bwMode="auto">
            <a:xfrm>
              <a:off x="1837134" y="2923927"/>
              <a:ext cx="720725" cy="216000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函数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1" name="Line 95"/>
            <p:cNvSpPr>
              <a:spLocks noChangeShapeType="1"/>
            </p:cNvSpPr>
            <p:nvPr/>
          </p:nvSpPr>
          <p:spPr bwMode="auto">
            <a:xfrm flipV="1">
              <a:off x="2556272" y="3067943"/>
              <a:ext cx="8636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Text Box 96"/>
            <p:cNvSpPr txBox="1">
              <a:spLocks noChangeArrowheads="1"/>
            </p:cNvSpPr>
            <p:nvPr/>
          </p:nvSpPr>
          <p:spPr bwMode="auto">
            <a:xfrm>
              <a:off x="2988072" y="2887943"/>
              <a:ext cx="216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P</a:t>
              </a:r>
            </a:p>
          </p:txBody>
        </p:sp>
        <p:sp>
          <p:nvSpPr>
            <p:cNvPr id="113" name="Line 97"/>
            <p:cNvSpPr>
              <a:spLocks noChangeShapeType="1"/>
            </p:cNvSpPr>
            <p:nvPr/>
          </p:nvSpPr>
          <p:spPr bwMode="auto">
            <a:xfrm flipV="1">
              <a:off x="1549797" y="3067943"/>
              <a:ext cx="287338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Text Box 103"/>
            <p:cNvSpPr txBox="1">
              <a:spLocks noChangeArrowheads="1"/>
            </p:cNvSpPr>
            <p:nvPr/>
          </p:nvSpPr>
          <p:spPr bwMode="auto">
            <a:xfrm>
              <a:off x="6835575" y="2851919"/>
              <a:ext cx="791765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比较器</a:t>
              </a:r>
            </a:p>
          </p:txBody>
        </p:sp>
        <p:sp>
          <p:nvSpPr>
            <p:cNvPr id="115" name="Line 105"/>
            <p:cNvSpPr>
              <a:spLocks noChangeShapeType="1"/>
            </p:cNvSpPr>
            <p:nvPr/>
          </p:nvSpPr>
          <p:spPr bwMode="auto">
            <a:xfrm>
              <a:off x="6403850" y="2923927"/>
              <a:ext cx="431726" cy="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Text Box 106"/>
            <p:cNvSpPr txBox="1">
              <a:spLocks noChangeArrowheads="1"/>
            </p:cNvSpPr>
            <p:nvPr/>
          </p:nvSpPr>
          <p:spPr bwMode="auto">
            <a:xfrm>
              <a:off x="6474889" y="2743927"/>
              <a:ext cx="2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>
              <a:defPPr>
                <a:defRPr lang="zh-CN"/>
              </a:defPPr>
              <a:lvl1pPr>
                <a:lnSpc>
                  <a:spcPct val="90000"/>
                </a:lnSpc>
                <a:defRPr sz="1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</a:lstStyle>
            <a:p>
              <a:r>
                <a:rPr lang="en-US" altLang="zh-CN" sz="1600" dirty="0">
                  <a:solidFill>
                    <a:srgbClr val="CC3300"/>
                  </a:solidFill>
                  <a:latin typeface="+mn-ea"/>
                  <a:ea typeface="+mn-ea"/>
                </a:rPr>
                <a:t>P</a:t>
              </a:r>
              <a:r>
                <a:rPr lang="en-US" altLang="zh-CN" sz="1600" dirty="0">
                  <a:solidFill>
                    <a:srgbClr val="CC3300"/>
                  </a:solidFill>
                  <a:latin typeface="+mn-ea"/>
                  <a:ea typeface="+mn-ea"/>
                  <a:sym typeface="Symbol" panose="05050102010706020507"/>
                </a:rPr>
                <a:t></a:t>
              </a:r>
              <a:endParaRPr lang="en-US" altLang="zh-CN" sz="1600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117" name="Line 107"/>
            <p:cNvSpPr>
              <a:spLocks noChangeShapeType="1"/>
            </p:cNvSpPr>
            <p:nvPr/>
          </p:nvSpPr>
          <p:spPr bwMode="auto">
            <a:xfrm flipV="1">
              <a:off x="4572299" y="3067943"/>
              <a:ext cx="2263276" cy="347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108"/>
            <p:cNvSpPr txBox="1">
              <a:spLocks noChangeArrowheads="1"/>
            </p:cNvSpPr>
            <p:nvPr/>
          </p:nvSpPr>
          <p:spPr bwMode="auto">
            <a:xfrm>
              <a:off x="4862133" y="2887943"/>
              <a:ext cx="2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P</a:t>
              </a:r>
              <a:r>
                <a:rPr lang="en-US" altLang="zh-CN" sz="1600" dirty="0">
                  <a:latin typeface="+mn-ea"/>
                  <a:ea typeface="+mn-ea"/>
                  <a:sym typeface="Symbol" panose="05050102010706020507"/>
                </a:rPr>
                <a:t>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119" name="Text Box 109"/>
            <p:cNvSpPr txBox="1">
              <a:spLocks noChangeArrowheads="1"/>
            </p:cNvSpPr>
            <p:nvPr/>
          </p:nvSpPr>
          <p:spPr bwMode="auto">
            <a:xfrm>
              <a:off x="6763740" y="2419895"/>
              <a:ext cx="863600" cy="216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纠正器</a:t>
              </a:r>
              <a:endParaRPr lang="zh-CN" altLang="en-US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120" name="Line 110"/>
            <p:cNvSpPr>
              <a:spLocks noChangeShapeType="1"/>
            </p:cNvSpPr>
            <p:nvPr/>
          </p:nvSpPr>
          <p:spPr bwMode="auto">
            <a:xfrm flipH="1" flipV="1">
              <a:off x="7195292" y="2635895"/>
              <a:ext cx="248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11"/>
            <p:cNvSpPr>
              <a:spLocks noChangeShapeType="1"/>
            </p:cNvSpPr>
            <p:nvPr/>
          </p:nvSpPr>
          <p:spPr bwMode="auto">
            <a:xfrm flipH="1" flipV="1">
              <a:off x="4572298" y="2347863"/>
              <a:ext cx="2622994" cy="1017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Text Box 117"/>
            <p:cNvSpPr txBox="1">
              <a:spLocks noChangeArrowheads="1"/>
            </p:cNvSpPr>
            <p:nvPr/>
          </p:nvSpPr>
          <p:spPr bwMode="auto">
            <a:xfrm>
              <a:off x="5683124" y="2779911"/>
              <a:ext cx="720725" cy="216000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函数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3" name="Line 119"/>
            <p:cNvSpPr>
              <a:spLocks noChangeShapeType="1"/>
            </p:cNvSpPr>
            <p:nvPr/>
          </p:nvSpPr>
          <p:spPr bwMode="auto">
            <a:xfrm flipH="1" flipV="1">
              <a:off x="5436096" y="2563919"/>
              <a:ext cx="0" cy="28800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sp>
          <p:nvSpPr>
            <p:cNvPr id="124" name="Line 120"/>
            <p:cNvSpPr>
              <a:spLocks noChangeShapeType="1"/>
            </p:cNvSpPr>
            <p:nvPr/>
          </p:nvSpPr>
          <p:spPr bwMode="auto">
            <a:xfrm>
              <a:off x="5434310" y="2563887"/>
              <a:ext cx="1329429" cy="0"/>
            </a:xfrm>
            <a:prstGeom prst="line">
              <a:avLst/>
            </a:prstGeom>
            <a:noFill/>
            <a:ln w="31750" cmpd="dbl">
              <a:solidFill>
                <a:schemeClr val="accent2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Text Box 125"/>
            <p:cNvSpPr txBox="1">
              <a:spLocks noChangeArrowheads="1"/>
            </p:cNvSpPr>
            <p:nvPr/>
          </p:nvSpPr>
          <p:spPr bwMode="auto">
            <a:xfrm>
              <a:off x="4754133" y="2347863"/>
              <a:ext cx="360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  <a:latin typeface="+mn-ea"/>
                  <a:ea typeface="+mn-ea"/>
                </a:rPr>
                <a:t>CHK</a:t>
              </a:r>
              <a:endParaRPr lang="zh-CN" altLang="en-US" sz="1600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Line 129"/>
            <p:cNvSpPr>
              <a:spLocks noChangeShapeType="1"/>
            </p:cNvSpPr>
            <p:nvPr/>
          </p:nvSpPr>
          <p:spPr bwMode="auto">
            <a:xfrm flipH="1" flipV="1">
              <a:off x="2700734" y="2348880"/>
              <a:ext cx="71913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108"/>
            <p:cNvSpPr txBox="1">
              <a:spLocks noChangeArrowheads="1"/>
            </p:cNvSpPr>
            <p:nvPr/>
          </p:nvSpPr>
          <p:spPr bwMode="auto">
            <a:xfrm>
              <a:off x="7267299" y="2635895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FF3399"/>
                  </a:solidFill>
                  <a:latin typeface="+mn-ea"/>
                  <a:ea typeface="+mn-ea"/>
                </a:rPr>
                <a:t>S</a:t>
              </a:r>
            </a:p>
          </p:txBody>
        </p:sp>
        <p:cxnSp>
          <p:nvCxnSpPr>
            <p:cNvPr id="128" name="直接连接符 127"/>
            <p:cNvCxnSpPr/>
            <p:nvPr/>
          </p:nvCxnSpPr>
          <p:spPr bwMode="auto">
            <a:xfrm>
              <a:off x="7195292" y="2348880"/>
              <a:ext cx="0" cy="72008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F440FB-27B1-47D6-8041-416A86A2EA4F}"/>
              </a:ext>
            </a:extLst>
          </p:cNvPr>
          <p:cNvGrpSpPr/>
          <p:nvPr/>
        </p:nvGrpSpPr>
        <p:grpSpPr>
          <a:xfrm>
            <a:off x="2880000" y="2638800"/>
            <a:ext cx="1908264" cy="1080000"/>
            <a:chOff x="2880000" y="2638800"/>
            <a:chExt cx="1908264" cy="1080000"/>
          </a:xfrm>
        </p:grpSpPr>
        <p:cxnSp>
          <p:nvCxnSpPr>
            <p:cNvPr id="4" name="直接箭头连接符 3"/>
            <p:cNvCxnSpPr/>
            <p:nvPr/>
          </p:nvCxnSpPr>
          <p:spPr bwMode="auto">
            <a:xfrm>
              <a:off x="2880000" y="2996920"/>
              <a:ext cx="720000" cy="720000"/>
            </a:xfrm>
            <a:prstGeom prst="straightConnector1">
              <a:avLst/>
            </a:prstGeom>
            <a:noFill/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1D1418C5-B193-451D-B606-2A1C4A531AF9}"/>
                </a:ext>
              </a:extLst>
            </p:cNvPr>
            <p:cNvSpPr/>
            <p:nvPr/>
          </p:nvSpPr>
          <p:spPr bwMode="auto">
            <a:xfrm>
              <a:off x="4644000" y="2638800"/>
              <a:ext cx="144264" cy="360000"/>
            </a:xfrm>
            <a:prstGeom prst="ellipse">
              <a:avLst/>
            </a:prstGeom>
            <a:solidFill>
              <a:srgbClr val="CCCCFF"/>
            </a:solidFill>
            <a:ln w="15875" cap="flat" cmpd="sng" algn="ctr">
              <a:solidFill>
                <a:srgbClr val="FF33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5D2D1327-6D6D-44A8-9F36-4D9F50773D3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15999" y="3034800"/>
              <a:ext cx="36000" cy="684000"/>
            </a:xfrm>
            <a:prstGeom prst="straightConnector1">
              <a:avLst/>
            </a:prstGeom>
            <a:noFill/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2" name="AutoShape 6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9DEE429-C092-43E8-8B85-11542DD18E9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3AF2CF0A-7DF1-4E8B-8D8B-8A6AD7D5B94A}"/>
              </a:ext>
            </a:extLst>
          </p:cNvPr>
          <p:cNvSpPr/>
          <p:nvPr/>
        </p:nvSpPr>
        <p:spPr bwMode="auto">
          <a:xfrm>
            <a:off x="2771800" y="2636960"/>
            <a:ext cx="144264" cy="360000"/>
          </a:xfrm>
          <a:prstGeom prst="ellipse">
            <a:avLst/>
          </a:prstGeom>
          <a:solidFill>
            <a:srgbClr val="CCCCFF"/>
          </a:solidFill>
          <a:ln w="15875" cap="flat" cmpd="sng" algn="ctr">
            <a:solidFill>
              <a:srgbClr val="FF339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9" grpId="0"/>
      <p:bldP spid="98" grpId="0" animBg="1"/>
      <p:bldP spid="5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9" y="332656"/>
            <a:ext cx="3888555" cy="59993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155825" indent="-2155825"/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dirty="0">
                <a:solidFill>
                  <a:srgbClr val="FF3399"/>
                </a:solidFill>
              </a:rPr>
              <a:t>奇偶校验码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掌握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  <a:p>
            <a:pPr marL="2155825" indent="-215582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思想：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155825" indent="-2155825"/>
            <a:endParaRPr lang="en-US" altLang="zh-CN" sz="2200" dirty="0">
              <a:solidFill>
                <a:srgbClr val="C00000"/>
              </a:solidFill>
            </a:endParaRPr>
          </a:p>
          <a:p>
            <a:pPr marL="2155825" indent="-2155825">
              <a:lnSpc>
                <a:spcPct val="105000"/>
              </a:lnSpc>
              <a:spcBef>
                <a:spcPts val="0"/>
              </a:spcBef>
            </a:pPr>
            <a:endParaRPr lang="en-US" altLang="zh-CN" sz="1600" dirty="0">
              <a:solidFill>
                <a:srgbClr val="C00000"/>
              </a:solidFill>
            </a:endParaRPr>
          </a:p>
          <a:p>
            <a:pPr marL="2155825" indent="-2155825">
              <a:spcBef>
                <a:spcPts val="6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校验码组成：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155825" indent="-2155825"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校验位编码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990099"/>
              </a:solidFill>
            </a:endParaRPr>
          </a:p>
          <a:p>
            <a:pPr marL="2155825" indent="-2155825"/>
            <a:endParaRPr lang="en-US" altLang="zh-CN" sz="2200" dirty="0">
              <a:solidFill>
                <a:srgbClr val="990099"/>
              </a:solidFill>
            </a:endParaRPr>
          </a:p>
          <a:p>
            <a:pPr marL="2684780" indent="-2684780"/>
            <a:endParaRPr lang="en-US" altLang="zh-CN" sz="1800" dirty="0">
              <a:solidFill>
                <a:srgbClr val="C00000"/>
              </a:solidFill>
            </a:endParaRPr>
          </a:p>
          <a:p>
            <a:pPr marL="2684780" indent="-2684780">
              <a:spcBef>
                <a:spcPts val="7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校验原理：</a:t>
            </a:r>
            <a:r>
              <a:rPr lang="zh-CN" altLang="en-US" sz="2200" dirty="0">
                <a:solidFill>
                  <a:schemeClr val="accent2"/>
                </a:solidFill>
              </a:rPr>
              <a:t>检测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zh-CN" altLang="en-US" sz="2200" dirty="0">
              <a:solidFill>
                <a:schemeClr val="accent2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        </a:t>
            </a:r>
            <a:r>
              <a:rPr lang="zh-CN" altLang="en-US" sz="2200" dirty="0">
                <a:solidFill>
                  <a:schemeClr val="accent2"/>
                </a:solidFill>
              </a:rPr>
              <a:t>判断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2684780" indent="-2684780">
              <a:spcBef>
                <a:spcPts val="0"/>
              </a:spcBef>
            </a:pPr>
            <a:endParaRPr lang="en-US" altLang="zh-CN" sz="2000" dirty="0">
              <a:solidFill>
                <a:srgbClr val="C00000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校验能力：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校验方式：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zh-CN" altLang="en-US" sz="2200" dirty="0">
                <a:solidFill>
                  <a:srgbClr val="C00000"/>
                </a:solidFill>
              </a:rPr>
              <a:t> *应用：</a:t>
            </a:r>
            <a:endParaRPr lang="en-US" altLang="zh-CN" sz="2200" dirty="0">
              <a:solidFill>
                <a:schemeClr val="accent2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331639" y="799200"/>
            <a:ext cx="7632971" cy="16330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编码时，</a:t>
            </a:r>
            <a:r>
              <a:rPr lang="zh-CN" altLang="en-US" sz="2200" u="sng" dirty="0">
                <a:solidFill>
                  <a:srgbClr val="990099"/>
                </a:solidFill>
              </a:rPr>
              <a:t>使</a:t>
            </a:r>
            <a:r>
              <a:rPr lang="zh-CN" altLang="en-US" sz="2200" dirty="0">
                <a:solidFill>
                  <a:schemeClr val="tx1"/>
                </a:solidFill>
              </a:rPr>
              <a:t>校验码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数据位</a:t>
            </a:r>
            <a:r>
              <a:rPr lang="en-US" altLang="zh-CN" sz="1800" dirty="0">
                <a:solidFill>
                  <a:schemeClr val="tx1"/>
                </a:solidFill>
              </a:rPr>
              <a:t>+</a:t>
            </a:r>
            <a:r>
              <a:rPr lang="zh-CN" altLang="en-US" sz="1800" dirty="0">
                <a:solidFill>
                  <a:schemeClr val="tx1"/>
                </a:solidFill>
              </a:rPr>
              <a:t>校验位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中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u="sng" dirty="0">
                <a:solidFill>
                  <a:schemeClr val="tx1"/>
                </a:solidFill>
              </a:rPr>
              <a:t>的个数</a:t>
            </a:r>
            <a:r>
              <a:rPr lang="zh-CN" altLang="en-US" sz="2200" dirty="0">
                <a:solidFill>
                  <a:schemeClr val="tx1"/>
                </a:solidFill>
              </a:rPr>
              <a:t>为</a:t>
            </a:r>
            <a:r>
              <a:rPr lang="zh-CN" altLang="en-US" sz="2200" u="sng" dirty="0">
                <a:solidFill>
                  <a:srgbClr val="0070C0"/>
                </a:solidFill>
              </a:rPr>
              <a:t>奇数</a:t>
            </a:r>
            <a:r>
              <a:rPr lang="en-US" altLang="zh-CN" sz="2200" u="sng" dirty="0">
                <a:solidFill>
                  <a:srgbClr val="0070C0"/>
                </a:solidFill>
              </a:rPr>
              <a:t>/</a:t>
            </a:r>
            <a:r>
              <a:rPr lang="zh-CN" altLang="en-US" sz="2200" u="sng" dirty="0">
                <a:solidFill>
                  <a:srgbClr val="0070C0"/>
                </a:solidFill>
              </a:rPr>
              <a:t>偶数</a:t>
            </a:r>
            <a:r>
              <a:rPr lang="zh-CN" altLang="en-US" sz="2200" dirty="0">
                <a:solidFill>
                  <a:schemeClr val="tx1"/>
                </a:solidFill>
              </a:rPr>
              <a:t>；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校验时，</a:t>
            </a:r>
            <a:r>
              <a:rPr lang="zh-CN" altLang="en-US" sz="2200" u="sng" dirty="0">
                <a:solidFill>
                  <a:srgbClr val="990099"/>
                </a:solidFill>
              </a:rPr>
              <a:t>检测</a:t>
            </a:r>
            <a:r>
              <a:rPr lang="zh-CN" altLang="en-US" sz="2200" dirty="0">
                <a:solidFill>
                  <a:schemeClr val="tx1"/>
                </a:solidFill>
              </a:rPr>
              <a:t>校验码中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u="sng" dirty="0">
                <a:solidFill>
                  <a:schemeClr val="tx1"/>
                </a:solidFill>
              </a:rPr>
              <a:t>的个数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rgbClr val="990099"/>
                </a:solidFill>
              </a:rPr>
              <a:t>判断</a:t>
            </a:r>
            <a:r>
              <a:rPr lang="zh-CN" altLang="en-US" sz="2200" dirty="0">
                <a:solidFill>
                  <a:schemeClr val="tx1"/>
                </a:solidFill>
              </a:rPr>
              <a:t>有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无错误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→有</a:t>
            </a:r>
            <a:r>
              <a:rPr lang="zh-CN" altLang="en-US" sz="1800" u="sng" dirty="0">
                <a:solidFill>
                  <a:srgbClr val="0070C0"/>
                </a:solidFill>
              </a:rPr>
              <a:t>奇校验</a:t>
            </a:r>
            <a:r>
              <a:rPr lang="en-US" altLang="zh-CN" sz="1800" u="sng" dirty="0">
                <a:solidFill>
                  <a:srgbClr val="0070C0"/>
                </a:solidFill>
              </a:rPr>
              <a:t>/</a:t>
            </a:r>
            <a:r>
              <a:rPr lang="zh-CN" altLang="en-US" sz="1800" u="sng" dirty="0">
                <a:solidFill>
                  <a:srgbClr val="0070C0"/>
                </a:solidFill>
              </a:rPr>
              <a:t>偶校验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种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                     ，校验位＝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位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仅需凑成奇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偶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5" name="Text Box 78"/>
          <p:cNvSpPr txBox="1">
            <a:spLocks noChangeArrowheads="1"/>
          </p:cNvSpPr>
          <p:nvPr/>
        </p:nvSpPr>
        <p:spPr bwMode="auto">
          <a:xfrm>
            <a:off x="2483768" y="2348880"/>
            <a:ext cx="6552728" cy="13154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奇校验：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</a:rPr>
              <a:t>…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rgbClr val="990099"/>
                </a:solidFill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rgbClr val="990099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dirty="0">
                <a:solidFill>
                  <a:schemeClr val="tx1"/>
                </a:solidFill>
              </a:rPr>
              <a:t>+…+m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rgbClr val="990099"/>
                </a:solidFill>
              </a:rPr>
              <a:t>+1</a:t>
            </a:r>
            <a:r>
              <a:rPr lang="en-US" altLang="zh-CN" sz="2200" dirty="0">
                <a:solidFill>
                  <a:schemeClr val="tx1"/>
                </a:solidFill>
              </a:rPr>
              <a:t> (mod 2)</a:t>
            </a:r>
          </a:p>
          <a:p>
            <a:pPr marL="2684780" indent="-2684780"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偶校验：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</a:rPr>
              <a:t>…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  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dirty="0">
                <a:solidFill>
                  <a:schemeClr val="tx1"/>
                </a:solidFill>
              </a:rPr>
              <a:t>+…+m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   (mod 2)</a:t>
            </a:r>
          </a:p>
          <a:p>
            <a:pPr marL="2684780" lvl="0" indent="-2684780">
              <a:spcBef>
                <a:spcPts val="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 例</a:t>
            </a:r>
            <a:r>
              <a:rPr lang="en-US" altLang="zh-CN" sz="2000" dirty="0">
                <a:solidFill>
                  <a:srgbClr val="990099"/>
                </a:solidFill>
              </a:rPr>
              <a:t>1—</a:t>
            </a:r>
            <a:r>
              <a:rPr lang="en-US" altLang="zh-CN" sz="2000" dirty="0">
                <a:solidFill>
                  <a:schemeClr val="tx1"/>
                </a:solidFill>
              </a:rPr>
              <a:t>10110</a:t>
            </a:r>
            <a:r>
              <a:rPr lang="zh-CN" altLang="en-US" sz="2000" dirty="0">
                <a:solidFill>
                  <a:schemeClr val="tx1"/>
                </a:solidFill>
              </a:rPr>
              <a:t>的奇校验码为</a:t>
            </a:r>
            <a:r>
              <a:rPr lang="en-US" altLang="zh-CN" sz="2000" dirty="0">
                <a:solidFill>
                  <a:schemeClr val="tx1"/>
                </a:solidFill>
              </a:rPr>
              <a:t>10110</a:t>
            </a:r>
            <a:r>
              <a:rPr lang="en-US" altLang="zh-CN" sz="2000" dirty="0">
                <a:solidFill>
                  <a:srgbClr val="FF3399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、偶校验码为</a:t>
            </a:r>
            <a:r>
              <a:rPr lang="en-US" altLang="zh-CN" sz="2000" dirty="0">
                <a:solidFill>
                  <a:schemeClr val="tx1"/>
                </a:solidFill>
              </a:rPr>
              <a:t>10110</a:t>
            </a:r>
            <a:r>
              <a:rPr lang="en-US" altLang="zh-CN" sz="2000" dirty="0">
                <a:solidFill>
                  <a:srgbClr val="FF3399"/>
                </a:solidFill>
              </a:rPr>
              <a:t>1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267744" y="2060880"/>
            <a:ext cx="2592288" cy="288000"/>
            <a:chOff x="5255295" y="3016002"/>
            <a:chExt cx="2592288" cy="288000"/>
          </a:xfrm>
        </p:grpSpPr>
        <p:sp>
          <p:nvSpPr>
            <p:cNvPr id="7" name="Text Box 75"/>
            <p:cNvSpPr txBox="1">
              <a:spLocks noChangeArrowheads="1"/>
            </p:cNvSpPr>
            <p:nvPr/>
          </p:nvSpPr>
          <p:spPr bwMode="auto">
            <a:xfrm>
              <a:off x="5255295" y="3016002"/>
              <a:ext cx="144016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数据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m</a:t>
              </a:r>
              <a:r>
                <a:rPr lang="en-US" altLang="zh-CN" sz="1800" baseline="-22000" dirty="0" err="1">
                  <a:solidFill>
                    <a:schemeClr val="tx1"/>
                  </a:solidFill>
                </a:rPr>
                <a:t>n</a:t>
              </a:r>
              <a:r>
                <a:rPr lang="en-US" altLang="zh-CN" sz="1800" dirty="0">
                  <a:solidFill>
                    <a:schemeClr val="tx1"/>
                  </a:solidFill>
                </a:rPr>
                <a:t>…m</a:t>
              </a:r>
              <a:r>
                <a:rPr lang="en-US" altLang="zh-CN" sz="1800" baseline="-22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Text Box 76"/>
            <p:cNvSpPr txBox="1">
              <a:spLocks noChangeArrowheads="1"/>
            </p:cNvSpPr>
            <p:nvPr/>
          </p:nvSpPr>
          <p:spPr bwMode="auto">
            <a:xfrm>
              <a:off x="6695455" y="3016002"/>
              <a:ext cx="1152128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校验位</a:t>
              </a:r>
              <a:r>
                <a:rPr lang="en-US" altLang="zh-CN" sz="1800" dirty="0">
                  <a:solidFill>
                    <a:schemeClr val="tx1"/>
                  </a:solidFill>
                </a:rPr>
                <a:t>p</a:t>
              </a:r>
              <a:r>
                <a:rPr lang="en-US" altLang="zh-CN" sz="1800" baseline="-22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1331515" y="3645024"/>
            <a:ext cx="7632971" cy="26887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sz="2200" dirty="0">
                <a:solidFill>
                  <a:schemeClr val="accent2"/>
                </a:solidFill>
              </a:rPr>
              <a:t>          </a:t>
            </a:r>
            <a:r>
              <a:rPr lang="zh-CN" altLang="en-US" sz="2200" dirty="0">
                <a:solidFill>
                  <a:schemeClr val="tx1"/>
                </a:solidFill>
              </a:rPr>
              <a:t>故障字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⊕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</a:rPr>
              <a:t>为接收的、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</a:rPr>
              <a:t>为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</a:rPr>
              <a:t>形成的</a:t>
            </a:r>
          </a:p>
          <a:p>
            <a:pPr marL="2684780" indent="-2684780">
              <a:spcBef>
                <a:spcPts val="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      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时</a:t>
            </a:r>
            <a:r>
              <a:rPr lang="zh-CN" altLang="en-US" sz="2200" u="sng" dirty="0">
                <a:solidFill>
                  <a:srgbClr val="0070C0"/>
                </a:solidFill>
              </a:rPr>
              <a:t>无错误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时</a:t>
            </a:r>
            <a:r>
              <a:rPr lang="zh-CN" altLang="en-US" sz="2200" u="sng" dirty="0">
                <a:solidFill>
                  <a:srgbClr val="0070C0"/>
                </a:solidFill>
              </a:rPr>
              <a:t>有错误</a:t>
            </a:r>
            <a:endParaRPr lang="en-US" altLang="zh-CN" sz="2200" u="sng" dirty="0">
              <a:solidFill>
                <a:srgbClr val="0070C0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  例</a:t>
            </a:r>
            <a:r>
              <a:rPr lang="en-US" altLang="zh-CN" sz="2000" dirty="0">
                <a:solidFill>
                  <a:srgbClr val="990099"/>
                </a:solidFill>
              </a:rPr>
              <a:t>2—</a:t>
            </a:r>
            <a:r>
              <a:rPr lang="zh-CN" altLang="en-US" sz="2000" dirty="0">
                <a:solidFill>
                  <a:schemeClr val="tx1"/>
                </a:solidFill>
              </a:rPr>
              <a:t>所收校验码</a:t>
            </a:r>
            <a:r>
              <a:rPr lang="en-US" altLang="zh-CN" sz="2000" dirty="0">
                <a:solidFill>
                  <a:schemeClr val="tx1"/>
                </a:solidFill>
              </a:rPr>
              <a:t>0101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1010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1011</a:t>
            </a:r>
            <a:r>
              <a:rPr lang="zh-CN" altLang="en-US" sz="2000" dirty="0">
                <a:solidFill>
                  <a:schemeClr val="tx1"/>
                </a:solidFill>
              </a:rPr>
              <a:t>中仅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个有错，编码方式是？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可检出</a:t>
            </a:r>
            <a:r>
              <a:rPr lang="zh-CN" altLang="en-US" sz="2200" u="sng" dirty="0">
                <a:solidFill>
                  <a:srgbClr val="990099"/>
                </a:solidFill>
              </a:rPr>
              <a:t>奇数个</a:t>
            </a:r>
            <a:r>
              <a:rPr lang="zh-CN" altLang="en-US" sz="2200" dirty="0">
                <a:solidFill>
                  <a:schemeClr val="tx1"/>
                </a:solidFill>
              </a:rPr>
              <a:t>错，</a:t>
            </a:r>
            <a:r>
              <a:rPr lang="zh-CN" altLang="en-US" sz="2200" u="sng" dirty="0">
                <a:solidFill>
                  <a:srgbClr val="990099"/>
                </a:solidFill>
              </a:rPr>
              <a:t>无法</a:t>
            </a:r>
            <a:r>
              <a:rPr lang="zh-CN" altLang="en-US" sz="2200" dirty="0">
                <a:solidFill>
                  <a:schemeClr val="tx1"/>
                </a:solidFill>
              </a:rPr>
              <a:t>纠错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位置未知</a:t>
            </a:r>
            <a:r>
              <a:rPr lang="en-US" altLang="zh-CN" sz="1800" dirty="0">
                <a:solidFill>
                  <a:schemeClr val="tx1"/>
                </a:solidFill>
              </a:rPr>
              <a:t>)     ←S</a:t>
            </a:r>
            <a:r>
              <a:rPr lang="zh-CN" altLang="en-US" sz="1800" dirty="0">
                <a:solidFill>
                  <a:schemeClr val="tx1"/>
                </a:solidFill>
              </a:rPr>
              <a:t>仅有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u="sng" dirty="0">
                <a:solidFill>
                  <a:schemeClr val="tx1"/>
                </a:solidFill>
              </a:rPr>
              <a:t>串行</a:t>
            </a:r>
            <a:r>
              <a:rPr lang="zh-CN" altLang="en-US" sz="2200" dirty="0">
                <a:solidFill>
                  <a:schemeClr val="tx1"/>
                </a:solidFill>
              </a:rPr>
              <a:t>校验</a:t>
            </a:r>
            <a:r>
              <a:rPr lang="en-US" altLang="zh-CN" sz="1800" dirty="0">
                <a:solidFill>
                  <a:schemeClr val="tx1"/>
                </a:solidFill>
              </a:rPr>
              <a:t>(P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zh-CN" altLang="en-US" sz="1800" dirty="0">
                <a:solidFill>
                  <a:schemeClr val="tx1"/>
                </a:solidFill>
              </a:rPr>
              <a:t>可</a:t>
            </a:r>
            <a:r>
              <a:rPr lang="zh-CN" altLang="en-US" sz="1800" u="sng" dirty="0">
                <a:solidFill>
                  <a:schemeClr val="tx1"/>
                </a:solidFill>
              </a:rPr>
              <a:t>逐位</a:t>
            </a:r>
            <a:r>
              <a:rPr lang="zh-CN" altLang="en-US" sz="1800" dirty="0">
                <a:solidFill>
                  <a:schemeClr val="tx1"/>
                </a:solidFill>
              </a:rPr>
              <a:t>异或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广泛用于</a:t>
            </a:r>
            <a:r>
              <a:rPr lang="en-US" altLang="zh-CN" sz="2200" u="sng" dirty="0">
                <a:solidFill>
                  <a:schemeClr val="tx1"/>
                </a:solidFill>
              </a:rPr>
              <a:t>I/O</a:t>
            </a:r>
            <a:r>
              <a:rPr lang="zh-CN" altLang="en-US" sz="2200" u="sng" dirty="0">
                <a:solidFill>
                  <a:schemeClr val="tx1"/>
                </a:solidFill>
              </a:rPr>
              <a:t>传输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有甚于无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AutoShape 130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9C5D142-0847-4C85-A1B1-BBCEDA4DE3E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8518" y="652603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002DF-BB46-43AB-98FD-9927CFC7E87C}" type="slidenum">
              <a:rPr lang="en-US" altLang="zh-CN"/>
              <a:t>17</a:t>
            </a:fld>
            <a:endParaRPr lang="en-US" altLang="zh-CN" dirty="0"/>
          </a:p>
        </p:txBody>
      </p:sp>
      <p:sp>
        <p:nvSpPr>
          <p:cNvPr id="223415" name="AutoShape 18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165"/>
          <p:cNvSpPr txBox="1">
            <a:spLocks noChangeArrowheads="1"/>
          </p:cNvSpPr>
          <p:nvPr/>
        </p:nvSpPr>
        <p:spPr bwMode="auto">
          <a:xfrm>
            <a:off x="179389" y="328007"/>
            <a:ext cx="3744556" cy="42491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海明校验码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了解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思想：</a:t>
            </a:r>
            <a:endParaRPr lang="en-US" altLang="zh-CN" sz="2200" spc="-14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多重校验的内涵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</a:rPr>
              <a:t>检测：</a:t>
            </a:r>
            <a:endParaRPr lang="en-US" altLang="zh-CN" sz="2200" dirty="0">
              <a:solidFill>
                <a:srgbClr val="990099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</a:rPr>
              <a:t>检错</a:t>
            </a:r>
            <a:r>
              <a:rPr lang="en-US" altLang="zh-CN" sz="2200" dirty="0">
                <a:solidFill>
                  <a:srgbClr val="990099"/>
                </a:solidFill>
              </a:rPr>
              <a:t>/</a:t>
            </a:r>
            <a:r>
              <a:rPr lang="zh-CN" altLang="en-US" sz="2200" dirty="0">
                <a:solidFill>
                  <a:srgbClr val="990099"/>
                </a:solidFill>
              </a:rPr>
              <a:t>纠错：</a:t>
            </a:r>
            <a:endParaRPr lang="en-US" altLang="zh-CN" sz="2200" dirty="0">
              <a:solidFill>
                <a:srgbClr val="990099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校验位的位数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11" name="Text Box 167"/>
          <p:cNvSpPr txBox="1">
            <a:spLocks noChangeArrowheads="1"/>
          </p:cNvSpPr>
          <p:nvPr/>
        </p:nvSpPr>
        <p:spPr bwMode="auto">
          <a:xfrm>
            <a:off x="1331640" y="836712"/>
            <a:ext cx="7812360" cy="15837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数据</a:t>
            </a:r>
            <a:r>
              <a:rPr lang="zh-CN" altLang="en-US" sz="2200" u="sng" dirty="0">
                <a:solidFill>
                  <a:srgbClr val="990099"/>
                </a:solidFill>
              </a:rPr>
              <a:t>分成</a:t>
            </a:r>
            <a:r>
              <a:rPr lang="zh-CN" altLang="en-US" sz="2200" u="sng" dirty="0">
                <a:solidFill>
                  <a:srgbClr val="0070C0"/>
                </a:solidFill>
              </a:rPr>
              <a:t>多个有重叠的组</a:t>
            </a:r>
            <a:r>
              <a:rPr lang="zh-CN" altLang="en-US" sz="2200" dirty="0">
                <a:solidFill>
                  <a:schemeClr val="tx1"/>
                </a:solidFill>
              </a:rPr>
              <a:t>；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编码时，各组</a:t>
            </a:r>
            <a:r>
              <a:rPr lang="zh-CN" altLang="en-US" sz="2200" u="sng" dirty="0">
                <a:solidFill>
                  <a:srgbClr val="990099"/>
                </a:solidFill>
              </a:rPr>
              <a:t>采用</a:t>
            </a:r>
            <a:r>
              <a:rPr lang="zh-CN" altLang="en-US" sz="2200" u="sng" dirty="0">
                <a:solidFill>
                  <a:srgbClr val="0070C0"/>
                </a:solidFill>
              </a:rPr>
              <a:t>奇偶校验</a:t>
            </a:r>
            <a:r>
              <a:rPr lang="zh-CN" altLang="en-US" sz="2200" dirty="0">
                <a:solidFill>
                  <a:schemeClr val="tx1"/>
                </a:solidFill>
              </a:rPr>
              <a:t>编码；</a:t>
            </a:r>
            <a:r>
              <a:rPr lang="zh-CN" altLang="en-US" sz="1800" dirty="0">
                <a:solidFill>
                  <a:schemeClr val="tx1"/>
                </a:solidFill>
              </a:rPr>
              <a:t> ←</a:t>
            </a:r>
            <a:r>
              <a:rPr lang="zh-CN" altLang="en-US" sz="1800" u="sng" dirty="0">
                <a:solidFill>
                  <a:schemeClr val="tx1"/>
                </a:solidFill>
              </a:rPr>
              <a:t>一个</a:t>
            </a:r>
            <a:r>
              <a:rPr lang="zh-CN" altLang="en-US" sz="1800" dirty="0">
                <a:solidFill>
                  <a:schemeClr val="tx1"/>
                </a:solidFill>
              </a:rPr>
              <a:t>数据位</a:t>
            </a:r>
            <a:r>
              <a:rPr lang="zh-CN" altLang="en-US" sz="1800" dirty="0">
                <a:solidFill>
                  <a:srgbClr val="FF3399"/>
                </a:solidFill>
              </a:rPr>
              <a:t>加入</a:t>
            </a:r>
            <a:r>
              <a:rPr lang="zh-CN" altLang="en-US" sz="1800" u="sng" dirty="0">
                <a:solidFill>
                  <a:schemeClr val="tx1"/>
                </a:solidFill>
              </a:rPr>
              <a:t>多个</a:t>
            </a:r>
            <a:r>
              <a:rPr lang="zh-CN" altLang="en-US" sz="1800" dirty="0">
                <a:solidFill>
                  <a:schemeClr val="tx1"/>
                </a:solidFill>
              </a:rPr>
              <a:t>校验组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校验时，</a:t>
            </a:r>
            <a:r>
              <a:rPr lang="zh-CN" altLang="en-US" sz="2200" u="sng" dirty="0">
                <a:solidFill>
                  <a:srgbClr val="990099"/>
                </a:solidFill>
              </a:rPr>
              <a:t>根据</a:t>
            </a:r>
            <a:r>
              <a:rPr lang="zh-CN" altLang="en-US" sz="2200" u="sng" dirty="0">
                <a:solidFill>
                  <a:srgbClr val="0070C0"/>
                </a:solidFill>
              </a:rPr>
              <a:t>多重奇偶校验</a:t>
            </a:r>
            <a:r>
              <a:rPr lang="zh-CN" altLang="en-US" sz="2200" dirty="0">
                <a:solidFill>
                  <a:schemeClr val="tx1"/>
                </a:solidFill>
              </a:rPr>
              <a:t>结果，</a:t>
            </a:r>
            <a:r>
              <a:rPr lang="zh-CN" altLang="en-US" sz="2200" u="sng" dirty="0">
                <a:solidFill>
                  <a:srgbClr val="990099"/>
                </a:solidFill>
              </a:rPr>
              <a:t>纠正</a:t>
            </a:r>
            <a:r>
              <a:rPr lang="en-US" altLang="zh-CN" sz="1800" u="sng" dirty="0">
                <a:solidFill>
                  <a:srgbClr val="990099"/>
                </a:solidFill>
              </a:rPr>
              <a:t>(</a:t>
            </a:r>
            <a:r>
              <a:rPr lang="zh-CN" altLang="en-US" sz="1800" u="sng" dirty="0">
                <a:solidFill>
                  <a:srgbClr val="990099"/>
                </a:solidFill>
              </a:rPr>
              <a:t>定位</a:t>
            </a:r>
            <a:r>
              <a:rPr lang="en-US" altLang="zh-CN" sz="1800" u="sng" dirty="0">
                <a:solidFill>
                  <a:srgbClr val="990099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错误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└────────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dirty="0">
                <a:solidFill>
                  <a:schemeClr val="tx1"/>
                </a:solidFill>
              </a:rPr>
              <a:t>一个</a:t>
            </a:r>
            <a:r>
              <a:rPr lang="zh-CN" altLang="en-US" sz="1800" dirty="0">
                <a:solidFill>
                  <a:schemeClr val="tx1"/>
                </a:solidFill>
              </a:rPr>
              <a:t>数据位错</a:t>
            </a:r>
            <a:r>
              <a:rPr lang="zh-CN" altLang="en-US" sz="1800" dirty="0">
                <a:solidFill>
                  <a:srgbClr val="FF3399"/>
                </a:solidFill>
              </a:rPr>
              <a:t>导致</a:t>
            </a:r>
            <a:r>
              <a:rPr lang="zh-CN" altLang="en-US" sz="1800" u="sng" dirty="0">
                <a:solidFill>
                  <a:schemeClr val="tx1"/>
                </a:solidFill>
              </a:rPr>
              <a:t>多个</a:t>
            </a:r>
            <a:r>
              <a:rPr lang="zh-CN" altLang="en-US" sz="1800" dirty="0">
                <a:solidFill>
                  <a:schemeClr val="tx1"/>
                </a:solidFill>
              </a:rPr>
              <a:t>校验位错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2" name="Text Box 173"/>
          <p:cNvSpPr txBox="1">
            <a:spLocks noChangeArrowheads="1"/>
          </p:cNvSpPr>
          <p:nvPr/>
        </p:nvSpPr>
        <p:spPr bwMode="auto">
          <a:xfrm>
            <a:off x="1187623" y="2380489"/>
            <a:ext cx="7881789" cy="36942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           设数据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dirty="0">
                <a:solidFill>
                  <a:schemeClr val="tx1"/>
                </a:solidFill>
              </a:rPr>
              <a:t>…m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，校验位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k</a:t>
            </a:r>
            <a:r>
              <a:rPr lang="en-US" altLang="zh-CN" sz="2200" dirty="0">
                <a:solidFill>
                  <a:schemeClr val="tx1"/>
                </a:solidFill>
              </a:rPr>
              <a:t>…p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有</a:t>
            </a:r>
            <a:r>
              <a:rPr lang="en-US" altLang="zh-CN" sz="1800" dirty="0">
                <a:solidFill>
                  <a:schemeClr val="tx1"/>
                </a:solidFill>
              </a:rPr>
              <a:t>k</a:t>
            </a:r>
            <a:r>
              <a:rPr lang="zh-CN" altLang="en-US" sz="1800" dirty="0">
                <a:solidFill>
                  <a:schemeClr val="tx1"/>
                </a:solidFill>
              </a:rPr>
              <a:t>个组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rgbClr val="990099"/>
                </a:solidFill>
              </a:rPr>
              <a:t>     </a:t>
            </a:r>
            <a:r>
              <a:rPr lang="zh-CN" altLang="en-US" sz="2200" dirty="0">
                <a:solidFill>
                  <a:schemeClr val="tx1"/>
                </a:solidFill>
              </a:rPr>
              <a:t>故障字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s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k</a:t>
            </a:r>
            <a:r>
              <a:rPr lang="en-US" altLang="zh-CN" sz="2200" dirty="0">
                <a:solidFill>
                  <a:schemeClr val="tx1"/>
                </a:solidFill>
              </a:rPr>
              <a:t>…s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 err="1">
                <a:solidFill>
                  <a:schemeClr val="tx1"/>
                </a:solidFill>
              </a:rPr>
              <a:t>s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⊕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(mod 2)</a:t>
            </a:r>
          </a:p>
          <a:p>
            <a:pPr marL="2684780" indent="-2684780"/>
            <a:r>
              <a:rPr lang="en-US" altLang="zh-CN" sz="2200" dirty="0">
                <a:solidFill>
                  <a:srgbClr val="990099"/>
                </a:solidFill>
              </a:rPr>
              <a:t>          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时</a:t>
            </a:r>
            <a:r>
              <a:rPr lang="zh-CN" altLang="en-US" sz="2200" u="sng" dirty="0">
                <a:solidFill>
                  <a:srgbClr val="0070C0"/>
                </a:solidFill>
              </a:rPr>
              <a:t>无错误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S≠0</a:t>
            </a:r>
            <a:r>
              <a:rPr lang="zh-CN" altLang="en-US" sz="2200" dirty="0">
                <a:solidFill>
                  <a:schemeClr val="tx1"/>
                </a:solidFill>
              </a:rPr>
              <a:t>时</a:t>
            </a:r>
            <a:r>
              <a:rPr lang="zh-CN" altLang="en-US" sz="2200" u="sng" dirty="0">
                <a:solidFill>
                  <a:srgbClr val="0070C0"/>
                </a:solidFill>
              </a:rPr>
              <a:t>表示</a:t>
            </a:r>
            <a:r>
              <a:rPr lang="zh-CN" altLang="en-US" sz="2200" u="sng" dirty="0">
                <a:solidFill>
                  <a:srgbClr val="0070C0"/>
                </a:solidFill>
                <a:highlight>
                  <a:srgbClr val="FFFF00"/>
                </a:highlight>
              </a:rPr>
              <a:t>错误位置</a:t>
            </a:r>
            <a:endParaRPr lang="en-US" altLang="zh-CN" sz="2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2684780" indent="-2684780"/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en-US" altLang="zh-CN" sz="2200" dirty="0">
                <a:solidFill>
                  <a:schemeClr val="tx1"/>
                </a:solidFill>
              </a:rPr>
              <a:t>           k</a:t>
            </a:r>
            <a:r>
              <a:rPr lang="zh-CN" altLang="en-US" sz="22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组数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，取决于</a:t>
            </a:r>
            <a:r>
              <a:rPr lang="zh-CN" altLang="en-US" sz="2200" u="sng" dirty="0">
                <a:solidFill>
                  <a:srgbClr val="990099"/>
                </a:solidFill>
              </a:rPr>
              <a:t>校验能力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如纠正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/2</a:t>
            </a:r>
            <a:r>
              <a:rPr lang="zh-CN" altLang="en-US" sz="1800" dirty="0">
                <a:solidFill>
                  <a:schemeClr val="tx1"/>
                </a:solidFill>
              </a:rPr>
              <a:t>位错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 marL="2684780" indent="-2684780"/>
            <a:r>
              <a:rPr lang="zh-CN" altLang="en-US" sz="2000" dirty="0">
                <a:solidFill>
                  <a:srgbClr val="0070C0"/>
                </a:solidFill>
              </a:rPr>
              <a:t>如：</a:t>
            </a:r>
            <a:r>
              <a:rPr lang="zh-CN" altLang="en-US" sz="2000" u="sng" dirty="0">
                <a:solidFill>
                  <a:schemeClr val="tx1"/>
                </a:solidFill>
              </a:rPr>
              <a:t>单纠错码</a:t>
            </a:r>
            <a:r>
              <a:rPr lang="en-US" altLang="zh-CN" sz="2000" u="sng" dirty="0">
                <a:solidFill>
                  <a:schemeClr val="tx1"/>
                </a:solidFill>
              </a:rPr>
              <a:t>SEC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k</a:t>
            </a:r>
            <a:r>
              <a:rPr lang="zh-CN" altLang="en-US" sz="2000" dirty="0">
                <a:solidFill>
                  <a:schemeClr val="tx1"/>
                </a:solidFill>
              </a:rPr>
              <a:t>满足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</a:rPr>
              <a:t>k</a:t>
            </a:r>
            <a:r>
              <a:rPr lang="en-US" altLang="zh-CN" sz="2000" dirty="0">
                <a:solidFill>
                  <a:schemeClr val="tx1"/>
                </a:solidFill>
              </a:rPr>
              <a:t>-1</a:t>
            </a:r>
            <a:r>
              <a:rPr lang="zh-CN" altLang="en-US" sz="2000" dirty="0">
                <a:solidFill>
                  <a:schemeClr val="tx1"/>
                </a:solidFill>
              </a:rPr>
              <a:t>≥</a:t>
            </a:r>
            <a:r>
              <a:rPr lang="en-US" altLang="zh-CN" sz="2000" dirty="0" err="1">
                <a:solidFill>
                  <a:schemeClr val="tx1"/>
                </a:solidFill>
              </a:rPr>
              <a:t>n+k</a:t>
            </a:r>
            <a:r>
              <a:rPr lang="en-US" altLang="zh-CN" sz="2000" dirty="0">
                <a:solidFill>
                  <a:schemeClr val="tx1"/>
                </a:solidFill>
              </a:rPr>
              <a:t>              </a:t>
            </a:r>
            <a:r>
              <a:rPr lang="zh-CN" altLang="en-US" sz="1600" dirty="0">
                <a:solidFill>
                  <a:schemeClr val="tx1"/>
                </a:solidFill>
              </a:rPr>
              <a:t>←错码数≥位置数</a:t>
            </a:r>
            <a:endParaRPr lang="en-US" altLang="zh-CN" sz="1600" u="sng" dirty="0">
              <a:solidFill>
                <a:srgbClr val="0070C0"/>
              </a:solidFill>
            </a:endParaRPr>
          </a:p>
          <a:p>
            <a:pPr marL="2684780" indent="-2684780"/>
            <a:endParaRPr lang="en-US" altLang="zh-CN" sz="2000" dirty="0">
              <a:solidFill>
                <a:schemeClr val="tx1"/>
              </a:solidFill>
            </a:endParaRPr>
          </a:p>
          <a:p>
            <a:pPr marL="2684780" indent="-2684780"/>
            <a:endParaRPr lang="en-US" altLang="zh-CN" sz="18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000" dirty="0">
                <a:solidFill>
                  <a:schemeClr val="tx1"/>
                </a:solidFill>
              </a:rPr>
              <a:t>    </a:t>
            </a:r>
            <a:r>
              <a:rPr lang="zh-CN" altLang="en-US" sz="2000" u="sng" dirty="0">
                <a:solidFill>
                  <a:schemeClr val="tx1"/>
                </a:solidFill>
              </a:rPr>
              <a:t>双纠错码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k</a:t>
            </a:r>
            <a:r>
              <a:rPr lang="zh-CN" altLang="en-US" sz="2000" dirty="0">
                <a:solidFill>
                  <a:schemeClr val="tx1"/>
                </a:solidFill>
              </a:rPr>
              <a:t>满足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</a:rPr>
              <a:t>k</a:t>
            </a:r>
            <a:r>
              <a:rPr lang="en-US" altLang="zh-CN" sz="2000" dirty="0">
                <a:solidFill>
                  <a:schemeClr val="tx1"/>
                </a:solidFill>
              </a:rPr>
              <a:t>-1</a:t>
            </a:r>
            <a:r>
              <a:rPr lang="zh-CN" altLang="en-US" sz="2000" dirty="0">
                <a:solidFill>
                  <a:schemeClr val="tx1"/>
                </a:solidFill>
              </a:rPr>
              <a:t>≥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 err="1">
                <a:solidFill>
                  <a:schemeClr val="tx1"/>
                </a:solidFill>
              </a:rPr>
              <a:t>n+k</a:t>
            </a:r>
            <a:r>
              <a:rPr lang="en-US" altLang="zh-CN" sz="2000" dirty="0">
                <a:solidFill>
                  <a:schemeClr val="tx1"/>
                </a:solidFill>
              </a:rPr>
              <a:t>)+(</a:t>
            </a:r>
            <a:r>
              <a:rPr lang="en-US" altLang="zh-CN" sz="2000" dirty="0" err="1">
                <a:solidFill>
                  <a:schemeClr val="tx1"/>
                </a:solidFill>
              </a:rPr>
              <a:t>n+k</a:t>
            </a:r>
            <a:r>
              <a:rPr lang="en-US" altLang="zh-CN" sz="2000" dirty="0">
                <a:solidFill>
                  <a:schemeClr val="tx1"/>
                </a:solidFill>
              </a:rPr>
              <a:t>)*(n+k-1)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位错数</a:t>
            </a:r>
            <a:r>
              <a:rPr lang="en-US" altLang="zh-CN" sz="1600" dirty="0">
                <a:solidFill>
                  <a:schemeClr val="tx1"/>
                </a:solidFill>
              </a:rPr>
              <a:t>+2</a:t>
            </a:r>
            <a:r>
              <a:rPr lang="zh-CN" altLang="en-US" sz="1600" dirty="0">
                <a:solidFill>
                  <a:schemeClr val="tx1"/>
                </a:solidFill>
              </a:rPr>
              <a:t>位错数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13" name="Group 6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77972"/>
              </p:ext>
            </p:extLst>
          </p:nvPr>
        </p:nvGraphicFramePr>
        <p:xfrm>
          <a:off x="2195736" y="5013176"/>
          <a:ext cx="5040561" cy="584640"/>
        </p:xfrm>
        <a:graphic>
          <a:graphicData uri="http://schemas.openxmlformats.org/drawingml/2006/table">
            <a:tbl>
              <a:tblPr/>
              <a:tblGrid>
                <a:gridCol w="1257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27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最小值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83E43E0-E6FE-43DB-9843-873C7FE01524}"/>
              </a:ext>
            </a:extLst>
          </p:cNvPr>
          <p:cNvCxnSpPr>
            <a:cxnSpLocks/>
          </p:cNvCxnSpPr>
          <p:nvPr/>
        </p:nvCxnSpPr>
        <p:spPr bwMode="auto">
          <a:xfrm>
            <a:off x="6444208" y="2098800"/>
            <a:ext cx="288032" cy="1224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5" name="Text Box 200">
            <a:extLst>
              <a:ext uri="{FF2B5EF4-FFF2-40B4-BE49-F238E27FC236}">
                <a16:creationId xmlns:a16="http://schemas.microsoft.com/office/drawing/2014/main" id="{33CA8715-0B03-410B-9E82-15D44F5F7D9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75656" y="3753072"/>
            <a:ext cx="4949375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如何才能表示错误位置？对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k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有要求吗？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Text Box 200">
            <a:extLst>
              <a:ext uri="{FF2B5EF4-FFF2-40B4-BE49-F238E27FC236}">
                <a16:creationId xmlns:a16="http://schemas.microsoft.com/office/drawing/2014/main" id="{FF5E2517-E997-4B4A-96FB-D6FDD1C5BD69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16216" y="3753072"/>
            <a:ext cx="2553196" cy="32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各数据位加入的组不同，有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196F-76CA-417E-8406-136A7897435C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7711" name="Text Box 543"/>
          <p:cNvSpPr txBox="1">
            <a:spLocks noChangeArrowheads="1"/>
          </p:cNvSpPr>
          <p:nvPr/>
        </p:nvSpPr>
        <p:spPr bwMode="auto">
          <a:xfrm>
            <a:off x="179387" y="332656"/>
            <a:ext cx="8713218" cy="33812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校验码组成：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以</a:t>
            </a:r>
            <a:r>
              <a:rPr lang="en-US" altLang="zh-CN" sz="1800" dirty="0">
                <a:solidFill>
                  <a:schemeClr val="tx1"/>
                </a:solidFill>
              </a:rPr>
              <a:t>4</a:t>
            </a:r>
            <a:r>
              <a:rPr lang="zh-CN" altLang="en-US" sz="1800" dirty="0">
                <a:solidFill>
                  <a:schemeClr val="tx1"/>
                </a:solidFill>
              </a:rPr>
              <a:t>个校验组的</a:t>
            </a:r>
            <a:r>
              <a:rPr lang="en-US" altLang="zh-CN" sz="1800" dirty="0">
                <a:solidFill>
                  <a:schemeClr val="tx1"/>
                </a:solidFill>
              </a:rPr>
              <a:t>SEC</a:t>
            </a:r>
            <a:r>
              <a:rPr lang="zh-CN" altLang="en-US" sz="1800" dirty="0">
                <a:solidFill>
                  <a:schemeClr val="tx1"/>
                </a:solidFill>
              </a:rPr>
              <a:t>码为例</a:t>
            </a:r>
            <a:r>
              <a:rPr lang="en-US" altLang="zh-CN" sz="1800" dirty="0">
                <a:solidFill>
                  <a:schemeClr val="tx1"/>
                </a:solidFill>
              </a:rPr>
              <a:t>[M=m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11</a:t>
            </a:r>
            <a:r>
              <a:rPr lang="en-US" altLang="zh-CN" sz="1800" dirty="0">
                <a:solidFill>
                  <a:schemeClr val="tx1"/>
                </a:solidFill>
              </a:rPr>
              <a:t>…m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P=p</a:t>
            </a:r>
            <a:r>
              <a:rPr lang="en-US" altLang="zh-CN" sz="1800" baseline="-18000" dirty="0">
                <a:solidFill>
                  <a:schemeClr val="tx1"/>
                </a:solidFill>
              </a:rPr>
              <a:t>4</a:t>
            </a:r>
            <a:r>
              <a:rPr lang="en-US" altLang="zh-CN" sz="1800" dirty="0">
                <a:solidFill>
                  <a:schemeClr val="tx1"/>
                </a:solidFill>
              </a:rPr>
              <a:t>…p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])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故障字</a:t>
            </a:r>
            <a:r>
              <a:rPr lang="en-US" altLang="zh-CN" sz="2200" dirty="0">
                <a:solidFill>
                  <a:schemeClr val="accent2"/>
                </a:solidFill>
              </a:rPr>
              <a:t>S</a:t>
            </a:r>
            <a:r>
              <a:rPr lang="zh-CN" altLang="en-US" sz="2200" dirty="0">
                <a:solidFill>
                  <a:schemeClr val="accent2"/>
                </a:solidFill>
              </a:rPr>
              <a:t>的约定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表示</a:t>
            </a:r>
            <a:r>
              <a:rPr lang="zh-CN" altLang="en-US" sz="2200" dirty="0">
                <a:solidFill>
                  <a:srgbClr val="990099"/>
                </a:solidFill>
              </a:rPr>
              <a:t>错误位置</a:t>
            </a:r>
            <a:r>
              <a:rPr lang="zh-CN" altLang="en-US" sz="2200" dirty="0">
                <a:solidFill>
                  <a:schemeClr val="tx1"/>
                </a:solidFill>
              </a:rPr>
              <a:t>       </a:t>
            </a:r>
            <a:r>
              <a:rPr lang="zh-CN" altLang="en-US" sz="1800" b="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err="1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k</a:t>
            </a:r>
            <a:r>
              <a:rPr lang="en-US" altLang="zh-CN" sz="1800" dirty="0">
                <a:solidFill>
                  <a:schemeClr val="tx1"/>
                </a:solidFill>
              </a:rPr>
              <a:t>…s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684780" indent="-2684780"/>
            <a:endParaRPr lang="en-US" altLang="zh-CN" sz="2000" dirty="0">
              <a:solidFill>
                <a:srgbClr val="990099"/>
              </a:solidFill>
            </a:endParaRPr>
          </a:p>
          <a:p>
            <a:pPr marL="2684780" indent="-2684780">
              <a:spcBef>
                <a:spcPts val="0"/>
              </a:spcBef>
            </a:pPr>
            <a:endParaRPr lang="en-US" altLang="zh-CN" sz="2000" dirty="0">
              <a:solidFill>
                <a:srgbClr val="990099"/>
              </a:solidFill>
            </a:endParaRPr>
          </a:p>
          <a:p>
            <a:pPr marL="2684780" indent="-2684780">
              <a:spcBef>
                <a:spcPts val="15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校验码字的组成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信息的位置</a:t>
            </a:r>
            <a:r>
              <a:rPr lang="en-US" altLang="zh-CN" sz="2200" dirty="0">
                <a:solidFill>
                  <a:schemeClr val="tx1"/>
                </a:solidFill>
              </a:rPr>
              <a:t>H</a:t>
            </a:r>
            <a:r>
              <a:rPr lang="zh-CN" altLang="en-US" sz="2200" dirty="0">
                <a:solidFill>
                  <a:srgbClr val="990099"/>
                </a:solidFill>
              </a:rPr>
              <a:t>＝</a:t>
            </a:r>
            <a:r>
              <a:rPr lang="en-US" altLang="zh-CN" sz="2200" dirty="0">
                <a:solidFill>
                  <a:srgbClr val="990099"/>
                </a:solidFill>
              </a:rPr>
              <a:t>S   </a:t>
            </a:r>
            <a:r>
              <a:rPr lang="en-US" altLang="zh-CN" sz="1800" dirty="0">
                <a:solidFill>
                  <a:srgbClr val="990099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有错时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err="1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k</a:t>
            </a:r>
            <a:r>
              <a:rPr lang="en-US" altLang="zh-CN" sz="1800" dirty="0">
                <a:solidFill>
                  <a:schemeClr val="tx1"/>
                </a:solidFill>
              </a:rPr>
              <a:t>…s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H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err="1">
                <a:solidFill>
                  <a:schemeClr val="tx1"/>
                </a:solidFill>
              </a:rPr>
              <a:t>h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k</a:t>
            </a:r>
            <a:r>
              <a:rPr lang="en-US" altLang="zh-CN" sz="1800" dirty="0">
                <a:solidFill>
                  <a:schemeClr val="tx1"/>
                </a:solidFill>
              </a:rPr>
              <a:t>…h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18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数据的分组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aphicFrame>
        <p:nvGraphicFramePr>
          <p:cNvPr id="7777" name="Group 6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010471"/>
              </p:ext>
            </p:extLst>
          </p:nvPr>
        </p:nvGraphicFramePr>
        <p:xfrm>
          <a:off x="1259632" y="2564904"/>
          <a:ext cx="7632973" cy="554160"/>
        </p:xfrm>
        <a:graphic>
          <a:graphicData uri="http://schemas.openxmlformats.org/drawingml/2006/table">
            <a:tbl>
              <a:tblPr/>
              <a:tblGrid>
                <a:gridCol w="71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655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位置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5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78" name="AutoShape 6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79" name="AutoShape 6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418">
            <a:extLst>
              <a:ext uri="{FF2B5EF4-FFF2-40B4-BE49-F238E27FC236}">
                <a16:creationId xmlns:a16="http://schemas.microsoft.com/office/drawing/2014/main" id="{9EE8A73D-2CB9-4D47-8B57-10E72CBC0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3212976"/>
            <a:ext cx="6480720" cy="73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位置为</a:t>
            </a:r>
            <a:r>
              <a:rPr lang="en-US" altLang="zh-CN" sz="2200" dirty="0" err="1">
                <a:solidFill>
                  <a:schemeClr val="tx1"/>
                </a:solidFill>
              </a:rPr>
              <a:t>h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k</a:t>
            </a:r>
            <a:r>
              <a:rPr lang="en-US" altLang="zh-CN" sz="2200" dirty="0">
                <a:solidFill>
                  <a:schemeClr val="tx1"/>
                </a:solidFill>
              </a:rPr>
              <a:t>…h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的数据位，加入</a:t>
            </a:r>
            <a:r>
              <a:rPr lang="en-US" altLang="zh-CN" sz="2200" dirty="0">
                <a:solidFill>
                  <a:srgbClr val="990099"/>
                </a:solidFill>
              </a:rPr>
              <a:t>{</a:t>
            </a:r>
            <a:r>
              <a:rPr lang="en-US" altLang="zh-CN" sz="2200" i="1" dirty="0" err="1">
                <a:solidFill>
                  <a:srgbClr val="990099"/>
                </a:solidFill>
                <a:latin typeface="+mn-lt"/>
              </a:rPr>
              <a:t>i</a:t>
            </a:r>
            <a:r>
              <a:rPr lang="en-US" altLang="zh-CN" sz="2200" dirty="0" err="1">
                <a:solidFill>
                  <a:srgbClr val="990099"/>
                </a:solidFill>
              </a:rPr>
              <a:t>|h</a:t>
            </a:r>
            <a:r>
              <a:rPr lang="en-US" altLang="zh-CN" sz="2200" i="1" baseline="-16000" dirty="0" err="1">
                <a:solidFill>
                  <a:srgbClr val="990099"/>
                </a:solidFill>
                <a:latin typeface="+mn-lt"/>
              </a:rPr>
              <a:t>i</a:t>
            </a:r>
            <a:r>
              <a:rPr lang="zh-CN" altLang="en-US" sz="2200" dirty="0">
                <a:solidFill>
                  <a:srgbClr val="990099"/>
                </a:solidFill>
              </a:rPr>
              <a:t>＝</a:t>
            </a:r>
            <a:r>
              <a:rPr lang="en-US" altLang="zh-CN" sz="2200" dirty="0">
                <a:solidFill>
                  <a:srgbClr val="990099"/>
                </a:solidFill>
              </a:rPr>
              <a:t>1}</a:t>
            </a:r>
            <a:r>
              <a:rPr lang="zh-CN" altLang="en-US" sz="2200" dirty="0">
                <a:solidFill>
                  <a:srgbClr val="990099"/>
                </a:solidFill>
              </a:rPr>
              <a:t>的校验组</a:t>
            </a:r>
            <a:endParaRPr lang="en-US" altLang="zh-CN" sz="2200" dirty="0">
              <a:solidFill>
                <a:srgbClr val="990099"/>
              </a:solidFill>
            </a:endParaRPr>
          </a:p>
          <a:p>
            <a:pPr marL="2684780" indent="-2684780">
              <a:lnSpc>
                <a:spcPct val="9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           </a:t>
            </a:r>
            <a:r>
              <a:rPr lang="zh-CN" altLang="en-US" sz="1600" b="0" dirty="0">
                <a:solidFill>
                  <a:schemeClr val="tx1"/>
                </a:solidFill>
              </a:rPr>
              <a:t>└──</a:t>
            </a:r>
            <a:r>
              <a:rPr lang="zh-CN" altLang="en-US" sz="1600" dirty="0">
                <a:solidFill>
                  <a:schemeClr val="tx1"/>
                </a:solidFill>
              </a:rPr>
              <a:t>→有错时</a:t>
            </a:r>
            <a:r>
              <a:rPr lang="zh-CN" altLang="en-US" sz="1600" b="0" dirty="0">
                <a:solidFill>
                  <a:schemeClr val="tx1"/>
                </a:solidFill>
              </a:rPr>
              <a:t>─────</a:t>
            </a:r>
            <a:r>
              <a:rPr lang="zh-CN" altLang="en-US" sz="1600" dirty="0">
                <a:solidFill>
                  <a:schemeClr val="tx1"/>
                </a:solidFill>
              </a:rPr>
              <a:t>→</a:t>
            </a:r>
            <a:r>
              <a:rPr lang="zh-CN" altLang="en-US" sz="1600" b="0" dirty="0">
                <a:solidFill>
                  <a:schemeClr val="tx1"/>
                </a:solidFill>
              </a:rPr>
              <a:t>┴</a:t>
            </a:r>
            <a:r>
              <a:rPr lang="zh-CN" altLang="en-US" sz="1600" dirty="0">
                <a:solidFill>
                  <a:schemeClr val="tx1"/>
                </a:solidFill>
              </a:rPr>
              <a:t>→相应</a:t>
            </a:r>
            <a:r>
              <a:rPr lang="en-US" altLang="zh-CN" sz="1600" dirty="0" err="1">
                <a:solidFill>
                  <a:schemeClr val="tx1"/>
                </a:solidFill>
              </a:rPr>
              <a:t>s</a:t>
            </a:r>
            <a:r>
              <a:rPr lang="en-US" altLang="zh-CN" sz="1600" baseline="-18000" dirty="0" err="1">
                <a:solidFill>
                  <a:schemeClr val="tx1"/>
                </a:solidFill>
                <a:latin typeface="+mn-lt"/>
              </a:rPr>
              <a:t>i</a:t>
            </a:r>
            <a:r>
              <a:rPr lang="zh-CN" altLang="en-US" sz="160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en-US" altLang="zh-CN" sz="1600" b="0" dirty="0">
                <a:solidFill>
                  <a:srgbClr val="FF3399"/>
                </a:solidFill>
              </a:rPr>
              <a:t>─</a:t>
            </a:r>
            <a:r>
              <a:rPr lang="zh-CN" altLang="en-US" sz="1600" dirty="0">
                <a:solidFill>
                  <a:srgbClr val="FF3399"/>
                </a:solidFill>
              </a:rPr>
              <a:t>→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zh-CN" altLang="en-US" sz="160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</a:rPr>
              <a:t>H</a:t>
            </a:r>
          </a:p>
        </p:txBody>
      </p:sp>
      <p:graphicFrame>
        <p:nvGraphicFramePr>
          <p:cNvPr id="14" name="Group 1312">
            <a:extLst>
              <a:ext uri="{FF2B5EF4-FFF2-40B4-BE49-F238E27FC236}">
                <a16:creationId xmlns:a16="http://schemas.microsoft.com/office/drawing/2014/main" id="{9B5B0071-FF97-48DF-8A56-D8063FD91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489714"/>
              </p:ext>
            </p:extLst>
          </p:nvPr>
        </p:nvGraphicFramePr>
        <p:xfrm>
          <a:off x="611560" y="5949280"/>
          <a:ext cx="8352928" cy="282317"/>
        </p:xfrm>
        <a:graphic>
          <a:graphicData uri="http://schemas.openxmlformats.org/drawingml/2006/table">
            <a:tbl>
              <a:tblPr/>
              <a:tblGrid>
                <a:gridCol w="828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79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故障字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1312">
            <a:extLst>
              <a:ext uri="{FF2B5EF4-FFF2-40B4-BE49-F238E27FC236}">
                <a16:creationId xmlns:a16="http://schemas.microsoft.com/office/drawing/2014/main" id="{160CA4D0-0B12-4ABF-9A87-EF38EA605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632621"/>
              </p:ext>
            </p:extLst>
          </p:nvPr>
        </p:nvGraphicFramePr>
        <p:xfrm>
          <a:off x="611559" y="4005064"/>
          <a:ext cx="8352929" cy="1856489"/>
        </p:xfrm>
        <a:graphic>
          <a:graphicData uri="http://schemas.openxmlformats.org/drawingml/2006/table">
            <a:tbl>
              <a:tblPr/>
              <a:tblGrid>
                <a:gridCol w="828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位置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36000" marT="144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3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58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8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组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Group 609">
            <a:extLst>
              <a:ext uri="{FF2B5EF4-FFF2-40B4-BE49-F238E27FC236}">
                <a16:creationId xmlns:a16="http://schemas.microsoft.com/office/drawing/2014/main" id="{5776AB5A-6C8D-4B6B-A703-49F6AE86D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863304"/>
              </p:ext>
            </p:extLst>
          </p:nvPr>
        </p:nvGraphicFramePr>
        <p:xfrm>
          <a:off x="1259632" y="1232784"/>
          <a:ext cx="7488832" cy="584640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59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校验结果</a:t>
                      </a: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正确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校验位错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数据位错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故障字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0001(p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0010(p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0100(p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1000(p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其余值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(≥2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个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zh-CN" sz="1800" b="1" baseline="-18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=1) 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AutoShape 29">
            <a:extLst>
              <a:ext uri="{FF2B5EF4-FFF2-40B4-BE49-F238E27FC236}">
                <a16:creationId xmlns:a16="http://schemas.microsoft.com/office/drawing/2014/main" id="{A23BD500-9713-47E0-B0CD-4407248FDC3D}"/>
              </a:ext>
            </a:extLst>
          </p:cNvPr>
          <p:cNvSpPr/>
          <p:nvPr/>
        </p:nvSpPr>
        <p:spPr bwMode="auto">
          <a:xfrm>
            <a:off x="5292344" y="1880856"/>
            <a:ext cx="2376000" cy="252000"/>
          </a:xfrm>
          <a:prstGeom prst="borderCallout2">
            <a:avLst>
              <a:gd name="adj1" fmla="val 50377"/>
              <a:gd name="adj2" fmla="val 99639"/>
              <a:gd name="adj3" fmla="val 51986"/>
              <a:gd name="adj4" fmla="val 107819"/>
              <a:gd name="adj5" fmla="val -32291"/>
              <a:gd name="adj6" fmla="val 11172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加入多个组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rgbClr val="0070C0"/>
                </a:solidFill>
              </a:rPr>
              <a:t>数据更重要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AutoShape 29">
            <a:extLst>
              <a:ext uri="{FF2B5EF4-FFF2-40B4-BE49-F238E27FC236}">
                <a16:creationId xmlns:a16="http://schemas.microsoft.com/office/drawing/2014/main" id="{4520AF4F-EFB2-47CA-91F1-81AEF3AA6EEB}"/>
              </a:ext>
            </a:extLst>
          </p:cNvPr>
          <p:cNvSpPr/>
          <p:nvPr/>
        </p:nvSpPr>
        <p:spPr bwMode="auto">
          <a:xfrm>
            <a:off x="2843808" y="1880856"/>
            <a:ext cx="1656000" cy="252000"/>
          </a:xfrm>
          <a:prstGeom prst="borderCallout2">
            <a:avLst>
              <a:gd name="adj1" fmla="val 47857"/>
              <a:gd name="adj2" fmla="val 708"/>
              <a:gd name="adj3" fmla="val 46946"/>
              <a:gd name="adj4" fmla="val -10285"/>
              <a:gd name="adj5" fmla="val -29771"/>
              <a:gd name="adj6" fmla="val -1597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5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位置</a:t>
            </a:r>
            <a:r>
              <a:rPr lang="zh-CN" altLang="en-US" sz="1600" dirty="0">
                <a:solidFill>
                  <a:srgbClr val="0070C0"/>
                </a:solidFill>
              </a:rPr>
              <a:t>从</a:t>
            </a:r>
            <a:r>
              <a:rPr lang="en-US" altLang="zh-CN" sz="1600" dirty="0">
                <a:solidFill>
                  <a:srgbClr val="0070C0"/>
                </a:solidFill>
              </a:rPr>
              <a:t>1</a:t>
            </a:r>
            <a:r>
              <a:rPr lang="zh-CN" altLang="en-US" sz="1600" dirty="0">
                <a:solidFill>
                  <a:srgbClr val="0070C0"/>
                </a:solidFill>
              </a:rPr>
              <a:t>开始</a:t>
            </a:r>
            <a:r>
              <a:rPr lang="zh-CN" altLang="en-US" sz="1600" dirty="0">
                <a:solidFill>
                  <a:schemeClr val="tx1"/>
                </a:solidFill>
              </a:rPr>
              <a:t>编号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5B34F65-33A1-4317-A90E-B105C48B3CCA}"/>
              </a:ext>
            </a:extLst>
          </p:cNvPr>
          <p:cNvGrpSpPr/>
          <p:nvPr/>
        </p:nvGrpSpPr>
        <p:grpSpPr>
          <a:xfrm>
            <a:off x="359528" y="996446"/>
            <a:ext cx="756088" cy="2576569"/>
            <a:chOff x="323528" y="996446"/>
            <a:chExt cx="756088" cy="2576569"/>
          </a:xfrm>
        </p:grpSpPr>
        <p:sp>
          <p:nvSpPr>
            <p:cNvPr id="2" name="弧形 1">
              <a:extLst>
                <a:ext uri="{FF2B5EF4-FFF2-40B4-BE49-F238E27FC236}">
                  <a16:creationId xmlns:a16="http://schemas.microsoft.com/office/drawing/2014/main" id="{537C384C-74A4-4367-BF29-A65AAC76E003}"/>
                </a:ext>
              </a:extLst>
            </p:cNvPr>
            <p:cNvSpPr/>
            <p:nvPr/>
          </p:nvSpPr>
          <p:spPr bwMode="auto">
            <a:xfrm flipH="1">
              <a:off x="539550" y="1108486"/>
              <a:ext cx="432049" cy="1224000"/>
            </a:xfrm>
            <a:prstGeom prst="arc">
              <a:avLst>
                <a:gd name="adj1" fmla="val 16351852"/>
                <a:gd name="adj2" fmla="val 5383968"/>
              </a:avLst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弧形 19">
              <a:extLst>
                <a:ext uri="{FF2B5EF4-FFF2-40B4-BE49-F238E27FC236}">
                  <a16:creationId xmlns:a16="http://schemas.microsoft.com/office/drawing/2014/main" id="{6EB09A5C-5AD4-46E1-AE65-D90554921794}"/>
                </a:ext>
              </a:extLst>
            </p:cNvPr>
            <p:cNvSpPr/>
            <p:nvPr/>
          </p:nvSpPr>
          <p:spPr bwMode="auto">
            <a:xfrm flipH="1">
              <a:off x="536324" y="2403843"/>
              <a:ext cx="432051" cy="1080000"/>
            </a:xfrm>
            <a:prstGeom prst="arc">
              <a:avLst>
                <a:gd name="adj1" fmla="val 16351852"/>
                <a:gd name="adj2" fmla="val 5383968"/>
              </a:avLst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弧形 20">
              <a:extLst>
                <a:ext uri="{FF2B5EF4-FFF2-40B4-BE49-F238E27FC236}">
                  <a16:creationId xmlns:a16="http://schemas.microsoft.com/office/drawing/2014/main" id="{6F64C7C5-9DCE-4772-AE08-2FC26D16619F}"/>
                </a:ext>
              </a:extLst>
            </p:cNvPr>
            <p:cNvSpPr/>
            <p:nvPr/>
          </p:nvSpPr>
          <p:spPr bwMode="auto">
            <a:xfrm flipH="1">
              <a:off x="323528" y="996446"/>
              <a:ext cx="756088" cy="2576569"/>
            </a:xfrm>
            <a:prstGeom prst="arc">
              <a:avLst>
                <a:gd name="adj1" fmla="val 16122850"/>
                <a:gd name="adj2" fmla="val 5386327"/>
              </a:avLst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triangl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3" name="Text Box 76">
            <a:extLst>
              <a:ext uri="{FF2B5EF4-FFF2-40B4-BE49-F238E27FC236}">
                <a16:creationId xmlns:a16="http://schemas.microsoft.com/office/drawing/2014/main" id="{2CCD825C-6A4E-4EF1-B928-47AD44A78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4797184"/>
            <a:ext cx="7488832" cy="1044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lIns="36000" tIns="36000" rIns="18000" bIns="10800" anchor="t" anchorCtr="0"/>
          <a:lstStyle/>
          <a:p>
            <a:pPr>
              <a:lnSpc>
                <a:spcPct val="90000"/>
              </a:lnSpc>
            </a:pP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△</a:t>
            </a:r>
          </a:p>
          <a:p>
            <a:pPr>
              <a:lnSpc>
                <a:spcPct val="90000"/>
              </a:lnSpc>
            </a:pP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△</a:t>
            </a:r>
          </a:p>
          <a:p>
            <a:pPr>
              <a:lnSpc>
                <a:spcPct val="90000"/>
              </a:lnSpc>
              <a:spcBef>
                <a:spcPts val="200"/>
              </a:spcBef>
            </a:pP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  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      √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△</a:t>
            </a: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√       √     </a:t>
            </a:r>
            <a:r>
              <a:rPr kumimoji="1" lang="en-US" altLang="zh-CN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△</a:t>
            </a:r>
            <a:endParaRPr kumimoji="1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 bldLvl="0" animBg="1"/>
      <p:bldP spid="19" grpId="0" bldLvl="0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D17EA-9EE5-4C23-9573-058B6B8CB93A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380180" name="AutoShape 130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1295"/>
          <p:cNvSpPr txBox="1">
            <a:spLocks noChangeArrowheads="1"/>
          </p:cNvSpPr>
          <p:nvPr/>
        </p:nvSpPr>
        <p:spPr bwMode="auto">
          <a:xfrm>
            <a:off x="179388" y="951469"/>
            <a:ext cx="8785225" cy="18571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684780" indent="-2684780">
              <a:lnSpc>
                <a:spcPct val="100000"/>
              </a:lnSpc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检验位的编码</a:t>
            </a:r>
            <a:r>
              <a:rPr lang="en-US" altLang="zh-CN" sz="2200" dirty="0">
                <a:solidFill>
                  <a:schemeClr val="accent2"/>
                </a:solidFill>
              </a:rPr>
              <a:t>—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缺省为偶校验方式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 marL="2684780" indent="-2684780">
              <a:lnSpc>
                <a:spcPct val="114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11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10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9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8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7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6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5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lang="en-US" altLang="zh-CN" sz="2200" dirty="0">
                <a:solidFill>
                  <a:schemeClr val="tx1"/>
                </a:solidFill>
              </a:rPr>
              <a:t>(mod 2)</a:t>
            </a:r>
          </a:p>
          <a:p>
            <a:pPr marL="2684780" indent="-2684780">
              <a:lnSpc>
                <a:spcPct val="105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3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11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10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9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8</a:t>
            </a:r>
            <a:r>
              <a:rPr lang="en-US" altLang="zh-CN" sz="2200" baseline="-18000" dirty="0">
                <a:latin typeface="Times New Roman" panose="02020603050405020304" pitchFamily="18" charset="0"/>
              </a:rPr>
              <a:t> 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22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2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4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2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(mod 2)</a:t>
            </a:r>
            <a:r>
              <a:rPr lang="en-US" altLang="zh-CN" sz="2200" dirty="0">
                <a:solidFill>
                  <a:srgbClr val="990099"/>
                </a:solidFill>
              </a:rPr>
              <a:t> </a:t>
            </a:r>
          </a:p>
          <a:p>
            <a:pPr marL="2684780" indent="-2684780">
              <a:lnSpc>
                <a:spcPct val="105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11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10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      </a:t>
            </a:r>
            <a:r>
              <a:rPr lang="en-US" altLang="zh-CN" sz="2200" dirty="0"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7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6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 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4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3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 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200" dirty="0">
                <a:solidFill>
                  <a:schemeClr val="tx1"/>
                </a:solidFill>
              </a:rPr>
              <a:t>(mod 2)</a:t>
            </a:r>
          </a:p>
          <a:p>
            <a:pPr marL="2684780" indent="-2684780">
              <a:lnSpc>
                <a:spcPct val="105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11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  </a:t>
            </a:r>
            <a:r>
              <a:rPr lang="en-US" altLang="zh-CN" sz="2200" dirty="0"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9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7</a:t>
            </a:r>
            <a:r>
              <a:rPr lang="en-US" altLang="zh-CN" sz="2200" baseline="-18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   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5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4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  (mod 2)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16673F36-6436-4A9B-AC8D-120608130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" y="2780928"/>
            <a:ext cx="8785225" cy="25538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en-US" altLang="zh-CN" sz="2000" dirty="0">
                <a:solidFill>
                  <a:srgbClr val="990099"/>
                </a:solidFill>
              </a:rPr>
              <a:t>  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5—</a:t>
            </a:r>
            <a:r>
              <a:rPr lang="zh-CN" altLang="en-US" sz="2000" dirty="0">
                <a:solidFill>
                  <a:schemeClr val="tx1"/>
                </a:solidFill>
              </a:rPr>
              <a:t>求字符</a:t>
            </a:r>
            <a:r>
              <a:rPr lang="en-US" altLang="zh-CN" sz="2000" dirty="0">
                <a:solidFill>
                  <a:schemeClr val="tx1"/>
                </a:solidFill>
              </a:rPr>
              <a:t>b(ASCII</a:t>
            </a:r>
            <a:r>
              <a:rPr lang="zh-CN" altLang="en-US" sz="2000" dirty="0">
                <a:solidFill>
                  <a:schemeClr val="tx1"/>
                </a:solidFill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20000" dirty="0">
                <a:solidFill>
                  <a:schemeClr val="tx1"/>
                </a:solidFill>
              </a:rPr>
              <a:t>7</a:t>
            </a:r>
            <a:r>
              <a:rPr lang="en-US" altLang="zh-CN" sz="2000" dirty="0">
                <a:solidFill>
                  <a:schemeClr val="tx1"/>
                </a:solidFill>
              </a:rPr>
              <a:t>…m</a:t>
            </a:r>
            <a:r>
              <a:rPr lang="en-US" altLang="zh-CN" sz="2000" baseline="-20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=1100010)</a:t>
            </a:r>
            <a:r>
              <a:rPr lang="zh-CN" altLang="en-US" sz="2000" dirty="0">
                <a:solidFill>
                  <a:schemeClr val="tx1"/>
                </a:solidFill>
              </a:rPr>
              <a:t>的海明偶校验码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698625" indent="-1698625">
              <a:spcBef>
                <a:spcPts val="0"/>
              </a:spcBef>
            </a:pPr>
            <a:r>
              <a:rPr lang="en-US" altLang="zh-CN" sz="2000" dirty="0">
                <a:solidFill>
                  <a:schemeClr val="accent2"/>
                </a:solidFill>
              </a:rPr>
              <a:t>  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zh-CN" altLang="en-US" sz="2000" u="sng" dirty="0">
                <a:solidFill>
                  <a:schemeClr val="tx1"/>
                </a:solidFill>
              </a:rPr>
              <a:t>校验位数</a:t>
            </a:r>
            <a:r>
              <a:rPr lang="zh-CN" altLang="en-US" sz="2000" dirty="0">
                <a:solidFill>
                  <a:schemeClr val="tx1"/>
                </a:solidFill>
              </a:rPr>
              <a:t>满足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</a:rPr>
              <a:t>k</a:t>
            </a:r>
            <a:r>
              <a:rPr lang="en-US" altLang="zh-CN" sz="2000" dirty="0">
                <a:solidFill>
                  <a:schemeClr val="tx1"/>
                </a:solidFill>
              </a:rPr>
              <a:t>-1</a:t>
            </a:r>
            <a:r>
              <a:rPr lang="zh-CN" altLang="en-US" sz="2000" dirty="0">
                <a:solidFill>
                  <a:schemeClr val="tx1"/>
                </a:solidFill>
              </a:rPr>
              <a:t>≥</a:t>
            </a:r>
            <a:r>
              <a:rPr lang="en-US" altLang="zh-CN" sz="2000" dirty="0">
                <a:solidFill>
                  <a:schemeClr val="tx1"/>
                </a:solidFill>
              </a:rPr>
              <a:t>7+k</a:t>
            </a:r>
            <a:r>
              <a:rPr lang="zh-CN" altLang="en-US" sz="2000" dirty="0">
                <a:solidFill>
                  <a:schemeClr val="tx1"/>
                </a:solidFill>
              </a:rPr>
              <a:t>，故</a:t>
            </a:r>
            <a:r>
              <a:rPr lang="en-US" altLang="zh-CN" sz="2000" dirty="0">
                <a:solidFill>
                  <a:schemeClr val="tx1"/>
                </a:solidFill>
              </a:rPr>
              <a:t>k</a:t>
            </a:r>
            <a:r>
              <a:rPr lang="zh-CN" altLang="en-US" sz="2000" dirty="0">
                <a:solidFill>
                  <a:schemeClr val="tx1"/>
                </a:solidFill>
              </a:rPr>
              <a:t>≥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位；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684780" indent="-2684780"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           </a:t>
            </a:r>
            <a:r>
              <a:rPr lang="zh-CN" altLang="en-US" sz="2000" u="sng" dirty="0">
                <a:solidFill>
                  <a:schemeClr val="tx1"/>
                </a:solidFill>
              </a:rPr>
              <a:t>校验码组成</a:t>
            </a:r>
            <a:r>
              <a:rPr lang="zh-CN" altLang="en-US" sz="2000" dirty="0">
                <a:solidFill>
                  <a:schemeClr val="tx1"/>
                </a:solidFill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7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6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5</a:t>
            </a:r>
            <a:r>
              <a:rPr lang="en-US" altLang="zh-CN" sz="2000" dirty="0"/>
              <a:t>p</a:t>
            </a:r>
            <a:r>
              <a:rPr lang="en-US" altLang="zh-CN" sz="2000" baseline="-18000" dirty="0"/>
              <a:t>4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4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3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2</a:t>
            </a:r>
            <a:r>
              <a:rPr lang="en-US" altLang="zh-CN" sz="2000" dirty="0"/>
              <a:t>p</a:t>
            </a:r>
            <a:r>
              <a:rPr lang="en-US" altLang="zh-CN" sz="2000" baseline="-18000" dirty="0"/>
              <a:t>3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1</a:t>
            </a:r>
            <a:r>
              <a:rPr lang="en-US" altLang="zh-CN" sz="2000" dirty="0"/>
              <a:t>p</a:t>
            </a:r>
            <a:r>
              <a:rPr lang="en-US" altLang="zh-CN" sz="2000" baseline="-18000" dirty="0"/>
              <a:t>2</a:t>
            </a:r>
            <a:r>
              <a:rPr lang="en-US" altLang="zh-CN" sz="2000" dirty="0"/>
              <a:t>p</a:t>
            </a:r>
            <a:r>
              <a:rPr lang="en-US" altLang="zh-CN" sz="2000" baseline="-18000" dirty="0"/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，   </a:t>
            </a:r>
            <a:r>
              <a:rPr lang="zh-CN" altLang="en-US" sz="1600" dirty="0">
                <a:solidFill>
                  <a:schemeClr val="tx1"/>
                </a:solidFill>
              </a:rPr>
              <a:t>←按故障字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zh-CN" altLang="en-US" sz="1600" dirty="0">
                <a:solidFill>
                  <a:schemeClr val="tx1"/>
                </a:solidFill>
              </a:rPr>
              <a:t>的约定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    </a:t>
            </a:r>
            <a:r>
              <a:rPr lang="zh-CN" altLang="en-US" sz="2000" u="sng" dirty="0">
                <a:solidFill>
                  <a:schemeClr val="tx1"/>
                </a:solidFill>
              </a:rPr>
              <a:t>校验位编码</a:t>
            </a:r>
            <a:r>
              <a:rPr lang="zh-CN" altLang="en-US" sz="2000" dirty="0">
                <a:solidFill>
                  <a:schemeClr val="tx1"/>
                </a:solidFill>
              </a:rPr>
              <a:t>为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偶校验</a:t>
            </a:r>
            <a:r>
              <a:rPr lang="en-US" altLang="zh-CN" sz="1800" dirty="0">
                <a:solidFill>
                  <a:schemeClr val="tx1"/>
                </a:solidFill>
              </a:rPr>
              <a:t>)                 </a:t>
            </a:r>
            <a:r>
              <a:rPr lang="zh-CN" altLang="en-US" sz="1600" dirty="0">
                <a:solidFill>
                  <a:schemeClr val="tx1"/>
                </a:solidFill>
              </a:rPr>
              <a:t>←按</a:t>
            </a:r>
            <a:r>
              <a:rPr lang="en-US" altLang="zh-CN" sz="1600" dirty="0">
                <a:solidFill>
                  <a:schemeClr val="tx1"/>
                </a:solidFill>
              </a:rPr>
              <a:t>S=H</a:t>
            </a:r>
            <a:r>
              <a:rPr lang="zh-CN" altLang="en-US" sz="1600" dirty="0">
                <a:solidFill>
                  <a:schemeClr val="tx1"/>
                </a:solidFill>
              </a:rPr>
              <a:t>的数据分组规则 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        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en-US" altLang="zh-CN" sz="2000" baseline="-18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7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6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，       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en-US" altLang="zh-CN" sz="2000" baseline="-18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4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3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endParaRPr lang="en-US" altLang="zh-CN" sz="2000" dirty="0">
              <a:solidFill>
                <a:srgbClr val="990099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      p</a:t>
            </a:r>
            <a:r>
              <a:rPr lang="en-US" altLang="zh-CN" sz="2000" baseline="-18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7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6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4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3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en-US" altLang="zh-CN" sz="2000" baseline="-18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7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5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4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2</a:t>
            </a:r>
            <a:r>
              <a:rPr lang="en-US" altLang="zh-CN" sz="2000" dirty="0">
                <a:solidFill>
                  <a:schemeClr val="tx1"/>
                </a:solidFill>
              </a:rPr>
              <a:t>⊕m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</a:p>
          <a:p>
            <a:pPr marL="2684780" indent="-2684780">
              <a:spcBef>
                <a:spcPts val="3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           </a:t>
            </a:r>
            <a:r>
              <a:rPr lang="zh-CN" altLang="en-US" sz="2000" u="sng" dirty="0">
                <a:solidFill>
                  <a:schemeClr val="tx1"/>
                </a:solidFill>
              </a:rPr>
              <a:t>偶校验码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/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/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/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/>
              <a:t>0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17" name="Group 609">
            <a:extLst>
              <a:ext uri="{FF2B5EF4-FFF2-40B4-BE49-F238E27FC236}">
                <a16:creationId xmlns:a16="http://schemas.microsoft.com/office/drawing/2014/main" id="{33E14363-6C7F-4E42-A923-50A4C3EBF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508587"/>
              </p:ext>
            </p:extLst>
          </p:nvPr>
        </p:nvGraphicFramePr>
        <p:xfrm>
          <a:off x="611560" y="360000"/>
          <a:ext cx="8208912" cy="523680"/>
        </p:xfrm>
        <a:graphic>
          <a:graphicData uri="http://schemas.openxmlformats.org/drawingml/2006/table">
            <a:tbl>
              <a:tblPr/>
              <a:tblGrid>
                <a:gridCol w="532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655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位置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5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8000" marR="18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Box 1299">
            <a:extLst>
              <a:ext uri="{FF2B5EF4-FFF2-40B4-BE49-F238E27FC236}">
                <a16:creationId xmlns:a16="http://schemas.microsoft.com/office/drawing/2014/main" id="{128DFD27-B35C-438C-B43F-CE18E2B64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5301208"/>
            <a:ext cx="2088356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校验方式：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*应用：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" name="Text Box 1299">
            <a:extLst>
              <a:ext uri="{FF2B5EF4-FFF2-40B4-BE49-F238E27FC236}">
                <a16:creationId xmlns:a16="http://schemas.microsoft.com/office/drawing/2014/main" id="{44E99AA3-AEBF-4382-9F09-3D2405347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5301208"/>
            <a:ext cx="7416824" cy="91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  需</a:t>
            </a:r>
            <a:r>
              <a:rPr lang="zh-CN" altLang="en-US" sz="2200" u="sng" dirty="0">
                <a:solidFill>
                  <a:schemeClr val="tx1"/>
                </a:solidFill>
              </a:rPr>
              <a:t>并行</a:t>
            </a:r>
            <a:r>
              <a:rPr lang="zh-CN" altLang="en-US" sz="2200" dirty="0">
                <a:solidFill>
                  <a:schemeClr val="tx1"/>
                </a:solidFill>
              </a:rPr>
              <a:t>校验</a:t>
            </a:r>
            <a:r>
              <a:rPr lang="en-US" altLang="zh-CN" sz="1800" dirty="0">
                <a:solidFill>
                  <a:schemeClr val="tx1"/>
                </a:solidFill>
              </a:rPr>
              <a:t>(P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zh-CN" altLang="en-US" sz="1800" u="sng" dirty="0">
                <a:solidFill>
                  <a:schemeClr val="tx1"/>
                </a:solidFill>
              </a:rPr>
              <a:t>涉及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1800" dirty="0">
                <a:solidFill>
                  <a:schemeClr val="tx1"/>
                </a:solidFill>
              </a:rPr>
              <a:t>所有位、需用</a:t>
            </a:r>
            <a:r>
              <a:rPr lang="zh-CN" altLang="en-US" sz="1800" u="sng" dirty="0">
                <a:solidFill>
                  <a:schemeClr val="tx1"/>
                </a:solidFill>
              </a:rPr>
              <a:t>译码器</a:t>
            </a:r>
            <a:r>
              <a:rPr lang="zh-CN" altLang="en-US" sz="1800" dirty="0">
                <a:solidFill>
                  <a:schemeClr val="tx1"/>
                </a:solidFill>
              </a:rPr>
              <a:t>定位错误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常用于</a:t>
            </a:r>
            <a:r>
              <a:rPr lang="zh-CN" altLang="en-US" sz="2200" u="sng" dirty="0">
                <a:solidFill>
                  <a:srgbClr val="990099"/>
                </a:solidFill>
              </a:rPr>
              <a:t>并行传输、存取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出错概率小、可纠错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07"/>
          <p:cNvSpPr txBox="1">
            <a:spLocks noChangeArrowheads="1"/>
          </p:cNvSpPr>
          <p:nvPr/>
        </p:nvSpPr>
        <p:spPr bwMode="auto">
          <a:xfrm>
            <a:off x="179512" y="1772816"/>
            <a:ext cx="3600400" cy="46892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思想：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校验码组成：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zh-CN" altLang="en-US" sz="2200" dirty="0">
                <a:solidFill>
                  <a:schemeClr val="accent2"/>
                </a:solidFill>
              </a:rPr>
              <a:t>   校验位编码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accent2"/>
              </a:solidFill>
            </a:endParaRPr>
          </a:p>
          <a:p>
            <a:pPr marL="1698625" indent="-1698625"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校验方式：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698625" indent="-169862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校验能力：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698625" indent="-1698625"/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可纠错时</a:t>
            </a:r>
            <a:r>
              <a:rPr lang="en-US" altLang="zh-CN" sz="2200" dirty="0">
                <a:solidFill>
                  <a:schemeClr val="accent2"/>
                </a:solidFill>
              </a:rPr>
              <a:t>G(X)</a:t>
            </a:r>
            <a:r>
              <a:rPr lang="zh-CN" altLang="en-US" sz="2200" dirty="0">
                <a:solidFill>
                  <a:schemeClr val="accent2"/>
                </a:solidFill>
              </a:rPr>
              <a:t>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1698625" indent="-1698625">
              <a:lnSpc>
                <a:spcPct val="105000"/>
              </a:lnSpc>
            </a:pPr>
            <a:endParaRPr lang="en-US" altLang="zh-CN" sz="1800" dirty="0">
              <a:solidFill>
                <a:srgbClr val="C00000"/>
              </a:solidFill>
            </a:endParaRPr>
          </a:p>
          <a:p>
            <a:pPr marL="1698625" indent="-169862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应用：</a:t>
            </a:r>
            <a:endParaRPr lang="en-US" altLang="zh-CN" sz="2200" dirty="0">
              <a:solidFill>
                <a:schemeClr val="accent2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3" name="Text Box 207"/>
          <p:cNvSpPr txBox="1">
            <a:spLocks noChangeArrowheads="1"/>
          </p:cNvSpPr>
          <p:nvPr/>
        </p:nvSpPr>
        <p:spPr bwMode="auto">
          <a:xfrm>
            <a:off x="179388" y="332656"/>
            <a:ext cx="8798215" cy="462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循环冗余校验码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Cyclic Redundancy </a:t>
            </a:r>
            <a:r>
              <a:rPr lang="en-US" altLang="zh-CN" sz="1800" b="0" dirty="0" err="1">
                <a:solidFill>
                  <a:schemeClr val="tx1"/>
                </a:solidFill>
                <a:latin typeface="+mn-lt"/>
              </a:rPr>
              <a:t>Check</a:t>
            </a:r>
            <a:r>
              <a:rPr lang="en-US" altLang="zh-CN" sz="1800" b="0" dirty="0" err="1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en-US" altLang="zh-CN" sz="1800" dirty="0" err="1">
                <a:solidFill>
                  <a:schemeClr val="tx1"/>
                </a:solidFill>
              </a:rPr>
              <a:t>CRC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不考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1331640" y="1772816"/>
            <a:ext cx="7560839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编码时，</a:t>
            </a:r>
            <a:r>
              <a:rPr lang="zh-CN" altLang="en-US" sz="2200" u="sng" dirty="0">
                <a:solidFill>
                  <a:srgbClr val="990099"/>
                </a:solidFill>
              </a:rPr>
              <a:t>使</a:t>
            </a:r>
            <a:r>
              <a:rPr lang="zh-CN" altLang="en-US" sz="2200" dirty="0">
                <a:solidFill>
                  <a:schemeClr val="tx1"/>
                </a:solidFill>
              </a:rPr>
              <a:t>校验码能</a:t>
            </a:r>
            <a:r>
              <a:rPr lang="zh-CN" altLang="en-US" sz="2200" u="sng" dirty="0">
                <a:solidFill>
                  <a:srgbClr val="0070C0"/>
                </a:solidFill>
              </a:rPr>
              <a:t>被</a:t>
            </a:r>
            <a:r>
              <a:rPr lang="en-US" altLang="zh-CN" sz="2200" u="sng" dirty="0">
                <a:solidFill>
                  <a:srgbClr val="0070C0"/>
                </a:solidFill>
              </a:rPr>
              <a:t>G(X)</a:t>
            </a:r>
            <a:r>
              <a:rPr lang="zh-CN" altLang="en-US" sz="2200" u="sng" dirty="0">
                <a:solidFill>
                  <a:srgbClr val="0070C0"/>
                </a:solidFill>
              </a:rPr>
              <a:t>整除</a:t>
            </a:r>
            <a:r>
              <a:rPr lang="zh-CN" altLang="en-US" sz="2200" dirty="0">
                <a:solidFill>
                  <a:schemeClr val="tx1"/>
                </a:solidFill>
              </a:rPr>
              <a:t>；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校验时，</a:t>
            </a:r>
            <a:r>
              <a:rPr lang="zh-CN" altLang="en-US" sz="2200" u="sng" dirty="0">
                <a:solidFill>
                  <a:srgbClr val="990099"/>
                </a:solidFill>
              </a:rPr>
              <a:t>根据</a:t>
            </a:r>
            <a:r>
              <a:rPr lang="zh-CN" altLang="en-US" sz="2200" dirty="0">
                <a:solidFill>
                  <a:schemeClr val="tx1"/>
                </a:solidFill>
              </a:rPr>
              <a:t>校验码</a:t>
            </a:r>
            <a:r>
              <a:rPr lang="zh-CN" altLang="en-US" sz="2200" u="sng" dirty="0">
                <a:solidFill>
                  <a:srgbClr val="0070C0"/>
                </a:solidFill>
              </a:rPr>
              <a:t>除以</a:t>
            </a:r>
            <a:r>
              <a:rPr lang="en-US" altLang="zh-CN" sz="2200" u="sng" dirty="0">
                <a:solidFill>
                  <a:srgbClr val="0070C0"/>
                </a:solidFill>
              </a:rPr>
              <a:t>G(X)</a:t>
            </a:r>
            <a:r>
              <a:rPr lang="zh-CN" altLang="en-US" sz="2200" u="sng" dirty="0">
                <a:solidFill>
                  <a:srgbClr val="0070C0"/>
                </a:solidFill>
              </a:rPr>
              <a:t>后的余数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rgbClr val="990099"/>
                </a:solidFill>
              </a:rPr>
              <a:t>校验</a:t>
            </a:r>
            <a:r>
              <a:rPr lang="zh-CN" altLang="en-US" sz="2200" dirty="0">
                <a:solidFill>
                  <a:schemeClr val="tx1"/>
                </a:solidFill>
              </a:rPr>
              <a:t>数据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                         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k</a:t>
            </a:r>
            <a:r>
              <a:rPr lang="zh-CN" altLang="en-US" sz="2200" spc="-70" dirty="0">
                <a:solidFill>
                  <a:schemeClr val="tx1"/>
                </a:solidFill>
              </a:rPr>
              <a:t>＝</a:t>
            </a:r>
            <a:r>
              <a:rPr lang="en-US" altLang="zh-CN" sz="2200" spc="-70" dirty="0">
                <a:solidFill>
                  <a:schemeClr val="tx1"/>
                </a:solidFill>
              </a:rPr>
              <a:t>G(X)</a:t>
            </a:r>
            <a:r>
              <a:rPr lang="zh-CN" altLang="en-US" sz="2200" spc="-70" dirty="0">
                <a:solidFill>
                  <a:schemeClr val="tx1"/>
                </a:solidFill>
              </a:rPr>
              <a:t>位数－</a:t>
            </a:r>
            <a:r>
              <a:rPr lang="en-US" altLang="zh-CN" sz="2200" spc="-70" dirty="0">
                <a:solidFill>
                  <a:schemeClr val="tx1"/>
                </a:solidFill>
              </a:rPr>
              <a:t>1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grpSp>
        <p:nvGrpSpPr>
          <p:cNvPr id="10" name="Group 13"/>
          <p:cNvGrpSpPr/>
          <p:nvPr/>
        </p:nvGrpSpPr>
        <p:grpSpPr bwMode="auto">
          <a:xfrm>
            <a:off x="2339581" y="2708920"/>
            <a:ext cx="2664467" cy="287337"/>
            <a:chOff x="1746" y="2841"/>
            <a:chExt cx="1738" cy="181"/>
          </a:xfrm>
        </p:grpSpPr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746" y="2841"/>
              <a:ext cx="822" cy="181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数据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m</a:t>
              </a:r>
              <a:r>
                <a:rPr lang="en-US" altLang="zh-CN" sz="1800" baseline="-18000" dirty="0" err="1">
                  <a:solidFill>
                    <a:schemeClr val="tx1"/>
                  </a:solidFill>
                </a:rPr>
                <a:t>n</a:t>
              </a:r>
              <a:r>
                <a:rPr lang="en-US" altLang="zh-CN" sz="1800" dirty="0">
                  <a:solidFill>
                    <a:schemeClr val="tx1"/>
                  </a:solidFill>
                </a:rPr>
                <a:t>…m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568" y="2841"/>
              <a:ext cx="916" cy="181"/>
            </a:xfrm>
            <a:prstGeom prst="rect">
              <a:avLst/>
            </a:prstGeom>
            <a:solidFill>
              <a:srgbClr val="FFCC99">
                <a:alpha val="6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校验位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r</a:t>
              </a:r>
              <a:r>
                <a:rPr lang="en-US" altLang="zh-CN" sz="1800" baseline="-18000" dirty="0" err="1">
                  <a:solidFill>
                    <a:schemeClr val="tx1"/>
                  </a:solidFill>
                </a:rPr>
                <a:t>k</a:t>
              </a:r>
              <a:r>
                <a:rPr lang="en-US" altLang="zh-CN" sz="1800" dirty="0">
                  <a:solidFill>
                    <a:schemeClr val="tx1"/>
                  </a:solidFill>
                </a:rPr>
                <a:t>…r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1043608" y="2996952"/>
            <a:ext cx="7992888" cy="15134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</a:rPr>
              <a:t>          </a:t>
            </a:r>
            <a:r>
              <a:rPr lang="en-US" altLang="zh-CN" sz="2200" spc="-70" dirty="0" err="1">
                <a:solidFill>
                  <a:schemeClr val="tx1"/>
                </a:solidFill>
              </a:rPr>
              <a:t>r</a:t>
            </a:r>
            <a:r>
              <a:rPr lang="en-US" altLang="zh-CN" sz="2200" spc="-70" baseline="-18000" dirty="0" err="1">
                <a:solidFill>
                  <a:schemeClr val="tx1"/>
                </a:solidFill>
              </a:rPr>
              <a:t>k</a:t>
            </a:r>
            <a:r>
              <a:rPr lang="en-US" altLang="zh-CN" sz="2200" spc="-70" dirty="0">
                <a:solidFill>
                  <a:schemeClr val="tx1"/>
                </a:solidFill>
              </a:rPr>
              <a:t>…r</a:t>
            </a:r>
            <a:r>
              <a:rPr lang="en-US" altLang="zh-CN" sz="2200" spc="-70" baseline="-18000" dirty="0">
                <a:solidFill>
                  <a:schemeClr val="tx1"/>
                </a:solidFill>
              </a:rPr>
              <a:t>1</a:t>
            </a:r>
            <a:r>
              <a:rPr lang="zh-CN" altLang="en-US" sz="2200" spc="-70" dirty="0">
                <a:solidFill>
                  <a:schemeClr val="tx1"/>
                </a:solidFill>
              </a:rPr>
              <a:t>＝</a:t>
            </a:r>
            <a:r>
              <a:rPr lang="en-US" altLang="zh-CN" sz="2200" spc="-70" dirty="0">
                <a:solidFill>
                  <a:schemeClr val="tx1"/>
                </a:solidFill>
              </a:rPr>
              <a:t>(</a:t>
            </a:r>
            <a:r>
              <a:rPr lang="en-US" altLang="zh-CN" sz="2200" spc="-70" dirty="0" err="1">
                <a:solidFill>
                  <a:schemeClr val="tx1"/>
                </a:solidFill>
              </a:rPr>
              <a:t>m</a:t>
            </a:r>
            <a:r>
              <a:rPr lang="en-US" altLang="zh-CN" sz="2200" spc="-7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spc="-70" dirty="0">
                <a:solidFill>
                  <a:schemeClr val="tx1"/>
                </a:solidFill>
              </a:rPr>
              <a:t>…m</a:t>
            </a:r>
            <a:r>
              <a:rPr lang="en-US" altLang="zh-CN" sz="2200" spc="-70" baseline="-18000" dirty="0">
                <a:solidFill>
                  <a:schemeClr val="tx1"/>
                </a:solidFill>
              </a:rPr>
              <a:t>1</a:t>
            </a:r>
            <a:r>
              <a:rPr lang="en-US" altLang="zh-CN" sz="2200" spc="-70" dirty="0">
                <a:solidFill>
                  <a:schemeClr val="tx1"/>
                </a:solidFill>
              </a:rPr>
              <a:t>&lt;&lt;k)/G(X)</a:t>
            </a:r>
            <a:r>
              <a:rPr lang="zh-CN" altLang="en-US" sz="2200" spc="-70" dirty="0">
                <a:solidFill>
                  <a:schemeClr val="tx1"/>
                </a:solidFill>
              </a:rPr>
              <a:t>的余数</a:t>
            </a:r>
            <a:r>
              <a:rPr lang="en-US" altLang="zh-CN" sz="2200" spc="-70" dirty="0">
                <a:solidFill>
                  <a:schemeClr val="tx1"/>
                </a:solidFill>
              </a:rPr>
              <a:t>R(X)</a:t>
            </a:r>
          </a:p>
          <a:p>
            <a:pPr>
              <a:spcBef>
                <a:spcPts val="300"/>
              </a:spcBef>
            </a:pPr>
            <a:r>
              <a:rPr lang="zh-CN" altLang="en-US" sz="1800" dirty="0">
                <a:solidFill>
                  <a:srgbClr val="990099"/>
                </a:solidFill>
              </a:rPr>
              <a:t>推导：</a:t>
            </a:r>
            <a:r>
              <a:rPr lang="en-US" altLang="zh-CN" sz="1800" dirty="0">
                <a:solidFill>
                  <a:schemeClr val="tx1"/>
                </a:solidFill>
              </a:rPr>
              <a:t>[M(X)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·</a:t>
            </a:r>
            <a:r>
              <a:rPr lang="en-US" altLang="zh-CN" sz="1800" dirty="0" err="1">
                <a:solidFill>
                  <a:schemeClr val="tx1"/>
                </a:solidFill>
              </a:rPr>
              <a:t>X</a:t>
            </a:r>
            <a:r>
              <a:rPr lang="en-US" altLang="zh-CN" sz="1800" baseline="30000" dirty="0" err="1">
                <a:solidFill>
                  <a:schemeClr val="tx1"/>
                </a:solidFill>
              </a:rPr>
              <a:t>k</a:t>
            </a:r>
            <a:r>
              <a:rPr lang="en-US" altLang="zh-CN" sz="1800" dirty="0" err="1">
                <a:solidFill>
                  <a:schemeClr val="tx1"/>
                </a:solidFill>
              </a:rPr>
              <a:t>+R</a:t>
            </a:r>
            <a:r>
              <a:rPr lang="en-US" altLang="zh-CN" sz="1800" dirty="0">
                <a:solidFill>
                  <a:schemeClr val="tx1"/>
                </a:solidFill>
              </a:rPr>
              <a:t>(X)]/G(X)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[Q(X)G(X)+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CCECFF"/>
                </a:highlight>
              </a:rPr>
              <a:t>R(X)+R(X)</a:t>
            </a:r>
            <a:r>
              <a:rPr lang="en-US" altLang="zh-CN" sz="1800" dirty="0">
                <a:solidFill>
                  <a:schemeClr val="tx1"/>
                </a:solidFill>
              </a:rPr>
              <a:t>]/G(X)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Q(X)</a:t>
            </a:r>
            <a:r>
              <a:rPr lang="en-US" altLang="zh-CN" sz="1800" dirty="0">
                <a:solidFill>
                  <a:srgbClr val="FF3399"/>
                </a:solidFill>
              </a:rPr>
              <a:t>…0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模</a:t>
            </a: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除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7—</a:t>
            </a:r>
            <a:r>
              <a:rPr lang="en-US" altLang="zh-CN" sz="2000" dirty="0">
                <a:solidFill>
                  <a:schemeClr val="tx1"/>
                </a:solidFill>
              </a:rPr>
              <a:t>M(X)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1100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G(X)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1011</a:t>
            </a:r>
            <a:r>
              <a:rPr lang="zh-CN" altLang="en-US" sz="2000" dirty="0">
                <a:solidFill>
                  <a:schemeClr val="tx1"/>
                </a:solidFill>
              </a:rPr>
              <a:t>时，</a:t>
            </a:r>
            <a:r>
              <a:rPr lang="en-US" altLang="zh-CN" sz="2000" dirty="0">
                <a:solidFill>
                  <a:schemeClr val="tx1"/>
                </a:solidFill>
              </a:rPr>
              <a:t>CRC</a:t>
            </a:r>
            <a:r>
              <a:rPr lang="zh-CN" altLang="en-US" sz="2000" dirty="0">
                <a:solidFill>
                  <a:schemeClr val="tx1"/>
                </a:solidFill>
              </a:rPr>
              <a:t>码＝</a:t>
            </a:r>
            <a:r>
              <a:rPr lang="en-US" altLang="zh-CN" sz="2000" dirty="0">
                <a:solidFill>
                  <a:schemeClr val="tx1"/>
                </a:solidFill>
              </a:rPr>
              <a:t>1100</a:t>
            </a:r>
            <a:r>
              <a:rPr lang="en-US" altLang="zh-CN" sz="2000" dirty="0">
                <a:solidFill>
                  <a:srgbClr val="990099"/>
                </a:solidFill>
              </a:rPr>
              <a:t>000</a:t>
            </a:r>
            <a:r>
              <a:rPr lang="en-US" altLang="zh-CN" sz="2000" dirty="0">
                <a:solidFill>
                  <a:schemeClr val="tx1"/>
                </a:solidFill>
              </a:rPr>
              <a:t>+</a:t>
            </a:r>
            <a:r>
              <a:rPr lang="en-US" altLang="zh-CN" sz="2000" dirty="0">
                <a:solidFill>
                  <a:srgbClr val="C00000"/>
                </a:solidFill>
              </a:rPr>
              <a:t>010</a:t>
            </a:r>
            <a:r>
              <a:rPr lang="zh-CN" altLang="en-US" sz="2000" dirty="0">
                <a:solidFill>
                  <a:srgbClr val="990099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1100</a:t>
            </a:r>
            <a:r>
              <a:rPr lang="en-US" altLang="zh-CN" sz="2000" dirty="0">
                <a:solidFill>
                  <a:srgbClr val="C00000"/>
                </a:solidFill>
              </a:rPr>
              <a:t>010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                                                (1100</a:t>
            </a:r>
            <a:r>
              <a:rPr lang="en-US" altLang="zh-CN" sz="1600" dirty="0">
                <a:solidFill>
                  <a:srgbClr val="990099"/>
                </a:solidFill>
              </a:rPr>
              <a:t>000</a:t>
            </a:r>
            <a:r>
              <a:rPr lang="en-US" altLang="zh-CN" sz="1600" dirty="0">
                <a:solidFill>
                  <a:schemeClr val="tx1"/>
                </a:solidFill>
              </a:rPr>
              <a:t>/1011</a:t>
            </a:r>
            <a:r>
              <a:rPr lang="zh-CN" altLang="en-US" sz="160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</a:rPr>
              <a:t>1110…</a:t>
            </a:r>
            <a:r>
              <a:rPr lang="en-US" altLang="zh-CN" sz="1600" dirty="0">
                <a:solidFill>
                  <a:srgbClr val="C00000"/>
                </a:solidFill>
              </a:rPr>
              <a:t>010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22" name="Text Box 131"/>
          <p:cNvSpPr txBox="1">
            <a:spLocks noChangeArrowheads="1"/>
          </p:cNvSpPr>
          <p:nvPr/>
        </p:nvSpPr>
        <p:spPr bwMode="auto">
          <a:xfrm>
            <a:off x="1043608" y="836712"/>
            <a:ext cx="6408712" cy="900000"/>
          </a:xfrm>
          <a:prstGeom prst="rect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Dot"/>
            <a:miter lim="800000"/>
          </a:ln>
          <a:effectLst/>
        </p:spPr>
        <p:txBody>
          <a:bodyPr wrap="square" lIns="18000" tIns="28800" rIns="18000" bIns="1080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dirty="0">
                <a:solidFill>
                  <a:srgbClr val="C00000"/>
                </a:solidFill>
              </a:rPr>
              <a:t>编码与多项式</a:t>
            </a:r>
            <a:r>
              <a:rPr lang="en-US" altLang="zh-CN" sz="1600" dirty="0">
                <a:solidFill>
                  <a:srgbClr val="C00000"/>
                </a:solidFill>
              </a:rPr>
              <a:t>—</a:t>
            </a:r>
            <a:r>
              <a:rPr lang="en-US" altLang="zh-CN" sz="1600" dirty="0">
                <a:solidFill>
                  <a:schemeClr val="tx1"/>
                </a:solidFill>
              </a:rPr>
              <a:t>m</a:t>
            </a:r>
            <a:r>
              <a:rPr lang="en-US" altLang="zh-CN" sz="1600" baseline="-20000" dirty="0">
                <a:solidFill>
                  <a:schemeClr val="tx1"/>
                </a:solidFill>
              </a:rPr>
              <a:t>n-1</a:t>
            </a:r>
            <a:r>
              <a:rPr lang="en-US" altLang="zh-CN" sz="1600" dirty="0">
                <a:solidFill>
                  <a:schemeClr val="tx1"/>
                </a:solidFill>
              </a:rPr>
              <a:t>…m</a:t>
            </a:r>
            <a:r>
              <a:rPr lang="en-US" altLang="zh-CN" sz="1600" baseline="-20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m</a:t>
            </a:r>
            <a:r>
              <a:rPr lang="en-US" altLang="zh-CN" sz="1600" baseline="-200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可表示为</a:t>
            </a:r>
            <a:r>
              <a:rPr lang="en-US" altLang="zh-CN" sz="1600" dirty="0">
                <a:solidFill>
                  <a:schemeClr val="tx1"/>
                </a:solidFill>
              </a:rPr>
              <a:t>m</a:t>
            </a:r>
            <a:r>
              <a:rPr lang="en-US" altLang="zh-CN" sz="1600" baseline="-20000" dirty="0">
                <a:solidFill>
                  <a:schemeClr val="tx1"/>
                </a:solidFill>
              </a:rPr>
              <a:t>n-1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en-US" altLang="zh-CN" sz="1600" baseline="30000" dirty="0">
                <a:solidFill>
                  <a:schemeClr val="tx1"/>
                </a:solidFill>
              </a:rPr>
              <a:t>n-1</a:t>
            </a:r>
            <a:r>
              <a:rPr lang="en-US" altLang="zh-CN" sz="1600" dirty="0">
                <a:solidFill>
                  <a:schemeClr val="tx1"/>
                </a:solidFill>
              </a:rPr>
              <a:t>+…+m</a:t>
            </a:r>
            <a:r>
              <a:rPr lang="en-US" altLang="zh-CN" sz="1600" baseline="-20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X+m</a:t>
            </a:r>
            <a:r>
              <a:rPr lang="en-US" altLang="zh-CN" sz="1600" baseline="-20000" dirty="0">
                <a:solidFill>
                  <a:schemeClr val="tx1"/>
                </a:solidFill>
              </a:rPr>
              <a:t>0</a:t>
            </a:r>
            <a:r>
              <a:rPr lang="zh-CN" altLang="en-US" sz="1600" spc="-7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rgbClr val="0070C0"/>
                </a:solidFill>
              </a:rPr>
              <a:t>M(X)</a:t>
            </a:r>
            <a:r>
              <a:rPr lang="zh-CN" altLang="en-US" sz="1600" dirty="0">
                <a:solidFill>
                  <a:schemeClr val="tx1"/>
                </a:solidFill>
              </a:rPr>
              <a:t>，通常</a:t>
            </a:r>
            <a:r>
              <a:rPr lang="en-US" altLang="zh-CN" sz="1600" dirty="0">
                <a:solidFill>
                  <a:schemeClr val="tx1"/>
                </a:solidFill>
              </a:rPr>
              <a:t>X</a:t>
            </a:r>
            <a:r>
              <a:rPr lang="zh-CN" altLang="en-US" sz="1600" spc="-70" dirty="0">
                <a:solidFill>
                  <a:schemeClr val="tx1"/>
                </a:solidFill>
              </a:rPr>
              <a:t>＝</a:t>
            </a:r>
            <a:r>
              <a:rPr lang="en-US" altLang="zh-CN" sz="1600" spc="-70" dirty="0">
                <a:solidFill>
                  <a:schemeClr val="tx1"/>
                </a:solidFill>
              </a:rPr>
              <a:t>2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zh-CN" altLang="en-US" sz="1600" dirty="0">
                <a:solidFill>
                  <a:srgbClr val="C00000"/>
                </a:solidFill>
              </a:rPr>
              <a:t>模</a:t>
            </a:r>
            <a:r>
              <a:rPr lang="en-US" altLang="zh-CN" sz="1600" dirty="0">
                <a:solidFill>
                  <a:srgbClr val="C00000"/>
                </a:solidFill>
              </a:rPr>
              <a:t>2</a:t>
            </a:r>
            <a:r>
              <a:rPr lang="zh-CN" altLang="en-US" sz="1600" dirty="0">
                <a:solidFill>
                  <a:srgbClr val="C00000"/>
                </a:solidFill>
              </a:rPr>
              <a:t>除法</a:t>
            </a:r>
            <a:r>
              <a:rPr lang="en-US" altLang="zh-CN" sz="1600" dirty="0">
                <a:solidFill>
                  <a:srgbClr val="C00000"/>
                </a:solidFill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</a:rPr>
              <a:t>根据</a:t>
            </a:r>
            <a:r>
              <a:rPr lang="zh-CN" altLang="en-US" sz="1600" u="sng" dirty="0">
                <a:solidFill>
                  <a:schemeClr val="tx1"/>
                </a:solidFill>
              </a:rPr>
              <a:t>余数首位</a:t>
            </a:r>
            <a:r>
              <a:rPr lang="zh-CN" altLang="en-US" sz="1600" dirty="0">
                <a:solidFill>
                  <a:schemeClr val="tx1"/>
                </a:solidFill>
              </a:rPr>
              <a:t>上商，用</a:t>
            </a:r>
            <a:r>
              <a:rPr lang="zh-CN" altLang="en-US" sz="1600" u="sng" dirty="0">
                <a:solidFill>
                  <a:schemeClr val="tx1"/>
                </a:solidFill>
              </a:rPr>
              <a:t>模</a:t>
            </a:r>
            <a:r>
              <a:rPr lang="en-US" altLang="zh-CN" sz="1600" u="sng" dirty="0">
                <a:solidFill>
                  <a:schemeClr val="tx1"/>
                </a:solidFill>
              </a:rPr>
              <a:t>2</a:t>
            </a:r>
            <a:r>
              <a:rPr lang="zh-CN" altLang="en-US" sz="1600" u="sng" dirty="0">
                <a:solidFill>
                  <a:schemeClr val="tx1"/>
                </a:solidFill>
              </a:rPr>
              <a:t>减法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异或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求新余数，商无意义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zh-CN" altLang="en-US" sz="1600" dirty="0">
                <a:solidFill>
                  <a:srgbClr val="C00000"/>
                </a:solidFill>
              </a:rPr>
              <a:t>生成多项式</a:t>
            </a:r>
            <a:r>
              <a:rPr lang="en-US" altLang="zh-CN" sz="1600" dirty="0">
                <a:solidFill>
                  <a:srgbClr val="C00000"/>
                </a:solidFill>
              </a:rPr>
              <a:t>—</a:t>
            </a:r>
            <a:r>
              <a:rPr lang="en-US" altLang="zh-CN" sz="1600" dirty="0">
                <a:solidFill>
                  <a:schemeClr val="tx1"/>
                </a:solidFill>
              </a:rPr>
              <a:t>CRC</a:t>
            </a:r>
            <a:r>
              <a:rPr lang="zh-CN" altLang="en-US" sz="1600" dirty="0">
                <a:solidFill>
                  <a:schemeClr val="tx1"/>
                </a:solidFill>
              </a:rPr>
              <a:t>码中用作除数的多项式，常用</a:t>
            </a:r>
            <a:r>
              <a:rPr lang="en-US" altLang="zh-CN" sz="1600" dirty="0">
                <a:solidFill>
                  <a:schemeClr val="tx1"/>
                </a:solidFill>
              </a:rPr>
              <a:t>G(X)</a:t>
            </a:r>
            <a:r>
              <a:rPr lang="zh-CN" altLang="en-US" sz="1600" dirty="0">
                <a:solidFill>
                  <a:schemeClr val="tx1"/>
                </a:solidFill>
              </a:rPr>
              <a:t>表示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3AB9FB90-0155-4648-A92F-0D35D730C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4258465"/>
            <a:ext cx="7704856" cy="20562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u="sng" dirty="0">
                <a:solidFill>
                  <a:schemeClr val="tx1"/>
                </a:solidFill>
              </a:rPr>
              <a:t>串行</a:t>
            </a:r>
            <a:r>
              <a:rPr lang="zh-CN" altLang="en-US" sz="2200" dirty="0">
                <a:solidFill>
                  <a:schemeClr val="tx1"/>
                </a:solidFill>
              </a:rPr>
              <a:t>校验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求余法为</a:t>
            </a:r>
            <a:r>
              <a:rPr lang="zh-CN" altLang="en-US" sz="1800" u="sng" dirty="0">
                <a:solidFill>
                  <a:schemeClr val="tx1"/>
                </a:solidFill>
              </a:rPr>
              <a:t>逐位</a:t>
            </a:r>
            <a:r>
              <a:rPr lang="zh-CN" altLang="en-US" sz="1800" dirty="0">
                <a:solidFill>
                  <a:schemeClr val="tx1"/>
                </a:solidFill>
              </a:rPr>
              <a:t>相减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 marL="1698625" indent="-1698625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取决于</a:t>
            </a:r>
            <a:r>
              <a:rPr lang="en-US" altLang="zh-CN" sz="2200" dirty="0">
                <a:solidFill>
                  <a:schemeClr val="tx1"/>
                </a:solidFill>
              </a:rPr>
              <a:t>G(X)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rgbClr val="990099"/>
                </a:solidFill>
              </a:rPr>
              <a:t>检错</a:t>
            </a:r>
            <a:r>
              <a:rPr lang="zh-CN" altLang="en-US" sz="2200" dirty="0">
                <a:solidFill>
                  <a:schemeClr val="tx1"/>
                </a:solidFill>
              </a:rPr>
              <a:t>较</a:t>
            </a:r>
            <a:r>
              <a:rPr lang="zh-CN" altLang="en-US" sz="2200" u="sng" dirty="0">
                <a:solidFill>
                  <a:schemeClr val="tx1"/>
                </a:solidFill>
              </a:rPr>
              <a:t>强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概率</a:t>
            </a:r>
            <a:r>
              <a:rPr lang="en-US" altLang="zh-CN" sz="1800" dirty="0">
                <a:solidFill>
                  <a:schemeClr val="tx1"/>
                </a:solidFill>
              </a:rPr>
              <a:t>=1-1/</a:t>
            </a:r>
            <a:r>
              <a:rPr lang="en-US" altLang="zh-CN" sz="1800" dirty="0" err="1">
                <a:solidFill>
                  <a:schemeClr val="tx1"/>
                </a:solidFill>
              </a:rPr>
              <a:t>x</a:t>
            </a:r>
            <a:r>
              <a:rPr lang="en-US" altLang="zh-CN" sz="1800" baseline="30000" dirty="0" err="1">
                <a:solidFill>
                  <a:schemeClr val="tx1"/>
                </a:solidFill>
              </a:rPr>
              <a:t>k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u="sng" dirty="0">
                <a:solidFill>
                  <a:srgbClr val="990099"/>
                </a:solidFill>
              </a:rPr>
              <a:t>纠错</a:t>
            </a:r>
            <a:r>
              <a:rPr lang="zh-CN" altLang="en-US" sz="2200" dirty="0">
                <a:solidFill>
                  <a:schemeClr val="tx1"/>
                </a:solidFill>
              </a:rPr>
              <a:t>较</a:t>
            </a:r>
            <a:r>
              <a:rPr lang="zh-CN" altLang="en-US" sz="2200" u="sng" dirty="0">
                <a:solidFill>
                  <a:schemeClr val="tx1"/>
                </a:solidFill>
              </a:rPr>
              <a:t>弱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常为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1698625" indent="-1698625"/>
            <a:r>
              <a:rPr lang="en-US" altLang="zh-CN" sz="2200" dirty="0">
                <a:solidFill>
                  <a:schemeClr val="tx1"/>
                </a:solidFill>
              </a:rPr>
              <a:t>              R</a:t>
            </a:r>
            <a:r>
              <a:rPr lang="en-US" altLang="zh-CN" sz="2200" i="1" baseline="-18000" dirty="0">
                <a:solidFill>
                  <a:schemeClr val="tx1"/>
                </a:solidFill>
                <a:latin typeface="+mn-lt"/>
              </a:rPr>
              <a:t>i</a:t>
            </a:r>
            <a:r>
              <a:rPr lang="en-US" altLang="zh-CN" sz="2200" baseline="-18000" dirty="0">
                <a:solidFill>
                  <a:schemeClr val="tx1"/>
                </a:solidFill>
              </a:rPr>
              <a:t>+1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FFCC99"/>
                </a:highlight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(R</a:t>
            </a:r>
            <a:r>
              <a:rPr lang="en-US" altLang="zh-CN" sz="2200" i="1" baseline="-18000" dirty="0">
                <a:solidFill>
                  <a:schemeClr val="tx1"/>
                </a:solidFill>
                <a:latin typeface="+mn-lt"/>
              </a:rPr>
              <a:t>i</a:t>
            </a:r>
            <a:r>
              <a:rPr lang="en-US" altLang="zh-CN" sz="2200" dirty="0">
                <a:solidFill>
                  <a:srgbClr val="0070C0"/>
                </a:solidFill>
              </a:rPr>
              <a:t>&lt;&lt;1</a:t>
            </a:r>
            <a:r>
              <a:rPr lang="en-US" altLang="zh-CN" sz="2200" dirty="0">
                <a:solidFill>
                  <a:schemeClr val="tx1"/>
                </a:solidFill>
              </a:rPr>
              <a:t>)/G</a:t>
            </a:r>
            <a:r>
              <a:rPr lang="zh-CN" altLang="en-US" sz="2200" dirty="0">
                <a:solidFill>
                  <a:schemeClr val="tx1"/>
                </a:solidFill>
              </a:rPr>
              <a:t>的余数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M/G</a:t>
            </a:r>
            <a:r>
              <a:rPr lang="zh-CN" altLang="en-US" sz="1800" dirty="0">
                <a:solidFill>
                  <a:schemeClr val="tx1"/>
                </a:solidFill>
              </a:rPr>
              <a:t>的余数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1698625" indent="-1698625">
              <a:lnSpc>
                <a:spcPct val="105000"/>
              </a:lnSpc>
            </a:pPr>
            <a:r>
              <a:rPr lang="zh-CN" altLang="en-US" sz="1800" dirty="0">
                <a:solidFill>
                  <a:srgbClr val="FF3399"/>
                </a:solidFill>
              </a:rPr>
              <a:t>       循环码</a:t>
            </a:r>
            <a:r>
              <a:rPr lang="zh-CN" altLang="en-US" sz="1800" dirty="0">
                <a:solidFill>
                  <a:schemeClr val="tx1"/>
                </a:solidFill>
              </a:rPr>
              <a:t>的由来</a:t>
            </a:r>
            <a:r>
              <a:rPr lang="zh-CN" altLang="en-US" sz="1800" b="0" dirty="0">
                <a:solidFill>
                  <a:schemeClr val="tx1"/>
                </a:solidFill>
              </a:rPr>
              <a:t>→┘   └</a:t>
            </a:r>
            <a:r>
              <a:rPr lang="zh-CN" altLang="en-US" sz="1800" dirty="0">
                <a:solidFill>
                  <a:schemeClr val="tx1"/>
                </a:solidFill>
              </a:rPr>
              <a:t>←错误位置移动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←表示错误位置</a:t>
            </a:r>
            <a:endParaRPr lang="en-US" altLang="zh-CN" sz="1800" u="sng" dirty="0">
              <a:solidFill>
                <a:schemeClr val="tx1"/>
              </a:solidFill>
            </a:endParaRPr>
          </a:p>
          <a:p>
            <a:pPr marL="1698625" indent="-1698625"/>
            <a:r>
              <a:rPr lang="zh-CN" altLang="en-US" sz="2200" u="sng" dirty="0">
                <a:solidFill>
                  <a:schemeClr val="tx1"/>
                </a:solidFill>
              </a:rPr>
              <a:t>广泛</a:t>
            </a:r>
            <a:r>
              <a:rPr lang="zh-CN" altLang="en-US" sz="2200" dirty="0">
                <a:solidFill>
                  <a:schemeClr val="tx1"/>
                </a:solidFill>
              </a:rPr>
              <a:t>用于</a:t>
            </a:r>
            <a:r>
              <a:rPr lang="zh-CN" altLang="en-US" sz="2200" u="sng" dirty="0">
                <a:solidFill>
                  <a:schemeClr val="tx1"/>
                </a:solidFill>
              </a:rPr>
              <a:t>网络通信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检错要求高、错时重发即可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23" name="AutoShape 62">
            <a:hlinkClick r:id="rId3" action="ppaction://hlinksldjump"/>
            <a:extLst>
              <a:ext uri="{FF2B5EF4-FFF2-40B4-BE49-F238E27FC236}">
                <a16:creationId xmlns:a16="http://schemas.microsoft.com/office/drawing/2014/main" id="{762ECA55-212F-4D40-994B-F90433A478B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452669" y="6236219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AF6F1C2-8FD9-4D7E-9C0C-550E557D3ECE}"/>
              </a:ext>
            </a:extLst>
          </p:cNvPr>
          <p:cNvCxnSpPr>
            <a:cxnSpLocks/>
          </p:cNvCxnSpPr>
          <p:nvPr/>
        </p:nvCxnSpPr>
        <p:spPr bwMode="auto">
          <a:xfrm>
            <a:off x="2339999" y="4691971"/>
            <a:ext cx="2124000" cy="576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7" name="Text Box 233">
            <a:extLst>
              <a:ext uri="{FF2B5EF4-FFF2-40B4-BE49-F238E27FC236}">
                <a16:creationId xmlns:a16="http://schemas.microsoft.com/office/drawing/2014/main" id="{6F5B082E-4264-4C76-B83B-E3D45C43271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83968" y="6270580"/>
            <a:ext cx="2556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作业</a:t>
            </a:r>
            <a:r>
              <a:rPr lang="en-US" altLang="zh-CN" sz="2000" dirty="0">
                <a:solidFill>
                  <a:srgbClr val="C00000"/>
                </a:solidFill>
              </a:rPr>
              <a:t>2-1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P86</a:t>
            </a:r>
            <a:r>
              <a:rPr lang="zh-CN" altLang="en-US" sz="2000" dirty="0">
                <a:solidFill>
                  <a:schemeClr val="tx1"/>
                </a:solidFill>
              </a:rPr>
              <a:t>起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～</a:t>
            </a:r>
            <a:r>
              <a:rPr lang="en-US" altLang="zh-CN" sz="2000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526"/>
          <p:cNvSpPr txBox="1">
            <a:spLocks noChangeArrowheads="1"/>
          </p:cNvSpPr>
          <p:nvPr/>
        </p:nvSpPr>
        <p:spPr bwMode="auto">
          <a:xfrm>
            <a:off x="179513" y="1628800"/>
            <a:ext cx="4077598" cy="36166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数据类型定义：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应用中的数据类型：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硬件支持的数据类型：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         </a:t>
            </a:r>
            <a:r>
              <a:rPr lang="en-US" altLang="zh-CN" sz="1800" b="0" dirty="0">
                <a:solidFill>
                  <a:schemeClr val="tx1"/>
                </a:solidFill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</a:rPr>
              <a:t>→</a:t>
            </a:r>
            <a:r>
              <a:rPr lang="zh-CN" altLang="en-US" sz="1800" dirty="0">
                <a:solidFill>
                  <a:schemeClr val="tx1"/>
                </a:solidFill>
              </a:rPr>
              <a:t>运算用</a:t>
            </a:r>
            <a:r>
              <a:rPr lang="zh-CN" altLang="en-US" sz="1800" dirty="0">
                <a:solidFill>
                  <a:srgbClr val="FF3399"/>
                </a:solidFill>
              </a:rPr>
              <a:t>硬件</a:t>
            </a:r>
            <a:r>
              <a:rPr lang="zh-CN" altLang="en-US" sz="1800" dirty="0">
                <a:solidFill>
                  <a:schemeClr val="tx1"/>
                </a:solidFill>
              </a:rPr>
              <a:t>实现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rgbClr val="C00000"/>
                </a:solidFill>
              </a:rPr>
              <a:t> *数据类型的转换：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3" name="Text Box 50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§2.2 </a:t>
            </a:r>
            <a:r>
              <a:rPr lang="zh-CN" altLang="en-US" sz="2800" dirty="0">
                <a:solidFill>
                  <a:schemeClr val="tx1"/>
                </a:solidFill>
              </a:rPr>
              <a:t>数据的表示</a:t>
            </a:r>
          </a:p>
        </p:txBody>
      </p:sp>
      <p:sp>
        <p:nvSpPr>
          <p:cNvPr id="4" name="Text Box 526"/>
          <p:cNvSpPr txBox="1">
            <a:spLocks noChangeArrowheads="1"/>
          </p:cNvSpPr>
          <p:nvPr/>
        </p:nvSpPr>
        <p:spPr bwMode="auto">
          <a:xfrm>
            <a:off x="2460873" y="1628800"/>
            <a:ext cx="6287591" cy="792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指一个</a:t>
            </a:r>
            <a:r>
              <a:rPr lang="zh-CN" altLang="en-US" sz="2200" u="sng" dirty="0">
                <a:solidFill>
                  <a:schemeClr val="tx1"/>
                </a:solidFill>
              </a:rPr>
              <a:t>值的集合</a:t>
            </a:r>
            <a:r>
              <a:rPr lang="zh-CN" altLang="en-US" sz="2200" dirty="0">
                <a:solidFill>
                  <a:schemeClr val="tx1"/>
                </a:solidFill>
              </a:rPr>
              <a:t>，及定义在该值集上的</a:t>
            </a:r>
            <a:r>
              <a:rPr lang="zh-CN" altLang="en-US" sz="2200" u="sng" dirty="0">
                <a:solidFill>
                  <a:schemeClr val="tx1"/>
                </a:solidFill>
              </a:rPr>
              <a:t>一组操作</a:t>
            </a:r>
            <a:endParaRPr lang="en-US" altLang="zh-CN" sz="2200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800" b="0" dirty="0">
                <a:solidFill>
                  <a:schemeClr val="tx1"/>
                </a:solidFill>
              </a:rPr>
              <a:t>          └→</a:t>
            </a:r>
            <a:r>
              <a:rPr lang="zh-CN" altLang="en-US" sz="1800" dirty="0">
                <a:solidFill>
                  <a:srgbClr val="990099"/>
                </a:solidFill>
              </a:rPr>
              <a:t>值集</a:t>
            </a:r>
            <a:r>
              <a:rPr lang="zh-CN" altLang="en-US" sz="1800" dirty="0">
                <a:solidFill>
                  <a:schemeClr val="accent2"/>
                </a:solidFill>
              </a:rPr>
              <a:t>或</a:t>
            </a:r>
            <a:r>
              <a:rPr lang="zh-CN" altLang="en-US" sz="1800" dirty="0">
                <a:solidFill>
                  <a:srgbClr val="990099"/>
                </a:solidFill>
              </a:rPr>
              <a:t>操作集</a:t>
            </a:r>
            <a:r>
              <a:rPr lang="zh-CN" altLang="en-US" sz="1800" dirty="0">
                <a:solidFill>
                  <a:schemeClr val="tx1"/>
                </a:solidFill>
              </a:rPr>
              <a:t>不同，数据类型</a:t>
            </a:r>
            <a:r>
              <a:rPr lang="zh-CN" altLang="en-US" sz="1800" dirty="0">
                <a:solidFill>
                  <a:srgbClr val="FF3399"/>
                </a:solidFill>
              </a:rPr>
              <a:t>不同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b="0" dirty="0">
                <a:solidFill>
                  <a:schemeClr val="tx1"/>
                </a:solidFill>
              </a:rPr>
              <a:t>┘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grpSp>
        <p:nvGrpSpPr>
          <p:cNvPr id="5" name="Group 544"/>
          <p:cNvGrpSpPr/>
          <p:nvPr/>
        </p:nvGrpSpPr>
        <p:grpSpPr bwMode="auto">
          <a:xfrm>
            <a:off x="2555776" y="2492896"/>
            <a:ext cx="5797550" cy="1497013"/>
            <a:chOff x="1066" y="572"/>
            <a:chExt cx="3652" cy="943"/>
          </a:xfrm>
        </p:grpSpPr>
        <p:sp>
          <p:nvSpPr>
            <p:cNvPr id="6" name="AutoShape 545"/>
            <p:cNvSpPr/>
            <p:nvPr/>
          </p:nvSpPr>
          <p:spPr bwMode="auto">
            <a:xfrm>
              <a:off x="2335" y="646"/>
              <a:ext cx="46" cy="269"/>
            </a:xfrm>
            <a:prstGeom prst="leftBrace">
              <a:avLst>
                <a:gd name="adj1" fmla="val 65761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" name="AutoShape 546"/>
            <p:cNvSpPr/>
            <p:nvPr/>
          </p:nvSpPr>
          <p:spPr bwMode="auto">
            <a:xfrm>
              <a:off x="2336" y="1016"/>
              <a:ext cx="45" cy="431"/>
            </a:xfrm>
            <a:prstGeom prst="leftBrace">
              <a:avLst>
                <a:gd name="adj1" fmla="val 125926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" name="AutoShape 547"/>
            <p:cNvSpPr/>
            <p:nvPr/>
          </p:nvSpPr>
          <p:spPr bwMode="auto">
            <a:xfrm>
              <a:off x="1445" y="800"/>
              <a:ext cx="29" cy="462"/>
            </a:xfrm>
            <a:prstGeom prst="leftBrace">
              <a:avLst>
                <a:gd name="adj1" fmla="val 117778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" name="Text Box 548"/>
            <p:cNvSpPr txBox="1">
              <a:spLocks noChangeArrowheads="1"/>
            </p:cNvSpPr>
            <p:nvPr/>
          </p:nvSpPr>
          <p:spPr bwMode="auto">
            <a:xfrm>
              <a:off x="1066" y="915"/>
              <a:ext cx="408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数据</a:t>
              </a:r>
            </a:p>
          </p:txBody>
        </p:sp>
        <p:sp>
          <p:nvSpPr>
            <p:cNvPr id="10" name="Text Box 549"/>
            <p:cNvSpPr txBox="1">
              <a:spLocks noChangeArrowheads="1"/>
            </p:cNvSpPr>
            <p:nvPr/>
          </p:nvSpPr>
          <p:spPr bwMode="auto">
            <a:xfrm>
              <a:off x="1474" y="689"/>
              <a:ext cx="867" cy="17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dist">
                <a:lnSpc>
                  <a:spcPct val="100000"/>
                </a:lnSpc>
              </a:pPr>
              <a:r>
                <a:rPr lang="zh-CN" altLang="en-US" sz="1800" spc="600" dirty="0">
                  <a:solidFill>
                    <a:schemeClr val="tx1"/>
                  </a:solidFill>
                </a:rPr>
                <a:t>数值数据</a:t>
              </a:r>
            </a:p>
          </p:txBody>
        </p:sp>
        <p:sp>
          <p:nvSpPr>
            <p:cNvPr id="11" name="Text Box 550"/>
            <p:cNvSpPr txBox="1">
              <a:spLocks noChangeArrowheads="1"/>
            </p:cNvSpPr>
            <p:nvPr/>
          </p:nvSpPr>
          <p:spPr bwMode="auto">
            <a:xfrm>
              <a:off x="1475" y="1142"/>
              <a:ext cx="861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非数值数据</a:t>
              </a:r>
            </a:p>
          </p:txBody>
        </p:sp>
        <p:sp>
          <p:nvSpPr>
            <p:cNvPr id="12" name="Text Box 551"/>
            <p:cNvSpPr txBox="1">
              <a:spLocks noChangeArrowheads="1"/>
            </p:cNvSpPr>
            <p:nvPr/>
          </p:nvSpPr>
          <p:spPr bwMode="auto">
            <a:xfrm>
              <a:off x="2382" y="971"/>
              <a:ext cx="2069" cy="54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逻辑数   </a:t>
              </a:r>
              <a:r>
                <a:rPr lang="en-US" altLang="zh-CN" sz="1800" dirty="0">
                  <a:solidFill>
                    <a:schemeClr val="tx1"/>
                  </a:solidFill>
                </a:rPr>
                <a:t>--</a:t>
              </a:r>
              <a:r>
                <a:rPr lang="zh-CN" altLang="en-US" sz="1800" dirty="0">
                  <a:solidFill>
                    <a:schemeClr val="tx1"/>
                  </a:solidFill>
                </a:rPr>
                <a:t>布尔数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字符</a:t>
              </a:r>
              <a:r>
                <a:rPr lang="en-US" altLang="zh-CN" sz="1800" dirty="0">
                  <a:solidFill>
                    <a:srgbClr val="990099"/>
                  </a:solidFill>
                </a:rPr>
                <a:t>(</a:t>
              </a:r>
              <a:r>
                <a:rPr lang="zh-CN" altLang="en-US" sz="1800" dirty="0">
                  <a:solidFill>
                    <a:srgbClr val="990099"/>
                  </a:solidFill>
                </a:rPr>
                <a:t>串</a:t>
              </a:r>
              <a:r>
                <a:rPr lang="en-US" altLang="zh-CN" sz="1800" dirty="0">
                  <a:solidFill>
                    <a:srgbClr val="990099"/>
                  </a:solidFill>
                </a:rPr>
                <a:t>) </a:t>
              </a:r>
              <a:r>
                <a:rPr lang="en-US" altLang="zh-CN" sz="1800" dirty="0">
                  <a:solidFill>
                    <a:schemeClr val="tx1"/>
                  </a:solidFill>
                </a:rPr>
                <a:t>--</a:t>
              </a:r>
              <a:r>
                <a:rPr lang="zh-CN" altLang="en-US" sz="1800" dirty="0">
                  <a:solidFill>
                    <a:schemeClr val="tx1"/>
                  </a:solidFill>
                </a:rPr>
                <a:t>含汉字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其它     </a:t>
              </a:r>
              <a:r>
                <a:rPr lang="en-US" altLang="zh-CN" sz="1800" dirty="0">
                  <a:solidFill>
                    <a:schemeClr val="tx1"/>
                  </a:solidFill>
                </a:rPr>
                <a:t>--</a:t>
              </a:r>
              <a:r>
                <a:rPr lang="zh-CN" altLang="en-US" sz="1800" dirty="0">
                  <a:solidFill>
                    <a:schemeClr val="tx1"/>
                  </a:solidFill>
                </a:rPr>
                <a:t>声音、图形等</a:t>
              </a:r>
            </a:p>
          </p:txBody>
        </p:sp>
        <p:sp>
          <p:nvSpPr>
            <p:cNvPr id="13" name="Text Box 552"/>
            <p:cNvSpPr txBox="1">
              <a:spLocks noChangeArrowheads="1"/>
            </p:cNvSpPr>
            <p:nvPr/>
          </p:nvSpPr>
          <p:spPr bwMode="auto">
            <a:xfrm>
              <a:off x="2382" y="572"/>
              <a:ext cx="2336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无符号数 </a:t>
              </a:r>
              <a:r>
                <a:rPr lang="en-US" altLang="zh-CN" sz="1800" dirty="0">
                  <a:solidFill>
                    <a:schemeClr val="tx1"/>
                  </a:solidFill>
                </a:rPr>
                <a:t>--</a:t>
              </a:r>
              <a:r>
                <a:rPr lang="zh-CN" altLang="en-US" sz="1800" dirty="0">
                  <a:solidFill>
                    <a:schemeClr val="tx1"/>
                  </a:solidFill>
                </a:rPr>
                <a:t>自然数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有符号数 </a:t>
              </a:r>
              <a:r>
                <a:rPr lang="en-US" altLang="zh-CN" sz="1800" dirty="0">
                  <a:solidFill>
                    <a:schemeClr val="tx1"/>
                  </a:solidFill>
                </a:rPr>
                <a:t>--</a:t>
              </a:r>
              <a:r>
                <a:rPr lang="zh-CN" altLang="en-US" sz="1800" dirty="0">
                  <a:solidFill>
                    <a:schemeClr val="tx1"/>
                  </a:solidFill>
                </a:rPr>
                <a:t>整数、纯小数、实数等</a:t>
              </a:r>
            </a:p>
          </p:txBody>
        </p:sp>
      </p:grpSp>
      <p:sp>
        <p:nvSpPr>
          <p:cNvPr id="27" name="Text Box 526"/>
          <p:cNvSpPr txBox="1">
            <a:spLocks noChangeArrowheads="1"/>
          </p:cNvSpPr>
          <p:nvPr/>
        </p:nvSpPr>
        <p:spPr bwMode="auto">
          <a:xfrm>
            <a:off x="2699792" y="4005064"/>
            <a:ext cx="6264695" cy="12098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u="sng" dirty="0">
                <a:solidFill>
                  <a:srgbClr val="990099"/>
                </a:solidFill>
              </a:rPr>
              <a:t>最常用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最基本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的数据类型，由</a:t>
            </a:r>
            <a:r>
              <a:rPr lang="en-US" altLang="zh-CN" sz="2200" u="sng" dirty="0">
                <a:solidFill>
                  <a:srgbClr val="990099"/>
                </a:solidFill>
              </a:rPr>
              <a:t>ISA</a:t>
            </a:r>
            <a:r>
              <a:rPr lang="zh-CN" altLang="en-US" sz="2200" dirty="0">
                <a:solidFill>
                  <a:schemeClr val="tx1"/>
                </a:solidFill>
              </a:rPr>
              <a:t>约定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→</a:t>
            </a:r>
            <a:r>
              <a:rPr lang="en-US" altLang="zh-CN" sz="1800" b="0" dirty="0">
                <a:solidFill>
                  <a:schemeClr val="tx1"/>
                </a:solidFill>
              </a:rPr>
              <a:t>┴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考虑</a:t>
            </a:r>
            <a:r>
              <a:rPr lang="zh-CN" altLang="en-US" sz="1800" dirty="0">
                <a:solidFill>
                  <a:srgbClr val="FF3399"/>
                </a:solidFill>
              </a:rPr>
              <a:t>性</a:t>
            </a:r>
            <a:r>
              <a:rPr lang="en-US" altLang="zh-CN" sz="1800" dirty="0">
                <a:solidFill>
                  <a:srgbClr val="FF3399"/>
                </a:solidFill>
              </a:rPr>
              <a:t>/</a:t>
            </a:r>
            <a:r>
              <a:rPr lang="zh-CN" altLang="en-US" sz="1800" dirty="0">
                <a:solidFill>
                  <a:srgbClr val="FF3399"/>
                </a:solidFill>
              </a:rPr>
              <a:t>价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en-US" altLang="zh-CN" sz="1800" b="0" dirty="0">
                <a:solidFill>
                  <a:schemeClr val="tx1"/>
                </a:solidFill>
              </a:rPr>
              <a:t>────────┘</a:t>
            </a: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由程序员、编译程序共同完成</a:t>
            </a:r>
          </a:p>
        </p:txBody>
      </p:sp>
      <p:grpSp>
        <p:nvGrpSpPr>
          <p:cNvPr id="29" name="Group 556"/>
          <p:cNvGrpSpPr/>
          <p:nvPr/>
        </p:nvGrpSpPr>
        <p:grpSpPr bwMode="auto">
          <a:xfrm>
            <a:off x="1546970" y="5249408"/>
            <a:ext cx="6597654" cy="571500"/>
            <a:chOff x="1339" y="2165"/>
            <a:chExt cx="4156" cy="360"/>
          </a:xfrm>
        </p:grpSpPr>
        <p:sp>
          <p:nvSpPr>
            <p:cNvPr id="30" name="Text Box 557"/>
            <p:cNvSpPr txBox="1">
              <a:spLocks noChangeArrowheads="1"/>
            </p:cNvSpPr>
            <p:nvPr/>
          </p:nvSpPr>
          <p:spPr bwMode="auto">
            <a:xfrm>
              <a:off x="2117" y="2197"/>
              <a:ext cx="544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程序员</a:t>
              </a:r>
            </a:p>
          </p:txBody>
        </p:sp>
        <p:sp>
          <p:nvSpPr>
            <p:cNvPr id="31" name="Text Box 558"/>
            <p:cNvSpPr txBox="1">
              <a:spLocks noChangeArrowheads="1"/>
            </p:cNvSpPr>
            <p:nvPr/>
          </p:nvSpPr>
          <p:spPr bwMode="auto">
            <a:xfrm>
              <a:off x="1339" y="2165"/>
              <a:ext cx="712" cy="36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应用中的</a:t>
              </a:r>
              <a:endParaRPr lang="en-US" altLang="zh-CN" sz="1800" dirty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数据类型</a:t>
              </a:r>
            </a:p>
          </p:txBody>
        </p:sp>
        <p:sp>
          <p:nvSpPr>
            <p:cNvPr id="32" name="Text Box 559"/>
            <p:cNvSpPr txBox="1">
              <a:spLocks noChangeArrowheads="1"/>
            </p:cNvSpPr>
            <p:nvPr/>
          </p:nvSpPr>
          <p:spPr bwMode="auto">
            <a:xfrm>
              <a:off x="2702" y="2165"/>
              <a:ext cx="1132" cy="36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编程语言支持的</a:t>
              </a:r>
              <a:endParaRPr lang="en-US" altLang="zh-CN" sz="1800" dirty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数据类型</a:t>
              </a:r>
            </a:p>
          </p:txBody>
        </p:sp>
        <p:sp>
          <p:nvSpPr>
            <p:cNvPr id="33" name="Text Box 560"/>
            <p:cNvSpPr txBox="1">
              <a:spLocks noChangeArrowheads="1"/>
            </p:cNvSpPr>
            <p:nvPr/>
          </p:nvSpPr>
          <p:spPr bwMode="auto">
            <a:xfrm>
              <a:off x="4651" y="2165"/>
              <a:ext cx="844" cy="36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FF3399"/>
                  </a:solidFill>
                </a:rPr>
                <a:t>硬件支持的</a:t>
              </a:r>
              <a:endParaRPr lang="en-US" altLang="zh-CN" sz="1800" dirty="0">
                <a:solidFill>
                  <a:srgbClr val="FF3399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数据类型</a:t>
              </a:r>
            </a:p>
          </p:txBody>
        </p:sp>
        <p:sp>
          <p:nvSpPr>
            <p:cNvPr id="34" name="Line 561"/>
            <p:cNvSpPr>
              <a:spLocks noChangeShapeType="1"/>
            </p:cNvSpPr>
            <p:nvPr/>
          </p:nvSpPr>
          <p:spPr bwMode="auto">
            <a:xfrm>
              <a:off x="2051" y="2392"/>
              <a:ext cx="648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5" name="Text Box 562"/>
            <p:cNvSpPr txBox="1">
              <a:spLocks noChangeArrowheads="1"/>
            </p:cNvSpPr>
            <p:nvPr/>
          </p:nvSpPr>
          <p:spPr bwMode="auto">
            <a:xfrm>
              <a:off x="3925" y="2197"/>
              <a:ext cx="680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rgbClr val="990099"/>
                  </a:solidFill>
                </a:rPr>
                <a:t>编译程序</a:t>
              </a:r>
            </a:p>
          </p:txBody>
        </p:sp>
        <p:sp>
          <p:nvSpPr>
            <p:cNvPr id="36" name="Line 563"/>
            <p:cNvSpPr>
              <a:spLocks noChangeShapeType="1"/>
            </p:cNvSpPr>
            <p:nvPr/>
          </p:nvSpPr>
          <p:spPr bwMode="auto">
            <a:xfrm flipV="1">
              <a:off x="3834" y="2392"/>
              <a:ext cx="816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37" name="Text Box 555"/>
          <p:cNvSpPr txBox="1">
            <a:spLocks noChangeArrowheads="1"/>
          </p:cNvSpPr>
          <p:nvPr/>
        </p:nvSpPr>
        <p:spPr bwMode="auto">
          <a:xfrm>
            <a:off x="827584" y="5825472"/>
            <a:ext cx="7704856" cy="6278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</a:rPr>
              <a:t>20</a:t>
            </a:r>
            <a:r>
              <a:rPr lang="zh-CN" altLang="en-US" sz="1800" dirty="0">
                <a:solidFill>
                  <a:schemeClr val="tx1"/>
                </a:solidFill>
              </a:rPr>
              <a:t>位整数操作        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个</a:t>
            </a:r>
            <a:r>
              <a:rPr lang="en-US" altLang="zh-CN" sz="1800" dirty="0">
                <a:solidFill>
                  <a:schemeClr val="tx1"/>
                </a:solidFill>
              </a:rPr>
              <a:t>long </a:t>
            </a:r>
            <a:r>
              <a:rPr lang="en-US" altLang="zh-CN" sz="1800" dirty="0" err="1">
                <a:solidFill>
                  <a:schemeClr val="tx1"/>
                </a:solidFill>
              </a:rPr>
              <a:t>int</a:t>
            </a:r>
            <a:r>
              <a:rPr lang="zh-CN" altLang="en-US" sz="1800" dirty="0">
                <a:solidFill>
                  <a:schemeClr val="tx1"/>
                </a:solidFill>
              </a:rPr>
              <a:t>操作            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个</a:t>
            </a:r>
            <a:r>
              <a:rPr lang="en-US" altLang="zh-CN" sz="1800" dirty="0">
                <a:solidFill>
                  <a:schemeClr val="tx1"/>
                </a:solidFill>
              </a:rPr>
              <a:t>16</a:t>
            </a:r>
            <a:r>
              <a:rPr lang="zh-CN" altLang="en-US" sz="1800" dirty="0">
                <a:solidFill>
                  <a:schemeClr val="tx1"/>
                </a:solidFill>
              </a:rPr>
              <a:t>位操作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           (</a:t>
            </a:r>
            <a:r>
              <a:rPr lang="zh-CN" altLang="en-US" sz="1600" dirty="0">
                <a:solidFill>
                  <a:schemeClr val="tx1"/>
                </a:solidFill>
              </a:rPr>
              <a:t>设</a:t>
            </a:r>
            <a:r>
              <a:rPr lang="en-US" altLang="zh-CN" sz="1600" dirty="0" err="1">
                <a:solidFill>
                  <a:schemeClr val="tx1"/>
                </a:solidFill>
              </a:rPr>
              <a:t>sizeof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int</a:t>
            </a:r>
            <a:r>
              <a:rPr lang="en-US" altLang="zh-CN" sz="1600" dirty="0">
                <a:solidFill>
                  <a:schemeClr val="tx1"/>
                </a:solidFill>
              </a:rPr>
              <a:t>)=16b)     </a:t>
            </a:r>
            <a:r>
              <a:rPr lang="en-US" altLang="zh-CN" sz="1400" dirty="0">
                <a:solidFill>
                  <a:schemeClr val="tx1"/>
                </a:solidFill>
              </a:rPr>
              <a:t>        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设</a:t>
            </a:r>
            <a:r>
              <a:rPr lang="en-US" altLang="zh-CN" sz="1600" dirty="0">
                <a:solidFill>
                  <a:schemeClr val="tx1"/>
                </a:solidFill>
              </a:rPr>
              <a:t>CPU</a:t>
            </a:r>
            <a:r>
              <a:rPr lang="zh-CN" altLang="en-US" sz="1600" dirty="0">
                <a:solidFill>
                  <a:schemeClr val="tx1"/>
                </a:solidFill>
              </a:rPr>
              <a:t>为</a:t>
            </a:r>
            <a:r>
              <a:rPr lang="en-US" altLang="zh-CN" sz="1600" dirty="0">
                <a:solidFill>
                  <a:schemeClr val="tx1"/>
                </a:solidFill>
              </a:rPr>
              <a:t>16</a:t>
            </a:r>
            <a:r>
              <a:rPr lang="zh-CN" altLang="en-US" sz="1600" dirty="0">
                <a:solidFill>
                  <a:schemeClr val="tx1"/>
                </a:solidFill>
              </a:rPr>
              <a:t>位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8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7834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F3399"/>
                </a:solidFill>
              </a:rPr>
              <a:t>  ※</a:t>
            </a:r>
            <a:r>
              <a:rPr lang="zh-CN" altLang="en-US" sz="2000" dirty="0">
                <a:solidFill>
                  <a:srgbClr val="FF3399"/>
                </a:solidFill>
              </a:rPr>
              <a:t>主要内容：</a:t>
            </a:r>
            <a:r>
              <a:rPr lang="zh-CN" altLang="en-US" sz="2000" dirty="0">
                <a:solidFill>
                  <a:schemeClr val="tx1"/>
                </a:solidFill>
              </a:rPr>
              <a:t>表示方法，整数、实数、非数值数据的表示，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     </a:t>
            </a:r>
            <a:r>
              <a:rPr lang="zh-CN" altLang="en-US" sz="2000" dirty="0">
                <a:solidFill>
                  <a:schemeClr val="tx1"/>
                </a:solidFill>
              </a:rPr>
              <a:t>位扩展运算、逻辑运算、关系运算的运算方法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" grpId="0" bldLvl="0" animBg="1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E7C01-535A-4F20-8E42-18132A719B67}" type="slidenum">
              <a:rPr lang="en-US" altLang="zh-CN"/>
              <a:t>22</a:t>
            </a:fld>
            <a:endParaRPr lang="en-US" altLang="zh-CN"/>
          </a:p>
        </p:txBody>
      </p:sp>
      <p:sp>
        <p:nvSpPr>
          <p:cNvPr id="60" name="Text Box 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32656"/>
            <a:ext cx="5150485" cy="568700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FF3399"/>
                </a:solidFill>
                <a:latin typeface="+mn-ea"/>
              </a:rPr>
              <a:t>、数据的表示方法</a:t>
            </a: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数据的数学特征：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数值数据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非数值数据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硬件的表示特征：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数据的表示方法：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面向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存储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运算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进制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符号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小数点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编码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数据表示的要素：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9672" y="1196752"/>
            <a:ext cx="7375525" cy="48216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包含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进制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符号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小数点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、编码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数值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zh-CN" sz="2200" dirty="0">
                <a:solidFill>
                  <a:schemeClr val="tx1"/>
                </a:solidFill>
              </a:rPr>
              <a:t>长度</a:t>
            </a:r>
            <a:r>
              <a:rPr lang="zh-CN" altLang="en-US" sz="2200" u="sng" dirty="0">
                <a:solidFill>
                  <a:schemeClr val="tx1"/>
                </a:solidFill>
              </a:rPr>
              <a:t>可变</a:t>
            </a:r>
            <a:endParaRPr lang="en-US" altLang="zh-CN" sz="2200" b="1" u="sng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仅含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编码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非数值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长度</a:t>
            </a:r>
            <a:r>
              <a:rPr lang="zh-CN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固定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二进制，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没有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符号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小数点，长度</a:t>
            </a:r>
            <a:r>
              <a:rPr lang="zh-CN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固定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定长运算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二进制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表示，可支持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十进制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I/O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较多时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 </a:t>
            </a:r>
          </a:p>
          <a:p>
            <a:pPr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有符号数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数字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表示，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无符号数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中符号位置为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数值</a:t>
            </a:r>
          </a:p>
          <a:p>
            <a:pPr>
              <a:lnSpc>
                <a:spcPct val="105000"/>
              </a:lnSpc>
            </a:pP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600" b="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相等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便于存储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运算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1600" b="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┘</a:t>
            </a:r>
            <a:endParaRPr lang="zh-CN" altLang="en-US" sz="1600" b="0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不同格式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，类型有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定点格式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浮点格式</a:t>
            </a: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600" b="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←位置需约定←点隐含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无符号整数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实数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纯小数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u="sng" dirty="0">
                <a:solidFill>
                  <a:srgbClr val="990099"/>
                </a:solidFill>
                <a:cs typeface="宋体" panose="02010600030101010101" pitchFamily="2" charset="-122"/>
              </a:rPr>
              <a:t>有符号数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原码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补码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移码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u="sng" dirty="0">
                <a:solidFill>
                  <a:srgbClr val="990099"/>
                </a:solidFill>
                <a:cs typeface="宋体" panose="02010600030101010101" pitchFamily="2" charset="-122"/>
              </a:rPr>
              <a:t>无符号数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</a:rPr>
              <a:t>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无符号编码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16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进制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编码，格式含小数点、编码含符号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</p:txBody>
      </p:sp>
      <p:sp>
        <p:nvSpPr>
          <p:cNvPr id="22" name="Text Box 2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87624" y="5157192"/>
            <a:ext cx="3276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非数值数据如何表示？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Text Box 20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87624" y="6021320"/>
            <a:ext cx="39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机器数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11011011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的值是多少？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Text Box 200">
            <a:extLst>
              <a:ext uri="{FF2B5EF4-FFF2-40B4-BE49-F238E27FC236}">
                <a16:creationId xmlns:a16="http://schemas.microsoft.com/office/drawing/2014/main" id="{F26C806B-3D5C-4387-AD65-B39F8BD8AE3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2000" y="5157192"/>
            <a:ext cx="3600400" cy="32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表示为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无符号整数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属性相近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Text Box 200">
            <a:extLst>
              <a:ext uri="{FF2B5EF4-FFF2-40B4-BE49-F238E27FC236}">
                <a16:creationId xmlns:a16="http://schemas.microsoft.com/office/drawing/2014/main" id="{723D98EA-59E5-43CA-9213-741736FA1F91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307434" y="6003320"/>
            <a:ext cx="2792958" cy="32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鬼知道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没有明确格式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&amp;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编码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4" grpId="0" bldLvl="0" animBg="1"/>
      <p:bldP spid="7" grpId="0" bldLvl="0"/>
      <p:bldP spid="8" grpId="0" bldLvl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23</a:t>
            </a:fld>
            <a:endParaRPr lang="en-US" altLang="zh-CN"/>
          </a:p>
        </p:txBody>
      </p:sp>
      <p:sp>
        <p:nvSpPr>
          <p:cNvPr id="42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6" y="359445"/>
            <a:ext cx="8425059" cy="38475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*数据表示的策略：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u="sng" dirty="0">
                <a:solidFill>
                  <a:srgbClr val="990099"/>
                </a:solidFill>
              </a:rPr>
              <a:t>目标</a:t>
            </a:r>
            <a:r>
              <a:rPr lang="zh-CN" altLang="en-US" sz="1800" dirty="0">
                <a:solidFill>
                  <a:schemeClr val="tx1"/>
                </a:solidFill>
              </a:rPr>
              <a:t>是①满足性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价需求 ②提高存储</a:t>
            </a:r>
            <a:r>
              <a:rPr lang="en-US" altLang="zh-CN" sz="1800" dirty="0">
                <a:solidFill>
                  <a:schemeClr val="tx1"/>
                </a:solidFill>
              </a:rPr>
              <a:t>&amp;</a:t>
            </a:r>
            <a:r>
              <a:rPr lang="zh-CN" altLang="en-US" sz="1800" dirty="0">
                <a:solidFill>
                  <a:schemeClr val="tx1"/>
                </a:solidFill>
              </a:rPr>
              <a:t>运算效率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</a:rPr>
              <a:t>    硬件需求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表示结果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*数据运算的实现策略：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u="sng" dirty="0">
                <a:solidFill>
                  <a:srgbClr val="990099"/>
                </a:solidFill>
              </a:rPr>
              <a:t>目标</a:t>
            </a:r>
            <a:r>
              <a:rPr lang="zh-CN" altLang="en-US" sz="1800" dirty="0">
                <a:solidFill>
                  <a:schemeClr val="tx1"/>
                </a:solidFill>
              </a:rPr>
              <a:t>是①效率高</a:t>
            </a:r>
            <a:r>
              <a:rPr lang="en-US" altLang="zh-CN" sz="1800" dirty="0">
                <a:solidFill>
                  <a:schemeClr val="tx1"/>
                </a:solidFill>
              </a:rPr>
              <a:t>&amp;</a:t>
            </a:r>
            <a:r>
              <a:rPr lang="zh-CN" altLang="en-US" sz="1800" dirty="0">
                <a:solidFill>
                  <a:schemeClr val="tx1"/>
                </a:solidFill>
              </a:rPr>
              <a:t>成本低 ②保证正确性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运算方法</a:t>
            </a:r>
            <a:r>
              <a:rPr lang="en-US" altLang="zh-CN" sz="2200" dirty="0">
                <a:solidFill>
                  <a:schemeClr val="accent2"/>
                </a:solidFill>
              </a:rPr>
              <a:t>—                                    </a:t>
            </a:r>
            <a:r>
              <a:rPr lang="zh-CN" altLang="en-US" sz="1800" dirty="0">
                <a:solidFill>
                  <a:schemeClr val="tx1"/>
                </a:solidFill>
              </a:rPr>
              <a:t>←目标①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溢出处理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0" dirty="0">
                <a:solidFill>
                  <a:schemeClr val="tx1"/>
                </a:solidFill>
              </a:rPr>
              <a:t>        └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目标②，硬件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为定长运算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*表示与运算的关系：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41" name="Text Box 5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00800" y="764704"/>
            <a:ext cx="6763814" cy="14580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/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每种数据类型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只有</a:t>
            </a:r>
            <a:r>
              <a:rPr lang="zh-CN" altLang="en-US" sz="2200" u="sng" dirty="0">
                <a:solidFill>
                  <a:srgbClr val="0070C0"/>
                </a:solidFill>
                <a:sym typeface="+mn-ea"/>
              </a:rPr>
              <a:t>一种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长度  </a:t>
            </a:r>
            <a:r>
              <a:rPr lang="en-US" altLang="zh-CN" sz="2200" dirty="0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←硬件为定长运算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2786380" indent="-2786380"/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可支持</a:t>
            </a:r>
            <a:r>
              <a:rPr lang="zh-CN" altLang="en-US" sz="2200" u="sng" dirty="0">
                <a:solidFill>
                  <a:srgbClr val="0070C0"/>
                </a:solidFill>
                <a:sym typeface="+mn-ea"/>
              </a:rPr>
              <a:t>多类</a:t>
            </a:r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数据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每类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数据可有</a:t>
            </a:r>
            <a:r>
              <a:rPr lang="zh-CN" altLang="en-US" sz="2200" u="sng" dirty="0">
                <a:solidFill>
                  <a:srgbClr val="0070C0"/>
                </a:solidFill>
                <a:sym typeface="+mn-ea"/>
              </a:rPr>
              <a:t>多种</a:t>
            </a:r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数据类型</a:t>
            </a:r>
            <a:endParaRPr lang="en-US" altLang="zh-CN" sz="2200" u="sng" dirty="0">
              <a:solidFill>
                <a:schemeClr val="tx1"/>
              </a:solidFill>
              <a:sym typeface="+mn-ea"/>
            </a:endParaRPr>
          </a:p>
          <a:p>
            <a:pPr marL="2786380" indent="-2786380">
              <a:lnSpc>
                <a:spcPct val="105000"/>
              </a:lnSpc>
            </a:pPr>
            <a:r>
              <a:rPr lang="en-US" altLang="zh-CN" sz="1800" b="0" dirty="0">
                <a:solidFill>
                  <a:schemeClr val="tx1"/>
                </a:solidFill>
                <a:sym typeface="+mn-ea"/>
              </a:rPr>
              <a:t>         </a:t>
            </a:r>
            <a:r>
              <a:rPr lang="en-US" altLang="zh-CN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←目标</a:t>
            </a:r>
            <a:r>
              <a:rPr lang="zh-CN" altLang="en-US" sz="1800" dirty="0">
                <a:solidFill>
                  <a:schemeClr val="tx1"/>
                </a:solidFill>
              </a:rPr>
              <a:t>①        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目标</a:t>
            </a:r>
            <a:r>
              <a:rPr lang="zh-CN" altLang="en-US" sz="1800" dirty="0">
                <a:solidFill>
                  <a:schemeClr val="tx1"/>
                </a:solidFill>
              </a:rPr>
              <a:t>②→</a:t>
            </a:r>
            <a:r>
              <a:rPr lang="zh-CN" altLang="en-US" sz="1800" b="0" dirty="0">
                <a:solidFill>
                  <a:schemeClr val="tx1"/>
                </a:solidFill>
              </a:rPr>
              <a:t>┴</a:t>
            </a:r>
            <a:r>
              <a:rPr lang="zh-CN" altLang="en-US" sz="1800" dirty="0">
                <a:solidFill>
                  <a:schemeClr val="tx1"/>
                </a:solidFill>
              </a:rPr>
              <a:t>→仅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格式的长度不同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pPr marL="2786380" indent="-2786380">
              <a:lnSpc>
                <a:spcPct val="105000"/>
              </a:lnSpc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                                               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如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short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int)</a:t>
            </a:r>
          </a:p>
        </p:txBody>
      </p:sp>
      <p:sp>
        <p:nvSpPr>
          <p:cNvPr id="44" name="Text Box 8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5736" y="2564904"/>
            <a:ext cx="547260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/>
            <a:r>
              <a:rPr lang="zh-CN" altLang="en-US" sz="2200" dirty="0">
                <a:solidFill>
                  <a:schemeClr val="tx1"/>
                </a:solidFill>
              </a:rPr>
              <a:t>均基于其</a:t>
            </a:r>
            <a:r>
              <a:rPr lang="zh-CN" altLang="en-US" sz="2200" u="sng" dirty="0">
                <a:solidFill>
                  <a:srgbClr val="0070C0"/>
                </a:solidFill>
              </a:rPr>
              <a:t>数据表示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进制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格式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编码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组织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786380" indent="-2786380"/>
            <a:r>
              <a:rPr lang="zh-CN" altLang="en-US" sz="2200" dirty="0">
                <a:solidFill>
                  <a:schemeClr val="tx1"/>
                </a:solidFill>
              </a:rPr>
              <a:t>硬件</a:t>
            </a:r>
            <a:r>
              <a:rPr lang="zh-CN" altLang="en-US" sz="2200" u="sng" dirty="0">
                <a:solidFill>
                  <a:srgbClr val="0070C0"/>
                </a:solidFill>
              </a:rPr>
              <a:t>检测</a:t>
            </a:r>
            <a:r>
              <a:rPr lang="en-US" altLang="zh-CN" sz="2200" u="sng" dirty="0">
                <a:solidFill>
                  <a:srgbClr val="0070C0"/>
                </a:solidFill>
              </a:rPr>
              <a:t>/</a:t>
            </a:r>
            <a:r>
              <a:rPr lang="zh-CN" altLang="en-US" sz="2200" u="sng" dirty="0">
                <a:solidFill>
                  <a:srgbClr val="0070C0"/>
                </a:solidFill>
              </a:rPr>
              <a:t>通知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效率高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，软件</a:t>
            </a:r>
            <a:r>
              <a:rPr lang="zh-CN" altLang="en-US" sz="2200" u="sng" dirty="0">
                <a:solidFill>
                  <a:srgbClr val="0070C0"/>
                </a:solidFill>
              </a:rPr>
              <a:t>处理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灵活性好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sz="2200" u="sng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477174" y="4221088"/>
            <a:ext cx="3349876" cy="1692725"/>
            <a:chOff x="2122162" y="2636912"/>
            <a:chExt cx="3349876" cy="1692725"/>
          </a:xfrm>
        </p:grpSpPr>
        <p:sp>
          <p:nvSpPr>
            <p:cNvPr id="54" name="Text Box 9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348038" y="2636912"/>
              <a:ext cx="2124000" cy="97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进制</a:t>
              </a:r>
              <a:r>
                <a:rPr lang="en-US" altLang="zh-CN" sz="1800" dirty="0">
                  <a:solidFill>
                    <a:schemeClr val="tx1"/>
                  </a:solidFill>
                </a:rPr>
                <a:t>(</a:t>
              </a:r>
              <a:r>
                <a:rPr lang="zh-CN" altLang="en-US" sz="1800" dirty="0">
                  <a:solidFill>
                    <a:schemeClr val="tx1"/>
                  </a:solidFill>
                </a:rPr>
                <a:t>二进制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格式</a:t>
              </a:r>
              <a:r>
                <a:rPr lang="en-US" altLang="zh-CN" sz="1800" dirty="0">
                  <a:solidFill>
                    <a:schemeClr val="tx1"/>
                  </a:solidFill>
                </a:rPr>
                <a:t>(</a:t>
              </a:r>
              <a:r>
                <a:rPr lang="zh-CN" altLang="en-US" sz="1800" dirty="0">
                  <a:solidFill>
                    <a:schemeClr val="tx1"/>
                  </a:solidFill>
                </a:rPr>
                <a:t>小数点</a:t>
              </a:r>
              <a:r>
                <a:rPr lang="en-US" altLang="zh-CN" sz="1800" dirty="0">
                  <a:solidFill>
                    <a:schemeClr val="tx1"/>
                  </a:solidFill>
                </a:rPr>
                <a:t>&amp;</a:t>
              </a:r>
              <a:r>
                <a:rPr lang="zh-CN" altLang="en-US" sz="1800" dirty="0">
                  <a:solidFill>
                    <a:schemeClr val="tx1"/>
                  </a:solidFill>
                </a:rPr>
                <a:t>长度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ct val="15000"/>
                </a:spcBef>
              </a:pPr>
              <a:r>
                <a:rPr lang="zh-CN" altLang="en-US" sz="2000" dirty="0">
                  <a:solidFill>
                    <a:srgbClr val="990099"/>
                  </a:solidFill>
                </a:rPr>
                <a:t>编码</a:t>
              </a:r>
              <a:r>
                <a:rPr lang="en-US" altLang="zh-CN" sz="1800" dirty="0">
                  <a:solidFill>
                    <a:schemeClr val="tx1"/>
                  </a:solidFill>
                </a:rPr>
                <a:t>(</a:t>
              </a:r>
              <a:r>
                <a:rPr lang="zh-CN" altLang="en-US" sz="1800" dirty="0">
                  <a:solidFill>
                    <a:schemeClr val="tx1"/>
                  </a:solidFill>
                </a:rPr>
                <a:t>符号</a:t>
              </a:r>
              <a:r>
                <a:rPr lang="en-US" altLang="zh-CN" sz="1800" dirty="0">
                  <a:solidFill>
                    <a:schemeClr val="tx1"/>
                  </a:solidFill>
                </a:rPr>
                <a:t>&amp;</a:t>
              </a:r>
              <a:r>
                <a:rPr lang="zh-CN" altLang="en-US" sz="1800" dirty="0">
                  <a:solidFill>
                    <a:schemeClr val="tx1"/>
                  </a:solidFill>
                </a:rPr>
                <a:t>数值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55" name="Text Box 9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95188" y="2960912"/>
              <a:ext cx="1081412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chemeClr val="accent2"/>
                  </a:solidFill>
                </a:rPr>
                <a:t>数据表示</a:t>
              </a:r>
            </a:p>
          </p:txBody>
        </p:sp>
        <p:sp>
          <p:nvSpPr>
            <p:cNvPr id="56" name="AutoShape 97"/>
            <p:cNvSpPr/>
            <p:nvPr>
              <p:custDataLst>
                <p:tags r:id="rId13"/>
              </p:custDataLst>
            </p:nvPr>
          </p:nvSpPr>
          <p:spPr bwMode="auto">
            <a:xfrm>
              <a:off x="3274458" y="2780928"/>
              <a:ext cx="71437" cy="684000"/>
            </a:xfrm>
            <a:prstGeom prst="leftBrace">
              <a:avLst>
                <a:gd name="adj1" fmla="val 388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9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195188" y="3860912"/>
              <a:ext cx="1081412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dirty="0">
                  <a:solidFill>
                    <a:schemeClr val="accent2"/>
                  </a:solidFill>
                </a:rPr>
                <a:t>数据运算</a:t>
              </a:r>
            </a:p>
          </p:txBody>
        </p:sp>
        <p:sp>
          <p:nvSpPr>
            <p:cNvPr id="58" name="AutoShape 100"/>
            <p:cNvSpPr/>
            <p:nvPr>
              <p:custDataLst>
                <p:tags r:id="rId15"/>
              </p:custDataLst>
            </p:nvPr>
          </p:nvSpPr>
          <p:spPr bwMode="auto">
            <a:xfrm>
              <a:off x="2122162" y="3032912"/>
              <a:ext cx="73026" cy="972000"/>
            </a:xfrm>
            <a:prstGeom prst="leftBrace">
              <a:avLst>
                <a:gd name="adj1" fmla="val 4261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Text Box 9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348038" y="3608912"/>
              <a:ext cx="1584000" cy="7207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14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运算方法</a:t>
              </a:r>
              <a:endParaRPr lang="en-US" altLang="zh-CN" sz="2000" dirty="0">
                <a:solidFill>
                  <a:srgbClr val="990099"/>
                </a:solidFill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2000" dirty="0">
                  <a:solidFill>
                    <a:srgbClr val="990099"/>
                  </a:solidFill>
                </a:rPr>
                <a:t>溢出处理</a:t>
              </a:r>
            </a:p>
          </p:txBody>
        </p:sp>
        <p:sp>
          <p:nvSpPr>
            <p:cNvPr id="60" name="AutoShape 99"/>
            <p:cNvSpPr/>
            <p:nvPr>
              <p:custDataLst>
                <p:tags r:id="rId17"/>
              </p:custDataLst>
            </p:nvPr>
          </p:nvSpPr>
          <p:spPr bwMode="auto">
            <a:xfrm>
              <a:off x="3274458" y="3752912"/>
              <a:ext cx="71438" cy="432000"/>
            </a:xfrm>
            <a:prstGeom prst="leftBrace">
              <a:avLst>
                <a:gd name="adj1" fmla="val 2310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" name="AutoShape 29"/>
          <p:cNvSpPr/>
          <p:nvPr>
            <p:custDataLst>
              <p:tags r:id="rId4"/>
            </p:custDataLst>
          </p:nvPr>
        </p:nvSpPr>
        <p:spPr bwMode="auto">
          <a:xfrm>
            <a:off x="575704" y="5877096"/>
            <a:ext cx="1332000" cy="252000"/>
          </a:xfrm>
          <a:prstGeom prst="borderCallout2">
            <a:avLst>
              <a:gd name="adj1" fmla="val 51113"/>
              <a:gd name="adj2" fmla="val 100155"/>
              <a:gd name="adj3" fmla="val 52373"/>
              <a:gd name="adj4" fmla="val 117556"/>
              <a:gd name="adj5" fmla="val -47125"/>
              <a:gd name="adj6" fmla="val 129830"/>
            </a:avLst>
          </a:prstGeom>
          <a:noFill/>
          <a:ln w="12700" algn="ctr">
            <a:solidFill>
              <a:srgbClr val="CC330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dirty="0">
                <a:solidFill>
                  <a:srgbClr val="990099"/>
                </a:solidFill>
              </a:rPr>
              <a:t>组成</a:t>
            </a:r>
            <a:r>
              <a:rPr lang="zh-CN" altLang="en-US" sz="1600" dirty="0">
                <a:solidFill>
                  <a:schemeClr val="tx1"/>
                </a:solidFill>
              </a:rPr>
              <a:t>逻辑实现</a:t>
            </a:r>
          </a:p>
        </p:txBody>
      </p:sp>
      <p:sp>
        <p:nvSpPr>
          <p:cNvPr id="74" name="Text Box 1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64480" y="4481738"/>
            <a:ext cx="3456000" cy="10800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lstStyle/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FF3399"/>
                </a:solidFill>
              </a:rPr>
              <a:t>本课程的要求：</a:t>
            </a:r>
            <a:endParaRPr lang="en-US" altLang="zh-CN" sz="2000" dirty="0">
              <a:solidFill>
                <a:srgbClr val="FF3399"/>
              </a:solidFill>
            </a:endParaRPr>
          </a:p>
          <a:p>
            <a:pPr marL="0" indent="0" eaLnBrk="1" latinLnBrk="0" hangingPunct="1">
              <a:spcBef>
                <a:spcPts val="0"/>
              </a:spcBef>
            </a:pPr>
            <a:r>
              <a:rPr lang="zh-CN" altLang="en-US" sz="2000" dirty="0"/>
              <a:t>  </a:t>
            </a:r>
            <a:r>
              <a:rPr lang="zh-CN" altLang="en-US" sz="2000" u="sng" dirty="0">
                <a:solidFill>
                  <a:srgbClr val="990099"/>
                </a:solidFill>
              </a:rPr>
              <a:t>认知</a:t>
            </a:r>
            <a:r>
              <a:rPr lang="zh-CN" altLang="en-US" sz="2000" dirty="0">
                <a:solidFill>
                  <a:schemeClr val="tx1"/>
                </a:solidFill>
              </a:rPr>
              <a:t>数据表示</a:t>
            </a:r>
            <a:r>
              <a:rPr lang="en-US" altLang="zh-CN" sz="1600" dirty="0">
                <a:solidFill>
                  <a:schemeClr val="tx1"/>
                </a:solidFill>
              </a:rPr>
              <a:t>(ISA</a:t>
            </a:r>
            <a:r>
              <a:rPr lang="zh-CN" altLang="en-US" sz="1600" dirty="0">
                <a:solidFill>
                  <a:schemeClr val="tx1"/>
                </a:solidFill>
              </a:rPr>
              <a:t>的数据约定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  <a:p>
            <a:pPr marL="0" indent="0" eaLnBrk="1" latinLnBrk="0" hangingPunct="1">
              <a:spcBef>
                <a:spcPts val="0"/>
              </a:spcBef>
            </a:pPr>
            <a:r>
              <a:rPr lang="zh-CN" altLang="en-US" sz="2000" dirty="0"/>
              <a:t>  </a:t>
            </a:r>
            <a:r>
              <a:rPr lang="zh-CN" altLang="en-US" sz="2000" u="sng" dirty="0">
                <a:solidFill>
                  <a:srgbClr val="990099"/>
                </a:solidFill>
              </a:rPr>
              <a:t>实现</a:t>
            </a:r>
            <a:r>
              <a:rPr lang="zh-CN" altLang="en-US" sz="2000" dirty="0">
                <a:solidFill>
                  <a:schemeClr val="tx1"/>
                </a:solidFill>
              </a:rPr>
              <a:t>数据运算</a:t>
            </a:r>
            <a:r>
              <a:rPr lang="en-US" altLang="zh-CN" sz="1600" dirty="0">
                <a:solidFill>
                  <a:schemeClr val="tx1"/>
                </a:solidFill>
              </a:rPr>
              <a:t>(ISA</a:t>
            </a:r>
            <a:r>
              <a:rPr lang="zh-CN" altLang="en-US" sz="1600" dirty="0">
                <a:solidFill>
                  <a:schemeClr val="tx1"/>
                </a:solidFill>
              </a:rPr>
              <a:t>的操作功能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9" name="AutoShape 29"/>
          <p:cNvSpPr/>
          <p:nvPr>
            <p:custDataLst>
              <p:tags r:id="rId6"/>
            </p:custDataLst>
          </p:nvPr>
        </p:nvSpPr>
        <p:spPr bwMode="auto">
          <a:xfrm>
            <a:off x="575704" y="4221088"/>
            <a:ext cx="1332000" cy="252000"/>
          </a:xfrm>
          <a:prstGeom prst="borderCallout2">
            <a:avLst>
              <a:gd name="adj1" fmla="val 49951"/>
              <a:gd name="adj2" fmla="val 100005"/>
              <a:gd name="adj3" fmla="val 49858"/>
              <a:gd name="adj4" fmla="val 113169"/>
              <a:gd name="adj5" fmla="val 123591"/>
              <a:gd name="adj6" fmla="val 128305"/>
            </a:avLst>
          </a:prstGeom>
          <a:noFill/>
          <a:ln w="12700" algn="ctr">
            <a:solidFill>
              <a:srgbClr val="CC330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dirty="0">
                <a:solidFill>
                  <a:srgbClr val="990099"/>
                </a:solidFill>
              </a:rPr>
              <a:t>结构</a:t>
            </a:r>
            <a:r>
              <a:rPr lang="zh-CN" altLang="en-US" sz="1600" dirty="0">
                <a:solidFill>
                  <a:schemeClr val="tx1"/>
                </a:solidFill>
              </a:rPr>
              <a:t>负责设计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925570" y="4364898"/>
            <a:ext cx="1115695" cy="1403985"/>
            <a:chOff x="6860" y="6406"/>
            <a:chExt cx="1757" cy="2211"/>
          </a:xfrm>
        </p:grpSpPr>
        <p:sp>
          <p:nvSpPr>
            <p:cNvPr id="4" name="右大括号 3"/>
            <p:cNvSpPr/>
            <p:nvPr/>
          </p:nvSpPr>
          <p:spPr>
            <a:xfrm>
              <a:off x="8164" y="6406"/>
              <a:ext cx="113" cy="1077"/>
            </a:xfrm>
            <a:prstGeom prst="rightBrace">
              <a:avLst>
                <a:gd name="adj1" fmla="val 25784"/>
                <a:gd name="adj2" fmla="val 50000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" name="右大括号 4"/>
            <p:cNvSpPr/>
            <p:nvPr>
              <p:custDataLst>
                <p:tags r:id="rId7"/>
              </p:custDataLst>
            </p:nvPr>
          </p:nvSpPr>
          <p:spPr>
            <a:xfrm>
              <a:off x="6860" y="7937"/>
              <a:ext cx="113" cy="680"/>
            </a:xfrm>
            <a:prstGeom prst="rightBrace">
              <a:avLst>
                <a:gd name="adj1" fmla="val 32922"/>
                <a:gd name="adj2" fmla="val 50000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8"/>
              </p:custDataLst>
            </p:nvPr>
          </p:nvCxnSpPr>
          <p:spPr>
            <a:xfrm>
              <a:off x="8332" y="6917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>
              <p:custDataLst>
                <p:tags r:id="rId9"/>
              </p:custDataLst>
            </p:nvPr>
          </p:nvCxnSpPr>
          <p:spPr>
            <a:xfrm flipH="1">
              <a:off x="7030" y="8277"/>
              <a:ext cx="158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直接连接符 7"/>
            <p:cNvCxnSpPr/>
            <p:nvPr>
              <p:custDataLst>
                <p:tags r:id="rId10"/>
              </p:custDataLst>
            </p:nvPr>
          </p:nvCxnSpPr>
          <p:spPr>
            <a:xfrm flipH="1">
              <a:off x="8615" y="6917"/>
              <a:ext cx="0" cy="136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  <p:bldP spid="74" grpId="0" bldLvl="0" animBg="1"/>
      <p:bldP spid="39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A544-4847-4BF4-B7CA-76A6520E954B}" type="slidenum">
              <a:rPr lang="en-US" altLang="zh-CN"/>
              <a:t>24</a:t>
            </a:fld>
            <a:endParaRPr lang="en-US" altLang="zh-CN"/>
          </a:p>
        </p:txBody>
      </p:sp>
      <p:sp>
        <p:nvSpPr>
          <p:cNvPr id="237581" name="Text Box 13"/>
          <p:cNvSpPr txBox="1">
            <a:spLocks noChangeArrowheads="1"/>
          </p:cNvSpPr>
          <p:nvPr/>
        </p:nvSpPr>
        <p:spPr bwMode="auto">
          <a:xfrm>
            <a:off x="179388" y="332656"/>
            <a:ext cx="4392609" cy="2996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、整数的表示</a:t>
            </a:r>
            <a:endParaRPr lang="en-US" altLang="zh-CN" dirty="0">
              <a:solidFill>
                <a:srgbClr val="FF3399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dirty="0">
                <a:solidFill>
                  <a:srgbClr val="FF3399"/>
                </a:solidFill>
              </a:rPr>
              <a:t>定点表示方法</a:t>
            </a:r>
          </a:p>
          <a:p>
            <a:pPr marL="1075055" indent="-1075055"/>
            <a:r>
              <a:rPr lang="zh-CN" altLang="en-US" sz="2200" dirty="0">
                <a:solidFill>
                  <a:srgbClr val="C00000"/>
                </a:solidFill>
              </a:rPr>
              <a:t> *基本思想：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表示格式</a:t>
            </a:r>
            <a:r>
              <a:rPr lang="zh-CN" altLang="en-US" sz="2200" dirty="0">
                <a:solidFill>
                  <a:srgbClr val="C00000"/>
                </a:solidFill>
                <a:sym typeface="Wingdings" panose="05000000000000000000" pitchFamily="2" charset="2"/>
              </a:rPr>
              <a:t>：</a:t>
            </a:r>
            <a:endParaRPr lang="en-US" altLang="zh-CN" sz="22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1075055" indent="-1075055"/>
            <a:endParaRPr lang="en-US" altLang="zh-CN" sz="22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1075055" indent="-1075055"/>
            <a:endParaRPr lang="en-US" altLang="zh-CN" sz="16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1075055" indent="-1075055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表数范围：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假设格式长度为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graphicFrame>
        <p:nvGraphicFramePr>
          <p:cNvPr id="237729" name="Group 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127247"/>
              </p:ext>
            </p:extLst>
          </p:nvPr>
        </p:nvGraphicFramePr>
        <p:xfrm>
          <a:off x="793168" y="3356993"/>
          <a:ext cx="7955296" cy="1440730"/>
        </p:xfrm>
        <a:graphic>
          <a:graphicData uri="http://schemas.openxmlformats.org/drawingml/2006/table">
            <a:tbl>
              <a:tblPr/>
              <a:tblGrid>
                <a:gridCol w="128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8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编码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自然数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纯小数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-(1-2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-(n-1)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+(1-2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-(n-1)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补码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 -1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+(1-2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-(n-1)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2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无符号编码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37740" name="Group 172"/>
          <p:cNvGrpSpPr/>
          <p:nvPr/>
        </p:nvGrpSpPr>
        <p:grpSpPr bwMode="auto">
          <a:xfrm>
            <a:off x="2123728" y="1808360"/>
            <a:ext cx="5691188" cy="1044576"/>
            <a:chOff x="793" y="912"/>
            <a:chExt cx="3585" cy="658"/>
          </a:xfrm>
        </p:grpSpPr>
        <p:sp>
          <p:nvSpPr>
            <p:cNvPr id="237741" name="Text Box 173"/>
            <p:cNvSpPr txBox="1">
              <a:spLocks noChangeArrowheads="1"/>
            </p:cNvSpPr>
            <p:nvPr/>
          </p:nvSpPr>
          <p:spPr bwMode="auto">
            <a:xfrm>
              <a:off x="841" y="912"/>
              <a:ext cx="3537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rIns="180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</a:rPr>
                <a:t>无符号整数       有符号整数           纯小数</a:t>
              </a:r>
            </a:p>
          </p:txBody>
        </p:sp>
        <p:sp>
          <p:nvSpPr>
            <p:cNvPr id="237742" name="Text Box 174"/>
            <p:cNvSpPr txBox="1">
              <a:spLocks noChangeArrowheads="1"/>
            </p:cNvSpPr>
            <p:nvPr/>
          </p:nvSpPr>
          <p:spPr bwMode="auto">
            <a:xfrm>
              <a:off x="793" y="1117"/>
              <a:ext cx="998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n-1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…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7743" name="Text Box 175"/>
            <p:cNvSpPr txBox="1">
              <a:spLocks noChangeArrowheads="1"/>
            </p:cNvSpPr>
            <p:nvPr/>
          </p:nvSpPr>
          <p:spPr bwMode="auto">
            <a:xfrm>
              <a:off x="2064" y="1117"/>
              <a:ext cx="998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err="1">
                  <a:solidFill>
                    <a:schemeClr val="tx1"/>
                  </a:solidFill>
                </a:rPr>
                <a:t>S</a:t>
              </a:r>
              <a:r>
                <a:rPr lang="en-US" altLang="zh-CN" sz="2000" dirty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…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7744" name="Line 176"/>
            <p:cNvSpPr>
              <a:spLocks noChangeShapeType="1"/>
            </p:cNvSpPr>
            <p:nvPr/>
          </p:nvSpPr>
          <p:spPr bwMode="auto">
            <a:xfrm>
              <a:off x="2246" y="1117"/>
              <a:ext cx="0" cy="22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45" name="Text Box 177"/>
            <p:cNvSpPr txBox="1">
              <a:spLocks noChangeArrowheads="1"/>
            </p:cNvSpPr>
            <p:nvPr/>
          </p:nvSpPr>
          <p:spPr bwMode="auto">
            <a:xfrm>
              <a:off x="3378" y="1117"/>
              <a:ext cx="999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i="1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err="1">
                  <a:solidFill>
                    <a:schemeClr val="tx1"/>
                  </a:solidFill>
                </a:rPr>
                <a:t>S</a:t>
              </a:r>
              <a:r>
                <a:rPr lang="en-US" altLang="zh-CN" sz="2000" baseline="-25000" dirty="0">
                  <a:solidFill>
                    <a:schemeClr val="tx1"/>
                  </a:solidFill>
                </a:rPr>
                <a:t> 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-1</a:t>
              </a:r>
              <a:r>
                <a:rPr lang="en-US" altLang="zh-CN" sz="2000" dirty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-(n-1)</a:t>
              </a:r>
            </a:p>
          </p:txBody>
        </p:sp>
        <p:sp>
          <p:nvSpPr>
            <p:cNvPr id="237747" name="Line 179"/>
            <p:cNvSpPr>
              <a:spLocks noChangeShapeType="1"/>
            </p:cNvSpPr>
            <p:nvPr/>
          </p:nvSpPr>
          <p:spPr bwMode="auto">
            <a:xfrm>
              <a:off x="3560" y="1117"/>
              <a:ext cx="0" cy="22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48" name="Oval 180"/>
            <p:cNvSpPr>
              <a:spLocks noChangeArrowheads="1"/>
            </p:cNvSpPr>
            <p:nvPr/>
          </p:nvSpPr>
          <p:spPr bwMode="auto">
            <a:xfrm>
              <a:off x="3084" y="1302"/>
              <a:ext cx="45" cy="4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49" name="Oval 181"/>
            <p:cNvSpPr>
              <a:spLocks noChangeArrowheads="1"/>
            </p:cNvSpPr>
            <p:nvPr/>
          </p:nvSpPr>
          <p:spPr bwMode="auto">
            <a:xfrm>
              <a:off x="1814" y="1302"/>
              <a:ext cx="45" cy="4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0" name="AutoShape 182"/>
            <p:cNvSpPr/>
            <p:nvPr/>
          </p:nvSpPr>
          <p:spPr bwMode="auto">
            <a:xfrm rot="16200000">
              <a:off x="1269" y="901"/>
              <a:ext cx="45" cy="975"/>
            </a:xfrm>
            <a:prstGeom prst="leftBrace">
              <a:avLst>
                <a:gd name="adj1" fmla="val 5187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1" name="AutoShape 183"/>
            <p:cNvSpPr/>
            <p:nvPr/>
          </p:nvSpPr>
          <p:spPr bwMode="auto">
            <a:xfrm rot="16200000">
              <a:off x="2630" y="987"/>
              <a:ext cx="45" cy="794"/>
            </a:xfrm>
            <a:prstGeom prst="leftBrace">
              <a:avLst>
                <a:gd name="adj1" fmla="val 5526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2" name="Line 184"/>
            <p:cNvSpPr>
              <a:spLocks noChangeShapeType="1"/>
            </p:cNvSpPr>
            <p:nvPr/>
          </p:nvSpPr>
          <p:spPr bwMode="auto">
            <a:xfrm flipV="1">
              <a:off x="2155" y="1344"/>
              <a:ext cx="0" cy="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53" name="Text Box 185"/>
            <p:cNvSpPr txBox="1">
              <a:spLocks noChangeArrowheads="1"/>
            </p:cNvSpPr>
            <p:nvPr/>
          </p:nvSpPr>
          <p:spPr bwMode="auto">
            <a:xfrm>
              <a:off x="1156" y="1434"/>
              <a:ext cx="3130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数值         数符    数值         数符   </a:t>
              </a:r>
              <a:r>
                <a:rPr lang="zh-CN" altLang="en-US" sz="1600" baseline="-18000" dirty="0">
                  <a:solidFill>
                    <a:schemeClr val="tx1"/>
                  </a:solidFill>
                </a:rPr>
                <a:t> </a:t>
              </a:r>
              <a:r>
                <a:rPr lang="zh-CN" altLang="en-US" sz="1600" dirty="0">
                  <a:solidFill>
                    <a:schemeClr val="tx1"/>
                  </a:solidFill>
                </a:rPr>
                <a:t>数值</a:t>
              </a:r>
            </a:p>
          </p:txBody>
        </p:sp>
        <p:sp>
          <p:nvSpPr>
            <p:cNvPr id="237754" name="AutoShape 186"/>
            <p:cNvSpPr/>
            <p:nvPr/>
          </p:nvSpPr>
          <p:spPr bwMode="auto">
            <a:xfrm rot="16200000">
              <a:off x="3968" y="1003"/>
              <a:ext cx="45" cy="771"/>
            </a:xfrm>
            <a:prstGeom prst="leftBrace">
              <a:avLst>
                <a:gd name="adj1" fmla="val 5472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755" name="Line 187"/>
            <p:cNvSpPr>
              <a:spLocks noChangeShapeType="1"/>
            </p:cNvSpPr>
            <p:nvPr/>
          </p:nvSpPr>
          <p:spPr bwMode="auto">
            <a:xfrm flipH="1" flipV="1">
              <a:off x="3469" y="1344"/>
              <a:ext cx="0" cy="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46" name="Oval 178"/>
            <p:cNvSpPr>
              <a:spLocks noChangeArrowheads="1"/>
            </p:cNvSpPr>
            <p:nvPr/>
          </p:nvSpPr>
          <p:spPr bwMode="auto">
            <a:xfrm>
              <a:off x="3551" y="1325"/>
              <a:ext cx="45" cy="4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45280D85-0CF1-4541-B162-B37435AC730A}"/>
              </a:ext>
            </a:extLst>
          </p:cNvPr>
          <p:cNvSpPr txBox="1"/>
          <p:nvPr/>
        </p:nvSpPr>
        <p:spPr>
          <a:xfrm>
            <a:off x="1907704" y="1268760"/>
            <a:ext cx="5670381" cy="45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sz="2200" dirty="0">
                <a:solidFill>
                  <a:schemeClr val="tx1"/>
                </a:solidFill>
              </a:rPr>
              <a:t>数据中小数点位置</a:t>
            </a:r>
            <a:r>
              <a:rPr lang="zh-CN" altLang="en-US" sz="2200" u="sng" dirty="0">
                <a:solidFill>
                  <a:srgbClr val="990099"/>
                </a:solidFill>
              </a:rPr>
              <a:t>固定不变</a:t>
            </a:r>
            <a:r>
              <a:rPr lang="en-US" altLang="zh-CN" sz="1800" dirty="0">
                <a:solidFill>
                  <a:schemeClr val="tx1"/>
                </a:solidFill>
              </a:rPr>
              <a:t>(→</a:t>
            </a:r>
            <a:r>
              <a:rPr lang="zh-CN" altLang="en-US" sz="1800" dirty="0">
                <a:solidFill>
                  <a:schemeClr val="tx1"/>
                </a:solidFill>
              </a:rPr>
              <a:t>可隐含表示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55"/>
          <p:cNvSpPr txBox="1">
            <a:spLocks noChangeArrowheads="1"/>
          </p:cNvSpPr>
          <p:nvPr/>
        </p:nvSpPr>
        <p:spPr bwMode="auto">
          <a:xfrm>
            <a:off x="179264" y="325105"/>
            <a:ext cx="8748836" cy="27015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整数的表示</a:t>
            </a:r>
            <a:endParaRPr lang="en-US" altLang="zh-CN" sz="2200" dirty="0">
              <a:solidFill>
                <a:srgbClr val="FF3399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sz="2200" dirty="0">
                <a:solidFill>
                  <a:schemeClr val="tx1"/>
                </a:solidFill>
              </a:rPr>
              <a:t>    </a:t>
            </a:r>
            <a:r>
              <a:rPr lang="zh-CN" altLang="en-US" sz="2200" dirty="0">
                <a:solidFill>
                  <a:schemeClr val="tx1"/>
                </a:solidFill>
              </a:rPr>
              <a:t>指二进制整数的表示         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rgbClr val="990099"/>
                </a:solidFill>
              </a:rPr>
              <a:t>BCD</a:t>
            </a:r>
            <a:r>
              <a:rPr lang="zh-CN" altLang="en-US" sz="1800" dirty="0">
                <a:solidFill>
                  <a:srgbClr val="990099"/>
                </a:solidFill>
              </a:rPr>
              <a:t>数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sym typeface="Symbol" panose="05050102010706020507"/>
              </a:rPr>
              <a:t></a:t>
            </a:r>
            <a:r>
              <a:rPr lang="zh-CN" altLang="en-US" sz="1800" dirty="0">
                <a:solidFill>
                  <a:srgbClr val="990099"/>
                </a:solidFill>
                <a:sym typeface="Symbol" panose="05050102010706020507"/>
              </a:rPr>
              <a:t>整数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运算方法不同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)</a:t>
            </a:r>
            <a:endParaRPr lang="en-US" altLang="zh-CN" dirty="0">
              <a:solidFill>
                <a:schemeClr val="tx1"/>
              </a:solidFill>
              <a:sym typeface="Symbol" panose="05050102010706020507"/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*表示方法：</a:t>
            </a:r>
            <a:r>
              <a:rPr lang="zh-CN" altLang="en-US" sz="2200" dirty="0">
                <a:solidFill>
                  <a:schemeClr val="accent2"/>
                </a:solidFill>
              </a:rPr>
              <a:t>无符号整数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        有符号整数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>
              <a:spcBef>
                <a:spcPts val="2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*硬件支持的整数类型：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取决于</a:t>
            </a:r>
            <a:r>
              <a:rPr lang="en-US" altLang="zh-CN" sz="1800" u="sng" dirty="0">
                <a:solidFill>
                  <a:schemeClr val="tx1"/>
                </a:solidFill>
              </a:rPr>
              <a:t>ISA</a:t>
            </a:r>
            <a:r>
              <a:rPr lang="zh-CN" altLang="en-US" sz="1800" u="sng" dirty="0">
                <a:solidFill>
                  <a:schemeClr val="tx1"/>
                </a:solidFill>
              </a:rPr>
              <a:t>约定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dirty="0">
                <a:solidFill>
                  <a:srgbClr val="FF3399"/>
                </a:solidFill>
              </a:rPr>
              <a:t>均支持</a:t>
            </a:r>
            <a:r>
              <a:rPr lang="zh-CN" altLang="en-US" sz="2200" u="sng" dirty="0">
                <a:solidFill>
                  <a:schemeClr val="tx1"/>
                </a:solidFill>
              </a:rPr>
              <a:t>有</a:t>
            </a:r>
            <a:r>
              <a:rPr lang="en-US" altLang="zh-CN" sz="2200" u="sng" dirty="0">
                <a:solidFill>
                  <a:schemeClr val="tx1"/>
                </a:solidFill>
              </a:rPr>
              <a:t>/</a:t>
            </a:r>
            <a:r>
              <a:rPr lang="zh-CN" altLang="en-US" sz="2200" u="sng" dirty="0">
                <a:solidFill>
                  <a:schemeClr val="tx1"/>
                </a:solidFill>
              </a:rPr>
              <a:t>无符号</a:t>
            </a:r>
            <a:r>
              <a:rPr lang="zh-CN" altLang="en-US" sz="2200" dirty="0">
                <a:solidFill>
                  <a:schemeClr val="tx1"/>
                </a:solidFill>
              </a:rPr>
              <a:t>整数，</a:t>
            </a:r>
            <a:r>
              <a:rPr lang="zh-CN" altLang="en-US" sz="2200" dirty="0">
                <a:solidFill>
                  <a:srgbClr val="FF3399"/>
                </a:solidFill>
              </a:rPr>
              <a:t>常各有</a:t>
            </a:r>
            <a:r>
              <a:rPr lang="zh-CN" altLang="en-US" sz="2200" u="sng" dirty="0">
                <a:solidFill>
                  <a:schemeClr val="tx1"/>
                </a:solidFill>
              </a:rPr>
              <a:t>多种长度</a:t>
            </a:r>
            <a:r>
              <a:rPr lang="zh-CN" altLang="en-US" sz="2200" dirty="0">
                <a:solidFill>
                  <a:srgbClr val="C00000"/>
                </a:solidFill>
              </a:rPr>
              <a:t>      </a:t>
            </a:r>
            <a:r>
              <a:rPr lang="zh-CN" altLang="en-US" sz="1800" dirty="0">
                <a:solidFill>
                  <a:schemeClr val="tx1"/>
                </a:solidFill>
              </a:rPr>
              <a:t>←使用频率高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178AC-C187-426A-9734-486A5DB98F87}" type="slidenum">
              <a:rPr lang="en-US" altLang="zh-CN"/>
              <a:t>25</a:t>
            </a:fld>
            <a:endParaRPr lang="en-US" altLang="zh-CN" dirty="0"/>
          </a:p>
        </p:txBody>
      </p:sp>
      <p:sp>
        <p:nvSpPr>
          <p:cNvPr id="436228" name="Text Box 4"/>
          <p:cNvSpPr txBox="1">
            <a:spLocks noChangeArrowheads="1"/>
          </p:cNvSpPr>
          <p:nvPr/>
        </p:nvSpPr>
        <p:spPr bwMode="auto">
          <a:xfrm>
            <a:off x="3563888" y="1196752"/>
            <a:ext cx="460418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sz="2200" dirty="0">
                <a:solidFill>
                  <a:schemeClr val="tx1"/>
                </a:solidFill>
              </a:rPr>
              <a:t>二进制、定点格式、</a:t>
            </a:r>
            <a:r>
              <a:rPr lang="zh-CN" altLang="en-US" sz="2200" u="sng" dirty="0">
                <a:solidFill>
                  <a:schemeClr val="tx1"/>
                </a:solidFill>
              </a:rPr>
              <a:t>无符号编码</a:t>
            </a:r>
            <a:endParaRPr lang="en-US" altLang="zh-CN" sz="2200" u="sng" dirty="0">
              <a:solidFill>
                <a:schemeClr val="tx1"/>
              </a:solidFill>
            </a:endParaRPr>
          </a:p>
          <a:p>
            <a:pPr marL="1075055" indent="-1075055"/>
            <a:r>
              <a:rPr lang="zh-CN" altLang="en-US" sz="2200" dirty="0">
                <a:solidFill>
                  <a:schemeClr val="tx1"/>
                </a:solidFill>
              </a:rPr>
              <a:t>二进制、定点格式、</a:t>
            </a:r>
            <a:r>
              <a:rPr lang="zh-CN" altLang="en-US" sz="2200" u="sng" dirty="0">
                <a:solidFill>
                  <a:srgbClr val="990099"/>
                </a:solidFill>
              </a:rPr>
              <a:t>补码</a:t>
            </a:r>
            <a:endParaRPr lang="en-US" altLang="zh-CN" sz="2200" u="sng" dirty="0">
              <a:solidFill>
                <a:srgbClr val="990099"/>
              </a:solidFill>
            </a:endParaRPr>
          </a:p>
        </p:txBody>
      </p:sp>
      <p:sp>
        <p:nvSpPr>
          <p:cNvPr id="436237" name="Text Box 13"/>
          <p:cNvSpPr txBox="1">
            <a:spLocks noChangeArrowheads="1"/>
          </p:cNvSpPr>
          <p:nvPr/>
        </p:nvSpPr>
        <p:spPr bwMode="auto">
          <a:xfrm>
            <a:off x="179512" y="2991123"/>
            <a:ext cx="8785225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1—</a:t>
            </a:r>
            <a:r>
              <a:rPr lang="en-US" altLang="zh-CN" sz="2000" dirty="0">
                <a:solidFill>
                  <a:schemeClr val="tx1"/>
                </a:solidFill>
              </a:rPr>
              <a:t>IA32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Intel Architecture 32bit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支持</a:t>
            </a:r>
            <a:r>
              <a:rPr lang="en-US" altLang="zh-CN" sz="2000" dirty="0">
                <a:solidFill>
                  <a:schemeClr val="tx1"/>
                </a:solidFill>
              </a:rPr>
              <a:t>6</a:t>
            </a:r>
            <a:r>
              <a:rPr lang="zh-CN" altLang="en-US" sz="2000" dirty="0">
                <a:solidFill>
                  <a:schemeClr val="tx1"/>
                </a:solidFill>
              </a:rPr>
              <a:t>种整数类型</a:t>
            </a:r>
          </a:p>
        </p:txBody>
      </p:sp>
      <p:sp>
        <p:nvSpPr>
          <p:cNvPr id="18" name="AutoShape 29"/>
          <p:cNvSpPr/>
          <p:nvPr/>
        </p:nvSpPr>
        <p:spPr bwMode="auto">
          <a:xfrm>
            <a:off x="6876256" y="2132888"/>
            <a:ext cx="1656000" cy="288000"/>
          </a:xfrm>
          <a:prstGeom prst="borderCallout2">
            <a:avLst>
              <a:gd name="adj1" fmla="val 48385"/>
              <a:gd name="adj2" fmla="val 332"/>
              <a:gd name="adj3" fmla="val 47536"/>
              <a:gd name="adj4" fmla="val -13803"/>
              <a:gd name="adj5" fmla="val -24679"/>
              <a:gd name="adj6" fmla="val -23849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</a:rPr>
              <a:t>为什么？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512080" y="3456000"/>
            <a:ext cx="2195680" cy="1512000"/>
            <a:chOff x="1044000" y="611648"/>
            <a:chExt cx="2195680" cy="1512000"/>
          </a:xfrm>
        </p:grpSpPr>
        <p:sp>
          <p:nvSpPr>
            <p:cNvPr id="27" name="Text Box 10"/>
            <p:cNvSpPr txBox="1">
              <a:spLocks noChangeArrowheads="1"/>
            </p:cNvSpPr>
            <p:nvPr/>
          </p:nvSpPr>
          <p:spPr bwMode="auto">
            <a:xfrm>
              <a:off x="1691680" y="611648"/>
              <a:ext cx="1548000" cy="252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位无符号整数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1691680" y="863648"/>
              <a:ext cx="1548000" cy="252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16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位无符号整数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Text Box 10"/>
            <p:cNvSpPr txBox="1">
              <a:spLocks noChangeArrowheads="1"/>
            </p:cNvSpPr>
            <p:nvPr/>
          </p:nvSpPr>
          <p:spPr bwMode="auto">
            <a:xfrm>
              <a:off x="1691680" y="1115648"/>
              <a:ext cx="1548000" cy="252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32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位无符号整数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1691680" y="1367648"/>
              <a:ext cx="1548000" cy="25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位有符号整数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1691680" y="1619648"/>
              <a:ext cx="1548000" cy="25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16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位有符号整数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1691680" y="1871648"/>
              <a:ext cx="1548000" cy="25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32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位有符号整数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1044000" y="1079648"/>
              <a:ext cx="504000" cy="468000"/>
            </a:xfrm>
            <a:prstGeom prst="rect">
              <a:avLst/>
            </a:prstGeom>
            <a:noFill/>
            <a:ln w="12700">
              <a:noFill/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IA32</a:t>
              </a:r>
            </a:p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支持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左大括号 33"/>
            <p:cNvSpPr/>
            <p:nvPr/>
          </p:nvSpPr>
          <p:spPr bwMode="auto">
            <a:xfrm>
              <a:off x="1548000" y="647648"/>
              <a:ext cx="108000" cy="1440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256496" y="3456000"/>
            <a:ext cx="2915904" cy="1764000"/>
            <a:chOff x="5436096" y="323648"/>
            <a:chExt cx="2915904" cy="1764000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5436096" y="575648"/>
              <a:ext cx="2160000" cy="252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unsigned short [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int</a:t>
              </a:r>
              <a:r>
                <a:rPr lang="en-US" altLang="zh-CN" sz="1600" dirty="0">
                  <a:solidFill>
                    <a:schemeClr val="tx1"/>
                  </a:solidFill>
                </a:rPr>
                <a:t>]</a:t>
              </a:r>
            </a:p>
          </p:txBody>
        </p:sp>
        <p:sp>
          <p:nvSpPr>
            <p:cNvPr id="37" name="Text Box 10"/>
            <p:cNvSpPr txBox="1">
              <a:spLocks noChangeArrowheads="1"/>
            </p:cNvSpPr>
            <p:nvPr/>
          </p:nvSpPr>
          <p:spPr bwMode="auto">
            <a:xfrm>
              <a:off x="5436096" y="827648"/>
              <a:ext cx="2160000" cy="252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unsigned 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int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 Box 10"/>
            <p:cNvSpPr txBox="1">
              <a:spLocks noChangeArrowheads="1"/>
            </p:cNvSpPr>
            <p:nvPr/>
          </p:nvSpPr>
          <p:spPr bwMode="auto">
            <a:xfrm>
              <a:off x="5436096" y="1079648"/>
              <a:ext cx="2160000" cy="252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unsigned long [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int</a:t>
              </a:r>
              <a:r>
                <a:rPr lang="en-US" altLang="zh-CN" sz="1600" dirty="0">
                  <a:solidFill>
                    <a:schemeClr val="tx1"/>
                  </a:solidFill>
                </a:rPr>
                <a:t>]</a:t>
              </a:r>
            </a:p>
          </p:txBody>
        </p:sp>
        <p:sp>
          <p:nvSpPr>
            <p:cNvPr id="39" name="Text Box 10"/>
            <p:cNvSpPr txBox="1">
              <a:spLocks noChangeArrowheads="1"/>
            </p:cNvSpPr>
            <p:nvPr/>
          </p:nvSpPr>
          <p:spPr bwMode="auto">
            <a:xfrm>
              <a:off x="5436096" y="1331648"/>
              <a:ext cx="2160000" cy="25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short [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int</a:t>
              </a:r>
              <a:r>
                <a:rPr lang="en-US" altLang="zh-CN" sz="1600" dirty="0">
                  <a:solidFill>
                    <a:schemeClr val="tx1"/>
                  </a:solidFill>
                </a:rPr>
                <a:t>]</a:t>
              </a:r>
            </a:p>
          </p:txBody>
        </p:sp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5436096" y="1583648"/>
              <a:ext cx="2160000" cy="25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int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5436096" y="1835648"/>
              <a:ext cx="2160000" cy="25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long [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int</a:t>
              </a:r>
              <a:r>
                <a:rPr lang="en-US" altLang="zh-CN" sz="1600" dirty="0">
                  <a:solidFill>
                    <a:schemeClr val="tx1"/>
                  </a:solidFill>
                </a:rPr>
                <a:t>]</a:t>
              </a:r>
            </a:p>
          </p:txBody>
        </p:sp>
        <p:sp>
          <p:nvSpPr>
            <p:cNvPr id="42" name="Text Box 10"/>
            <p:cNvSpPr txBox="1">
              <a:spLocks noChangeArrowheads="1"/>
            </p:cNvSpPr>
            <p:nvPr/>
          </p:nvSpPr>
          <p:spPr bwMode="auto">
            <a:xfrm>
              <a:off x="5436096" y="323648"/>
              <a:ext cx="2160000" cy="252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char</a:t>
              </a:r>
            </a:p>
          </p:txBody>
        </p:sp>
        <p:sp>
          <p:nvSpPr>
            <p:cNvPr id="43" name="右大括号 42"/>
            <p:cNvSpPr/>
            <p:nvPr/>
          </p:nvSpPr>
          <p:spPr bwMode="auto">
            <a:xfrm>
              <a:off x="7632000" y="359648"/>
              <a:ext cx="108000" cy="1692000"/>
            </a:xfrm>
            <a:prstGeom prst="rightBrace">
              <a:avLst>
                <a:gd name="adj1" fmla="val 45682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Text Box 10"/>
            <p:cNvSpPr txBox="1">
              <a:spLocks noChangeArrowheads="1"/>
            </p:cNvSpPr>
            <p:nvPr/>
          </p:nvSpPr>
          <p:spPr bwMode="auto">
            <a:xfrm>
              <a:off x="7740000" y="899648"/>
              <a:ext cx="612000" cy="504000"/>
            </a:xfrm>
            <a:prstGeom prst="rect">
              <a:avLst/>
            </a:prstGeom>
            <a:noFill/>
            <a:ln w="12700">
              <a:noFill/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</a:t>
              </a:r>
              <a:r>
                <a:rPr lang="zh-CN" altLang="en-US" sz="1600" dirty="0">
                  <a:solidFill>
                    <a:schemeClr val="tx1"/>
                  </a:solidFill>
                </a:rPr>
                <a:t>语言</a:t>
              </a:r>
              <a:endParaRPr lang="en-US" altLang="zh-CN" sz="1600" dirty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支持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62" name="Text Box 13"/>
          <p:cNvSpPr txBox="1">
            <a:spLocks noChangeArrowheads="1"/>
          </p:cNvSpPr>
          <p:nvPr/>
        </p:nvSpPr>
        <p:spPr bwMode="auto">
          <a:xfrm>
            <a:off x="179512" y="5583411"/>
            <a:ext cx="8784976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2—</a:t>
            </a:r>
            <a:r>
              <a:rPr lang="zh-CN" altLang="en-US" sz="2000" dirty="0">
                <a:solidFill>
                  <a:schemeClr val="tx1"/>
                </a:solidFill>
              </a:rPr>
              <a:t>若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</a:rPr>
              <a:t>int</a:t>
            </a:r>
            <a:r>
              <a:rPr lang="en-US" altLang="zh-CN" sz="2000" dirty="0">
                <a:solidFill>
                  <a:schemeClr val="tx1"/>
                </a:solidFill>
              </a:rPr>
              <a:t> y=-1;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</a:rPr>
              <a:t>unsigned short</a:t>
            </a:r>
            <a:r>
              <a:rPr lang="en-US" altLang="zh-CN" sz="2000" dirty="0">
                <a:solidFill>
                  <a:schemeClr val="tx1"/>
                </a:solidFill>
              </a:rPr>
              <a:t> n=5; </a:t>
            </a:r>
            <a:r>
              <a:rPr lang="zh-CN" altLang="en-US" sz="2000" dirty="0">
                <a:solidFill>
                  <a:schemeClr val="tx1"/>
                </a:solidFill>
              </a:rPr>
              <a:t>求</a:t>
            </a:r>
            <a:r>
              <a:rPr lang="en-US" altLang="zh-CN" sz="2000" dirty="0">
                <a:solidFill>
                  <a:schemeClr val="tx1"/>
                </a:solidFill>
              </a:rPr>
              <a:t>IA32</a:t>
            </a:r>
            <a:r>
              <a:rPr lang="zh-CN" altLang="en-US" sz="2000" dirty="0">
                <a:solidFill>
                  <a:schemeClr val="tx1"/>
                </a:solidFill>
              </a:rPr>
              <a:t>中</a:t>
            </a:r>
            <a:r>
              <a:rPr lang="en-US" altLang="zh-CN" sz="2000" dirty="0">
                <a:solidFill>
                  <a:schemeClr val="tx1"/>
                </a:solidFill>
              </a:rPr>
              <a:t>y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的机器数</a:t>
            </a:r>
          </a:p>
        </p:txBody>
      </p:sp>
      <p:sp>
        <p:nvSpPr>
          <p:cNvPr id="61" name="Text Box 10"/>
          <p:cNvSpPr txBox="1">
            <a:spLocks noChangeArrowheads="1"/>
          </p:cNvSpPr>
          <p:nvPr/>
        </p:nvSpPr>
        <p:spPr bwMode="auto">
          <a:xfrm>
            <a:off x="5724128" y="5949280"/>
            <a:ext cx="2232248" cy="290707"/>
          </a:xfrm>
          <a:prstGeom prst="rect">
            <a:avLst/>
          </a:prstGeom>
          <a:noFill/>
          <a:ln w="12700">
            <a:noFill/>
            <a:prstDash val="solid"/>
            <a:miter lim="800000"/>
          </a:ln>
          <a:effectLst/>
        </p:spPr>
        <p:txBody>
          <a:bodyPr lIns="18000" tIns="10800" rIns="54000" bIns="10800" anchor="ctr"/>
          <a:lstStyle/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y=FFFFFFFFH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，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n=0005H</a:t>
            </a:r>
          </a:p>
        </p:txBody>
      </p:sp>
      <p:sp>
        <p:nvSpPr>
          <p:cNvPr id="45" name="AutoShape 29"/>
          <p:cNvSpPr/>
          <p:nvPr/>
        </p:nvSpPr>
        <p:spPr bwMode="auto">
          <a:xfrm>
            <a:off x="1223799" y="5049240"/>
            <a:ext cx="2340000" cy="468000"/>
          </a:xfrm>
          <a:prstGeom prst="borderCallout2">
            <a:avLst>
              <a:gd name="adj1" fmla="val 50045"/>
              <a:gd name="adj2" fmla="val 100332"/>
              <a:gd name="adj3" fmla="val 51354"/>
              <a:gd name="adj4" fmla="val 109630"/>
              <a:gd name="adj5" fmla="val 13609"/>
              <a:gd name="adj6" fmla="val 12262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默认</a:t>
            </a:r>
            <a:r>
              <a:rPr lang="en-US" altLang="zh-CN" sz="1600" dirty="0">
                <a:solidFill>
                  <a:schemeClr val="tx1"/>
                </a:solidFill>
              </a:rPr>
              <a:t>long</a:t>
            </a:r>
            <a:r>
              <a:rPr lang="zh-CN" altLang="en-US" sz="160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</a:rPr>
              <a:t>int</a:t>
            </a:r>
            <a:r>
              <a:rPr lang="zh-CN" altLang="en-US" sz="1600" dirty="0">
                <a:solidFill>
                  <a:schemeClr val="tx1"/>
                </a:solidFill>
              </a:rPr>
              <a:t>，改编译选项可为</a:t>
            </a: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r>
              <a:rPr lang="zh-CN" altLang="en-US" sz="1600" dirty="0">
                <a:solidFill>
                  <a:schemeClr val="tx1"/>
                </a:solidFill>
              </a:rPr>
              <a:t>个</a:t>
            </a:r>
            <a:r>
              <a:rPr lang="en-US" altLang="zh-CN" sz="1600" dirty="0">
                <a:solidFill>
                  <a:schemeClr val="tx1"/>
                </a:solidFill>
              </a:rPr>
              <a:t>32</a:t>
            </a:r>
            <a:r>
              <a:rPr lang="zh-CN" altLang="en-US" sz="1600" dirty="0">
                <a:solidFill>
                  <a:schemeClr val="tx1"/>
                </a:solidFill>
              </a:rPr>
              <a:t>位</a:t>
            </a:r>
            <a:r>
              <a:rPr lang="zh-CN" altLang="en-US" sz="1600" b="1" dirty="0">
                <a:solidFill>
                  <a:schemeClr val="tx1"/>
                </a:solidFill>
              </a:rPr>
              <a:t>运算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9DD43C5-4BDE-4BFE-B005-485B053C0E0A}"/>
              </a:ext>
            </a:extLst>
          </p:cNvPr>
          <p:cNvGrpSpPr/>
          <p:nvPr/>
        </p:nvGrpSpPr>
        <p:grpSpPr>
          <a:xfrm>
            <a:off x="3744199" y="3564000"/>
            <a:ext cx="1440129" cy="1656000"/>
            <a:chOff x="3744199" y="3564000"/>
            <a:chExt cx="1440129" cy="1656000"/>
          </a:xfrm>
        </p:grpSpPr>
        <p:cxnSp>
          <p:nvCxnSpPr>
            <p:cNvPr id="46" name="直接箭头连接符 45"/>
            <p:cNvCxnSpPr/>
            <p:nvPr/>
          </p:nvCxnSpPr>
          <p:spPr bwMode="auto">
            <a:xfrm flipH="1">
              <a:off x="3744328" y="3816000"/>
              <a:ext cx="144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7" name="直接箭头连接符 46"/>
            <p:cNvCxnSpPr/>
            <p:nvPr/>
          </p:nvCxnSpPr>
          <p:spPr bwMode="auto">
            <a:xfrm flipH="1">
              <a:off x="3744328" y="4068000"/>
              <a:ext cx="144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8" name="直接箭头连接符 47"/>
            <p:cNvCxnSpPr/>
            <p:nvPr/>
          </p:nvCxnSpPr>
          <p:spPr bwMode="auto">
            <a:xfrm flipH="1">
              <a:off x="3744328" y="4581000"/>
              <a:ext cx="144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9" name="直接箭头连接符 48"/>
            <p:cNvCxnSpPr/>
            <p:nvPr/>
          </p:nvCxnSpPr>
          <p:spPr bwMode="auto">
            <a:xfrm flipH="1">
              <a:off x="3744328" y="4808981"/>
              <a:ext cx="144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 flipH="1">
              <a:off x="3744328" y="3564000"/>
              <a:ext cx="144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5" name="直接箭头连接符 54"/>
            <p:cNvCxnSpPr>
              <a:cxnSpLocks/>
            </p:cNvCxnSpPr>
            <p:nvPr/>
          </p:nvCxnSpPr>
          <p:spPr bwMode="auto">
            <a:xfrm flipH="1" flipV="1">
              <a:off x="3744199" y="4139999"/>
              <a:ext cx="144000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0" name="直接箭头连接符 59"/>
            <p:cNvCxnSpPr/>
            <p:nvPr/>
          </p:nvCxnSpPr>
          <p:spPr bwMode="auto">
            <a:xfrm flipH="1" flipV="1">
              <a:off x="3744328" y="4896000"/>
              <a:ext cx="144000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6" name="Text Box 10">
              <a:extLst>
                <a:ext uri="{FF2B5EF4-FFF2-40B4-BE49-F238E27FC236}">
                  <a16:creationId xmlns:a16="http://schemas.microsoft.com/office/drawing/2014/main" id="{E0CE4484-F0BA-4A15-AC54-414283C20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80000">
              <a:off x="4104199" y="4232942"/>
              <a:ext cx="720000" cy="216000"/>
            </a:xfrm>
            <a:prstGeom prst="rect">
              <a:avLst/>
            </a:prstGeom>
            <a:noFill/>
            <a:ln w="12700">
              <a:noFill/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1</a:t>
              </a:r>
              <a:r>
                <a:rPr lang="zh-CN" altLang="en-US" sz="1600" dirty="0">
                  <a:solidFill>
                    <a:schemeClr val="tx1"/>
                  </a:solidFill>
                </a:rPr>
                <a:t>或</a:t>
              </a:r>
              <a:r>
                <a:rPr lang="en-US" altLang="zh-CN" sz="1600" dirty="0">
                  <a:solidFill>
                    <a:schemeClr val="tx1"/>
                  </a:solidFill>
                </a:rPr>
                <a:t>2</a:t>
              </a:r>
              <a:r>
                <a:rPr lang="zh-CN" altLang="en-US" sz="1600" dirty="0">
                  <a:solidFill>
                    <a:schemeClr val="tx1"/>
                  </a:solidFill>
                </a:rPr>
                <a:t>个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63" name="Text Box 10">
              <a:extLst>
                <a:ext uri="{FF2B5EF4-FFF2-40B4-BE49-F238E27FC236}">
                  <a16:creationId xmlns:a16="http://schemas.microsoft.com/office/drawing/2014/main" id="{DBCCDB8A-2FBE-4A2D-B820-A478C9768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480000">
              <a:off x="4104199" y="5004000"/>
              <a:ext cx="720000" cy="216000"/>
            </a:xfrm>
            <a:prstGeom prst="rect">
              <a:avLst/>
            </a:prstGeom>
            <a:noFill/>
            <a:ln w="12700">
              <a:noFill/>
              <a:prstDash val="solid"/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1</a:t>
              </a:r>
              <a:r>
                <a:rPr lang="zh-CN" altLang="en-US" sz="1600" dirty="0">
                  <a:solidFill>
                    <a:schemeClr val="tx1"/>
                  </a:solidFill>
                </a:rPr>
                <a:t>或</a:t>
              </a:r>
              <a:r>
                <a:rPr lang="en-US" altLang="zh-CN" sz="1600" dirty="0">
                  <a:solidFill>
                    <a:schemeClr val="tx1"/>
                  </a:solidFill>
                </a:rPr>
                <a:t>2</a:t>
              </a:r>
              <a:r>
                <a:rPr lang="zh-CN" altLang="en-US" sz="1600" dirty="0">
                  <a:solidFill>
                    <a:schemeClr val="tx1"/>
                  </a:solidFill>
                </a:rPr>
                <a:t>个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2"/>
    </mc:Choice>
    <mc:Fallback xmlns="">
      <p:transition spd="slow" advTm="110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8" grpId="0"/>
      <p:bldP spid="436237" grpId="0"/>
      <p:bldP spid="18" grpId="1" animBg="1"/>
      <p:bldP spid="62" grpId="0"/>
      <p:bldP spid="61" grpId="0"/>
      <p:bldP spid="4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26</a:t>
            </a:fld>
            <a:endParaRPr lang="en-US" altLang="zh-CN" dirty="0"/>
          </a:p>
        </p:txBody>
      </p:sp>
      <p:sp>
        <p:nvSpPr>
          <p:cNvPr id="4" name="Text Box 155"/>
          <p:cNvSpPr txBox="1">
            <a:spLocks noChangeArrowheads="1"/>
          </p:cNvSpPr>
          <p:nvPr/>
        </p:nvSpPr>
        <p:spPr bwMode="auto">
          <a:xfrm>
            <a:off x="179263" y="332656"/>
            <a:ext cx="8785225" cy="23342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整数的类型转换 </a:t>
            </a:r>
            <a:endParaRPr lang="en-US" altLang="zh-CN" sz="2200" dirty="0">
              <a:solidFill>
                <a:srgbClr val="FF3399"/>
              </a:solidFill>
            </a:endParaRPr>
          </a:p>
          <a:p>
            <a:pPr marL="1075055" indent="-1075055"/>
            <a:r>
              <a:rPr lang="zh-CN" altLang="en-US" sz="2200" dirty="0">
                <a:solidFill>
                  <a:schemeClr val="accent2"/>
                </a:solidFill>
              </a:rPr>
              <a:t>   应用需求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语句及指令中，操作数</a:t>
            </a:r>
            <a:r>
              <a:rPr lang="en-US" altLang="zh-CN" sz="2200" dirty="0">
                <a:solidFill>
                  <a:schemeClr val="tx1"/>
                </a:solidFill>
              </a:rPr>
              <a:t>(OPD)</a:t>
            </a:r>
            <a:r>
              <a:rPr lang="zh-CN" altLang="en-US" sz="2200" u="sng" dirty="0">
                <a:solidFill>
                  <a:schemeClr val="tx1"/>
                </a:solidFill>
              </a:rPr>
              <a:t>长度</a:t>
            </a:r>
            <a:r>
              <a:rPr lang="zh-CN" altLang="en-US" sz="2200" u="sng" dirty="0">
                <a:solidFill>
                  <a:srgbClr val="990099"/>
                </a:solidFill>
              </a:rPr>
              <a:t>可能不同</a:t>
            </a:r>
            <a:endParaRPr lang="zh-CN" altLang="en-US" sz="2200" dirty="0">
              <a:solidFill>
                <a:srgbClr val="990099"/>
              </a:solidFill>
            </a:endParaRPr>
          </a:p>
          <a:p>
            <a:pPr marL="1075055" indent="-1075055"/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          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如：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C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语言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中，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ea typeface="+mn-ea"/>
              </a:rPr>
              <a:t>short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</a:rPr>
              <a:t>si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ea typeface="+mn-ea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</a:rPr>
              <a:t>y,z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=</a:t>
            </a:r>
            <a:r>
              <a:rPr lang="en-US" altLang="zh-CN" sz="1800" dirty="0" err="1">
                <a:solidFill>
                  <a:srgbClr val="990099"/>
                </a:solidFill>
                <a:latin typeface="+mn-ea"/>
                <a:ea typeface="+mn-ea"/>
              </a:rPr>
              <a:t>y+si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ea typeface="+mn-ea"/>
              </a:rPr>
              <a:t>short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</a:rPr>
              <a:t>sk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=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z;</a:t>
            </a:r>
          </a:p>
          <a:p>
            <a:pPr marL="1075055" indent="-1075055"/>
            <a:r>
              <a:rPr lang="en-US" altLang="zh-CN" sz="1800" dirty="0">
                <a:solidFill>
                  <a:schemeClr val="tx1"/>
                </a:solidFill>
              </a:rPr>
              <a:t>                    </a:t>
            </a:r>
            <a:r>
              <a:rPr lang="zh-CN" altLang="en-US" sz="1800" dirty="0">
                <a:solidFill>
                  <a:schemeClr val="tx1"/>
                </a:solidFill>
              </a:rPr>
              <a:t>又如：</a:t>
            </a:r>
            <a:r>
              <a:rPr lang="zh-CN" altLang="en-US" sz="1800" dirty="0">
                <a:solidFill>
                  <a:srgbClr val="0070C0"/>
                </a:solidFill>
              </a:rPr>
              <a:t>指令</a:t>
            </a:r>
            <a:r>
              <a:rPr lang="en-US" altLang="zh-CN" sz="1800" dirty="0">
                <a:solidFill>
                  <a:schemeClr val="tx1"/>
                </a:solidFill>
              </a:rPr>
              <a:t>R2←R2+imm</a:t>
            </a:r>
            <a:r>
              <a:rPr lang="zh-CN" altLang="en-US" sz="1800" dirty="0">
                <a:solidFill>
                  <a:schemeClr val="tx1"/>
                </a:solidFill>
              </a:rPr>
              <a:t>中，</a:t>
            </a:r>
            <a:r>
              <a:rPr lang="en-US" altLang="zh-CN" sz="1800" dirty="0">
                <a:solidFill>
                  <a:schemeClr val="tx1"/>
                </a:solidFill>
              </a:rPr>
              <a:t>R2</a:t>
            </a:r>
            <a:r>
              <a:rPr lang="zh-CN" altLang="en-US" sz="1800" dirty="0">
                <a:solidFill>
                  <a:schemeClr val="tx1"/>
                </a:solidFill>
              </a:rPr>
              <a:t>为</a:t>
            </a:r>
            <a:r>
              <a:rPr lang="en-US" altLang="zh-CN" sz="1800" dirty="0">
                <a:solidFill>
                  <a:srgbClr val="0070C0"/>
                </a:solidFill>
              </a:rPr>
              <a:t>32</a:t>
            </a:r>
            <a:r>
              <a:rPr lang="zh-CN" altLang="en-US" sz="1800" dirty="0">
                <a:solidFill>
                  <a:srgbClr val="0070C0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 err="1">
                <a:solidFill>
                  <a:schemeClr val="tx1"/>
                </a:solidFill>
              </a:rPr>
              <a:t>imm</a:t>
            </a:r>
            <a:r>
              <a:rPr lang="zh-CN" altLang="en-US" sz="1800" dirty="0">
                <a:solidFill>
                  <a:schemeClr val="tx1"/>
                </a:solidFill>
              </a:rPr>
              <a:t>为</a:t>
            </a:r>
            <a:r>
              <a:rPr lang="en-US" altLang="zh-CN" sz="1800" dirty="0">
                <a:solidFill>
                  <a:srgbClr val="0070C0"/>
                </a:solidFill>
              </a:rPr>
              <a:t>8</a:t>
            </a:r>
            <a:r>
              <a:rPr lang="zh-CN" altLang="en-US" sz="1800" dirty="0">
                <a:solidFill>
                  <a:srgbClr val="0070C0"/>
                </a:solidFill>
              </a:rPr>
              <a:t>位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zh-CN" altLang="en-US" sz="2200" dirty="0">
                <a:solidFill>
                  <a:srgbClr val="0070C0"/>
                </a:solidFill>
              </a:rPr>
              <a:t>             </a:t>
            </a:r>
            <a:r>
              <a:rPr lang="zh-CN" altLang="en-US" sz="2200" u="sng" dirty="0">
                <a:solidFill>
                  <a:srgbClr val="990099"/>
                </a:solidFill>
              </a:rPr>
              <a:t>编译器</a:t>
            </a:r>
            <a:r>
              <a:rPr lang="zh-CN" altLang="en-US" sz="2200" dirty="0">
                <a:solidFill>
                  <a:schemeClr val="tx1"/>
                </a:solidFill>
              </a:rPr>
              <a:t>负责</a:t>
            </a:r>
            <a:r>
              <a:rPr lang="zh-CN" altLang="en-US" sz="2200" u="sng" dirty="0">
                <a:solidFill>
                  <a:srgbClr val="0070C0"/>
                </a:solidFill>
              </a:rPr>
              <a:t>语句→指令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u="sng" dirty="0">
                <a:solidFill>
                  <a:srgbClr val="990099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负责</a:t>
            </a:r>
            <a:r>
              <a:rPr lang="zh-CN" altLang="en-US" sz="2200" u="sng" dirty="0">
                <a:solidFill>
                  <a:srgbClr val="0070C0"/>
                </a:solidFill>
              </a:rPr>
              <a:t>指令→运算</a:t>
            </a:r>
            <a:r>
              <a:rPr lang="zh-CN" altLang="en-US" sz="2200" dirty="0">
                <a:solidFill>
                  <a:schemeClr val="tx1"/>
                </a:solidFill>
              </a:rPr>
              <a:t>的转换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lnSpc>
                <a:spcPct val="10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                     (</a:t>
            </a:r>
            <a:r>
              <a:rPr lang="zh-CN" altLang="en-US" sz="1800" u="sng" dirty="0">
                <a:solidFill>
                  <a:schemeClr val="tx1"/>
                </a:solidFill>
              </a:rPr>
              <a:t>增加</a:t>
            </a:r>
            <a:r>
              <a:rPr lang="zh-CN" altLang="en-US" sz="1800" dirty="0">
                <a:solidFill>
                  <a:schemeClr val="tx1"/>
                </a:solidFill>
              </a:rPr>
              <a:t>转换</a:t>
            </a:r>
            <a:r>
              <a:rPr lang="zh-CN" altLang="en-US" sz="1800" u="sng" dirty="0">
                <a:solidFill>
                  <a:schemeClr val="tx1"/>
                </a:solidFill>
              </a:rPr>
              <a:t>指令</a:t>
            </a:r>
            <a:r>
              <a:rPr lang="zh-CN" altLang="en-US" sz="1800" dirty="0">
                <a:solidFill>
                  <a:schemeClr val="tx1"/>
                </a:solidFill>
              </a:rPr>
              <a:t>等</a:t>
            </a:r>
            <a:r>
              <a:rPr lang="en-US" altLang="zh-CN" sz="1800" dirty="0">
                <a:solidFill>
                  <a:schemeClr val="tx1"/>
                </a:solidFill>
              </a:rPr>
              <a:t>)       (</a:t>
            </a:r>
            <a:r>
              <a:rPr lang="zh-CN" altLang="en-US" sz="1800" u="sng" dirty="0">
                <a:solidFill>
                  <a:schemeClr val="tx1"/>
                </a:solidFill>
              </a:rPr>
              <a:t>增加</a:t>
            </a:r>
            <a:r>
              <a:rPr lang="zh-CN" altLang="en-US" sz="1800" dirty="0">
                <a:solidFill>
                  <a:schemeClr val="tx1"/>
                </a:solidFill>
              </a:rPr>
              <a:t>转换</a:t>
            </a:r>
            <a:r>
              <a:rPr lang="zh-CN" altLang="en-US" sz="1800" u="sng" dirty="0">
                <a:solidFill>
                  <a:schemeClr val="tx1"/>
                </a:solidFill>
              </a:rPr>
              <a:t>操作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9512" y="1916832"/>
            <a:ext cx="2808312" cy="30734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   </a:t>
            </a:r>
            <a:r>
              <a:rPr lang="zh-CN" altLang="en-US" sz="2200" dirty="0">
                <a:solidFill>
                  <a:schemeClr val="accent2"/>
                </a:solidFill>
                <a:sym typeface="+mn-ea"/>
              </a:rPr>
              <a:t>转换时机</a:t>
            </a:r>
            <a:r>
              <a:rPr lang="en-US" altLang="zh-CN" sz="2200" dirty="0">
                <a:solidFill>
                  <a:schemeClr val="accent2"/>
                </a:solidFill>
                <a:sym typeface="+mn-ea"/>
              </a:rPr>
              <a:t>—</a:t>
            </a:r>
          </a:p>
          <a:p>
            <a:pPr marL="1075055" indent="-1075055">
              <a:spcBef>
                <a:spcPts val="12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类型转换方法：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/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长度相同时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1075055" indent="-1075055"/>
            <a:endParaRPr lang="en-US" altLang="zh-CN" sz="1800" dirty="0">
              <a:solidFill>
                <a:schemeClr val="accent2"/>
              </a:solidFill>
            </a:endParaRPr>
          </a:p>
          <a:p>
            <a:pPr marL="1075055" indent="-107505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长度减少时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1075055" indent="-1075055"/>
            <a:endParaRPr lang="en-US" altLang="zh-CN" sz="1800" dirty="0">
              <a:solidFill>
                <a:schemeClr val="accent2"/>
              </a:solidFill>
            </a:endParaRPr>
          </a:p>
          <a:p>
            <a:pPr marL="1075055" indent="-107505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长度增加时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" name="Text Box 82"/>
          <p:cNvSpPr txBox="1">
            <a:spLocks noChangeArrowheads="1"/>
          </p:cNvSpPr>
          <p:nvPr/>
        </p:nvSpPr>
        <p:spPr bwMode="auto">
          <a:xfrm>
            <a:off x="2483768" y="2924944"/>
            <a:ext cx="6336408" cy="30497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/>
            <a:r>
              <a:rPr lang="zh-CN" altLang="en-US" sz="2200" dirty="0">
                <a:solidFill>
                  <a:srgbClr val="990099"/>
                </a:solidFill>
              </a:rPr>
              <a:t>无需运算</a:t>
            </a:r>
            <a:r>
              <a:rPr lang="zh-CN" altLang="en-US" sz="2200" dirty="0">
                <a:solidFill>
                  <a:schemeClr val="tx1"/>
                </a:solidFill>
              </a:rPr>
              <a:t>，解释</a:t>
            </a:r>
            <a:r>
              <a:rPr lang="zh-CN" altLang="en-US" sz="2200" u="sng" dirty="0">
                <a:solidFill>
                  <a:schemeClr val="tx1"/>
                </a:solidFill>
              </a:rPr>
              <a:t>为新类型</a:t>
            </a:r>
            <a:endParaRPr lang="en-US" altLang="zh-CN" sz="2200" u="sng" dirty="0">
              <a:solidFill>
                <a:schemeClr val="tx1"/>
              </a:solidFill>
            </a:endParaRPr>
          </a:p>
          <a:p>
            <a:pPr marL="2786380" indent="-2786380"/>
            <a:r>
              <a:rPr lang="zh-CN" altLang="en-US" sz="1800" dirty="0">
                <a:solidFill>
                  <a:schemeClr val="tx1"/>
                </a:solidFill>
              </a:rPr>
              <a:t>  如：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unsigned short 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</a:rPr>
              <a:t>usi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=0xFFFE</a:t>
            </a:r>
            <a:r>
              <a:rPr lang="en-US" altLang="zh-CN" sz="1800" dirty="0">
                <a:solidFill>
                  <a:schemeClr val="tx1"/>
                </a:solidFill>
              </a:rPr>
              <a:t>; 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short</a:t>
            </a:r>
            <a:r>
              <a:rPr lang="en-US" altLang="zh-CN" sz="1800" b="0" dirty="0">
                <a:solidFill>
                  <a:schemeClr val="tx1"/>
                </a:solidFill>
              </a:rPr>
              <a:t> </a:t>
            </a:r>
            <a:r>
              <a:rPr lang="en-US" altLang="zh-CN" sz="1800" dirty="0" err="1">
                <a:solidFill>
                  <a:srgbClr val="990099"/>
                </a:solidFill>
                <a:latin typeface="+mn-ea"/>
                <a:ea typeface="+mn-ea"/>
              </a:rPr>
              <a:t>si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=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</a:rPr>
              <a:t>usi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; //</a:t>
            </a:r>
            <a:r>
              <a:rPr lang="en-US" altLang="zh-CN" sz="1800" dirty="0" err="1">
                <a:solidFill>
                  <a:srgbClr val="990099"/>
                </a:solidFill>
                <a:highlight>
                  <a:srgbClr val="CCFFFF"/>
                </a:highlight>
                <a:latin typeface="+mn-ea"/>
                <a:ea typeface="+mn-ea"/>
              </a:rPr>
              <a:t>si</a:t>
            </a:r>
            <a:r>
              <a:rPr lang="en-US" altLang="zh-CN" sz="1800" dirty="0">
                <a:solidFill>
                  <a:srgbClr val="990099"/>
                </a:solidFill>
                <a:highlight>
                  <a:srgbClr val="CCFFFF"/>
                </a:highlight>
                <a:latin typeface="+mn-ea"/>
                <a:ea typeface="+mn-ea"/>
              </a:rPr>
              <a:t>=</a:t>
            </a:r>
            <a:r>
              <a:rPr lang="zh-CN" altLang="en-US" sz="1800" dirty="0">
                <a:solidFill>
                  <a:srgbClr val="990099"/>
                </a:solidFill>
                <a:highlight>
                  <a:srgbClr val="CCFFFF"/>
                </a:highlight>
                <a:latin typeface="+mn-ea"/>
                <a:ea typeface="+mn-ea"/>
              </a:rPr>
              <a:t>？</a:t>
            </a:r>
            <a:endParaRPr lang="en-US" altLang="zh-CN" sz="1800" dirty="0">
              <a:solidFill>
                <a:srgbClr val="990099"/>
              </a:solidFill>
              <a:highlight>
                <a:srgbClr val="CCFFFF"/>
              </a:highlight>
              <a:latin typeface="+mn-ea"/>
              <a:ea typeface="+mn-ea"/>
            </a:endParaRPr>
          </a:p>
          <a:p>
            <a:pPr marL="2786380" indent="-278638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rgbClr val="990099"/>
                </a:solidFill>
                <a:sym typeface="+mn-ea"/>
              </a:rPr>
              <a:t>截断运算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，仅</a:t>
            </a:r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保留低位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      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←适合有模运算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2786380" indent="-2786380"/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  如：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sym typeface="+mn-ea"/>
              </a:rPr>
              <a:t>unsigned int 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u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  <a:sym typeface="+mn-ea"/>
              </a:rPr>
              <a:t>y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=0x12345678; short </a:t>
            </a:r>
            <a:r>
              <a:rPr lang="en-US" altLang="zh-CN" sz="1800" dirty="0" err="1">
                <a:solidFill>
                  <a:srgbClr val="990099"/>
                </a:solidFill>
                <a:sym typeface="+mn-ea"/>
              </a:rPr>
              <a:t>si</a:t>
            </a:r>
            <a:r>
              <a:rPr lang="en-US" altLang="zh-CN" sz="1800" dirty="0">
                <a:solidFill>
                  <a:srgbClr val="990099"/>
                </a:solidFill>
                <a:sym typeface="+mn-ea"/>
              </a:rPr>
              <a:t>=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uy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;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 //</a:t>
            </a:r>
            <a:r>
              <a:rPr lang="en-US" altLang="zh-CN" sz="1800" dirty="0" err="1">
                <a:solidFill>
                  <a:srgbClr val="990099"/>
                </a:solidFill>
                <a:highlight>
                  <a:srgbClr val="CCFFFF"/>
                </a:highlight>
                <a:latin typeface="+mn-ea"/>
              </a:rPr>
              <a:t>si</a:t>
            </a:r>
            <a:r>
              <a:rPr lang="en-US" altLang="zh-CN" sz="1800" dirty="0">
                <a:solidFill>
                  <a:srgbClr val="990099"/>
                </a:solidFill>
                <a:highlight>
                  <a:srgbClr val="CCFFFF"/>
                </a:highlight>
                <a:latin typeface="+mn-ea"/>
              </a:rPr>
              <a:t>=</a:t>
            </a:r>
            <a:r>
              <a:rPr lang="zh-CN" altLang="en-US" sz="1800" dirty="0">
                <a:solidFill>
                  <a:srgbClr val="990099"/>
                </a:solidFill>
                <a:highlight>
                  <a:srgbClr val="CCFFFF"/>
                </a:highlight>
                <a:latin typeface="+mn-ea"/>
              </a:rPr>
              <a:t>？</a:t>
            </a:r>
            <a:endParaRPr lang="zh-CN" altLang="en-US" sz="1800" b="0" dirty="0">
              <a:solidFill>
                <a:schemeClr val="tx1"/>
              </a:solidFill>
            </a:endParaRPr>
          </a:p>
          <a:p>
            <a:pPr marL="2786380" indent="-278638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rgbClr val="990099"/>
                </a:solidFill>
                <a:sym typeface="+mn-ea"/>
              </a:rPr>
              <a:t>位扩展运算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，保持</a:t>
            </a:r>
            <a:r>
              <a:rPr lang="zh-CN" altLang="en-US" sz="2200" u="sng" dirty="0">
                <a:solidFill>
                  <a:schemeClr val="tx1"/>
                </a:solidFill>
                <a:sym typeface="+mn-ea"/>
              </a:rPr>
              <a:t>真值不变</a:t>
            </a:r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←保持数学含义</a:t>
            </a:r>
            <a:endParaRPr lang="en-US" altLang="zh-CN" sz="1800" u="sng" dirty="0">
              <a:solidFill>
                <a:schemeClr val="tx1"/>
              </a:solidFill>
            </a:endParaRPr>
          </a:p>
          <a:p>
            <a:pPr marL="2786380" indent="-2786380"/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  如：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sym typeface="+mn-ea"/>
              </a:rPr>
              <a:t>unsigned short 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usi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=2;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sym typeface="+mn-ea"/>
              </a:rPr>
              <a:t>short 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si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=+2,sj=-2; 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786380" indent="-2786380">
              <a:lnSpc>
                <a:spcPct val="110000"/>
              </a:lnSpc>
            </a:pP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sym typeface="+mn-ea"/>
              </a:rPr>
              <a:t>unsigned int </a:t>
            </a:r>
            <a:r>
              <a:rPr lang="en-US" altLang="zh-CN" sz="1800" dirty="0" err="1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u</a:t>
            </a:r>
            <a:r>
              <a:rPr lang="en-US" altLang="zh-CN" sz="1800" dirty="0" err="1">
                <a:solidFill>
                  <a:srgbClr val="990099"/>
                </a:solidFill>
                <a:sym typeface="+mn-ea"/>
              </a:rPr>
              <a:t>a</a:t>
            </a:r>
            <a:r>
              <a:rPr lang="en-US" altLang="zh-CN" sz="1800" dirty="0">
                <a:solidFill>
                  <a:srgbClr val="990099"/>
                </a:solidFill>
                <a:sym typeface="+mn-ea"/>
              </a:rPr>
              <a:t>=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usi,</a:t>
            </a:r>
            <a:r>
              <a:rPr lang="en-US" altLang="zh-CN" sz="1800" dirty="0" err="1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uy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=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si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; 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  <a:sym typeface="+mn-ea"/>
              </a:rPr>
              <a:t>int </a:t>
            </a:r>
            <a:r>
              <a:rPr lang="en-US" altLang="zh-CN" sz="1800" dirty="0">
                <a:solidFill>
                  <a:srgbClr val="990099"/>
                </a:solidFill>
                <a:sym typeface="+mn-ea"/>
              </a:rPr>
              <a:t>z=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sj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; </a:t>
            </a:r>
          </a:p>
          <a:p>
            <a:pPr marL="2786380" indent="-2786380">
              <a:lnSpc>
                <a:spcPct val="110000"/>
              </a:lnSpc>
            </a:pP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      //</a:t>
            </a:r>
            <a:r>
              <a:rPr lang="en-US" altLang="zh-CN" sz="1800" dirty="0" err="1">
                <a:solidFill>
                  <a:srgbClr val="990099"/>
                </a:solidFill>
                <a:highlight>
                  <a:srgbClr val="CCFFFF"/>
                </a:highlight>
              </a:rPr>
              <a:t>ua</a:t>
            </a:r>
            <a:r>
              <a:rPr lang="en-US" altLang="zh-CN" sz="1800" dirty="0">
                <a:solidFill>
                  <a:srgbClr val="990099"/>
                </a:solidFill>
                <a:highlight>
                  <a:srgbClr val="CCFFFF"/>
                </a:highlight>
              </a:rPr>
              <a:t>=? </a:t>
            </a:r>
            <a:r>
              <a:rPr lang="en-US" altLang="zh-CN" sz="1800" dirty="0" err="1">
                <a:solidFill>
                  <a:srgbClr val="990099"/>
                </a:solidFill>
                <a:highlight>
                  <a:srgbClr val="CCFFFF"/>
                </a:highlight>
              </a:rPr>
              <a:t>uy</a:t>
            </a:r>
            <a:r>
              <a:rPr lang="en-US" altLang="zh-CN" sz="1800" dirty="0">
                <a:solidFill>
                  <a:srgbClr val="990099"/>
                </a:solidFill>
                <a:highlight>
                  <a:srgbClr val="CCFFFF"/>
                </a:highlight>
              </a:rPr>
              <a:t>=? z=?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8388424" y="3427093"/>
            <a:ext cx="684000" cy="2520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  <a:effectLst/>
        </p:spPr>
        <p:txBody>
          <a:bodyPr lIns="18000" tIns="10800" rIns="54000" bIns="10800" anchor="ctr"/>
          <a:lstStyle/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FFFEH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5292376" y="5623277"/>
            <a:ext cx="2664000" cy="28800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  <a:effectLst/>
        </p:spPr>
        <p:txBody>
          <a:bodyPr lIns="18000" tIns="10800" rIns="54000" bIns="10800" anchor="ctr"/>
          <a:lstStyle/>
          <a:p>
            <a:pPr algn="ctr">
              <a:lnSpc>
                <a:spcPct val="100000"/>
              </a:lnSpc>
            </a:pP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ua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=2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，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uy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=2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</a:rPr>
              <a:t>，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</a:rPr>
              <a:t>z=0xFFFFFFFE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41" name="Text Box 82"/>
          <p:cNvSpPr txBox="1">
            <a:spLocks noChangeArrowheads="1"/>
          </p:cNvSpPr>
          <p:nvPr/>
        </p:nvSpPr>
        <p:spPr bwMode="auto">
          <a:xfrm>
            <a:off x="179512" y="332656"/>
            <a:ext cx="8856984" cy="418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86380" indent="-2786380"/>
            <a:r>
              <a:rPr lang="zh-CN" altLang="en-US" sz="2200" dirty="0">
                <a:solidFill>
                  <a:srgbClr val="C00000"/>
                </a:solidFill>
              </a:rPr>
              <a:t> *位扩展运算：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指硬件实现</a:t>
            </a:r>
            <a:r>
              <a:rPr lang="en-US" altLang="zh-CN" sz="1800" dirty="0">
                <a:solidFill>
                  <a:schemeClr val="tx1"/>
                </a:solidFill>
              </a:rPr>
              <a:t>[</a:t>
            </a:r>
            <a:r>
              <a:rPr lang="zh-CN" altLang="en-US" sz="1800" dirty="0">
                <a:solidFill>
                  <a:schemeClr val="tx1"/>
                </a:solidFill>
              </a:rPr>
              <a:t>指令执行时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dirty="0">
                <a:solidFill>
                  <a:schemeClr val="tx1"/>
                </a:solidFill>
              </a:rPr>
              <a:t>，语句中转换变量类型即可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运算功能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运算方法</a:t>
            </a:r>
            <a:r>
              <a:rPr lang="en-US" altLang="zh-CN" sz="2200" dirty="0">
                <a:solidFill>
                  <a:schemeClr val="accent2"/>
                </a:solidFill>
              </a:rPr>
              <a:t>— 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786380" indent="-2786380"/>
            <a:endParaRPr lang="en-US" altLang="zh-CN" sz="2200" dirty="0">
              <a:solidFill>
                <a:schemeClr val="accent2"/>
              </a:solidFill>
            </a:endParaRPr>
          </a:p>
          <a:p>
            <a:pPr marL="2786380" indent="-2786380"/>
            <a:endParaRPr lang="en-US" altLang="zh-CN" sz="2200" dirty="0">
              <a:solidFill>
                <a:srgbClr val="C00000"/>
              </a:solidFill>
            </a:endParaRPr>
          </a:p>
          <a:p>
            <a:pPr marL="2786380" indent="-2786380"/>
            <a:endParaRPr lang="en-US" altLang="zh-CN" sz="2200" dirty="0">
              <a:solidFill>
                <a:srgbClr val="C00000"/>
              </a:solidFill>
            </a:endParaRPr>
          </a:p>
          <a:p>
            <a:pPr marL="2786380" indent="-2786380"/>
            <a:endParaRPr lang="en-US" altLang="zh-CN" sz="1600" dirty="0">
              <a:solidFill>
                <a:srgbClr val="C00000"/>
              </a:solidFill>
            </a:endParaRPr>
          </a:p>
          <a:p>
            <a:pPr marL="2786380" indent="-2786380"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逻辑实现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spc="-100" dirty="0">
              <a:solidFill>
                <a:schemeClr val="tx1"/>
              </a:solidFill>
            </a:endParaRPr>
          </a:p>
          <a:p>
            <a:pPr marL="2786380" indent="-2786380"/>
            <a:r>
              <a:rPr lang="zh-CN" altLang="en-US" sz="2200" dirty="0">
                <a:solidFill>
                  <a:srgbClr val="990099"/>
                </a:solidFill>
              </a:rPr>
              <a:t>      输出函数：</a:t>
            </a:r>
            <a:endParaRPr lang="en-US" altLang="zh-CN" sz="2200" dirty="0">
              <a:solidFill>
                <a:srgbClr val="990099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</a:rPr>
              <a:t>内部逻辑：</a:t>
            </a:r>
            <a:endParaRPr lang="en-US" altLang="zh-CN" sz="2200" dirty="0">
              <a:solidFill>
                <a:srgbClr val="990099"/>
              </a:solidFill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2171521" y="764704"/>
            <a:ext cx="6720959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机器数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有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无符号整数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zh-CN" altLang="en-US" sz="2200" u="sng" dirty="0">
                <a:solidFill>
                  <a:schemeClr val="tx1"/>
                </a:solidFill>
              </a:rPr>
              <a:t>位数增加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u="sng" dirty="0">
                <a:solidFill>
                  <a:schemeClr val="tx1"/>
                </a:solidFill>
              </a:rPr>
              <a:t>真值不变</a:t>
            </a:r>
            <a:endParaRPr lang="en-US" altLang="zh-CN" sz="2200" u="sng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rgbClr val="990099"/>
                </a:solidFill>
              </a:rPr>
              <a:t>  </a:t>
            </a:r>
            <a:r>
              <a:rPr lang="zh-CN" altLang="en-US" sz="2200" u="sng" dirty="0">
                <a:solidFill>
                  <a:srgbClr val="990099"/>
                </a:solidFill>
              </a:rPr>
              <a:t>零扩展</a:t>
            </a:r>
            <a:r>
              <a:rPr lang="zh-CN" altLang="en-US" sz="2200" dirty="0">
                <a:solidFill>
                  <a:schemeClr val="tx1"/>
                </a:solidFill>
              </a:rPr>
              <a:t>为机器数高位</a:t>
            </a:r>
            <a:r>
              <a:rPr lang="zh-CN" altLang="en-US" sz="2200" u="sng" dirty="0">
                <a:solidFill>
                  <a:srgbClr val="0070C0"/>
                </a:solidFill>
              </a:rPr>
              <a:t>补</a:t>
            </a:r>
            <a:r>
              <a:rPr lang="en-US" altLang="zh-CN" sz="2200" u="sng" dirty="0">
                <a:solidFill>
                  <a:srgbClr val="0070C0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         </a:t>
            </a:r>
            <a:r>
              <a:rPr lang="zh-CN" altLang="en-US" sz="1800" dirty="0">
                <a:solidFill>
                  <a:schemeClr val="tx1"/>
                </a:solidFill>
              </a:rPr>
              <a:t>←面向无符号整数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u="sng" dirty="0">
                <a:solidFill>
                  <a:srgbClr val="990099"/>
                </a:solidFill>
              </a:rPr>
              <a:t>符号扩展</a:t>
            </a:r>
            <a:r>
              <a:rPr lang="zh-CN" altLang="en-US" sz="2200" dirty="0">
                <a:solidFill>
                  <a:schemeClr val="tx1"/>
                </a:solidFill>
              </a:rPr>
              <a:t>为机器数高位</a:t>
            </a:r>
            <a:r>
              <a:rPr lang="zh-CN" altLang="en-US" sz="2200" u="sng" dirty="0">
                <a:solidFill>
                  <a:srgbClr val="0070C0"/>
                </a:solidFill>
              </a:rPr>
              <a:t>补符号位</a:t>
            </a:r>
            <a:r>
              <a:rPr lang="zh-CN" altLang="en-US" sz="2200" dirty="0">
                <a:solidFill>
                  <a:srgbClr val="990099"/>
                </a:solidFill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</a:rPr>
              <a:t>←面向有符号整数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0" name="AutoShape 29"/>
          <p:cNvSpPr/>
          <p:nvPr/>
        </p:nvSpPr>
        <p:spPr bwMode="auto">
          <a:xfrm>
            <a:off x="7956376" y="2132856"/>
            <a:ext cx="936000" cy="252000"/>
          </a:xfrm>
          <a:prstGeom prst="borderCallout2">
            <a:avLst>
              <a:gd name="adj1" fmla="val 47598"/>
              <a:gd name="adj2" fmla="val -297"/>
              <a:gd name="adj3" fmla="val 48060"/>
              <a:gd name="adj4" fmla="val -19148"/>
              <a:gd name="adj5" fmla="val -42310"/>
              <a:gd name="adj6" fmla="val -2500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补码表示</a:t>
            </a:r>
          </a:p>
        </p:txBody>
      </p:sp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129950"/>
              </p:ext>
            </p:extLst>
          </p:nvPr>
        </p:nvGraphicFramePr>
        <p:xfrm>
          <a:off x="2309142" y="2196668"/>
          <a:ext cx="5143178" cy="94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241">
                <a:tc>
                  <a:txBody>
                    <a:bodyPr/>
                    <a:lstStyle/>
                    <a:p>
                      <a:pPr algn="l"/>
                      <a:endParaRPr lang="zh-CN" altLang="en-US" sz="1800" b="1" dirty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零扩展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accent2"/>
                          </a:solidFill>
                          <a:effectLst/>
                          <a:highlight>
                            <a:srgbClr val="CCFFFF"/>
                          </a:highlight>
                          <a:latin typeface="+mn-ea"/>
                          <a:ea typeface="+mn-ea"/>
                        </a:rPr>
                        <a:t>000</a:t>
                      </a:r>
                      <a:r>
                        <a:rPr lang="en-US" altLang="zh-CN" sz="18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1101( 13)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accent2"/>
                          </a:solidFill>
                          <a:effectLst/>
                          <a:highlight>
                            <a:srgbClr val="CCFFFF"/>
                          </a:highlight>
                          <a:latin typeface="+mn-ea"/>
                          <a:ea typeface="+mn-ea"/>
                        </a:rPr>
                        <a:t>000</a:t>
                      </a:r>
                      <a:r>
                        <a:rPr lang="en-US" altLang="zh-CN" sz="1800" b="1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1101( 13)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6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符号扩展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accent2"/>
                          </a:solidFill>
                          <a:effectLst/>
                          <a:highlight>
                            <a:srgbClr val="CCCCFF"/>
                          </a:highlight>
                          <a:latin typeface="+mn-ea"/>
                          <a:ea typeface="+mn-ea"/>
                        </a:rPr>
                        <a:t>000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1101(+13)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accent2"/>
                          </a:solidFill>
                          <a:effectLst/>
                          <a:highlight>
                            <a:srgbClr val="CCCCFF"/>
                          </a:highlight>
                          <a:latin typeface="+mn-ea"/>
                          <a:ea typeface="+mn-ea"/>
                        </a:rPr>
                        <a:t>111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1101(-3)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Text Box 429"/>
          <p:cNvSpPr txBox="1">
            <a:spLocks noChangeArrowheads="1"/>
          </p:cNvSpPr>
          <p:nvPr/>
        </p:nvSpPr>
        <p:spPr bwMode="auto">
          <a:xfrm>
            <a:off x="2195736" y="3212976"/>
            <a:ext cx="6768752" cy="8571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假设入端</a:t>
            </a:r>
            <a:r>
              <a:rPr lang="en-US" altLang="zh-CN" sz="2000" dirty="0">
                <a:solidFill>
                  <a:schemeClr val="tx1"/>
                </a:solidFill>
              </a:rPr>
              <a:t>D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…D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、出端</a:t>
            </a:r>
            <a:r>
              <a:rPr lang="en-US" altLang="zh-CN" sz="2000" dirty="0" err="1">
                <a:solidFill>
                  <a:schemeClr val="tx1"/>
                </a:solidFill>
              </a:rPr>
              <a:t>Q</a:t>
            </a:r>
            <a:r>
              <a:rPr lang="en-US" altLang="zh-CN" sz="2000" baseline="-18000" dirty="0" err="1">
                <a:solidFill>
                  <a:schemeClr val="tx1"/>
                </a:solidFill>
              </a:rPr>
              <a:t>n+k</a:t>
            </a:r>
            <a:r>
              <a:rPr lang="en-US" altLang="zh-CN" sz="2000" dirty="0">
                <a:solidFill>
                  <a:schemeClr val="tx1"/>
                </a:solidFill>
              </a:rPr>
              <a:t>…Q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，控制端</a:t>
            </a:r>
            <a:r>
              <a:rPr lang="en-US" altLang="zh-CN" sz="2000" dirty="0">
                <a:solidFill>
                  <a:schemeClr val="tx1"/>
                </a:solidFill>
              </a:rPr>
              <a:t>op</a:t>
            </a:r>
            <a:r>
              <a:rPr lang="en-US" altLang="zh-CN" sz="1600" dirty="0">
                <a:solidFill>
                  <a:schemeClr val="tx1"/>
                </a:solidFill>
              </a:rPr>
              <a:t>(0/1-</a:t>
            </a:r>
            <a:r>
              <a:rPr lang="zh-CN" altLang="en-US" sz="1600" dirty="0">
                <a:solidFill>
                  <a:schemeClr val="tx1"/>
                </a:solidFill>
              </a:rPr>
              <a:t>零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符号扩展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  Q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sz="2200" baseline="-14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~ 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D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sz="2200" baseline="-14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~ 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D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sz="2200" baseline="-14000" dirty="0" err="1">
                <a:solidFill>
                  <a:schemeClr val="tx1"/>
                </a:solidFill>
                <a:latin typeface="+mn-ea"/>
              </a:rPr>
              <a:t>n+k</a:t>
            </a:r>
            <a:r>
              <a:rPr lang="en-US" altLang="zh-CN" sz="2200" baseline="-14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~ 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</a:rPr>
              <a:t>Q</a:t>
            </a:r>
            <a:r>
              <a:rPr lang="en-US" altLang="zh-CN" sz="2200" baseline="-14000" dirty="0" err="1">
                <a:solidFill>
                  <a:schemeClr val="tx1"/>
                </a:solidFill>
                <a:latin typeface="+mn-ea"/>
              </a:rPr>
              <a:t>n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op</a:t>
            </a:r>
            <a:r>
              <a:rPr lang="en-US" altLang="zh-CN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·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D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zh-CN" sz="2200" dirty="0">
              <a:solidFill>
                <a:schemeClr val="accent2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411760" y="4149080"/>
            <a:ext cx="3581479" cy="928168"/>
            <a:chOff x="2790721" y="4895864"/>
            <a:chExt cx="3581479" cy="928168"/>
          </a:xfrm>
        </p:grpSpPr>
        <p:sp>
          <p:nvSpPr>
            <p:cNvPr id="56" name="矩形 55"/>
            <p:cNvSpPr/>
            <p:nvPr/>
          </p:nvSpPr>
          <p:spPr bwMode="auto">
            <a:xfrm>
              <a:off x="3920509" y="4895864"/>
              <a:ext cx="1299562" cy="831692"/>
            </a:xfrm>
            <a:prstGeom prst="rect">
              <a:avLst/>
            </a:prstGeom>
            <a:solidFill>
              <a:srgbClr val="CCFFFF">
                <a:alpha val="7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Text Box 399"/>
            <p:cNvSpPr txBox="1">
              <a:spLocks noChangeArrowheads="1"/>
            </p:cNvSpPr>
            <p:nvPr/>
          </p:nvSpPr>
          <p:spPr bwMode="auto">
            <a:xfrm>
              <a:off x="2790721" y="4895864"/>
              <a:ext cx="917183" cy="92816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0800" tIns="10800" rIns="18000" bIns="1080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rgbClr val="FF3399"/>
                  </a:solidFill>
                </a:rPr>
                <a:t>op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</a:t>
              </a: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   </a:t>
              </a:r>
              <a:r>
                <a:rPr lang="en-US" altLang="zh-CN" sz="12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4000" dirty="0">
                  <a:solidFill>
                    <a:schemeClr val="tx1"/>
                  </a:solidFill>
                </a:rPr>
                <a:t>n-1</a:t>
              </a:r>
              <a:endParaRPr lang="en-US" altLang="zh-CN" sz="18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4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800" b="0" dirty="0">
                  <a:solidFill>
                    <a:schemeClr val="tx1"/>
                  </a:solidFill>
                </a:rPr>
                <a:t>…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4000" dirty="0">
                  <a:solidFill>
                    <a:schemeClr val="tx1"/>
                  </a:solidFill>
                </a:rPr>
                <a:t>0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>
              <a:off x="3637484" y="5373216"/>
              <a:ext cx="28644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3637484" y="5630768"/>
              <a:ext cx="28644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5221659" y="5373216"/>
              <a:ext cx="28644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1" name="直接连接符 60"/>
            <p:cNvCxnSpPr/>
            <p:nvPr/>
          </p:nvCxnSpPr>
          <p:spPr bwMode="auto">
            <a:xfrm>
              <a:off x="5221659" y="5630768"/>
              <a:ext cx="28644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直接连接符 61"/>
            <p:cNvCxnSpPr/>
            <p:nvPr/>
          </p:nvCxnSpPr>
          <p:spPr bwMode="auto">
            <a:xfrm>
              <a:off x="3635896" y="5062324"/>
              <a:ext cx="284612" cy="0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4" name="Text Box 399"/>
            <p:cNvSpPr txBox="1">
              <a:spLocks noChangeArrowheads="1"/>
            </p:cNvSpPr>
            <p:nvPr/>
          </p:nvSpPr>
          <p:spPr bwMode="auto">
            <a:xfrm>
              <a:off x="5508675" y="4959936"/>
              <a:ext cx="863525" cy="8640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000" tIns="10800" rIns="18000" bIns="1080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 err="1">
                  <a:solidFill>
                    <a:schemeClr val="tx1"/>
                  </a:solidFill>
                </a:rPr>
                <a:t>n+k</a:t>
              </a:r>
              <a:r>
                <a:rPr lang="en-US" altLang="zh-CN" sz="1800" b="0" dirty="0">
                  <a:solidFill>
                    <a:schemeClr val="tx1"/>
                  </a:solidFill>
                </a:rPr>
                <a:t>…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 err="1">
                  <a:solidFill>
                    <a:schemeClr val="tx1"/>
                  </a:solidFill>
                </a:rPr>
                <a:t>n</a:t>
              </a:r>
              <a:r>
                <a:rPr lang="en-US" altLang="zh-CN" sz="1800" dirty="0">
                  <a:solidFill>
                    <a:schemeClr val="tx1"/>
                  </a:solidFill>
                </a:rPr>
                <a:t> 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>
                  <a:solidFill>
                    <a:schemeClr val="tx1"/>
                  </a:solidFill>
                </a:rPr>
                <a:t>n-1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800" b="0" dirty="0">
                  <a:solidFill>
                    <a:schemeClr val="tx1"/>
                  </a:solidFill>
                </a:rPr>
                <a:t>…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4000" dirty="0">
                  <a:solidFill>
                    <a:schemeClr val="tx1"/>
                  </a:solidFill>
                </a:rPr>
                <a:t>0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>
              <a:off x="5220072" y="5108044"/>
              <a:ext cx="28644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6" name="组合 65"/>
          <p:cNvGrpSpPr/>
          <p:nvPr/>
        </p:nvGrpSpPr>
        <p:grpSpPr>
          <a:xfrm>
            <a:off x="3541547" y="4240104"/>
            <a:ext cx="1301151" cy="648072"/>
            <a:chOff x="3920508" y="4986888"/>
            <a:chExt cx="1301151" cy="648072"/>
          </a:xfrm>
        </p:grpSpPr>
        <p:cxnSp>
          <p:nvCxnSpPr>
            <p:cNvPr id="67" name="直接连接符 66"/>
            <p:cNvCxnSpPr/>
            <p:nvPr/>
          </p:nvCxnSpPr>
          <p:spPr bwMode="auto">
            <a:xfrm>
              <a:off x="3920508" y="5634960"/>
              <a:ext cx="1301151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3920509" y="5373216"/>
              <a:ext cx="130115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 Box 399"/>
            <p:cNvSpPr txBox="1">
              <a:spLocks noChangeArrowheads="1"/>
            </p:cNvSpPr>
            <p:nvPr/>
          </p:nvSpPr>
          <p:spPr bwMode="auto">
            <a:xfrm>
              <a:off x="4644008" y="4986888"/>
              <a:ext cx="216021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&amp;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 bwMode="auto">
            <a:xfrm>
              <a:off x="4860032" y="5108044"/>
              <a:ext cx="361627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37"/>
            <p:cNvCxnSpPr/>
            <p:nvPr/>
          </p:nvCxnSpPr>
          <p:spPr bwMode="auto">
            <a:xfrm>
              <a:off x="3920508" y="5062324"/>
              <a:ext cx="7235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83"/>
            <p:cNvCxnSpPr/>
            <p:nvPr/>
          </p:nvCxnSpPr>
          <p:spPr bwMode="auto">
            <a:xfrm flipV="1">
              <a:off x="4271915" y="5196790"/>
              <a:ext cx="372093" cy="176426"/>
            </a:xfrm>
            <a:prstGeom prst="bentConnector3">
              <a:avLst>
                <a:gd name="adj1" fmla="val 851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</p:grpSp>
      <p:sp>
        <p:nvSpPr>
          <p:cNvPr id="76" name="Text Box 200"/>
          <p:cNvSpPr txBox="1">
            <a:spLocks noChangeArrowheads="1"/>
          </p:cNvSpPr>
          <p:nvPr/>
        </p:nvSpPr>
        <p:spPr bwMode="auto">
          <a:xfrm>
            <a:off x="1691680" y="5157187"/>
            <a:ext cx="633670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若电路仅含符号扩展功能，引脚、内部逻辑如何组织？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7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28</a:t>
            </a:fld>
            <a:endParaRPr lang="en-US" altLang="zh-CN"/>
          </a:p>
        </p:txBody>
      </p:sp>
      <p:sp>
        <p:nvSpPr>
          <p:cNvPr id="4" name="Text Box 77"/>
          <p:cNvSpPr txBox="1">
            <a:spLocks noChangeArrowheads="1"/>
          </p:cNvSpPr>
          <p:nvPr/>
        </p:nvSpPr>
        <p:spPr bwMode="auto">
          <a:xfrm>
            <a:off x="179389" y="332656"/>
            <a:ext cx="2736428" cy="27143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dirty="0">
                <a:solidFill>
                  <a:srgbClr val="FF3399"/>
                </a:solidFill>
              </a:rPr>
              <a:t>3</a:t>
            </a:r>
            <a:r>
              <a:rPr lang="zh-CN" altLang="en-US" dirty="0">
                <a:solidFill>
                  <a:srgbClr val="FF3399"/>
                </a:solidFill>
              </a:rPr>
              <a:t>、实数的表示</a:t>
            </a:r>
            <a:endParaRPr lang="en-US" altLang="zh-CN" dirty="0">
              <a:solidFill>
                <a:srgbClr val="FF3399"/>
              </a:solidFill>
            </a:endParaRPr>
          </a:p>
          <a:p>
            <a:pPr marL="1075055" indent="-1075055"/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dirty="0">
                <a:solidFill>
                  <a:srgbClr val="FF3399"/>
                </a:solidFill>
              </a:rPr>
              <a:t>浮点表示方法</a:t>
            </a:r>
          </a:p>
          <a:p>
            <a:pPr marL="1075055" indent="-1075055">
              <a:spcBef>
                <a:spcPts val="200"/>
              </a:spcBef>
            </a:pP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*基本思想：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表示格式：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39" name="Text Box 190"/>
          <p:cNvSpPr txBox="1">
            <a:spLocks noChangeArrowheads="1"/>
          </p:cNvSpPr>
          <p:nvPr/>
        </p:nvSpPr>
        <p:spPr bwMode="auto">
          <a:xfrm>
            <a:off x="179388" y="3978080"/>
            <a:ext cx="8857105" cy="15529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162050" indent="-1162050"/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1—</a:t>
            </a:r>
            <a:r>
              <a:rPr lang="zh-CN" altLang="en-US" sz="2000" dirty="0">
                <a:solidFill>
                  <a:schemeClr val="tx1"/>
                </a:solidFill>
              </a:rPr>
              <a:t>浮点数表示格式中，阶在机器数高位，若尾数为</a:t>
            </a:r>
            <a:r>
              <a:rPr lang="en-US" altLang="zh-CN" sz="2000" dirty="0">
                <a:solidFill>
                  <a:schemeClr val="tx1"/>
                </a:solidFill>
              </a:rPr>
              <a:t>9</a:t>
            </a:r>
            <a:r>
              <a:rPr lang="zh-CN" altLang="en-US" sz="2000" dirty="0">
                <a:solidFill>
                  <a:schemeClr val="tx1"/>
                </a:solidFill>
              </a:rPr>
              <a:t>位、阶码为</a:t>
            </a:r>
            <a:r>
              <a:rPr lang="en-US" altLang="zh-CN" sz="2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位，尾数及阶均用补码表示，写出</a:t>
            </a:r>
            <a:r>
              <a:rPr lang="en-US" altLang="zh-CN" sz="2000" dirty="0">
                <a:solidFill>
                  <a:schemeClr val="tx1"/>
                </a:solidFill>
              </a:rPr>
              <a:t>-54</a:t>
            </a:r>
            <a:r>
              <a:rPr lang="zh-CN" altLang="en-US" sz="2000" dirty="0">
                <a:solidFill>
                  <a:schemeClr val="tx1"/>
                </a:solidFill>
              </a:rPr>
              <a:t>的浮点机器数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en-US" altLang="zh-CN" sz="2000" dirty="0">
                <a:solidFill>
                  <a:schemeClr val="tx1"/>
                </a:solidFill>
              </a:rPr>
              <a:t>-54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(-110110)</a:t>
            </a:r>
            <a:r>
              <a:rPr lang="en-US" altLang="zh-CN" sz="2000" baseline="-18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-0.11011</a:t>
            </a:r>
            <a:r>
              <a:rPr lang="en-US" altLang="zh-CN" sz="2000" dirty="0">
                <a:solidFill>
                  <a:srgbClr val="990099"/>
                </a:solidFill>
              </a:rPr>
              <a:t>000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+</a:t>
            </a:r>
            <a:r>
              <a:rPr lang="en-US" altLang="zh-CN" sz="2000" baseline="30000" dirty="0">
                <a:solidFill>
                  <a:srgbClr val="990099"/>
                </a:solidFill>
              </a:rPr>
              <a:t>0</a:t>
            </a:r>
            <a:r>
              <a:rPr lang="en-US" altLang="zh-CN" sz="2000" baseline="30000" dirty="0">
                <a:solidFill>
                  <a:schemeClr val="tx1"/>
                </a:solidFill>
              </a:rPr>
              <a:t>110</a:t>
            </a:r>
            <a:r>
              <a:rPr lang="zh-CN" altLang="en-US" sz="2000" dirty="0">
                <a:solidFill>
                  <a:schemeClr val="tx1"/>
                </a:solidFill>
              </a:rPr>
              <a:t>， </a:t>
            </a:r>
            <a:r>
              <a:rPr lang="zh-CN" altLang="en-US" sz="1600" dirty="0">
                <a:solidFill>
                  <a:schemeClr val="tx1"/>
                </a:solidFill>
              </a:rPr>
              <a:t>←位数不足时，高位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低位补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  浮点机器数为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3131888" y="5202216"/>
            <a:ext cx="2088184" cy="288000"/>
            <a:chOff x="3419872" y="1755652"/>
            <a:chExt cx="2088184" cy="324000"/>
          </a:xfrm>
        </p:grpSpPr>
        <p:sp>
          <p:nvSpPr>
            <p:cNvPr id="42" name="矩形 41"/>
            <p:cNvSpPr/>
            <p:nvPr/>
          </p:nvSpPr>
          <p:spPr bwMode="auto">
            <a:xfrm>
              <a:off x="4212056" y="1755652"/>
              <a:ext cx="1296000" cy="324000"/>
            </a:xfrm>
            <a:prstGeom prst="rect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 b="1" i="0" u="none" strike="noStrike" cap="none" normalizeH="0" baseline="0" dirty="0">
                  <a:ln>
                    <a:noFill/>
                  </a:ln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kumimoji="1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00101</a:t>
              </a:r>
              <a:r>
                <a:rPr kumimoji="1" lang="en-US" altLang="zh-CN" sz="2000" b="1" i="0" u="none" strike="noStrike" cap="none" normalizeH="0" baseline="0" dirty="0">
                  <a:ln>
                    <a:noFill/>
                  </a:ln>
                  <a:solidFill>
                    <a:srgbClr val="9900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000</a:t>
              </a:r>
              <a:endPara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99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3419872" y="1755652"/>
              <a:ext cx="792000" cy="32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" tIns="10800" rIns="1800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 b="1" i="0" u="none" strike="noStrike" cap="none" normalizeH="0" baseline="0" dirty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kumimoji="1" lang="en-US" altLang="zh-CN" sz="2000" b="1" i="0" u="none" strike="noStrike" cap="none" normalizeH="0" baseline="0" dirty="0">
                  <a:ln>
                    <a:noFill/>
                  </a:ln>
                  <a:solidFill>
                    <a:srgbClr val="990099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kumimoji="1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110</a:t>
              </a:r>
              <a:endParaRPr kumimoji="1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44" name="Text Box 77">
            <a:extLst>
              <a:ext uri="{FF2B5EF4-FFF2-40B4-BE49-F238E27FC236}">
                <a16:creationId xmlns:a16="http://schemas.microsoft.com/office/drawing/2014/main" id="{E0C89E54-2CB9-4388-938B-631D79892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338" y="1666800"/>
            <a:ext cx="8422957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sz="2200" dirty="0">
                <a:solidFill>
                  <a:schemeClr val="tx1"/>
                </a:solidFill>
              </a:rPr>
              <a:t>实数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×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baseline="30000" dirty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尾数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M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为纯小数、阶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E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为整数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(→</a:t>
            </a:r>
            <a:r>
              <a:rPr lang="zh-CN" altLang="en-US" sz="1800" dirty="0">
                <a:solidFill>
                  <a:schemeClr val="tx1"/>
                </a:solidFill>
              </a:rPr>
              <a:t>小数点可隐含表示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       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即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±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0.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-p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、基为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±e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q-1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…e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、基为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E</a:t>
            </a:r>
          </a:p>
          <a:p>
            <a:pPr marL="1075055" indent="-1075055">
              <a:spcBef>
                <a:spcPts val="300"/>
              </a:spcBef>
            </a:pPr>
            <a:r>
              <a:rPr lang="en-US" altLang="zh-CN" sz="2200" spc="-70" dirty="0">
                <a:solidFill>
                  <a:schemeClr val="tx1"/>
                </a:solidFill>
                <a:latin typeface="+mn-ea"/>
              </a:rPr>
              <a:t>         R</a:t>
            </a:r>
            <a:r>
              <a:rPr lang="en-US" altLang="zh-CN" sz="2200" spc="-70" baseline="-18000" dirty="0">
                <a:solidFill>
                  <a:schemeClr val="tx1"/>
                </a:solidFill>
                <a:latin typeface="+mn-ea"/>
              </a:rPr>
              <a:t>E</a:t>
            </a:r>
            <a:r>
              <a:rPr lang="zh-CN" altLang="en-US" sz="2200" spc="-70" dirty="0">
                <a:solidFill>
                  <a:schemeClr val="tx1"/>
                </a:solidFill>
                <a:latin typeface="+mn-ea"/>
              </a:rPr>
              <a:t>及</a:t>
            </a:r>
            <a:r>
              <a:rPr lang="en-US" altLang="zh-CN" sz="2200" spc="-70" dirty="0">
                <a:solidFill>
                  <a:schemeClr val="tx1"/>
                </a:solidFill>
                <a:latin typeface="+mn-ea"/>
              </a:rPr>
              <a:t>R</a:t>
            </a:r>
            <a:r>
              <a:rPr lang="en-US" altLang="zh-CN" sz="2200" spc="-70" baseline="-18000" dirty="0">
                <a:solidFill>
                  <a:schemeClr val="tx1"/>
                </a:solidFill>
                <a:latin typeface="+mn-ea"/>
              </a:rPr>
              <a:t>M</a:t>
            </a:r>
            <a:r>
              <a:rPr lang="zh-CN" altLang="en-US" sz="2200" spc="-70" dirty="0">
                <a:solidFill>
                  <a:schemeClr val="tx1"/>
                </a:solidFill>
                <a:latin typeface="+mn-ea"/>
              </a:rPr>
              <a:t>隐式表示</a:t>
            </a:r>
            <a:r>
              <a:rPr lang="en-US" altLang="zh-CN" sz="1800" spc="-7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spc="-70" dirty="0">
                <a:solidFill>
                  <a:schemeClr val="tx1"/>
                </a:solidFill>
                <a:latin typeface="+mn-ea"/>
              </a:rPr>
              <a:t>目前均</a:t>
            </a:r>
            <a:r>
              <a:rPr lang="en-US" altLang="zh-CN" sz="1800" spc="-70" dirty="0">
                <a:solidFill>
                  <a:schemeClr val="tx1"/>
                </a:solidFill>
                <a:latin typeface="+mn-ea"/>
              </a:rPr>
              <a:t>R</a:t>
            </a:r>
            <a:r>
              <a:rPr lang="en-US" altLang="zh-CN" sz="1800" spc="-70" baseline="-18000" dirty="0">
                <a:solidFill>
                  <a:schemeClr val="tx1"/>
                </a:solidFill>
                <a:latin typeface="+mn-ea"/>
              </a:rPr>
              <a:t>E</a:t>
            </a:r>
            <a:r>
              <a:rPr lang="zh-CN" altLang="en-US" sz="1800" spc="-7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spc="-7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1800" spc="-7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800" spc="-70" dirty="0">
                <a:solidFill>
                  <a:schemeClr val="tx1"/>
                </a:solidFill>
                <a:latin typeface="+mn-ea"/>
              </a:rPr>
              <a:t>R</a:t>
            </a:r>
            <a:r>
              <a:rPr lang="en-US" altLang="zh-CN" sz="1800" spc="-70" baseline="-18000" dirty="0">
                <a:solidFill>
                  <a:schemeClr val="tx1"/>
                </a:solidFill>
                <a:latin typeface="+mn-ea"/>
              </a:rPr>
              <a:t>M</a:t>
            </a:r>
            <a:r>
              <a:rPr lang="zh-CN" altLang="en-US" sz="1800" spc="-7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spc="-70" dirty="0">
                <a:solidFill>
                  <a:schemeClr val="tx1"/>
                </a:solidFill>
                <a:latin typeface="+mn-ea"/>
              </a:rPr>
              <a:t>2)</a:t>
            </a:r>
            <a:r>
              <a:rPr lang="zh-CN" altLang="en-US" sz="2200" spc="-70" dirty="0">
                <a:solidFill>
                  <a:schemeClr val="tx1"/>
                </a:solidFill>
                <a:latin typeface="+mn-ea"/>
              </a:rPr>
              <a:t>，其余显式表示</a:t>
            </a:r>
            <a:endParaRPr lang="en-US" altLang="zh-CN" sz="2200" spc="-70" dirty="0">
              <a:solidFill>
                <a:schemeClr val="accent2"/>
              </a:solidFill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4FE392F-24E6-4C9C-A58B-764B7B284D8D}"/>
              </a:ext>
            </a:extLst>
          </p:cNvPr>
          <p:cNvGrpSpPr/>
          <p:nvPr/>
        </p:nvGrpSpPr>
        <p:grpSpPr>
          <a:xfrm>
            <a:off x="1980001" y="3034800"/>
            <a:ext cx="5832483" cy="863600"/>
            <a:chOff x="1980001" y="3034800"/>
            <a:chExt cx="5832483" cy="863600"/>
          </a:xfrm>
        </p:grpSpPr>
        <p:sp>
          <p:nvSpPr>
            <p:cNvPr id="6" name="Line 81"/>
            <p:cNvSpPr>
              <a:spLocks noChangeShapeType="1"/>
            </p:cNvSpPr>
            <p:nvPr/>
          </p:nvSpPr>
          <p:spPr bwMode="auto">
            <a:xfrm>
              <a:off x="2051439" y="30348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" name="Text Box 82"/>
            <p:cNvSpPr txBox="1">
              <a:spLocks noChangeArrowheads="1"/>
            </p:cNvSpPr>
            <p:nvPr/>
          </p:nvSpPr>
          <p:spPr bwMode="auto">
            <a:xfrm>
              <a:off x="2124464" y="3034800"/>
              <a:ext cx="17938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9" name="Text Box 84"/>
            <p:cNvSpPr txBox="1">
              <a:spLocks noChangeArrowheads="1"/>
            </p:cNvSpPr>
            <p:nvPr/>
          </p:nvSpPr>
          <p:spPr bwMode="auto">
            <a:xfrm>
              <a:off x="2051439" y="3250700"/>
              <a:ext cx="1152527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S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E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   E</a:t>
              </a:r>
            </a:p>
          </p:txBody>
        </p:sp>
        <p:sp>
          <p:nvSpPr>
            <p:cNvPr id="10" name="Text Box 85"/>
            <p:cNvSpPr txBox="1">
              <a:spLocks noChangeArrowheads="1"/>
            </p:cNvSpPr>
            <p:nvPr/>
          </p:nvSpPr>
          <p:spPr bwMode="auto">
            <a:xfrm>
              <a:off x="3203965" y="3250700"/>
              <a:ext cx="1439864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S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M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     M</a:t>
              </a:r>
            </a:p>
          </p:txBody>
        </p:sp>
        <p:sp>
          <p:nvSpPr>
            <p:cNvPr id="11" name="Line 86"/>
            <p:cNvSpPr>
              <a:spLocks noChangeShapeType="1"/>
            </p:cNvSpPr>
            <p:nvPr/>
          </p:nvSpPr>
          <p:spPr bwMode="auto">
            <a:xfrm>
              <a:off x="2375289" y="3250700"/>
              <a:ext cx="0" cy="2873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" name="Line 87"/>
            <p:cNvSpPr>
              <a:spLocks noChangeShapeType="1"/>
            </p:cNvSpPr>
            <p:nvPr/>
          </p:nvSpPr>
          <p:spPr bwMode="auto">
            <a:xfrm>
              <a:off x="3527816" y="3250700"/>
              <a:ext cx="0" cy="2873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" name="Text Box 88"/>
            <p:cNvSpPr txBox="1">
              <a:spLocks noChangeArrowheads="1"/>
            </p:cNvSpPr>
            <p:nvPr/>
          </p:nvSpPr>
          <p:spPr bwMode="auto">
            <a:xfrm>
              <a:off x="1980001" y="3682500"/>
              <a:ext cx="2592391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rIns="18000" anchor="ctr" anchorCtr="0"/>
            <a:lstStyle/>
            <a:p>
              <a:pPr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阶符 </a:t>
              </a:r>
              <a:r>
                <a:rPr lang="zh-CN" altLang="en-US" sz="16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阶值  数符  尾数值</a:t>
              </a:r>
            </a:p>
          </p:txBody>
        </p:sp>
        <p:sp>
          <p:nvSpPr>
            <p:cNvPr id="14" name="Line 89"/>
            <p:cNvSpPr>
              <a:spLocks noChangeShapeType="1"/>
            </p:cNvSpPr>
            <p:nvPr/>
          </p:nvSpPr>
          <p:spPr bwMode="auto">
            <a:xfrm flipV="1">
              <a:off x="2195901" y="3539625"/>
              <a:ext cx="0" cy="1254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" name="Line 90"/>
            <p:cNvSpPr>
              <a:spLocks noChangeShapeType="1"/>
            </p:cNvSpPr>
            <p:nvPr/>
          </p:nvSpPr>
          <p:spPr bwMode="auto">
            <a:xfrm flipV="1">
              <a:off x="3383353" y="3539625"/>
              <a:ext cx="0" cy="1254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" name="AutoShape 91"/>
            <p:cNvSpPr/>
            <p:nvPr/>
          </p:nvSpPr>
          <p:spPr bwMode="auto">
            <a:xfrm rot="16200000">
              <a:off x="2735652" y="3217362"/>
              <a:ext cx="90488" cy="792164"/>
            </a:xfrm>
            <a:prstGeom prst="leftBrace">
              <a:avLst>
                <a:gd name="adj1" fmla="val 35784"/>
                <a:gd name="adj2" fmla="val 49783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7" name="AutoShape 92"/>
            <p:cNvSpPr/>
            <p:nvPr/>
          </p:nvSpPr>
          <p:spPr bwMode="auto">
            <a:xfrm rot="16200000">
              <a:off x="4031054" y="3071312"/>
              <a:ext cx="90488" cy="1079501"/>
            </a:xfrm>
            <a:prstGeom prst="leftBrace">
              <a:avLst>
                <a:gd name="adj1" fmla="val 63139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8" name="Line 93"/>
            <p:cNvSpPr>
              <a:spLocks noChangeShapeType="1"/>
            </p:cNvSpPr>
            <p:nvPr/>
          </p:nvSpPr>
          <p:spPr bwMode="auto">
            <a:xfrm>
              <a:off x="2375289" y="30348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9" name="Line 94"/>
            <p:cNvSpPr>
              <a:spLocks noChangeShapeType="1"/>
            </p:cNvSpPr>
            <p:nvPr/>
          </p:nvSpPr>
          <p:spPr bwMode="auto">
            <a:xfrm>
              <a:off x="3203965" y="30348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0" name="Line 95"/>
            <p:cNvSpPr>
              <a:spLocks noChangeShapeType="1"/>
            </p:cNvSpPr>
            <p:nvPr/>
          </p:nvSpPr>
          <p:spPr bwMode="auto">
            <a:xfrm>
              <a:off x="3527816" y="30348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21" name="Line 96"/>
            <p:cNvSpPr>
              <a:spLocks noChangeShapeType="1"/>
            </p:cNvSpPr>
            <p:nvPr/>
          </p:nvSpPr>
          <p:spPr bwMode="auto">
            <a:xfrm>
              <a:off x="4643830" y="30348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3" name="Text Box 98"/>
            <p:cNvSpPr txBox="1">
              <a:spLocks noChangeArrowheads="1"/>
            </p:cNvSpPr>
            <p:nvPr/>
          </p:nvSpPr>
          <p:spPr bwMode="auto">
            <a:xfrm>
              <a:off x="3275403" y="3034800"/>
              <a:ext cx="17938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26" name="Text Box 101"/>
            <p:cNvSpPr txBox="1">
              <a:spLocks noChangeArrowheads="1"/>
            </p:cNvSpPr>
            <p:nvPr/>
          </p:nvSpPr>
          <p:spPr bwMode="auto">
            <a:xfrm>
              <a:off x="2700727" y="3034800"/>
              <a:ext cx="179388" cy="1444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  <a:latin typeface="+mn-ea"/>
                  <a:ea typeface="+mn-ea"/>
                </a:rPr>
                <a:t>q</a:t>
              </a:r>
            </a:p>
          </p:txBody>
        </p:sp>
        <p:sp>
          <p:nvSpPr>
            <p:cNvPr id="27" name="Line 102"/>
            <p:cNvSpPr>
              <a:spLocks noChangeShapeType="1"/>
            </p:cNvSpPr>
            <p:nvPr/>
          </p:nvSpPr>
          <p:spPr bwMode="auto">
            <a:xfrm flipH="1">
              <a:off x="2375289" y="3142750"/>
              <a:ext cx="323850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" name="Line 103"/>
            <p:cNvSpPr>
              <a:spLocks noChangeShapeType="1"/>
            </p:cNvSpPr>
            <p:nvPr/>
          </p:nvSpPr>
          <p:spPr bwMode="auto">
            <a:xfrm>
              <a:off x="2880115" y="3142750"/>
              <a:ext cx="323850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" name="Text Box 104"/>
            <p:cNvSpPr txBox="1">
              <a:spLocks noChangeArrowheads="1"/>
            </p:cNvSpPr>
            <p:nvPr/>
          </p:nvSpPr>
          <p:spPr bwMode="auto">
            <a:xfrm>
              <a:off x="3959616" y="3034800"/>
              <a:ext cx="179388" cy="1444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  <a:latin typeface="+mn-ea"/>
                  <a:ea typeface="+mn-ea"/>
                </a:rPr>
                <a:t>p</a:t>
              </a:r>
            </a:p>
          </p:txBody>
        </p:sp>
        <p:sp>
          <p:nvSpPr>
            <p:cNvPr id="30" name="Line 105"/>
            <p:cNvSpPr>
              <a:spLocks noChangeShapeType="1"/>
            </p:cNvSpPr>
            <p:nvPr/>
          </p:nvSpPr>
          <p:spPr bwMode="auto">
            <a:xfrm flipH="1">
              <a:off x="3527816" y="3142750"/>
              <a:ext cx="431801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" name="Line 106"/>
            <p:cNvSpPr>
              <a:spLocks noChangeShapeType="1"/>
            </p:cNvSpPr>
            <p:nvPr/>
          </p:nvSpPr>
          <p:spPr bwMode="auto">
            <a:xfrm>
              <a:off x="4140591" y="3142750"/>
              <a:ext cx="504826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" name="Text Box 107"/>
            <p:cNvSpPr txBox="1">
              <a:spLocks noChangeArrowheads="1"/>
            </p:cNvSpPr>
            <p:nvPr/>
          </p:nvSpPr>
          <p:spPr bwMode="auto">
            <a:xfrm>
              <a:off x="4788292" y="3287213"/>
              <a:ext cx="252413" cy="25241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或</a:t>
              </a:r>
            </a:p>
          </p:txBody>
        </p:sp>
        <p:sp>
          <p:nvSpPr>
            <p:cNvPr id="33" name="Text Box 108"/>
            <p:cNvSpPr txBox="1">
              <a:spLocks noChangeArrowheads="1"/>
            </p:cNvSpPr>
            <p:nvPr/>
          </p:nvSpPr>
          <p:spPr bwMode="auto">
            <a:xfrm>
              <a:off x="5543943" y="3250700"/>
              <a:ext cx="1152527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S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E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   E</a:t>
              </a:r>
            </a:p>
          </p:txBody>
        </p:sp>
        <p:sp>
          <p:nvSpPr>
            <p:cNvPr id="34" name="Text Box 109"/>
            <p:cNvSpPr txBox="1">
              <a:spLocks noChangeArrowheads="1"/>
            </p:cNvSpPr>
            <p:nvPr/>
          </p:nvSpPr>
          <p:spPr bwMode="auto">
            <a:xfrm>
              <a:off x="6696470" y="3250700"/>
              <a:ext cx="1116014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M</a:t>
              </a:r>
            </a:p>
          </p:txBody>
        </p:sp>
        <p:sp>
          <p:nvSpPr>
            <p:cNvPr id="36" name="Text Box 111"/>
            <p:cNvSpPr txBox="1">
              <a:spLocks noChangeArrowheads="1"/>
            </p:cNvSpPr>
            <p:nvPr/>
          </p:nvSpPr>
          <p:spPr bwMode="auto">
            <a:xfrm>
              <a:off x="5220093" y="3250700"/>
              <a:ext cx="323850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S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M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45" name="Line 87">
              <a:extLst>
                <a:ext uri="{FF2B5EF4-FFF2-40B4-BE49-F238E27FC236}">
                  <a16:creationId xmlns:a16="http://schemas.microsoft.com/office/drawing/2014/main" id="{9B3E91F5-F957-4072-B308-477E56D6D0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8000" y="3250800"/>
              <a:ext cx="0" cy="2873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6" name="Text Box 77">
            <a:extLst>
              <a:ext uri="{FF2B5EF4-FFF2-40B4-BE49-F238E27FC236}">
                <a16:creationId xmlns:a16="http://schemas.microsoft.com/office/drawing/2014/main" id="{3E9161E6-33D9-4ACD-A30A-867EE6AB2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805264"/>
            <a:ext cx="378022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表数范围及精度：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下页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C5FC-8604-4AEA-81D5-13B30C767DA8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2—</a:t>
            </a:r>
            <a:r>
              <a:rPr lang="zh-CN" altLang="en-US" sz="2000" dirty="0">
                <a:solidFill>
                  <a:schemeClr val="tx1"/>
                </a:solidFill>
              </a:rPr>
              <a:t>若浮点数用</a:t>
            </a:r>
            <a:r>
              <a:rPr lang="en-US" altLang="zh-CN" sz="2000" dirty="0">
                <a:solidFill>
                  <a:schemeClr val="tx1"/>
                </a:solidFill>
              </a:rPr>
              <a:t>8</a:t>
            </a:r>
            <a:r>
              <a:rPr lang="zh-CN" altLang="en-US" sz="2000" dirty="0">
                <a:solidFill>
                  <a:schemeClr val="tx1"/>
                </a:solidFill>
              </a:rPr>
              <a:t>位尾数、</a:t>
            </a:r>
            <a:r>
              <a:rPr lang="en-US" altLang="zh-CN" sz="2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位阶表示，填充下表空白处</a:t>
            </a:r>
          </a:p>
        </p:txBody>
      </p:sp>
      <p:graphicFrame>
        <p:nvGraphicFramePr>
          <p:cNvPr id="42" name="Group 3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9141"/>
              </p:ext>
            </p:extLst>
          </p:nvPr>
        </p:nvGraphicFramePr>
        <p:xfrm>
          <a:off x="1403648" y="819568"/>
          <a:ext cx="7272572" cy="1529312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实数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浮点数的真值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阶码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尾数码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原码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-0.0010111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-0.10111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×2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1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1011010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移码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补码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-10101.11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-0.1010111×2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37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800" b="1" i="0" u="none" strike="noStrike" kern="1200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1101000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Text Box 223"/>
          <p:cNvSpPr txBox="1">
            <a:spLocks noChangeArrowheads="1"/>
          </p:cNvSpPr>
          <p:nvPr/>
        </p:nvSpPr>
        <p:spPr bwMode="auto">
          <a:xfrm>
            <a:off x="6516216" y="1124744"/>
            <a:ext cx="2088000" cy="900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64800" tIns="64800" rIns="18000" bIns="10800" anchor="t" anchorCtr="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latin typeface="+mn-ea"/>
                <a:ea typeface="+mn-ea"/>
              </a:rPr>
              <a:t>0010  </a:t>
            </a:r>
            <a:r>
              <a:rPr lang="en-US" altLang="zh-CN" sz="1800" baseline="-18000" dirty="0">
                <a:latin typeface="+mn-ea"/>
                <a:ea typeface="+mn-ea"/>
              </a:rPr>
              <a:t> 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latin typeface="+mn-ea"/>
                <a:ea typeface="+mn-ea"/>
              </a:rPr>
              <a:t>1011100</a:t>
            </a:r>
          </a:p>
          <a:p>
            <a:pPr>
              <a:lnSpc>
                <a:spcPct val="90000"/>
              </a:lnSpc>
            </a:pPr>
            <a:endParaRPr lang="en-US" altLang="zh-CN" sz="1800" dirty="0"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latin typeface="+mn-ea"/>
                <a:ea typeface="+mn-ea"/>
              </a:rPr>
              <a:t>0101  </a:t>
            </a:r>
            <a:r>
              <a:rPr lang="en-US" altLang="zh-CN" sz="1800" baseline="-18000" dirty="0">
                <a:latin typeface="+mn-ea"/>
                <a:ea typeface="+mn-ea"/>
              </a:rPr>
              <a:t> 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latin typeface="+mn-ea"/>
                <a:ea typeface="+mn-ea"/>
              </a:rPr>
              <a:t>0101001</a:t>
            </a:r>
          </a:p>
        </p:txBody>
      </p:sp>
      <p:sp>
        <p:nvSpPr>
          <p:cNvPr id="2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79512" y="2420888"/>
            <a:ext cx="8785225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练习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zh-CN" altLang="en-US" sz="2000" dirty="0">
                <a:solidFill>
                  <a:schemeClr val="tx1"/>
                </a:solidFill>
              </a:rPr>
              <a:t>若浮点数的尾数用</a:t>
            </a:r>
            <a:r>
              <a:rPr lang="en-US" altLang="zh-CN" sz="2000" dirty="0">
                <a:solidFill>
                  <a:schemeClr val="tx1"/>
                </a:solidFill>
              </a:rPr>
              <a:t>7</a:t>
            </a:r>
            <a:r>
              <a:rPr lang="zh-CN" altLang="en-US" sz="2000" dirty="0">
                <a:solidFill>
                  <a:schemeClr val="tx1"/>
                </a:solidFill>
              </a:rPr>
              <a:t>位补码表示，阶用</a:t>
            </a:r>
            <a:r>
              <a:rPr lang="en-US" altLang="zh-CN" sz="2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位移码表示，写出</a:t>
            </a:r>
            <a:r>
              <a:rPr lang="en-US" altLang="zh-CN" sz="2000" dirty="0">
                <a:solidFill>
                  <a:schemeClr val="tx1"/>
                </a:solidFill>
              </a:rPr>
              <a:t>-54</a:t>
            </a:r>
            <a:r>
              <a:rPr lang="zh-CN" altLang="en-US" sz="2000" dirty="0">
                <a:solidFill>
                  <a:schemeClr val="tx1"/>
                </a:solidFill>
              </a:rPr>
              <a:t>的浮点机器数，及浮点机器数</a:t>
            </a:r>
            <a:r>
              <a:rPr lang="en-US" altLang="zh-CN" sz="2000" dirty="0">
                <a:solidFill>
                  <a:schemeClr val="tx1"/>
                </a:solidFill>
              </a:rPr>
              <a:t>645H</a:t>
            </a:r>
            <a:r>
              <a:rPr lang="zh-CN" altLang="en-US" sz="2000" dirty="0">
                <a:solidFill>
                  <a:schemeClr val="tx1"/>
                </a:solidFill>
              </a:rPr>
              <a:t>的真值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179389" y="3212976"/>
            <a:ext cx="7705726" cy="2757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spc="-100" dirty="0">
                <a:solidFill>
                  <a:srgbClr val="C00000"/>
                </a:solidFill>
              </a:rPr>
              <a:t>表数范围与精度：</a:t>
            </a:r>
            <a:r>
              <a:rPr lang="zh-CN" altLang="en-US" sz="2200" spc="-100" dirty="0">
                <a:solidFill>
                  <a:schemeClr val="tx1"/>
                </a:solidFill>
              </a:rPr>
              <a:t>假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sz="2200" spc="-100" baseline="-180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、尾数及阶的数值为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位和</a:t>
            </a:r>
            <a:r>
              <a:rPr lang="en-US" altLang="zh-CN" sz="2200" spc="-100" dirty="0">
                <a:solidFill>
                  <a:schemeClr val="tx1"/>
                </a:solidFill>
                <a:latin typeface="+mn-ea"/>
                <a:ea typeface="+mn-ea"/>
              </a:rPr>
              <a:t>q</a:t>
            </a:r>
            <a:r>
              <a:rPr lang="zh-CN" altLang="en-US" sz="2200" spc="-100" dirty="0">
                <a:solidFill>
                  <a:schemeClr val="tx1"/>
                </a:solidFill>
                <a:latin typeface="+mn-ea"/>
                <a:ea typeface="+mn-ea"/>
              </a:rPr>
              <a:t>位</a:t>
            </a:r>
            <a:endParaRPr lang="en-US" altLang="zh-CN" sz="2200" spc="-1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075055" indent="-1075055"/>
            <a:endParaRPr lang="en-US" altLang="zh-CN" sz="2200" spc="-100" dirty="0">
              <a:solidFill>
                <a:schemeClr val="tx1"/>
              </a:solidFill>
            </a:endParaRPr>
          </a:p>
          <a:p>
            <a:pPr marL="1075055" indent="-1075055"/>
            <a:endParaRPr lang="en-US" altLang="zh-CN" sz="2200" spc="-1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15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表数范围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lnSpc>
                <a:spcPct val="100000"/>
              </a:lnSpc>
            </a:pPr>
            <a:endParaRPr lang="en-US" altLang="zh-CN" sz="2200" spc="-1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6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表数精度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zh-CN" altLang="en-US" sz="2200" spc="-100" dirty="0">
              <a:solidFill>
                <a:srgbClr val="C00000"/>
              </a:solidFill>
            </a:endParaRPr>
          </a:p>
        </p:txBody>
      </p:sp>
      <p:grpSp>
        <p:nvGrpSpPr>
          <p:cNvPr id="14" name="Group 188"/>
          <p:cNvGrpSpPr/>
          <p:nvPr/>
        </p:nvGrpSpPr>
        <p:grpSpPr bwMode="auto">
          <a:xfrm>
            <a:off x="1547813" y="3717032"/>
            <a:ext cx="6913564" cy="503238"/>
            <a:chOff x="975" y="1434"/>
            <a:chExt cx="4355" cy="317"/>
          </a:xfrm>
        </p:grpSpPr>
        <p:sp>
          <p:nvSpPr>
            <p:cNvPr id="15" name="Text Box 128"/>
            <p:cNvSpPr txBox="1">
              <a:spLocks noChangeArrowheads="1"/>
            </p:cNvSpPr>
            <p:nvPr/>
          </p:nvSpPr>
          <p:spPr bwMode="auto">
            <a:xfrm>
              <a:off x="2744" y="1434"/>
              <a:ext cx="816" cy="159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下溢区</a:t>
              </a:r>
            </a:p>
          </p:txBody>
        </p:sp>
        <p:sp>
          <p:nvSpPr>
            <p:cNvPr id="16" name="Text Box 130"/>
            <p:cNvSpPr txBox="1">
              <a:spLocks noChangeArrowheads="1"/>
            </p:cNvSpPr>
            <p:nvPr/>
          </p:nvSpPr>
          <p:spPr bwMode="auto">
            <a:xfrm>
              <a:off x="4604" y="1434"/>
              <a:ext cx="726" cy="317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正上溢区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(+∞)</a:t>
              </a:r>
            </a:p>
          </p:txBody>
        </p:sp>
        <p:sp>
          <p:nvSpPr>
            <p:cNvPr id="18" name="Text Box 164"/>
            <p:cNvSpPr txBox="1">
              <a:spLocks noChangeArrowheads="1"/>
            </p:cNvSpPr>
            <p:nvPr/>
          </p:nvSpPr>
          <p:spPr bwMode="auto">
            <a:xfrm>
              <a:off x="975" y="1434"/>
              <a:ext cx="726" cy="317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负上溢区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(-∞)</a:t>
              </a:r>
            </a:p>
          </p:txBody>
        </p:sp>
      </p:grpSp>
      <p:sp>
        <p:nvSpPr>
          <p:cNvPr id="49" name="Text Box 19"/>
          <p:cNvSpPr txBox="1">
            <a:spLocks noChangeArrowheads="1"/>
          </p:cNvSpPr>
          <p:nvPr/>
        </p:nvSpPr>
        <p:spPr bwMode="auto">
          <a:xfrm>
            <a:off x="2195736" y="4653136"/>
            <a:ext cx="6552853" cy="1296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正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max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-N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负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min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1-2</a:t>
            </a:r>
            <a:r>
              <a:rPr lang="en-US" altLang="zh-CN" sz="2200" baseline="30000" dirty="0">
                <a:solidFill>
                  <a:srgbClr val="990099"/>
                </a:solidFill>
                <a:latin typeface="+mn-ea"/>
                <a:ea typeface="+mn-ea"/>
              </a:rPr>
              <a:t>-p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)×2</a:t>
            </a:r>
            <a:r>
              <a:rPr lang="en-US" altLang="zh-CN" sz="2200" baseline="30000" dirty="0">
                <a:solidFill>
                  <a:srgbClr val="FF3399"/>
                </a:solidFill>
                <a:latin typeface="+mn-ea"/>
                <a:ea typeface="+mn-ea"/>
              </a:rPr>
              <a:t>+(2</a:t>
            </a:r>
            <a:r>
              <a:rPr lang="en-US" altLang="zh-CN" sz="2200" baseline="50000" dirty="0">
                <a:solidFill>
                  <a:srgbClr val="FF3399"/>
                </a:solidFill>
                <a:latin typeface="+mn-ea"/>
                <a:ea typeface="+mn-ea"/>
              </a:rPr>
              <a:t>q</a:t>
            </a:r>
            <a:r>
              <a:rPr lang="en-US" altLang="zh-CN" sz="2200" baseline="30000" dirty="0">
                <a:solidFill>
                  <a:srgbClr val="FF3399"/>
                </a:solidFill>
                <a:latin typeface="+mn-ea"/>
                <a:ea typeface="+mn-ea"/>
              </a:rPr>
              <a:t>-1)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075055" indent="-1075055"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正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min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-N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负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max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2</a:t>
            </a:r>
            <a:r>
              <a:rPr lang="en-US" altLang="zh-CN" sz="2200" baseline="30000" dirty="0">
                <a:solidFill>
                  <a:srgbClr val="990099"/>
                </a:solidFill>
                <a:latin typeface="+mn-ea"/>
                <a:ea typeface="+mn-ea"/>
              </a:rPr>
              <a:t>-p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×2</a:t>
            </a:r>
            <a:r>
              <a:rPr lang="en-US" altLang="zh-CN" sz="2200" baseline="30000" dirty="0">
                <a:solidFill>
                  <a:srgbClr val="FF3399"/>
                </a:solidFill>
                <a:latin typeface="+mn-ea"/>
                <a:ea typeface="+mn-ea"/>
              </a:rPr>
              <a:t>-(</a:t>
            </a:r>
            <a:r>
              <a:rPr lang="en-US" altLang="zh-CN" sz="2200" baseline="30000" dirty="0">
                <a:solidFill>
                  <a:srgbClr val="FF3399"/>
                </a:solidFill>
                <a:latin typeface="+mn-ea"/>
              </a:rPr>
              <a:t>2</a:t>
            </a:r>
            <a:r>
              <a:rPr lang="en-US" altLang="zh-CN" sz="2200" baseline="50000" dirty="0">
                <a:solidFill>
                  <a:srgbClr val="FF3399"/>
                </a:solidFill>
                <a:latin typeface="+mn-ea"/>
              </a:rPr>
              <a:t>q</a:t>
            </a:r>
            <a:r>
              <a:rPr lang="en-US" altLang="zh-CN" sz="2200" baseline="30000" dirty="0">
                <a:solidFill>
                  <a:srgbClr val="FF3399"/>
                </a:solidFill>
                <a:latin typeface="+mn-ea"/>
              </a:rPr>
              <a:t>-1</a:t>
            </a:r>
            <a:r>
              <a:rPr lang="en-US" altLang="zh-CN" sz="2200" baseline="30000" dirty="0">
                <a:solidFill>
                  <a:srgbClr val="FF3399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，受限于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q</a:t>
            </a:r>
          </a:p>
          <a:p>
            <a:pPr marL="1075055" indent="-1075055">
              <a:spcBef>
                <a:spcPts val="600"/>
              </a:spcBef>
            </a:pPr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≤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首位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=0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时为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小于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，受限于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、具体表示结果</a:t>
            </a:r>
          </a:p>
        </p:txBody>
      </p:sp>
      <p:sp>
        <p:nvSpPr>
          <p:cNvPr id="50" name="Text Box 226"/>
          <p:cNvSpPr txBox="1">
            <a:spLocks noChangeArrowheads="1"/>
          </p:cNvSpPr>
          <p:nvPr/>
        </p:nvSpPr>
        <p:spPr bwMode="auto">
          <a:xfrm>
            <a:off x="4427984" y="1497565"/>
            <a:ext cx="2016224" cy="864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36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accent2"/>
                </a:solidFill>
              </a:rPr>
              <a:t>+0.1011010×2</a:t>
            </a:r>
            <a:r>
              <a:rPr lang="en-US" altLang="zh-CN" sz="1800" baseline="30000" dirty="0">
                <a:solidFill>
                  <a:schemeClr val="accent2"/>
                </a:solidFill>
              </a:rPr>
              <a:t>-110</a:t>
            </a:r>
          </a:p>
          <a:p>
            <a:pPr>
              <a:lnSpc>
                <a:spcPct val="90000"/>
              </a:lnSpc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chemeClr val="accent2"/>
                </a:solidFill>
              </a:rPr>
              <a:t>-0.0011000×2</a:t>
            </a:r>
            <a:r>
              <a:rPr lang="en-US" altLang="zh-CN" sz="1800" baseline="30000" dirty="0">
                <a:solidFill>
                  <a:schemeClr val="accent2"/>
                </a:solidFill>
              </a:rPr>
              <a:t>-1011</a:t>
            </a:r>
          </a:p>
        </p:txBody>
      </p:sp>
      <p:cxnSp>
        <p:nvCxnSpPr>
          <p:cNvPr id="3" name="直接箭头连接符 2"/>
          <p:cNvCxnSpPr>
            <a:cxnSpLocks/>
          </p:cNvCxnSpPr>
          <p:nvPr/>
        </p:nvCxnSpPr>
        <p:spPr bwMode="auto">
          <a:xfrm flipH="1">
            <a:off x="4500000" y="2348880"/>
            <a:ext cx="432000" cy="3276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19" name="Group 189"/>
          <p:cNvGrpSpPr/>
          <p:nvPr/>
        </p:nvGrpSpPr>
        <p:grpSpPr bwMode="auto">
          <a:xfrm>
            <a:off x="1403350" y="3717546"/>
            <a:ext cx="7129463" cy="900113"/>
            <a:chOff x="884" y="1503"/>
            <a:chExt cx="4491" cy="567"/>
          </a:xfrm>
        </p:grpSpPr>
        <p:sp>
          <p:nvSpPr>
            <p:cNvPr id="20" name="Text Box 126"/>
            <p:cNvSpPr txBox="1">
              <a:spLocks noChangeArrowheads="1"/>
            </p:cNvSpPr>
            <p:nvPr/>
          </p:nvSpPr>
          <p:spPr bwMode="auto">
            <a:xfrm>
              <a:off x="1701" y="1661"/>
              <a:ext cx="1043" cy="159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负数区</a:t>
              </a:r>
            </a:p>
          </p:txBody>
        </p:sp>
        <p:sp>
          <p:nvSpPr>
            <p:cNvPr id="21" name="Text Box 131"/>
            <p:cNvSpPr txBox="1">
              <a:spLocks noChangeArrowheads="1"/>
            </p:cNvSpPr>
            <p:nvPr/>
          </p:nvSpPr>
          <p:spPr bwMode="auto">
            <a:xfrm>
              <a:off x="2744" y="1661"/>
              <a:ext cx="816" cy="15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机器零</a:t>
              </a:r>
            </a:p>
          </p:txBody>
        </p:sp>
        <p:sp>
          <p:nvSpPr>
            <p:cNvPr id="23" name="Line 132"/>
            <p:cNvSpPr>
              <a:spLocks noChangeShapeType="1"/>
            </p:cNvSpPr>
            <p:nvPr/>
          </p:nvSpPr>
          <p:spPr bwMode="auto">
            <a:xfrm>
              <a:off x="3152" y="1820"/>
              <a:ext cx="0" cy="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133"/>
            <p:cNvSpPr txBox="1">
              <a:spLocks noChangeArrowheads="1"/>
            </p:cNvSpPr>
            <p:nvPr/>
          </p:nvSpPr>
          <p:spPr bwMode="auto">
            <a:xfrm>
              <a:off x="2925" y="1888"/>
              <a:ext cx="45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绝对零</a:t>
              </a:r>
            </a:p>
          </p:txBody>
        </p:sp>
        <p:sp>
          <p:nvSpPr>
            <p:cNvPr id="25" name="Text Box 156"/>
            <p:cNvSpPr txBox="1">
              <a:spLocks noChangeArrowheads="1"/>
            </p:cNvSpPr>
            <p:nvPr/>
          </p:nvSpPr>
          <p:spPr bwMode="auto">
            <a:xfrm>
              <a:off x="3470" y="1934"/>
              <a:ext cx="408" cy="1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正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min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auto">
            <a:xfrm>
              <a:off x="3561" y="1662"/>
              <a:ext cx="1043" cy="159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正数区</a:t>
              </a:r>
            </a:p>
          </p:txBody>
        </p:sp>
        <p:sp>
          <p:nvSpPr>
            <p:cNvPr id="27" name="Line 167"/>
            <p:cNvSpPr>
              <a:spLocks noChangeShapeType="1"/>
            </p:cNvSpPr>
            <p:nvPr/>
          </p:nvSpPr>
          <p:spPr bwMode="auto">
            <a:xfrm>
              <a:off x="2744" y="1503"/>
              <a:ext cx="0" cy="31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68"/>
            <p:cNvSpPr>
              <a:spLocks noChangeShapeType="1"/>
            </p:cNvSpPr>
            <p:nvPr/>
          </p:nvSpPr>
          <p:spPr bwMode="auto">
            <a:xfrm>
              <a:off x="3560" y="1503"/>
              <a:ext cx="0" cy="31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69"/>
            <p:cNvSpPr>
              <a:spLocks noChangeShapeType="1"/>
            </p:cNvSpPr>
            <p:nvPr/>
          </p:nvSpPr>
          <p:spPr bwMode="auto">
            <a:xfrm>
              <a:off x="4604" y="1503"/>
              <a:ext cx="0" cy="31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70"/>
            <p:cNvSpPr>
              <a:spLocks noChangeShapeType="1"/>
            </p:cNvSpPr>
            <p:nvPr/>
          </p:nvSpPr>
          <p:spPr bwMode="auto">
            <a:xfrm>
              <a:off x="1701" y="1503"/>
              <a:ext cx="0" cy="31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72"/>
            <p:cNvSpPr>
              <a:spLocks noChangeShapeType="1"/>
            </p:cNvSpPr>
            <p:nvPr/>
          </p:nvSpPr>
          <p:spPr bwMode="auto">
            <a:xfrm>
              <a:off x="3560" y="1820"/>
              <a:ext cx="0" cy="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174"/>
            <p:cNvSpPr txBox="1">
              <a:spLocks noChangeArrowheads="1"/>
            </p:cNvSpPr>
            <p:nvPr/>
          </p:nvSpPr>
          <p:spPr bwMode="auto">
            <a:xfrm>
              <a:off x="2653" y="1934"/>
              <a:ext cx="408" cy="1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负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max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33" name="Line 175"/>
            <p:cNvSpPr>
              <a:spLocks noChangeShapeType="1"/>
            </p:cNvSpPr>
            <p:nvPr/>
          </p:nvSpPr>
          <p:spPr bwMode="auto">
            <a:xfrm>
              <a:off x="2744" y="1820"/>
              <a:ext cx="0" cy="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176"/>
            <p:cNvSpPr txBox="1">
              <a:spLocks noChangeArrowheads="1"/>
            </p:cNvSpPr>
            <p:nvPr/>
          </p:nvSpPr>
          <p:spPr bwMode="auto">
            <a:xfrm>
              <a:off x="4513" y="1934"/>
              <a:ext cx="408" cy="1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正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max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36" name="Line 177"/>
            <p:cNvSpPr>
              <a:spLocks noChangeShapeType="1"/>
            </p:cNvSpPr>
            <p:nvPr/>
          </p:nvSpPr>
          <p:spPr bwMode="auto">
            <a:xfrm>
              <a:off x="4603" y="1820"/>
              <a:ext cx="0" cy="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178"/>
            <p:cNvSpPr txBox="1">
              <a:spLocks noChangeArrowheads="1"/>
            </p:cNvSpPr>
            <p:nvPr/>
          </p:nvSpPr>
          <p:spPr bwMode="auto">
            <a:xfrm>
              <a:off x="1610" y="1934"/>
              <a:ext cx="408" cy="13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负</a:t>
              </a:r>
              <a:r>
                <a:rPr lang="en-US" altLang="zh-CN" sz="18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min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38" name="Line 179"/>
            <p:cNvSpPr>
              <a:spLocks noChangeShapeType="1"/>
            </p:cNvSpPr>
            <p:nvPr/>
          </p:nvSpPr>
          <p:spPr bwMode="auto">
            <a:xfrm>
              <a:off x="1700" y="1820"/>
              <a:ext cx="0" cy="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21"/>
            <p:cNvSpPr>
              <a:spLocks noChangeShapeType="1"/>
            </p:cNvSpPr>
            <p:nvPr/>
          </p:nvSpPr>
          <p:spPr bwMode="auto">
            <a:xfrm flipV="1">
              <a:off x="884" y="1820"/>
              <a:ext cx="449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Text Box 200">
            <a:extLst>
              <a:ext uri="{FF2B5EF4-FFF2-40B4-BE49-F238E27FC236}">
                <a16:creationId xmlns:a16="http://schemas.microsoft.com/office/drawing/2014/main" id="{354A195A-6E34-4F60-BBC8-E6F4CB1D6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0216" y="6021288"/>
            <a:ext cx="41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引子：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如何使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表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数精度＝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位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最大化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75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75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 bldLvl="0"/>
      <p:bldP spid="40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F9021319-3BEA-4849-AECA-BE24AC282AE4}"/>
              </a:ext>
            </a:extLst>
          </p:cNvPr>
          <p:cNvGrpSpPr/>
          <p:nvPr/>
        </p:nvGrpSpPr>
        <p:grpSpPr>
          <a:xfrm>
            <a:off x="1692176" y="5796000"/>
            <a:ext cx="6984664" cy="216000"/>
            <a:chOff x="1403648" y="6021288"/>
            <a:chExt cx="6984664" cy="252413"/>
          </a:xfrm>
        </p:grpSpPr>
        <p:sp>
          <p:nvSpPr>
            <p:cNvPr id="119" name="Text Box 280">
              <a:extLst>
                <a:ext uri="{FF2B5EF4-FFF2-40B4-BE49-F238E27FC236}">
                  <a16:creationId xmlns:a16="http://schemas.microsoft.com/office/drawing/2014/main" id="{91FF25AE-1BB7-46EC-91A2-B6C9B6A15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648" y="6021288"/>
              <a:ext cx="1008000" cy="25241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120" name="Text Box 286">
              <a:extLst>
                <a:ext uri="{FF2B5EF4-FFF2-40B4-BE49-F238E27FC236}">
                  <a16:creationId xmlns:a16="http://schemas.microsoft.com/office/drawing/2014/main" id="{B7CEE4F3-3DFC-4627-A7DE-52972FCF6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3768" y="6021288"/>
              <a:ext cx="1008000" cy="25241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121" name="Text Box 287">
              <a:extLst>
                <a:ext uri="{FF2B5EF4-FFF2-40B4-BE49-F238E27FC236}">
                  <a16:creationId xmlns:a16="http://schemas.microsoft.com/office/drawing/2014/main" id="{9C251376-094A-4E98-A1D1-728F1F9E4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920" y="6021288"/>
              <a:ext cx="1008000" cy="25241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122" name="Text Box 288">
              <a:extLst>
                <a:ext uri="{FF2B5EF4-FFF2-40B4-BE49-F238E27FC236}">
                  <a16:creationId xmlns:a16="http://schemas.microsoft.com/office/drawing/2014/main" id="{EF8513C7-A5FD-4495-AEC1-E1C966393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040" y="6021288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noFill/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123" name="Text Box 289">
              <a:extLst>
                <a:ext uri="{FF2B5EF4-FFF2-40B4-BE49-F238E27FC236}">
                  <a16:creationId xmlns:a16="http://schemas.microsoft.com/office/drawing/2014/main" id="{ADA56EA2-076D-488B-8D10-B2F131645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160" y="6021288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  <p:sp>
          <p:nvSpPr>
            <p:cNvPr id="124" name="Text Box 290">
              <a:extLst>
                <a:ext uri="{FF2B5EF4-FFF2-40B4-BE49-F238E27FC236}">
                  <a16:creationId xmlns:a16="http://schemas.microsoft.com/office/drawing/2014/main" id="{2C8DC7BB-A3F3-4E57-B45B-291EF7585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312" y="6021288"/>
              <a:ext cx="10080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/>
            </a:p>
          </p:txBody>
        </p:sp>
      </p:grpSp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E1277-EBBE-4B45-B689-7345D14DEDB5}" type="slidenum">
              <a:rPr lang="en-US" altLang="zh-CN"/>
              <a:t>30</a:t>
            </a:fld>
            <a:endParaRPr lang="en-US" altLang="zh-CN"/>
          </a:p>
        </p:txBody>
      </p:sp>
      <p:sp>
        <p:nvSpPr>
          <p:cNvPr id="386061" name="Text Box 13"/>
          <p:cNvSpPr txBox="1">
            <a:spLocks noChangeArrowheads="1"/>
          </p:cNvSpPr>
          <p:nvPr/>
        </p:nvSpPr>
        <p:spPr bwMode="auto">
          <a:xfrm>
            <a:off x="179388" y="332656"/>
            <a:ext cx="8857107" cy="49970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浮点数的规格化 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使表示</a:t>
            </a:r>
            <a:r>
              <a:rPr lang="zh-CN" altLang="en-US" sz="1800" u="sng" dirty="0">
                <a:solidFill>
                  <a:srgbClr val="0070C0"/>
                </a:solidFill>
              </a:rPr>
              <a:t>精度最大化</a:t>
            </a:r>
            <a:endParaRPr lang="zh-CN" altLang="en-US" u="sng" dirty="0">
              <a:solidFill>
                <a:srgbClr val="0070C0"/>
              </a:solidFill>
            </a:endParaRPr>
          </a:p>
          <a:p>
            <a:pPr marL="1075055" indent="-1075055"/>
            <a:r>
              <a:rPr lang="zh-CN" altLang="en-US" sz="2000" dirty="0">
                <a:solidFill>
                  <a:srgbClr val="990099"/>
                </a:solidFill>
              </a:rPr>
              <a:t>    不同表示结果的表示精度示例：</a:t>
            </a:r>
            <a:r>
              <a:rPr lang="zh-CN" altLang="en-US" sz="2000" dirty="0">
                <a:solidFill>
                  <a:schemeClr val="tx1"/>
                </a:solidFill>
              </a:rPr>
              <a:t>假设尾数及阶均为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位补码，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075055" indent="-1075055"/>
            <a:r>
              <a:rPr lang="en-US" altLang="zh-CN" sz="2000" dirty="0">
                <a:solidFill>
                  <a:schemeClr val="tx1"/>
                </a:solidFill>
              </a:rPr>
              <a:t>        +111.0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FFCC99"/>
                </a:highlight>
              </a:rPr>
              <a:t>+0.111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  <a:highlight>
                  <a:srgbClr val="99CCFF"/>
                </a:highlight>
              </a:rPr>
              <a:t>+011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FFCC99"/>
                </a:highlight>
              </a:rPr>
              <a:t>+0.011</a:t>
            </a:r>
            <a:r>
              <a:rPr lang="en-US" altLang="zh-CN" sz="2000" dirty="0">
                <a:solidFill>
                  <a:schemeClr val="tx1"/>
                </a:solidFill>
              </a:rPr>
              <a:t>1×2</a:t>
            </a:r>
            <a:r>
              <a:rPr lang="en-US" altLang="zh-CN" sz="2000" baseline="30000" dirty="0">
                <a:solidFill>
                  <a:schemeClr val="tx1"/>
                </a:solidFill>
                <a:highlight>
                  <a:srgbClr val="99CCFF"/>
                </a:highlight>
              </a:rPr>
              <a:t>+100</a:t>
            </a:r>
            <a:r>
              <a:rPr lang="zh-CN" altLang="en-US" sz="2000" dirty="0">
                <a:solidFill>
                  <a:schemeClr val="tx1"/>
                </a:solidFill>
              </a:rPr>
              <a:t>时，表数精度各为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位、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位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规格化数：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>
              <a:spcBef>
                <a:spcPts val="0"/>
              </a:spcBef>
            </a:pPr>
            <a:endParaRPr lang="en-US" altLang="zh-CN" sz="1600" dirty="0">
              <a:solidFill>
                <a:srgbClr val="C00000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*规格化的操作：      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u="sng" dirty="0">
                <a:solidFill>
                  <a:srgbClr val="990099"/>
                </a:solidFill>
              </a:rPr>
              <a:t>改变</a:t>
            </a:r>
            <a:r>
              <a:rPr lang="zh-CN" altLang="en-US" sz="1800" dirty="0">
                <a:solidFill>
                  <a:schemeClr val="tx1"/>
                </a:solidFill>
              </a:rPr>
              <a:t>小数点的</a:t>
            </a:r>
            <a:r>
              <a:rPr lang="zh-CN" altLang="en-US" sz="1800" u="sng" dirty="0">
                <a:solidFill>
                  <a:srgbClr val="990099"/>
                </a:solidFill>
              </a:rPr>
              <a:t>位置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左规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1075055" indent="-1075055"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右规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1075055" indent="-107505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规格化数尾数的数码特征：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规格化操作的</a:t>
            </a:r>
            <a:r>
              <a:rPr lang="zh-CN" altLang="en-US" sz="1800" u="sng" dirty="0">
                <a:solidFill>
                  <a:srgbClr val="990099"/>
                </a:solidFill>
              </a:rPr>
              <a:t>结束条件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961005" indent="-2961005"/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原码尾数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2961005" indent="-2961005"/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补码尾数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386079" name="Text Box 31"/>
          <p:cNvSpPr txBox="1">
            <a:spLocks noChangeArrowheads="1"/>
          </p:cNvSpPr>
          <p:nvPr/>
        </p:nvSpPr>
        <p:spPr bwMode="auto">
          <a:xfrm>
            <a:off x="1619672" y="1556792"/>
            <a:ext cx="7344940" cy="24707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u="sng" dirty="0">
                <a:solidFill>
                  <a:schemeClr val="tx1"/>
                </a:solidFill>
              </a:rPr>
              <a:t>尾数真值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zh-CN" altLang="en-US" sz="2200" u="sng" dirty="0">
                <a:solidFill>
                  <a:schemeClr val="tx1"/>
                </a:solidFill>
              </a:rPr>
              <a:t>最高数值位为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，即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0.5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≤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|M|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1.0</a:t>
            </a:r>
          </a:p>
          <a:p>
            <a:pPr marL="1075055" indent="-1075055"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2961005" indent="-2961005">
              <a:spcBef>
                <a:spcPts val="24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尾数</a:t>
            </a:r>
            <a:r>
              <a:rPr lang="en-US" altLang="zh-CN" sz="2200" dirty="0">
                <a:solidFill>
                  <a:schemeClr val="tx1"/>
                </a:solidFill>
              </a:rPr>
              <a:t>&lt;&lt;1</a:t>
            </a:r>
            <a:r>
              <a:rPr lang="zh-CN" altLang="en-US" sz="2200" dirty="0">
                <a:solidFill>
                  <a:schemeClr val="tx1"/>
                </a:solidFill>
              </a:rPr>
              <a:t>位，阶－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1800" dirty="0">
                <a:solidFill>
                  <a:srgbClr val="0070C0"/>
                </a:solidFill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</a:rPr>
              <a:t>-0.00101×2</a:t>
            </a:r>
            <a:r>
              <a:rPr lang="en-US" altLang="zh-CN" sz="1800" baseline="30000" dirty="0">
                <a:solidFill>
                  <a:schemeClr val="tx1"/>
                </a:solidFill>
              </a:rPr>
              <a:t>+010</a:t>
            </a:r>
            <a:r>
              <a:rPr lang="zh-CN" altLang="en-US" sz="1800" dirty="0">
                <a:solidFill>
                  <a:schemeClr val="tx1"/>
                </a:solidFill>
              </a:rPr>
              <a:t>左规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次为</a:t>
            </a:r>
            <a:r>
              <a:rPr lang="en-US" altLang="zh-CN" sz="1800" dirty="0">
                <a:solidFill>
                  <a:schemeClr val="tx1"/>
                </a:solidFill>
              </a:rPr>
              <a:t>-0.1010×2</a:t>
            </a:r>
            <a:r>
              <a:rPr lang="en-US" altLang="zh-CN" sz="1800" baseline="30000" dirty="0">
                <a:solidFill>
                  <a:schemeClr val="tx1"/>
                </a:solidFill>
              </a:rPr>
              <a:t>000</a:t>
            </a:r>
            <a:endParaRPr lang="zh-CN" altLang="en-US" sz="2200" dirty="0">
              <a:solidFill>
                <a:srgbClr val="990099"/>
              </a:solidFill>
            </a:endParaRPr>
          </a:p>
          <a:p>
            <a:pPr marL="2961005" indent="-2961005"/>
            <a:r>
              <a:rPr lang="zh-CN" altLang="en-US" sz="2200" dirty="0">
                <a:solidFill>
                  <a:schemeClr val="tx1"/>
                </a:solidFill>
              </a:rPr>
              <a:t>尾数</a:t>
            </a:r>
            <a:r>
              <a:rPr lang="en-US" altLang="zh-CN" sz="2200" dirty="0">
                <a:solidFill>
                  <a:schemeClr val="tx1"/>
                </a:solidFill>
              </a:rPr>
              <a:t>&gt;&gt;1</a:t>
            </a:r>
            <a:r>
              <a:rPr lang="zh-CN" altLang="en-US" sz="2200" dirty="0">
                <a:solidFill>
                  <a:schemeClr val="tx1"/>
                </a:solidFill>
              </a:rPr>
              <a:t>位，阶＋</a:t>
            </a:r>
            <a:r>
              <a:rPr lang="en-US" altLang="zh-CN" sz="2200" dirty="0">
                <a:solidFill>
                  <a:schemeClr val="tx1"/>
                </a:solidFill>
              </a:rPr>
              <a:t>1  </a:t>
            </a:r>
            <a:r>
              <a:rPr lang="zh-CN" altLang="en-US" sz="1800" dirty="0">
                <a:solidFill>
                  <a:srgbClr val="0070C0"/>
                </a:solidFill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</a:rPr>
              <a:t>+1.0111×2</a:t>
            </a:r>
            <a:r>
              <a:rPr lang="en-US" altLang="zh-CN" sz="1800" baseline="30000" dirty="0">
                <a:solidFill>
                  <a:schemeClr val="tx1"/>
                </a:solidFill>
              </a:rPr>
              <a:t>+010</a:t>
            </a:r>
            <a:r>
              <a:rPr lang="zh-CN" altLang="en-US" sz="1800" dirty="0">
                <a:solidFill>
                  <a:schemeClr val="tx1"/>
                </a:solidFill>
              </a:rPr>
              <a:t> 规右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次为</a:t>
            </a:r>
            <a:r>
              <a:rPr lang="en-US" altLang="zh-CN" sz="1800" dirty="0">
                <a:solidFill>
                  <a:schemeClr val="tx1"/>
                </a:solidFill>
              </a:rPr>
              <a:t>+0.1011×2</a:t>
            </a:r>
            <a:r>
              <a:rPr lang="en-US" altLang="zh-CN" sz="1800" baseline="30000" dirty="0">
                <a:solidFill>
                  <a:schemeClr val="tx1"/>
                </a:solidFill>
              </a:rPr>
              <a:t>+011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B06C2AF-4B8A-4C3C-A48C-9D3A286DB4DF}"/>
              </a:ext>
            </a:extLst>
          </p:cNvPr>
          <p:cNvGrpSpPr/>
          <p:nvPr/>
        </p:nvGrpSpPr>
        <p:grpSpPr>
          <a:xfrm>
            <a:off x="1008000" y="2124000"/>
            <a:ext cx="7623924" cy="576000"/>
            <a:chOff x="1189682" y="1124744"/>
            <a:chExt cx="7623924" cy="576000"/>
          </a:xfrm>
        </p:grpSpPr>
        <p:sp>
          <p:nvSpPr>
            <p:cNvPr id="31" name="Line 121">
              <a:extLst>
                <a:ext uri="{FF2B5EF4-FFF2-40B4-BE49-F238E27FC236}">
                  <a16:creationId xmlns:a16="http://schemas.microsoft.com/office/drawing/2014/main" id="{EB1C4258-ECE0-4872-9062-0BCE6714C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1640" y="1430744"/>
              <a:ext cx="7416000" cy="12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32">
              <a:extLst>
                <a:ext uri="{FF2B5EF4-FFF2-40B4-BE49-F238E27FC236}">
                  <a16:creationId xmlns:a16="http://schemas.microsoft.com/office/drawing/2014/main" id="{65B90760-5010-47F5-BD18-86CB37213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800" y="1376744"/>
              <a:ext cx="0" cy="1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Box 133">
              <a:extLst>
                <a:ext uri="{FF2B5EF4-FFF2-40B4-BE49-F238E27FC236}">
                  <a16:creationId xmlns:a16="http://schemas.microsoft.com/office/drawing/2014/main" id="{968F7783-3FCF-457D-8E0B-144C0297B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7682" y="1484744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绝对零</a:t>
              </a:r>
            </a:p>
          </p:txBody>
        </p:sp>
        <p:sp>
          <p:nvSpPr>
            <p:cNvPr id="34" name="Text Box 156">
              <a:extLst>
                <a:ext uri="{FF2B5EF4-FFF2-40B4-BE49-F238E27FC236}">
                  <a16:creationId xmlns:a16="http://schemas.microsoft.com/office/drawing/2014/main" id="{15D7C3CE-90BE-4476-9B8E-76E6A35CB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9682" y="1484744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规正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min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35" name="Line 172">
              <a:extLst>
                <a:ext uri="{FF2B5EF4-FFF2-40B4-BE49-F238E27FC236}">
                  <a16:creationId xmlns:a16="http://schemas.microsoft.com/office/drawing/2014/main" id="{317098CE-BE6B-421D-B123-8BE0008A6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391" y="1376744"/>
              <a:ext cx="0" cy="1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174">
              <a:extLst>
                <a:ext uri="{FF2B5EF4-FFF2-40B4-BE49-F238E27FC236}">
                  <a16:creationId xmlns:a16="http://schemas.microsoft.com/office/drawing/2014/main" id="{8D146A64-32D8-4DCC-BB9B-BD9000AF6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682" y="1484744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规负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max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37" name="Line 175">
              <a:extLst>
                <a:ext uri="{FF2B5EF4-FFF2-40B4-BE49-F238E27FC236}">
                  <a16:creationId xmlns:a16="http://schemas.microsoft.com/office/drawing/2014/main" id="{B436B17B-C6F9-4753-BC4A-C944379E2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803" y="1376744"/>
              <a:ext cx="0" cy="1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176">
              <a:extLst>
                <a:ext uri="{FF2B5EF4-FFF2-40B4-BE49-F238E27FC236}">
                  <a16:creationId xmlns:a16="http://schemas.microsoft.com/office/drawing/2014/main" id="{0D591A47-69C9-47BD-9B6A-9520A8705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82" y="1484744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规正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max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39" name="Line 177">
              <a:extLst>
                <a:ext uri="{FF2B5EF4-FFF2-40B4-BE49-F238E27FC236}">
                  <a16:creationId xmlns:a16="http://schemas.microsoft.com/office/drawing/2014/main" id="{2278E815-555D-4C25-87FE-8569F0CAE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5607" y="1376744"/>
              <a:ext cx="0" cy="1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178">
              <a:extLst>
                <a:ext uri="{FF2B5EF4-FFF2-40B4-BE49-F238E27FC236}">
                  <a16:creationId xmlns:a16="http://schemas.microsoft.com/office/drawing/2014/main" id="{133B155E-C3AA-41CC-B01A-0ED6F4DE3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3682" y="1484744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000000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规负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min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41" name="Line 179">
              <a:extLst>
                <a:ext uri="{FF2B5EF4-FFF2-40B4-BE49-F238E27FC236}">
                  <a16:creationId xmlns:a16="http://schemas.microsoft.com/office/drawing/2014/main" id="{CFA02D2C-CD17-4D48-9E7B-17E8EF8A1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595" y="1376744"/>
              <a:ext cx="0" cy="1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178">
              <a:extLst>
                <a:ext uri="{FF2B5EF4-FFF2-40B4-BE49-F238E27FC236}">
                  <a16:creationId xmlns:a16="http://schemas.microsoft.com/office/drawing/2014/main" id="{25DF8A75-4A49-4D37-8F47-5830E3A4A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1124744"/>
              <a:ext cx="18002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+0.</a:t>
              </a:r>
              <a:r>
                <a:rPr lang="en-US" altLang="zh-CN" sz="1800" dirty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0…0×2</a:t>
              </a:r>
              <a:r>
                <a:rPr lang="en-US" altLang="zh-CN" sz="1800" baseline="30000" dirty="0">
                  <a:solidFill>
                    <a:srgbClr val="FF3399"/>
                  </a:solidFill>
                  <a:latin typeface="+mn-ea"/>
                  <a:ea typeface="+mn-ea"/>
                </a:rPr>
                <a:t>-1…1</a:t>
              </a:r>
            </a:p>
          </p:txBody>
        </p:sp>
        <p:sp>
          <p:nvSpPr>
            <p:cNvPr id="43" name="Text Box 178">
              <a:extLst>
                <a:ext uri="{FF2B5EF4-FFF2-40B4-BE49-F238E27FC236}">
                  <a16:creationId xmlns:a16="http://schemas.microsoft.com/office/drawing/2014/main" id="{90111FA1-9789-4872-B005-43611D9BE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9682" y="1126009"/>
              <a:ext cx="1863924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+0.</a:t>
              </a:r>
              <a:r>
                <a:rPr lang="en-US" altLang="zh-CN" sz="1800" dirty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1…1×2</a:t>
              </a:r>
              <a:r>
                <a:rPr lang="en-US" altLang="zh-CN" sz="1800" baseline="30000" dirty="0">
                  <a:solidFill>
                    <a:srgbClr val="FF3399"/>
                  </a:solidFill>
                  <a:latin typeface="+mn-ea"/>
                  <a:ea typeface="+mn-ea"/>
                </a:rPr>
                <a:t>+1…1</a:t>
              </a:r>
            </a:p>
          </p:txBody>
        </p:sp>
        <p:sp>
          <p:nvSpPr>
            <p:cNvPr id="44" name="Text Box 178">
              <a:extLst>
                <a:ext uri="{FF2B5EF4-FFF2-40B4-BE49-F238E27FC236}">
                  <a16:creationId xmlns:a16="http://schemas.microsoft.com/office/drawing/2014/main" id="{46840A17-F036-48EC-8FF4-70A593660D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1840" y="1124744"/>
              <a:ext cx="18002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-0.</a:t>
              </a:r>
              <a:r>
                <a:rPr lang="en-US" altLang="zh-CN" sz="1800" dirty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0…0×2</a:t>
              </a:r>
              <a:r>
                <a:rPr lang="en-US" altLang="zh-CN" sz="1800" baseline="30000" dirty="0">
                  <a:solidFill>
                    <a:srgbClr val="000000"/>
                  </a:solidFill>
                  <a:latin typeface="+mn-ea"/>
                  <a:ea typeface="+mn-ea"/>
                </a:rPr>
                <a:t>-1…1</a:t>
              </a:r>
              <a:endParaRPr lang="en-US" altLang="zh-CN" sz="1800" baseline="30000" dirty="0">
                <a:latin typeface="+mn-ea"/>
                <a:ea typeface="+mn-ea"/>
              </a:endParaRPr>
            </a:p>
          </p:txBody>
        </p:sp>
        <p:sp>
          <p:nvSpPr>
            <p:cNvPr id="45" name="Text Box 178">
              <a:extLst>
                <a:ext uri="{FF2B5EF4-FFF2-40B4-BE49-F238E27FC236}">
                  <a16:creationId xmlns:a16="http://schemas.microsoft.com/office/drawing/2014/main" id="{C5D2A2A6-9E1D-4005-A452-5C0A5AFED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9682" y="1126009"/>
              <a:ext cx="1863924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88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-0.</a:t>
              </a:r>
              <a:r>
                <a:rPr lang="en-US" altLang="zh-CN" sz="1800" dirty="0">
                  <a:solidFill>
                    <a:srgbClr val="FF3399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  <a:latin typeface="+mn-ea"/>
                  <a:ea typeface="+mn-ea"/>
                </a:rPr>
                <a:t>1…1×2</a:t>
              </a:r>
              <a:r>
                <a:rPr lang="en-US" altLang="zh-CN" sz="1800" baseline="30000" dirty="0">
                  <a:solidFill>
                    <a:srgbClr val="000000"/>
                  </a:solidFill>
                  <a:latin typeface="+mn-ea"/>
                  <a:ea typeface="+mn-ea"/>
                </a:rPr>
                <a:t>+1…1</a:t>
              </a:r>
              <a:endParaRPr lang="en-US" altLang="zh-CN" sz="1800" baseline="30000" dirty="0">
                <a:latin typeface="+mn-ea"/>
                <a:ea typeface="+mn-ea"/>
              </a:endParaRPr>
            </a:p>
          </p:txBody>
        </p:sp>
      </p:grpSp>
      <p:sp>
        <p:nvSpPr>
          <p:cNvPr id="48" name="Text Box 268">
            <a:extLst>
              <a:ext uri="{FF2B5EF4-FFF2-40B4-BE49-F238E27FC236}">
                <a16:creationId xmlns:a16="http://schemas.microsoft.com/office/drawing/2014/main" id="{078A0CE3-2B0C-4F86-96A0-6BF49D717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7" y="4421997"/>
            <a:ext cx="6840760" cy="11672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961005" indent="-2961005"/>
            <a:r>
              <a:rPr lang="zh-CN" altLang="en-US" sz="2200" dirty="0">
                <a:solidFill>
                  <a:schemeClr val="tx1"/>
                </a:solidFill>
              </a:rPr>
              <a:t>最高数值位</a:t>
            </a:r>
            <a:r>
              <a:rPr lang="zh-CN" altLang="en-US" sz="2200" u="sng" dirty="0">
                <a:solidFill>
                  <a:srgbClr val="990099"/>
                </a:solidFill>
              </a:rPr>
              <a:t>为</a:t>
            </a:r>
            <a:r>
              <a:rPr lang="en-US" altLang="zh-CN" sz="2200" u="sng" dirty="0">
                <a:solidFill>
                  <a:srgbClr val="990099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        </a:t>
            </a:r>
            <a:r>
              <a:rPr lang="zh-CN" altLang="en-US" sz="1600" dirty="0">
                <a:solidFill>
                  <a:schemeClr val="tx1"/>
                </a:solidFill>
              </a:rPr>
              <a:t>←正数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负数时</a:t>
            </a:r>
            <a:r>
              <a:rPr lang="en-US" altLang="zh-CN" sz="1600" dirty="0">
                <a:solidFill>
                  <a:schemeClr val="tx1"/>
                </a:solidFill>
              </a:rPr>
              <a:t>0.5≤|M|</a:t>
            </a:r>
            <a:r>
              <a:rPr lang="zh-CN" altLang="en-US" sz="1600" dirty="0">
                <a:solidFill>
                  <a:schemeClr val="tx1"/>
                </a:solidFill>
              </a:rPr>
              <a:t>＜</a:t>
            </a:r>
            <a:r>
              <a:rPr lang="en-US" altLang="zh-CN" sz="1600" dirty="0">
                <a:solidFill>
                  <a:schemeClr val="tx1"/>
                </a:solidFill>
              </a:rPr>
              <a:t>1.0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961005" indent="-2961005"/>
            <a:r>
              <a:rPr lang="zh-CN" altLang="en-US" sz="2200" dirty="0">
                <a:solidFill>
                  <a:schemeClr val="tx1"/>
                </a:solidFill>
              </a:rPr>
              <a:t>最高数值位</a:t>
            </a:r>
            <a:r>
              <a:rPr lang="zh-CN" altLang="en-US" sz="2200" u="sng" dirty="0">
                <a:solidFill>
                  <a:srgbClr val="990099"/>
                </a:solidFill>
              </a:rPr>
              <a:t>与符号相反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←正数时无影响，负数时</a:t>
            </a:r>
            <a:r>
              <a:rPr lang="en-US" altLang="zh-CN" sz="1600" dirty="0">
                <a:solidFill>
                  <a:schemeClr val="tx1"/>
                </a:solidFill>
              </a:rPr>
              <a:t>-1.0≤M</a:t>
            </a:r>
            <a:r>
              <a:rPr lang="zh-CN" altLang="en-US" sz="1600" dirty="0">
                <a:solidFill>
                  <a:schemeClr val="tx1"/>
                </a:solidFill>
              </a:rPr>
              <a:t>＜</a:t>
            </a:r>
            <a:r>
              <a:rPr lang="en-US" altLang="zh-CN" sz="1600" dirty="0">
                <a:solidFill>
                  <a:schemeClr val="tx1"/>
                </a:solidFill>
              </a:rPr>
              <a:t>-0.5</a:t>
            </a:r>
          </a:p>
          <a:p>
            <a:pPr marL="2961005" indent="-2961005">
              <a:lnSpc>
                <a:spcPct val="105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                  </a:t>
            </a:r>
            <a:r>
              <a:rPr lang="zh-CN" altLang="en-US" sz="1600" b="0" dirty="0">
                <a:solidFill>
                  <a:schemeClr val="tx1"/>
                </a:solidFill>
              </a:rPr>
              <a:t>└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zh-CN" altLang="en-US" sz="1600" dirty="0">
                <a:solidFill>
                  <a:srgbClr val="FF3399"/>
                </a:solidFill>
              </a:rPr>
              <a:t>便于</a:t>
            </a:r>
            <a:r>
              <a:rPr lang="zh-CN" altLang="en-US" sz="1600" dirty="0">
                <a:solidFill>
                  <a:schemeClr val="tx1"/>
                </a:solidFill>
              </a:rPr>
              <a:t>实现，</a:t>
            </a:r>
            <a:r>
              <a:rPr lang="zh-CN" altLang="en-US" sz="1600" dirty="0">
                <a:solidFill>
                  <a:srgbClr val="FF3399"/>
                </a:solidFill>
              </a:rPr>
              <a:t>不影响</a:t>
            </a:r>
            <a:r>
              <a:rPr lang="zh-CN" altLang="en-US" sz="1600" dirty="0">
                <a:solidFill>
                  <a:schemeClr val="tx1"/>
                </a:solidFill>
              </a:rPr>
              <a:t>精度</a:t>
            </a:r>
            <a:r>
              <a:rPr lang="en-US" altLang="zh-CN" sz="1600" dirty="0">
                <a:solidFill>
                  <a:schemeClr val="tx1"/>
                </a:solidFill>
              </a:rPr>
              <a:t>(-0.5</a:t>
            </a:r>
            <a:r>
              <a:rPr lang="zh-CN" altLang="en-US" sz="1600" dirty="0">
                <a:solidFill>
                  <a:schemeClr val="tx1"/>
                </a:solidFill>
              </a:rPr>
              <a:t>时再左规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次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A825B22-2715-4DF8-B227-9D206C8E8E29}"/>
              </a:ext>
            </a:extLst>
          </p:cNvPr>
          <p:cNvGrpSpPr/>
          <p:nvPr/>
        </p:nvGrpSpPr>
        <p:grpSpPr>
          <a:xfrm>
            <a:off x="1115544" y="5436000"/>
            <a:ext cx="7597922" cy="936000"/>
            <a:chOff x="1115544" y="5436000"/>
            <a:chExt cx="7597922" cy="936000"/>
          </a:xfrm>
        </p:grpSpPr>
        <p:sp>
          <p:nvSpPr>
            <p:cNvPr id="93" name="Line 270">
              <a:extLst>
                <a:ext uri="{FF2B5EF4-FFF2-40B4-BE49-F238E27FC236}">
                  <a16:creationId xmlns:a16="http://schemas.microsoft.com/office/drawing/2014/main" id="{42A7BA97-D87F-47F4-A905-FACCC176E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3466" y="6086258"/>
              <a:ext cx="702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271">
              <a:extLst>
                <a:ext uri="{FF2B5EF4-FFF2-40B4-BE49-F238E27FC236}">
                  <a16:creationId xmlns:a16="http://schemas.microsoft.com/office/drawing/2014/main" id="{692A7013-F5A9-4E8E-84E8-574F6B1CC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2400" y="6013233"/>
              <a:ext cx="0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272">
              <a:extLst>
                <a:ext uri="{FF2B5EF4-FFF2-40B4-BE49-F238E27FC236}">
                  <a16:creationId xmlns:a16="http://schemas.microsoft.com/office/drawing/2014/main" id="{5E71B695-4D38-42FB-B26B-6F14CC90B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6951" y="6013233"/>
              <a:ext cx="0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273">
              <a:extLst>
                <a:ext uri="{FF2B5EF4-FFF2-40B4-BE49-F238E27FC236}">
                  <a16:creationId xmlns:a16="http://schemas.microsoft.com/office/drawing/2014/main" id="{7C0C06AF-3A87-4FEC-A752-D159770DA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6831" y="6013233"/>
              <a:ext cx="0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274">
              <a:extLst>
                <a:ext uri="{FF2B5EF4-FFF2-40B4-BE49-F238E27FC236}">
                  <a16:creationId xmlns:a16="http://schemas.microsoft.com/office/drawing/2014/main" id="{6A2084FC-0284-4E97-B1DF-3A2EDD21C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7033" y="6013233"/>
              <a:ext cx="0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275">
              <a:extLst>
                <a:ext uri="{FF2B5EF4-FFF2-40B4-BE49-F238E27FC236}">
                  <a16:creationId xmlns:a16="http://schemas.microsoft.com/office/drawing/2014/main" id="{54712DB1-96BA-47FD-9D9C-75A16541D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6971" y="6013233"/>
              <a:ext cx="0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276">
              <a:extLst>
                <a:ext uri="{FF2B5EF4-FFF2-40B4-BE49-F238E27FC236}">
                  <a16:creationId xmlns:a16="http://schemas.microsoft.com/office/drawing/2014/main" id="{858DA717-3EB3-4141-B624-55320E8AF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394" y="6156000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-1.00…0</a:t>
              </a:r>
              <a:endParaRPr lang="en-US" altLang="zh-CN" sz="1800" dirty="0"/>
            </a:p>
          </p:txBody>
        </p:sp>
        <p:sp>
          <p:nvSpPr>
            <p:cNvPr id="100" name="Line 277">
              <a:extLst>
                <a:ext uri="{FF2B5EF4-FFF2-40B4-BE49-F238E27FC236}">
                  <a16:creationId xmlns:a16="http://schemas.microsoft.com/office/drawing/2014/main" id="{7E8826FD-D09F-4073-98B9-0563AA2B4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9729" y="6013233"/>
              <a:ext cx="0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278">
              <a:extLst>
                <a:ext uri="{FF2B5EF4-FFF2-40B4-BE49-F238E27FC236}">
                  <a16:creationId xmlns:a16="http://schemas.microsoft.com/office/drawing/2014/main" id="{B574A008-0799-44E8-BD62-84AE8862D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544" y="6156000"/>
              <a:ext cx="504825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rgbClr val="000000"/>
                  </a:solidFill>
                </a:rPr>
                <a:t>真值</a:t>
              </a:r>
              <a:endParaRPr lang="zh-CN" altLang="en-US" sz="1800" dirty="0"/>
            </a:p>
          </p:txBody>
        </p:sp>
        <p:sp>
          <p:nvSpPr>
            <p:cNvPr id="102" name="Text Box 279">
              <a:extLst>
                <a:ext uri="{FF2B5EF4-FFF2-40B4-BE49-F238E27FC236}">
                  <a16:creationId xmlns:a16="http://schemas.microsoft.com/office/drawing/2014/main" id="{C03E16A0-C76E-4AD9-BA80-959AFE30C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616" y="5796000"/>
              <a:ext cx="504825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rgbClr val="000000"/>
                  </a:solidFill>
                </a:rPr>
                <a:t>补码</a:t>
              </a:r>
              <a:endParaRPr lang="zh-CN" altLang="en-US" sz="1800" dirty="0"/>
            </a:p>
          </p:txBody>
        </p:sp>
        <p:sp>
          <p:nvSpPr>
            <p:cNvPr id="103" name="Text Box 280">
              <a:extLst>
                <a:ext uri="{FF2B5EF4-FFF2-40B4-BE49-F238E27FC236}">
                  <a16:creationId xmlns:a16="http://schemas.microsoft.com/office/drawing/2014/main" id="{DC47ABF0-593B-40C5-87FB-53A7A1DC3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466" y="5796000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0</a:t>
              </a:r>
              <a:r>
                <a:rPr lang="en-US" altLang="zh-CN" sz="1800" dirty="0">
                  <a:solidFill>
                    <a:srgbClr val="000000"/>
                  </a:solidFill>
                </a:rPr>
                <a:t>0…0</a:t>
              </a:r>
              <a:endParaRPr lang="en-US" altLang="zh-CN" sz="1800" dirty="0"/>
            </a:p>
          </p:txBody>
        </p:sp>
        <p:sp>
          <p:nvSpPr>
            <p:cNvPr id="104" name="Text Box 281">
              <a:extLst>
                <a:ext uri="{FF2B5EF4-FFF2-40B4-BE49-F238E27FC236}">
                  <a16:creationId xmlns:a16="http://schemas.microsoft.com/office/drawing/2014/main" id="{5DD6BEF6-D404-4CB1-A4EC-336B69985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224" y="6156000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-0.11…1</a:t>
              </a:r>
              <a:endParaRPr lang="en-US" altLang="zh-CN" sz="1800" dirty="0"/>
            </a:p>
          </p:txBody>
        </p:sp>
        <p:sp>
          <p:nvSpPr>
            <p:cNvPr id="105" name="Text Box 282">
              <a:extLst>
                <a:ext uri="{FF2B5EF4-FFF2-40B4-BE49-F238E27FC236}">
                  <a16:creationId xmlns:a16="http://schemas.microsoft.com/office/drawing/2014/main" id="{C61F0D46-35F1-4AB0-8603-0D2BED1EE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699" y="6156000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-0.10…1</a:t>
              </a:r>
              <a:endParaRPr lang="en-US" altLang="zh-CN" sz="1800" dirty="0"/>
            </a:p>
          </p:txBody>
        </p:sp>
        <p:sp>
          <p:nvSpPr>
            <p:cNvPr id="106" name="Text Box 283">
              <a:extLst>
                <a:ext uri="{FF2B5EF4-FFF2-40B4-BE49-F238E27FC236}">
                  <a16:creationId xmlns:a16="http://schemas.microsoft.com/office/drawing/2014/main" id="{4AB47F04-ACF5-4D79-B8EB-9ED9DCA15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496" y="6156000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-0.10…0</a:t>
              </a:r>
              <a:endParaRPr lang="en-US" altLang="zh-CN" sz="1800" dirty="0"/>
            </a:p>
          </p:txBody>
        </p:sp>
        <p:sp>
          <p:nvSpPr>
            <p:cNvPr id="107" name="Text Box 284">
              <a:extLst>
                <a:ext uri="{FF2B5EF4-FFF2-40B4-BE49-F238E27FC236}">
                  <a16:creationId xmlns:a16="http://schemas.microsoft.com/office/drawing/2014/main" id="{B0D3A57E-B58D-48BC-A7EB-D856EF129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0616" y="6156000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-0.01…1</a:t>
              </a:r>
              <a:endParaRPr lang="en-US" altLang="zh-CN" sz="1800" dirty="0"/>
            </a:p>
          </p:txBody>
        </p:sp>
        <p:sp>
          <p:nvSpPr>
            <p:cNvPr id="108" name="Text Box 285">
              <a:extLst>
                <a:ext uri="{FF2B5EF4-FFF2-40B4-BE49-F238E27FC236}">
                  <a16:creationId xmlns:a16="http://schemas.microsoft.com/office/drawing/2014/main" id="{D07DDEDD-E77F-4746-8823-38EF587D7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9163" y="6156000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-0.00…1</a:t>
              </a:r>
              <a:endParaRPr lang="en-US" altLang="zh-CN" sz="1800" dirty="0"/>
            </a:p>
          </p:txBody>
        </p:sp>
        <p:sp>
          <p:nvSpPr>
            <p:cNvPr id="109" name="Text Box 286">
              <a:extLst>
                <a:ext uri="{FF2B5EF4-FFF2-40B4-BE49-F238E27FC236}">
                  <a16:creationId xmlns:a16="http://schemas.microsoft.com/office/drawing/2014/main" id="{8F273F99-1362-4207-90D5-5105B712C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296" y="5796000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0</a:t>
              </a:r>
              <a:r>
                <a:rPr lang="en-US" altLang="zh-CN" sz="1800" dirty="0">
                  <a:solidFill>
                    <a:srgbClr val="000000"/>
                  </a:solidFill>
                </a:rPr>
                <a:t>0…1</a:t>
              </a:r>
              <a:endParaRPr lang="en-US" altLang="zh-CN" sz="1800" dirty="0"/>
            </a:p>
          </p:txBody>
        </p:sp>
        <p:sp>
          <p:nvSpPr>
            <p:cNvPr id="110" name="Text Box 287">
              <a:extLst>
                <a:ext uri="{FF2B5EF4-FFF2-40B4-BE49-F238E27FC236}">
                  <a16:creationId xmlns:a16="http://schemas.microsoft.com/office/drawing/2014/main" id="{19649AE6-0919-47A5-A384-AFDF2DDCB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771" y="5796000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0</a:t>
              </a:r>
              <a:r>
                <a:rPr lang="en-US" altLang="zh-CN" sz="1800" dirty="0">
                  <a:solidFill>
                    <a:srgbClr val="000000"/>
                  </a:solidFill>
                </a:rPr>
                <a:t>1…1</a:t>
              </a:r>
              <a:endParaRPr lang="en-US" altLang="zh-CN" sz="1800" dirty="0"/>
            </a:p>
          </p:txBody>
        </p:sp>
        <p:sp>
          <p:nvSpPr>
            <p:cNvPr id="111" name="Text Box 288">
              <a:extLst>
                <a:ext uri="{FF2B5EF4-FFF2-40B4-BE49-F238E27FC236}">
                  <a16:creationId xmlns:a16="http://schemas.microsoft.com/office/drawing/2014/main" id="{EFD45FFA-AAFF-4D39-B754-63D258F5B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568" y="5797560"/>
              <a:ext cx="1008000" cy="216000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highlight>
                    <a:srgbClr val="00FFFF"/>
                  </a:highlight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0…0</a:t>
              </a:r>
            </a:p>
          </p:txBody>
        </p:sp>
        <p:sp>
          <p:nvSpPr>
            <p:cNvPr id="112" name="Text Box 289">
              <a:extLst>
                <a:ext uri="{FF2B5EF4-FFF2-40B4-BE49-F238E27FC236}">
                  <a16:creationId xmlns:a16="http://schemas.microsoft.com/office/drawing/2014/main" id="{B9CED45B-603A-481B-8D3F-3259D1E75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2276" y="5796000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  <a:highlight>
                    <a:srgbClr val="FFFF00"/>
                  </a:highlight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</a:rPr>
                <a:t>0…1</a:t>
              </a:r>
              <a:endParaRPr lang="en-US" altLang="zh-CN" sz="1800" dirty="0"/>
            </a:p>
          </p:txBody>
        </p:sp>
        <p:sp>
          <p:nvSpPr>
            <p:cNvPr id="113" name="Text Box 290">
              <a:extLst>
                <a:ext uri="{FF2B5EF4-FFF2-40B4-BE49-F238E27FC236}">
                  <a16:creationId xmlns:a16="http://schemas.microsoft.com/office/drawing/2014/main" id="{3E8E4D32-DAE4-4EED-B1EE-BE94B3AC7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750" y="5796000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000000"/>
                  </a:solidFill>
                  <a:highlight>
                    <a:srgbClr val="00FFFF"/>
                  </a:highlight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  <a:highlight>
                    <a:srgbClr val="FFFF00"/>
                  </a:highlight>
                </a:rPr>
                <a:t>1</a:t>
              </a:r>
              <a:r>
                <a:rPr lang="en-US" altLang="zh-CN" sz="1800" dirty="0">
                  <a:solidFill>
                    <a:srgbClr val="000000"/>
                  </a:solidFill>
                </a:rPr>
                <a:t>1…1</a:t>
              </a:r>
              <a:endParaRPr lang="en-US" altLang="zh-CN" sz="1800" dirty="0"/>
            </a:p>
          </p:txBody>
        </p:sp>
        <p:sp>
          <p:nvSpPr>
            <p:cNvPr id="114" name="Text Box 291">
              <a:extLst>
                <a:ext uri="{FF2B5EF4-FFF2-40B4-BE49-F238E27FC236}">
                  <a16:creationId xmlns:a16="http://schemas.microsoft.com/office/drawing/2014/main" id="{6A93B0C7-6C5A-4910-9D9F-46154D8A2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408" y="5796000"/>
              <a:ext cx="360363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115" name="Text Box 292">
              <a:extLst>
                <a:ext uri="{FF2B5EF4-FFF2-40B4-BE49-F238E27FC236}">
                  <a16:creationId xmlns:a16="http://schemas.microsoft.com/office/drawing/2014/main" id="{5949D666-4CB2-40E6-80F4-FFEFDF731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336" y="6156000"/>
              <a:ext cx="360363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116" name="Text Box 293">
              <a:extLst>
                <a:ext uri="{FF2B5EF4-FFF2-40B4-BE49-F238E27FC236}">
                  <a16:creationId xmlns:a16="http://schemas.microsoft.com/office/drawing/2014/main" id="{800428D5-DE42-4BFC-92CA-D329E18CF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800" y="5796000"/>
              <a:ext cx="360363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117" name="Text Box 294">
              <a:extLst>
                <a:ext uri="{FF2B5EF4-FFF2-40B4-BE49-F238E27FC236}">
                  <a16:creationId xmlns:a16="http://schemas.microsoft.com/office/drawing/2014/main" id="{5FC838D9-106D-4F4F-AC07-806966F6A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728" y="6156000"/>
              <a:ext cx="360363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000000"/>
                  </a:solidFill>
                </a:rPr>
                <a:t>…</a:t>
              </a:r>
              <a:endParaRPr lang="en-US" altLang="zh-CN" sz="1800" dirty="0"/>
            </a:p>
          </p:txBody>
        </p:sp>
        <p:sp>
          <p:nvSpPr>
            <p:cNvPr id="125" name="AutoShape 92">
              <a:extLst>
                <a:ext uri="{FF2B5EF4-FFF2-40B4-BE49-F238E27FC236}">
                  <a16:creationId xmlns:a16="http://schemas.microsoft.com/office/drawing/2014/main" id="{05E42DF7-D927-4D24-9829-98817C4C80DB}"/>
                </a:ext>
              </a:extLst>
            </p:cNvPr>
            <p:cNvSpPr/>
            <p:nvPr/>
          </p:nvSpPr>
          <p:spPr bwMode="auto">
            <a:xfrm rot="16200000" flipH="1">
              <a:off x="3907977" y="3474000"/>
              <a:ext cx="108000" cy="4464000"/>
            </a:xfrm>
            <a:prstGeom prst="leftBrace">
              <a:avLst>
                <a:gd name="adj1" fmla="val 63139"/>
                <a:gd name="adj2" fmla="val 31152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6" name="Text Box 279">
              <a:extLst>
                <a:ext uri="{FF2B5EF4-FFF2-40B4-BE49-F238E27FC236}">
                  <a16:creationId xmlns:a16="http://schemas.microsoft.com/office/drawing/2014/main" id="{8126F128-4B52-4297-8E05-2818856CF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000" y="5436000"/>
              <a:ext cx="2376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rgbClr val="000000"/>
                  </a:solidFill>
                </a:rPr>
                <a:t>判断逻辑稍复杂</a:t>
              </a:r>
              <a:r>
                <a:rPr lang="en-US" altLang="zh-CN" sz="1600" dirty="0">
                  <a:solidFill>
                    <a:srgbClr val="000000"/>
                  </a:solidFill>
                </a:rPr>
                <a:t>(</a:t>
              </a:r>
              <a:r>
                <a:rPr lang="zh-CN" altLang="en-US" sz="1600" dirty="0">
                  <a:solidFill>
                    <a:srgbClr val="000000"/>
                  </a:solidFill>
                  <a:highlight>
                    <a:srgbClr val="CCFFFF"/>
                  </a:highlight>
                </a:rPr>
                <a:t>非最佳</a:t>
              </a:r>
              <a:r>
                <a:rPr lang="en-US" altLang="zh-CN" sz="1600" dirty="0">
                  <a:solidFill>
                    <a:srgbClr val="000000"/>
                  </a:solidFill>
                </a:rPr>
                <a:t>)</a:t>
              </a:r>
              <a:endParaRPr lang="zh-CN" alt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6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6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60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60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60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86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86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60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86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86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663A-DB8F-4C8C-9518-FCC529369F88}" type="slidenum">
              <a:rPr lang="en-US" altLang="zh-CN"/>
              <a:t>31</a:t>
            </a:fld>
            <a:endParaRPr lang="en-US" altLang="zh-CN"/>
          </a:p>
        </p:txBody>
      </p:sp>
      <p:sp>
        <p:nvSpPr>
          <p:cNvPr id="153027" name="Text Box 451"/>
          <p:cNvSpPr txBox="1">
            <a:spLocks noChangeArrowheads="1"/>
          </p:cNvSpPr>
          <p:nvPr/>
        </p:nvSpPr>
        <p:spPr bwMode="auto">
          <a:xfrm>
            <a:off x="179388" y="2132856"/>
            <a:ext cx="2629693" cy="3886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FF3399"/>
                </a:solidFill>
              </a:rPr>
              <a:t>(4)IEEE 754</a:t>
            </a:r>
            <a:r>
              <a:rPr lang="zh-CN" altLang="en-US" sz="2200" dirty="0">
                <a:solidFill>
                  <a:srgbClr val="FF3399"/>
                </a:solidFill>
              </a:rPr>
              <a:t>标准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进制：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表示格式：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5055" indent="-1075055"/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/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>
              <a:spcBef>
                <a:spcPts val="18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阶的编码：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336800" indent="-2336800">
              <a:lnSpc>
                <a:spcPct val="105000"/>
              </a:lnSpc>
              <a:spcBef>
                <a:spcPts val="0"/>
              </a:spcBef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 marL="2336800" indent="-2336800">
              <a:lnSpc>
                <a:spcPct val="100000"/>
              </a:lnSpc>
              <a:spcBef>
                <a:spcPts val="10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表示约定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 marL="2336800" indent="-2336800">
              <a:lnSpc>
                <a:spcPct val="105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      (</a:t>
            </a:r>
            <a:r>
              <a:rPr lang="zh-CN" altLang="en-US" sz="1600" dirty="0">
                <a:solidFill>
                  <a:schemeClr val="tx1"/>
                </a:solidFill>
              </a:rPr>
              <a:t>如余</a:t>
            </a:r>
            <a:r>
              <a:rPr lang="en-US" altLang="zh-CN" sz="1600" dirty="0">
                <a:solidFill>
                  <a:schemeClr val="tx1"/>
                </a:solidFill>
              </a:rPr>
              <a:t>127</a:t>
            </a:r>
            <a:r>
              <a:rPr lang="zh-CN" altLang="en-US" sz="1600" dirty="0">
                <a:solidFill>
                  <a:schemeClr val="tx1"/>
                </a:solidFill>
              </a:rPr>
              <a:t>码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153152" name="AutoShape 57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Text Box 141"/>
          <p:cNvSpPr txBox="1">
            <a:spLocks noChangeArrowheads="1"/>
          </p:cNvSpPr>
          <p:nvPr/>
        </p:nvSpPr>
        <p:spPr bwMode="auto">
          <a:xfrm>
            <a:off x="179388" y="332656"/>
            <a:ext cx="8785225" cy="18038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实数的表示</a:t>
            </a:r>
            <a:endParaRPr lang="en-US" altLang="zh-CN" sz="2200" dirty="0">
              <a:solidFill>
                <a:srgbClr val="FF3399"/>
              </a:solidFill>
            </a:endParaRPr>
          </a:p>
          <a:p>
            <a:pPr marL="1075055" indent="-1075055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表示方法：</a:t>
            </a:r>
            <a:r>
              <a:rPr lang="zh-CN" altLang="en-US" sz="2200" dirty="0">
                <a:solidFill>
                  <a:schemeClr val="tx1"/>
                </a:solidFill>
              </a:rPr>
              <a:t>二进制、浮点格式、尾数及阶</a:t>
            </a:r>
            <a:r>
              <a:rPr lang="zh-CN" altLang="en-US" sz="2200" u="sng" dirty="0">
                <a:solidFill>
                  <a:schemeClr val="tx1"/>
                </a:solidFill>
              </a:rPr>
              <a:t>单独</a:t>
            </a:r>
            <a:r>
              <a:rPr lang="zh-CN" altLang="en-US" sz="2200" dirty="0">
                <a:solidFill>
                  <a:schemeClr val="tx1"/>
                </a:solidFill>
              </a:rPr>
              <a:t>编码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码制可不同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075055" indent="-1075055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硬件支持的浮点数类型：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取决于</a:t>
            </a:r>
            <a:r>
              <a:rPr lang="en-US" altLang="zh-CN" sz="1800" u="sng" dirty="0">
                <a:solidFill>
                  <a:schemeClr val="tx1"/>
                </a:solidFill>
              </a:rPr>
              <a:t>ISA</a:t>
            </a:r>
            <a:r>
              <a:rPr lang="zh-CN" altLang="en-US" sz="1800" u="sng" dirty="0">
                <a:solidFill>
                  <a:schemeClr val="tx1"/>
                </a:solidFill>
              </a:rPr>
              <a:t>约定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1075055" indent="-1075055"/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dirty="0">
                <a:solidFill>
                  <a:srgbClr val="FF3399"/>
                </a:solidFill>
              </a:rPr>
              <a:t>目前均为</a:t>
            </a:r>
            <a:r>
              <a:rPr lang="en-US" altLang="zh-CN" sz="2200" u="sng" dirty="0">
                <a:solidFill>
                  <a:schemeClr val="tx1"/>
                </a:solidFill>
              </a:rPr>
              <a:t>IEEE 754</a:t>
            </a:r>
            <a:r>
              <a:rPr lang="zh-CN" altLang="en-US" sz="2200" u="sng" dirty="0">
                <a:solidFill>
                  <a:schemeClr val="tx1"/>
                </a:solidFill>
              </a:rPr>
              <a:t>标准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rgbClr val="FF3399"/>
                </a:solidFill>
              </a:rPr>
              <a:t>类型有</a:t>
            </a:r>
            <a:r>
              <a:rPr lang="zh-CN" altLang="en-US" sz="1800" dirty="0">
                <a:solidFill>
                  <a:schemeClr val="tx1"/>
                </a:solidFill>
              </a:rPr>
              <a:t>单精度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双精度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52" name="Text Box 451"/>
          <p:cNvSpPr txBox="1">
            <a:spLocks noChangeArrowheads="1"/>
          </p:cNvSpPr>
          <p:nvPr/>
        </p:nvSpPr>
        <p:spPr bwMode="auto">
          <a:xfrm>
            <a:off x="1331640" y="2564904"/>
            <a:ext cx="7775772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尾数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M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、阶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E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均为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</a:rPr>
              <a:t>二进制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即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</a:rPr>
              <a:t>M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</a:rPr>
              <a:t>E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2)</a:t>
            </a:r>
            <a:r>
              <a:rPr lang="zh-CN" altLang="en-US" sz="1800" dirty="0">
                <a:solidFill>
                  <a:schemeClr val="tx1"/>
                </a:solidFill>
              </a:rPr>
              <a:t>   ←精度最佳、范围用格式扩充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  <a:p>
            <a:pPr marL="1075055" indent="-1075055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有单精度、双精度两种       </a:t>
            </a:r>
            <a:r>
              <a:rPr lang="zh-CN" altLang="en-US" sz="1800" dirty="0">
                <a:solidFill>
                  <a:schemeClr val="tx1"/>
                </a:solidFill>
              </a:rPr>
              <a:t>  ←数符与尾数</a:t>
            </a:r>
            <a:r>
              <a:rPr lang="zh-CN" altLang="en-US" sz="1800" u="sng" dirty="0">
                <a:solidFill>
                  <a:schemeClr val="tx1"/>
                </a:solidFill>
              </a:rPr>
              <a:t>分离</a:t>
            </a:r>
            <a:endParaRPr lang="en-US" altLang="zh-CN" u="sng" dirty="0">
              <a:solidFill>
                <a:schemeClr val="tx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187450" y="3501008"/>
            <a:ext cx="7272338" cy="1008657"/>
            <a:chOff x="1187450" y="3284415"/>
            <a:chExt cx="7272338" cy="1008657"/>
          </a:xfrm>
        </p:grpSpPr>
        <p:sp>
          <p:nvSpPr>
            <p:cNvPr id="54" name="Line 529"/>
            <p:cNvSpPr>
              <a:spLocks noChangeShapeType="1"/>
            </p:cNvSpPr>
            <p:nvPr/>
          </p:nvSpPr>
          <p:spPr bwMode="auto">
            <a:xfrm>
              <a:off x="1187450" y="3286003"/>
              <a:ext cx="1588" cy="43180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5" name="Line 530"/>
            <p:cNvSpPr>
              <a:spLocks noChangeShapeType="1"/>
            </p:cNvSpPr>
            <p:nvPr/>
          </p:nvSpPr>
          <p:spPr bwMode="auto">
            <a:xfrm>
              <a:off x="4284663" y="3286003"/>
              <a:ext cx="0" cy="430213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6" name="Text Box 531"/>
            <p:cNvSpPr txBox="1">
              <a:spLocks noChangeArrowheads="1"/>
            </p:cNvSpPr>
            <p:nvPr/>
          </p:nvSpPr>
          <p:spPr bwMode="auto">
            <a:xfrm>
              <a:off x="3492574" y="3498728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23</a:t>
              </a:r>
            </a:p>
          </p:txBody>
        </p:sp>
        <p:sp>
          <p:nvSpPr>
            <p:cNvPr id="57" name="Line 532"/>
            <p:cNvSpPr>
              <a:spLocks noChangeShapeType="1"/>
            </p:cNvSpPr>
            <p:nvPr/>
          </p:nvSpPr>
          <p:spPr bwMode="auto">
            <a:xfrm>
              <a:off x="3815968" y="3611440"/>
              <a:ext cx="468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8" name="Line 533"/>
            <p:cNvSpPr>
              <a:spLocks noChangeShapeType="1"/>
            </p:cNvSpPr>
            <p:nvPr/>
          </p:nvSpPr>
          <p:spPr bwMode="auto">
            <a:xfrm>
              <a:off x="2987675" y="3501903"/>
              <a:ext cx="1588" cy="21590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9" name="Line 534"/>
            <p:cNvSpPr>
              <a:spLocks noChangeShapeType="1"/>
            </p:cNvSpPr>
            <p:nvPr/>
          </p:nvSpPr>
          <p:spPr bwMode="auto">
            <a:xfrm>
              <a:off x="1979613" y="3501903"/>
              <a:ext cx="1588" cy="21590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0" name="Line 535"/>
            <p:cNvSpPr>
              <a:spLocks noChangeShapeType="1"/>
            </p:cNvSpPr>
            <p:nvPr/>
          </p:nvSpPr>
          <p:spPr bwMode="auto">
            <a:xfrm flipH="1">
              <a:off x="2989263" y="3611440"/>
              <a:ext cx="468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1" name="Text Box 536"/>
            <p:cNvSpPr txBox="1">
              <a:spLocks noChangeArrowheads="1"/>
            </p:cNvSpPr>
            <p:nvPr/>
          </p:nvSpPr>
          <p:spPr bwMode="auto">
            <a:xfrm>
              <a:off x="2413000" y="3500315"/>
              <a:ext cx="14446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8</a:t>
              </a:r>
            </a:p>
          </p:txBody>
        </p:sp>
        <p:sp>
          <p:nvSpPr>
            <p:cNvPr id="62" name="Line 537"/>
            <p:cNvSpPr>
              <a:spLocks noChangeShapeType="1"/>
            </p:cNvSpPr>
            <p:nvPr/>
          </p:nvSpPr>
          <p:spPr bwMode="auto">
            <a:xfrm flipV="1">
              <a:off x="2628900" y="3611440"/>
              <a:ext cx="360363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3" name="Text Box 538"/>
            <p:cNvSpPr txBox="1">
              <a:spLocks noChangeArrowheads="1"/>
            </p:cNvSpPr>
            <p:nvPr/>
          </p:nvSpPr>
          <p:spPr bwMode="auto">
            <a:xfrm>
              <a:off x="1477963" y="3501903"/>
              <a:ext cx="14287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64" name="Line 539"/>
            <p:cNvSpPr>
              <a:spLocks noChangeShapeType="1"/>
            </p:cNvSpPr>
            <p:nvPr/>
          </p:nvSpPr>
          <p:spPr bwMode="auto">
            <a:xfrm flipV="1">
              <a:off x="1692275" y="3611440"/>
              <a:ext cx="288925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5" name="Line 540"/>
            <p:cNvSpPr>
              <a:spLocks noChangeShapeType="1"/>
            </p:cNvSpPr>
            <p:nvPr/>
          </p:nvSpPr>
          <p:spPr bwMode="auto">
            <a:xfrm flipH="1" flipV="1">
              <a:off x="1189038" y="3611440"/>
              <a:ext cx="287338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" name="Line 541"/>
            <p:cNvSpPr>
              <a:spLocks noChangeShapeType="1"/>
            </p:cNvSpPr>
            <p:nvPr/>
          </p:nvSpPr>
          <p:spPr bwMode="auto">
            <a:xfrm flipH="1" flipV="1">
              <a:off x="1981200" y="3611440"/>
              <a:ext cx="360363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7" name="Text Box 542"/>
            <p:cNvSpPr txBox="1">
              <a:spLocks noChangeArrowheads="1"/>
            </p:cNvSpPr>
            <p:nvPr/>
          </p:nvSpPr>
          <p:spPr bwMode="auto">
            <a:xfrm>
              <a:off x="1620838" y="4077072"/>
              <a:ext cx="22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单精度浮点格式</a:t>
              </a:r>
            </a:p>
          </p:txBody>
        </p:sp>
        <p:sp>
          <p:nvSpPr>
            <p:cNvPr id="68" name="Text Box 543"/>
            <p:cNvSpPr txBox="1">
              <a:spLocks noChangeArrowheads="1"/>
            </p:cNvSpPr>
            <p:nvPr/>
          </p:nvSpPr>
          <p:spPr bwMode="auto">
            <a:xfrm>
              <a:off x="1189038" y="3717803"/>
              <a:ext cx="792163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数符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S</a:t>
              </a:r>
            </a:p>
          </p:txBody>
        </p:sp>
        <p:sp>
          <p:nvSpPr>
            <p:cNvPr id="69" name="Text Box 544"/>
            <p:cNvSpPr txBox="1">
              <a:spLocks noChangeArrowheads="1"/>
            </p:cNvSpPr>
            <p:nvPr/>
          </p:nvSpPr>
          <p:spPr bwMode="auto">
            <a:xfrm>
              <a:off x="1981200" y="3717803"/>
              <a:ext cx="1008063" cy="287338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>
                  <a:solidFill>
                    <a:schemeClr val="tx1"/>
                  </a:solidFill>
                  <a:latin typeface="+mn-ea"/>
                  <a:ea typeface="+mn-ea"/>
                </a:rPr>
                <a:t>阶</a:t>
              </a: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E</a:t>
              </a:r>
            </a:p>
          </p:txBody>
        </p:sp>
        <p:sp>
          <p:nvSpPr>
            <p:cNvPr id="70" name="Text Box 545"/>
            <p:cNvSpPr txBox="1">
              <a:spLocks noChangeArrowheads="1"/>
            </p:cNvSpPr>
            <p:nvPr/>
          </p:nvSpPr>
          <p:spPr bwMode="auto">
            <a:xfrm>
              <a:off x="2989263" y="3717803"/>
              <a:ext cx="1295400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尾数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M</a:t>
              </a:r>
            </a:p>
          </p:txBody>
        </p:sp>
        <p:sp>
          <p:nvSpPr>
            <p:cNvPr id="71" name="Text Box 546"/>
            <p:cNvSpPr txBox="1">
              <a:spLocks noChangeArrowheads="1"/>
            </p:cNvSpPr>
            <p:nvPr/>
          </p:nvSpPr>
          <p:spPr bwMode="auto">
            <a:xfrm>
              <a:off x="2556470" y="3284984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32</a:t>
              </a:r>
            </a:p>
          </p:txBody>
        </p:sp>
        <p:sp>
          <p:nvSpPr>
            <p:cNvPr id="72" name="Line 547"/>
            <p:cNvSpPr>
              <a:spLocks noChangeShapeType="1"/>
            </p:cNvSpPr>
            <p:nvPr/>
          </p:nvSpPr>
          <p:spPr bwMode="auto">
            <a:xfrm>
              <a:off x="2916238" y="3387438"/>
              <a:ext cx="1368425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3" name="Line 548"/>
            <p:cNvSpPr>
              <a:spLocks noChangeShapeType="1"/>
            </p:cNvSpPr>
            <p:nvPr/>
          </p:nvSpPr>
          <p:spPr bwMode="auto">
            <a:xfrm flipH="1">
              <a:off x="1189038" y="3387438"/>
              <a:ext cx="1296988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4" name="Line 549"/>
            <p:cNvSpPr>
              <a:spLocks noChangeShapeType="1"/>
            </p:cNvSpPr>
            <p:nvPr/>
          </p:nvSpPr>
          <p:spPr bwMode="auto">
            <a:xfrm>
              <a:off x="4572000" y="3286003"/>
              <a:ext cx="0" cy="43180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5" name="Line 550"/>
            <p:cNvSpPr>
              <a:spLocks noChangeShapeType="1"/>
            </p:cNvSpPr>
            <p:nvPr/>
          </p:nvSpPr>
          <p:spPr bwMode="auto">
            <a:xfrm>
              <a:off x="8459788" y="3286003"/>
              <a:ext cx="0" cy="430213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6" name="Text Box 551"/>
            <p:cNvSpPr txBox="1">
              <a:spLocks noChangeArrowheads="1"/>
            </p:cNvSpPr>
            <p:nvPr/>
          </p:nvSpPr>
          <p:spPr bwMode="auto">
            <a:xfrm>
              <a:off x="7452121" y="3500315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>
                  <a:latin typeface="+mn-ea"/>
                  <a:ea typeface="+mn-ea"/>
                </a:rPr>
                <a:t>52</a:t>
              </a:r>
            </a:p>
          </p:txBody>
        </p:sp>
        <p:sp>
          <p:nvSpPr>
            <p:cNvPr id="77" name="Line 552"/>
            <p:cNvSpPr>
              <a:spLocks noChangeShapeType="1"/>
            </p:cNvSpPr>
            <p:nvPr/>
          </p:nvSpPr>
          <p:spPr bwMode="auto">
            <a:xfrm flipV="1">
              <a:off x="7739459" y="3611440"/>
              <a:ext cx="720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8" name="Line 553"/>
            <p:cNvSpPr>
              <a:spLocks noChangeShapeType="1"/>
            </p:cNvSpPr>
            <p:nvPr/>
          </p:nvSpPr>
          <p:spPr bwMode="auto">
            <a:xfrm>
              <a:off x="6659563" y="3501903"/>
              <a:ext cx="0" cy="21590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9" name="Line 554"/>
            <p:cNvSpPr>
              <a:spLocks noChangeShapeType="1"/>
            </p:cNvSpPr>
            <p:nvPr/>
          </p:nvSpPr>
          <p:spPr bwMode="auto">
            <a:xfrm>
              <a:off x="5364163" y="3501903"/>
              <a:ext cx="0" cy="21590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0" name="Line 555"/>
            <p:cNvSpPr>
              <a:spLocks noChangeShapeType="1"/>
            </p:cNvSpPr>
            <p:nvPr/>
          </p:nvSpPr>
          <p:spPr bwMode="auto">
            <a:xfrm flipH="1" flipV="1">
              <a:off x="6661150" y="3611440"/>
              <a:ext cx="720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1" name="Text Box 556"/>
            <p:cNvSpPr txBox="1">
              <a:spLocks noChangeArrowheads="1"/>
            </p:cNvSpPr>
            <p:nvPr/>
          </p:nvSpPr>
          <p:spPr bwMode="auto">
            <a:xfrm>
              <a:off x="5868988" y="3501903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11</a:t>
              </a:r>
            </a:p>
          </p:txBody>
        </p:sp>
        <p:sp>
          <p:nvSpPr>
            <p:cNvPr id="82" name="Line 557"/>
            <p:cNvSpPr>
              <a:spLocks noChangeShapeType="1"/>
            </p:cNvSpPr>
            <p:nvPr/>
          </p:nvSpPr>
          <p:spPr bwMode="auto">
            <a:xfrm flipV="1">
              <a:off x="6191339" y="3611440"/>
              <a:ext cx="468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3" name="Text Box 558"/>
            <p:cNvSpPr txBox="1">
              <a:spLocks noChangeArrowheads="1"/>
            </p:cNvSpPr>
            <p:nvPr/>
          </p:nvSpPr>
          <p:spPr bwMode="auto">
            <a:xfrm>
              <a:off x="4862513" y="3500315"/>
              <a:ext cx="14287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84" name="Line 559"/>
            <p:cNvSpPr>
              <a:spLocks noChangeShapeType="1"/>
            </p:cNvSpPr>
            <p:nvPr/>
          </p:nvSpPr>
          <p:spPr bwMode="auto">
            <a:xfrm flipV="1">
              <a:off x="5076825" y="3611440"/>
              <a:ext cx="288925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5" name="Line 560"/>
            <p:cNvSpPr>
              <a:spLocks noChangeShapeType="1"/>
            </p:cNvSpPr>
            <p:nvPr/>
          </p:nvSpPr>
          <p:spPr bwMode="auto">
            <a:xfrm flipH="1" flipV="1">
              <a:off x="4573588" y="3611440"/>
              <a:ext cx="287338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6" name="Line 561"/>
            <p:cNvSpPr>
              <a:spLocks noChangeShapeType="1"/>
            </p:cNvSpPr>
            <p:nvPr/>
          </p:nvSpPr>
          <p:spPr bwMode="auto">
            <a:xfrm flipH="1" flipV="1">
              <a:off x="5364163" y="3611440"/>
              <a:ext cx="468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7" name="Text Box 562"/>
            <p:cNvSpPr txBox="1">
              <a:spLocks noChangeArrowheads="1"/>
            </p:cNvSpPr>
            <p:nvPr/>
          </p:nvSpPr>
          <p:spPr bwMode="auto">
            <a:xfrm>
              <a:off x="5219700" y="4077072"/>
              <a:ext cx="22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双精度浮点格式</a:t>
              </a:r>
            </a:p>
          </p:txBody>
        </p:sp>
        <p:sp>
          <p:nvSpPr>
            <p:cNvPr id="88" name="Text Box 563"/>
            <p:cNvSpPr txBox="1">
              <a:spLocks noChangeArrowheads="1"/>
            </p:cNvSpPr>
            <p:nvPr/>
          </p:nvSpPr>
          <p:spPr bwMode="auto">
            <a:xfrm>
              <a:off x="4573588" y="3717803"/>
              <a:ext cx="792163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数符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S</a:t>
              </a:r>
            </a:p>
          </p:txBody>
        </p:sp>
        <p:sp>
          <p:nvSpPr>
            <p:cNvPr id="89" name="Text Box 564"/>
            <p:cNvSpPr txBox="1">
              <a:spLocks noChangeArrowheads="1"/>
            </p:cNvSpPr>
            <p:nvPr/>
          </p:nvSpPr>
          <p:spPr bwMode="auto">
            <a:xfrm>
              <a:off x="5365750" y="3717803"/>
              <a:ext cx="1295400" cy="287338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>
                  <a:solidFill>
                    <a:schemeClr val="tx1"/>
                  </a:solidFill>
                  <a:latin typeface="+mn-ea"/>
                  <a:ea typeface="+mn-ea"/>
                </a:rPr>
                <a:t>阶</a:t>
              </a:r>
              <a:r>
                <a:rPr lang="en-US" altLang="zh-CN" sz="1800">
                  <a:solidFill>
                    <a:schemeClr val="tx1"/>
                  </a:solidFill>
                  <a:latin typeface="+mn-ea"/>
                  <a:ea typeface="+mn-ea"/>
                </a:rPr>
                <a:t>E</a:t>
              </a:r>
            </a:p>
          </p:txBody>
        </p:sp>
        <p:sp>
          <p:nvSpPr>
            <p:cNvPr id="90" name="Text Box 565"/>
            <p:cNvSpPr txBox="1">
              <a:spLocks noChangeArrowheads="1"/>
            </p:cNvSpPr>
            <p:nvPr/>
          </p:nvSpPr>
          <p:spPr bwMode="auto">
            <a:xfrm>
              <a:off x="6661150" y="3717803"/>
              <a:ext cx="1798638" cy="287338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尾数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M</a:t>
              </a:r>
            </a:p>
          </p:txBody>
        </p:sp>
        <p:sp>
          <p:nvSpPr>
            <p:cNvPr id="91" name="Text Box 566"/>
            <p:cNvSpPr txBox="1">
              <a:spLocks noChangeArrowheads="1"/>
            </p:cNvSpPr>
            <p:nvPr/>
          </p:nvSpPr>
          <p:spPr bwMode="auto">
            <a:xfrm>
              <a:off x="6373813" y="3284415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64</a:t>
              </a:r>
            </a:p>
          </p:txBody>
        </p:sp>
        <p:sp>
          <p:nvSpPr>
            <p:cNvPr id="92" name="Line 567"/>
            <p:cNvSpPr>
              <a:spLocks noChangeShapeType="1"/>
            </p:cNvSpPr>
            <p:nvPr/>
          </p:nvSpPr>
          <p:spPr bwMode="auto">
            <a:xfrm>
              <a:off x="6731539" y="3387438"/>
              <a:ext cx="1728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3" name="Line 568"/>
            <p:cNvSpPr>
              <a:spLocks noChangeShapeType="1"/>
            </p:cNvSpPr>
            <p:nvPr/>
          </p:nvSpPr>
          <p:spPr bwMode="auto">
            <a:xfrm flipH="1">
              <a:off x="4573587" y="3387438"/>
              <a:ext cx="1728000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94" name="Text Box 52">
            <a:extLst>
              <a:ext uri="{FF2B5EF4-FFF2-40B4-BE49-F238E27FC236}">
                <a16:creationId xmlns:a16="http://schemas.microsoft.com/office/drawing/2014/main" id="{C22A2A51-F086-4F4E-B29B-C1D0F08DC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252" y="4509120"/>
            <a:ext cx="7920160" cy="17315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zh-CN" altLang="en-US" sz="2200" dirty="0">
                <a:solidFill>
                  <a:schemeClr val="tx1"/>
                </a:solidFill>
              </a:rPr>
              <a:t>     采用</a:t>
            </a:r>
            <a:r>
              <a:rPr lang="zh-CN" altLang="en-US" sz="2200" u="sng" dirty="0">
                <a:solidFill>
                  <a:srgbClr val="0070C0"/>
                </a:solidFill>
              </a:rPr>
              <a:t>移码</a:t>
            </a:r>
            <a:r>
              <a:rPr lang="zh-CN" altLang="en-US" sz="2200" dirty="0">
                <a:solidFill>
                  <a:schemeClr val="tx1"/>
                </a:solidFill>
              </a:rPr>
              <a:t>，偏移量＝标准移码</a:t>
            </a:r>
            <a:r>
              <a:rPr lang="zh-CN" altLang="en-US" sz="2200" dirty="0">
                <a:solidFill>
                  <a:srgbClr val="990099"/>
                </a:solidFill>
              </a:rPr>
              <a:t>－</a:t>
            </a:r>
            <a:r>
              <a:rPr lang="en-US" altLang="zh-CN" sz="2200" dirty="0">
                <a:solidFill>
                  <a:srgbClr val="990099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  </a:t>
            </a:r>
            <a:r>
              <a:rPr lang="zh-CN" altLang="en-US" sz="1800" dirty="0">
                <a:solidFill>
                  <a:schemeClr val="tx1"/>
                </a:solidFill>
              </a:rPr>
              <a:t>←又称</a:t>
            </a:r>
            <a:r>
              <a:rPr lang="zh-CN" altLang="en-US" sz="1800" u="sng" dirty="0">
                <a:solidFill>
                  <a:srgbClr val="0070C0"/>
                </a:solidFill>
              </a:rPr>
              <a:t>余</a:t>
            </a:r>
            <a:r>
              <a:rPr lang="en-US" altLang="zh-CN" sz="1800" u="sng" dirty="0">
                <a:solidFill>
                  <a:srgbClr val="0070C0"/>
                </a:solidFill>
              </a:rPr>
              <a:t>127</a:t>
            </a:r>
            <a:r>
              <a:rPr lang="zh-CN" altLang="en-US" sz="1800" u="sng" dirty="0">
                <a:solidFill>
                  <a:srgbClr val="0070C0"/>
                </a:solidFill>
              </a:rPr>
              <a:t>码</a:t>
            </a:r>
            <a:r>
              <a:rPr lang="zh-CN" altLang="en-US" sz="1800" dirty="0">
                <a:solidFill>
                  <a:schemeClr val="tx1"/>
                </a:solidFill>
              </a:rPr>
              <a:t>和</a:t>
            </a:r>
            <a:r>
              <a:rPr lang="zh-CN" altLang="en-US" sz="1800" u="sng" dirty="0">
                <a:solidFill>
                  <a:srgbClr val="0070C0"/>
                </a:solidFill>
              </a:rPr>
              <a:t>余</a:t>
            </a:r>
            <a:r>
              <a:rPr lang="en-US" altLang="zh-CN" sz="1800" u="sng" dirty="0">
                <a:solidFill>
                  <a:srgbClr val="0070C0"/>
                </a:solidFill>
              </a:rPr>
              <a:t>1023</a:t>
            </a:r>
            <a:r>
              <a:rPr lang="zh-CN" altLang="en-US" sz="1800" u="sng" dirty="0">
                <a:solidFill>
                  <a:srgbClr val="0070C0"/>
                </a:solidFill>
              </a:rPr>
              <a:t>码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336800" indent="-2336800">
              <a:lnSpc>
                <a:spcPct val="105000"/>
              </a:lnSpc>
            </a:pPr>
            <a:r>
              <a:rPr lang="en-US" altLang="zh-CN" sz="1800" b="0" dirty="0">
                <a:solidFill>
                  <a:schemeClr val="tx1"/>
                </a:solidFill>
              </a:rPr>
              <a:t>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→即 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E</a:t>
            </a:r>
            <a:r>
              <a:rPr lang="zh-CN" altLang="en-US" sz="1800" dirty="0">
                <a:solidFill>
                  <a:schemeClr val="tx1"/>
                </a:solidFill>
              </a:rPr>
              <a:t>＝阶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</a:rPr>
              <a:t>(2</a:t>
            </a:r>
            <a:r>
              <a:rPr lang="en-US" altLang="zh-CN" sz="1800" baseline="30000" dirty="0">
                <a:solidFill>
                  <a:schemeClr val="tx1"/>
                </a:solidFill>
              </a:rPr>
              <a:t>8-1</a:t>
            </a:r>
            <a:r>
              <a:rPr lang="zh-CN" altLang="en-US" sz="1800" dirty="0">
                <a:solidFill>
                  <a:srgbClr val="990099"/>
                </a:solidFill>
              </a:rPr>
              <a:t>－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＝阶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</a:rPr>
              <a:t>127</a:t>
            </a:r>
          </a:p>
          <a:p>
            <a:pPr marL="2336800" indent="-2336800">
              <a:lnSpc>
                <a:spcPct val="135000"/>
              </a:lnSpc>
              <a:spcBef>
                <a:spcPts val="30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       1≤E≤254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：表示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</a:rPr>
              <a:t>规格化数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的阶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即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-126≤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阶≤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+127)</a:t>
            </a:r>
          </a:p>
          <a:p>
            <a:pPr marL="2336800" indent="-2336800"/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       E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及</a:t>
            </a:r>
            <a:r>
              <a:rPr lang="en-US" altLang="zh-CN" sz="2200" dirty="0">
                <a:solidFill>
                  <a:schemeClr val="tx1"/>
                </a:solidFill>
              </a:rPr>
              <a:t>255</a:t>
            </a:r>
            <a:r>
              <a:rPr lang="zh-CN" altLang="en-US" sz="2200" dirty="0">
                <a:solidFill>
                  <a:schemeClr val="tx1"/>
                </a:solidFill>
              </a:rPr>
              <a:t>：表示</a:t>
            </a:r>
            <a:r>
              <a:rPr lang="zh-CN" altLang="en-US" sz="2200" u="sng" dirty="0">
                <a:solidFill>
                  <a:srgbClr val="990099"/>
                </a:solidFill>
              </a:rPr>
              <a:t>其它特征数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如非规格化数等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3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3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3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3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2">
            <a:extLst>
              <a:ext uri="{FF2B5EF4-FFF2-40B4-BE49-F238E27FC236}">
                <a16:creationId xmlns:a16="http://schemas.microsoft.com/office/drawing/2014/main" id="{6A95FA8E-C844-4E09-87F2-02D7950F5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332656"/>
            <a:ext cx="3888432" cy="5749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336800" indent="-2336800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尾数的编码：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非规格化尾数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lnSpc>
                <a:spcPct val="105000"/>
              </a:lnSpc>
            </a:pPr>
            <a:endParaRPr lang="en-US" altLang="zh-CN" sz="1800" dirty="0">
              <a:solidFill>
                <a:schemeClr val="accent2"/>
              </a:solidFill>
            </a:endParaRPr>
          </a:p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规 格 化尾数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表示特征：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以单精度为例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表示约定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000" dirty="0">
              <a:solidFill>
                <a:schemeClr val="accent2"/>
              </a:solidFill>
            </a:endParaRPr>
          </a:p>
          <a:p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特征分析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A4C55-6551-4630-8F0D-0BDFEDD4221A}" type="slidenum">
              <a:rPr lang="en-US" altLang="zh-CN"/>
              <a:t>32</a:t>
            </a:fld>
            <a:endParaRPr lang="en-US" altLang="zh-CN" dirty="0"/>
          </a:p>
        </p:txBody>
      </p:sp>
      <p:sp>
        <p:nvSpPr>
          <p:cNvPr id="246845" name="Text Box 61"/>
          <p:cNvSpPr txBox="1">
            <a:spLocks noChangeArrowheads="1"/>
          </p:cNvSpPr>
          <p:nvPr/>
        </p:nvSpPr>
        <p:spPr bwMode="auto">
          <a:xfrm>
            <a:off x="2195737" y="332656"/>
            <a:ext cx="6768750" cy="1909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采用</a:t>
            </a:r>
            <a:r>
              <a:rPr lang="zh-CN" altLang="en-US" sz="2200" u="sng" dirty="0">
                <a:solidFill>
                  <a:srgbClr val="0070C0"/>
                </a:solidFill>
              </a:rPr>
              <a:t>原码</a:t>
            </a:r>
            <a:r>
              <a:rPr lang="zh-CN" altLang="en-US" sz="2200" dirty="0">
                <a:solidFill>
                  <a:schemeClr val="tx1"/>
                </a:solidFill>
              </a:rPr>
              <a:t>，规格化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非规格化数的</a:t>
            </a:r>
            <a:r>
              <a:rPr lang="zh-CN" altLang="en-US" sz="2200" u="sng" dirty="0">
                <a:solidFill>
                  <a:schemeClr val="tx1"/>
                </a:solidFill>
              </a:rPr>
              <a:t>小数点</a:t>
            </a:r>
            <a:r>
              <a:rPr lang="zh-CN" altLang="en-US" sz="2200" u="sng" dirty="0">
                <a:solidFill>
                  <a:srgbClr val="990099"/>
                </a:solidFill>
              </a:rPr>
              <a:t>位置不同</a:t>
            </a:r>
            <a:endParaRPr lang="en-US" altLang="zh-CN" sz="2200" dirty="0">
              <a:solidFill>
                <a:srgbClr val="990099"/>
              </a:solidFill>
            </a:endParaRPr>
          </a:p>
          <a:p>
            <a:pPr>
              <a:spcBef>
                <a:spcPts val="10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的真值＝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±0.m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-23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的编码＝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Sm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-23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         可＝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1→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</a:rPr>
              <a:t>┴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表示精度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≤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23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位</a:t>
            </a:r>
            <a:endParaRPr lang="en-US" altLang="zh-CN" sz="1800" dirty="0">
              <a:solidFill>
                <a:srgbClr val="990099"/>
              </a:solidFill>
              <a:latin typeface="+mn-ea"/>
              <a:ea typeface="+mn-ea"/>
            </a:endParaRPr>
          </a:p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的真值＝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±1.m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-24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的编码＝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Sm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…m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-24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扩展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0.1m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-2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…m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-23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</a:rPr>
              <a:t>┴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表示精度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24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位</a:t>
            </a:r>
          </a:p>
        </p:txBody>
      </p:sp>
      <p:sp>
        <p:nvSpPr>
          <p:cNvPr id="246847" name="AutoShape 6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848" name="AutoShape 6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303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" name="Group 216">
            <a:extLst>
              <a:ext uri="{FF2B5EF4-FFF2-40B4-BE49-F238E27FC236}">
                <a16:creationId xmlns:a16="http://schemas.microsoft.com/office/drawing/2014/main" id="{907394F3-6D8C-4B8E-8D1C-ED4DD6C4D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788444"/>
              </p:ext>
            </p:extLst>
          </p:nvPr>
        </p:nvGraphicFramePr>
        <p:xfrm>
          <a:off x="2339752" y="2780928"/>
          <a:ext cx="6285960" cy="1861920"/>
        </p:xfrm>
        <a:graphic>
          <a:graphicData uri="http://schemas.openxmlformats.org/drawingml/2006/table">
            <a:tbl>
              <a:tblPr/>
              <a:tblGrid>
                <a:gridCol w="1821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格式参数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表示的真值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说明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，且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±0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+mn-ea"/>
                          <a:ea typeface="+mn-ea"/>
                        </a:rPr>
                        <a:t>机器零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下溢区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，且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M≠0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(-1)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-126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×0.M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+mn-ea"/>
                          <a:ea typeface="+mn-ea"/>
                        </a:rPr>
                        <a:t>非规格化数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1≤E≤254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(-1)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×2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E-127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×1.M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规格化数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255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，且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(-1)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×∞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+mn-ea"/>
                          <a:ea typeface="+mn-ea"/>
                        </a:rPr>
                        <a:t>±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+mn-ea"/>
                          <a:ea typeface="+mn-ea"/>
                        </a:rPr>
                        <a:t>无穷大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上溢区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255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，且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M≠0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NaN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+mn-ea"/>
                          <a:ea typeface="+mn-ea"/>
                        </a:rPr>
                        <a:t>非数值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Box 39">
            <a:extLst>
              <a:ext uri="{FF2B5EF4-FFF2-40B4-BE49-F238E27FC236}">
                <a16:creationId xmlns:a16="http://schemas.microsoft.com/office/drawing/2014/main" id="{FD816328-BDC0-463C-A85D-354CFE201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789" y="5517232"/>
            <a:ext cx="654167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zh-CN" altLang="en-US" sz="2200" dirty="0">
                <a:solidFill>
                  <a:schemeClr val="tx1"/>
                </a:solidFill>
              </a:rPr>
              <a:t>可减少下溢区，可表示溢出、异常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如负数开根等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14" name="Group 184">
            <a:extLst>
              <a:ext uri="{FF2B5EF4-FFF2-40B4-BE49-F238E27FC236}">
                <a16:creationId xmlns:a16="http://schemas.microsoft.com/office/drawing/2014/main" id="{25ED79FD-C598-47D1-860B-604F2AA18859}"/>
              </a:ext>
            </a:extLst>
          </p:cNvPr>
          <p:cNvGrpSpPr/>
          <p:nvPr/>
        </p:nvGrpSpPr>
        <p:grpSpPr bwMode="auto">
          <a:xfrm>
            <a:off x="1224855" y="4759994"/>
            <a:ext cx="7667625" cy="757238"/>
            <a:chOff x="408" y="2676"/>
            <a:chExt cx="4830" cy="477"/>
          </a:xfrm>
        </p:grpSpPr>
        <p:sp>
          <p:nvSpPr>
            <p:cNvPr id="15" name="Text Box 210">
              <a:extLst>
                <a:ext uri="{FF2B5EF4-FFF2-40B4-BE49-F238E27FC236}">
                  <a16:creationId xmlns:a16="http://schemas.microsoft.com/office/drawing/2014/main" id="{C8DDB0E9-3DBB-4B0E-9B59-172139EFD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76"/>
              <a:ext cx="454" cy="13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下溢区</a:t>
              </a:r>
            </a:p>
          </p:txBody>
        </p:sp>
        <p:sp>
          <p:nvSpPr>
            <p:cNvPr id="16" name="Text Box 211">
              <a:extLst>
                <a:ext uri="{FF2B5EF4-FFF2-40B4-BE49-F238E27FC236}">
                  <a16:creationId xmlns:a16="http://schemas.microsoft.com/office/drawing/2014/main" id="{86938534-2E8B-4FDF-ACF1-ADB62800D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2676"/>
              <a:ext cx="363" cy="27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正上溢区</a:t>
              </a:r>
            </a:p>
          </p:txBody>
        </p:sp>
        <p:sp>
          <p:nvSpPr>
            <p:cNvPr id="17" name="Text Box 186">
              <a:extLst>
                <a:ext uri="{FF2B5EF4-FFF2-40B4-BE49-F238E27FC236}">
                  <a16:creationId xmlns:a16="http://schemas.microsoft.com/office/drawing/2014/main" id="{63B45930-1C30-4BF3-A7DC-6D28B6588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2812"/>
              <a:ext cx="2064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正非规格化数区域</a:t>
              </a:r>
            </a:p>
          </p:txBody>
        </p:sp>
        <p:sp>
          <p:nvSpPr>
            <p:cNvPr id="19" name="Text Box 187">
              <a:extLst>
                <a:ext uri="{FF2B5EF4-FFF2-40B4-BE49-F238E27FC236}">
                  <a16:creationId xmlns:a16="http://schemas.microsoft.com/office/drawing/2014/main" id="{FF8F0111-7A61-447F-8822-4DB12A96C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812"/>
              <a:ext cx="454" cy="13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机器零</a:t>
              </a:r>
            </a:p>
          </p:txBody>
        </p:sp>
        <p:sp>
          <p:nvSpPr>
            <p:cNvPr id="20" name="Line 188">
              <a:extLst>
                <a:ext uri="{FF2B5EF4-FFF2-40B4-BE49-F238E27FC236}">
                  <a16:creationId xmlns:a16="http://schemas.microsoft.com/office/drawing/2014/main" id="{C967A349-9618-4A39-8DE5-704DF3749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" y="2948"/>
              <a:ext cx="0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89">
              <a:extLst>
                <a:ext uri="{FF2B5EF4-FFF2-40B4-BE49-F238E27FC236}">
                  <a16:creationId xmlns:a16="http://schemas.microsoft.com/office/drawing/2014/main" id="{B58E5AE7-2B64-4C01-A09D-69D63CBA9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" y="3017"/>
              <a:ext cx="272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0.0</a:t>
              </a:r>
            </a:p>
          </p:txBody>
        </p:sp>
        <p:sp>
          <p:nvSpPr>
            <p:cNvPr id="22" name="Text Box 190">
              <a:extLst>
                <a:ext uri="{FF2B5EF4-FFF2-40B4-BE49-F238E27FC236}">
                  <a16:creationId xmlns:a16="http://schemas.microsoft.com/office/drawing/2014/main" id="{CF806FB1-D488-4B6C-9310-C9C5EE750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5" y="2994"/>
              <a:ext cx="952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+0.0…01×2</a:t>
              </a:r>
              <a:r>
                <a:rPr lang="en-US" altLang="zh-CN" sz="1600" baseline="30000" dirty="0">
                  <a:solidFill>
                    <a:srgbClr val="990099"/>
                  </a:solidFill>
                </a:rPr>
                <a:t>-126</a:t>
              </a:r>
            </a:p>
          </p:txBody>
        </p:sp>
        <p:sp>
          <p:nvSpPr>
            <p:cNvPr id="23" name="Text Box 191">
              <a:extLst>
                <a:ext uri="{FF2B5EF4-FFF2-40B4-BE49-F238E27FC236}">
                  <a16:creationId xmlns:a16="http://schemas.microsoft.com/office/drawing/2014/main" id="{08667806-7263-40F0-9477-1CF3D58EA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1" y="2994"/>
              <a:ext cx="88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+0.1…1×2</a:t>
              </a:r>
              <a:r>
                <a:rPr lang="en-US" altLang="zh-CN" sz="1600" baseline="30000" dirty="0">
                  <a:solidFill>
                    <a:srgbClr val="990099"/>
                  </a:solidFill>
                </a:rPr>
                <a:t>-126</a:t>
              </a:r>
            </a:p>
          </p:txBody>
        </p:sp>
        <p:sp>
          <p:nvSpPr>
            <p:cNvPr id="24" name="Text Box 192">
              <a:extLst>
                <a:ext uri="{FF2B5EF4-FFF2-40B4-BE49-F238E27FC236}">
                  <a16:creationId xmlns:a16="http://schemas.microsoft.com/office/drawing/2014/main" id="{A3AE5AA8-E19E-460F-8191-34004171F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994"/>
              <a:ext cx="88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+1.0…0×2</a:t>
              </a:r>
              <a:r>
                <a:rPr lang="en-US" altLang="zh-CN" sz="1600" baseline="30000" dirty="0">
                  <a:solidFill>
                    <a:schemeClr val="tx1"/>
                  </a:solidFill>
                </a:rPr>
                <a:t>-126</a:t>
              </a:r>
            </a:p>
          </p:txBody>
        </p:sp>
        <p:sp>
          <p:nvSpPr>
            <p:cNvPr id="25" name="Line 193">
              <a:extLst>
                <a:ext uri="{FF2B5EF4-FFF2-40B4-BE49-F238E27FC236}">
                  <a16:creationId xmlns:a16="http://schemas.microsoft.com/office/drawing/2014/main" id="{348AEC95-5BC3-4421-B2AC-72F8FC1658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6" y="2948"/>
              <a:ext cx="0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194">
              <a:extLst>
                <a:ext uri="{FF2B5EF4-FFF2-40B4-BE49-F238E27FC236}">
                  <a16:creationId xmlns:a16="http://schemas.microsoft.com/office/drawing/2014/main" id="{B4353331-788B-4070-B660-71925364D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6" y="2812"/>
              <a:ext cx="1020" cy="13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正规格化数区域</a:t>
              </a:r>
            </a:p>
          </p:txBody>
        </p:sp>
        <p:sp>
          <p:nvSpPr>
            <p:cNvPr id="27" name="Line 195">
              <a:extLst>
                <a:ext uri="{FF2B5EF4-FFF2-40B4-BE49-F238E27FC236}">
                  <a16:creationId xmlns:a16="http://schemas.microsoft.com/office/drawing/2014/main" id="{20E5F455-0339-4DDB-B268-9A4E8D7A0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812"/>
              <a:ext cx="0" cy="136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96">
              <a:extLst>
                <a:ext uri="{FF2B5EF4-FFF2-40B4-BE49-F238E27FC236}">
                  <a16:creationId xmlns:a16="http://schemas.microsoft.com/office/drawing/2014/main" id="{4543D5C6-C13D-43B7-BE3B-34E82EBF8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2812"/>
              <a:ext cx="0" cy="136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197">
              <a:extLst>
                <a:ext uri="{FF2B5EF4-FFF2-40B4-BE49-F238E27FC236}">
                  <a16:creationId xmlns:a16="http://schemas.microsoft.com/office/drawing/2014/main" id="{4FDF1A60-6C5A-41A5-B466-D24084FCC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2812"/>
              <a:ext cx="181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略</a:t>
              </a:r>
            </a:p>
          </p:txBody>
        </p:sp>
        <p:sp>
          <p:nvSpPr>
            <p:cNvPr id="30" name="Text Box 198">
              <a:extLst>
                <a:ext uri="{FF2B5EF4-FFF2-40B4-BE49-F238E27FC236}">
                  <a16:creationId xmlns:a16="http://schemas.microsoft.com/office/drawing/2014/main" id="{1B5CDE29-345D-48D6-96AD-48B0E0093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4" y="2994"/>
              <a:ext cx="88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+1.1…1×2</a:t>
              </a:r>
              <a:r>
                <a:rPr lang="en-US" altLang="zh-CN" sz="1600" baseline="30000" dirty="0">
                  <a:solidFill>
                    <a:schemeClr val="tx1"/>
                  </a:solidFill>
                </a:rPr>
                <a:t>+127</a:t>
              </a:r>
            </a:p>
          </p:txBody>
        </p:sp>
        <p:sp>
          <p:nvSpPr>
            <p:cNvPr id="31" name="Line 199">
              <a:extLst>
                <a:ext uri="{FF2B5EF4-FFF2-40B4-BE49-F238E27FC236}">
                  <a16:creationId xmlns:a16="http://schemas.microsoft.com/office/drawing/2014/main" id="{2C2D6791-FFA9-4903-8056-47BC8FEA9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3017"/>
              <a:ext cx="68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00">
              <a:extLst>
                <a:ext uri="{FF2B5EF4-FFF2-40B4-BE49-F238E27FC236}">
                  <a16:creationId xmlns:a16="http://schemas.microsoft.com/office/drawing/2014/main" id="{10DEF81D-08B6-46EE-8B2F-7904ED7A1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1" y="2948"/>
              <a:ext cx="0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01">
              <a:extLst>
                <a:ext uri="{FF2B5EF4-FFF2-40B4-BE49-F238E27FC236}">
                  <a16:creationId xmlns:a16="http://schemas.microsoft.com/office/drawing/2014/main" id="{B77C7EB4-99F8-4580-806D-9138E8684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" y="3017"/>
              <a:ext cx="68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02">
              <a:extLst>
                <a:ext uri="{FF2B5EF4-FFF2-40B4-BE49-F238E27FC236}">
                  <a16:creationId xmlns:a16="http://schemas.microsoft.com/office/drawing/2014/main" id="{DD7AA9BB-B9B3-4E49-A6A5-D1286BDD5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812"/>
              <a:ext cx="0" cy="136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203">
              <a:extLst>
                <a:ext uri="{FF2B5EF4-FFF2-40B4-BE49-F238E27FC236}">
                  <a16:creationId xmlns:a16="http://schemas.microsoft.com/office/drawing/2014/main" id="{CB049727-FCFD-48FC-B7F6-1B30C1828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6" y="2948"/>
              <a:ext cx="0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204">
              <a:extLst>
                <a:ext uri="{FF2B5EF4-FFF2-40B4-BE49-F238E27FC236}">
                  <a16:creationId xmlns:a16="http://schemas.microsoft.com/office/drawing/2014/main" id="{8C4EDEC4-4FB9-460F-8941-718375589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2" y="3017"/>
              <a:ext cx="68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Line 205">
              <a:extLst>
                <a:ext uri="{FF2B5EF4-FFF2-40B4-BE49-F238E27FC236}">
                  <a16:creationId xmlns:a16="http://schemas.microsoft.com/office/drawing/2014/main" id="{1664944C-375B-43E6-B654-293BF72A7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2812"/>
              <a:ext cx="0" cy="136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06">
              <a:extLst>
                <a:ext uri="{FF2B5EF4-FFF2-40B4-BE49-F238E27FC236}">
                  <a16:creationId xmlns:a16="http://schemas.microsoft.com/office/drawing/2014/main" id="{3DA3D96F-2EB4-4140-9E8E-71050C67E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7" y="2948"/>
              <a:ext cx="0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207">
              <a:extLst>
                <a:ext uri="{FF2B5EF4-FFF2-40B4-BE49-F238E27FC236}">
                  <a16:creationId xmlns:a16="http://schemas.microsoft.com/office/drawing/2014/main" id="{99C6723E-D0F4-4661-9F9D-BD302B911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7" y="3017"/>
              <a:ext cx="68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08">
              <a:extLst>
                <a:ext uri="{FF2B5EF4-FFF2-40B4-BE49-F238E27FC236}">
                  <a16:creationId xmlns:a16="http://schemas.microsoft.com/office/drawing/2014/main" id="{3C7EF029-477E-4E93-86F2-76F95F2B0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2676"/>
              <a:ext cx="0" cy="272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209">
              <a:extLst>
                <a:ext uri="{FF2B5EF4-FFF2-40B4-BE49-F238E27FC236}">
                  <a16:creationId xmlns:a16="http://schemas.microsoft.com/office/drawing/2014/main" id="{1D52C9D0-8EFA-4625-90A4-B52D4E454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2676"/>
              <a:ext cx="0" cy="272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12">
              <a:extLst>
                <a:ext uri="{FF2B5EF4-FFF2-40B4-BE49-F238E27FC236}">
                  <a16:creationId xmlns:a16="http://schemas.microsoft.com/office/drawing/2014/main" id="{5AF63CFA-E3F3-4FAA-9007-D24E80E95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" y="2676"/>
              <a:ext cx="0" cy="272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85">
              <a:extLst>
                <a:ext uri="{FF2B5EF4-FFF2-40B4-BE49-F238E27FC236}">
                  <a16:creationId xmlns:a16="http://schemas.microsoft.com/office/drawing/2014/main" id="{B1F73812-742F-4580-AC5F-9ADFFD6FC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" y="2948"/>
              <a:ext cx="48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36"/>
    </mc:Choice>
    <mc:Fallback xmlns="">
      <p:transition spd="slow" advTm="7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6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6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6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96" name="Rectangle 20"/>
          <p:cNvSpPr>
            <a:spLocks noChangeArrowheads="1"/>
          </p:cNvSpPr>
          <p:nvPr/>
        </p:nvSpPr>
        <p:spPr bwMode="auto">
          <a:xfrm>
            <a:off x="179388" y="345551"/>
            <a:ext cx="8785225" cy="15789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4</a:t>
            </a:r>
            <a:r>
              <a:rPr lang="en-US" altLang="zh-CN" sz="2000" dirty="0">
                <a:solidFill>
                  <a:srgbClr val="990099"/>
                </a:solidFill>
                <a:cs typeface="Times New Roman" panose="02020603050405020304" pitchFamily="18" charset="0"/>
              </a:rPr>
              <a:t>—</a:t>
            </a:r>
            <a:r>
              <a:rPr lang="zh-CN" altLang="en-US" sz="2000" dirty="0">
                <a:solidFill>
                  <a:schemeClr val="tx1"/>
                </a:solidFill>
              </a:rPr>
              <a:t>求</a:t>
            </a:r>
            <a:r>
              <a:rPr lang="en-US" altLang="zh-CN" sz="2000" dirty="0">
                <a:solidFill>
                  <a:schemeClr val="tx1"/>
                </a:solidFill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11/128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IEEE 754</a:t>
            </a:r>
            <a:r>
              <a:rPr lang="zh-CN" altLang="en-US" sz="2000" dirty="0">
                <a:solidFill>
                  <a:schemeClr val="tx1"/>
                </a:solidFill>
              </a:rPr>
              <a:t>单精度浮点数的机器码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en-US" altLang="zh-CN" sz="2000" dirty="0">
                <a:solidFill>
                  <a:schemeClr val="tx1"/>
                </a:solidFill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11/128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1011)</a:t>
            </a:r>
            <a:r>
              <a:rPr lang="en-US" altLang="zh-CN" sz="2000" baseline="-18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-7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chemeClr val="tx1"/>
                </a:solidFill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0.1011)</a:t>
            </a:r>
            <a:r>
              <a:rPr lang="en-US" altLang="zh-CN" sz="2000" baseline="-18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-3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(-</a:t>
            </a:r>
            <a:r>
              <a:rPr lang="en-US" altLang="zh-CN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.011)</a:t>
            </a:r>
            <a:r>
              <a:rPr lang="en-US" altLang="zh-CN" sz="2000" baseline="-18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-4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(-1.</a:t>
            </a:r>
            <a:r>
              <a:rPr lang="en-US" altLang="zh-CN" sz="2000" dirty="0">
                <a:solidFill>
                  <a:srgbClr val="990099"/>
                </a:solidFill>
                <a:highlight>
                  <a:srgbClr val="CCFFFF"/>
                </a:highlight>
                <a:cs typeface="Times New Roman" panose="02020603050405020304" pitchFamily="18" charset="0"/>
              </a:rPr>
              <a:t>011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000" baseline="-18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sz="2000" baseline="30000" dirty="0">
                <a:solidFill>
                  <a:schemeClr val="accent2"/>
                </a:solidFill>
                <a:highlight>
                  <a:srgbClr val="CCFFFF"/>
                </a:highlight>
                <a:cs typeface="Times New Roman" panose="02020603050405020304" pitchFamily="18" charset="0"/>
              </a:rPr>
              <a:t>123</a:t>
            </a:r>
            <a:r>
              <a:rPr lang="en-US" altLang="zh-CN" sz="20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-127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        机器数为：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7E8D-0DDD-405A-A32D-EF011042ACD1}" type="slidenum">
              <a:rPr lang="en-US" altLang="zh-CN"/>
              <a:t>33</a:t>
            </a:fld>
            <a:endParaRPr lang="en-US" altLang="zh-CN" dirty="0"/>
          </a:p>
        </p:txBody>
      </p:sp>
      <p:sp>
        <p:nvSpPr>
          <p:cNvPr id="126995" name="Rectangle 19"/>
          <p:cNvSpPr>
            <a:spLocks noChangeArrowheads="1"/>
          </p:cNvSpPr>
          <p:nvPr/>
        </p:nvSpPr>
        <p:spPr bwMode="auto">
          <a:xfrm>
            <a:off x="179388" y="1988840"/>
            <a:ext cx="8785225" cy="19636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5—</a:t>
            </a:r>
            <a:r>
              <a:rPr lang="zh-CN" altLang="en-US" sz="2000" dirty="0">
                <a:solidFill>
                  <a:schemeClr val="tx1"/>
                </a:solidFill>
              </a:rPr>
              <a:t>求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IEEE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754</a:t>
            </a:r>
            <a:r>
              <a:rPr lang="zh-CN" altLang="en-US" sz="2000" dirty="0">
                <a:solidFill>
                  <a:schemeClr val="tx1"/>
                </a:solidFill>
              </a:rPr>
              <a:t>单精度浮点数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CC968000H</a:t>
            </a:r>
            <a:r>
              <a:rPr lang="zh-CN" altLang="en-US" sz="2000" dirty="0">
                <a:solidFill>
                  <a:schemeClr val="tx1"/>
                </a:solidFill>
              </a:rPr>
              <a:t>的真值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en-US" altLang="zh-CN" sz="2000" dirty="0">
                <a:solidFill>
                  <a:schemeClr val="tx1"/>
                </a:solidFill>
              </a:rPr>
              <a:t>CC968000H</a:t>
            </a:r>
            <a:r>
              <a:rPr lang="zh-CN" altLang="en-US" sz="2000" spc="-20" dirty="0">
                <a:solidFill>
                  <a:schemeClr val="tx1"/>
                </a:solidFill>
              </a:rPr>
              <a:t>＝</a:t>
            </a:r>
            <a:r>
              <a:rPr lang="en-US" altLang="zh-CN" sz="2000" u="sng" spc="-20" dirty="0">
                <a:solidFill>
                  <a:srgbClr val="FF3399"/>
                </a:solidFill>
              </a:rPr>
              <a:t>1</a:t>
            </a:r>
            <a:r>
              <a:rPr lang="en-US" altLang="zh-CN" sz="2000" spc="-2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u="sng" spc="-20" dirty="0">
                <a:solidFill>
                  <a:schemeClr val="accent2"/>
                </a:solidFill>
                <a:cs typeface="Times New Roman" panose="02020603050405020304" pitchFamily="18" charset="0"/>
              </a:rPr>
              <a:t>10011001</a:t>
            </a:r>
            <a:r>
              <a:rPr lang="en-US" altLang="zh-C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u="sng" spc="-20" dirty="0">
                <a:solidFill>
                  <a:srgbClr val="990099"/>
                </a:solidFill>
                <a:cs typeface="Times New Roman" panose="02020603050405020304" pitchFamily="18" charset="0"/>
              </a:rPr>
              <a:t>00101101000000000000000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，规格化数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sz="2000" dirty="0">
                <a:solidFill>
                  <a:schemeClr val="tx1"/>
                </a:solidFill>
              </a:rPr>
              <a:t>         阶＝</a:t>
            </a:r>
            <a:r>
              <a:rPr lang="en-US" altLang="zh-CN" sz="2000" dirty="0">
                <a:solidFill>
                  <a:schemeClr val="accent2"/>
                </a:solidFill>
                <a:cs typeface="Times New Roman" panose="02020603050405020304" pitchFamily="18" charset="0"/>
              </a:rPr>
              <a:t>10011001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－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>
                <a:solidFill>
                  <a:srgbClr val="0070C0"/>
                </a:solidFill>
              </a:rPr>
              <a:t>10000000-1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00011010B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+26</a:t>
            </a:r>
            <a:endParaRPr lang="en-US" altLang="zh-CN" sz="2000" baseline="-2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sz="2000" dirty="0">
                <a:solidFill>
                  <a:schemeClr val="tx1"/>
                </a:solidFill>
              </a:rPr>
              <a:t>         尾数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rgbClr val="C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2000" dirty="0">
                <a:solidFill>
                  <a:srgbClr val="990099"/>
                </a:solidFill>
                <a:cs typeface="Times New Roman" panose="02020603050405020304" pitchFamily="18" charset="0"/>
              </a:rPr>
              <a:t>00101101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1.17578125</a:t>
            </a:r>
            <a:endParaRPr lang="en-US" altLang="zh-CN" sz="2000" baseline="-2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sz="2000" dirty="0">
                <a:solidFill>
                  <a:schemeClr val="tx1"/>
                </a:solidFill>
              </a:rPr>
              <a:t>         ∴N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(―1)</a:t>
            </a:r>
            <a:r>
              <a:rPr lang="en-US" altLang="zh-CN" sz="2000" baseline="30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×1.17578125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+26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solidFill>
                  <a:schemeClr val="tx1"/>
                </a:solidFill>
              </a:rPr>
              <a:t>1.17578125×2</a:t>
            </a:r>
            <a:r>
              <a:rPr lang="en-US" altLang="zh-CN" sz="20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aseline="30000" dirty="0">
                <a:solidFill>
                  <a:schemeClr val="tx1"/>
                </a:solidFill>
              </a:rPr>
              <a:t>26</a:t>
            </a:r>
          </a:p>
        </p:txBody>
      </p:sp>
      <p:grpSp>
        <p:nvGrpSpPr>
          <p:cNvPr id="127092" name="Group 116"/>
          <p:cNvGrpSpPr/>
          <p:nvPr/>
        </p:nvGrpSpPr>
        <p:grpSpPr bwMode="auto">
          <a:xfrm>
            <a:off x="2699792" y="1593080"/>
            <a:ext cx="5040312" cy="288000"/>
            <a:chOff x="2019" y="1223"/>
            <a:chExt cx="3175" cy="204"/>
          </a:xfrm>
        </p:grpSpPr>
        <p:sp>
          <p:nvSpPr>
            <p:cNvPr id="127074" name="Text Box 98"/>
            <p:cNvSpPr txBox="1">
              <a:spLocks noChangeArrowheads="1"/>
            </p:cNvSpPr>
            <p:nvPr/>
          </p:nvSpPr>
          <p:spPr bwMode="auto">
            <a:xfrm>
              <a:off x="2019" y="1223"/>
              <a:ext cx="227" cy="20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1 </a:t>
              </a:r>
              <a:endParaRPr lang="en-US" altLang="zh-CN" sz="1800" i="1" dirty="0">
                <a:solidFill>
                  <a:schemeClr val="tx1"/>
                </a:solidFill>
              </a:endParaRPr>
            </a:p>
          </p:txBody>
        </p:sp>
        <p:sp>
          <p:nvSpPr>
            <p:cNvPr id="127075" name="Text Box 99"/>
            <p:cNvSpPr txBox="1">
              <a:spLocks noChangeArrowheads="1"/>
            </p:cNvSpPr>
            <p:nvPr/>
          </p:nvSpPr>
          <p:spPr bwMode="auto">
            <a:xfrm>
              <a:off x="2246" y="1223"/>
              <a:ext cx="771" cy="20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accent2"/>
                  </a:solidFill>
                </a:rPr>
                <a:t>0111</a:t>
              </a:r>
              <a:r>
                <a:rPr lang="en-US" altLang="zh-CN" sz="18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accent2"/>
                  </a:solidFill>
                </a:rPr>
                <a:t>1011</a:t>
              </a:r>
              <a:endParaRPr lang="en-US" altLang="zh-CN" sz="1800" i="1" dirty="0">
                <a:solidFill>
                  <a:schemeClr val="accent2"/>
                </a:solidFill>
              </a:endParaRPr>
            </a:p>
          </p:txBody>
        </p:sp>
        <p:sp>
          <p:nvSpPr>
            <p:cNvPr id="127076" name="Text Box 100"/>
            <p:cNvSpPr txBox="1">
              <a:spLocks noChangeArrowheads="1"/>
            </p:cNvSpPr>
            <p:nvPr/>
          </p:nvSpPr>
          <p:spPr bwMode="auto">
            <a:xfrm>
              <a:off x="3016" y="1223"/>
              <a:ext cx="2178" cy="20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dirty="0">
                  <a:solidFill>
                    <a:srgbClr val="990099"/>
                  </a:solidFill>
                </a:rPr>
                <a:t>011</a:t>
              </a:r>
              <a:r>
                <a:rPr lang="en-US" altLang="zh-CN" sz="1800" dirty="0">
                  <a:solidFill>
                    <a:schemeClr val="tx1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0000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0000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0000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0000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000</a:t>
              </a:r>
              <a:endParaRPr lang="en-US" altLang="zh-CN" sz="1800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 Box 161"/>
          <p:cNvSpPr txBox="1">
            <a:spLocks noChangeArrowheads="1"/>
          </p:cNvSpPr>
          <p:nvPr/>
        </p:nvSpPr>
        <p:spPr bwMode="auto">
          <a:xfrm>
            <a:off x="683444" y="5838532"/>
            <a:ext cx="5472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作业</a:t>
            </a:r>
            <a:r>
              <a:rPr lang="en-US" altLang="zh-CN" sz="2000" dirty="0"/>
              <a:t>2-2</a:t>
            </a:r>
            <a:r>
              <a:rPr lang="zh-CN" altLang="en-US" sz="2000" dirty="0"/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P86</a:t>
            </a:r>
            <a:r>
              <a:rPr lang="zh-CN" altLang="en-US" sz="2000" dirty="0">
                <a:solidFill>
                  <a:schemeClr val="tx1"/>
                </a:solidFill>
              </a:rPr>
              <a:t>起</a:t>
            </a:r>
            <a:r>
              <a:rPr lang="en-US" altLang="zh-CN" sz="2000" dirty="0">
                <a:solidFill>
                  <a:schemeClr val="tx1"/>
                </a:solidFill>
              </a:rPr>
              <a:t>10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14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15(2)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17(2)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18(1)</a:t>
            </a:r>
          </a:p>
        </p:txBody>
      </p:sp>
      <p:sp>
        <p:nvSpPr>
          <p:cNvPr id="18" name="Text Box 106"/>
          <p:cNvSpPr txBox="1">
            <a:spLocks noChangeArrowheads="1"/>
          </p:cNvSpPr>
          <p:nvPr/>
        </p:nvSpPr>
        <p:spPr bwMode="auto">
          <a:xfrm>
            <a:off x="179388" y="4509120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 ※</a:t>
            </a:r>
            <a:r>
              <a:rPr lang="zh-CN" altLang="en-US" sz="2200" dirty="0">
                <a:solidFill>
                  <a:srgbClr val="FF3399"/>
                </a:solidFill>
              </a:rPr>
              <a:t>数值数据的表示小结：</a:t>
            </a:r>
            <a:endParaRPr lang="en-US" altLang="zh-CN" sz="2200" dirty="0">
              <a:solidFill>
                <a:srgbClr val="FF3399"/>
              </a:solidFill>
            </a:endParaRPr>
          </a:p>
          <a:p>
            <a:r>
              <a:rPr lang="en-US" altLang="zh-CN" sz="2200" dirty="0">
                <a:solidFill>
                  <a:srgbClr val="FF3399"/>
                </a:solidFill>
              </a:rPr>
              <a:t>     </a:t>
            </a:r>
            <a:r>
              <a:rPr lang="zh-CN" altLang="en-US" sz="2200" dirty="0">
                <a:solidFill>
                  <a:schemeClr val="tx1"/>
                </a:solidFill>
              </a:rPr>
              <a:t>二</a:t>
            </a:r>
            <a:r>
              <a:rPr lang="zh-CN" altLang="en-US" sz="2200" u="sng" dirty="0">
                <a:solidFill>
                  <a:schemeClr val="tx1"/>
                </a:solidFill>
              </a:rPr>
              <a:t>进制</a:t>
            </a:r>
            <a:r>
              <a:rPr lang="zh-CN" altLang="en-US" sz="2200" dirty="0">
                <a:solidFill>
                  <a:schemeClr val="tx1"/>
                </a:solidFill>
              </a:rPr>
              <a:t>，定点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浮点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格式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几种</a:t>
            </a:r>
            <a:r>
              <a:rPr lang="zh-CN" altLang="en-US" sz="1800" u="sng" dirty="0">
                <a:solidFill>
                  <a:schemeClr val="tx1"/>
                </a:solidFill>
                <a:latin typeface="+mn-ea"/>
                <a:ea typeface="+mn-ea"/>
              </a:rPr>
              <a:t>长度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，某种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两种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编码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79512" y="4005064"/>
            <a:ext cx="8136903" cy="4730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>
                <a:solidFill>
                  <a:srgbClr val="990099"/>
                </a:solidFill>
              </a:rPr>
              <a:t>练习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写出</a:t>
            </a:r>
            <a:r>
              <a:rPr lang="en-US" altLang="zh-CN" sz="2200" dirty="0">
                <a:solidFill>
                  <a:schemeClr val="tx1"/>
                </a:solidFill>
              </a:rPr>
              <a:t>-180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en-US" altLang="zh-CN" sz="2200" dirty="0">
                <a:solidFill>
                  <a:schemeClr val="tx1"/>
                </a:solidFill>
                <a:cs typeface="Times New Roman" panose="02020603050405020304" pitchFamily="18" charset="0"/>
              </a:rPr>
              <a:t>IEEE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cs typeface="Times New Roman" panose="02020603050405020304" pitchFamily="18" charset="0"/>
              </a:rPr>
              <a:t>754</a:t>
            </a:r>
            <a:r>
              <a:rPr lang="zh-CN" altLang="en-US" sz="2200" dirty="0">
                <a:solidFill>
                  <a:schemeClr val="tx1"/>
                </a:solidFill>
              </a:rPr>
              <a:t>单精度浮点数的机器码</a:t>
            </a:r>
            <a:endParaRPr lang="en-US" altLang="zh-CN" sz="22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AutoShape 29"/>
          <p:cNvSpPr/>
          <p:nvPr/>
        </p:nvSpPr>
        <p:spPr bwMode="auto">
          <a:xfrm>
            <a:off x="6660232" y="872744"/>
            <a:ext cx="1944000" cy="252000"/>
          </a:xfrm>
          <a:prstGeom prst="borderCallout2">
            <a:avLst>
              <a:gd name="adj1" fmla="val 42290"/>
              <a:gd name="adj2" fmla="val -451"/>
              <a:gd name="adj3" fmla="val 42464"/>
              <a:gd name="adj4" fmla="val -9670"/>
              <a:gd name="adj5" fmla="val 131243"/>
              <a:gd name="adj6" fmla="val -2222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[-4]</a:t>
            </a:r>
            <a:r>
              <a:rPr lang="zh-CN" altLang="en-US" sz="1800" baseline="-18000" dirty="0">
                <a:solidFill>
                  <a:schemeClr val="tx1"/>
                </a:solidFill>
              </a:rPr>
              <a:t>余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127</a:t>
            </a:r>
            <a:r>
              <a:rPr lang="en-US" altLang="zh-CN" sz="1800" b="1" dirty="0">
                <a:solidFill>
                  <a:schemeClr val="tx1"/>
                </a:solidFill>
              </a:rPr>
              <a:t>=[-4]</a:t>
            </a:r>
            <a:r>
              <a:rPr lang="zh-CN" altLang="en-US" sz="1800" b="1" baseline="-18000" dirty="0">
                <a:solidFill>
                  <a:schemeClr val="tx1"/>
                </a:solidFill>
              </a:rPr>
              <a:t>移</a:t>
            </a:r>
            <a:r>
              <a:rPr lang="en-US" altLang="zh-CN" sz="1800" b="1" dirty="0">
                <a:solidFill>
                  <a:schemeClr val="tx1"/>
                </a:solidFill>
              </a:rPr>
              <a:t>-1</a:t>
            </a:r>
          </a:p>
        </p:txBody>
      </p:sp>
      <p:sp>
        <p:nvSpPr>
          <p:cNvPr id="22" name="AutoShape 21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742E44E-12F1-40B2-971C-02FBE3BC1FD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68639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6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6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6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8" grpId="0"/>
      <p:bldP spid="19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179389" y="332656"/>
            <a:ext cx="3888554" cy="39285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4</a:t>
            </a:r>
            <a:r>
              <a:rPr lang="zh-CN" altLang="en-US" dirty="0">
                <a:solidFill>
                  <a:srgbClr val="FF3399"/>
                </a:solidFill>
              </a:rPr>
              <a:t>、非数值数据的表示</a:t>
            </a:r>
            <a:endParaRPr lang="en-US" altLang="zh-CN" dirty="0">
              <a:solidFill>
                <a:srgbClr val="FF3399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dirty="0">
                <a:solidFill>
                  <a:srgbClr val="FF3399"/>
                </a:solidFill>
              </a:rPr>
              <a:t>逻辑数的表示</a:t>
            </a: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表示方法：</a:t>
            </a:r>
            <a:endParaRPr lang="en-US" altLang="zh-CN" sz="2200" dirty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9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硬件支持的类型：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973580" indent="-1973580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逻辑数的运算：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硬件支持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运算类型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973580" indent="-1973580"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885950" indent="-1885950">
              <a:spcBef>
                <a:spcPts val="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逻辑实现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34</a:t>
            </a:fld>
            <a:endParaRPr lang="en-US" altLang="zh-CN" dirty="0"/>
          </a:p>
        </p:txBody>
      </p:sp>
      <p:sp>
        <p:nvSpPr>
          <p:cNvPr id="28" name="Text Box 117"/>
          <p:cNvSpPr txBox="1">
            <a:spLocks noChangeArrowheads="1"/>
          </p:cNvSpPr>
          <p:nvPr/>
        </p:nvSpPr>
        <p:spPr bwMode="auto">
          <a:xfrm>
            <a:off x="2192456" y="2924944"/>
            <a:ext cx="6700024" cy="1909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与、或、非等   </a:t>
            </a:r>
            <a:r>
              <a:rPr lang="zh-CN" altLang="en-US" sz="2000" dirty="0">
                <a:solidFill>
                  <a:schemeClr val="tx1"/>
                </a:solidFill>
              </a:rPr>
              <a:t>如</a:t>
            </a:r>
            <a:r>
              <a:rPr lang="en-US" altLang="zh-CN" sz="2000" spc="-30" dirty="0">
                <a:solidFill>
                  <a:schemeClr val="tx1"/>
                </a:solidFill>
              </a:rPr>
              <a:t>C</a:t>
            </a:r>
            <a:r>
              <a:rPr lang="zh-CN" altLang="en-US" sz="2000" spc="-30" dirty="0">
                <a:solidFill>
                  <a:schemeClr val="tx1"/>
                </a:solidFill>
              </a:rPr>
              <a:t>语言中的</a:t>
            </a:r>
            <a:r>
              <a:rPr lang="en-US" altLang="zh-CN" sz="2000" spc="-3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2000" spc="-30" dirty="0">
                <a:solidFill>
                  <a:schemeClr val="tx1"/>
                </a:solidFill>
              </a:rPr>
              <a:t>、</a:t>
            </a:r>
            <a:r>
              <a:rPr lang="en-US" altLang="zh-CN" sz="2000" spc="-30" dirty="0">
                <a:solidFill>
                  <a:schemeClr val="tx1"/>
                </a:solidFill>
              </a:rPr>
              <a:t>|</a:t>
            </a:r>
            <a:r>
              <a:rPr lang="zh-CN" altLang="en-US" sz="2000" spc="-30" dirty="0">
                <a:solidFill>
                  <a:schemeClr val="tx1"/>
                </a:solidFill>
              </a:rPr>
              <a:t>、</a:t>
            </a:r>
            <a:r>
              <a:rPr lang="en-US" altLang="zh-CN" sz="2000" spc="-30" dirty="0">
                <a:solidFill>
                  <a:schemeClr val="tx1"/>
                </a:solidFill>
                <a:latin typeface="+mn-lt"/>
              </a:rPr>
              <a:t>~</a:t>
            </a:r>
            <a:r>
              <a:rPr lang="zh-CN" altLang="en-US" sz="2000" spc="-30" dirty="0">
                <a:solidFill>
                  <a:schemeClr val="tx1"/>
                </a:solidFill>
              </a:rPr>
              <a:t>，</a:t>
            </a:r>
            <a:r>
              <a:rPr lang="zh-CN" altLang="en-US" sz="2000" spc="-30" dirty="0">
                <a:solidFill>
                  <a:schemeClr val="tx1"/>
                </a:solidFill>
                <a:highlight>
                  <a:srgbClr val="CCCCFF"/>
                </a:highlight>
              </a:rPr>
              <a:t>不含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CCCCFF"/>
                </a:highlight>
                <a:latin typeface="+mn-ea"/>
              </a:rPr>
              <a:t>&amp;&amp;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CCCCFF"/>
                </a:highlight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CCCCFF"/>
                </a:highlight>
                <a:latin typeface="+mn-ea"/>
              </a:rPr>
              <a:t>‖</a:t>
            </a:r>
            <a:r>
              <a:rPr lang="zh-CN" altLang="en-US" sz="2000" dirty="0">
                <a:solidFill>
                  <a:schemeClr val="tx1"/>
                </a:solidFill>
                <a:highlight>
                  <a:srgbClr val="CCCCFF"/>
                </a:highlight>
                <a:latin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CCCCFF"/>
                </a:highlight>
                <a:latin typeface="+mn-ea"/>
              </a:rPr>
              <a:t>!</a:t>
            </a:r>
            <a:endParaRPr lang="en-US" altLang="zh-CN" sz="2200" dirty="0">
              <a:solidFill>
                <a:schemeClr val="tx1"/>
              </a:solidFill>
              <a:highlight>
                <a:srgbClr val="CCCCFF"/>
              </a:highlight>
            </a:endParaRPr>
          </a:p>
          <a:p>
            <a:pPr>
              <a:spcBef>
                <a:spcPts val="0"/>
              </a:spcBef>
            </a:pPr>
            <a:r>
              <a:rPr lang="zh-CN" altLang="en-US" sz="2200" u="sng" dirty="0">
                <a:solidFill>
                  <a:srgbClr val="990099"/>
                </a:solidFill>
              </a:rPr>
              <a:t>按位</a:t>
            </a:r>
            <a:r>
              <a:rPr lang="zh-CN" altLang="en-US" sz="2200" dirty="0">
                <a:solidFill>
                  <a:schemeClr val="tx1"/>
                </a:solidFill>
              </a:rPr>
              <a:t>运算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向量格式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000" dirty="0">
                <a:solidFill>
                  <a:schemeClr val="tx1"/>
                </a:solidFill>
              </a:rPr>
              <a:t>如</a:t>
            </a:r>
            <a:r>
              <a:rPr lang="en-US" altLang="zh-CN" sz="2000" spc="-30" dirty="0">
                <a:solidFill>
                  <a:schemeClr val="tx1"/>
                </a:solidFill>
                <a:latin typeface="+mn-ea"/>
              </a:rPr>
              <a:t>05H|03H=07H</a:t>
            </a:r>
            <a:endParaRPr lang="en-US" altLang="zh-CN" sz="1800" spc="-3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200" u="sng" spc="-30" dirty="0">
                <a:solidFill>
                  <a:srgbClr val="990099"/>
                </a:solidFill>
              </a:rPr>
              <a:t>复用</a:t>
            </a:r>
            <a:r>
              <a:rPr lang="zh-CN" altLang="en-US" sz="2200" spc="-30" dirty="0">
                <a:solidFill>
                  <a:schemeClr val="tx1"/>
                </a:solidFill>
              </a:rPr>
              <a:t>整数加减部件</a:t>
            </a:r>
            <a:r>
              <a:rPr lang="en-US" altLang="zh-CN" sz="1800" spc="-30" dirty="0">
                <a:solidFill>
                  <a:schemeClr val="tx1"/>
                </a:solidFill>
              </a:rPr>
              <a:t>(</a:t>
            </a:r>
            <a:r>
              <a:rPr lang="zh-CN" altLang="en-US" sz="1800" spc="-30" dirty="0">
                <a:solidFill>
                  <a:schemeClr val="tx1"/>
                </a:solidFill>
              </a:rPr>
              <a:t>加法用门电路实现</a:t>
            </a:r>
            <a:r>
              <a:rPr lang="en-US" altLang="zh-CN" sz="1800" spc="-3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800" spc="-30" dirty="0">
                <a:solidFill>
                  <a:schemeClr val="tx1"/>
                </a:solidFill>
              </a:rPr>
              <a:t>  </a:t>
            </a:r>
            <a:r>
              <a:rPr lang="en-US" altLang="zh-CN" sz="1800" b="0" spc="-30" dirty="0">
                <a:solidFill>
                  <a:srgbClr val="FF3399"/>
                </a:solidFill>
              </a:rPr>
              <a:t>├</a:t>
            </a:r>
            <a:r>
              <a:rPr lang="en-US" altLang="zh-CN" sz="1800" spc="-30" dirty="0">
                <a:solidFill>
                  <a:srgbClr val="FF3399"/>
                </a:solidFill>
              </a:rPr>
              <a:t>←</a:t>
            </a:r>
            <a:r>
              <a:rPr lang="zh-CN" altLang="en-US" sz="1800" spc="-30" dirty="0">
                <a:solidFill>
                  <a:schemeClr val="tx1"/>
                </a:solidFill>
              </a:rPr>
              <a:t>出端增设选择器</a:t>
            </a:r>
            <a:endParaRPr lang="en-US" altLang="zh-CN" sz="1800" spc="-3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</a:t>
            </a:r>
            <a:r>
              <a:rPr lang="zh-CN" altLang="en-US" sz="1800" b="0" dirty="0">
                <a:solidFill>
                  <a:srgbClr val="FF3399"/>
                </a:solidFill>
              </a:rPr>
              <a:t>└</a:t>
            </a:r>
            <a:r>
              <a:rPr lang="zh-CN" altLang="en-US" sz="1800" dirty="0">
                <a:solidFill>
                  <a:srgbClr val="FF3399"/>
                </a:solidFill>
              </a:rPr>
              <a:t>→</a:t>
            </a:r>
            <a:r>
              <a:rPr lang="zh-CN" altLang="en-US" sz="1800" dirty="0">
                <a:solidFill>
                  <a:schemeClr val="tx1"/>
                </a:solidFill>
              </a:rPr>
              <a:t>逻辑数</a:t>
            </a:r>
            <a:r>
              <a:rPr lang="zh-CN" altLang="en-US" sz="1800" dirty="0">
                <a:solidFill>
                  <a:srgbClr val="FF3399"/>
                </a:solidFill>
              </a:rPr>
              <a:t>隐含表示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整数支持逻辑运算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907704" y="1268760"/>
            <a:ext cx="6913016" cy="12868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二进制、</a:t>
            </a:r>
            <a:r>
              <a:rPr lang="zh-CN" altLang="en-US" sz="2200" u="sng" dirty="0">
                <a:solidFill>
                  <a:srgbClr val="0070C0"/>
                </a:solidFill>
              </a:rPr>
              <a:t>向量</a:t>
            </a:r>
            <a:r>
              <a:rPr lang="zh-CN" altLang="en-US" sz="2200" u="sng" dirty="0">
                <a:solidFill>
                  <a:schemeClr val="tx1"/>
                </a:solidFill>
              </a:rPr>
              <a:t>格式</a:t>
            </a:r>
            <a:r>
              <a:rPr lang="zh-CN" altLang="en-US" sz="2200" dirty="0">
                <a:solidFill>
                  <a:schemeClr val="tx1"/>
                </a:solidFill>
              </a:rPr>
              <a:t>、各个数</a:t>
            </a:r>
            <a:r>
              <a:rPr lang="zh-CN" altLang="en-US" sz="2200" u="sng" dirty="0">
                <a:solidFill>
                  <a:srgbClr val="0070C0"/>
                </a:solidFill>
              </a:rPr>
              <a:t>独立编码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逻辑编码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←提高存储效率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9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  </a:t>
            </a:r>
            <a:r>
              <a:rPr lang="zh-CN" altLang="en-US" sz="2200" dirty="0">
                <a:solidFill>
                  <a:srgbClr val="FF3399"/>
                </a:solidFill>
                <a:latin typeface="+mn-ea"/>
              </a:rPr>
              <a:t>常有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</a:rPr>
              <a:t>多种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长度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同整数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36" name="直接箭头连接符 35"/>
          <p:cNvCxnSpPr>
            <a:cxnSpLocks/>
          </p:cNvCxnSpPr>
          <p:nvPr/>
        </p:nvCxnSpPr>
        <p:spPr bwMode="auto">
          <a:xfrm flipV="1">
            <a:off x="2699792" y="2520000"/>
            <a:ext cx="2376000" cy="1332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4A57FA-D613-4940-B591-1B2FBFBD7818}"/>
              </a:ext>
            </a:extLst>
          </p:cNvPr>
          <p:cNvGrpSpPr/>
          <p:nvPr/>
        </p:nvGrpSpPr>
        <p:grpSpPr>
          <a:xfrm>
            <a:off x="5365080" y="1772816"/>
            <a:ext cx="3671392" cy="291885"/>
            <a:chOff x="5580112" y="709200"/>
            <a:chExt cx="3671392" cy="291885"/>
          </a:xfrm>
        </p:grpSpPr>
        <p:sp>
          <p:nvSpPr>
            <p:cNvPr id="32" name="Text Box 15"/>
            <p:cNvSpPr txBox="1">
              <a:spLocks noChangeArrowheads="1"/>
            </p:cNvSpPr>
            <p:nvPr/>
          </p:nvSpPr>
          <p:spPr bwMode="auto">
            <a:xfrm>
              <a:off x="5580112" y="710480"/>
              <a:ext cx="1656000" cy="288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L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m-1 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 …  L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1  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L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>
              <a:off x="6012112" y="713085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>
              <a:off x="6516112" y="713085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" name="Line 18"/>
            <p:cNvSpPr>
              <a:spLocks noChangeShapeType="1"/>
            </p:cNvSpPr>
            <p:nvPr/>
          </p:nvSpPr>
          <p:spPr bwMode="auto">
            <a:xfrm>
              <a:off x="6876112" y="713085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" name="Text Box 536">
              <a:extLst>
                <a:ext uri="{FF2B5EF4-FFF2-40B4-BE49-F238E27FC236}">
                  <a16:creationId xmlns:a16="http://schemas.microsoft.com/office/drawing/2014/main" id="{90B1CA72-9DF3-47A6-B5C4-94381CAE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7504" y="709200"/>
              <a:ext cx="194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m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k*MEM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单元长度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9" name="Text Box 200">
            <a:extLst>
              <a:ext uri="{FF2B5EF4-FFF2-40B4-BE49-F238E27FC236}">
                <a16:creationId xmlns:a16="http://schemas.microsoft.com/office/drawing/2014/main" id="{0978D993-7AEE-4EDD-97EE-97EEE5FB9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4869160"/>
            <a:ext cx="42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zh-CN" altLang="en-US" sz="1800" dirty="0">
                <a:solidFill>
                  <a:schemeClr val="tx1"/>
                </a:solidFill>
              </a:rPr>
              <a:t>语言中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&amp;&amp;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‖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!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运算如何实现？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" name="Text Box 200">
            <a:extLst>
              <a:ext uri="{FF2B5EF4-FFF2-40B4-BE49-F238E27FC236}">
                <a16:creationId xmlns:a16="http://schemas.microsoft.com/office/drawing/2014/main" id="{E4575490-DB43-49FF-B4FF-ABE9E827B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497" y="5157192"/>
            <a:ext cx="7769992" cy="122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54000" tIns="46800" rIns="18000" bIns="108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∈表达式运算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便于编程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，∉数据运算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硬件支持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，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编译器</a:t>
            </a:r>
            <a:r>
              <a:rPr lang="zh-CN" altLang="en-US" sz="1800" u="sng" dirty="0">
                <a:solidFill>
                  <a:srgbClr val="0070C0"/>
                </a:solidFill>
                <a:latin typeface="+mn-ea"/>
              </a:rPr>
              <a:t>转换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为语句序列  如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a=(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&gt;5 &amp;&amp; j&lt;6);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转换为 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if (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&lt;=5) a=0;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                                              else if (j&gt;=6) a=0;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                                                   else a=1;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8EB30B1-1F68-4F4D-AC75-D4C3AA2768CD}"/>
              </a:ext>
            </a:extLst>
          </p:cNvPr>
          <p:cNvGrpSpPr/>
          <p:nvPr/>
        </p:nvGrpSpPr>
        <p:grpSpPr>
          <a:xfrm>
            <a:off x="6624803" y="3429000"/>
            <a:ext cx="2267677" cy="1872000"/>
            <a:chOff x="4140000" y="2844000"/>
            <a:chExt cx="2267677" cy="1872000"/>
          </a:xfrm>
        </p:grpSpPr>
        <p:sp>
          <p:nvSpPr>
            <p:cNvPr id="69" name="Rectangle 403">
              <a:extLst>
                <a:ext uri="{FF2B5EF4-FFF2-40B4-BE49-F238E27FC236}">
                  <a16:creationId xmlns:a16="http://schemas.microsoft.com/office/drawing/2014/main" id="{8A862EA3-FA0C-4C1C-AA50-6628A260A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6000" y="3096000"/>
              <a:ext cx="1440000" cy="13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422">
              <a:extLst>
                <a:ext uri="{FF2B5EF4-FFF2-40B4-BE49-F238E27FC236}">
                  <a16:creationId xmlns:a16="http://schemas.microsoft.com/office/drawing/2014/main" id="{85440BF5-6647-498F-9047-631078900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3677" y="3240307"/>
              <a:ext cx="0" cy="32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425">
              <a:extLst>
                <a:ext uri="{FF2B5EF4-FFF2-40B4-BE49-F238E27FC236}">
                  <a16:creationId xmlns:a16="http://schemas.microsoft.com/office/drawing/2014/main" id="{6F2B9116-30A9-4058-9FDC-4429FC39E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3677" y="3564307"/>
              <a:ext cx="0" cy="28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426">
              <a:extLst>
                <a:ext uri="{FF2B5EF4-FFF2-40B4-BE49-F238E27FC236}">
                  <a16:creationId xmlns:a16="http://schemas.microsoft.com/office/drawing/2014/main" id="{E5933F5C-851F-407A-A78B-937E80620C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54258" y="3636307"/>
              <a:ext cx="82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427">
              <a:extLst>
                <a:ext uri="{FF2B5EF4-FFF2-40B4-BE49-F238E27FC236}">
                  <a16:creationId xmlns:a16="http://schemas.microsoft.com/office/drawing/2014/main" id="{BD547825-1195-48A6-A15F-FD624EC1F5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677" y="3852307"/>
              <a:ext cx="432000" cy="21431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=1</a:t>
              </a:r>
            </a:p>
          </p:txBody>
        </p:sp>
        <p:sp>
          <p:nvSpPr>
            <p:cNvPr id="74" name="Text Box 428">
              <a:extLst>
                <a:ext uri="{FF2B5EF4-FFF2-40B4-BE49-F238E27FC236}">
                  <a16:creationId xmlns:a16="http://schemas.microsoft.com/office/drawing/2014/main" id="{75B49C0D-AEDB-4C68-8874-863577912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677" y="3348307"/>
              <a:ext cx="432000" cy="2143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=1</a:t>
              </a:r>
            </a:p>
          </p:txBody>
        </p:sp>
        <p:sp>
          <p:nvSpPr>
            <p:cNvPr id="75" name="Line 436">
              <a:extLst>
                <a:ext uri="{FF2B5EF4-FFF2-40B4-BE49-F238E27FC236}">
                  <a16:creationId xmlns:a16="http://schemas.microsoft.com/office/drawing/2014/main" id="{1CAB2804-1DC2-4F47-94AD-1A7E65F3FB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3677" y="3024307"/>
              <a:ext cx="0" cy="32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436">
              <a:extLst>
                <a:ext uri="{FF2B5EF4-FFF2-40B4-BE49-F238E27FC236}">
                  <a16:creationId xmlns:a16="http://schemas.microsoft.com/office/drawing/2014/main" id="{0353F50C-9276-448C-AFA5-401E4308A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1677" y="3024307"/>
              <a:ext cx="0" cy="32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429">
              <a:extLst>
                <a:ext uri="{FF2B5EF4-FFF2-40B4-BE49-F238E27FC236}">
                  <a16:creationId xmlns:a16="http://schemas.microsoft.com/office/drawing/2014/main" id="{B1442C2E-8BC3-497B-88A4-8579FD018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91677" y="3168307"/>
              <a:ext cx="54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429">
              <a:extLst>
                <a:ext uri="{FF2B5EF4-FFF2-40B4-BE49-F238E27FC236}">
                  <a16:creationId xmlns:a16="http://schemas.microsoft.com/office/drawing/2014/main" id="{58BA1D17-DC21-4C55-A483-ECE9C4898C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63677" y="3240307"/>
              <a:ext cx="1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422">
              <a:extLst>
                <a:ext uri="{FF2B5EF4-FFF2-40B4-BE49-F238E27FC236}">
                  <a16:creationId xmlns:a16="http://schemas.microsoft.com/office/drawing/2014/main" id="{4438644A-AFDB-4C6A-AC14-A0CABAF571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91461" y="3168307"/>
              <a:ext cx="0" cy="2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422">
              <a:extLst>
                <a:ext uri="{FF2B5EF4-FFF2-40B4-BE49-F238E27FC236}">
                  <a16:creationId xmlns:a16="http://schemas.microsoft.com/office/drawing/2014/main" id="{330D6DBF-BD98-4BA0-BCCE-289BC1520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7677" y="3420307"/>
              <a:ext cx="14399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422">
              <a:extLst>
                <a:ext uri="{FF2B5EF4-FFF2-40B4-BE49-F238E27FC236}">
                  <a16:creationId xmlns:a16="http://schemas.microsoft.com/office/drawing/2014/main" id="{EC54BF58-11EF-4469-956F-D74D80353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7676" y="3564307"/>
              <a:ext cx="21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421">
              <a:extLst>
                <a:ext uri="{FF2B5EF4-FFF2-40B4-BE49-F238E27FC236}">
                  <a16:creationId xmlns:a16="http://schemas.microsoft.com/office/drawing/2014/main" id="{BA2B7DDF-4879-4254-B862-D6B672DE2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1545" y="3600307"/>
              <a:ext cx="2159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83" name="Text Box 434">
              <a:extLst>
                <a:ext uri="{FF2B5EF4-FFF2-40B4-BE49-F238E27FC236}">
                  <a16:creationId xmlns:a16="http://schemas.microsoft.com/office/drawing/2014/main" id="{B3E3C07F-8D12-48B0-BA59-BA711B684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1545" y="3384307"/>
              <a:ext cx="21590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84" name="Line 429">
              <a:extLst>
                <a:ext uri="{FF2B5EF4-FFF2-40B4-BE49-F238E27FC236}">
                  <a16:creationId xmlns:a16="http://schemas.microsoft.com/office/drawing/2014/main" id="{CB08B9FF-C4E4-417B-989B-EB9389E93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7677" y="3780307"/>
              <a:ext cx="57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429">
              <a:extLst>
                <a:ext uri="{FF2B5EF4-FFF2-40B4-BE49-F238E27FC236}">
                  <a16:creationId xmlns:a16="http://schemas.microsoft.com/office/drawing/2014/main" id="{74B22F4D-4956-4BBF-804A-6F8D9674C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77" y="3636307"/>
              <a:ext cx="134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436">
              <a:extLst>
                <a:ext uri="{FF2B5EF4-FFF2-40B4-BE49-F238E27FC236}">
                  <a16:creationId xmlns:a16="http://schemas.microsoft.com/office/drawing/2014/main" id="{47D4E203-2E5C-4698-BC19-25BA9A347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3677" y="4066620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Box 418">
              <a:extLst>
                <a:ext uri="{FF2B5EF4-FFF2-40B4-BE49-F238E27FC236}">
                  <a16:creationId xmlns:a16="http://schemas.microsoft.com/office/drawing/2014/main" id="{67D13297-9996-4BC2-8C43-E22DC1633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000" y="3384306"/>
              <a:ext cx="216000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7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≥</a:t>
              </a:r>
              <a:r>
                <a:rPr lang="en-US" altLang="zh-CN" sz="1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8" name="Line 436">
              <a:extLst>
                <a:ext uri="{FF2B5EF4-FFF2-40B4-BE49-F238E27FC236}">
                  <a16:creationId xmlns:a16="http://schemas.microsoft.com/office/drawing/2014/main" id="{D55F8EBC-9727-4206-B78C-F12C45474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8000" y="3597769"/>
              <a:ext cx="1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436">
              <a:extLst>
                <a:ext uri="{FF2B5EF4-FFF2-40B4-BE49-F238E27FC236}">
                  <a16:creationId xmlns:a16="http://schemas.microsoft.com/office/drawing/2014/main" id="{C330C1D9-FD8B-469D-B5EC-1DEBCCC45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5677" y="3636307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Box 407">
              <a:extLst>
                <a:ext uri="{FF2B5EF4-FFF2-40B4-BE49-F238E27FC236}">
                  <a16:creationId xmlns:a16="http://schemas.microsoft.com/office/drawing/2014/main" id="{183A9600-E846-4063-8002-438F535E4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411" y="2844000"/>
              <a:ext cx="468313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  B</a:t>
              </a:r>
            </a:p>
          </p:txBody>
        </p:sp>
        <p:sp>
          <p:nvSpPr>
            <p:cNvPr id="91" name="Text Box 407">
              <a:extLst>
                <a:ext uri="{FF2B5EF4-FFF2-40B4-BE49-F238E27FC236}">
                  <a16:creationId xmlns:a16="http://schemas.microsoft.com/office/drawing/2014/main" id="{CA996889-E9E8-4127-9C52-631696987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677" y="4536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92" name="Text Box 407">
              <a:extLst>
                <a:ext uri="{FF2B5EF4-FFF2-40B4-BE49-F238E27FC236}">
                  <a16:creationId xmlns:a16="http://schemas.microsoft.com/office/drawing/2014/main" id="{D8B84034-F033-4CF2-BA67-584DD698B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3677" y="3528307"/>
              <a:ext cx="324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3" name="Text Box 407">
              <a:extLst>
                <a:ext uri="{FF2B5EF4-FFF2-40B4-BE49-F238E27FC236}">
                  <a16:creationId xmlns:a16="http://schemas.microsoft.com/office/drawing/2014/main" id="{A4DF7744-2A4B-465C-A94D-AC770F0F8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000" y="3492307"/>
              <a:ext cx="360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4" name="Text Box 407">
              <a:extLst>
                <a:ext uri="{FF2B5EF4-FFF2-40B4-BE49-F238E27FC236}">
                  <a16:creationId xmlns:a16="http://schemas.microsoft.com/office/drawing/2014/main" id="{AC0E60FA-7F6A-42FC-BCAA-971978433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132000"/>
              <a:ext cx="684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全加器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95" name="Line 422">
              <a:extLst>
                <a:ext uri="{FF2B5EF4-FFF2-40B4-BE49-F238E27FC236}">
                  <a16:creationId xmlns:a16="http://schemas.microsoft.com/office/drawing/2014/main" id="{34AE8F75-3ADD-433E-9208-8469B29560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24000" y="3492257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422">
              <a:extLst>
                <a:ext uri="{FF2B5EF4-FFF2-40B4-BE49-F238E27FC236}">
                  <a16:creationId xmlns:a16="http://schemas.microsoft.com/office/drawing/2014/main" id="{FE5896F4-6889-4390-8AEC-C695B1BC49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24000" y="3708000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436">
              <a:extLst>
                <a:ext uri="{FF2B5EF4-FFF2-40B4-BE49-F238E27FC236}">
                  <a16:creationId xmlns:a16="http://schemas.microsoft.com/office/drawing/2014/main" id="{C705AD56-950A-4EF1-AB05-36F290711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4000" y="4176000"/>
              <a:ext cx="0" cy="36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5512048-F7EB-4E69-B977-3F32FE889B75}"/>
              </a:ext>
            </a:extLst>
          </p:cNvPr>
          <p:cNvGrpSpPr/>
          <p:nvPr/>
        </p:nvGrpSpPr>
        <p:grpSpPr>
          <a:xfrm>
            <a:off x="7308803" y="4077000"/>
            <a:ext cx="1512000" cy="899950"/>
            <a:chOff x="4824000" y="3492000"/>
            <a:chExt cx="1512000" cy="899950"/>
          </a:xfrm>
        </p:grpSpPr>
        <p:sp>
          <p:nvSpPr>
            <p:cNvPr id="99" name="Line 429">
              <a:extLst>
                <a:ext uri="{FF2B5EF4-FFF2-40B4-BE49-F238E27FC236}">
                  <a16:creationId xmlns:a16="http://schemas.microsoft.com/office/drawing/2014/main" id="{2B2A1201-D3B0-4275-9137-0868AE09C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78000" y="3492000"/>
              <a:ext cx="134" cy="68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429">
              <a:extLst>
                <a:ext uri="{FF2B5EF4-FFF2-40B4-BE49-F238E27FC236}">
                  <a16:creationId xmlns:a16="http://schemas.microsoft.com/office/drawing/2014/main" id="{E8858B6C-6B96-43A0-A847-4B7A13E52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0000" y="3781800"/>
              <a:ext cx="134" cy="39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427">
              <a:extLst>
                <a:ext uri="{FF2B5EF4-FFF2-40B4-BE49-F238E27FC236}">
                  <a16:creationId xmlns:a16="http://schemas.microsoft.com/office/drawing/2014/main" id="{9003E3B1-5B78-48E2-9B0D-C67420991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000" y="4177429"/>
              <a:ext cx="792000" cy="2143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MUX</a:t>
              </a:r>
            </a:p>
          </p:txBody>
        </p:sp>
        <p:sp>
          <p:nvSpPr>
            <p:cNvPr id="102" name="Line 429">
              <a:extLst>
                <a:ext uri="{FF2B5EF4-FFF2-40B4-BE49-F238E27FC236}">
                  <a16:creationId xmlns:a16="http://schemas.microsoft.com/office/drawing/2014/main" id="{F0BBFC8A-B614-418B-861C-BADDB79A17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16000" y="4284000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Text Box 407">
              <a:extLst>
                <a:ext uri="{FF2B5EF4-FFF2-40B4-BE49-F238E27FC236}">
                  <a16:creationId xmlns:a16="http://schemas.microsoft.com/office/drawing/2014/main" id="{5557CB94-96D6-4748-8651-CA2F0B7CD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000" y="4176050"/>
              <a:ext cx="288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 bldLvl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3068-5D80-43A5-B2B8-6C419445BC5B}" type="slidenum">
              <a:rPr lang="en-US" altLang="zh-CN"/>
              <a:t>35</a:t>
            </a:fld>
            <a:endParaRPr lang="en-US" altLang="zh-CN"/>
          </a:p>
        </p:txBody>
      </p:sp>
      <p:sp>
        <p:nvSpPr>
          <p:cNvPr id="251908" name="Text Box 4"/>
          <p:cNvSpPr txBox="1">
            <a:spLocks noChangeArrowheads="1"/>
          </p:cNvSpPr>
          <p:nvPr/>
        </p:nvSpPr>
        <p:spPr bwMode="auto">
          <a:xfrm>
            <a:off x="179388" y="325105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字符的表示</a:t>
            </a:r>
          </a:p>
          <a:p>
            <a:r>
              <a:rPr lang="zh-CN" altLang="en-US" sz="2200" dirty="0">
                <a:solidFill>
                  <a:schemeClr val="tx1"/>
                </a:solidFill>
              </a:rPr>
              <a:t>   指字符的</a:t>
            </a:r>
            <a:r>
              <a:rPr lang="zh-CN" altLang="en-US" sz="2200" u="sng" dirty="0">
                <a:solidFill>
                  <a:schemeClr val="tx1"/>
                </a:solidFill>
              </a:rPr>
              <a:t>交换码</a:t>
            </a:r>
            <a:r>
              <a:rPr lang="zh-CN" altLang="en-US" sz="2200" dirty="0">
                <a:solidFill>
                  <a:schemeClr val="tx1"/>
                </a:solidFill>
              </a:rPr>
              <a:t>在</a:t>
            </a:r>
            <a:r>
              <a:rPr lang="zh-CN" altLang="en-US" sz="2200" u="sng" dirty="0">
                <a:solidFill>
                  <a:srgbClr val="0070C0"/>
                </a:solidFill>
              </a:rPr>
              <a:t>存储</a:t>
            </a:r>
            <a:r>
              <a:rPr lang="en-US" altLang="zh-CN" sz="2200" u="sng" dirty="0">
                <a:solidFill>
                  <a:srgbClr val="0070C0"/>
                </a:solidFill>
              </a:rPr>
              <a:t>/</a:t>
            </a:r>
            <a:r>
              <a:rPr lang="zh-CN" altLang="en-US" sz="2200" u="sng" dirty="0">
                <a:solidFill>
                  <a:srgbClr val="0070C0"/>
                </a:solidFill>
              </a:rPr>
              <a:t>运算时</a:t>
            </a:r>
            <a:r>
              <a:rPr lang="zh-CN" altLang="en-US" sz="2200" dirty="0">
                <a:solidFill>
                  <a:schemeClr val="tx1"/>
                </a:solidFill>
              </a:rPr>
              <a:t>的编码表示，即字符的</a:t>
            </a:r>
            <a:r>
              <a:rPr lang="zh-CN" altLang="en-US" sz="2200" u="sng" dirty="0">
                <a:solidFill>
                  <a:srgbClr val="990099"/>
                </a:solidFill>
              </a:rPr>
              <a:t>内码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51987" name="Text Box 83"/>
          <p:cNvSpPr txBox="1">
            <a:spLocks noChangeArrowheads="1"/>
          </p:cNvSpPr>
          <p:nvPr/>
        </p:nvSpPr>
        <p:spPr bwMode="auto">
          <a:xfrm>
            <a:off x="179388" y="1268760"/>
            <a:ext cx="5364243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表示方法：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硬件支持的类型：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常见的字符表示</a:t>
            </a:r>
            <a:r>
              <a:rPr lang="en-US" altLang="zh-CN" sz="1800" dirty="0">
                <a:solidFill>
                  <a:schemeClr val="accent2"/>
                </a:solidFill>
              </a:rPr>
              <a:t>—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假设</a:t>
            </a:r>
            <a:r>
              <a:rPr lang="en-US" altLang="zh-CN" sz="1800" dirty="0">
                <a:solidFill>
                  <a:schemeClr val="tx1"/>
                </a:solidFill>
              </a:rPr>
              <a:t>MEM</a:t>
            </a:r>
            <a:r>
              <a:rPr lang="zh-CN" altLang="en-US" sz="1800" dirty="0">
                <a:solidFill>
                  <a:schemeClr val="tx1"/>
                </a:solidFill>
              </a:rPr>
              <a:t>按字节编址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chemeClr val="accent2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1907704" y="1268760"/>
            <a:ext cx="7018807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zh-CN" altLang="en-US" sz="2200" u="sng" dirty="0">
                <a:solidFill>
                  <a:schemeClr val="tx1"/>
                </a:solidFill>
              </a:rPr>
              <a:t>二</a:t>
            </a:r>
            <a:r>
              <a:rPr lang="zh-CN" altLang="en-US" sz="2200" dirty="0">
                <a:solidFill>
                  <a:schemeClr val="tx1"/>
                </a:solidFill>
              </a:rPr>
              <a:t>进制、</a:t>
            </a:r>
            <a:r>
              <a:rPr lang="zh-CN" altLang="en-US" sz="2200" u="sng" dirty="0">
                <a:solidFill>
                  <a:schemeClr val="tx1"/>
                </a:solidFill>
              </a:rPr>
              <a:t>定点</a:t>
            </a:r>
            <a:r>
              <a:rPr lang="zh-CN" altLang="en-US" sz="2200" dirty="0">
                <a:solidFill>
                  <a:schemeClr val="tx1"/>
                </a:solidFill>
              </a:rPr>
              <a:t>格式、</a:t>
            </a:r>
            <a:r>
              <a:rPr lang="zh-CN" altLang="en-US" sz="2200" u="sng" dirty="0">
                <a:solidFill>
                  <a:schemeClr val="tx1"/>
                </a:solidFill>
              </a:rPr>
              <a:t>无符号</a:t>
            </a:r>
            <a:r>
              <a:rPr lang="zh-CN" altLang="en-US" sz="2200" dirty="0">
                <a:solidFill>
                  <a:schemeClr val="tx1"/>
                </a:solidFill>
              </a:rPr>
              <a:t>编码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973580" indent="-1973580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2200" dirty="0">
                <a:solidFill>
                  <a:srgbClr val="FF3399"/>
                </a:solidFill>
                <a:latin typeface="+mn-ea"/>
                <a:ea typeface="+mn-ea"/>
              </a:rPr>
              <a:t>常支持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几种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字符，每种字符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长度固定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9" name="Group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0609"/>
              </p:ext>
            </p:extLst>
          </p:nvPr>
        </p:nvGraphicFramePr>
        <p:xfrm>
          <a:off x="1560505" y="2996952"/>
          <a:ext cx="6539887" cy="116928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字符集种类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交换码长度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内码长度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占单元数</a:t>
                      </a:r>
                    </a:p>
                  </a:txBody>
                  <a:tcPr marL="36000" marR="36000" marT="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8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位＝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GB2312-80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+2 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Unicode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2B(UTF16)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1B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6B(UTF-8)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</a:p>
                  </a:txBody>
                  <a:tcPr marL="36000" marR="3600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DA53C39B-3AA8-4C78-A40A-5B544907978E}"/>
              </a:ext>
            </a:extLst>
          </p:cNvPr>
          <p:cNvGrpSpPr/>
          <p:nvPr/>
        </p:nvGrpSpPr>
        <p:grpSpPr>
          <a:xfrm>
            <a:off x="1547664" y="4653136"/>
            <a:ext cx="6768424" cy="612000"/>
            <a:chOff x="1475984" y="4797152"/>
            <a:chExt cx="6768424" cy="61200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2378090-C2D2-458C-B160-EBFF6A4B0DD9}"/>
                </a:ext>
              </a:extLst>
            </p:cNvPr>
            <p:cNvGrpSpPr/>
            <p:nvPr/>
          </p:nvGrpSpPr>
          <p:grpSpPr>
            <a:xfrm>
              <a:off x="6084008" y="4797152"/>
              <a:ext cx="2160400" cy="575178"/>
              <a:chOff x="6012000" y="4608822"/>
              <a:chExt cx="2160400" cy="575178"/>
            </a:xfrm>
          </p:grpSpPr>
          <p:sp>
            <p:nvSpPr>
              <p:cNvPr id="42" name="Text Box 101"/>
              <p:cNvSpPr txBox="1">
                <a:spLocks noChangeArrowheads="1"/>
              </p:cNvSpPr>
              <p:nvPr/>
            </p:nvSpPr>
            <p:spPr bwMode="auto">
              <a:xfrm>
                <a:off x="6228410" y="4932000"/>
                <a:ext cx="864000" cy="2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zh-CN" sz="1800" baseline="-18000" dirty="0">
                    <a:solidFill>
                      <a:schemeClr val="tx1"/>
                    </a:solidFill>
                  </a:rPr>
                  <a:t>13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…C</a:t>
                </a:r>
                <a:r>
                  <a:rPr lang="en-US" altLang="zh-CN" sz="1800" baseline="-180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0" name="Text Box 106"/>
              <p:cNvSpPr txBox="1">
                <a:spLocks noChangeArrowheads="1"/>
              </p:cNvSpPr>
              <p:nvPr/>
            </p:nvSpPr>
            <p:spPr bwMode="auto">
              <a:xfrm>
                <a:off x="6012516" y="4932000"/>
                <a:ext cx="216000" cy="25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1</a:t>
                </a:r>
                <a:endParaRPr lang="en-US" altLang="zh-CN" sz="1800" baseline="-18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 Box 101"/>
              <p:cNvSpPr txBox="1">
                <a:spLocks noChangeArrowheads="1"/>
              </p:cNvSpPr>
              <p:nvPr/>
            </p:nvSpPr>
            <p:spPr bwMode="auto">
              <a:xfrm>
                <a:off x="7308400" y="4932000"/>
                <a:ext cx="864000" cy="2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zh-CN" sz="1800" baseline="-18000" dirty="0">
                    <a:solidFill>
                      <a:schemeClr val="tx1"/>
                    </a:solidFill>
                  </a:rPr>
                  <a:t>6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…C</a:t>
                </a:r>
                <a:r>
                  <a:rPr lang="en-US" altLang="zh-CN" sz="1800" baseline="-18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3" name="Text Box 106"/>
              <p:cNvSpPr txBox="1">
                <a:spLocks noChangeArrowheads="1"/>
              </p:cNvSpPr>
              <p:nvPr/>
            </p:nvSpPr>
            <p:spPr bwMode="auto">
              <a:xfrm>
                <a:off x="7092506" y="4932000"/>
                <a:ext cx="216000" cy="25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1</a:t>
                </a:r>
                <a:endParaRPr lang="en-US" altLang="zh-CN" sz="1800" baseline="-18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Text Box 101"/>
              <p:cNvSpPr txBox="1">
                <a:spLocks noChangeArrowheads="1"/>
              </p:cNvSpPr>
              <p:nvPr/>
            </p:nvSpPr>
            <p:spPr bwMode="auto">
              <a:xfrm>
                <a:off x="6227720" y="4608822"/>
                <a:ext cx="864000" cy="2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zh-CN" sz="1800" baseline="-18000" dirty="0">
                    <a:solidFill>
                      <a:schemeClr val="tx1"/>
                    </a:solidFill>
                  </a:rPr>
                  <a:t>6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…C</a:t>
                </a:r>
                <a:r>
                  <a:rPr lang="en-US" altLang="zh-CN" sz="1800" baseline="-18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5" name="Text Box 106"/>
              <p:cNvSpPr txBox="1">
                <a:spLocks noChangeArrowheads="1"/>
              </p:cNvSpPr>
              <p:nvPr/>
            </p:nvSpPr>
            <p:spPr bwMode="auto">
              <a:xfrm>
                <a:off x="6012000" y="4608822"/>
                <a:ext cx="216000" cy="25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0</a:t>
                </a:r>
                <a:endParaRPr lang="en-US" altLang="zh-CN" sz="1800" baseline="-18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Text Box 114"/>
            <p:cNvSpPr txBox="1">
              <a:spLocks noChangeArrowheads="1"/>
            </p:cNvSpPr>
            <p:nvPr/>
          </p:nvSpPr>
          <p:spPr bwMode="auto">
            <a:xfrm>
              <a:off x="1475984" y="4797152"/>
              <a:ext cx="4680000" cy="61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可利用</a:t>
              </a:r>
              <a:r>
                <a:rPr lang="zh-CN" altLang="en-US" sz="1800" u="sng" dirty="0">
                  <a:solidFill>
                    <a:srgbClr val="0070C0"/>
                  </a:solidFill>
                  <a:latin typeface="+mn-ea"/>
                  <a:ea typeface="+mn-ea"/>
                </a:rPr>
                <a:t>空闲位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区分。通常，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ASCII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字符表示为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数据中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                汉字表示为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184FA18-ADF7-4383-8F7A-6E939F5D7254}"/>
              </a:ext>
            </a:extLst>
          </p:cNvPr>
          <p:cNvGrpSpPr/>
          <p:nvPr/>
        </p:nvGrpSpPr>
        <p:grpSpPr>
          <a:xfrm>
            <a:off x="2232000" y="2204864"/>
            <a:ext cx="5400000" cy="289944"/>
            <a:chOff x="2232000" y="2132856"/>
            <a:chExt cx="5400000" cy="289944"/>
          </a:xfrm>
        </p:grpSpPr>
        <p:sp>
          <p:nvSpPr>
            <p:cNvPr id="41" name="Text Box 101">
              <a:extLst>
                <a:ext uri="{FF2B5EF4-FFF2-40B4-BE49-F238E27FC236}">
                  <a16:creationId xmlns:a16="http://schemas.microsoft.com/office/drawing/2014/main" id="{79540B38-0B42-460B-B057-4DC9E8F02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912" y="2132856"/>
              <a:ext cx="1584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交换码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…C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49" name="Text Box 106">
              <a:extLst>
                <a:ext uri="{FF2B5EF4-FFF2-40B4-BE49-F238E27FC236}">
                  <a16:creationId xmlns:a16="http://schemas.microsoft.com/office/drawing/2014/main" id="{3F21AEAD-B56A-4D85-80B1-A185559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000" y="2132856"/>
              <a:ext cx="154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空闲位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K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p-1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…K</a:t>
              </a:r>
              <a:r>
                <a:rPr lang="en-US" altLang="zh-CN" sz="18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58" name="Text Box 536">
              <a:extLst>
                <a:ext uri="{FF2B5EF4-FFF2-40B4-BE49-F238E27FC236}">
                  <a16:creationId xmlns:a16="http://schemas.microsoft.com/office/drawing/2014/main" id="{B008F63D-CA9B-4566-93A5-A1D62D54A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000" y="2134800"/>
              <a:ext cx="216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  <a:latin typeface="+mn-ea"/>
                  <a:ea typeface="+mn-ea"/>
                </a:rPr>
                <a:t>n+p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800" dirty="0">
                  <a:solidFill>
                    <a:schemeClr val="tx1"/>
                  </a:solidFill>
                  <a:latin typeface="+mn-ea"/>
                  <a:ea typeface="+mn-ea"/>
                </a:rPr>
                <a:t>k*MEM</a:t>
              </a:r>
              <a:r>
                <a:rPr lang="zh-CN" altLang="en-US" sz="1800" dirty="0">
                  <a:solidFill>
                    <a:schemeClr val="tx1"/>
                  </a:solidFill>
                  <a:latin typeface="+mn-ea"/>
                  <a:ea typeface="+mn-ea"/>
                </a:rPr>
                <a:t>单元长度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9" name="Text Box 200">
            <a:extLst>
              <a:ext uri="{FF2B5EF4-FFF2-40B4-BE49-F238E27FC236}">
                <a16:creationId xmlns:a16="http://schemas.microsoft.com/office/drawing/2014/main" id="{0E35D582-0F70-4EB3-A556-AF51DA9E1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776" y="4293096"/>
            <a:ext cx="439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如何</a:t>
            </a:r>
            <a:r>
              <a:rPr lang="zh-CN" altLang="en-US" sz="1800" u="sng" dirty="0">
                <a:solidFill>
                  <a:srgbClr val="990099"/>
                </a:solidFill>
              </a:rPr>
              <a:t>同时支持</a:t>
            </a:r>
            <a:r>
              <a:rPr lang="en-US" altLang="zh-CN" sz="1800" dirty="0">
                <a:solidFill>
                  <a:schemeClr val="tx1"/>
                </a:solidFill>
              </a:rPr>
              <a:t>ASCII</a:t>
            </a:r>
            <a:r>
              <a:rPr lang="zh-CN" altLang="en-US" sz="1800" dirty="0">
                <a:solidFill>
                  <a:schemeClr val="tx1"/>
                </a:solidFill>
              </a:rPr>
              <a:t>字符及汉字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4D0E9E4-6068-4DAF-81D1-6ABAD194835D}"/>
              </a:ext>
            </a:extLst>
          </p:cNvPr>
          <p:cNvCxnSpPr>
            <a:cxnSpLocks/>
          </p:cNvCxnSpPr>
          <p:nvPr/>
        </p:nvCxnSpPr>
        <p:spPr bwMode="auto">
          <a:xfrm>
            <a:off x="4211960" y="1224000"/>
            <a:ext cx="2016000" cy="1008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61" name="Text Box 200">
            <a:extLst>
              <a:ext uri="{FF2B5EF4-FFF2-40B4-BE49-F238E27FC236}">
                <a16:creationId xmlns:a16="http://schemas.microsoft.com/office/drawing/2014/main" id="{45247EC4-57F5-47CE-8C7F-8171088D2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5373216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如何</a:t>
            </a:r>
            <a:r>
              <a:rPr lang="zh-CN" altLang="en-US" sz="1800" u="sng" dirty="0">
                <a:solidFill>
                  <a:srgbClr val="990099"/>
                </a:solidFill>
                <a:latin typeface="+mn-ea"/>
              </a:rPr>
              <a:t>再支持</a:t>
            </a:r>
            <a:r>
              <a:rPr lang="en-US" altLang="zh-CN" sz="1800" dirty="0">
                <a:solidFill>
                  <a:schemeClr val="tx1"/>
                </a:solidFill>
              </a:rPr>
              <a:t>Unicode</a:t>
            </a:r>
            <a:r>
              <a:rPr lang="zh-CN" altLang="en-US" sz="1800" dirty="0">
                <a:solidFill>
                  <a:schemeClr val="tx1"/>
                </a:solidFill>
              </a:rPr>
              <a:t>码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？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2" name="Text Box 114">
            <a:extLst>
              <a:ext uri="{FF2B5EF4-FFF2-40B4-BE49-F238E27FC236}">
                <a16:creationId xmlns:a16="http://schemas.microsoft.com/office/drawing/2014/main" id="{85C2F2E6-FD41-4163-898C-8D60A617E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5409280"/>
            <a:ext cx="4066479" cy="5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可利用</a:t>
            </a:r>
            <a:r>
              <a:rPr lang="zh-CN" altLang="en-US" sz="1800" u="sng" dirty="0">
                <a:solidFill>
                  <a:schemeClr val="tx1"/>
                </a:solidFill>
                <a:latin typeface="+mn-ea"/>
                <a:ea typeface="+mn-ea"/>
              </a:rPr>
              <a:t>环境变量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(CPU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特定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REG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中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区分。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: var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en-US" altLang="zh-CN" sz="1800" dirty="0">
                <a:solidFill>
                  <a:schemeClr val="tx1"/>
                </a:solidFill>
              </a:rPr>
              <a:t>Unicode</a:t>
            </a:r>
            <a:r>
              <a:rPr lang="zh-CN" altLang="en-US" sz="1800" dirty="0">
                <a:solidFill>
                  <a:schemeClr val="tx1"/>
                </a:solidFill>
              </a:rPr>
              <a:t>码、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为其他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3" name="Text Box 77">
            <a:extLst>
              <a:ext uri="{FF2B5EF4-FFF2-40B4-BE49-F238E27FC236}">
                <a16:creationId xmlns:a16="http://schemas.microsoft.com/office/drawing/2014/main" id="{D873669C-0C3A-4C3C-AA5C-3323AE357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805264"/>
            <a:ext cx="378022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5055" indent="-1075055"/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字符的运算：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下页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61" grpId="0" bldLvl="0" animBg="1"/>
      <p:bldP spid="6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36</a:t>
            </a:fld>
            <a:endParaRPr lang="en-US" altLang="zh-CN"/>
          </a:p>
        </p:txBody>
      </p:sp>
      <p:sp>
        <p:nvSpPr>
          <p:cNvPr id="14" name="AutoShape 86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179389" y="367496"/>
            <a:ext cx="5328716" cy="57408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字符的运算：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运算类型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accent2"/>
                </a:solidFill>
              </a:rPr>
              <a:t>    运算方法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                </a:t>
            </a:r>
            <a:r>
              <a:rPr lang="zh-CN" altLang="en-US" sz="2200" dirty="0">
                <a:solidFill>
                  <a:srgbClr val="C00000"/>
                </a:solidFill>
              </a:rPr>
              <a:t>所需标志：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990099"/>
              </a:solidFill>
            </a:endParaRPr>
          </a:p>
          <a:p>
            <a:endParaRPr lang="en-US" altLang="zh-CN" sz="2200" dirty="0">
              <a:solidFill>
                <a:srgbClr val="990099"/>
              </a:solidFill>
            </a:endParaRPr>
          </a:p>
          <a:p>
            <a:endParaRPr lang="en-US" altLang="zh-CN" sz="2200" dirty="0">
              <a:solidFill>
                <a:srgbClr val="990099"/>
              </a:solidFill>
            </a:endParaRPr>
          </a:p>
          <a:p>
            <a:endParaRPr lang="en-US" altLang="zh-CN" sz="2200" dirty="0">
              <a:solidFill>
                <a:srgbClr val="990099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逻辑实现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200" dirty="0">
                <a:solidFill>
                  <a:srgbClr val="C00000"/>
                </a:solidFill>
              </a:rPr>
              <a:t> *字符串的表示：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转换方法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2195612" y="802800"/>
            <a:ext cx="6768876" cy="20649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关系运算</a:t>
            </a:r>
            <a:r>
              <a:rPr lang="en-US" altLang="zh-CN" sz="1800" dirty="0">
                <a:solidFill>
                  <a:schemeClr val="tx1"/>
                </a:solidFill>
              </a:rPr>
              <a:t>(A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A≥B</a:t>
            </a:r>
            <a:r>
              <a:rPr lang="zh-CN" altLang="en-US" sz="1800" dirty="0">
                <a:solidFill>
                  <a:schemeClr val="tx1"/>
                </a:solidFill>
              </a:rPr>
              <a:t>等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，结果为真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假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①比较大小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通过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</a:rPr>
              <a:t>减法运算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无符号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实现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产生标志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200"/>
              </a:spcBef>
            </a:pPr>
            <a:r>
              <a:rPr lang="zh-CN" altLang="en-US" sz="2000" dirty="0">
                <a:solidFill>
                  <a:srgbClr val="990099"/>
                </a:solidFill>
                <a:latin typeface="+mn-ea"/>
                <a:ea typeface="+mn-ea"/>
              </a:rPr>
              <a:t>               </a:t>
            </a:r>
            <a:r>
              <a:rPr lang="en-US" altLang="zh-CN" sz="2000" dirty="0">
                <a:solidFill>
                  <a:srgbClr val="C00000"/>
                </a:solidFill>
                <a:latin typeface="+mn-ea"/>
                <a:ea typeface="+mn-ea"/>
              </a:rPr>
              <a:t>ZF—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结果</a:t>
            </a:r>
            <a:r>
              <a:rPr lang="zh-CN" altLang="en-US" sz="2000" u="sng" dirty="0">
                <a:solidFill>
                  <a:schemeClr val="tx1"/>
                </a:solidFill>
                <a:latin typeface="+mn-ea"/>
                <a:ea typeface="+mn-ea"/>
              </a:rPr>
              <a:t>为零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时＝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，否则＝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</a:p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rgbClr val="990099"/>
                </a:solidFill>
                <a:latin typeface="+mn-ea"/>
                <a:ea typeface="+mn-ea"/>
              </a:rPr>
              <a:t>               </a:t>
            </a:r>
            <a:r>
              <a:rPr lang="en-US" altLang="zh-CN" sz="2000" dirty="0">
                <a:solidFill>
                  <a:srgbClr val="C00000"/>
                </a:solidFill>
                <a:latin typeface="+mn-ea"/>
                <a:ea typeface="+mn-ea"/>
              </a:rPr>
              <a:t>CF—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结果</a:t>
            </a:r>
            <a:r>
              <a:rPr lang="zh-CN" altLang="en-US" sz="2000" u="sng" dirty="0">
                <a:solidFill>
                  <a:schemeClr val="tx1"/>
                </a:solidFill>
                <a:latin typeface="+mn-ea"/>
                <a:ea typeface="+mn-ea"/>
              </a:rPr>
              <a:t>有借位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时＝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，否则＝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zh-CN" altLang="en-US" sz="2000" dirty="0">
              <a:latin typeface="+mn-ea"/>
              <a:ea typeface="+mn-ea"/>
            </a:endParaRPr>
          </a:p>
          <a:p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②形成结果</a:t>
            </a: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通过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</a:rPr>
              <a:t>逻辑操作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实现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判断标志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0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938003"/>
              </p:ext>
            </p:extLst>
          </p:nvPr>
        </p:nvGraphicFramePr>
        <p:xfrm>
          <a:off x="2483767" y="2924944"/>
          <a:ext cx="5544617" cy="930960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7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关系运算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A≥B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A≤B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57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accent2"/>
                          </a:solidFill>
                        </a:rPr>
                        <a:t>实现</a:t>
                      </a:r>
                    </a:p>
                  </a:txBody>
                  <a:tcPr marL="36000" marR="36000" marT="18000" marB="18000" vert="eaVert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①减法运算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，产生标志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2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②逻辑操作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 Box 101"/>
          <p:cNvSpPr txBox="1">
            <a:spLocks noChangeArrowheads="1"/>
          </p:cNvSpPr>
          <p:nvPr/>
        </p:nvSpPr>
        <p:spPr bwMode="auto">
          <a:xfrm>
            <a:off x="467544" y="1844824"/>
            <a:ext cx="1584000" cy="46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ZF—</a:t>
            </a:r>
            <a:r>
              <a:rPr lang="en-US" altLang="zh-CN" sz="1600" dirty="0">
                <a:solidFill>
                  <a:schemeClr val="tx1"/>
                </a:solidFill>
              </a:rPr>
              <a:t>Zero Flag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CF—</a:t>
            </a:r>
            <a:r>
              <a:rPr lang="en-US" altLang="zh-CN" sz="1600" dirty="0">
                <a:solidFill>
                  <a:schemeClr val="tx1"/>
                </a:solidFill>
              </a:rPr>
              <a:t>Carry Flag</a:t>
            </a: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855305" y="3933056"/>
            <a:ext cx="8181191" cy="21501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</a:t>
            </a:r>
            <a:r>
              <a:rPr lang="zh-CN" altLang="en-US" sz="2200" u="sng" dirty="0">
                <a:solidFill>
                  <a:schemeClr val="tx1"/>
                </a:solidFill>
              </a:rPr>
              <a:t>加减法器</a:t>
            </a:r>
            <a:r>
              <a:rPr lang="zh-CN" altLang="en-US" sz="2200" dirty="0">
                <a:solidFill>
                  <a:schemeClr val="tx1"/>
                </a:solidFill>
              </a:rPr>
              <a:t>产生标志，</a:t>
            </a:r>
            <a:r>
              <a:rPr lang="zh-CN" altLang="en-US" sz="2200" u="sng" dirty="0">
                <a:solidFill>
                  <a:schemeClr val="tx1"/>
                </a:solidFill>
              </a:rPr>
              <a:t>其他电路</a:t>
            </a:r>
            <a:r>
              <a:rPr lang="zh-CN" altLang="en-US" sz="2200" dirty="0">
                <a:solidFill>
                  <a:schemeClr val="tx1"/>
                </a:solidFill>
              </a:rPr>
              <a:t>判断标志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  </a:t>
            </a:r>
            <a:r>
              <a:rPr lang="zh-CN" altLang="en-US" sz="1800" dirty="0">
                <a:solidFill>
                  <a:srgbClr val="0070C0"/>
                </a:solidFill>
              </a:rPr>
              <a:t>如：</a:t>
            </a:r>
            <a:r>
              <a:rPr lang="zh-CN" altLang="en-US" sz="1800" dirty="0">
                <a:solidFill>
                  <a:schemeClr val="tx1"/>
                </a:solidFill>
              </a:rPr>
              <a:t>语句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if (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&lt;=5) j=6; 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编译时翻译为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       硬件</a:t>
            </a:r>
            <a:r>
              <a:rPr lang="zh-CN" altLang="en-US" sz="2200" dirty="0">
                <a:solidFill>
                  <a:srgbClr val="FF3399"/>
                </a:solidFill>
              </a:rPr>
              <a:t>均不支持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性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价太低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，软件</a:t>
            </a:r>
            <a:r>
              <a:rPr lang="zh-CN" altLang="en-US" sz="2200" u="sng" dirty="0">
                <a:solidFill>
                  <a:srgbClr val="990099"/>
                </a:solidFill>
              </a:rPr>
              <a:t>转换</a:t>
            </a:r>
            <a:r>
              <a:rPr lang="zh-CN" altLang="en-US" sz="2200" dirty="0">
                <a:solidFill>
                  <a:schemeClr val="tx1"/>
                </a:solidFill>
              </a:rPr>
              <a:t>为</a:t>
            </a:r>
            <a:r>
              <a:rPr lang="zh-CN" altLang="en-US" sz="2200" u="sng" dirty="0">
                <a:solidFill>
                  <a:schemeClr val="tx1"/>
                </a:solidFill>
              </a:rPr>
              <a:t>字符</a:t>
            </a:r>
            <a:r>
              <a:rPr lang="zh-CN" altLang="en-US" sz="2200" dirty="0">
                <a:solidFill>
                  <a:schemeClr val="tx1"/>
                </a:solidFill>
              </a:rPr>
              <a:t>操作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spc="-70" dirty="0">
                <a:solidFill>
                  <a:schemeClr val="tx1"/>
                </a:solidFill>
              </a:rPr>
              <a:t>          </a:t>
            </a:r>
            <a:r>
              <a:rPr lang="zh-CN" altLang="en-US" sz="2200" u="sng" spc="-70" dirty="0">
                <a:solidFill>
                  <a:schemeClr val="tx1"/>
                </a:solidFill>
              </a:rPr>
              <a:t>串结束</a:t>
            </a:r>
            <a:r>
              <a:rPr lang="zh-CN" altLang="en-US" sz="2200" spc="-70" dirty="0">
                <a:solidFill>
                  <a:schemeClr val="tx1"/>
                </a:solidFill>
              </a:rPr>
              <a:t>用</a:t>
            </a:r>
            <a:r>
              <a:rPr lang="zh-CN" altLang="en-US" sz="2200" u="sng" spc="-70" dirty="0">
                <a:solidFill>
                  <a:srgbClr val="0070C0"/>
                </a:solidFill>
              </a:rPr>
              <a:t>特定字符</a:t>
            </a:r>
            <a:r>
              <a:rPr lang="zh-CN" altLang="en-US" sz="2200" spc="-70" dirty="0">
                <a:solidFill>
                  <a:schemeClr val="tx1"/>
                </a:solidFill>
              </a:rPr>
              <a:t>表示，</a:t>
            </a:r>
            <a:r>
              <a:rPr lang="zh-CN" altLang="en-US" sz="2200" u="sng" spc="-70" dirty="0">
                <a:solidFill>
                  <a:schemeClr val="tx1"/>
                </a:solidFill>
              </a:rPr>
              <a:t>串操作</a:t>
            </a:r>
            <a:r>
              <a:rPr lang="zh-CN" altLang="en-US" sz="2200" spc="-70" dirty="0">
                <a:solidFill>
                  <a:schemeClr val="tx1"/>
                </a:solidFill>
              </a:rPr>
              <a:t>用</a:t>
            </a:r>
            <a:r>
              <a:rPr lang="zh-CN" altLang="en-US" sz="2200" u="sng" spc="-70" dirty="0">
                <a:solidFill>
                  <a:srgbClr val="0070C0"/>
                </a:solidFill>
              </a:rPr>
              <a:t>字符操作的循环</a:t>
            </a:r>
            <a:r>
              <a:rPr lang="zh-CN" altLang="en-US" sz="2200" spc="-70" dirty="0">
                <a:solidFill>
                  <a:schemeClr val="tx1"/>
                </a:solidFill>
              </a:rPr>
              <a:t>实现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355976" y="3599952"/>
            <a:ext cx="2088000" cy="252000"/>
            <a:chOff x="3211907" y="4509088"/>
            <a:chExt cx="2088000" cy="252000"/>
          </a:xfrm>
        </p:grpSpPr>
        <p:sp>
          <p:nvSpPr>
            <p:cNvPr id="32" name="Text Box 101"/>
            <p:cNvSpPr txBox="1">
              <a:spLocks noChangeArrowheads="1"/>
            </p:cNvSpPr>
            <p:nvPr/>
          </p:nvSpPr>
          <p:spPr bwMode="auto">
            <a:xfrm>
              <a:off x="3211907" y="4509088"/>
              <a:ext cx="208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CF   CF+ZF  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CF+ZF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 bwMode="auto">
            <a:xfrm>
              <a:off x="3239690" y="4517968"/>
              <a:ext cx="21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4626328" y="4517968"/>
              <a:ext cx="57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6" name="Text Box 101"/>
          <p:cNvSpPr txBox="1">
            <a:spLocks noChangeArrowheads="1"/>
          </p:cNvSpPr>
          <p:nvPr/>
        </p:nvSpPr>
        <p:spPr bwMode="auto">
          <a:xfrm>
            <a:off x="6732240" y="3573016"/>
            <a:ext cx="122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CF     ZF</a:t>
            </a:r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sp>
        <p:nvSpPr>
          <p:cNvPr id="37" name="Text Box 101"/>
          <p:cNvSpPr txBox="1">
            <a:spLocks noChangeArrowheads="1"/>
          </p:cNvSpPr>
          <p:nvPr/>
        </p:nvSpPr>
        <p:spPr bwMode="auto">
          <a:xfrm>
            <a:off x="6516216" y="3212976"/>
            <a:ext cx="122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64800" rIns="18000" bIns="10800" anchor="t" anchorCtr="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</a:rPr>
              <a:t>ZF</a:t>
            </a:r>
            <a:r>
              <a:rPr lang="zh-CN" altLang="en-US" sz="1800" dirty="0">
                <a:solidFill>
                  <a:schemeClr val="tx1"/>
                </a:solidFill>
              </a:rPr>
              <a:t>及</a:t>
            </a:r>
            <a:r>
              <a:rPr lang="en-US" altLang="zh-CN" sz="1800" dirty="0">
                <a:solidFill>
                  <a:schemeClr val="tx1"/>
                </a:solidFill>
              </a:rPr>
              <a:t>CF)</a:t>
            </a:r>
          </a:p>
        </p:txBody>
      </p:sp>
      <p:sp>
        <p:nvSpPr>
          <p:cNvPr id="15" name="Text Box 26">
            <a:extLst>
              <a:ext uri="{FF2B5EF4-FFF2-40B4-BE49-F238E27FC236}">
                <a16:creationId xmlns:a16="http://schemas.microsoft.com/office/drawing/2014/main" id="{7D9618EE-9059-4757-A334-E56841AEE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4000" y="4005064"/>
            <a:ext cx="3204000" cy="1116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CMP i,5 ;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比较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产生标志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JA  LL  ;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分支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＞时转移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MOV j,6 ;j←6</a:t>
            </a: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LL: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6" grpId="0"/>
      <p:bldP spid="37" grpId="0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37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32178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其他类型数据的表示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不要求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包括声音、图像、图形等复杂数据，运算有多种特殊类型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C00000"/>
                </a:solidFill>
              </a:rPr>
              <a:t> *数据的表示：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取决于</a:t>
            </a:r>
            <a:r>
              <a:rPr lang="en-US" altLang="zh-CN" sz="1800" u="sng" dirty="0">
                <a:solidFill>
                  <a:schemeClr val="tx1"/>
                </a:solidFill>
              </a:rPr>
              <a:t>ISA</a:t>
            </a:r>
            <a:r>
              <a:rPr lang="zh-CN" altLang="en-US" sz="1800" u="sng" dirty="0">
                <a:solidFill>
                  <a:schemeClr val="tx1"/>
                </a:solidFill>
              </a:rPr>
              <a:t>约定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 硬件</a:t>
            </a:r>
            <a:r>
              <a:rPr lang="zh-CN" altLang="en-US" sz="2200" dirty="0">
                <a:solidFill>
                  <a:srgbClr val="FF3399"/>
                </a:solidFill>
              </a:rPr>
              <a:t>仅支持</a:t>
            </a:r>
            <a:r>
              <a:rPr lang="zh-CN" altLang="en-US" sz="2200" dirty="0">
                <a:solidFill>
                  <a:schemeClr val="tx1"/>
                </a:solidFill>
              </a:rPr>
              <a:t>基本数据的</a:t>
            </a:r>
            <a:r>
              <a:rPr lang="zh-CN" altLang="en-US" sz="2200" u="sng" dirty="0">
                <a:solidFill>
                  <a:schemeClr val="tx1"/>
                </a:solidFill>
              </a:rPr>
              <a:t>一维向量</a:t>
            </a:r>
            <a:r>
              <a:rPr lang="zh-CN" altLang="en-US" sz="2200" dirty="0">
                <a:solidFill>
                  <a:schemeClr val="tx1"/>
                </a:solidFill>
              </a:rPr>
              <a:t>表示，软件</a:t>
            </a:r>
            <a:r>
              <a:rPr lang="zh-CN" altLang="en-US" sz="2200" u="sng" dirty="0">
                <a:solidFill>
                  <a:schemeClr val="tx1"/>
                </a:solidFill>
              </a:rPr>
              <a:t>负责</a:t>
            </a:r>
            <a:r>
              <a:rPr lang="zh-CN" altLang="en-US" sz="2200" dirty="0">
                <a:solidFill>
                  <a:schemeClr val="tx1"/>
                </a:solidFill>
              </a:rPr>
              <a:t>其余转换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数据的运算：</a:t>
            </a: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取决于</a:t>
            </a:r>
            <a:r>
              <a:rPr lang="en-US" altLang="zh-CN" sz="1800" u="sng" dirty="0">
                <a:solidFill>
                  <a:schemeClr val="tx1"/>
                </a:solidFill>
              </a:rPr>
              <a:t>ISA</a:t>
            </a:r>
            <a:r>
              <a:rPr lang="zh-CN" altLang="en-US" sz="1800" u="sng" dirty="0">
                <a:solidFill>
                  <a:schemeClr val="tx1"/>
                </a:solidFill>
              </a:rPr>
              <a:t>约定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 硬件</a:t>
            </a:r>
            <a:r>
              <a:rPr lang="zh-CN" altLang="en-US" sz="2200" dirty="0">
                <a:solidFill>
                  <a:srgbClr val="FF3399"/>
                </a:solidFill>
              </a:rPr>
              <a:t>仅支持</a:t>
            </a:r>
            <a:r>
              <a:rPr lang="zh-CN" altLang="en-US" sz="2200" u="sng" dirty="0">
                <a:solidFill>
                  <a:schemeClr val="tx1"/>
                </a:solidFill>
              </a:rPr>
              <a:t>向量操作</a:t>
            </a:r>
            <a:r>
              <a:rPr lang="zh-CN" altLang="en-US" sz="2200" dirty="0">
                <a:solidFill>
                  <a:schemeClr val="tx1"/>
                </a:solidFill>
              </a:rPr>
              <a:t>、部分</a:t>
            </a:r>
            <a:r>
              <a:rPr lang="zh-CN" altLang="en-US" sz="2200" u="sng" dirty="0">
                <a:solidFill>
                  <a:schemeClr val="tx1"/>
                </a:solidFill>
              </a:rPr>
              <a:t>特殊运算</a:t>
            </a:r>
            <a:r>
              <a:rPr lang="zh-CN" altLang="en-US" sz="2200" dirty="0">
                <a:solidFill>
                  <a:schemeClr val="tx1"/>
                </a:solidFill>
              </a:rPr>
              <a:t>，软件</a:t>
            </a:r>
            <a:r>
              <a:rPr lang="zh-CN" altLang="en-US" sz="2200" u="sng" dirty="0">
                <a:solidFill>
                  <a:schemeClr val="tx1"/>
                </a:solidFill>
              </a:rPr>
              <a:t>负责</a:t>
            </a:r>
            <a:r>
              <a:rPr lang="zh-CN" altLang="en-US" sz="2200" dirty="0">
                <a:solidFill>
                  <a:schemeClr val="tx1"/>
                </a:solidFill>
              </a:rPr>
              <a:t>其余转换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 </a:t>
            </a:r>
            <a:r>
              <a:rPr lang="en-US" altLang="zh-CN" sz="1800" b="0" dirty="0">
                <a:solidFill>
                  <a:schemeClr val="tx1"/>
                </a:solidFill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提高性能、性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价</a:t>
            </a:r>
            <a:r>
              <a:rPr lang="en-US" altLang="zh-CN" sz="1800" dirty="0">
                <a:solidFill>
                  <a:schemeClr val="tx1"/>
                </a:solidFill>
              </a:rPr>
              <a:t>→</a:t>
            </a:r>
            <a:r>
              <a:rPr lang="en-US" altLang="zh-CN" sz="1800" b="0" dirty="0">
                <a:solidFill>
                  <a:schemeClr val="tx1"/>
                </a:solidFill>
              </a:rPr>
              <a:t>┘</a:t>
            </a: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rgbClr val="0070C0"/>
                </a:solidFill>
              </a:rPr>
              <a:t>        如：</a:t>
            </a:r>
            <a:r>
              <a:rPr lang="en-US" altLang="zh-CN" sz="1800" dirty="0">
                <a:solidFill>
                  <a:schemeClr val="tx1"/>
                </a:solidFill>
              </a:rPr>
              <a:t>8×8</a:t>
            </a:r>
            <a:r>
              <a:rPr lang="zh-CN" altLang="en-US" sz="1800" dirty="0">
                <a:solidFill>
                  <a:schemeClr val="tx1"/>
                </a:solidFill>
              </a:rPr>
              <a:t>像素块</a:t>
            </a:r>
            <a:r>
              <a:rPr lang="en-US" altLang="zh-CN" sz="1800" dirty="0">
                <a:solidFill>
                  <a:schemeClr val="tx1"/>
                </a:solidFill>
              </a:rPr>
              <a:t>A</a:t>
            </a:r>
            <a:r>
              <a:rPr lang="zh-CN" altLang="en-US" sz="1800" dirty="0">
                <a:solidFill>
                  <a:schemeClr val="tx1"/>
                </a:solidFill>
              </a:rPr>
              <a:t>表示为</a:t>
            </a:r>
            <a:r>
              <a:rPr lang="en-US" altLang="zh-CN" sz="1800" dirty="0">
                <a:solidFill>
                  <a:schemeClr val="tx1"/>
                </a:solidFill>
              </a:rPr>
              <a:t>8</a:t>
            </a:r>
            <a:r>
              <a:rPr lang="zh-CN" altLang="en-US" sz="1800" dirty="0">
                <a:solidFill>
                  <a:schemeClr val="tx1"/>
                </a:solidFill>
              </a:rPr>
              <a:t>个向量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各含</a:t>
            </a:r>
            <a:r>
              <a:rPr lang="en-US" altLang="zh-CN" sz="1800" dirty="0">
                <a:solidFill>
                  <a:schemeClr val="tx1"/>
                </a:solidFill>
              </a:rPr>
              <a:t>8</a:t>
            </a:r>
            <a:r>
              <a:rPr lang="zh-CN" altLang="en-US" sz="1800" dirty="0">
                <a:solidFill>
                  <a:schemeClr val="tx1"/>
                </a:solidFill>
              </a:rPr>
              <a:t>个元素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，用</a:t>
            </a:r>
            <a:r>
              <a:rPr lang="en-US" altLang="zh-CN" sz="1800" dirty="0">
                <a:solidFill>
                  <a:schemeClr val="tx1"/>
                </a:solidFill>
              </a:rPr>
              <a:t>for</a:t>
            </a:r>
            <a:r>
              <a:rPr lang="zh-CN" altLang="en-US" sz="1800" dirty="0">
                <a:solidFill>
                  <a:schemeClr val="tx1"/>
                </a:solidFill>
              </a:rPr>
              <a:t>循环实现</a:t>
            </a:r>
            <a:r>
              <a:rPr lang="en-US" altLang="zh-CN" sz="1800" dirty="0">
                <a:solidFill>
                  <a:schemeClr val="tx1"/>
                </a:solidFill>
              </a:rPr>
              <a:t>A</a:t>
            </a:r>
            <a:r>
              <a:rPr lang="zh-CN" altLang="en-US" sz="1800" dirty="0">
                <a:solidFill>
                  <a:schemeClr val="tx1"/>
                </a:solidFill>
              </a:rPr>
              <a:t>的运算</a:t>
            </a:r>
            <a:endParaRPr lang="en-US" altLang="zh-CN" sz="1800" b="0" dirty="0">
              <a:solidFill>
                <a:schemeClr val="tx1"/>
              </a:solidFill>
            </a:endParaRPr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2483768" y="5013176"/>
            <a:ext cx="4242187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990099"/>
                </a:solidFill>
              </a:rPr>
              <a:t>逻辑运算：</a:t>
            </a:r>
            <a:r>
              <a:rPr lang="zh-CN" altLang="en-US" sz="2200" dirty="0">
                <a:solidFill>
                  <a:schemeClr val="tx1"/>
                </a:solidFill>
              </a:rPr>
              <a:t>按位的与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非等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关系运算：</a:t>
            </a:r>
            <a:r>
              <a:rPr lang="zh-CN" altLang="en-US" sz="2200" dirty="0">
                <a:solidFill>
                  <a:schemeClr val="tx1"/>
                </a:solidFill>
              </a:rPr>
              <a:t>减法运算＋逻辑操作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特殊运算：</a:t>
            </a:r>
            <a:r>
              <a:rPr lang="zh-CN" altLang="en-US" sz="2200" dirty="0">
                <a:solidFill>
                  <a:schemeClr val="tx1"/>
                </a:solidFill>
              </a:rPr>
              <a:t>饱和运算等  </a:t>
            </a:r>
            <a:r>
              <a:rPr lang="zh-CN" altLang="en-US" sz="1800" dirty="0">
                <a:solidFill>
                  <a:schemeClr val="tx1"/>
                </a:solidFill>
              </a:rPr>
              <a:t>如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012000" y="5832168"/>
            <a:ext cx="2484000" cy="576000"/>
            <a:chOff x="4860016" y="5876641"/>
            <a:chExt cx="2484000" cy="576000"/>
          </a:xfrm>
        </p:grpSpPr>
        <p:sp>
          <p:nvSpPr>
            <p:cNvPr id="8" name="Text Box 240"/>
            <p:cNvSpPr txBox="1">
              <a:spLocks noChangeArrowheads="1"/>
            </p:cNvSpPr>
            <p:nvPr/>
          </p:nvSpPr>
          <p:spPr bwMode="auto">
            <a:xfrm>
              <a:off x="4860016" y="6020641"/>
              <a:ext cx="684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x+5</a:t>
              </a:r>
              <a:r>
                <a:rPr lang="zh-CN" altLang="en-US" sz="1800" dirty="0">
                  <a:solidFill>
                    <a:schemeClr val="tx1"/>
                  </a:solidFill>
                </a:rPr>
                <a:t>＝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 Box 240"/>
            <p:cNvSpPr txBox="1">
              <a:spLocks noChangeArrowheads="1"/>
            </p:cNvSpPr>
            <p:nvPr/>
          </p:nvSpPr>
          <p:spPr bwMode="auto">
            <a:xfrm>
              <a:off x="5616016" y="5876641"/>
              <a:ext cx="1728000" cy="57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x+5  </a:t>
              </a:r>
              <a:r>
                <a:rPr lang="zh-CN" altLang="en-US" sz="1800" dirty="0">
                  <a:solidFill>
                    <a:schemeClr val="tx1"/>
                  </a:solidFill>
                </a:rPr>
                <a:t>结果＜</a:t>
              </a:r>
              <a:r>
                <a:rPr lang="en-US" altLang="zh-CN" sz="1800" dirty="0">
                  <a:solidFill>
                    <a:schemeClr val="tx1"/>
                  </a:solidFill>
                </a:rPr>
                <a:t>255</a:t>
              </a:r>
            </a:p>
            <a:p>
              <a:pPr>
                <a:lnSpc>
                  <a:spcPct val="10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255  </a:t>
              </a:r>
              <a:r>
                <a:rPr lang="zh-CN" altLang="en-US" sz="1800" dirty="0">
                  <a:solidFill>
                    <a:schemeClr val="tx1"/>
                  </a:solidFill>
                </a:rPr>
                <a:t>结果≥</a:t>
              </a:r>
              <a:r>
                <a:rPr lang="en-US" altLang="zh-CN" sz="1800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4" name="左大括号 3"/>
            <p:cNvSpPr/>
            <p:nvPr/>
          </p:nvSpPr>
          <p:spPr bwMode="auto">
            <a:xfrm>
              <a:off x="5544015" y="5984641"/>
              <a:ext cx="72000" cy="360000"/>
            </a:xfrm>
            <a:prstGeom prst="leftBrace">
              <a:avLst>
                <a:gd name="adj1" fmla="val 32641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8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179512" y="3573016"/>
            <a:ext cx="8856983" cy="1923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200" dirty="0">
                <a:solidFill>
                  <a:srgbClr val="FF3399"/>
                </a:solidFill>
                <a:latin typeface="+mn-ea"/>
                <a:ea typeface="+mn-ea"/>
              </a:rPr>
              <a:t>非数值数据的表示小结：</a:t>
            </a:r>
            <a:endParaRPr lang="en-US" altLang="zh-CN" sz="2200" dirty="0">
              <a:solidFill>
                <a:srgbClr val="FF3399"/>
              </a:solidFill>
              <a:latin typeface="+mn-ea"/>
              <a:ea typeface="+mn-ea"/>
            </a:endParaRPr>
          </a:p>
          <a:p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表示方法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二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进制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，定点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向量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格式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，某种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编码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│</a:t>
            </a:r>
            <a:r>
              <a:rPr lang="en-US" altLang="zh-CN" sz="1800" dirty="0">
                <a:solidFill>
                  <a:schemeClr val="tx1"/>
                </a:solidFill>
              </a:rPr>
              <a:t>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←逻辑数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图像，分量占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多位，几种长度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└───</a:t>
            </a:r>
            <a:r>
              <a:rPr lang="zh-CN" altLang="en-US" sz="1800" dirty="0">
                <a:solidFill>
                  <a:schemeClr val="tx1"/>
                </a:solidFill>
              </a:rPr>
              <a:t>←字符，一种长度，无符号编码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支持的运算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A99-B281-4A0F-8D24-C134169593F3}" type="slidenum">
              <a:rPr lang="en-US" altLang="zh-CN"/>
              <a:t>38</a:t>
            </a:fld>
            <a:endParaRPr lang="en-US" altLang="zh-CN" dirty="0"/>
          </a:p>
        </p:txBody>
      </p:sp>
      <p:sp>
        <p:nvSpPr>
          <p:cNvPr id="253166" name="Text Box 238"/>
          <p:cNvSpPr txBox="1">
            <a:spLocks noChangeArrowheads="1"/>
          </p:cNvSpPr>
          <p:nvPr/>
        </p:nvSpPr>
        <p:spPr bwMode="auto">
          <a:xfrm>
            <a:off x="179388" y="332656"/>
            <a:ext cx="3744540" cy="5728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5</a:t>
            </a:r>
            <a:r>
              <a:rPr lang="zh-CN" altLang="en-US" dirty="0">
                <a:solidFill>
                  <a:srgbClr val="FF3399"/>
                </a:solidFill>
              </a:rPr>
              <a:t>、数据表示示例</a:t>
            </a:r>
            <a:endParaRPr lang="en-US" altLang="zh-CN" dirty="0">
              <a:solidFill>
                <a:srgbClr val="FF3399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*数据表示的常见结果：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0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ARMv8</a:t>
            </a:r>
            <a:r>
              <a:rPr lang="zh-CN" altLang="en-US" sz="2200" dirty="0">
                <a:solidFill>
                  <a:schemeClr val="accent2"/>
                </a:solidFill>
              </a:rPr>
              <a:t>的数据表示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r>
              <a:rPr lang="en-US" altLang="zh-CN" sz="2200" dirty="0">
                <a:solidFill>
                  <a:schemeClr val="accent2"/>
                </a:solidFill>
              </a:rPr>
              <a:t>    IA32</a:t>
            </a:r>
            <a:r>
              <a:rPr lang="zh-CN" altLang="en-US" sz="2200" dirty="0">
                <a:solidFill>
                  <a:schemeClr val="accent2"/>
                </a:solidFill>
              </a:rPr>
              <a:t>的数据表示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graphicFrame>
        <p:nvGraphicFramePr>
          <p:cNvPr id="8" name="Group 9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222594"/>
              </p:ext>
            </p:extLst>
          </p:nvPr>
        </p:nvGraphicFramePr>
        <p:xfrm>
          <a:off x="899592" y="1304736"/>
          <a:ext cx="7704856" cy="3123581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3192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进制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格式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长度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整数</a:t>
                      </a:r>
                      <a:endParaRPr kumimoji="1" lang="zh-CN" altLang="en-US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算术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补码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3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十</a:t>
                      </a:r>
                      <a:r>
                        <a:rPr kumimoji="1" lang="zh-CN" altLang="en-US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①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算术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校正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实数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浮点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(IEEE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754)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尾数原码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阶移码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两种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浮点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2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逻辑数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向量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逻辑编码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关系</a:t>
                      </a:r>
                      <a:r>
                        <a:rPr kumimoji="1" lang="zh-CN" altLang="en-US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endParaRPr kumimoji="1" lang="en-US" altLang="zh-CN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图像等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二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向量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整数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实数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几种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饱和等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75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注：①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BCD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数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Symbol" panose="05050102010706020507"/>
                        </a:rPr>
                        <a:t>整数表示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②关系运算可用</a:t>
                      </a:r>
                      <a:r>
                        <a:rPr kumimoji="1" lang="zh-CN" alt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减法运算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及</a:t>
                      </a:r>
                      <a:r>
                        <a:rPr kumimoji="1" lang="zh-CN" alt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逻辑操作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实现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3203848" y="4509120"/>
            <a:ext cx="565236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34055" indent="-3234055"/>
            <a:r>
              <a:rPr lang="en-US" altLang="zh-CN" sz="2200" b="1" spc="-50" dirty="0">
                <a:solidFill>
                  <a:schemeClr val="tx1"/>
                </a:solidFill>
              </a:rPr>
              <a:t>8/16/32/</a:t>
            </a:r>
            <a:r>
              <a:rPr lang="en-US" altLang="zh-CN" sz="2200" b="1" spc="-50" dirty="0">
                <a:solidFill>
                  <a:srgbClr val="990099"/>
                </a:solidFill>
              </a:rPr>
              <a:t>64</a:t>
            </a:r>
            <a:r>
              <a:rPr lang="en-US" altLang="zh-CN" sz="2200" b="1" spc="-50" dirty="0">
                <a:solidFill>
                  <a:schemeClr val="tx1"/>
                </a:solidFill>
              </a:rPr>
              <a:t>b</a:t>
            </a:r>
            <a:r>
              <a:rPr lang="zh-CN" altLang="en-US" sz="2200" b="1" spc="-50" dirty="0">
                <a:solidFill>
                  <a:schemeClr val="tx1"/>
                </a:solidFill>
              </a:rPr>
              <a:t>整数</a:t>
            </a:r>
            <a:r>
              <a:rPr lang="en-US" altLang="zh-CN" sz="1800" b="1" spc="-50" dirty="0">
                <a:solidFill>
                  <a:schemeClr val="tx1"/>
                </a:solidFill>
              </a:rPr>
              <a:t>(</a:t>
            </a:r>
            <a:r>
              <a:rPr lang="zh-CN" altLang="en-US" sz="1800" b="1" spc="-50" dirty="0">
                <a:solidFill>
                  <a:schemeClr val="tx1"/>
                </a:solidFill>
              </a:rPr>
              <a:t>含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逻辑数、字符</a:t>
            </a:r>
            <a:r>
              <a:rPr lang="en-US" altLang="zh-CN" sz="1800" b="1" spc="-50" dirty="0">
                <a:solidFill>
                  <a:schemeClr val="tx1"/>
                </a:solidFill>
              </a:rPr>
              <a:t>)</a:t>
            </a:r>
            <a:r>
              <a:rPr lang="zh-CN" altLang="en-US" sz="2200" spc="-50" dirty="0">
                <a:solidFill>
                  <a:schemeClr val="tx1"/>
                </a:solidFill>
              </a:rPr>
              <a:t>，</a:t>
            </a:r>
            <a:endParaRPr lang="en-US" altLang="zh-CN" sz="2200" spc="-50" dirty="0">
              <a:solidFill>
                <a:schemeClr val="tx1"/>
              </a:solidFill>
            </a:endParaRPr>
          </a:p>
          <a:p>
            <a:pPr marL="3234055" indent="-3234055"/>
            <a:r>
              <a:rPr lang="en-US" altLang="zh-CN" sz="2200" spc="-50" dirty="0">
                <a:solidFill>
                  <a:srgbClr val="0070C0"/>
                </a:solidFill>
              </a:rPr>
              <a:t>16</a:t>
            </a:r>
            <a:r>
              <a:rPr lang="en-US" altLang="zh-CN" sz="2200" spc="-50" dirty="0">
                <a:solidFill>
                  <a:schemeClr val="tx1"/>
                </a:solidFill>
              </a:rPr>
              <a:t>/</a:t>
            </a:r>
            <a:r>
              <a:rPr lang="en-US" altLang="zh-CN" sz="2200" dirty="0">
                <a:solidFill>
                  <a:schemeClr val="tx1"/>
                </a:solidFill>
              </a:rPr>
              <a:t>32/64b</a:t>
            </a:r>
            <a:r>
              <a:rPr lang="zh-CN" altLang="en-US" sz="2200" dirty="0">
                <a:solidFill>
                  <a:schemeClr val="tx1"/>
                </a:solidFill>
              </a:rPr>
              <a:t>浮点数</a:t>
            </a:r>
            <a:r>
              <a:rPr lang="zh-CN" altLang="en-US" sz="2200" b="1" spc="-50" dirty="0">
                <a:solidFill>
                  <a:schemeClr val="tx1"/>
                </a:solidFill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</a:rPr>
              <a:t>64/128b</a:t>
            </a:r>
            <a:r>
              <a:rPr lang="zh-CN" altLang="en-US" sz="2200" dirty="0">
                <a:solidFill>
                  <a:schemeClr val="tx1"/>
                </a:solidFill>
              </a:rPr>
              <a:t>向量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又称</a:t>
            </a:r>
            <a:r>
              <a:rPr lang="en-US" altLang="zh-CN" sz="1800" dirty="0">
                <a:solidFill>
                  <a:schemeClr val="tx1"/>
                </a:solidFill>
              </a:rPr>
              <a:t>SIMD</a:t>
            </a:r>
            <a:r>
              <a:rPr lang="zh-CN" altLang="en-US" sz="1800" dirty="0">
                <a:solidFill>
                  <a:schemeClr val="tx1"/>
                </a:solidFill>
              </a:rPr>
              <a:t>数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3059832" y="5373216"/>
            <a:ext cx="590478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34055" indent="-3234055"/>
            <a:r>
              <a:rPr lang="zh-CN" altLang="en-US" sz="2200" b="1" spc="-100" dirty="0">
                <a:solidFill>
                  <a:schemeClr val="tx1"/>
                </a:solidFill>
              </a:rPr>
              <a:t>整数</a:t>
            </a:r>
            <a:r>
              <a:rPr lang="zh-CN" altLang="en-US" sz="2200" spc="-100" dirty="0">
                <a:solidFill>
                  <a:schemeClr val="tx1"/>
                </a:solidFill>
              </a:rPr>
              <a:t>，浮点数</a:t>
            </a:r>
            <a:r>
              <a:rPr lang="zh-CN" altLang="en-US" sz="2200" b="1" spc="-100" dirty="0">
                <a:solidFill>
                  <a:schemeClr val="tx1"/>
                </a:solidFill>
              </a:rPr>
              <a:t>，指针，</a:t>
            </a:r>
            <a:r>
              <a:rPr lang="en-US" altLang="zh-CN" sz="2200" b="1" spc="-100" dirty="0">
                <a:solidFill>
                  <a:schemeClr val="tx1"/>
                </a:solidFill>
              </a:rPr>
              <a:t>BCD</a:t>
            </a:r>
            <a:r>
              <a:rPr lang="zh-CN" altLang="en-US" sz="2200" b="1" spc="-100" dirty="0">
                <a:solidFill>
                  <a:schemeClr val="tx1"/>
                </a:solidFill>
              </a:rPr>
              <a:t>数，</a:t>
            </a:r>
            <a:r>
              <a:rPr lang="zh-CN" altLang="en-US" sz="2200" spc="-100" dirty="0">
                <a:solidFill>
                  <a:schemeClr val="tx1"/>
                </a:solidFill>
              </a:rPr>
              <a:t>向量，位域</a:t>
            </a:r>
            <a:endParaRPr lang="zh-CN" altLang="en-US" sz="2200" b="1" spc="-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3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3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31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96B6-3D31-4034-9E59-8F446BE78FBE}" type="slidenum">
              <a:rPr lang="en-US" altLang="zh-CN"/>
              <a:t>39</a:t>
            </a:fld>
            <a:endParaRPr lang="en-US" altLang="zh-CN"/>
          </a:p>
        </p:txBody>
      </p:sp>
      <p:sp>
        <p:nvSpPr>
          <p:cNvPr id="392349" name="Text Box 157"/>
          <p:cNvSpPr txBox="1">
            <a:spLocks noChangeArrowheads="1"/>
          </p:cNvSpPr>
          <p:nvPr/>
        </p:nvSpPr>
        <p:spPr bwMode="auto">
          <a:xfrm>
            <a:off x="179389" y="332656"/>
            <a:ext cx="8785224" cy="26268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*数据表示与硬件参数的关联：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了解</a:t>
            </a:r>
            <a:r>
              <a:rPr lang="en-US" altLang="zh-CN" sz="1800" dirty="0">
                <a:solidFill>
                  <a:schemeClr val="tx1"/>
                </a:solidFill>
              </a:rPr>
              <a:t>[</a:t>
            </a:r>
            <a:r>
              <a:rPr lang="zh-CN" altLang="en-US" sz="1800" dirty="0">
                <a:solidFill>
                  <a:schemeClr val="tx1"/>
                </a:solidFill>
              </a:rPr>
              <a:t>融合知识点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ISA</a:t>
            </a:r>
            <a:r>
              <a:rPr lang="zh-CN" altLang="en-US" sz="1800" dirty="0">
                <a:solidFill>
                  <a:schemeClr val="tx1"/>
                </a:solidFill>
              </a:rPr>
              <a:t>研究内容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数据类型长度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为</a:t>
            </a:r>
            <a:r>
              <a:rPr lang="en-US" altLang="zh-CN" sz="2200" u="sng" dirty="0">
                <a:solidFill>
                  <a:schemeClr val="tx1"/>
                </a:solidFill>
              </a:rPr>
              <a:t>2</a:t>
            </a:r>
            <a:r>
              <a:rPr lang="en-US" altLang="zh-CN" sz="2200" u="sng" baseline="300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zh-CN" altLang="en-US" sz="2200" u="sng" dirty="0">
                <a:solidFill>
                  <a:schemeClr val="tx1"/>
                </a:solidFill>
              </a:rPr>
              <a:t>位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利于数据长度表示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，有</a:t>
            </a:r>
            <a:r>
              <a:rPr lang="zh-CN" altLang="en-US" sz="2200" u="sng" dirty="0">
                <a:solidFill>
                  <a:schemeClr val="tx1"/>
                </a:solidFill>
              </a:rPr>
              <a:t>多种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利于存储</a:t>
            </a:r>
            <a:r>
              <a:rPr lang="en-US" altLang="zh-CN" sz="1600" dirty="0">
                <a:solidFill>
                  <a:schemeClr val="tx1"/>
                </a:solidFill>
              </a:rPr>
              <a:t>&amp;</a:t>
            </a:r>
            <a:r>
              <a:rPr lang="zh-CN" altLang="en-US" sz="1600" dirty="0">
                <a:solidFill>
                  <a:schemeClr val="tx1"/>
                </a:solidFill>
              </a:rPr>
              <a:t>运算效率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存储单元长度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w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</a:rPr>
              <a:t>组织结果：</a:t>
            </a:r>
            <a:r>
              <a:rPr lang="en-US" altLang="zh-CN" sz="2200" dirty="0">
                <a:solidFill>
                  <a:srgbClr val="990099"/>
                </a:solidFill>
              </a:rPr>
              <a:t> 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</a:rPr>
              <a:t>数据存放：</a:t>
            </a:r>
            <a:endParaRPr lang="en-US" altLang="zh-CN" sz="2200" dirty="0">
              <a:solidFill>
                <a:srgbClr val="990099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机器字长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n</a:t>
            </a:r>
            <a:r>
              <a:rPr lang="en-US" altLang="zh-CN" sz="2200" dirty="0">
                <a:solidFill>
                  <a:schemeClr val="accent2"/>
                </a:solidFill>
              </a:rPr>
              <a:t>— 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9" name="Text Box 157"/>
          <p:cNvSpPr txBox="1">
            <a:spLocks noChangeArrowheads="1"/>
          </p:cNvSpPr>
          <p:nvPr/>
        </p:nvSpPr>
        <p:spPr bwMode="auto">
          <a:xfrm>
            <a:off x="2339752" y="1159524"/>
            <a:ext cx="6624736" cy="1765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关注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存储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效率、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访问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效率，重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</a:rPr>
              <a:t>前者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后者可优化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w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min{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所有</a:t>
            </a:r>
            <a:r>
              <a:rPr lang="zh-CN" altLang="en-US" sz="2000" u="sng" dirty="0">
                <a:solidFill>
                  <a:schemeClr val="tx1"/>
                </a:solidFill>
                <a:latin typeface="+mn-ea"/>
                <a:ea typeface="+mn-ea"/>
              </a:rPr>
              <a:t>数据类型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的长度</a:t>
            </a: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}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，通常＝字节</a:t>
            </a:r>
            <a:endParaRPr lang="en-US" altLang="zh-CN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</a:rPr>
              <a:t>连续的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存储单元中，数据地址为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</a:rPr>
              <a:t>最小的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单元地址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max{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所有</a:t>
            </a:r>
            <a:r>
              <a:rPr lang="zh-CN" altLang="en-US" sz="2000" u="sng" dirty="0">
                <a:solidFill>
                  <a:schemeClr val="tx1"/>
                </a:solidFill>
                <a:latin typeface="+mn-ea"/>
                <a:ea typeface="+mn-ea"/>
              </a:rPr>
              <a:t>整数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的长度</a:t>
            </a: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}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7344456" y="2457000"/>
            <a:ext cx="1620032" cy="972000"/>
            <a:chOff x="6875992" y="4060957"/>
            <a:chExt cx="1620032" cy="972000"/>
          </a:xfrm>
        </p:grpSpPr>
        <p:sp>
          <p:nvSpPr>
            <p:cNvPr id="13" name="Text Box 172"/>
            <p:cNvSpPr txBox="1">
              <a:spLocks noChangeArrowheads="1"/>
            </p:cNvSpPr>
            <p:nvPr/>
          </p:nvSpPr>
          <p:spPr bwMode="auto">
            <a:xfrm>
              <a:off x="6875992" y="4240957"/>
              <a:ext cx="396000" cy="75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200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202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203</a:t>
              </a:r>
              <a:endPara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Line 173"/>
            <p:cNvSpPr>
              <a:spLocks noChangeShapeType="1"/>
            </p:cNvSpPr>
            <p:nvPr/>
          </p:nvSpPr>
          <p:spPr bwMode="auto">
            <a:xfrm flipH="1">
              <a:off x="7307992" y="4240957"/>
              <a:ext cx="0" cy="79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74"/>
            <p:cNvSpPr txBox="1">
              <a:spLocks noChangeArrowheads="1"/>
            </p:cNvSpPr>
            <p:nvPr/>
          </p:nvSpPr>
          <p:spPr bwMode="auto">
            <a:xfrm>
              <a:off x="7307992" y="4276957"/>
              <a:ext cx="648000" cy="72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2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endParaRPr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Line 175"/>
            <p:cNvSpPr>
              <a:spLocks noChangeShapeType="1"/>
            </p:cNvSpPr>
            <p:nvPr/>
          </p:nvSpPr>
          <p:spPr bwMode="auto">
            <a:xfrm flipH="1">
              <a:off x="7955992" y="4240957"/>
              <a:ext cx="1588" cy="79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6"/>
            <p:cNvSpPr>
              <a:spLocks noChangeShapeType="1"/>
            </p:cNvSpPr>
            <p:nvPr/>
          </p:nvSpPr>
          <p:spPr bwMode="auto">
            <a:xfrm>
              <a:off x="7307992" y="4456957"/>
              <a:ext cx="6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" name="Line 177"/>
            <p:cNvSpPr>
              <a:spLocks noChangeShapeType="1"/>
            </p:cNvSpPr>
            <p:nvPr/>
          </p:nvSpPr>
          <p:spPr bwMode="auto">
            <a:xfrm>
              <a:off x="7307992" y="4636957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8"/>
            <p:cNvSpPr>
              <a:spLocks noChangeShapeType="1"/>
            </p:cNvSpPr>
            <p:nvPr/>
          </p:nvSpPr>
          <p:spPr bwMode="auto">
            <a:xfrm>
              <a:off x="7307992" y="4816957"/>
              <a:ext cx="6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7"/>
            <p:cNvSpPr>
              <a:spLocks noChangeShapeType="1"/>
            </p:cNvSpPr>
            <p:nvPr/>
          </p:nvSpPr>
          <p:spPr bwMode="auto">
            <a:xfrm>
              <a:off x="7811992" y="4636957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172"/>
            <p:cNvSpPr txBox="1">
              <a:spLocks noChangeArrowheads="1"/>
            </p:cNvSpPr>
            <p:nvPr/>
          </p:nvSpPr>
          <p:spPr bwMode="auto">
            <a:xfrm>
              <a:off x="7415992" y="4060957"/>
              <a:ext cx="43338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H="1">
              <a:off x="7991992" y="4384957"/>
              <a:ext cx="216024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直接箭头连接符 20"/>
            <p:cNvCxnSpPr/>
            <p:nvPr/>
          </p:nvCxnSpPr>
          <p:spPr bwMode="auto">
            <a:xfrm flipH="1">
              <a:off x="7991992" y="4564957"/>
              <a:ext cx="216024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H="1">
              <a:off x="7991992" y="4924957"/>
              <a:ext cx="216024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" name="Text Box 172"/>
            <p:cNvSpPr txBox="1">
              <a:spLocks noChangeArrowheads="1"/>
            </p:cNvSpPr>
            <p:nvPr/>
          </p:nvSpPr>
          <p:spPr bwMode="auto">
            <a:xfrm>
              <a:off x="8207992" y="4276957"/>
              <a:ext cx="288032" cy="72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&amp;A</a:t>
              </a:r>
            </a:p>
            <a:p>
              <a:pPr>
                <a:lnSpc>
                  <a:spcPct val="60000"/>
                </a:lnSpc>
                <a:spcBef>
                  <a:spcPts val="400"/>
                </a:spcBef>
              </a:pPr>
              <a:r>
                <a:rPr lang="en-US" altLang="zh-CN" sz="1600" dirty="0">
                  <a:solidFill>
                    <a:srgbClr val="C00000"/>
                  </a:solidFill>
                </a:rPr>
                <a:t>&amp;B</a:t>
              </a:r>
            </a:p>
            <a:p>
              <a:pPr>
                <a:lnSpc>
                  <a:spcPct val="80000"/>
                </a:lnSpc>
                <a:spcBef>
                  <a:spcPts val="1200"/>
                </a:spcBef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&amp;C</a:t>
              </a:r>
            </a:p>
          </p:txBody>
        </p:sp>
      </p:grpSp>
      <p:sp>
        <p:nvSpPr>
          <p:cNvPr id="26" name="Text Box 200">
            <a:extLst>
              <a:ext uri="{FF2B5EF4-FFF2-40B4-BE49-F238E27FC236}">
                <a16:creationId xmlns:a16="http://schemas.microsoft.com/office/drawing/2014/main" id="{AB8AD699-23DD-4133-9FDD-28B884393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78" y="2996952"/>
            <a:ext cx="7175890" cy="2824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7913" indent="-1077913">
              <a:lnSpc>
                <a:spcPct val="120000"/>
              </a:lnSpc>
            </a:pPr>
            <a:r>
              <a:rPr lang="zh-CN" altLang="en-US" sz="2000" b="1" dirty="0">
                <a:solidFill>
                  <a:srgbClr val="800080"/>
                </a:solidFill>
                <a:latin typeface="+mn-ea"/>
                <a:ea typeface="+mn-ea"/>
              </a:rPr>
              <a:t>   示例</a:t>
            </a:r>
            <a:r>
              <a:rPr lang="en-US" altLang="zh-CN" sz="2000" b="1" dirty="0">
                <a:solidFill>
                  <a:srgbClr val="800080"/>
                </a:solidFill>
                <a:latin typeface="+mn-ea"/>
                <a:ea typeface="+mn-ea"/>
              </a:rPr>
              <a:t>—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IA32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中，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MEM</a:t>
            </a:r>
            <a:r>
              <a:rPr lang="zh-CN" altLang="en-US" sz="2000" b="1" u="sng" dirty="0">
                <a:solidFill>
                  <a:schemeClr val="tx1"/>
                </a:solidFill>
                <a:latin typeface="+mn-ea"/>
                <a:ea typeface="+mn-ea"/>
              </a:rPr>
              <a:t>按字节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编址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数据采用</a:t>
            </a:r>
            <a:r>
              <a:rPr lang="zh-CN" altLang="en-US" sz="2000" b="1" u="sng" dirty="0">
                <a:solidFill>
                  <a:schemeClr val="tx1"/>
                </a:solidFill>
                <a:latin typeface="+mn-ea"/>
                <a:ea typeface="+mn-ea"/>
              </a:rPr>
              <a:t>小端方式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存放。右侧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语句中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数据从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2#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单元起</a:t>
            </a:r>
            <a:r>
              <a:rPr lang="zh-CN" altLang="en-US" sz="2000" b="1" u="sng" dirty="0">
                <a:solidFill>
                  <a:schemeClr val="tx1"/>
                </a:solidFill>
                <a:latin typeface="+mn-ea"/>
                <a:ea typeface="+mn-ea"/>
              </a:rPr>
              <a:t>连续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存放，存放结果？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    表示：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①机器数各占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4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个字节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             ②编码</a:t>
            </a:r>
            <a:r>
              <a:rPr lang="zh-CN" altLang="en-US" sz="2000" spc="100" dirty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zh-CN" altLang="en-US" sz="2000" spc="1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41H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FFFFFFDCH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FFDCH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42200000H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zh-CN" sz="2000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zh-CN" sz="1600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  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  存放：</a:t>
            </a:r>
            <a:endParaRPr lang="en-US" altLang="zh-CN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7" name="Text Box 172">
            <a:extLst>
              <a:ext uri="{FF2B5EF4-FFF2-40B4-BE49-F238E27FC236}">
                <a16:creationId xmlns:a16="http://schemas.microsoft.com/office/drawing/2014/main" id="{AF5375AD-E245-4FDD-AE59-4459A5B6C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2480" y="3609136"/>
            <a:ext cx="1440000" cy="104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char a=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int b=-36; </a:t>
            </a:r>
          </a:p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short c=b;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float e=40;</a:t>
            </a:r>
            <a:endParaRPr lang="en-US" altLang="zh-CN" sz="1800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D09E074-43D5-4ADF-9450-C1A822C942A8}"/>
              </a:ext>
            </a:extLst>
          </p:cNvPr>
          <p:cNvGrpSpPr/>
          <p:nvPr/>
        </p:nvGrpSpPr>
        <p:grpSpPr>
          <a:xfrm>
            <a:off x="1691680" y="5266808"/>
            <a:ext cx="6192000" cy="466448"/>
            <a:chOff x="1116000" y="5077553"/>
            <a:chExt cx="6192000" cy="466448"/>
          </a:xfrm>
        </p:grpSpPr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BD8B0BEA-0B7F-4212-BF25-9DA28688A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000" y="5256000"/>
              <a:ext cx="514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41H DCH</a:t>
              </a:r>
              <a:r>
                <a:rPr lang="en-US" altLang="zh-CN" sz="1800" b="1" spc="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FFH </a:t>
              </a:r>
              <a:r>
                <a:rPr lang="en-US" altLang="zh-CN" sz="18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FFH</a:t>
              </a:r>
              <a:r>
                <a:rPr lang="en-US" altLang="zh-CN" sz="1800" b="1" spc="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FFH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DCH FFH </a:t>
              </a:r>
              <a:r>
                <a:rPr lang="en-US" altLang="zh-CN" sz="1800" dirty="0">
                  <a:solidFill>
                    <a:schemeClr val="tx1"/>
                  </a:solidFill>
                </a:rPr>
                <a:t>00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H</a:t>
              </a:r>
              <a:r>
                <a:rPr lang="en-US" altLang="zh-CN" sz="1800" b="1" spc="200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00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H </a:t>
              </a:r>
              <a:r>
                <a:rPr lang="en-US" altLang="zh-CN" sz="1800" dirty="0">
                  <a:solidFill>
                    <a:schemeClr val="tx1"/>
                  </a:solidFill>
                </a:rPr>
                <a:t>20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H </a:t>
              </a:r>
              <a:r>
                <a:rPr lang="en-US" altLang="zh-CN" sz="1800" dirty="0">
                  <a:solidFill>
                    <a:schemeClr val="tx1"/>
                  </a:solidFill>
                </a:rPr>
                <a:t>42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H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B05171A-12D9-42C1-8A23-BF9B81791A9B}"/>
                </a:ext>
              </a:extLst>
            </p:cNvPr>
            <p:cNvCxnSpPr/>
            <p:nvPr/>
          </p:nvCxnSpPr>
          <p:spPr bwMode="auto">
            <a:xfrm>
              <a:off x="1619672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DE3A023-FA60-403D-A292-6AA3B55FF2EE}"/>
                </a:ext>
              </a:extLst>
            </p:cNvPr>
            <p:cNvCxnSpPr/>
            <p:nvPr/>
          </p:nvCxnSpPr>
          <p:spPr bwMode="auto">
            <a:xfrm>
              <a:off x="1548000" y="5256000"/>
              <a:ext cx="576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0C60986-20F8-48F9-BF89-D577FC05C22C}"/>
                </a:ext>
              </a:extLst>
            </p:cNvPr>
            <p:cNvCxnSpPr/>
            <p:nvPr/>
          </p:nvCxnSpPr>
          <p:spPr bwMode="auto">
            <a:xfrm flipV="1">
              <a:off x="1548000" y="5544000"/>
              <a:ext cx="5760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BADF829-EC8E-4B2B-8C11-AB555DD8ACDB}"/>
                </a:ext>
              </a:extLst>
            </p:cNvPr>
            <p:cNvCxnSpPr/>
            <p:nvPr/>
          </p:nvCxnSpPr>
          <p:spPr bwMode="auto">
            <a:xfrm>
              <a:off x="2088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6F7ADD7-E2EF-432F-A4A5-8B70056ECB7D}"/>
                </a:ext>
              </a:extLst>
            </p:cNvPr>
            <p:cNvCxnSpPr/>
            <p:nvPr/>
          </p:nvCxnSpPr>
          <p:spPr bwMode="auto">
            <a:xfrm>
              <a:off x="3960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965BE47-4A7B-40B3-B94C-4B2973FDA1F9}"/>
                </a:ext>
              </a:extLst>
            </p:cNvPr>
            <p:cNvCxnSpPr/>
            <p:nvPr/>
          </p:nvCxnSpPr>
          <p:spPr bwMode="auto">
            <a:xfrm>
              <a:off x="4896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F73655A-A609-4544-9AC1-EF91CCED9627}"/>
                </a:ext>
              </a:extLst>
            </p:cNvPr>
            <p:cNvCxnSpPr/>
            <p:nvPr/>
          </p:nvCxnSpPr>
          <p:spPr bwMode="auto">
            <a:xfrm>
              <a:off x="5832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956B44F-1897-44FD-BD5B-2F3C54DC6E43}"/>
                </a:ext>
              </a:extLst>
            </p:cNvPr>
            <p:cNvCxnSpPr/>
            <p:nvPr/>
          </p:nvCxnSpPr>
          <p:spPr bwMode="auto">
            <a:xfrm>
              <a:off x="2556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7705B49-C324-4197-8405-04A904EF9685}"/>
                </a:ext>
              </a:extLst>
            </p:cNvPr>
            <p:cNvCxnSpPr/>
            <p:nvPr/>
          </p:nvCxnSpPr>
          <p:spPr bwMode="auto">
            <a:xfrm>
              <a:off x="3024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0A8C4BA-BC6C-45D0-B725-21FF2D795CB3}"/>
                </a:ext>
              </a:extLst>
            </p:cNvPr>
            <p:cNvCxnSpPr/>
            <p:nvPr/>
          </p:nvCxnSpPr>
          <p:spPr bwMode="auto">
            <a:xfrm>
              <a:off x="3492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1F9993B-25BB-482F-893B-BA0BAF5A38BC}"/>
                </a:ext>
              </a:extLst>
            </p:cNvPr>
            <p:cNvCxnSpPr/>
            <p:nvPr/>
          </p:nvCxnSpPr>
          <p:spPr bwMode="auto">
            <a:xfrm>
              <a:off x="6300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6E5C6F7-7197-4492-898E-064C24F928E4}"/>
                </a:ext>
              </a:extLst>
            </p:cNvPr>
            <p:cNvCxnSpPr/>
            <p:nvPr/>
          </p:nvCxnSpPr>
          <p:spPr bwMode="auto">
            <a:xfrm>
              <a:off x="6768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EF2AB317-CD59-4043-B537-1661F9E67182}"/>
                </a:ext>
              </a:extLst>
            </p:cNvPr>
            <p:cNvCxnSpPr/>
            <p:nvPr/>
          </p:nvCxnSpPr>
          <p:spPr bwMode="auto">
            <a:xfrm>
              <a:off x="5364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219D5802-1F8A-42B5-8F9C-79F5272B2F1D}"/>
                </a:ext>
              </a:extLst>
            </p:cNvPr>
            <p:cNvCxnSpPr/>
            <p:nvPr/>
          </p:nvCxnSpPr>
          <p:spPr bwMode="auto">
            <a:xfrm>
              <a:off x="4428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8" name="Text Box 7">
              <a:extLst>
                <a:ext uri="{FF2B5EF4-FFF2-40B4-BE49-F238E27FC236}">
                  <a16:creationId xmlns:a16="http://schemas.microsoft.com/office/drawing/2014/main" id="{30E0C7AC-AF2D-4325-A17E-1D21CDE74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4000" y="5077553"/>
              <a:ext cx="550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2 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3 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4 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5 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6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7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8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9   10   11  12   13</a:t>
              </a:r>
            </a:p>
          </p:txBody>
        </p:sp>
        <p:sp>
          <p:nvSpPr>
            <p:cNvPr id="49" name="Text Box 7">
              <a:extLst>
                <a:ext uri="{FF2B5EF4-FFF2-40B4-BE49-F238E27FC236}">
                  <a16:creationId xmlns:a16="http://schemas.microsoft.com/office/drawing/2014/main" id="{48916811-094A-4FC7-8890-C2FA23800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5256000"/>
              <a:ext cx="46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BFC5377A-A5EC-4D08-A899-186528A825F3}"/>
                </a:ext>
              </a:extLst>
            </p:cNvPr>
            <p:cNvCxnSpPr/>
            <p:nvPr/>
          </p:nvCxnSpPr>
          <p:spPr bwMode="auto">
            <a:xfrm>
              <a:off x="7236000" y="5256000"/>
              <a:ext cx="0" cy="288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8849289-5542-46BF-AB53-B2B2EB6E5828}"/>
              </a:ext>
            </a:extLst>
          </p:cNvPr>
          <p:cNvGrpSpPr/>
          <p:nvPr/>
        </p:nvGrpSpPr>
        <p:grpSpPr>
          <a:xfrm>
            <a:off x="2699680" y="5481255"/>
            <a:ext cx="1800000" cy="216000"/>
            <a:chOff x="2024287" y="4581128"/>
            <a:chExt cx="1800000" cy="306000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0CF1A4D-449C-41CE-9410-2FAFFC4F799D}"/>
                </a:ext>
              </a:extLst>
            </p:cNvPr>
            <p:cNvSpPr/>
            <p:nvPr/>
          </p:nvSpPr>
          <p:spPr bwMode="auto">
            <a:xfrm>
              <a:off x="2024287" y="4581128"/>
              <a:ext cx="396000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4E9C58D-7C30-4523-842E-C0DFB12C85D2}"/>
                </a:ext>
              </a:extLst>
            </p:cNvPr>
            <p:cNvSpPr/>
            <p:nvPr/>
          </p:nvSpPr>
          <p:spPr bwMode="auto">
            <a:xfrm>
              <a:off x="2492287" y="4581128"/>
              <a:ext cx="396000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9D5DA2E2-46DC-42E4-B5CF-746312015F6B}"/>
                </a:ext>
              </a:extLst>
            </p:cNvPr>
            <p:cNvSpPr/>
            <p:nvPr/>
          </p:nvSpPr>
          <p:spPr bwMode="auto">
            <a:xfrm>
              <a:off x="2960287" y="4581128"/>
              <a:ext cx="396000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B6B22EAE-6C8A-4294-905D-8FEF2C6643B7}"/>
                </a:ext>
              </a:extLst>
            </p:cNvPr>
            <p:cNvSpPr/>
            <p:nvPr/>
          </p:nvSpPr>
          <p:spPr bwMode="auto">
            <a:xfrm>
              <a:off x="3428287" y="4581128"/>
              <a:ext cx="396000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1A9B263-2878-4CD9-B5FC-7A3D8399F727}"/>
              </a:ext>
            </a:extLst>
          </p:cNvPr>
          <p:cNvGrpSpPr/>
          <p:nvPr/>
        </p:nvGrpSpPr>
        <p:grpSpPr>
          <a:xfrm>
            <a:off x="4571680" y="5481255"/>
            <a:ext cx="864000" cy="216000"/>
            <a:chOff x="4037464" y="4581128"/>
            <a:chExt cx="864000" cy="306000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F082CF5-977F-421A-96E3-38E7B035EDAF}"/>
                </a:ext>
              </a:extLst>
            </p:cNvPr>
            <p:cNvSpPr/>
            <p:nvPr/>
          </p:nvSpPr>
          <p:spPr bwMode="auto">
            <a:xfrm>
              <a:off x="4037464" y="4581128"/>
              <a:ext cx="396000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82A04B15-A271-4C7E-BE7F-8AAB56215364}"/>
                </a:ext>
              </a:extLst>
            </p:cNvPr>
            <p:cNvSpPr/>
            <p:nvPr/>
          </p:nvSpPr>
          <p:spPr bwMode="auto">
            <a:xfrm>
              <a:off x="4505464" y="4581128"/>
              <a:ext cx="396000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867ABA3-A1B1-4645-AB1C-A23E28FC66E3}"/>
              </a:ext>
            </a:extLst>
          </p:cNvPr>
          <p:cNvGrpSpPr/>
          <p:nvPr/>
        </p:nvGrpSpPr>
        <p:grpSpPr>
          <a:xfrm>
            <a:off x="5507679" y="5481255"/>
            <a:ext cx="2268001" cy="216000"/>
            <a:chOff x="4931999" y="5292000"/>
            <a:chExt cx="2268001" cy="216000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27406124-AB9C-4981-8BCC-926697FF72C6}"/>
                </a:ext>
              </a:extLst>
            </p:cNvPr>
            <p:cNvSpPr/>
            <p:nvPr/>
          </p:nvSpPr>
          <p:spPr bwMode="auto">
            <a:xfrm>
              <a:off x="4931999" y="5292000"/>
              <a:ext cx="396000" cy="21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3BA232C-2123-4972-9172-1C1C0A89D3EF}"/>
                </a:ext>
              </a:extLst>
            </p:cNvPr>
            <p:cNvSpPr/>
            <p:nvPr/>
          </p:nvSpPr>
          <p:spPr bwMode="auto">
            <a:xfrm>
              <a:off x="5400000" y="5292000"/>
              <a:ext cx="396000" cy="21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982F659-AF93-4847-BE95-B9B24CA6CB8F}"/>
                </a:ext>
              </a:extLst>
            </p:cNvPr>
            <p:cNvSpPr/>
            <p:nvPr/>
          </p:nvSpPr>
          <p:spPr bwMode="auto">
            <a:xfrm>
              <a:off x="5868000" y="5292000"/>
              <a:ext cx="396000" cy="21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FBF7235A-35C5-4F55-9616-55A14335AEA3}"/>
                </a:ext>
              </a:extLst>
            </p:cNvPr>
            <p:cNvSpPr/>
            <p:nvPr/>
          </p:nvSpPr>
          <p:spPr bwMode="auto">
            <a:xfrm>
              <a:off x="6336000" y="5292000"/>
              <a:ext cx="396000" cy="21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53B2A0BF-AD04-44B0-9455-10717C6B7EFD}"/>
                </a:ext>
              </a:extLst>
            </p:cNvPr>
            <p:cNvSpPr/>
            <p:nvPr/>
          </p:nvSpPr>
          <p:spPr bwMode="auto">
            <a:xfrm>
              <a:off x="6804000" y="5292000"/>
              <a:ext cx="396000" cy="21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26F997B5-84B9-4D0D-9447-E7EB2BE9FCBA}"/>
              </a:ext>
            </a:extLst>
          </p:cNvPr>
          <p:cNvSpPr/>
          <p:nvPr/>
        </p:nvSpPr>
        <p:spPr bwMode="auto">
          <a:xfrm>
            <a:off x="2231680" y="5481255"/>
            <a:ext cx="396000" cy="216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Text Box 131">
            <a:extLst>
              <a:ext uri="{FF2B5EF4-FFF2-40B4-BE49-F238E27FC236}">
                <a16:creationId xmlns:a16="http://schemas.microsoft.com/office/drawing/2014/main" id="{0F9EFD57-3DAB-47E7-BE7D-6F77E36C4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280" y="4581192"/>
            <a:ext cx="6336000" cy="576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C00000"/>
                </a:solidFill>
              </a:rPr>
              <a:t>小端方式</a:t>
            </a:r>
            <a:r>
              <a:rPr lang="en-US" altLang="zh-CN" sz="1800" dirty="0">
                <a:solidFill>
                  <a:srgbClr val="C00000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数据</a:t>
            </a:r>
            <a:r>
              <a:rPr lang="zh-CN" altLang="en-US" sz="1800" u="sng" dirty="0">
                <a:solidFill>
                  <a:schemeClr val="tx1"/>
                </a:solidFill>
              </a:rPr>
              <a:t>字节顺序</a:t>
            </a:r>
            <a:r>
              <a:rPr lang="zh-CN" altLang="en-US" sz="1800" dirty="0">
                <a:solidFill>
                  <a:schemeClr val="tx1"/>
                </a:solidFill>
              </a:rPr>
              <a:t>中，</a:t>
            </a:r>
            <a:r>
              <a:rPr lang="zh-CN" altLang="en-US" sz="1800" u="sng" dirty="0">
                <a:solidFill>
                  <a:schemeClr val="tx1"/>
                </a:solidFill>
              </a:rPr>
              <a:t>地址最小</a:t>
            </a:r>
            <a:r>
              <a:rPr lang="zh-CN" altLang="en-US" sz="1800" dirty="0">
                <a:solidFill>
                  <a:schemeClr val="tx1"/>
                </a:solidFill>
              </a:rPr>
              <a:t>单元存放</a:t>
            </a:r>
            <a:r>
              <a:rPr lang="zh-CN" altLang="en-US" sz="1800" u="sng" dirty="0">
                <a:solidFill>
                  <a:srgbClr val="0070C0"/>
                </a:solidFill>
              </a:rPr>
              <a:t>最低</a:t>
            </a:r>
            <a:r>
              <a:rPr lang="zh-CN" altLang="en-US" sz="1800" u="sng" dirty="0">
                <a:solidFill>
                  <a:schemeClr val="tx1"/>
                </a:solidFill>
              </a:rPr>
              <a:t>有效字节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  如：数据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en-US" altLang="zh-CN" sz="1600" baseline="-18000" dirty="0">
                <a:solidFill>
                  <a:schemeClr val="tx1"/>
                </a:solidFill>
              </a:rPr>
              <a:t>3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en-US" altLang="zh-CN" sz="1600" baseline="-18000" dirty="0">
                <a:solidFill>
                  <a:schemeClr val="tx1"/>
                </a:solidFill>
              </a:rPr>
              <a:t>2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en-US" altLang="zh-CN" sz="1600" baseline="-18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放在</a:t>
            </a:r>
            <a:r>
              <a:rPr lang="en-US" altLang="zh-CN" sz="1600" dirty="0">
                <a:solidFill>
                  <a:schemeClr val="tx1"/>
                </a:solidFill>
              </a:rPr>
              <a:t>40#</a:t>
            </a:r>
            <a:r>
              <a:rPr lang="zh-CN" altLang="en-US" sz="1600" dirty="0">
                <a:solidFill>
                  <a:schemeClr val="tx1"/>
                </a:solidFill>
              </a:rPr>
              <a:t>～</a:t>
            </a:r>
            <a:r>
              <a:rPr lang="en-US" altLang="zh-CN" sz="1600" dirty="0">
                <a:solidFill>
                  <a:schemeClr val="tx1"/>
                </a:solidFill>
              </a:rPr>
              <a:t>43#</a:t>
            </a:r>
            <a:r>
              <a:rPr lang="zh-CN" altLang="en-US" sz="1600" dirty="0">
                <a:solidFill>
                  <a:schemeClr val="tx1"/>
                </a:solidFill>
              </a:rPr>
              <a:t>单元时，</a:t>
            </a:r>
            <a:r>
              <a:rPr lang="en-US" altLang="zh-CN" sz="1600" dirty="0">
                <a:solidFill>
                  <a:schemeClr val="tx1"/>
                </a:solidFill>
              </a:rPr>
              <a:t>40#</a:t>
            </a:r>
            <a:r>
              <a:rPr lang="zh-CN" altLang="en-US" sz="1600" dirty="0">
                <a:solidFill>
                  <a:schemeClr val="tx1"/>
                </a:solidFill>
              </a:rPr>
              <a:t>存放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en-US" altLang="zh-CN" sz="1600" dirty="0">
                <a:solidFill>
                  <a:schemeClr val="tx1"/>
                </a:solidFill>
              </a:rPr>
              <a:t>,41#</a:t>
            </a:r>
            <a:r>
              <a:rPr lang="zh-CN" altLang="en-US" sz="1600" dirty="0">
                <a:solidFill>
                  <a:schemeClr val="tx1"/>
                </a:solidFill>
              </a:rPr>
              <a:t>存放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en-US" altLang="zh-CN" sz="1600" baseline="-18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,…</a:t>
            </a:r>
          </a:p>
        </p:txBody>
      </p:sp>
      <p:sp>
        <p:nvSpPr>
          <p:cNvPr id="75" name="Text Box 526">
            <a:extLst>
              <a:ext uri="{FF2B5EF4-FFF2-40B4-BE49-F238E27FC236}">
                <a16:creationId xmlns:a16="http://schemas.microsoft.com/office/drawing/2014/main" id="{65D0123D-4FBF-4869-AB21-860BD7C0B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5877272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 ※</a:t>
            </a:r>
            <a:r>
              <a:rPr lang="zh-CN" altLang="en-US" sz="2200" dirty="0">
                <a:solidFill>
                  <a:srgbClr val="FF3399"/>
                </a:solidFill>
              </a:rPr>
              <a:t>数据表示的学习目标：</a:t>
            </a:r>
            <a:r>
              <a:rPr lang="zh-CN" altLang="en-US" sz="2200" u="sng" dirty="0">
                <a:solidFill>
                  <a:srgbClr val="990099"/>
                </a:solidFill>
              </a:rPr>
              <a:t>认知</a:t>
            </a:r>
            <a:r>
              <a:rPr lang="zh-CN" altLang="en-US" sz="2200" dirty="0">
                <a:solidFill>
                  <a:schemeClr val="tx1"/>
                </a:solidFill>
              </a:rPr>
              <a:t>数据的表示方法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掌握真值</a:t>
            </a:r>
            <a:r>
              <a:rPr lang="en-US" altLang="zh-CN" sz="1800" dirty="0">
                <a:solidFill>
                  <a:schemeClr val="tx1"/>
                </a:solidFill>
              </a:rPr>
              <a:t>-</a:t>
            </a:r>
            <a:r>
              <a:rPr lang="zh-CN" altLang="en-US" sz="1800" dirty="0">
                <a:solidFill>
                  <a:schemeClr val="tx1"/>
                </a:solidFill>
              </a:rPr>
              <a:t>机器数的转换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D6B3C79-E75A-4C39-929D-B0AD27D5ADC9}"/>
              </a:ext>
            </a:extLst>
          </p:cNvPr>
          <p:cNvSpPr/>
          <p:nvPr/>
        </p:nvSpPr>
        <p:spPr bwMode="auto">
          <a:xfrm>
            <a:off x="3276000" y="3871832"/>
            <a:ext cx="1332000" cy="252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4EAFCC3-4D48-4146-95B3-11FF19F8048A}"/>
              </a:ext>
            </a:extLst>
          </p:cNvPr>
          <p:cNvSpPr/>
          <p:nvPr/>
        </p:nvSpPr>
        <p:spPr bwMode="auto">
          <a:xfrm>
            <a:off x="2988000" y="4221088"/>
            <a:ext cx="468000" cy="252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8645FF5-D8A0-4851-9B26-D257D663E478}"/>
              </a:ext>
            </a:extLst>
          </p:cNvPr>
          <p:cNvSpPr/>
          <p:nvPr/>
        </p:nvSpPr>
        <p:spPr bwMode="auto">
          <a:xfrm>
            <a:off x="3672000" y="4221088"/>
            <a:ext cx="1188000" cy="252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8AAE575-7C38-4063-939A-7CEE0AB5CFFE}"/>
              </a:ext>
            </a:extLst>
          </p:cNvPr>
          <p:cNvSpPr/>
          <p:nvPr/>
        </p:nvSpPr>
        <p:spPr bwMode="auto">
          <a:xfrm>
            <a:off x="5076000" y="4221088"/>
            <a:ext cx="684000" cy="252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3FEEEB7-BF31-4A53-A33A-8CC4DAC6972C}"/>
              </a:ext>
            </a:extLst>
          </p:cNvPr>
          <p:cNvSpPr/>
          <p:nvPr/>
        </p:nvSpPr>
        <p:spPr bwMode="auto">
          <a:xfrm>
            <a:off x="6012000" y="4221088"/>
            <a:ext cx="1188000" cy="252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AutoShape 62">
            <a:hlinkClick r:id="rId4" action="ppaction://hlinksldjump"/>
            <a:extLst>
              <a:ext uri="{FF2B5EF4-FFF2-40B4-BE49-F238E27FC236}">
                <a16:creationId xmlns:a16="http://schemas.microsoft.com/office/drawing/2014/main" id="{B1DEB54B-F129-4519-98E3-B99CA91B7B1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59"/>
    </mc:Choice>
    <mc:Fallback xmlns="">
      <p:transition spd="slow" advTm="200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2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92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  <p:bldP spid="27" grpId="1" animBg="1"/>
      <p:bldP spid="53" grpId="0" animBg="1"/>
      <p:bldP spid="53" grpId="1" animBg="1"/>
      <p:bldP spid="74" grpId="0" animBg="1"/>
      <p:bldP spid="75" grpId="0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4C23-CC31-439B-B534-2E21AC938859}" type="slidenum">
              <a:rPr lang="en-US" altLang="zh-CN"/>
              <a:t>40</a:t>
            </a:fld>
            <a:endParaRPr lang="en-US" altLang="zh-CN"/>
          </a:p>
        </p:txBody>
      </p:sp>
      <p:sp>
        <p:nvSpPr>
          <p:cNvPr id="247899" name="Text Box 91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§2.3 </a:t>
            </a:r>
            <a:r>
              <a:rPr lang="zh-CN" altLang="en-US" sz="2800" dirty="0">
                <a:solidFill>
                  <a:schemeClr val="tx1"/>
                </a:solidFill>
              </a:rPr>
              <a:t>定点数的运算</a:t>
            </a:r>
          </a:p>
        </p:txBody>
      </p:sp>
      <p:sp>
        <p:nvSpPr>
          <p:cNvPr id="12" name="右箭头 11">
            <a:hlinkClick r:id="rId5" action="ppaction://hlinksldjump"/>
          </p:cNvPr>
          <p:cNvSpPr/>
          <p:nvPr/>
        </p:nvSpPr>
        <p:spPr bwMode="auto">
          <a:xfrm>
            <a:off x="7272000" y="324000"/>
            <a:ext cx="1368000" cy="432000"/>
          </a:xfrm>
          <a:prstGeom prst="rightArrow">
            <a:avLst>
              <a:gd name="adj1" fmla="val 64868"/>
              <a:gd name="adj2" fmla="val 41927"/>
            </a:avLst>
          </a:prstGeom>
          <a:solidFill>
            <a:srgbClr val="FFCC99">
              <a:alpha val="80000"/>
            </a:srgbClr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10800" rIns="18000" bIns="10800" numCol="1" rtlCol="0" anchor="ctr" anchorCtr="0" compatLnSpc="1">
            <a:spAutoFit/>
          </a:bodyPr>
          <a:lstStyle/>
          <a:p>
            <a:pPr>
              <a:lnSpc>
                <a:spcPct val="95000"/>
              </a:lnSpc>
            </a:pPr>
            <a:r>
              <a:rPr lang="zh-CN" altLang="en-US" sz="1800" dirty="0">
                <a:solidFill>
                  <a:schemeClr val="accent2"/>
                </a:solidFill>
              </a:rPr>
              <a:t>回顾加法器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79388" y="1268760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+mn-ea"/>
                <a:ea typeface="+mn-ea"/>
              </a:rPr>
              <a:t>一、定点加减运算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9388" y="1663516"/>
            <a:ext cx="8785100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zh-CN" altLang="en-US" sz="2200" dirty="0">
                <a:solidFill>
                  <a:schemeClr val="accent2"/>
                </a:solidFill>
              </a:rPr>
              <a:t>  运算类型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补码、无符号、原码、移码加减，需</a:t>
            </a:r>
            <a:r>
              <a:rPr lang="zh-CN" altLang="en-US" sz="2200" u="sng" dirty="0">
                <a:solidFill>
                  <a:schemeClr val="tx1"/>
                </a:solidFill>
              </a:rPr>
              <a:t>判断溢出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(</a:t>
            </a:r>
            <a:r>
              <a:rPr lang="zh-CN" altLang="en-US" sz="1800" dirty="0">
                <a:solidFill>
                  <a:schemeClr val="tx1"/>
                </a:solidFill>
              </a:rPr>
              <a:t>用于整数</a:t>
            </a:r>
            <a:r>
              <a:rPr lang="en-US" altLang="zh-CN" sz="1800" dirty="0">
                <a:solidFill>
                  <a:schemeClr val="tx1"/>
                </a:solidFill>
              </a:rPr>
              <a:t>)     (</a:t>
            </a:r>
            <a:r>
              <a:rPr lang="zh-CN" altLang="en-US" sz="1800" dirty="0">
                <a:solidFill>
                  <a:schemeClr val="tx1"/>
                </a:solidFill>
              </a:rPr>
              <a:t>用于浮点数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  <a:r>
              <a:rPr lang="zh-CN" altLang="en-US" sz="1800" u="sng" dirty="0">
                <a:solidFill>
                  <a:srgbClr val="0070C0"/>
                </a:solidFill>
              </a:rPr>
              <a:t>不考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    ←运算基于数据表示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79389" y="4437112"/>
            <a:ext cx="6480843" cy="1142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1—</a:t>
            </a:r>
            <a:r>
              <a:rPr lang="zh-CN" altLang="en-US" sz="2000" dirty="0">
                <a:solidFill>
                  <a:schemeClr val="tx1"/>
                </a:solidFill>
              </a:rPr>
              <a:t>设</a:t>
            </a:r>
            <a:r>
              <a:rPr lang="en-US" altLang="zh-CN" sz="2000" dirty="0">
                <a:solidFill>
                  <a:schemeClr val="tx1"/>
                </a:solidFill>
              </a:rPr>
              <a:t>[A]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11101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[B]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10111</a:t>
            </a:r>
            <a:r>
              <a:rPr lang="zh-CN" altLang="en-US" sz="2000" dirty="0">
                <a:solidFill>
                  <a:schemeClr val="tx1"/>
                </a:solidFill>
              </a:rPr>
              <a:t>，求</a:t>
            </a:r>
            <a:r>
              <a:rPr lang="en-US" altLang="zh-CN" sz="2000" dirty="0">
                <a:solidFill>
                  <a:schemeClr val="tx1"/>
                </a:solidFill>
              </a:rPr>
              <a:t>[A-B]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endParaRPr lang="en-US" altLang="zh-CN" sz="2000" baseline="-18000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en-US" altLang="zh-CN" sz="2000" dirty="0">
                <a:solidFill>
                  <a:schemeClr val="tx1"/>
                </a:solidFill>
              </a:rPr>
              <a:t>[-B]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01001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973580" indent="-1973580">
              <a:spcBef>
                <a:spcPts val="2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         [A-B]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[A]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+[-B]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11101+01001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rgbClr val="990099"/>
                </a:solidFill>
              </a:rPr>
              <a:t>00110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9B4E88-8BC8-473E-9056-FCF822637E4B}"/>
              </a:ext>
            </a:extLst>
          </p:cNvPr>
          <p:cNvGrpSpPr/>
          <p:nvPr/>
        </p:nvGrpSpPr>
        <p:grpSpPr>
          <a:xfrm>
            <a:off x="6804464" y="4545240"/>
            <a:ext cx="2160024" cy="1044000"/>
            <a:chOff x="6696496" y="4473232"/>
            <a:chExt cx="2160024" cy="1044000"/>
          </a:xfrm>
        </p:grpSpPr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6697442" y="4977288"/>
              <a:ext cx="11860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6697442" y="4977288"/>
              <a:ext cx="180000" cy="252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rgbClr val="CC3300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6696496" y="4473232"/>
              <a:ext cx="2160024" cy="10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11101 [-3]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+ 01001 [+9]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>
                  <a:solidFill>
                    <a:srgbClr val="990099"/>
                  </a:solidFill>
                </a:rPr>
                <a:t>00110 [+6]</a:t>
              </a:r>
              <a:r>
                <a:rPr lang="zh-CN" altLang="en-US" sz="1800" baseline="-18000" dirty="0">
                  <a:solidFill>
                    <a:srgbClr val="990099"/>
                  </a:solidFill>
                </a:rPr>
                <a:t>补</a:t>
              </a:r>
              <a:endParaRPr lang="en-US" altLang="zh-CN" sz="1800" baseline="-18000" dirty="0">
                <a:solidFill>
                  <a:srgbClr val="990099"/>
                </a:solidFill>
              </a:endParaRPr>
            </a:p>
            <a:p>
              <a:pPr marL="457200" indent="-457200">
                <a:lnSpc>
                  <a:spcPct val="100000"/>
                </a:lnSpc>
              </a:pPr>
              <a:r>
                <a:rPr lang="zh-CN" altLang="en-US" sz="1600" b="0" dirty="0">
                  <a:solidFill>
                    <a:schemeClr val="accent2"/>
                  </a:solidFill>
                </a:rPr>
                <a:t>└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→丢弃进位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(</a:t>
              </a:r>
              <a:r>
                <a:rPr lang="zh-CN" altLang="en-US" sz="1600" dirty="0">
                  <a:solidFill>
                    <a:schemeClr val="accent2"/>
                  </a:solidFill>
                </a:rPr>
                <a:t>模运算</a:t>
              </a:r>
              <a:r>
                <a:rPr lang="en-US" altLang="zh-CN" sz="1600" dirty="0">
                  <a:solidFill>
                    <a:schemeClr val="accent2"/>
                  </a:solidFill>
                </a:rPr>
                <a:t>)</a:t>
              </a:r>
              <a:endParaRPr lang="zh-CN" altLang="en-US" sz="1600" dirty="0">
                <a:solidFill>
                  <a:schemeClr val="accent2"/>
                </a:solidFill>
              </a:endParaRPr>
            </a:p>
            <a:p>
              <a:pPr marL="457200" indent="-457200">
                <a:lnSpc>
                  <a:spcPct val="100000"/>
                </a:lnSpc>
              </a:pP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AutoShape 62">
            <a:hlinkClick r:id="rId6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6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FF3399"/>
                </a:solidFill>
              </a:rPr>
              <a:t> ※</a:t>
            </a:r>
            <a:r>
              <a:rPr lang="zh-CN" altLang="en-US" sz="2000" dirty="0">
                <a:solidFill>
                  <a:srgbClr val="FF3399"/>
                </a:solidFill>
              </a:rPr>
              <a:t>主要内容：</a:t>
            </a:r>
            <a:r>
              <a:rPr lang="zh-CN" altLang="en-US" sz="2000" dirty="0">
                <a:solidFill>
                  <a:schemeClr val="tx1"/>
                </a:solidFill>
              </a:rPr>
              <a:t>有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zh-CN" altLang="en-US" sz="2000" dirty="0">
                <a:solidFill>
                  <a:schemeClr val="tx1"/>
                </a:solidFill>
              </a:rPr>
              <a:t>无符号的加减、移位、乘法的运算规则、部件组织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79512" y="5589240"/>
            <a:ext cx="3312368" cy="91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逻辑实现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稍后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溢出判断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稍后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179388" y="2348880"/>
            <a:ext cx="5904780" cy="2133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、补码加减运算</a:t>
            </a:r>
            <a:endParaRPr lang="en-US" altLang="zh-CN" dirty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dirty="0">
                <a:solidFill>
                  <a:srgbClr val="FF3399"/>
                </a:solidFill>
              </a:rPr>
              <a:t>运算方法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基于数据表示，结果亦为机器数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C00000"/>
                </a:solidFill>
              </a:rPr>
              <a:t> *加法：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*减法：</a:t>
            </a:r>
            <a:r>
              <a:rPr lang="zh-CN" altLang="en-US" sz="2200" dirty="0">
                <a:solidFill>
                  <a:srgbClr val="FF3399"/>
                </a:solidFill>
              </a:rPr>
              <a:t>    </a:t>
            </a:r>
            <a:endParaRPr lang="zh-CN" altLang="en-US" sz="2200" baseline="-18000" dirty="0">
              <a:solidFill>
                <a:schemeClr val="tx1"/>
              </a:solidFill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1331640" y="3284984"/>
            <a:ext cx="7632848" cy="1171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</a:rPr>
              <a:t>[A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rgbClr val="FF3399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1800" dirty="0">
                <a:solidFill>
                  <a:schemeClr val="tx1"/>
                </a:solidFill>
              </a:rPr>
              <a:t>←推导：</a:t>
            </a:r>
            <a:r>
              <a:rPr lang="en-US" altLang="zh-CN" sz="1800" dirty="0">
                <a:solidFill>
                  <a:schemeClr val="tx1"/>
                </a:solidFill>
              </a:rPr>
              <a:t>A+M</a:t>
            </a:r>
            <a:r>
              <a:rPr lang="en-US" altLang="zh-CN" sz="1800" dirty="0">
                <a:solidFill>
                  <a:srgbClr val="FF3399"/>
                </a:solidFill>
              </a:rPr>
              <a:t>+</a:t>
            </a:r>
            <a:r>
              <a:rPr lang="en-US" altLang="zh-CN" sz="1800" dirty="0">
                <a:solidFill>
                  <a:schemeClr val="tx1"/>
                </a:solidFill>
              </a:rPr>
              <a:t>B+M (mod M)</a:t>
            </a:r>
            <a:r>
              <a:rPr lang="zh-CN" altLang="en-US" sz="1800" dirty="0">
                <a:solidFill>
                  <a:srgbClr val="FF3399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rgbClr val="FF3399"/>
                </a:solidFill>
              </a:rPr>
              <a:t>+</a:t>
            </a:r>
            <a:r>
              <a:rPr lang="en-US" altLang="zh-CN" sz="1800" dirty="0">
                <a:solidFill>
                  <a:schemeClr val="tx1"/>
                </a:solidFill>
              </a:rPr>
              <a:t>B+M (mod M)</a:t>
            </a: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spc="100" dirty="0">
                <a:solidFill>
                  <a:schemeClr val="tx1"/>
                </a:solidFill>
              </a:rPr>
              <a:t>带符号</a:t>
            </a:r>
            <a:r>
              <a:rPr lang="zh-CN" altLang="en-US" sz="1800" spc="100" dirty="0">
                <a:solidFill>
                  <a:schemeClr val="tx1"/>
                </a:solidFill>
              </a:rPr>
              <a:t>的</a:t>
            </a:r>
            <a:r>
              <a:rPr lang="zh-CN" altLang="en-US" sz="1800" u="sng" spc="100" dirty="0">
                <a:solidFill>
                  <a:schemeClr val="tx1"/>
                </a:solidFill>
              </a:rPr>
              <a:t>二进制</a:t>
            </a:r>
            <a:r>
              <a:rPr lang="zh-CN" altLang="en-US" sz="1800" spc="100" dirty="0">
                <a:solidFill>
                  <a:schemeClr val="tx1"/>
                </a:solidFill>
              </a:rPr>
              <a:t>加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b="0" dirty="0">
                <a:solidFill>
                  <a:schemeClr val="tx1"/>
                </a:solidFill>
              </a:rPr>
              <a:t>-</a:t>
            </a:r>
            <a:r>
              <a:rPr lang="zh-CN" altLang="en-US" sz="1800" b="0" dirty="0">
                <a:solidFill>
                  <a:schemeClr val="tx1"/>
                </a:solidFill>
              </a:rPr>
              <a:t>──────┘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[A</a:t>
            </a:r>
            <a:r>
              <a:rPr lang="zh-CN" altLang="en-US" sz="2200" dirty="0">
                <a:solidFill>
                  <a:schemeClr val="tx1"/>
                </a:solidFill>
              </a:rPr>
              <a:t>－</a:t>
            </a:r>
            <a:r>
              <a:rPr lang="en-US" altLang="zh-CN" sz="2200" dirty="0">
                <a:solidFill>
                  <a:schemeClr val="tx1"/>
                </a:solidFill>
              </a:rPr>
              <a:t>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(-B)]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[-B]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Text Box 200">
            <a:extLst>
              <a:ext uri="{FF2B5EF4-FFF2-40B4-BE49-F238E27FC236}">
                <a16:creationId xmlns:a16="http://schemas.microsoft.com/office/drawing/2014/main" id="{78B06338-586C-449B-80CF-CE487692267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23938" y="2478880"/>
            <a:ext cx="3780526" cy="333151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marL="684000" indent="-684000"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讨论数据运算的目标是什么？</a:t>
            </a:r>
          </a:p>
        </p:txBody>
      </p:sp>
      <p:sp>
        <p:nvSpPr>
          <p:cNvPr id="18" name="Text Box 200">
            <a:extLst>
              <a:ext uri="{FF2B5EF4-FFF2-40B4-BE49-F238E27FC236}">
                <a16:creationId xmlns:a16="http://schemas.microsoft.com/office/drawing/2014/main" id="{7DF92D37-D387-42A0-AC00-3B5D938802E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76256" y="2492896"/>
            <a:ext cx="2160024" cy="504144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marL="684000" indent="-684000">
              <a:lnSpc>
                <a:spcPct val="10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硬件结果</a:t>
            </a:r>
            <a:r>
              <a:rPr lang="zh-CN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正确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、成本</a:t>
            </a:r>
            <a:r>
              <a:rPr lang="zh-CN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低</a:t>
            </a:r>
            <a:endParaRPr lang="en-US" altLang="zh-CN" sz="1600" b="1" dirty="0">
              <a:solidFill>
                <a:schemeClr val="tx1"/>
              </a:solidFill>
              <a:highlight>
                <a:srgbClr val="FFFF00"/>
              </a:highligh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84000" indent="-684000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</a:rPr>
              <a:t>        复用器件→</a:t>
            </a:r>
            <a:r>
              <a:rPr lang="zh-CN" altLang="en-US" sz="1600" b="0" dirty="0">
                <a:solidFill>
                  <a:schemeClr val="tx1"/>
                </a:solidFill>
                <a:cs typeface="宋体" panose="02010600030101010101" pitchFamily="2" charset="-122"/>
              </a:rPr>
              <a:t>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6899"/>
    </mc:Choice>
    <mc:Fallback xmlns="">
      <p:transition spd="slow" advTm="68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27" grpId="0"/>
      <p:bldP spid="28" grpId="0" bldLvl="0"/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BFB0-A0E8-4555-BE80-C0615EF03C20}" type="slidenum">
              <a:rPr lang="en-US" altLang="zh-CN"/>
              <a:t>41</a:t>
            </a:fld>
            <a:endParaRPr lang="en-US" altLang="zh-CN"/>
          </a:p>
        </p:txBody>
      </p:sp>
      <p:sp>
        <p:nvSpPr>
          <p:cNvPr id="261284" name="Text Box 164"/>
          <p:cNvSpPr txBox="1">
            <a:spLocks noChangeArrowheads="1"/>
          </p:cNvSpPr>
          <p:nvPr/>
        </p:nvSpPr>
        <p:spPr bwMode="auto">
          <a:xfrm>
            <a:off x="179388" y="332656"/>
            <a:ext cx="8785225" cy="1519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2—</a:t>
            </a:r>
            <a:r>
              <a:rPr lang="zh-CN" altLang="en-US" sz="2000" dirty="0">
                <a:solidFill>
                  <a:schemeClr val="tx1"/>
                </a:solidFill>
              </a:rPr>
              <a:t>设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-01010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+01101</a:t>
            </a:r>
            <a:r>
              <a:rPr lang="zh-CN" altLang="en-US" sz="2000" dirty="0">
                <a:solidFill>
                  <a:schemeClr val="tx1"/>
                </a:solidFill>
              </a:rPr>
              <a:t>，求</a:t>
            </a:r>
            <a:r>
              <a:rPr lang="en-US" altLang="zh-CN" sz="2000" dirty="0">
                <a:solidFill>
                  <a:schemeClr val="tx1"/>
                </a:solidFill>
              </a:rPr>
              <a:t>[A+B]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[A-B]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sz="2000" dirty="0">
                <a:solidFill>
                  <a:schemeClr val="tx1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en-US" altLang="zh-CN" sz="2000" dirty="0">
                <a:solidFill>
                  <a:schemeClr val="tx1"/>
                </a:solidFill>
              </a:rPr>
              <a:t>[A]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110110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[B]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001101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[-B]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110011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14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[A+B]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[A]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+[B]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 ＝</a:t>
            </a:r>
            <a:r>
              <a:rPr lang="en-US" altLang="zh-CN" sz="2000" dirty="0">
                <a:solidFill>
                  <a:schemeClr val="tx1"/>
                </a:solidFill>
              </a:rPr>
              <a:t>110110+001101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rgbClr val="990099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00011</a:t>
            </a:r>
            <a:r>
              <a:rPr lang="zh-CN" altLang="en-US" sz="2000" dirty="0">
                <a:solidFill>
                  <a:schemeClr val="tx1"/>
                </a:solidFill>
              </a:rPr>
              <a:t>，验算：结果</a:t>
            </a:r>
            <a:r>
              <a:rPr lang="zh-CN" altLang="en-US" sz="2000" dirty="0">
                <a:solidFill>
                  <a:srgbClr val="990099"/>
                </a:solidFill>
              </a:rPr>
              <a:t>对</a:t>
            </a:r>
            <a:endParaRPr lang="en-US" altLang="zh-CN" sz="2000" dirty="0">
              <a:solidFill>
                <a:srgbClr val="990099"/>
              </a:solidFill>
            </a:endParaRPr>
          </a:p>
          <a:p>
            <a:pPr marL="1973580" indent="-1973580">
              <a:lnSpc>
                <a:spcPct val="114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[A-B]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[A]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+[-B]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110110+110011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rgbClr val="990099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01001</a:t>
            </a:r>
            <a:r>
              <a:rPr lang="zh-CN" altLang="en-US" sz="2000" dirty="0">
                <a:solidFill>
                  <a:schemeClr val="tx1"/>
                </a:solidFill>
              </a:rPr>
              <a:t>，验算：结果</a:t>
            </a:r>
            <a:r>
              <a:rPr lang="zh-CN" altLang="en-US" sz="2000" dirty="0">
                <a:solidFill>
                  <a:srgbClr val="990099"/>
                </a:solidFill>
              </a:rPr>
              <a:t>对</a:t>
            </a:r>
          </a:p>
        </p:txBody>
      </p:sp>
      <p:sp>
        <p:nvSpPr>
          <p:cNvPr id="261296" name="Text Box 176"/>
          <p:cNvSpPr txBox="1">
            <a:spLocks noChangeArrowheads="1"/>
          </p:cNvSpPr>
          <p:nvPr/>
        </p:nvSpPr>
        <p:spPr bwMode="auto">
          <a:xfrm>
            <a:off x="179388" y="5877272"/>
            <a:ext cx="8641084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19250" indent="-1619250"/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练习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zh-CN" altLang="en-US" sz="2000" spc="-100" dirty="0">
                <a:solidFill>
                  <a:schemeClr val="tx1"/>
                </a:solidFill>
              </a:rPr>
              <a:t>整数用</a:t>
            </a:r>
            <a:r>
              <a:rPr lang="en-US" altLang="zh-CN" sz="2000" spc="-100" dirty="0">
                <a:solidFill>
                  <a:schemeClr val="tx1"/>
                </a:solidFill>
              </a:rPr>
              <a:t>8</a:t>
            </a:r>
            <a:r>
              <a:rPr lang="zh-CN" altLang="en-US" sz="2000" spc="-100" dirty="0">
                <a:solidFill>
                  <a:schemeClr val="tx1"/>
                </a:solidFill>
              </a:rPr>
              <a:t>位补码表示，</a:t>
            </a:r>
            <a:r>
              <a:rPr lang="en-US" altLang="zh-CN" sz="2000" spc="-100" dirty="0">
                <a:solidFill>
                  <a:schemeClr val="tx1"/>
                </a:solidFill>
              </a:rPr>
              <a:t>A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+15</a:t>
            </a:r>
            <a:r>
              <a:rPr lang="zh-CN" altLang="en-US" sz="2000" spc="-100" dirty="0">
                <a:solidFill>
                  <a:schemeClr val="tx1"/>
                </a:solidFill>
              </a:rPr>
              <a:t>，</a:t>
            </a:r>
            <a:r>
              <a:rPr lang="en-US" altLang="zh-CN" sz="2000" spc="-100" dirty="0">
                <a:solidFill>
                  <a:schemeClr val="tx1"/>
                </a:solidFill>
              </a:rPr>
              <a:t>B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+24</a:t>
            </a:r>
            <a:r>
              <a:rPr lang="zh-CN" altLang="en-US" sz="2000" spc="-100" dirty="0">
                <a:solidFill>
                  <a:schemeClr val="tx1"/>
                </a:solidFill>
              </a:rPr>
              <a:t>，求</a:t>
            </a:r>
            <a:r>
              <a:rPr lang="en-US" altLang="zh-CN" sz="2000" spc="-100" dirty="0">
                <a:solidFill>
                  <a:schemeClr val="tx1"/>
                </a:solidFill>
              </a:rPr>
              <a:t>[A+B]</a:t>
            </a:r>
            <a:r>
              <a:rPr lang="zh-CN" altLang="en-US" sz="2000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spc="-100" dirty="0">
                <a:solidFill>
                  <a:schemeClr val="tx1"/>
                </a:solidFill>
              </a:rPr>
              <a:t>、</a:t>
            </a:r>
            <a:r>
              <a:rPr lang="en-US" altLang="zh-CN" sz="2000" spc="-100" dirty="0">
                <a:solidFill>
                  <a:schemeClr val="tx1"/>
                </a:solidFill>
              </a:rPr>
              <a:t>[A-B]</a:t>
            </a:r>
            <a:r>
              <a:rPr lang="zh-CN" altLang="en-US" sz="2000" spc="-100" baseline="-18000" dirty="0">
                <a:solidFill>
                  <a:schemeClr val="tx1"/>
                </a:solidFill>
              </a:rPr>
              <a:t>补</a:t>
            </a:r>
            <a:endParaRPr lang="en-US" altLang="zh-CN" sz="2000" spc="-100" baseline="-18000" dirty="0">
              <a:solidFill>
                <a:schemeClr val="tx1"/>
              </a:solidFill>
            </a:endParaRPr>
          </a:p>
        </p:txBody>
      </p:sp>
      <p:sp>
        <p:nvSpPr>
          <p:cNvPr id="261297" name="Text Box 177"/>
          <p:cNvSpPr txBox="1">
            <a:spLocks noChangeArrowheads="1"/>
          </p:cNvSpPr>
          <p:nvPr/>
        </p:nvSpPr>
        <p:spPr bwMode="auto">
          <a:xfrm>
            <a:off x="179388" y="5445224"/>
            <a:ext cx="885710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运算特征：</a:t>
            </a:r>
            <a:r>
              <a:rPr lang="zh-CN" altLang="en-US" sz="2200" dirty="0">
                <a:solidFill>
                  <a:schemeClr val="tx1"/>
                </a:solidFill>
              </a:rPr>
              <a:t>减法</a:t>
            </a:r>
            <a:r>
              <a:rPr lang="zh-CN" altLang="en-US" sz="2200" u="sng" dirty="0">
                <a:solidFill>
                  <a:srgbClr val="0070C0"/>
                </a:solidFill>
              </a:rPr>
              <a:t>不比较大小</a:t>
            </a:r>
            <a:r>
              <a:rPr lang="zh-CN" altLang="en-US" sz="2200" dirty="0">
                <a:solidFill>
                  <a:schemeClr val="tx1"/>
                </a:solidFill>
              </a:rPr>
              <a:t>，符号与数值</a:t>
            </a:r>
            <a:r>
              <a:rPr lang="zh-CN" altLang="en-US" sz="2200" u="sng" dirty="0">
                <a:solidFill>
                  <a:srgbClr val="0070C0"/>
                </a:solidFill>
              </a:rPr>
              <a:t>一起运算</a:t>
            </a:r>
            <a:endParaRPr lang="en-US" altLang="zh-CN" sz="2200" u="sng" dirty="0">
              <a:solidFill>
                <a:srgbClr val="0070C0"/>
              </a:solidFill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179388" y="2708920"/>
            <a:ext cx="8785224" cy="27258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990099"/>
                </a:solidFill>
              </a:rPr>
              <a:t>    证明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zh-CN" altLang="en-US" sz="2000" dirty="0">
                <a:solidFill>
                  <a:schemeClr val="tx1"/>
                </a:solidFill>
              </a:rPr>
              <a:t>补码加减</a:t>
            </a:r>
            <a:r>
              <a:rPr lang="zh-CN" altLang="en-US" sz="2000" u="sng" dirty="0">
                <a:solidFill>
                  <a:schemeClr val="tx1"/>
                </a:solidFill>
              </a:rPr>
              <a:t>结果不溢出</a:t>
            </a:r>
            <a:r>
              <a:rPr lang="zh-CN" altLang="en-US" sz="2000" dirty="0">
                <a:solidFill>
                  <a:schemeClr val="tx1"/>
                </a:solidFill>
              </a:rPr>
              <a:t>时，</a:t>
            </a:r>
            <a:r>
              <a:rPr lang="zh-CN" altLang="en-US" sz="2000" u="sng" dirty="0">
                <a:solidFill>
                  <a:srgbClr val="0070C0"/>
                </a:solidFill>
              </a:rPr>
              <a:t>符号与数值</a:t>
            </a:r>
            <a:r>
              <a:rPr lang="zh-CN" altLang="en-US" sz="2000" dirty="0">
                <a:solidFill>
                  <a:srgbClr val="FF3399"/>
                </a:solidFill>
              </a:rPr>
              <a:t>可以</a:t>
            </a:r>
            <a:r>
              <a:rPr lang="zh-CN" altLang="en-US" sz="2000" u="sng" dirty="0">
                <a:solidFill>
                  <a:srgbClr val="0070C0"/>
                </a:solidFill>
              </a:rPr>
              <a:t>一起运算</a:t>
            </a:r>
            <a:endParaRPr lang="en-US" altLang="zh-CN" sz="2000" u="sng" dirty="0">
              <a:solidFill>
                <a:srgbClr val="0070C0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←溢出时反正是错，能够判断即可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rgbClr val="990099"/>
                </a:solidFill>
              </a:rPr>
              <a:t>      证：</a:t>
            </a:r>
            <a:r>
              <a:rPr lang="zh-CN" altLang="en-US" sz="2000" dirty="0">
                <a:solidFill>
                  <a:schemeClr val="tx1"/>
                </a:solidFill>
              </a:rPr>
              <a:t>枚举法，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种情况即可     </a:t>
            </a:r>
            <a:r>
              <a:rPr lang="zh-CN" altLang="en-US" sz="1800" dirty="0">
                <a:solidFill>
                  <a:schemeClr val="tx1"/>
                </a:solidFill>
              </a:rPr>
              <a:t>←同号加＝异号减、异号加＝同号减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         3+2</a:t>
            </a:r>
            <a:r>
              <a:rPr lang="zh-CN" altLang="en-US" sz="1800" dirty="0">
                <a:solidFill>
                  <a:schemeClr val="tx1"/>
                </a:solidFill>
              </a:rPr>
              <a:t>及</a:t>
            </a:r>
            <a:r>
              <a:rPr lang="en-US" altLang="zh-CN" sz="1800" dirty="0">
                <a:solidFill>
                  <a:schemeClr val="tx1"/>
                </a:solidFill>
              </a:rPr>
              <a:t>3-(-2)    3+(-2)</a:t>
            </a:r>
            <a:r>
              <a:rPr lang="zh-CN" altLang="en-US" sz="1800" dirty="0">
                <a:solidFill>
                  <a:schemeClr val="tx1"/>
                </a:solidFill>
              </a:rPr>
              <a:t>及</a:t>
            </a:r>
            <a:r>
              <a:rPr lang="en-US" altLang="zh-CN" sz="1800" dirty="0">
                <a:solidFill>
                  <a:schemeClr val="tx1"/>
                </a:solidFill>
              </a:rPr>
              <a:t>3-2   -3+2</a:t>
            </a:r>
            <a:r>
              <a:rPr lang="zh-CN" altLang="en-US" sz="1800" dirty="0">
                <a:solidFill>
                  <a:schemeClr val="tx1"/>
                </a:solidFill>
              </a:rPr>
              <a:t>及</a:t>
            </a:r>
            <a:r>
              <a:rPr lang="en-US" altLang="zh-CN" sz="1800" dirty="0">
                <a:solidFill>
                  <a:schemeClr val="tx1"/>
                </a:solidFill>
              </a:rPr>
              <a:t>-3-(-2)  -3+(-2)</a:t>
            </a:r>
            <a:r>
              <a:rPr lang="zh-CN" altLang="en-US" sz="1800" dirty="0">
                <a:solidFill>
                  <a:schemeClr val="tx1"/>
                </a:solidFill>
              </a:rPr>
              <a:t>及</a:t>
            </a:r>
            <a:r>
              <a:rPr lang="en-US" altLang="zh-CN" sz="1800" dirty="0">
                <a:solidFill>
                  <a:schemeClr val="tx1"/>
                </a:solidFill>
              </a:rPr>
              <a:t>-3-2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</a:t>
            </a:r>
            <a:r>
              <a:rPr lang="en-US" altLang="zh-CN" sz="1800" dirty="0">
                <a:solidFill>
                  <a:srgbClr val="990099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011([+3]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  </a:t>
            </a:r>
            <a:r>
              <a:rPr lang="en-US" altLang="zh-CN" sz="1800" dirty="0">
                <a:solidFill>
                  <a:srgbClr val="990099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011([+3]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  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101([-3]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  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101([-3]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</a:t>
            </a:r>
            <a:r>
              <a:rPr lang="en-US" altLang="zh-CN" sz="1800" u="sng" dirty="0">
                <a:solidFill>
                  <a:schemeClr val="tx1"/>
                </a:solidFill>
              </a:rPr>
              <a:t>+ </a:t>
            </a:r>
            <a:r>
              <a:rPr lang="en-US" altLang="zh-CN" sz="1800" u="sng" dirty="0">
                <a:solidFill>
                  <a:srgbClr val="0070C0"/>
                </a:solidFill>
              </a:rPr>
              <a:t>0</a:t>
            </a:r>
            <a:r>
              <a:rPr lang="en-US" altLang="zh-CN" sz="1800" u="sng" dirty="0">
                <a:solidFill>
                  <a:schemeClr val="tx1"/>
                </a:solidFill>
              </a:rPr>
              <a:t>010</a:t>
            </a:r>
            <a:r>
              <a:rPr lang="en-US" altLang="zh-CN" sz="1800" dirty="0">
                <a:solidFill>
                  <a:schemeClr val="tx1"/>
                </a:solidFill>
              </a:rPr>
              <a:t>([+2]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</a:t>
            </a:r>
            <a:r>
              <a:rPr lang="en-US" altLang="zh-CN" sz="1800" u="sng" dirty="0">
                <a:solidFill>
                  <a:schemeClr val="tx1"/>
                </a:solidFill>
              </a:rPr>
              <a:t>+ </a:t>
            </a:r>
            <a:r>
              <a:rPr lang="en-US" altLang="zh-CN" sz="1800" u="sng" dirty="0">
                <a:solidFill>
                  <a:srgbClr val="0070C0"/>
                </a:solidFill>
              </a:rPr>
              <a:t>1</a:t>
            </a:r>
            <a:r>
              <a:rPr lang="en-US" altLang="zh-CN" sz="1800" u="sng" dirty="0">
                <a:solidFill>
                  <a:schemeClr val="tx1"/>
                </a:solidFill>
              </a:rPr>
              <a:t>110</a:t>
            </a:r>
            <a:r>
              <a:rPr lang="en-US" altLang="zh-CN" sz="1800" dirty="0">
                <a:solidFill>
                  <a:schemeClr val="tx1"/>
                </a:solidFill>
              </a:rPr>
              <a:t>([-2]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</a:t>
            </a:r>
            <a:r>
              <a:rPr lang="en-US" altLang="zh-CN" sz="1800" u="sng" dirty="0">
                <a:solidFill>
                  <a:schemeClr val="tx1"/>
                </a:solidFill>
              </a:rPr>
              <a:t>+ </a:t>
            </a:r>
            <a:r>
              <a:rPr lang="en-US" altLang="zh-CN" sz="1800" u="sng" dirty="0">
                <a:solidFill>
                  <a:srgbClr val="0070C0"/>
                </a:solidFill>
              </a:rPr>
              <a:t>0</a:t>
            </a:r>
            <a:r>
              <a:rPr lang="en-US" altLang="zh-CN" sz="1800" u="sng" dirty="0">
                <a:solidFill>
                  <a:schemeClr val="tx1"/>
                </a:solidFill>
              </a:rPr>
              <a:t>010</a:t>
            </a:r>
            <a:r>
              <a:rPr lang="en-US" altLang="zh-CN" sz="1800" dirty="0">
                <a:solidFill>
                  <a:schemeClr val="tx1"/>
                </a:solidFill>
              </a:rPr>
              <a:t>([+2]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</a:t>
            </a:r>
            <a:r>
              <a:rPr lang="en-US" altLang="zh-CN" sz="1800" u="sng" dirty="0">
                <a:solidFill>
                  <a:schemeClr val="tx1"/>
                </a:solidFill>
              </a:rPr>
              <a:t>+ </a:t>
            </a:r>
            <a:r>
              <a:rPr lang="en-US" altLang="zh-CN" sz="1800" u="sng" dirty="0">
                <a:solidFill>
                  <a:srgbClr val="0070C0"/>
                </a:solidFill>
              </a:rPr>
              <a:t>1</a:t>
            </a:r>
            <a:r>
              <a:rPr lang="en-US" altLang="zh-CN" sz="1800" u="sng" dirty="0">
                <a:solidFill>
                  <a:schemeClr val="tx1"/>
                </a:solidFill>
              </a:rPr>
              <a:t>110</a:t>
            </a:r>
            <a:r>
              <a:rPr lang="en-US" altLang="zh-CN" sz="1800" dirty="0">
                <a:solidFill>
                  <a:schemeClr val="tx1"/>
                </a:solidFill>
              </a:rPr>
              <a:t>([-2]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</a:t>
            </a:r>
            <a:r>
              <a:rPr lang="en-US" altLang="zh-CN" sz="1800" u="sng" dirty="0">
                <a:solidFill>
                  <a:schemeClr val="accent2"/>
                </a:solidFill>
              </a:rPr>
              <a:t>0</a:t>
            </a:r>
            <a:r>
              <a:rPr lang="en-US" altLang="zh-CN" sz="1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1800" dirty="0">
                <a:solidFill>
                  <a:srgbClr val="FF3399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101([</a:t>
            </a:r>
            <a:r>
              <a:rPr lang="en-US" altLang="zh-CN" sz="1800" dirty="0">
                <a:solidFill>
                  <a:srgbClr val="FF3399"/>
                </a:solidFill>
              </a:rPr>
              <a:t>+</a:t>
            </a:r>
            <a:r>
              <a:rPr lang="en-US" altLang="zh-CN" sz="1800" dirty="0">
                <a:solidFill>
                  <a:schemeClr val="tx1"/>
                </a:solidFill>
              </a:rPr>
              <a:t>5]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</a:t>
            </a:r>
            <a:r>
              <a:rPr lang="en-US" altLang="zh-CN" sz="1800" u="sng" dirty="0">
                <a:solidFill>
                  <a:schemeClr val="accent2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rgbClr val="FF3399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001([</a:t>
            </a:r>
            <a:r>
              <a:rPr lang="en-US" altLang="zh-CN" sz="1800" dirty="0">
                <a:solidFill>
                  <a:srgbClr val="FF3399"/>
                </a:solidFill>
              </a:rPr>
              <a:t>+</a:t>
            </a:r>
            <a:r>
              <a:rPr lang="en-US" altLang="zh-CN" sz="1800" dirty="0">
                <a:solidFill>
                  <a:schemeClr val="tx1"/>
                </a:solidFill>
              </a:rPr>
              <a:t>1]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</a:t>
            </a:r>
            <a:r>
              <a:rPr lang="en-US" altLang="zh-CN" sz="1800" u="sng" dirty="0">
                <a:solidFill>
                  <a:schemeClr val="accent2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rgbClr val="FF33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111([</a:t>
            </a:r>
            <a:r>
              <a:rPr lang="en-US" altLang="zh-CN" sz="1800" dirty="0">
                <a:solidFill>
                  <a:srgbClr val="FF3399"/>
                </a:solidFill>
              </a:rPr>
              <a:t>-</a:t>
            </a:r>
            <a:r>
              <a:rPr lang="en-US" altLang="zh-CN" sz="1800" dirty="0">
                <a:solidFill>
                  <a:schemeClr val="tx1"/>
                </a:solidFill>
              </a:rPr>
              <a:t>1]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  </a:t>
            </a:r>
            <a:r>
              <a:rPr lang="en-US" altLang="zh-CN" sz="1800" u="sng" dirty="0">
                <a:solidFill>
                  <a:schemeClr val="accent2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rgbClr val="FF33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011([</a:t>
            </a:r>
            <a:r>
              <a:rPr lang="en-US" altLang="zh-CN" sz="1800" dirty="0">
                <a:solidFill>
                  <a:srgbClr val="FF3399"/>
                </a:solidFill>
              </a:rPr>
              <a:t>-</a:t>
            </a:r>
            <a:r>
              <a:rPr lang="en-US" altLang="zh-CN" sz="1800" dirty="0">
                <a:solidFill>
                  <a:schemeClr val="tx1"/>
                </a:solidFill>
              </a:rPr>
              <a:t>5]</a:t>
            </a:r>
            <a:r>
              <a:rPr lang="zh-CN" altLang="en-US" sz="18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500"/>
              </a:spcBef>
            </a:pPr>
            <a:r>
              <a:rPr lang="en-US" altLang="zh-CN" sz="2000" dirty="0">
                <a:solidFill>
                  <a:srgbClr val="990099"/>
                </a:solidFill>
              </a:rPr>
              <a:t>      </a:t>
            </a:r>
            <a:r>
              <a:rPr lang="zh-CN" altLang="en-US" sz="2000" dirty="0">
                <a:solidFill>
                  <a:srgbClr val="990099"/>
                </a:solidFill>
              </a:rPr>
              <a:t>结论：</a:t>
            </a:r>
            <a:r>
              <a:rPr lang="zh-CN" altLang="en-US" sz="2000" dirty="0">
                <a:solidFill>
                  <a:schemeClr val="tx1"/>
                </a:solidFill>
              </a:rPr>
              <a:t>实际结果＝理论结果！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79712" y="1909281"/>
            <a:ext cx="4405963" cy="799639"/>
            <a:chOff x="2469141" y="5517232"/>
            <a:chExt cx="4405963" cy="799639"/>
          </a:xfrm>
        </p:grpSpPr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2469141" y="5524871"/>
              <a:ext cx="1872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110110 [-10]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u="sng" dirty="0">
                  <a:solidFill>
                    <a:schemeClr val="tx1"/>
                  </a:solidFill>
                </a:rPr>
                <a:t>+ 001101 </a:t>
              </a:r>
              <a:r>
                <a:rPr lang="en-US" altLang="zh-CN" sz="1800" dirty="0">
                  <a:solidFill>
                    <a:schemeClr val="tx1"/>
                  </a:solidFill>
                </a:rPr>
                <a:t>[+13]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>
                  <a:solidFill>
                    <a:srgbClr val="990099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00011 [+03]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5003104" y="5517232"/>
              <a:ext cx="1872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110110 [-10]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u="sng" dirty="0">
                  <a:solidFill>
                    <a:schemeClr val="tx1"/>
                  </a:solidFill>
                </a:rPr>
                <a:t>+ 110011 </a:t>
              </a:r>
              <a:r>
                <a:rPr lang="en-US" altLang="zh-CN" sz="1800" dirty="0">
                  <a:solidFill>
                    <a:schemeClr val="tx1"/>
                  </a:solidFill>
                </a:rPr>
                <a:t>[+13]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>
                  <a:solidFill>
                    <a:srgbClr val="990099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01001 [-23]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43"/>
    </mc:Choice>
    <mc:Fallback xmlns="">
      <p:transition spd="slow" advTm="18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1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1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96" grpId="0"/>
      <p:bldP spid="26129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5868000" y="836712"/>
            <a:ext cx="1079792" cy="799287"/>
            <a:chOff x="5222256" y="1244377"/>
            <a:chExt cx="1079792" cy="799287"/>
          </a:xfrm>
        </p:grpSpPr>
        <p:sp>
          <p:nvSpPr>
            <p:cNvPr id="81" name="Text Box 101"/>
            <p:cNvSpPr txBox="1">
              <a:spLocks noChangeArrowheads="1"/>
            </p:cNvSpPr>
            <p:nvPr/>
          </p:nvSpPr>
          <p:spPr bwMode="auto">
            <a:xfrm>
              <a:off x="5222256" y="1251664"/>
              <a:ext cx="683988" cy="79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76" name="Text Box 101"/>
            <p:cNvSpPr txBox="1">
              <a:spLocks noChangeArrowheads="1"/>
            </p:cNvSpPr>
            <p:nvPr/>
          </p:nvSpPr>
          <p:spPr bwMode="auto">
            <a:xfrm>
              <a:off x="6122048" y="1244377"/>
              <a:ext cx="180000" cy="792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CC99FF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64" name="Text Box 83"/>
          <p:cNvSpPr txBox="1">
            <a:spLocks noChangeArrowheads="1"/>
          </p:cNvSpPr>
          <p:nvPr/>
        </p:nvSpPr>
        <p:spPr bwMode="auto">
          <a:xfrm>
            <a:off x="179389" y="332656"/>
            <a:ext cx="7993011" cy="3188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逻辑实现</a:t>
            </a:r>
          </a:p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运算分析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rgbClr val="990099"/>
                </a:solidFill>
              </a:rPr>
              <a:t>加法：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 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endParaRPr lang="zh-CN" altLang="en-US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accent2"/>
                </a:solidFill>
              </a:rPr>
              <a:t>              </a:t>
            </a:r>
            <a:r>
              <a:rPr lang="zh-CN" altLang="en-US" sz="2200" dirty="0">
                <a:solidFill>
                  <a:srgbClr val="990099"/>
                </a:solidFill>
              </a:rPr>
              <a:t>减法：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[-B]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</a:p>
          <a:p>
            <a:pPr>
              <a:spcBef>
                <a:spcPts val="9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实现思路：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加减法器组成：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6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712C-6DBF-42B8-A01B-110DB13793C0}" type="slidenum">
              <a:rPr lang="en-US" altLang="zh-CN"/>
              <a:t>42</a:t>
            </a:fld>
            <a:endParaRPr lang="en-US" altLang="zh-CN"/>
          </a:p>
        </p:txBody>
      </p:sp>
      <p:sp>
        <p:nvSpPr>
          <p:cNvPr id="262235" name="Text Box 91"/>
          <p:cNvSpPr txBox="1">
            <a:spLocks noChangeArrowheads="1"/>
          </p:cNvSpPr>
          <p:nvPr/>
        </p:nvSpPr>
        <p:spPr bwMode="auto">
          <a:xfrm>
            <a:off x="2411761" y="2996952"/>
            <a:ext cx="6552728" cy="9587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u="sng" dirty="0">
                <a:solidFill>
                  <a:schemeClr val="tx1"/>
                </a:solidFill>
              </a:rPr>
              <a:t>加减</a:t>
            </a:r>
            <a:r>
              <a:rPr lang="zh-CN" altLang="en-US" sz="2200" dirty="0">
                <a:solidFill>
                  <a:schemeClr val="tx1"/>
                </a:solidFill>
              </a:rPr>
              <a:t>逻辑＋</a:t>
            </a:r>
            <a:r>
              <a:rPr lang="zh-CN" altLang="en-US" sz="2200" u="sng" dirty="0">
                <a:solidFill>
                  <a:schemeClr val="tx1"/>
                </a:solidFill>
              </a:rPr>
              <a:t>溢出判断</a:t>
            </a:r>
            <a:r>
              <a:rPr lang="zh-CN" altLang="en-US" sz="2200" dirty="0">
                <a:solidFill>
                  <a:schemeClr val="tx1"/>
                </a:solidFill>
              </a:rPr>
              <a:t>逻辑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产生标志</a:t>
            </a:r>
            <a:r>
              <a:rPr lang="en-US" altLang="zh-CN" sz="1800" dirty="0">
                <a:solidFill>
                  <a:schemeClr val="tx1"/>
                </a:solidFill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及</a:t>
            </a:r>
            <a:r>
              <a:rPr lang="en-US" altLang="zh-CN" sz="1800" dirty="0">
                <a:solidFill>
                  <a:schemeClr val="tx1"/>
                </a:solidFill>
              </a:rPr>
              <a:t>CF)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             </a:t>
            </a:r>
            <a:r>
              <a:rPr lang="zh-CN" altLang="en-US" sz="1600" dirty="0">
                <a:solidFill>
                  <a:schemeClr val="tx1"/>
                </a:solidFill>
              </a:rPr>
              <a:t>有符号运算→</a:t>
            </a:r>
            <a:r>
              <a:rPr lang="zh-CN" altLang="en-US" sz="1600" b="0" dirty="0">
                <a:solidFill>
                  <a:schemeClr val="tx1"/>
                </a:solidFill>
              </a:rPr>
              <a:t>┘</a:t>
            </a: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b="0" dirty="0">
                <a:solidFill>
                  <a:schemeClr val="tx1"/>
                </a:solidFill>
              </a:rPr>
              <a:t>└</a:t>
            </a:r>
            <a:r>
              <a:rPr lang="en-US" altLang="zh-CN" sz="1600" dirty="0">
                <a:solidFill>
                  <a:schemeClr val="tx1"/>
                </a:solidFill>
              </a:rPr>
              <a:t>←</a:t>
            </a:r>
            <a:r>
              <a:rPr lang="zh-CN" altLang="en-US" sz="1600" dirty="0">
                <a:solidFill>
                  <a:schemeClr val="tx1"/>
                </a:solidFill>
              </a:rPr>
              <a:t>无符号运算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                       (</a:t>
            </a:r>
            <a:r>
              <a:rPr lang="zh-CN" altLang="en-US" sz="1600" dirty="0">
                <a:solidFill>
                  <a:schemeClr val="tx1"/>
                </a:solidFill>
              </a:rPr>
              <a:t>错误时＝</a:t>
            </a:r>
            <a:r>
              <a:rPr lang="en-US" altLang="zh-CN" sz="1600" dirty="0">
                <a:solidFill>
                  <a:schemeClr val="tx1"/>
                </a:solidFill>
              </a:rPr>
              <a:t>1)</a:t>
            </a:r>
          </a:p>
        </p:txBody>
      </p:sp>
      <p:sp>
        <p:nvSpPr>
          <p:cNvPr id="91" name="Text Box 16"/>
          <p:cNvSpPr txBox="1">
            <a:spLocks noChangeArrowheads="1"/>
          </p:cNvSpPr>
          <p:nvPr/>
        </p:nvSpPr>
        <p:spPr bwMode="auto">
          <a:xfrm>
            <a:off x="5292080" y="4041104"/>
            <a:ext cx="3240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lstStyle/>
          <a:p>
            <a:pPr marL="719455" indent="-719455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</a:t>
            </a:r>
            <a:r>
              <a:rPr lang="zh-CN" altLang="en-US" sz="1800" dirty="0">
                <a:solidFill>
                  <a:srgbClr val="990099"/>
                </a:solidFill>
                <a:latin typeface="+mn-ea"/>
              </a:rPr>
              <a:t>①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有其他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实现方法吗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</a:p>
        </p:txBody>
      </p:sp>
      <p:sp>
        <p:nvSpPr>
          <p:cNvPr id="90" name="AutoShape 16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18516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4" name="AutoShape 62">
            <a:hlinkClick r:id="rId4" action="ppaction://hlinkpres?slideindex=10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5130329" y="6543774"/>
            <a:ext cx="287337" cy="251867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</a:t>
            </a:r>
          </a:p>
        </p:txBody>
      </p:sp>
      <p:sp>
        <p:nvSpPr>
          <p:cNvPr id="59" name="AutoShape 168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19409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09" name="Text Box 101"/>
          <p:cNvSpPr txBox="1">
            <a:spLocks noChangeArrowheads="1"/>
          </p:cNvSpPr>
          <p:nvPr/>
        </p:nvSpPr>
        <p:spPr bwMode="auto">
          <a:xfrm>
            <a:off x="1115832" y="5517288"/>
            <a:ext cx="1944000" cy="50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OF—</a:t>
            </a:r>
            <a:r>
              <a:rPr lang="en-US" altLang="zh-CN" sz="1600" dirty="0">
                <a:solidFill>
                  <a:schemeClr val="tx1"/>
                </a:solidFill>
              </a:rPr>
              <a:t>Overflow Flag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CF—</a:t>
            </a:r>
            <a:r>
              <a:rPr lang="en-US" altLang="zh-CN" sz="1600" dirty="0">
                <a:solidFill>
                  <a:schemeClr val="tx1"/>
                </a:solidFill>
              </a:rPr>
              <a:t>Carry Flag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5904000" y="1268760"/>
            <a:ext cx="576000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8" name="Text Box 90"/>
          <p:cNvSpPr txBox="1">
            <a:spLocks noChangeArrowheads="1"/>
          </p:cNvSpPr>
          <p:nvPr/>
        </p:nvSpPr>
        <p:spPr bwMode="auto">
          <a:xfrm>
            <a:off x="1907704" y="1700808"/>
            <a:ext cx="7092280" cy="13145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加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减</a:t>
            </a:r>
            <a:r>
              <a:rPr lang="zh-CN" altLang="en-US" sz="2200" u="sng" dirty="0">
                <a:solidFill>
                  <a:srgbClr val="FF3399"/>
                </a:solidFill>
              </a:rPr>
              <a:t>统一</a:t>
            </a:r>
            <a:r>
              <a:rPr lang="zh-CN" altLang="en-US" sz="2200" dirty="0">
                <a:solidFill>
                  <a:schemeClr val="tx1"/>
                </a:solidFill>
              </a:rPr>
              <a:t>处理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运算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</a:rPr>
              <a:t>使用加法器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、加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减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</a:rPr>
              <a:t>使</a:t>
            </a:r>
            <a:r>
              <a:rPr lang="en-US" altLang="zh-CN" sz="2200" u="sng" dirty="0">
                <a:solidFill>
                  <a:srgbClr val="0070C0"/>
                </a:solidFill>
                <a:latin typeface="+mn-ea"/>
                <a:ea typeface="+mn-ea"/>
              </a:rPr>
              <a:t>C</a:t>
            </a:r>
            <a:r>
              <a:rPr lang="en-US" altLang="zh-CN" sz="2200" u="sng" baseline="-16000" dirty="0">
                <a:solidFill>
                  <a:srgbClr val="0070C0"/>
                </a:solidFill>
                <a:latin typeface="+mn-ea"/>
                <a:ea typeface="+mn-ea"/>
              </a:rPr>
              <a:t>-1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＝</a:t>
            </a:r>
            <a:r>
              <a:rPr lang="en-US" altLang="zh-CN" sz="2200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0/1</a:t>
            </a:r>
            <a:endParaRPr lang="en-US" altLang="zh-CN" sz="1600" u="sng" dirty="0">
              <a:solidFill>
                <a:srgbClr val="0070C0"/>
              </a:solidFill>
              <a:latin typeface="+mn-ea"/>
              <a:ea typeface="+mn-ea"/>
            </a:endParaRPr>
          </a:p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即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[A±B]</a:t>
            </a:r>
            <a:r>
              <a:rPr lang="zh-CN" altLang="en-US" sz="22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…a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其中 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6000" dirty="0" err="1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i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b</a:t>
            </a:r>
            <a:r>
              <a:rPr lang="en-US" altLang="zh-CN" sz="2200" baseline="-16000" dirty="0" err="1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i</a:t>
            </a:r>
            <a:r>
              <a:rPr lang="en-US" altLang="zh-CN" sz="2200" b="0" dirty="0" err="1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2200" dirty="0" err="1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2200" baseline="-18000" dirty="0" err="1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  <a:sym typeface="Symbol" panose="05050102010706020507"/>
              </a:rPr>
              <a:t>SUB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  <a:highlight>
                  <a:srgbClr val="FFCCFF"/>
                </a:highlight>
                <a:latin typeface="+mn-ea"/>
                <a:ea typeface="+mn-ea"/>
              </a:rPr>
              <a:t>op</a:t>
            </a:r>
            <a:r>
              <a:rPr lang="en-US" altLang="zh-CN" sz="2200" baseline="-20000" dirty="0" err="1">
                <a:solidFill>
                  <a:schemeClr val="tx1"/>
                </a:solidFill>
                <a:highlight>
                  <a:srgbClr val="FFCCFF"/>
                </a:highlight>
                <a:latin typeface="+mn-ea"/>
                <a:ea typeface="+mn-ea"/>
              </a:rPr>
              <a:t>SUB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en-US" altLang="zh-CN" sz="1800" baseline="-18000" dirty="0" err="1">
                <a:solidFill>
                  <a:schemeClr val="tx1"/>
                </a:solidFill>
                <a:latin typeface="+mn-ea"/>
                <a:ea typeface="+mn-ea"/>
              </a:rPr>
              <a:t>SUB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为减法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39908A84-34E1-486C-BB1F-924197703DE9}"/>
              </a:ext>
            </a:extLst>
          </p:cNvPr>
          <p:cNvGrpSpPr/>
          <p:nvPr/>
        </p:nvGrpSpPr>
        <p:grpSpPr>
          <a:xfrm>
            <a:off x="7344000" y="764704"/>
            <a:ext cx="1620488" cy="864000"/>
            <a:chOff x="3923512" y="1260000"/>
            <a:chExt cx="1620488" cy="864000"/>
          </a:xfrm>
        </p:grpSpPr>
        <p:sp>
          <p:nvSpPr>
            <p:cNvPr id="124" name="梯形 123">
              <a:extLst>
                <a:ext uri="{FF2B5EF4-FFF2-40B4-BE49-F238E27FC236}">
                  <a16:creationId xmlns:a16="http://schemas.microsoft.com/office/drawing/2014/main" id="{EB6E526A-692D-4D96-A467-FF8E009562D0}"/>
                </a:ext>
              </a:extLst>
            </p:cNvPr>
            <p:cNvSpPr/>
            <p:nvPr/>
          </p:nvSpPr>
          <p:spPr bwMode="auto">
            <a:xfrm rot="10800000">
              <a:off x="4320000" y="1548000"/>
              <a:ext cx="864000" cy="288000"/>
            </a:xfrm>
            <a:prstGeom prst="trapezoid">
              <a:avLst>
                <a:gd name="adj" fmla="val 52480"/>
              </a:avLst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</p:spPr>
          <p:txBody>
            <a:bodyPr lIns="0" tIns="10800" rIns="0" bIns="10800"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3" name="Text Box 184">
              <a:extLst>
                <a:ext uri="{FF2B5EF4-FFF2-40B4-BE49-F238E27FC236}">
                  <a16:creationId xmlns:a16="http://schemas.microsoft.com/office/drawing/2014/main" id="{DF21CEC1-C0BA-4106-97C1-0CFC44BAE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000" y="1584000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加法器</a:t>
              </a:r>
            </a:p>
          </p:txBody>
        </p:sp>
        <p:sp>
          <p:nvSpPr>
            <p:cNvPr id="125" name="Line 436">
              <a:extLst>
                <a:ext uri="{FF2B5EF4-FFF2-40B4-BE49-F238E27FC236}">
                  <a16:creationId xmlns:a16="http://schemas.microsoft.com/office/drawing/2014/main" id="{2E286A73-590D-49D3-BF07-BDA82F4A20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0000" y="1448792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436">
              <a:extLst>
                <a:ext uri="{FF2B5EF4-FFF2-40B4-BE49-F238E27FC236}">
                  <a16:creationId xmlns:a16="http://schemas.microsoft.com/office/drawing/2014/main" id="{1E32BBC6-2B3A-442D-A018-61AB523FDE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2000" y="1692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407">
              <a:extLst>
                <a:ext uri="{FF2B5EF4-FFF2-40B4-BE49-F238E27FC236}">
                  <a16:creationId xmlns:a16="http://schemas.microsoft.com/office/drawing/2014/main" id="{2E0A8DF9-9EFD-4BBB-B4F5-686441000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1260000"/>
              <a:ext cx="75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 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28" name="Text Box 407">
              <a:extLst>
                <a:ext uri="{FF2B5EF4-FFF2-40B4-BE49-F238E27FC236}">
                  <a16:creationId xmlns:a16="http://schemas.microsoft.com/office/drawing/2014/main" id="{A0CB973E-6BD6-4C4C-B9F4-662E5BF9C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1944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29" name="Text Box 407">
              <a:extLst>
                <a:ext uri="{FF2B5EF4-FFF2-40B4-BE49-F238E27FC236}">
                  <a16:creationId xmlns:a16="http://schemas.microsoft.com/office/drawing/2014/main" id="{911DE81E-E86E-4866-AEA9-7A539E6FB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000" y="1584000"/>
              <a:ext cx="288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30" name="Line 436">
              <a:extLst>
                <a:ext uri="{FF2B5EF4-FFF2-40B4-BE49-F238E27FC236}">
                  <a16:creationId xmlns:a16="http://schemas.microsoft.com/office/drawing/2014/main" id="{DC0031C0-A1B3-4E8C-B3DE-C35B5828F7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0000" y="1440000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436">
              <a:extLst>
                <a:ext uri="{FF2B5EF4-FFF2-40B4-BE49-F238E27FC236}">
                  <a16:creationId xmlns:a16="http://schemas.microsoft.com/office/drawing/2014/main" id="{5B8409BA-5281-4463-AB21-D1DB7209A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00" y="1836000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436">
              <a:extLst>
                <a:ext uri="{FF2B5EF4-FFF2-40B4-BE49-F238E27FC236}">
                  <a16:creationId xmlns:a16="http://schemas.microsoft.com/office/drawing/2014/main" id="{A8893F95-22B3-4289-A665-D3FE989775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8000" y="1692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Text Box 407">
              <a:extLst>
                <a:ext uri="{FF2B5EF4-FFF2-40B4-BE49-F238E27FC236}">
                  <a16:creationId xmlns:a16="http://schemas.microsoft.com/office/drawing/2014/main" id="{0D79C7D8-101B-4AF0-8648-E2A41D9B6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512" y="1584000"/>
              <a:ext cx="396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n-1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3A28052-DE25-4A27-ADDB-FC273232A357}"/>
              </a:ext>
            </a:extLst>
          </p:cNvPr>
          <p:cNvGrpSpPr/>
          <p:nvPr/>
        </p:nvGrpSpPr>
        <p:grpSpPr>
          <a:xfrm>
            <a:off x="7272424" y="4437112"/>
            <a:ext cx="1116000" cy="1261895"/>
            <a:chOff x="6624000" y="4462105"/>
            <a:chExt cx="1116000" cy="1261895"/>
          </a:xfrm>
        </p:grpSpPr>
        <p:sp>
          <p:nvSpPr>
            <p:cNvPr id="121" name="Text Box 101"/>
            <p:cNvSpPr txBox="1">
              <a:spLocks noChangeArrowheads="1"/>
            </p:cNvSpPr>
            <p:nvPr/>
          </p:nvSpPr>
          <p:spPr bwMode="auto">
            <a:xfrm>
              <a:off x="6624000" y="4752000"/>
              <a:ext cx="756000" cy="64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</a:pP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88" name="Line 186"/>
            <p:cNvSpPr>
              <a:spLocks noChangeShapeType="1"/>
            </p:cNvSpPr>
            <p:nvPr/>
          </p:nvSpPr>
          <p:spPr bwMode="auto">
            <a:xfrm>
              <a:off x="7020272" y="5364927"/>
              <a:ext cx="0" cy="144000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流程图: 手动操作 110"/>
            <p:cNvSpPr/>
            <p:nvPr/>
          </p:nvSpPr>
          <p:spPr bwMode="auto">
            <a:xfrm>
              <a:off x="6696000" y="5183622"/>
              <a:ext cx="576000" cy="180000"/>
            </a:xfrm>
            <a:prstGeom prst="flowChartManualOperation">
              <a:avLst/>
            </a:prstGeom>
            <a:solidFill>
              <a:srgbClr val="FFCC99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Line 199"/>
            <p:cNvSpPr>
              <a:spLocks noChangeShapeType="1"/>
            </p:cNvSpPr>
            <p:nvPr/>
          </p:nvSpPr>
          <p:spPr bwMode="auto">
            <a:xfrm>
              <a:off x="6840329" y="4679622"/>
              <a:ext cx="0" cy="504000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434"/>
            <p:cNvSpPr txBox="1">
              <a:spLocks noChangeArrowheads="1"/>
            </p:cNvSpPr>
            <p:nvPr/>
          </p:nvSpPr>
          <p:spPr bwMode="auto">
            <a:xfrm>
              <a:off x="7020000" y="4860831"/>
              <a:ext cx="216000" cy="144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14" name="椭圆 113"/>
            <p:cNvSpPr/>
            <p:nvPr/>
          </p:nvSpPr>
          <p:spPr bwMode="auto">
            <a:xfrm>
              <a:off x="7092000" y="5003622"/>
              <a:ext cx="72000" cy="72000"/>
            </a:xfrm>
            <a:prstGeom prst="ellipse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Line 199"/>
            <p:cNvSpPr>
              <a:spLocks noChangeShapeType="1"/>
            </p:cNvSpPr>
            <p:nvPr/>
          </p:nvSpPr>
          <p:spPr bwMode="auto">
            <a:xfrm>
              <a:off x="7128377" y="5076855"/>
              <a:ext cx="0" cy="108000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420"/>
            <p:cNvSpPr>
              <a:spLocks noChangeShapeType="1"/>
            </p:cNvSpPr>
            <p:nvPr/>
          </p:nvSpPr>
          <p:spPr bwMode="auto">
            <a:xfrm flipV="1">
              <a:off x="6840000" y="4788157"/>
              <a:ext cx="28795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430"/>
            <p:cNvSpPr>
              <a:spLocks noChangeShapeType="1"/>
            </p:cNvSpPr>
            <p:nvPr/>
          </p:nvSpPr>
          <p:spPr bwMode="auto">
            <a:xfrm flipH="1" flipV="1">
              <a:off x="7200368" y="5291622"/>
              <a:ext cx="21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18" name="Line 199"/>
            <p:cNvSpPr>
              <a:spLocks noChangeShapeType="1"/>
            </p:cNvSpPr>
            <p:nvPr/>
          </p:nvSpPr>
          <p:spPr bwMode="auto">
            <a:xfrm flipH="1">
              <a:off x="7128361" y="4788158"/>
              <a:ext cx="232" cy="72000"/>
            </a:xfrm>
            <a:prstGeom prst="line">
              <a:avLst/>
            </a:prstGeom>
            <a:noFill/>
            <a:ln w="15875" cmpd="sng">
              <a:solidFill>
                <a:schemeClr val="tx1"/>
              </a:solidFill>
              <a:prstDash val="solid"/>
              <a:round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Text Box 213">
              <a:extLst>
                <a:ext uri="{FF2B5EF4-FFF2-40B4-BE49-F238E27FC236}">
                  <a16:creationId xmlns:a16="http://schemas.microsoft.com/office/drawing/2014/main" id="{D2F770CF-D0DA-4769-84DA-A6194C430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9792" y="4462105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6" name="Text Box 213">
              <a:extLst>
                <a:ext uri="{FF2B5EF4-FFF2-40B4-BE49-F238E27FC236}">
                  <a16:creationId xmlns:a16="http://schemas.microsoft.com/office/drawing/2014/main" id="{195F8716-E538-474A-834E-9DAF4895D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9287" y="550800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  <a:r>
                <a:rPr lang="en-US" altLang="zh-CN" sz="1800" dirty="0">
                  <a:solidFill>
                    <a:schemeClr val="tx1"/>
                  </a:solidFill>
                  <a:sym typeface="Symbol" panose="05050102010706020507"/>
                </a:rPr>
                <a:t>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37" name="Text Box 198">
              <a:extLst>
                <a:ext uri="{FF2B5EF4-FFF2-40B4-BE49-F238E27FC236}">
                  <a16:creationId xmlns:a16="http://schemas.microsoft.com/office/drawing/2014/main" id="{B047C17F-E9B9-4381-9EE1-A05902335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6000" y="5148000"/>
              <a:ext cx="32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FF3399"/>
                  </a:solidFill>
                </a:rPr>
                <a:t>op</a:t>
              </a:r>
              <a:endParaRPr lang="en-US" altLang="zh-CN" sz="1800" baseline="-18000" dirty="0">
                <a:solidFill>
                  <a:srgbClr val="FF3399"/>
                </a:solidFill>
              </a:endParaRPr>
            </a:p>
          </p:txBody>
        </p:sp>
      </p:grpSp>
      <p:sp>
        <p:nvSpPr>
          <p:cNvPr id="138" name="Text Box 16">
            <a:extLst>
              <a:ext uri="{FF2B5EF4-FFF2-40B4-BE49-F238E27FC236}">
                <a16:creationId xmlns:a16="http://schemas.microsoft.com/office/drawing/2014/main" id="{50ACE41E-13A6-48ED-8C49-A71A0EE87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5769296"/>
            <a:ext cx="3528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lstStyle/>
          <a:p>
            <a:pPr marL="719455" indent="-719455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</a:t>
            </a:r>
            <a:r>
              <a:rPr lang="zh-CN" altLang="en-US" sz="1800" dirty="0">
                <a:solidFill>
                  <a:srgbClr val="990099"/>
                </a:solidFill>
                <a:latin typeface="+mn-ea"/>
              </a:rPr>
              <a:t>②</a:t>
            </a: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</a:rPr>
              <a:t>op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表示</a:t>
            </a:r>
            <a:r>
              <a:rPr lang="en-US" altLang="zh-CN" sz="1800" dirty="0">
                <a:solidFill>
                  <a:schemeClr val="tx1"/>
                </a:solidFill>
              </a:rPr>
              <a:t>ADD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如何实现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A620939-CF95-4A41-9170-78791CDF2377}"/>
              </a:ext>
            </a:extLst>
          </p:cNvPr>
          <p:cNvGrpSpPr/>
          <p:nvPr/>
        </p:nvGrpSpPr>
        <p:grpSpPr>
          <a:xfrm>
            <a:off x="971600" y="3501008"/>
            <a:ext cx="5580000" cy="1872000"/>
            <a:chOff x="971600" y="3780000"/>
            <a:chExt cx="5580000" cy="1872000"/>
          </a:xfrm>
        </p:grpSpPr>
        <p:sp>
          <p:nvSpPr>
            <p:cNvPr id="62" name="Rectangle 183"/>
            <p:cNvSpPr>
              <a:spLocks noChangeArrowheads="1"/>
            </p:cNvSpPr>
            <p:nvPr/>
          </p:nvSpPr>
          <p:spPr bwMode="auto">
            <a:xfrm>
              <a:off x="971600" y="4068163"/>
              <a:ext cx="3564000" cy="1224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tIns="36000" anchor="ctr">
              <a:no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</a:rPr>
                <a:t> 加减法器</a:t>
              </a:r>
              <a:endParaRPr lang="en-US" altLang="zh-CN" sz="1800" dirty="0">
                <a:solidFill>
                  <a:schemeClr val="tx1"/>
                </a:solidFill>
              </a:endParaRPr>
            </a:p>
            <a:p>
              <a:endParaRPr lang="en-US" altLang="zh-CN" sz="20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3" name="Text Box 184"/>
            <p:cNvSpPr txBox="1">
              <a:spLocks noChangeArrowheads="1"/>
            </p:cNvSpPr>
            <p:nvPr/>
          </p:nvSpPr>
          <p:spPr bwMode="auto">
            <a:xfrm>
              <a:off x="2339600" y="4860250"/>
              <a:ext cx="1584000" cy="360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n</a:t>
              </a:r>
              <a:r>
                <a:rPr lang="zh-CN" altLang="en-US" sz="1800" dirty="0">
                  <a:solidFill>
                    <a:schemeClr val="tx1"/>
                  </a:solidFill>
                </a:rPr>
                <a:t>位加法器</a:t>
              </a:r>
            </a:p>
          </p:txBody>
        </p:sp>
        <p:sp>
          <p:nvSpPr>
            <p:cNvPr id="66" name="Line 186"/>
            <p:cNvSpPr>
              <a:spLocks noChangeShapeType="1"/>
            </p:cNvSpPr>
            <p:nvPr/>
          </p:nvSpPr>
          <p:spPr bwMode="auto">
            <a:xfrm>
              <a:off x="3599560" y="4572739"/>
              <a:ext cx="0" cy="287512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188"/>
            <p:cNvSpPr txBox="1">
              <a:spLocks noChangeArrowheads="1"/>
            </p:cNvSpPr>
            <p:nvPr/>
          </p:nvSpPr>
          <p:spPr bwMode="auto">
            <a:xfrm>
              <a:off x="2878312" y="4284186"/>
              <a:ext cx="1440000" cy="28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异或门</a:t>
              </a:r>
              <a:r>
                <a:rPr lang="en-US" altLang="zh-CN" sz="1800" dirty="0">
                  <a:solidFill>
                    <a:schemeClr val="tx1"/>
                  </a:solidFill>
                </a:rPr>
                <a:t>(n</a:t>
              </a:r>
              <a:r>
                <a:rPr lang="zh-CN" altLang="en-US" sz="1800" dirty="0">
                  <a:solidFill>
                    <a:schemeClr val="tx1"/>
                  </a:solidFill>
                </a:rPr>
                <a:t>个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69" name="Line 189"/>
            <p:cNvSpPr>
              <a:spLocks noChangeShapeType="1"/>
            </p:cNvSpPr>
            <p:nvPr/>
          </p:nvSpPr>
          <p:spPr bwMode="auto">
            <a:xfrm flipH="1">
              <a:off x="3131600" y="5220000"/>
              <a:ext cx="1466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91"/>
            <p:cNvSpPr>
              <a:spLocks noChangeShapeType="1"/>
            </p:cNvSpPr>
            <p:nvPr/>
          </p:nvSpPr>
          <p:spPr bwMode="auto">
            <a:xfrm flipH="1">
              <a:off x="3923600" y="5040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92"/>
            <p:cNvSpPr>
              <a:spLocks noChangeShapeType="1"/>
            </p:cNvSpPr>
            <p:nvPr/>
          </p:nvSpPr>
          <p:spPr bwMode="auto">
            <a:xfrm flipH="1">
              <a:off x="3887600" y="4140202"/>
              <a:ext cx="54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198"/>
            <p:cNvSpPr txBox="1">
              <a:spLocks noChangeArrowheads="1"/>
            </p:cNvSpPr>
            <p:nvPr/>
          </p:nvSpPr>
          <p:spPr bwMode="auto">
            <a:xfrm>
              <a:off x="3995600" y="4788000"/>
              <a:ext cx="35877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73" name="Line 199"/>
            <p:cNvSpPr>
              <a:spLocks noChangeShapeType="1"/>
            </p:cNvSpPr>
            <p:nvPr/>
          </p:nvSpPr>
          <p:spPr bwMode="auto">
            <a:xfrm>
              <a:off x="3383536" y="3996000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00"/>
            <p:cNvSpPr>
              <a:spLocks noChangeShapeType="1"/>
            </p:cNvSpPr>
            <p:nvPr/>
          </p:nvSpPr>
          <p:spPr bwMode="auto">
            <a:xfrm>
              <a:off x="2663600" y="3996000"/>
              <a:ext cx="0" cy="86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01"/>
            <p:cNvSpPr>
              <a:spLocks noChangeShapeType="1"/>
            </p:cNvSpPr>
            <p:nvPr/>
          </p:nvSpPr>
          <p:spPr bwMode="auto">
            <a:xfrm flipH="1">
              <a:off x="4535600" y="504000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208"/>
            <p:cNvSpPr>
              <a:spLocks noChangeShapeType="1"/>
            </p:cNvSpPr>
            <p:nvPr/>
          </p:nvSpPr>
          <p:spPr bwMode="auto">
            <a:xfrm flipV="1">
              <a:off x="4427600" y="4140000"/>
              <a:ext cx="0" cy="90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Box 213"/>
            <p:cNvSpPr txBox="1">
              <a:spLocks noChangeArrowheads="1"/>
            </p:cNvSpPr>
            <p:nvPr/>
          </p:nvSpPr>
          <p:spPr bwMode="auto">
            <a:xfrm>
              <a:off x="4679600" y="4860000"/>
              <a:ext cx="1872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FF3399"/>
                  </a:solidFill>
                </a:rPr>
                <a:t>op</a:t>
              </a:r>
              <a:r>
                <a:rPr lang="en-US" altLang="zh-CN" sz="1800" dirty="0">
                  <a:solidFill>
                    <a:schemeClr val="tx1"/>
                  </a:solidFill>
                </a:rPr>
                <a:t>(0-ADD,1-SUB)</a:t>
              </a:r>
            </a:p>
          </p:txBody>
        </p:sp>
        <p:sp>
          <p:nvSpPr>
            <p:cNvPr id="94" name="Line 190"/>
            <p:cNvSpPr>
              <a:spLocks noChangeShapeType="1"/>
            </p:cNvSpPr>
            <p:nvPr/>
          </p:nvSpPr>
          <p:spPr bwMode="auto">
            <a:xfrm flipH="1">
              <a:off x="1874369" y="5220000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193"/>
            <p:cNvSpPr txBox="1">
              <a:spLocks noChangeArrowheads="1"/>
            </p:cNvSpPr>
            <p:nvPr/>
          </p:nvSpPr>
          <p:spPr bwMode="auto">
            <a:xfrm>
              <a:off x="1043600" y="4644000"/>
              <a:ext cx="1008000" cy="576000"/>
            </a:xfrm>
            <a:prstGeom prst="rect">
              <a:avLst/>
            </a:prstGeom>
            <a:solidFill>
              <a:srgbClr val="FFCC99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溢出判断逻辑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6" name="Text Box 194"/>
            <p:cNvSpPr txBox="1">
              <a:spLocks noChangeArrowheads="1"/>
            </p:cNvSpPr>
            <p:nvPr/>
          </p:nvSpPr>
          <p:spPr bwMode="auto">
            <a:xfrm>
              <a:off x="1115600" y="5436000"/>
              <a:ext cx="900000" cy="21600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OF   CF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7" name="Line 196"/>
            <p:cNvSpPr>
              <a:spLocks noChangeShapeType="1"/>
            </p:cNvSpPr>
            <p:nvPr/>
          </p:nvSpPr>
          <p:spPr bwMode="auto">
            <a:xfrm flipH="1">
              <a:off x="1298305" y="5220000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213"/>
            <p:cNvSpPr txBox="1">
              <a:spLocks noChangeArrowheads="1"/>
            </p:cNvSpPr>
            <p:nvPr/>
          </p:nvSpPr>
          <p:spPr bwMode="auto">
            <a:xfrm>
              <a:off x="3311600" y="460800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  <a:r>
                <a:rPr lang="en-US" altLang="zh-CN" sz="1800" dirty="0">
                  <a:solidFill>
                    <a:schemeClr val="tx1"/>
                  </a:solidFill>
                  <a:sym typeface="Symbol" panose="05050102010706020507"/>
                </a:rPr>
                <a:t>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02" name="Line 191"/>
            <p:cNvSpPr>
              <a:spLocks noChangeShapeType="1"/>
            </p:cNvSpPr>
            <p:nvPr/>
          </p:nvSpPr>
          <p:spPr bwMode="auto">
            <a:xfrm flipH="1">
              <a:off x="2051600" y="4932000"/>
              <a:ext cx="288032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91"/>
            <p:cNvSpPr>
              <a:spLocks noChangeShapeType="1"/>
            </p:cNvSpPr>
            <p:nvPr/>
          </p:nvSpPr>
          <p:spPr bwMode="auto">
            <a:xfrm flipH="1">
              <a:off x="2051600" y="5112000"/>
              <a:ext cx="2880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213"/>
            <p:cNvSpPr txBox="1">
              <a:spLocks noChangeArrowheads="1"/>
            </p:cNvSpPr>
            <p:nvPr/>
          </p:nvSpPr>
          <p:spPr bwMode="auto">
            <a:xfrm>
              <a:off x="3023600" y="543600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05" name="Text Box 213"/>
            <p:cNvSpPr txBox="1">
              <a:spLocks noChangeArrowheads="1"/>
            </p:cNvSpPr>
            <p:nvPr/>
          </p:nvSpPr>
          <p:spPr bwMode="auto">
            <a:xfrm>
              <a:off x="2555600" y="378000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06" name="Text Box 213"/>
            <p:cNvSpPr txBox="1">
              <a:spLocks noChangeArrowheads="1"/>
            </p:cNvSpPr>
            <p:nvPr/>
          </p:nvSpPr>
          <p:spPr bwMode="auto">
            <a:xfrm>
              <a:off x="3275600" y="378000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07" name="直接连接符 106"/>
            <p:cNvCxnSpPr/>
            <p:nvPr/>
          </p:nvCxnSpPr>
          <p:spPr bwMode="auto">
            <a:xfrm>
              <a:off x="2231600" y="4068338"/>
              <a:ext cx="0" cy="122400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Line 199"/>
            <p:cNvSpPr>
              <a:spLocks noChangeShapeType="1"/>
            </p:cNvSpPr>
            <p:nvPr/>
          </p:nvSpPr>
          <p:spPr bwMode="auto">
            <a:xfrm>
              <a:off x="3887592" y="4140202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192">
              <a:extLst>
                <a:ext uri="{FF2B5EF4-FFF2-40B4-BE49-F238E27FC236}">
                  <a16:creationId xmlns:a16="http://schemas.microsoft.com/office/drawing/2014/main" id="{88500BF5-B381-44E0-8774-A0588FB421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7600" y="5040000"/>
              <a:ext cx="10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235" grpId="0" bldLvl="0" animBg="1"/>
      <p:bldP spid="91" grpId="0" bldLvl="0" animBg="1"/>
      <p:bldP spid="109" grpId="0" bldLvl="0" animBg="1"/>
      <p:bldP spid="138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2AFFB-7778-4097-A4CC-17D213E9B00D}" type="slidenum">
              <a:rPr lang="en-US" altLang="zh-CN"/>
              <a:t>43</a:t>
            </a:fld>
            <a:endParaRPr lang="en-US" altLang="zh-CN"/>
          </a:p>
        </p:txBody>
      </p:sp>
      <p:sp>
        <p:nvSpPr>
          <p:cNvPr id="274453" name="Text Box 21"/>
          <p:cNvSpPr txBox="1">
            <a:spLocks noChangeArrowheads="1"/>
          </p:cNvSpPr>
          <p:nvPr/>
        </p:nvSpPr>
        <p:spPr bwMode="auto">
          <a:xfrm>
            <a:off x="179389" y="332656"/>
            <a:ext cx="605725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溢出判断     </a:t>
            </a:r>
            <a:r>
              <a:rPr lang="en-US" altLang="zh-CN" sz="1800" dirty="0">
                <a:solidFill>
                  <a:schemeClr val="tx1"/>
                </a:solidFill>
              </a:rPr>
              <a:t>--</a:t>
            </a:r>
            <a:r>
              <a:rPr lang="zh-CN" altLang="en-US" sz="1800" dirty="0">
                <a:solidFill>
                  <a:schemeClr val="tx1"/>
                </a:solidFill>
              </a:rPr>
              <a:t>判断结果正确性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溢出特征：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274457" name="Text Box 25"/>
          <p:cNvSpPr txBox="1">
            <a:spLocks noChangeArrowheads="1"/>
          </p:cNvSpPr>
          <p:nvPr/>
        </p:nvSpPr>
        <p:spPr bwMode="auto">
          <a:xfrm>
            <a:off x="1331518" y="764704"/>
            <a:ext cx="7633094" cy="23450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①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同号＋或异号－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时，结果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与被加</a:t>
            </a:r>
            <a:r>
              <a:rPr lang="en-US" altLang="zh-CN" sz="2200" u="sng" dirty="0">
                <a:solidFill>
                  <a:srgbClr val="990099"/>
                </a:solidFill>
                <a:latin typeface="+mn-ea"/>
                <a:ea typeface="+mn-ea"/>
              </a:rPr>
              <a:t>(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减</a:t>
            </a:r>
            <a:r>
              <a:rPr lang="en-US" altLang="zh-CN" sz="2200" u="sng" dirty="0">
                <a:solidFill>
                  <a:srgbClr val="990099"/>
                </a:solidFill>
                <a:latin typeface="+mn-ea"/>
                <a:ea typeface="+mn-ea"/>
              </a:rPr>
              <a:t>)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数异号</a:t>
            </a:r>
            <a:endParaRPr lang="zh-CN" altLang="en-US" sz="2200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5+2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5-(-2)   -1+(-4)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-1-(+4) 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5+4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5-(-4)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-5+(-4)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-5-(+4)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101([+5]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111([-1]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101([+5]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011([-5]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u="sng" dirty="0">
                <a:solidFill>
                  <a:srgbClr val="FF3399"/>
                </a:solidFill>
                <a:latin typeface="+mn-ea"/>
                <a:ea typeface="+mn-ea"/>
              </a:rPr>
              <a:t>+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 0010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([+2]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</a:t>
            </a:r>
            <a:r>
              <a:rPr lang="en-US" altLang="zh-CN" sz="1800" u="sng" dirty="0">
                <a:solidFill>
                  <a:srgbClr val="FF3399"/>
                </a:solidFill>
                <a:latin typeface="+mn-ea"/>
                <a:ea typeface="+mn-ea"/>
              </a:rPr>
              <a:t>+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 1100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([-4]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</a:t>
            </a:r>
            <a:r>
              <a:rPr lang="en-US" altLang="zh-CN" sz="1800" u="sng" dirty="0">
                <a:solidFill>
                  <a:srgbClr val="FF3399"/>
                </a:solidFill>
                <a:latin typeface="+mn-ea"/>
                <a:ea typeface="+mn-ea"/>
              </a:rPr>
              <a:t>+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 0100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([+4]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</a:t>
            </a:r>
            <a:r>
              <a:rPr lang="en-US" altLang="zh-CN" sz="1800" u="sng" dirty="0">
                <a:solidFill>
                  <a:srgbClr val="FF3399"/>
                </a:solidFill>
                <a:latin typeface="+mn-ea"/>
                <a:ea typeface="+mn-ea"/>
              </a:rPr>
              <a:t>+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 1100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([-4]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1800" u="sng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u="sng" dirty="0">
                <a:solidFill>
                  <a:schemeClr val="accent2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111([+7]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</a:t>
            </a:r>
            <a:r>
              <a:rPr lang="en-US" altLang="zh-CN" sz="1800" u="sng" dirty="0">
                <a:solidFill>
                  <a:schemeClr val="accent2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011([-5]</a:t>
            </a:r>
            <a:r>
              <a:rPr lang="zh-CN" altLang="en-US" sz="1800" baseline="-16000" dirty="0">
                <a:solidFill>
                  <a:schemeClr val="tx1"/>
                </a:solidFill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</a:t>
            </a:r>
            <a:r>
              <a:rPr lang="en-US" altLang="zh-CN" sz="1800" u="sng" dirty="0">
                <a:solidFill>
                  <a:schemeClr val="accent2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001(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[-7]</a:t>
            </a:r>
            <a:r>
              <a:rPr lang="zh-CN" altLang="en-US" sz="1800" baseline="-160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</a:t>
            </a:r>
            <a:r>
              <a:rPr lang="en-US" altLang="zh-CN" sz="1800" u="sng" dirty="0">
                <a:solidFill>
                  <a:schemeClr val="accent2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111(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[+7]</a:t>
            </a:r>
            <a:r>
              <a:rPr lang="zh-CN" altLang="en-US" sz="1800" baseline="-160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  <a:ea typeface="+mn-ea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spcBef>
                <a:spcPts val="1500"/>
              </a:spcBef>
            </a:pP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</a:rPr>
              <a:t>    ②</a:t>
            </a:r>
            <a:r>
              <a:rPr lang="zh-CN" altLang="en-US" sz="2200" u="sng" dirty="0">
                <a:solidFill>
                  <a:schemeClr val="tx1"/>
                </a:solidFill>
                <a:cs typeface="宋体" panose="02010600030101010101" pitchFamily="2" charset="-122"/>
              </a:rPr>
              <a:t>最高位进位、次高位</a:t>
            </a:r>
            <a:r>
              <a:rPr lang="zh-CN" altLang="en-US" sz="2200" u="sng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进位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</a:rPr>
              <a:t>中，</a:t>
            </a:r>
            <a:r>
              <a:rPr lang="zh-CN" altLang="en-US" sz="2200" u="sng" dirty="0">
                <a:solidFill>
                  <a:srgbClr val="990099"/>
                </a:solidFill>
                <a:cs typeface="宋体" panose="02010600030101010101" pitchFamily="2" charset="-122"/>
              </a:rPr>
              <a:t>只有</a:t>
            </a:r>
            <a:r>
              <a:rPr lang="en-US" altLang="zh-CN" sz="2200" u="sng" dirty="0">
                <a:solidFill>
                  <a:srgbClr val="990099"/>
                </a:solidFill>
                <a:cs typeface="宋体" panose="02010600030101010101" pitchFamily="2" charset="-122"/>
              </a:rPr>
              <a:t>1</a:t>
            </a:r>
            <a:r>
              <a:rPr lang="zh-CN" altLang="en-US" sz="2200" u="sng" dirty="0">
                <a:solidFill>
                  <a:srgbClr val="990099"/>
                </a:solidFill>
                <a:cs typeface="宋体" panose="02010600030101010101" pitchFamily="2" charset="-122"/>
              </a:rPr>
              <a:t>个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</a:rPr>
              <a:t>有进位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200" dirty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274460" name="Text Box 28"/>
          <p:cNvSpPr txBox="1">
            <a:spLocks noChangeArrowheads="1"/>
          </p:cNvSpPr>
          <p:nvPr/>
        </p:nvSpPr>
        <p:spPr bwMode="auto">
          <a:xfrm>
            <a:off x="179071" y="3140968"/>
            <a:ext cx="8857426" cy="13294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*基于</a:t>
            </a:r>
            <a:r>
              <a:rPr lang="zh-CN" altLang="en-US" sz="2200" u="sng" dirty="0">
                <a:solidFill>
                  <a:srgbClr val="C00000"/>
                </a:solidFill>
              </a:rPr>
              <a:t>加减法器</a:t>
            </a:r>
            <a:r>
              <a:rPr lang="zh-CN" altLang="en-US" sz="2200" dirty="0">
                <a:solidFill>
                  <a:srgbClr val="C00000"/>
                </a:solidFill>
              </a:rPr>
              <a:t>的溢出判断：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利用特征①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…b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0/1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加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减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则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OF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＝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2" name="Text Box 26"/>
          <p:cNvSpPr txBox="1">
            <a:spLocks noChangeArrowheads="1"/>
          </p:cNvSpPr>
          <p:nvPr/>
        </p:nvSpPr>
        <p:spPr bwMode="auto">
          <a:xfrm>
            <a:off x="179512" y="5589240"/>
            <a:ext cx="669648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accent2"/>
                </a:solidFill>
              </a:rPr>
              <a:t>   </a:t>
            </a:r>
            <a:r>
              <a:rPr lang="zh-CN" altLang="en-US" sz="2200" dirty="0">
                <a:solidFill>
                  <a:schemeClr val="accent2"/>
                </a:solidFill>
              </a:rPr>
              <a:t> 特点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逻辑复杂，可优化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与</a:t>
            </a:r>
            <a:r>
              <a:rPr lang="en-US" altLang="zh-CN" sz="1800" dirty="0">
                <a:solidFill>
                  <a:schemeClr val="tx1"/>
                </a:solidFill>
              </a:rPr>
              <a:t>op</a:t>
            </a:r>
            <a:r>
              <a:rPr lang="zh-CN" altLang="en-US" sz="1800" dirty="0">
                <a:solidFill>
                  <a:schemeClr val="tx1"/>
                </a:solidFill>
              </a:rPr>
              <a:t>无关</a:t>
            </a:r>
            <a:r>
              <a:rPr lang="en-US" altLang="zh-CN" sz="1800" dirty="0">
                <a:solidFill>
                  <a:schemeClr val="tx1"/>
                </a:solidFill>
              </a:rPr>
              <a:t>[</a:t>
            </a:r>
            <a:r>
              <a:rPr lang="zh-CN" altLang="en-US" sz="1800" dirty="0">
                <a:solidFill>
                  <a:schemeClr val="tx1"/>
                </a:solidFill>
              </a:rPr>
              <a:t>基于加法器</a:t>
            </a:r>
            <a:r>
              <a:rPr lang="en-US" altLang="zh-CN" sz="1800" dirty="0">
                <a:solidFill>
                  <a:schemeClr val="tx1"/>
                </a:solidFill>
              </a:rPr>
              <a:t>])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5763B11-9C07-4A68-9849-B0FB7C00EC13}"/>
              </a:ext>
            </a:extLst>
          </p:cNvPr>
          <p:cNvGrpSpPr/>
          <p:nvPr/>
        </p:nvGrpSpPr>
        <p:grpSpPr>
          <a:xfrm>
            <a:off x="1620000" y="2492896"/>
            <a:ext cx="5904000" cy="144146"/>
            <a:chOff x="1620000" y="2520000"/>
            <a:chExt cx="5904000" cy="144146"/>
          </a:xfrm>
        </p:grpSpPr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2F602327-3BA9-43AF-BEB5-50A12E80424C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 bwMode="auto">
            <a:xfrm>
              <a:off x="1944000" y="2520000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DA8B111D-FD67-4FAD-8CBC-E88C832ECE15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1836180" y="252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EA80462C-DDA1-445F-B6C8-E41E1A49B30B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1836000" y="2664000"/>
              <a:ext cx="10795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00500CA5-0BAE-4A40-B811-F509649DF3E6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178218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C135EBA2-D982-4E6D-AA7F-E04CDFEB4C43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162000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71DB7050-4432-416F-A6B1-F4A63987580E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1620000" y="2664000"/>
              <a:ext cx="16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B5EA34D3-C527-4C42-A65F-AA7B789527CF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3852000" y="2520000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413BA82D-F9A1-4A46-A62F-ED51BB2CA25E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3744180" y="252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FAA37952-2F98-44AF-BD2B-9E09EB50C235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3744000" y="2664000"/>
              <a:ext cx="10795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C0AF02C9-394D-4A17-ACF1-4864CB2C9F30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369018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6A8D7A2F-10A4-4BDC-9EEC-F37B2EFB0B14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52800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620652FD-F023-470D-8DAD-8D573572A866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3528000" y="2664000"/>
              <a:ext cx="16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EA0C3DA4-68E3-4C82-B669-FE8397D6A2AC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5616000" y="2520000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2D97E4DE-5BD9-448B-8FEC-2B2309AF89A3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508180" y="252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63BF2CB2-CD67-4D80-AEE0-7767A645B2B4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5508000" y="2664000"/>
              <a:ext cx="10795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34B9ACAA-7E95-4575-81AD-5EBA17F3AF0D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545418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18F7AB9E-24C3-427A-B396-2FDED4E500B7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529200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F26326F0-03D3-40A3-8DD0-BA41077BC3F1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5292000" y="2664000"/>
              <a:ext cx="16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B86CCF1F-C218-4169-A49D-A539CC3BD675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7524000" y="2520000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ACCD014D-33C3-4B40-BF76-DA673202E3BB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7416180" y="252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18760F6D-6D31-4B41-B123-2788E1D14DBD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7416000" y="2664000"/>
              <a:ext cx="10795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bg2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01C7C65F-8301-43A1-AB60-90CEACAEDE36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736218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01BB3A56-B002-4C82-963D-D17283EEA3E5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7200000" y="2520001"/>
              <a:ext cx="0" cy="14414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2899858D-5E4D-4FB6-98A7-BFA2972E48DF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7200000" y="2664000"/>
              <a:ext cx="16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52" name="AutoShape 6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6ECE2C7-2118-4A69-AF45-93985560AD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8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F2E006B-54C9-49FE-89C3-693F9AD07E80}"/>
              </a:ext>
            </a:extLst>
          </p:cNvPr>
          <p:cNvGrpSpPr/>
          <p:nvPr/>
        </p:nvGrpSpPr>
        <p:grpSpPr>
          <a:xfrm>
            <a:off x="7164288" y="4536000"/>
            <a:ext cx="1836000" cy="1620000"/>
            <a:chOff x="7164288" y="4536000"/>
            <a:chExt cx="1836000" cy="1620000"/>
          </a:xfrm>
        </p:grpSpPr>
        <p:sp>
          <p:nvSpPr>
            <p:cNvPr id="135" name="Rectangle 183">
              <a:extLst>
                <a:ext uri="{FF2B5EF4-FFF2-40B4-BE49-F238E27FC236}">
                  <a16:creationId xmlns:a16="http://schemas.microsoft.com/office/drawing/2014/main" id="{341DE900-1B13-4308-B1F3-AA6F2B92C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288" y="4824024"/>
              <a:ext cx="1476000" cy="1008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6" name="Text Box 184">
              <a:extLst>
                <a:ext uri="{FF2B5EF4-FFF2-40B4-BE49-F238E27FC236}">
                  <a16:creationId xmlns:a16="http://schemas.microsoft.com/office/drawing/2014/main" id="{0B664A12-31E4-494F-8101-5736D4665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288" y="5472000"/>
              <a:ext cx="1044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n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位加法器</a:t>
              </a:r>
            </a:p>
          </p:txBody>
        </p:sp>
        <p:sp>
          <p:nvSpPr>
            <p:cNvPr id="137" name="Line 186">
              <a:extLst>
                <a:ext uri="{FF2B5EF4-FFF2-40B4-BE49-F238E27FC236}">
                  <a16:creationId xmlns:a16="http://schemas.microsoft.com/office/drawing/2014/main" id="{34215B8D-A70E-4381-AF13-AC1B85861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6288" y="525609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Text Box 188">
              <a:extLst>
                <a:ext uri="{FF2B5EF4-FFF2-40B4-BE49-F238E27FC236}">
                  <a16:creationId xmlns:a16="http://schemas.microsoft.com/office/drawing/2014/main" id="{A0BD192E-1560-4D2A-B232-088D9CB1A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6288" y="5040024"/>
              <a:ext cx="720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异或门</a:t>
              </a:r>
            </a:p>
          </p:txBody>
        </p:sp>
        <p:sp>
          <p:nvSpPr>
            <p:cNvPr id="139" name="Line 191">
              <a:extLst>
                <a:ext uri="{FF2B5EF4-FFF2-40B4-BE49-F238E27FC236}">
                  <a16:creationId xmlns:a16="http://schemas.microsoft.com/office/drawing/2014/main" id="{27DD336B-B1B7-489E-955C-9607C4B7F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24288" y="5544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92">
              <a:extLst>
                <a:ext uri="{FF2B5EF4-FFF2-40B4-BE49-F238E27FC236}">
                  <a16:creationId xmlns:a16="http://schemas.microsoft.com/office/drawing/2014/main" id="{09BBBB35-624E-4DAF-A180-FF85FCCE1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0288" y="4896032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99">
              <a:extLst>
                <a:ext uri="{FF2B5EF4-FFF2-40B4-BE49-F238E27FC236}">
                  <a16:creationId xmlns:a16="http://schemas.microsoft.com/office/drawing/2014/main" id="{70148FC6-B24B-4671-9818-BC1D60AF4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288" y="4752000"/>
              <a:ext cx="0" cy="72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208">
              <a:extLst>
                <a:ext uri="{FF2B5EF4-FFF2-40B4-BE49-F238E27FC236}">
                  <a16:creationId xmlns:a16="http://schemas.microsoft.com/office/drawing/2014/main" id="{B5FDF38E-626F-499B-996C-88CCFB26F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8288" y="4896031"/>
              <a:ext cx="0" cy="64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Text Box 213">
              <a:extLst>
                <a:ext uri="{FF2B5EF4-FFF2-40B4-BE49-F238E27FC236}">
                  <a16:creationId xmlns:a16="http://schemas.microsoft.com/office/drawing/2014/main" id="{3F8B37B8-D47C-4059-97A6-AE15BA568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6288" y="594000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44" name="Text Box 213">
              <a:extLst>
                <a:ext uri="{FF2B5EF4-FFF2-40B4-BE49-F238E27FC236}">
                  <a16:creationId xmlns:a16="http://schemas.microsoft.com/office/drawing/2014/main" id="{357DCB18-F7FE-435D-964D-13C8E2826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288" y="4536000"/>
              <a:ext cx="61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   B</a:t>
              </a:r>
            </a:p>
          </p:txBody>
        </p:sp>
        <p:sp>
          <p:nvSpPr>
            <p:cNvPr id="145" name="Line 199">
              <a:extLst>
                <a:ext uri="{FF2B5EF4-FFF2-40B4-BE49-F238E27FC236}">
                  <a16:creationId xmlns:a16="http://schemas.microsoft.com/office/drawing/2014/main" id="{00AAF0C4-83A6-4928-9AED-4E889D132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6288" y="4896032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186">
              <a:extLst>
                <a:ext uri="{FF2B5EF4-FFF2-40B4-BE49-F238E27FC236}">
                  <a16:creationId xmlns:a16="http://schemas.microsoft.com/office/drawing/2014/main" id="{2A3C09D8-966C-40D2-A281-623748725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2288" y="4752000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186">
              <a:extLst>
                <a:ext uri="{FF2B5EF4-FFF2-40B4-BE49-F238E27FC236}">
                  <a16:creationId xmlns:a16="http://schemas.microsoft.com/office/drawing/2014/main" id="{BE5798D8-48EC-408C-98C2-302D8D1D4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4336" y="5760000"/>
              <a:ext cx="0" cy="18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Text Box 213">
              <a:extLst>
                <a:ext uri="{FF2B5EF4-FFF2-40B4-BE49-F238E27FC236}">
                  <a16:creationId xmlns:a16="http://schemas.microsoft.com/office/drawing/2014/main" id="{D40E3B15-FC2F-4C37-8E75-BC2A73B38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2288" y="4752016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op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49" name="Line 191">
              <a:extLst>
                <a:ext uri="{FF2B5EF4-FFF2-40B4-BE49-F238E27FC236}">
                  <a16:creationId xmlns:a16="http://schemas.microsoft.com/office/drawing/2014/main" id="{C8CC8830-B1C7-4879-BAA8-E96143A8A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36288" y="5616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Text Box 407">
              <a:extLst>
                <a:ext uri="{FF2B5EF4-FFF2-40B4-BE49-F238E27FC236}">
                  <a16:creationId xmlns:a16="http://schemas.microsoft.com/office/drawing/2014/main" id="{9BD83341-07E3-4ABC-8D8F-C899A1C6B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525600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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FAE3A9E-A024-4193-B792-F0F7510DB37E}"/>
              </a:ext>
            </a:extLst>
          </p:cNvPr>
          <p:cNvGrpSpPr/>
          <p:nvPr/>
        </p:nvGrpSpPr>
        <p:grpSpPr>
          <a:xfrm>
            <a:off x="1331640" y="4005064"/>
            <a:ext cx="6948696" cy="1548000"/>
            <a:chOff x="1331640" y="4005064"/>
            <a:chExt cx="6948696" cy="1548000"/>
          </a:xfrm>
        </p:grpSpPr>
        <p:cxnSp>
          <p:nvCxnSpPr>
            <p:cNvPr id="7" name="直接箭头连接符 6"/>
            <p:cNvCxnSpPr>
              <a:cxnSpLocks/>
            </p:cNvCxnSpPr>
            <p:nvPr/>
          </p:nvCxnSpPr>
          <p:spPr bwMode="auto">
            <a:xfrm flipV="1">
              <a:off x="1655999" y="4392000"/>
              <a:ext cx="108000" cy="468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sp>
          <p:nvSpPr>
            <p:cNvPr id="274459" name="Text Box 27"/>
            <p:cNvSpPr txBox="1">
              <a:spLocks noChangeArrowheads="1"/>
            </p:cNvSpPr>
            <p:nvPr/>
          </p:nvSpPr>
          <p:spPr bwMode="auto">
            <a:xfrm>
              <a:off x="1331640" y="4005064"/>
              <a:ext cx="6948696" cy="15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</a:rPr>
                <a:t>  op(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+a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)+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</a:rPr>
                <a:t>op(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+a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</a:p>
            <a:p>
              <a:pPr>
                <a:lnSpc>
                  <a:spcPct val="105000"/>
                </a:lnSpc>
              </a:pPr>
              <a:r>
                <a:rPr lang="zh-CN" altLang="en-US" sz="22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(a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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op⊙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</a:p>
            <a:p>
              <a:r>
                <a:rPr lang="en-US" altLang="zh-CN" sz="1600" spc="-40" dirty="0">
                  <a:solidFill>
                    <a:srgbClr val="0070C0"/>
                  </a:solidFill>
                  <a:latin typeface="+mn-ea"/>
                  <a:ea typeface="+mn-ea"/>
                </a:rPr>
                <a:t> </a:t>
              </a:r>
              <a:r>
                <a:rPr lang="zh-CN" altLang="en-US" sz="1600" spc="-40" dirty="0">
                  <a:solidFill>
                    <a:srgbClr val="0070C0"/>
                  </a:solidFill>
                  <a:latin typeface="+mn-ea"/>
                  <a:ea typeface="+mn-ea"/>
                </a:rPr>
                <a:t>加</a:t>
              </a:r>
              <a:r>
                <a:rPr lang="en-US" altLang="zh-CN" sz="1600" spc="-40" dirty="0">
                  <a:solidFill>
                    <a:srgbClr val="0070C0"/>
                  </a:solidFill>
                  <a:latin typeface="+mn-ea"/>
                  <a:ea typeface="+mn-ea"/>
                </a:rPr>
                <a:t>                 </a:t>
              </a:r>
              <a:r>
                <a:rPr lang="en-US" altLang="zh-CN" sz="1600" b="0" spc="-40" dirty="0">
                  <a:solidFill>
                    <a:srgbClr val="0070C0"/>
                  </a:solidFill>
                  <a:latin typeface="+mn-ea"/>
                  <a:ea typeface="+mn-ea"/>
                </a:rPr>
                <a:t>└</a:t>
              </a:r>
              <a:r>
                <a:rPr lang="en-US" altLang="zh-CN" sz="1600" spc="-40" dirty="0">
                  <a:solidFill>
                    <a:srgbClr val="0070C0"/>
                  </a:solidFill>
                  <a:latin typeface="+mn-ea"/>
                  <a:ea typeface="+mn-ea"/>
                </a:rPr>
                <a:t>←</a:t>
              </a:r>
              <a:r>
                <a:rPr lang="zh-CN" altLang="en-US" sz="1600" spc="-40" dirty="0">
                  <a:solidFill>
                    <a:srgbClr val="0070C0"/>
                  </a:solidFill>
                  <a:latin typeface="+mn-ea"/>
                  <a:ea typeface="+mn-ea"/>
                </a:rPr>
                <a:t>减转换为加     减</a:t>
              </a:r>
              <a:endParaRPr lang="en-US" altLang="zh-CN" sz="1600" spc="-40" dirty="0">
                <a:solidFill>
                  <a:srgbClr val="0070C0"/>
                </a:solidFill>
                <a:latin typeface="+mn-ea"/>
                <a:ea typeface="+mn-ea"/>
              </a:endParaRPr>
            </a:p>
            <a:p>
              <a:r>
                <a:rPr lang="zh-CN" altLang="en-US" sz="22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(a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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r>
                <a:rPr lang="en-US" altLang="zh-CN" sz="2200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op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4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4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</a:p>
          </p:txBody>
        </p:sp>
        <p:cxnSp>
          <p:nvCxnSpPr>
            <p:cNvPr id="4" name="直接连接符 3"/>
            <p:cNvCxnSpPr/>
            <p:nvPr/>
          </p:nvCxnSpPr>
          <p:spPr bwMode="auto">
            <a:xfrm>
              <a:off x="2141984" y="4183088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 bwMode="auto">
            <a:xfrm>
              <a:off x="2545184" y="4127014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/>
          </p:nvCxnSpPr>
          <p:spPr bwMode="auto">
            <a:xfrm>
              <a:off x="4319984" y="4127014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/>
          </p:nvCxnSpPr>
          <p:spPr bwMode="auto">
            <a:xfrm>
              <a:off x="1717184" y="4183782"/>
              <a:ext cx="270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 bwMode="auto">
            <a:xfrm>
              <a:off x="5417984" y="4183782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 bwMode="auto">
            <a:xfrm>
              <a:off x="7613984" y="4127014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/>
          </p:nvCxnSpPr>
          <p:spPr bwMode="auto">
            <a:xfrm>
              <a:off x="7174784" y="4127014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2FD4606A-41F9-40D7-8430-BAFEE8498F50}"/>
                </a:ext>
              </a:extLst>
            </p:cNvPr>
            <p:cNvCxnSpPr/>
            <p:nvPr/>
          </p:nvCxnSpPr>
          <p:spPr bwMode="auto">
            <a:xfrm>
              <a:off x="3168000" y="4824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0C166A9F-8F6E-496B-AFF1-AACE00796970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202065" y="4428000"/>
              <a:ext cx="170935" cy="432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D761B3C-884F-4E54-8C7C-DC1C08889338}"/>
                </a:ext>
              </a:extLst>
            </p:cNvPr>
            <p:cNvCxnSpPr/>
            <p:nvPr/>
          </p:nvCxnSpPr>
          <p:spPr bwMode="auto">
            <a:xfrm>
              <a:off x="3168000" y="5544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4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4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4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4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4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60" grpId="0" bldLvl="0"/>
      <p:bldP spid="32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003997" y="1244808"/>
            <a:ext cx="3672003" cy="720000"/>
            <a:chOff x="-1585105" y="1735240"/>
            <a:chExt cx="3506969" cy="720000"/>
          </a:xfrm>
        </p:grpSpPr>
        <p:sp>
          <p:nvSpPr>
            <p:cNvPr id="31" name="Rectangle 183"/>
            <p:cNvSpPr>
              <a:spLocks noChangeArrowheads="1"/>
            </p:cNvSpPr>
            <p:nvPr/>
          </p:nvSpPr>
          <p:spPr bwMode="auto">
            <a:xfrm>
              <a:off x="-1585105" y="1735240"/>
              <a:ext cx="1134607" cy="72000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183"/>
            <p:cNvSpPr>
              <a:spLocks noChangeArrowheads="1"/>
            </p:cNvSpPr>
            <p:nvPr/>
          </p:nvSpPr>
          <p:spPr bwMode="auto">
            <a:xfrm>
              <a:off x="-244203" y="1735240"/>
              <a:ext cx="2166067" cy="72000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70" name="Text Box 27">
            <a:extLst>
              <a:ext uri="{FF2B5EF4-FFF2-40B4-BE49-F238E27FC236}">
                <a16:creationId xmlns:a16="http://schemas.microsoft.com/office/drawing/2014/main" id="{CC8A9725-C8E6-4850-BDD1-FE91EB23B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024744"/>
            <a:ext cx="8784976" cy="21244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0" dirty="0">
                <a:solidFill>
                  <a:schemeClr val="accent2"/>
                </a:solidFill>
              </a:rPr>
              <a:t>   </a:t>
            </a: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zh-CN" altLang="en-US" sz="2200" dirty="0">
                <a:solidFill>
                  <a:schemeClr val="accent2"/>
                </a:solidFill>
              </a:rPr>
              <a:t>判断方法①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用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u="sng" dirty="0">
                <a:solidFill>
                  <a:schemeClr val="tx1"/>
                </a:solidFill>
              </a:rPr>
              <a:t>位符号位</a:t>
            </a:r>
            <a:r>
              <a:rPr lang="zh-CN" altLang="en-US" sz="2200" dirty="0">
                <a:solidFill>
                  <a:schemeClr val="tx1"/>
                </a:solidFill>
              </a:rPr>
              <a:t>判断，</a:t>
            </a:r>
            <a:r>
              <a:rPr lang="en-US" altLang="zh-CN" sz="2200" dirty="0">
                <a:solidFill>
                  <a:schemeClr val="tx1"/>
                </a:solidFill>
              </a:rPr>
              <a:t>OF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1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判断方法②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用</a:t>
            </a:r>
            <a:r>
              <a:rPr lang="zh-CN" altLang="en-US" sz="2200" u="sng" dirty="0">
                <a:solidFill>
                  <a:schemeClr val="tx1"/>
                </a:solidFill>
              </a:rPr>
              <a:t>进位位</a:t>
            </a:r>
            <a:r>
              <a:rPr lang="zh-CN" altLang="en-US" sz="2200" dirty="0">
                <a:solidFill>
                  <a:schemeClr val="tx1"/>
                </a:solidFill>
              </a:rPr>
              <a:t>判断，</a:t>
            </a:r>
            <a:r>
              <a:rPr lang="en-US" altLang="zh-CN" sz="2200" dirty="0">
                <a:solidFill>
                  <a:schemeClr val="tx1"/>
                </a:solidFill>
              </a:rPr>
              <a:t>OF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判断方法③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用</a:t>
            </a:r>
            <a:r>
              <a:rPr lang="en-US" altLang="zh-CN" sz="2200" u="sng" dirty="0">
                <a:solidFill>
                  <a:schemeClr val="tx1"/>
                </a:solidFill>
              </a:rPr>
              <a:t>2</a:t>
            </a:r>
            <a:r>
              <a:rPr lang="zh-CN" altLang="en-US" sz="2200" u="sng" dirty="0">
                <a:solidFill>
                  <a:schemeClr val="tx1"/>
                </a:solidFill>
              </a:rPr>
              <a:t>位符号位</a:t>
            </a:r>
            <a:r>
              <a:rPr lang="zh-CN" altLang="en-US" sz="2200" dirty="0">
                <a:solidFill>
                  <a:schemeClr val="tx1"/>
                </a:solidFill>
              </a:rPr>
              <a:t>判断，</a:t>
            </a:r>
            <a:r>
              <a:rPr lang="en-US" altLang="zh-CN" sz="2200" dirty="0">
                <a:solidFill>
                  <a:schemeClr val="tx1"/>
                </a:solidFill>
              </a:rPr>
              <a:t>OF</a:t>
            </a:r>
            <a:r>
              <a:rPr lang="zh-CN" altLang="en-US" sz="2200" dirty="0">
                <a:solidFill>
                  <a:schemeClr val="tx1"/>
                </a:solidFill>
              </a:rPr>
              <a:t>＝     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方法①的变种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      变形补码：</a:t>
            </a:r>
            <a:endParaRPr lang="en-US" altLang="zh-CN" sz="2200" dirty="0">
              <a:solidFill>
                <a:srgbClr val="990099"/>
              </a:solidFill>
            </a:endParaRPr>
          </a:p>
        </p:txBody>
      </p:sp>
      <p:sp>
        <p:nvSpPr>
          <p:cNvPr id="49" name="Text Box 28"/>
          <p:cNvSpPr txBox="1">
            <a:spLocks noChangeArrowheads="1"/>
          </p:cNvSpPr>
          <p:nvPr/>
        </p:nvSpPr>
        <p:spPr bwMode="auto">
          <a:xfrm>
            <a:off x="179387" y="332656"/>
            <a:ext cx="7488953" cy="13806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*基于</a:t>
            </a:r>
            <a:r>
              <a:rPr lang="zh-CN" altLang="en-US" sz="2200" u="sng" dirty="0">
                <a:solidFill>
                  <a:srgbClr val="C00000"/>
                </a:solidFill>
              </a:rPr>
              <a:t>内部加法器</a:t>
            </a:r>
            <a:r>
              <a:rPr lang="zh-CN" altLang="en-US" sz="2200" dirty="0">
                <a:solidFill>
                  <a:srgbClr val="C00000"/>
                </a:solidFill>
              </a:rPr>
              <a:t>的溢出判断：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利用特征①或②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溢出特征回顾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44</a:t>
            </a:fld>
            <a:endParaRPr lang="en-US" altLang="zh-CN"/>
          </a:p>
        </p:txBody>
      </p:sp>
      <p:sp>
        <p:nvSpPr>
          <p:cNvPr id="24" name="AutoShape 4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19409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Text Box 27"/>
          <p:cNvSpPr txBox="1">
            <a:spLocks noChangeArrowheads="1"/>
          </p:cNvSpPr>
          <p:nvPr/>
        </p:nvSpPr>
        <p:spPr bwMode="auto">
          <a:xfrm>
            <a:off x="2771799" y="1134760"/>
            <a:ext cx="6048672" cy="854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时，①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，②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spc="-5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0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、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spc="-5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1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时，①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，②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spc="-5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、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spc="-5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zh-CN" altLang="en-US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0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7" name="Text Box 18"/>
          <p:cNvSpPr txBox="1">
            <a:spLocks noChangeArrowheads="1"/>
          </p:cNvSpPr>
          <p:nvPr/>
        </p:nvSpPr>
        <p:spPr bwMode="auto">
          <a:xfrm>
            <a:off x="179388" y="4149080"/>
            <a:ext cx="8857108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4—</a:t>
            </a:r>
            <a:r>
              <a:rPr lang="zh-CN" altLang="en-US" sz="2000" spc="-100" dirty="0">
                <a:solidFill>
                  <a:schemeClr val="tx1"/>
                </a:solidFill>
              </a:rPr>
              <a:t>设</a:t>
            </a:r>
            <a:r>
              <a:rPr lang="en-US" altLang="zh-CN" sz="2000" spc="-100" dirty="0">
                <a:solidFill>
                  <a:schemeClr val="tx1"/>
                </a:solidFill>
              </a:rPr>
              <a:t>[A]</a:t>
            </a:r>
            <a:r>
              <a:rPr lang="zh-CN" altLang="en-US" sz="2000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1010</a:t>
            </a:r>
            <a:r>
              <a:rPr lang="zh-CN" altLang="en-US" sz="2000" spc="-100" dirty="0">
                <a:solidFill>
                  <a:schemeClr val="tx1"/>
                </a:solidFill>
              </a:rPr>
              <a:t>，</a:t>
            </a:r>
            <a:r>
              <a:rPr lang="en-US" altLang="zh-CN" sz="2000" spc="-100" dirty="0">
                <a:solidFill>
                  <a:schemeClr val="tx1"/>
                </a:solidFill>
              </a:rPr>
              <a:t>[B]</a:t>
            </a:r>
            <a:r>
              <a:rPr lang="zh-CN" altLang="en-US" sz="2000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0011</a:t>
            </a:r>
            <a:r>
              <a:rPr lang="zh-CN" altLang="en-US" sz="2000" spc="-100" dirty="0">
                <a:solidFill>
                  <a:schemeClr val="tx1"/>
                </a:solidFill>
              </a:rPr>
              <a:t>，</a:t>
            </a:r>
            <a:r>
              <a:rPr lang="en-US" altLang="zh-CN" sz="2000" spc="-100" dirty="0">
                <a:solidFill>
                  <a:schemeClr val="tx1"/>
                </a:solidFill>
              </a:rPr>
              <a:t>[A+B]</a:t>
            </a:r>
            <a:r>
              <a:rPr lang="zh-CN" altLang="en-US" sz="2000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spc="-100" dirty="0">
                <a:solidFill>
                  <a:schemeClr val="tx1"/>
                </a:solidFill>
              </a:rPr>
              <a:t>、</a:t>
            </a:r>
            <a:r>
              <a:rPr lang="en-US" altLang="zh-CN" sz="2000" spc="-100" dirty="0">
                <a:solidFill>
                  <a:schemeClr val="tx1"/>
                </a:solidFill>
              </a:rPr>
              <a:t>[A-B]</a:t>
            </a:r>
            <a:r>
              <a:rPr lang="zh-CN" altLang="en-US" sz="2000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spc="-100" dirty="0">
                <a:solidFill>
                  <a:schemeClr val="tx1"/>
                </a:solidFill>
              </a:rPr>
              <a:t>溢出否</a:t>
            </a:r>
            <a:r>
              <a:rPr lang="en-US" altLang="zh-CN" sz="2000" spc="-100" dirty="0">
                <a:solidFill>
                  <a:schemeClr val="tx1"/>
                </a:solidFill>
              </a:rPr>
              <a:t>?</a:t>
            </a:r>
          </a:p>
          <a:p>
            <a:pPr marL="1973580" indent="-1973580"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en-US" altLang="zh-CN" sz="2000" dirty="0">
                <a:solidFill>
                  <a:schemeClr val="tx1"/>
                </a:solidFill>
              </a:rPr>
              <a:t>[A+B]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1010+0011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u="sng" dirty="0">
                <a:solidFill>
                  <a:schemeClr val="accent2"/>
                </a:solidFill>
              </a:rPr>
              <a:t>0</a:t>
            </a:r>
            <a:r>
              <a:rPr lang="en-US" altLang="zh-CN" sz="20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rgbClr val="FF3399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101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[A-B]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1010+1101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u="sng" dirty="0">
                <a:solidFill>
                  <a:schemeClr val="accent2"/>
                </a:solidFill>
              </a:rPr>
              <a:t>1</a:t>
            </a:r>
            <a:r>
              <a:rPr lang="en-US" altLang="zh-CN" sz="20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rgbClr val="FF3399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111 </a:t>
            </a:r>
            <a:endParaRPr lang="en-US" altLang="zh-CN" sz="2000" dirty="0">
              <a:solidFill>
                <a:srgbClr val="990099"/>
              </a:solidFill>
            </a:endParaRPr>
          </a:p>
        </p:txBody>
      </p:sp>
      <p:sp>
        <p:nvSpPr>
          <p:cNvPr id="28" name="AutoShape 62">
            <a:hlinkClick r:id="rId3" action="ppaction://hlinkpres?slideindex=10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4050209" y="6543774"/>
            <a:ext cx="287337" cy="251867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0DECA1D-0985-40CF-91E5-E1A134A4551C}"/>
              </a:ext>
            </a:extLst>
          </p:cNvPr>
          <p:cNvGrpSpPr/>
          <p:nvPr/>
        </p:nvGrpSpPr>
        <p:grpSpPr>
          <a:xfrm>
            <a:off x="7416336" y="332656"/>
            <a:ext cx="1620160" cy="864000"/>
            <a:chOff x="3923840" y="1260000"/>
            <a:chExt cx="1620160" cy="864000"/>
          </a:xfrm>
        </p:grpSpPr>
        <p:sp>
          <p:nvSpPr>
            <p:cNvPr id="34" name="梯形 33">
              <a:extLst>
                <a:ext uri="{FF2B5EF4-FFF2-40B4-BE49-F238E27FC236}">
                  <a16:creationId xmlns:a16="http://schemas.microsoft.com/office/drawing/2014/main" id="{99185A7C-92F8-4A42-A54A-72467E525653}"/>
                </a:ext>
              </a:extLst>
            </p:cNvPr>
            <p:cNvSpPr/>
            <p:nvPr/>
          </p:nvSpPr>
          <p:spPr bwMode="auto">
            <a:xfrm rot="10800000">
              <a:off x="4320000" y="1548000"/>
              <a:ext cx="864000" cy="288000"/>
            </a:xfrm>
            <a:prstGeom prst="trapezoid">
              <a:avLst>
                <a:gd name="adj" fmla="val 52480"/>
              </a:avLst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</p:spPr>
          <p:txBody>
            <a:bodyPr lIns="0" tIns="10800" rIns="0" bIns="10800"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5" name="Text Box 184">
              <a:extLst>
                <a:ext uri="{FF2B5EF4-FFF2-40B4-BE49-F238E27FC236}">
                  <a16:creationId xmlns:a16="http://schemas.microsoft.com/office/drawing/2014/main" id="{A14818DE-3132-4049-9587-FEFFB1077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000" y="1584000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加法器</a:t>
              </a:r>
            </a:p>
          </p:txBody>
        </p:sp>
        <p:sp>
          <p:nvSpPr>
            <p:cNvPr id="36" name="Line 436">
              <a:extLst>
                <a:ext uri="{FF2B5EF4-FFF2-40B4-BE49-F238E27FC236}">
                  <a16:creationId xmlns:a16="http://schemas.microsoft.com/office/drawing/2014/main" id="{25F7E446-A8DA-4AA1-A833-ACBF47EEA3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0000" y="1448792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436">
              <a:extLst>
                <a:ext uri="{FF2B5EF4-FFF2-40B4-BE49-F238E27FC236}">
                  <a16:creationId xmlns:a16="http://schemas.microsoft.com/office/drawing/2014/main" id="{969B32A6-FD4C-4644-8F5F-1406C4FF0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2000" y="1692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407">
              <a:extLst>
                <a:ext uri="{FF2B5EF4-FFF2-40B4-BE49-F238E27FC236}">
                  <a16:creationId xmlns:a16="http://schemas.microsoft.com/office/drawing/2014/main" id="{632D7789-05AB-4E0C-980A-99C886BEC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1260000"/>
              <a:ext cx="82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  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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39" name="Text Box 407">
              <a:extLst>
                <a:ext uri="{FF2B5EF4-FFF2-40B4-BE49-F238E27FC236}">
                  <a16:creationId xmlns:a16="http://schemas.microsoft.com/office/drawing/2014/main" id="{2D0A87F3-6FB0-4E6E-AFCB-D8C530E09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1944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0" name="Text Box 407">
              <a:extLst>
                <a:ext uri="{FF2B5EF4-FFF2-40B4-BE49-F238E27FC236}">
                  <a16:creationId xmlns:a16="http://schemas.microsoft.com/office/drawing/2014/main" id="{81D3B133-F3B6-4688-9BB1-AAAE24E1E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000" y="1584000"/>
              <a:ext cx="288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41" name="Line 436">
              <a:extLst>
                <a:ext uri="{FF2B5EF4-FFF2-40B4-BE49-F238E27FC236}">
                  <a16:creationId xmlns:a16="http://schemas.microsoft.com/office/drawing/2014/main" id="{7366C922-8ED0-49C9-A3C4-0D8C79A7DD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40000" y="1440000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36">
              <a:extLst>
                <a:ext uri="{FF2B5EF4-FFF2-40B4-BE49-F238E27FC236}">
                  <a16:creationId xmlns:a16="http://schemas.microsoft.com/office/drawing/2014/main" id="{E677AAC3-0DF6-4894-B091-25A4E3C8AF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000" y="1836000"/>
              <a:ext cx="0" cy="108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36">
              <a:extLst>
                <a:ext uri="{FF2B5EF4-FFF2-40B4-BE49-F238E27FC236}">
                  <a16:creationId xmlns:a16="http://schemas.microsoft.com/office/drawing/2014/main" id="{002A4BE0-85ED-48E1-868D-71EDCE6C8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8000" y="1692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407">
              <a:extLst>
                <a:ext uri="{FF2B5EF4-FFF2-40B4-BE49-F238E27FC236}">
                  <a16:creationId xmlns:a16="http://schemas.microsoft.com/office/drawing/2014/main" id="{60B7FB94-FA8A-4590-97B4-F4E5B6198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840" y="1584000"/>
              <a:ext cx="360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n-1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B9B250C-7A29-4A26-9DD0-DECC0931FD42}"/>
              </a:ext>
            </a:extLst>
          </p:cNvPr>
          <p:cNvGrpSpPr/>
          <p:nvPr/>
        </p:nvGrpSpPr>
        <p:grpSpPr>
          <a:xfrm>
            <a:off x="5112408" y="1988840"/>
            <a:ext cx="3132000" cy="900000"/>
            <a:chOff x="179388" y="2132856"/>
            <a:chExt cx="3132000" cy="900000"/>
          </a:xfrm>
        </p:grpSpPr>
        <p:sp>
          <p:nvSpPr>
            <p:cNvPr id="46" name="Text Box 27">
              <a:extLst>
                <a:ext uri="{FF2B5EF4-FFF2-40B4-BE49-F238E27FC236}">
                  <a16:creationId xmlns:a16="http://schemas.microsoft.com/office/drawing/2014/main" id="{A33815D7-E1E7-4DA7-BE5E-BC9F516F1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388" y="2132856"/>
              <a:ext cx="3132000" cy="90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90000" tIns="46800" rIns="90000" bIns="46800">
              <a:noAutofit/>
            </a:bodyPr>
            <a:lstStyle/>
            <a:p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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+a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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(a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b="0" spc="-1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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)(b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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b="0" spc="-100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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en-US" altLang="zh-CN" sz="2200" spc="-1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  <a:r>
                <a:rPr lang="en-US" altLang="zh-CN" sz="2200" spc="-10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94E850A6-0B69-4A6F-9815-32A1BFE26D8F}"/>
                </a:ext>
              </a:extLst>
            </p:cNvPr>
            <p:cNvCxnSpPr/>
            <p:nvPr/>
          </p:nvCxnSpPr>
          <p:spPr bwMode="auto">
            <a:xfrm>
              <a:off x="622188" y="2314800"/>
              <a:ext cx="342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CFE21A20-8501-42DA-B4A5-D5F15F9E610E}"/>
                </a:ext>
              </a:extLst>
            </p:cNvPr>
            <p:cNvCxnSpPr/>
            <p:nvPr/>
          </p:nvCxnSpPr>
          <p:spPr bwMode="auto">
            <a:xfrm>
              <a:off x="996588" y="2242800"/>
              <a:ext cx="41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C3288E48-505D-46BF-938A-E26D7970B478}"/>
                </a:ext>
              </a:extLst>
            </p:cNvPr>
            <p:cNvCxnSpPr/>
            <p:nvPr/>
          </p:nvCxnSpPr>
          <p:spPr bwMode="auto">
            <a:xfrm>
              <a:off x="2789388" y="2250000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 Box 87">
            <a:extLst>
              <a:ext uri="{FF2B5EF4-FFF2-40B4-BE49-F238E27FC236}">
                <a16:creationId xmlns:a16="http://schemas.microsoft.com/office/drawing/2014/main" id="{F4A39DCB-0CB8-4B44-935A-04D088431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000" y="2780928"/>
            <a:ext cx="6552096" cy="13806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                  C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  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                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</a:p>
          <a:p>
            <a:pPr>
              <a:spcBef>
                <a:spcPts val="200"/>
              </a:spcBef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符号占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位，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[F]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变补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=</a:t>
            </a:r>
            <a:r>
              <a:rPr lang="en-US" altLang="zh-CN" sz="2200" dirty="0">
                <a:solidFill>
                  <a:srgbClr val="FF3399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rgbClr val="FF3399"/>
                </a:solidFill>
                <a:latin typeface="+mn-ea"/>
                <a:ea typeface="+mn-ea"/>
              </a:rPr>
              <a:t>n</a:t>
            </a:r>
            <a:r>
              <a:rPr lang="en-US" altLang="zh-CN" sz="2200" dirty="0">
                <a:solidFill>
                  <a:srgbClr val="FF3399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rgbClr val="FF3399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00/11</a:t>
            </a:r>
            <a:endParaRPr lang="en-US" altLang="zh-CN" sz="2200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8F251320-B9FC-44F6-BC2F-0249D2B8C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15684"/>
              </p:ext>
            </p:extLst>
          </p:nvPr>
        </p:nvGraphicFramePr>
        <p:xfrm>
          <a:off x="1331640" y="4941168"/>
          <a:ext cx="7200800" cy="922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266141128"/>
                    </a:ext>
                  </a:extLst>
                </a:gridCol>
              </a:tblGrid>
              <a:tr h="280393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使用方法①</a:t>
                      </a: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使用方法②</a:t>
                      </a: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使用方法③</a:t>
                      </a: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[A+B]</a:t>
                      </a:r>
                      <a:r>
                        <a:rPr lang="zh-CN" altLang="en-US" sz="1800" b="1" spc="-1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补</a:t>
                      </a:r>
                      <a:endParaRPr lang="zh-CN" altLang="en-US" sz="1800" b="1" baseline="0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＝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＝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＝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9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[A-B]</a:t>
                      </a:r>
                      <a:r>
                        <a:rPr lang="zh-CN" altLang="en-US" sz="1800" b="1" spc="-1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补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＝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＝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＝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 Box 213"/>
          <p:cNvSpPr txBox="1">
            <a:spLocks noChangeArrowheads="1"/>
          </p:cNvSpPr>
          <p:nvPr/>
        </p:nvSpPr>
        <p:spPr bwMode="auto">
          <a:xfrm>
            <a:off x="2699792" y="5231016"/>
            <a:ext cx="1908000" cy="64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28800" rIns="18000" bIns="10800" anchor="t" anchorCtr="0"/>
          <a:lstStyle/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1)(0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1)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</a:p>
          <a:p>
            <a:pPr>
              <a:lnSpc>
                <a:spcPct val="114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0)(1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0)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1800" dirty="0">
              <a:latin typeface="+mn-ea"/>
            </a:endParaRPr>
          </a:p>
        </p:txBody>
      </p:sp>
      <p:sp>
        <p:nvSpPr>
          <p:cNvPr id="73" name="Text Box 213">
            <a:extLst>
              <a:ext uri="{FF2B5EF4-FFF2-40B4-BE49-F238E27FC236}">
                <a16:creationId xmlns:a16="http://schemas.microsoft.com/office/drawing/2014/main" id="{B86FF146-BF21-47A6-98C1-697D005EC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5232560"/>
            <a:ext cx="936000" cy="64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28800" rIns="18000" bIns="10800" anchor="t" anchorCtr="0"/>
          <a:lstStyle/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</a:p>
          <a:p>
            <a:pPr>
              <a:lnSpc>
                <a:spcPct val="114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1800" dirty="0">
              <a:latin typeface="+mn-ea"/>
            </a:endParaRPr>
          </a:p>
        </p:txBody>
      </p:sp>
      <p:sp>
        <p:nvSpPr>
          <p:cNvPr id="74" name="Text Box 213">
            <a:extLst>
              <a:ext uri="{FF2B5EF4-FFF2-40B4-BE49-F238E27FC236}">
                <a16:creationId xmlns:a16="http://schemas.microsoft.com/office/drawing/2014/main" id="{F58F0401-DC59-46BE-87B6-6EAE3960D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208" y="5231016"/>
            <a:ext cx="2196000" cy="64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28800" rIns="18000" bIns="10800" anchor="t" anchorCtr="0"/>
          <a:lstStyle/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 (</a:t>
            </a:r>
            <a:r>
              <a:rPr lang="en-US" altLang="zh-CN" sz="1800" dirty="0">
                <a:solidFill>
                  <a:srgbClr val="FF3399"/>
                </a:solidFill>
                <a:latin typeface="+mn-ea"/>
              </a:rPr>
              <a:t>1</a:t>
            </a:r>
            <a:r>
              <a:rPr lang="en-US" altLang="zh-CN" sz="1800" dirty="0">
                <a:solidFill>
                  <a:srgbClr val="FF33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101)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rgbClr val="FF3399"/>
                </a:solidFill>
              </a:rPr>
              <a:t>10</a:t>
            </a:r>
            <a:r>
              <a:rPr lang="en-US" altLang="zh-CN" sz="1800" dirty="0">
                <a:solidFill>
                  <a:schemeClr val="tx1"/>
                </a:solidFill>
              </a:rPr>
              <a:t>111)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 </a:t>
            </a:r>
            <a:endParaRPr lang="zh-CN" altLang="en-US" sz="1800" dirty="0">
              <a:latin typeface="+mn-ea"/>
            </a:endParaRPr>
          </a:p>
        </p:txBody>
      </p:sp>
      <p:sp>
        <p:nvSpPr>
          <p:cNvPr id="75" name="Text Box 103">
            <a:extLst>
              <a:ext uri="{FF2B5EF4-FFF2-40B4-BE49-F238E27FC236}">
                <a16:creationId xmlns:a16="http://schemas.microsoft.com/office/drawing/2014/main" id="{D3FB13C7-326D-47E4-AE46-03D40D6F1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949280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练习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zh-CN" altLang="en-US" sz="2000" dirty="0">
                <a:solidFill>
                  <a:schemeClr val="tx1"/>
                </a:solidFill>
              </a:rPr>
              <a:t>设</a:t>
            </a:r>
            <a:r>
              <a:rPr lang="en-US" altLang="zh-CN" sz="2000" dirty="0">
                <a:solidFill>
                  <a:schemeClr val="tx1"/>
                </a:solidFill>
              </a:rPr>
              <a:t>A=+15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B=+24</a:t>
            </a:r>
            <a:r>
              <a:rPr lang="zh-CN" altLang="en-US" sz="2000" dirty="0">
                <a:solidFill>
                  <a:schemeClr val="tx1"/>
                </a:solidFill>
              </a:rPr>
              <a:t>，补码含</a:t>
            </a:r>
            <a:r>
              <a:rPr lang="en-US" altLang="zh-CN" sz="2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个数值位，判断</a:t>
            </a:r>
            <a:r>
              <a:rPr lang="en-US" altLang="zh-CN" sz="2000" dirty="0">
                <a:solidFill>
                  <a:schemeClr val="tx1"/>
                </a:solidFill>
              </a:rPr>
              <a:t>A+B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A-B</a:t>
            </a:r>
            <a:r>
              <a:rPr lang="zh-CN" altLang="en-US" sz="2000" dirty="0">
                <a:solidFill>
                  <a:schemeClr val="tx1"/>
                </a:solidFill>
              </a:rPr>
              <a:t>结果是否溢出</a:t>
            </a:r>
            <a:endParaRPr lang="zh-CN" altLang="en-US" sz="2000" baseline="-18000" dirty="0">
              <a:solidFill>
                <a:schemeClr val="tx1"/>
              </a:solidFill>
            </a:endParaRPr>
          </a:p>
        </p:txBody>
      </p:sp>
      <p:sp>
        <p:nvSpPr>
          <p:cNvPr id="76" name="AutoShape 10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F21C1A4-ABAF-41A6-A0B7-3EFCD3375A3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8519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AutoShape 29">
            <a:extLst>
              <a:ext uri="{FF2B5EF4-FFF2-40B4-BE49-F238E27FC236}">
                <a16:creationId xmlns:a16="http://schemas.microsoft.com/office/drawing/2014/main" id="{49034C5D-F68C-4F5F-B461-D934300E2BEF}"/>
              </a:ext>
            </a:extLst>
          </p:cNvPr>
          <p:cNvSpPr/>
          <p:nvPr/>
        </p:nvSpPr>
        <p:spPr bwMode="auto">
          <a:xfrm>
            <a:off x="791768" y="1713082"/>
            <a:ext cx="1692000" cy="252000"/>
          </a:xfrm>
          <a:prstGeom prst="borderCallout2">
            <a:avLst>
              <a:gd name="adj1" fmla="val 45445"/>
              <a:gd name="adj2" fmla="val 99645"/>
              <a:gd name="adj3" fmla="val 48774"/>
              <a:gd name="adj4" fmla="val 114863"/>
              <a:gd name="adj5" fmla="val -48608"/>
              <a:gd name="adj6" fmla="val 15493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正</a:t>
            </a:r>
            <a:r>
              <a:rPr lang="en-US" altLang="zh-CN" sz="1800" dirty="0">
                <a:solidFill>
                  <a:schemeClr val="tx1"/>
                </a:solidFill>
              </a:rPr>
              <a:t>+</a:t>
            </a:r>
            <a:r>
              <a:rPr lang="zh-CN" altLang="en-US" sz="1800" dirty="0">
                <a:solidFill>
                  <a:schemeClr val="tx1"/>
                </a:solidFill>
              </a:rPr>
              <a:t>正 或 正</a:t>
            </a:r>
            <a:r>
              <a:rPr lang="en-US" altLang="zh-CN" sz="1800" dirty="0">
                <a:solidFill>
                  <a:schemeClr val="tx1"/>
                </a:solidFill>
              </a:rPr>
              <a:t>-</a:t>
            </a:r>
            <a:r>
              <a:rPr lang="zh-CN" altLang="en-US" sz="1800" dirty="0">
                <a:solidFill>
                  <a:schemeClr val="tx1"/>
                </a:solidFill>
              </a:rPr>
              <a:t>负</a:t>
            </a:r>
            <a:endParaRPr lang="en-US" altLang="zh-CN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67" grpId="0"/>
      <p:bldP spid="75" grpId="0"/>
      <p:bldP spid="5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87B27604-2DAD-4C29-99C3-5B0A6E96FD40}"/>
              </a:ext>
            </a:extLst>
          </p:cNvPr>
          <p:cNvGrpSpPr/>
          <p:nvPr/>
        </p:nvGrpSpPr>
        <p:grpSpPr>
          <a:xfrm>
            <a:off x="6948000" y="836712"/>
            <a:ext cx="1079792" cy="799287"/>
            <a:chOff x="5222256" y="1244377"/>
            <a:chExt cx="1079792" cy="799287"/>
          </a:xfrm>
        </p:grpSpPr>
        <p:sp>
          <p:nvSpPr>
            <p:cNvPr id="29" name="Text Box 101">
              <a:extLst>
                <a:ext uri="{FF2B5EF4-FFF2-40B4-BE49-F238E27FC236}">
                  <a16:creationId xmlns:a16="http://schemas.microsoft.com/office/drawing/2014/main" id="{4F76BC36-0868-42F5-92C9-7168E81BB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256" y="1251664"/>
              <a:ext cx="683988" cy="792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 Box 101">
              <a:extLst>
                <a:ext uri="{FF2B5EF4-FFF2-40B4-BE49-F238E27FC236}">
                  <a16:creationId xmlns:a16="http://schemas.microsoft.com/office/drawing/2014/main" id="{79DE8C8C-27D8-4875-B20D-7DDB66AC79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2048" y="1244377"/>
              <a:ext cx="180000" cy="792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CC99FF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endParaRPr lang="en-US" altLang="zh-CN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37397-B4CF-4851-B3BA-71ADD8679B98}" type="slidenum">
              <a:rPr lang="en-US" altLang="zh-CN"/>
              <a:t>45</a:t>
            </a:fld>
            <a:endParaRPr lang="en-US" altLang="zh-CN" dirty="0"/>
          </a:p>
        </p:txBody>
      </p:sp>
      <p:sp>
        <p:nvSpPr>
          <p:cNvPr id="27" name="AutoShape 62">
            <a:hlinkClick r:id="rId17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 Box 32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8785099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、无符号加减运算</a:t>
            </a:r>
          </a:p>
          <a:p>
            <a:r>
              <a:rPr lang="zh-CN" altLang="en-US" sz="2200" dirty="0">
                <a:solidFill>
                  <a:srgbClr val="C00000"/>
                </a:solidFill>
              </a:rPr>
              <a:t> *运算方法：</a:t>
            </a:r>
            <a:r>
              <a:rPr lang="zh-CN" altLang="en-US" sz="2200" dirty="0">
                <a:solidFill>
                  <a:schemeClr val="accent2"/>
                </a:solidFill>
              </a:rPr>
              <a:t>加法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[A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baseline="-16000" dirty="0">
                <a:solidFill>
                  <a:schemeClr val="tx1"/>
                </a:solidFill>
              </a:rPr>
              <a:t>  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endParaRPr lang="zh-CN" altLang="en-US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</a:rPr>
              <a:t>            减法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[A</a:t>
            </a:r>
            <a:r>
              <a:rPr lang="zh-CN" altLang="en-US" sz="2200" dirty="0">
                <a:solidFill>
                  <a:schemeClr val="tx1"/>
                </a:solidFill>
              </a:rPr>
              <a:t>－</a:t>
            </a:r>
            <a:r>
              <a:rPr lang="en-US" altLang="zh-CN" sz="2200" dirty="0">
                <a:solidFill>
                  <a:schemeClr val="tx1"/>
                </a:solidFill>
              </a:rPr>
              <a:t>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补数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endParaRPr lang="zh-CN" altLang="en-US" sz="2200" baseline="-18000" dirty="0">
              <a:solidFill>
                <a:schemeClr val="tx1"/>
              </a:solidFill>
            </a:endParaRPr>
          </a:p>
        </p:txBody>
      </p:sp>
      <p:sp>
        <p:nvSpPr>
          <p:cNvPr id="9" name="Line 36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7020272" y="1268760"/>
            <a:ext cx="54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1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660697" y="4580405"/>
            <a:ext cx="1080000" cy="288000"/>
          </a:xfrm>
          <a:prstGeom prst="rect">
            <a:avLst/>
          </a:prstGeom>
          <a:noFill/>
          <a:ln w="15875">
            <a:noFill/>
            <a:prstDash val="solid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lstStyle/>
          <a:p>
            <a:pPr marL="266700" indent="-266700">
              <a:lnSpc>
                <a:spcPct val="95000"/>
              </a:lnSpc>
            </a:pPr>
            <a:r>
              <a:rPr lang="zh-CN" altLang="en-US" sz="1800" u="sng" dirty="0">
                <a:solidFill>
                  <a:schemeClr val="tx1"/>
                </a:solidFill>
              </a:rPr>
              <a:t>节约</a:t>
            </a:r>
            <a:r>
              <a:rPr lang="zh-CN" altLang="en-US" sz="1800" dirty="0">
                <a:solidFill>
                  <a:schemeClr val="tx1"/>
                </a:solidFill>
              </a:rPr>
              <a:t>成本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1" name="Text Box 20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00945" y="4580437"/>
            <a:ext cx="388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dirty="0">
                <a:solidFill>
                  <a:schemeClr val="tx1"/>
                </a:solidFill>
              </a:rPr>
              <a:t>为何不设计成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个加减法器？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3" name="Text Box 37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389" y="1628800"/>
            <a:ext cx="4968674" cy="2227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运算逻辑：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溢出判断逻辑：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溢出特征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判断方法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逻辑实现：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14" name="Text Box 37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55576" y="1628800"/>
            <a:ext cx="8064896" cy="29369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tx1"/>
                </a:solidFill>
              </a:rPr>
              <a:t>        与补码加减运算</a:t>
            </a:r>
            <a:r>
              <a:rPr lang="zh-CN" altLang="en-US" sz="2200" u="sng" dirty="0">
                <a:solidFill>
                  <a:srgbClr val="990099"/>
                </a:solidFill>
              </a:rPr>
              <a:t>相同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    加法时有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进位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(C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，减法时有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借位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(C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     CF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SUB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，与补码加减运算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</a:rPr>
              <a:t>不同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altLang="zh-CN" sz="2200" u="sng" dirty="0">
              <a:solidFill>
                <a:srgbClr val="990099"/>
              </a:solidFill>
              <a:latin typeface="+mn-ea"/>
              <a:ea typeface="+mn-ea"/>
              <a:sym typeface="Symbol" panose="0505010201070602050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  <a:sym typeface="Symbol" panose="05050102010706020507"/>
              </a:rPr>
              <a:t>复用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补码加减法器的运算逻辑，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  <a:ea typeface="+mn-ea"/>
                <a:sym typeface="Symbol" panose="05050102010706020507"/>
              </a:rPr>
              <a:t>新增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溢出判断逻辑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  <a:sym typeface="Symbol" panose="05050102010706020507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                                       </a:t>
            </a:r>
            <a:r>
              <a:rPr lang="en-US" altLang="zh-CN" sz="16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└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→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信号名记为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CF 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区别于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OF)</a:t>
            </a:r>
          </a:p>
        </p:txBody>
      </p:sp>
      <p:sp>
        <p:nvSpPr>
          <p:cNvPr id="15" name="Text Box 2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128000" y="3033056"/>
            <a:ext cx="1872000" cy="900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  <a:highlight>
                  <a:srgbClr val="CCFFFF"/>
                </a:highlight>
              </a:rPr>
              <a:t>8</a:t>
            </a:r>
            <a:r>
              <a:rPr lang="en-US" altLang="zh-CN" sz="1600" dirty="0">
                <a:solidFill>
                  <a:srgbClr val="990099"/>
                </a:solidFill>
                <a:highlight>
                  <a:srgbClr val="CCFFFF"/>
                </a:highlight>
              </a:rPr>
              <a:t>+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CCFFFF"/>
                </a:highlight>
              </a:rPr>
              <a:t>9</a:t>
            </a:r>
            <a:r>
              <a:rPr lang="zh-CN" altLang="en-US" sz="1600" dirty="0">
                <a:solidFill>
                  <a:schemeClr val="tx1"/>
                </a:solidFill>
              </a:rPr>
              <a:t>或</a:t>
            </a:r>
            <a:r>
              <a:rPr lang="en-US" altLang="zh-CN" sz="1600" dirty="0">
                <a:solidFill>
                  <a:schemeClr val="tx1"/>
                </a:solidFill>
              </a:rPr>
              <a:t>8-7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8+7</a:t>
            </a:r>
            <a:r>
              <a:rPr lang="zh-CN" altLang="en-US" sz="1600" dirty="0">
                <a:solidFill>
                  <a:schemeClr val="tx1"/>
                </a:solidFill>
              </a:rPr>
              <a:t>或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CCFFFF"/>
                </a:highlight>
              </a:rPr>
              <a:t>8</a:t>
            </a:r>
            <a:r>
              <a:rPr lang="en-US" altLang="zh-CN" sz="1600" dirty="0">
                <a:solidFill>
                  <a:srgbClr val="990099"/>
                </a:solidFill>
                <a:highlight>
                  <a:srgbClr val="CCFFFF"/>
                </a:highlight>
              </a:rPr>
              <a:t>-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CCFFFF"/>
                </a:highlight>
              </a:rPr>
              <a:t>9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1000     1000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u="sng" dirty="0">
                <a:solidFill>
                  <a:schemeClr val="tx1"/>
                </a:solidFill>
              </a:rPr>
              <a:t>+ 1001</a:t>
            </a:r>
            <a:r>
              <a:rPr lang="en-US" altLang="zh-CN" sz="1600" dirty="0">
                <a:solidFill>
                  <a:schemeClr val="tx1"/>
                </a:solidFill>
              </a:rPr>
              <a:t>   </a:t>
            </a:r>
            <a:r>
              <a:rPr lang="en-US" altLang="zh-CN" sz="1600" u="sng" dirty="0">
                <a:solidFill>
                  <a:schemeClr val="tx1"/>
                </a:solidFill>
              </a:rPr>
              <a:t>+ 0111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u="sng" dirty="0">
                <a:solidFill>
                  <a:srgbClr val="990099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0001   </a:t>
            </a:r>
            <a:r>
              <a:rPr lang="en-US" altLang="zh-CN" sz="1600" u="sng" dirty="0">
                <a:solidFill>
                  <a:srgbClr val="990099"/>
                </a:solidFill>
              </a:rPr>
              <a:t>0</a:t>
            </a:r>
            <a:r>
              <a:rPr lang="en-US" altLang="zh-CN" sz="1600" dirty="0">
                <a:solidFill>
                  <a:schemeClr val="tx1"/>
                </a:solidFill>
              </a:rPr>
              <a:t> 1111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1D51440D-49F2-4E95-9D3C-2AE205DD156C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772096" y="5301208"/>
            <a:ext cx="2484000" cy="288000"/>
          </a:xfrm>
          <a:prstGeom prst="rect">
            <a:avLst/>
          </a:prstGeom>
          <a:noFill/>
          <a:ln w="15875">
            <a:noFill/>
            <a:prstDash val="solid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lstStyle/>
          <a:p>
            <a:pPr marL="266700" indent="-266700">
              <a:lnSpc>
                <a:spcPct val="9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均用</a:t>
            </a:r>
            <a:r>
              <a:rPr lang="en-US" altLang="zh-CN" sz="1800" dirty="0">
                <a:solidFill>
                  <a:schemeClr val="tx1"/>
                </a:solidFill>
              </a:rPr>
              <a:t>op (</a:t>
            </a:r>
            <a:r>
              <a:rPr lang="zh-CN" altLang="en-US" sz="1800" dirty="0">
                <a:solidFill>
                  <a:schemeClr val="tx1"/>
                </a:solidFill>
              </a:rPr>
              <a:t>运算结果</a:t>
            </a:r>
            <a:r>
              <a:rPr lang="zh-CN" altLang="en-US" sz="1800" u="sng" dirty="0">
                <a:solidFill>
                  <a:srgbClr val="990099"/>
                </a:solidFill>
                <a:highlight>
                  <a:srgbClr val="FFFF00"/>
                </a:highlight>
              </a:rPr>
              <a:t>相同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8" name="Text Box 200">
            <a:extLst>
              <a:ext uri="{FF2B5EF4-FFF2-40B4-BE49-F238E27FC236}">
                <a16:creationId xmlns:a16="http://schemas.microsoft.com/office/drawing/2014/main" id="{6429B8D0-EC51-43EF-BBDD-D7D27E843DD7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700944" y="4975200"/>
            <a:ext cx="626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dirty="0">
                <a:solidFill>
                  <a:schemeClr val="tx1"/>
                </a:solidFill>
              </a:rPr>
              <a:t>有、无符号运算时，运算如何控制？溢出如何判断？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40" name="Text Box 16">
            <a:extLst>
              <a:ext uri="{FF2B5EF4-FFF2-40B4-BE49-F238E27FC236}">
                <a16:creationId xmlns:a16="http://schemas.microsoft.com/office/drawing/2014/main" id="{F1866CBA-D3C4-4A71-8A35-D4F1904253F8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364088" y="5301208"/>
            <a:ext cx="3456000" cy="288000"/>
          </a:xfrm>
          <a:prstGeom prst="rect">
            <a:avLst/>
          </a:prstGeom>
          <a:noFill/>
          <a:ln w="15875">
            <a:noFill/>
            <a:prstDash val="solid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lstStyle/>
          <a:p>
            <a:pPr marL="266700" indent="-266700">
              <a:lnSpc>
                <a:spcPct val="9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分别判断</a:t>
            </a:r>
            <a:r>
              <a:rPr lang="en-US" altLang="zh-CN" sz="1800" dirty="0">
                <a:solidFill>
                  <a:schemeClr val="tx1"/>
                </a:solidFill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CF (</a:t>
            </a:r>
            <a:r>
              <a:rPr lang="zh-CN" altLang="en-US" sz="1800" dirty="0">
                <a:solidFill>
                  <a:schemeClr val="tx1"/>
                </a:solidFill>
              </a:rPr>
              <a:t>判断逻辑</a:t>
            </a:r>
            <a:r>
              <a:rPr lang="zh-CN" altLang="en-US" sz="1800" u="sng" dirty="0">
                <a:solidFill>
                  <a:srgbClr val="990099"/>
                </a:solidFill>
                <a:highlight>
                  <a:srgbClr val="FFFF00"/>
                </a:highlight>
              </a:rPr>
              <a:t>不同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97CD202-D6ED-48E7-9593-B740523DD42F}"/>
              </a:ext>
            </a:extLst>
          </p:cNvPr>
          <p:cNvGrpSpPr/>
          <p:nvPr/>
        </p:nvGrpSpPr>
        <p:grpSpPr>
          <a:xfrm>
            <a:off x="359784" y="4293096"/>
            <a:ext cx="2268000" cy="1512000"/>
            <a:chOff x="2589207" y="4076942"/>
            <a:chExt cx="2268000" cy="1512000"/>
          </a:xfrm>
        </p:grpSpPr>
        <p:sp>
          <p:nvSpPr>
            <p:cNvPr id="43" name="Rectangle 183">
              <a:extLst>
                <a:ext uri="{FF2B5EF4-FFF2-40B4-BE49-F238E27FC236}">
                  <a16:creationId xmlns:a16="http://schemas.microsoft.com/office/drawing/2014/main" id="{2DC1480C-1039-4FE8-BFF1-97054FFA4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9207" y="4365105"/>
              <a:ext cx="1836000" cy="900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endParaRPr lang="en-US" altLang="zh-CN" sz="20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4" name="Text Box 184">
              <a:extLst>
                <a:ext uri="{FF2B5EF4-FFF2-40B4-BE49-F238E27FC236}">
                  <a16:creationId xmlns:a16="http://schemas.microsoft.com/office/drawing/2014/main" id="{A1A31802-FF15-4CAE-89EA-6E6AF0D22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5207" y="4940942"/>
              <a:ext cx="720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加法器</a:t>
              </a:r>
            </a:p>
          </p:txBody>
        </p:sp>
        <p:sp>
          <p:nvSpPr>
            <p:cNvPr id="45" name="Line 186">
              <a:extLst>
                <a:ext uri="{FF2B5EF4-FFF2-40B4-BE49-F238E27FC236}">
                  <a16:creationId xmlns:a16="http://schemas.microsoft.com/office/drawing/2014/main" id="{C0F0151B-FEBF-414B-892A-85D92988D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5207" y="4796942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188">
              <a:extLst>
                <a:ext uri="{FF2B5EF4-FFF2-40B4-BE49-F238E27FC236}">
                  <a16:creationId xmlns:a16="http://schemas.microsoft.com/office/drawing/2014/main" id="{461C07DE-0478-4411-9A30-FF479E8FA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5207" y="4581128"/>
              <a:ext cx="720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异或门</a:t>
              </a:r>
            </a:p>
          </p:txBody>
        </p:sp>
        <p:sp>
          <p:nvSpPr>
            <p:cNvPr id="47" name="Line 189">
              <a:extLst>
                <a:ext uri="{FF2B5EF4-FFF2-40B4-BE49-F238E27FC236}">
                  <a16:creationId xmlns:a16="http://schemas.microsoft.com/office/drawing/2014/main" id="{D5B89330-E4AD-46B6-82E3-28E52A125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9381" y="5192942"/>
              <a:ext cx="1466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91">
              <a:extLst>
                <a:ext uri="{FF2B5EF4-FFF2-40B4-BE49-F238E27FC236}">
                  <a16:creationId xmlns:a16="http://schemas.microsoft.com/office/drawing/2014/main" id="{7A1DA08E-82C9-4713-B398-A95B94A5A4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5207" y="5084942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92">
              <a:extLst>
                <a:ext uri="{FF2B5EF4-FFF2-40B4-BE49-F238E27FC236}">
                  <a16:creationId xmlns:a16="http://schemas.microsoft.com/office/drawing/2014/main" id="{4C6C8CCE-9EB5-4678-8B73-FD2F713CC2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5207" y="4437144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198">
              <a:extLst>
                <a:ext uri="{FF2B5EF4-FFF2-40B4-BE49-F238E27FC236}">
                  <a16:creationId xmlns:a16="http://schemas.microsoft.com/office/drawing/2014/main" id="{0A7C7366-E4B7-41D3-B6DB-C9112A187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5207" y="4832942"/>
              <a:ext cx="32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51" name="Line 199">
              <a:extLst>
                <a:ext uri="{FF2B5EF4-FFF2-40B4-BE49-F238E27FC236}">
                  <a16:creationId xmlns:a16="http://schemas.microsoft.com/office/drawing/2014/main" id="{E1F3A4B0-5410-4073-B023-5FC410AC1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5207" y="4292942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00">
              <a:extLst>
                <a:ext uri="{FF2B5EF4-FFF2-40B4-BE49-F238E27FC236}">
                  <a16:creationId xmlns:a16="http://schemas.microsoft.com/office/drawing/2014/main" id="{3F240DFE-151F-4ACF-AA38-6ABCCC301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6807" y="4292942"/>
              <a:ext cx="0" cy="64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01">
              <a:extLst>
                <a:ext uri="{FF2B5EF4-FFF2-40B4-BE49-F238E27FC236}">
                  <a16:creationId xmlns:a16="http://schemas.microsoft.com/office/drawing/2014/main" id="{1217C8DE-12C8-4C06-A2FF-7803D6691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5207" y="4437609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08">
              <a:extLst>
                <a:ext uri="{FF2B5EF4-FFF2-40B4-BE49-F238E27FC236}">
                  <a16:creationId xmlns:a16="http://schemas.microsoft.com/office/drawing/2014/main" id="{152D7306-4A17-42A3-A7D4-BCE955333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3207" y="4437505"/>
              <a:ext cx="0" cy="64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213">
              <a:extLst>
                <a:ext uri="{FF2B5EF4-FFF2-40B4-BE49-F238E27FC236}">
                  <a16:creationId xmlns:a16="http://schemas.microsoft.com/office/drawing/2014/main" id="{81C7B304-E2A4-4CC6-8F9B-19100D129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207" y="4292942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FF3399"/>
                  </a:solidFill>
                </a:rPr>
                <a:t>op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56" name="Line 190">
              <a:extLst>
                <a:ext uri="{FF2B5EF4-FFF2-40B4-BE49-F238E27FC236}">
                  <a16:creationId xmlns:a16="http://schemas.microsoft.com/office/drawing/2014/main" id="{4A13BA97-2E1A-4B3E-941F-8D05C67BF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2959" y="5192942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193">
              <a:extLst>
                <a:ext uri="{FF2B5EF4-FFF2-40B4-BE49-F238E27FC236}">
                  <a16:creationId xmlns:a16="http://schemas.microsoft.com/office/drawing/2014/main" id="{04D22A29-52EF-40C4-BB6C-74FEA750E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1207" y="4688942"/>
              <a:ext cx="504000" cy="504000"/>
            </a:xfrm>
            <a:prstGeom prst="rect">
              <a:avLst/>
            </a:prstGeom>
            <a:solidFill>
              <a:srgbClr val="FFCC99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溢出判断</a:t>
              </a:r>
              <a:endParaRPr lang="zh-CN" altLang="en-US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8" name="Text Box 194">
              <a:extLst>
                <a:ext uri="{FF2B5EF4-FFF2-40B4-BE49-F238E27FC236}">
                  <a16:creationId xmlns:a16="http://schemas.microsoft.com/office/drawing/2014/main" id="{2343628E-D08F-4292-9CDB-5B6FC029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5207" y="5372942"/>
              <a:ext cx="648000" cy="21600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OF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CF</a:t>
              </a:r>
              <a:endParaRPr lang="en-US" altLang="zh-CN" sz="14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9" name="Line 196">
              <a:extLst>
                <a:ext uri="{FF2B5EF4-FFF2-40B4-BE49-F238E27FC236}">
                  <a16:creationId xmlns:a16="http://schemas.microsoft.com/office/drawing/2014/main" id="{2E95F90A-446E-482B-BA92-499DD0333A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3207" y="5192942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91">
              <a:extLst>
                <a:ext uri="{FF2B5EF4-FFF2-40B4-BE49-F238E27FC236}">
                  <a16:creationId xmlns:a16="http://schemas.microsoft.com/office/drawing/2014/main" id="{879D48B8-8BDD-45FA-B9F3-6D3D80B09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5207" y="5012942"/>
              <a:ext cx="18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91">
              <a:extLst>
                <a:ext uri="{FF2B5EF4-FFF2-40B4-BE49-F238E27FC236}">
                  <a16:creationId xmlns:a16="http://schemas.microsoft.com/office/drawing/2014/main" id="{DB4DA9C2-8322-4625-8647-AEB1FAA4F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5207" y="5084942"/>
              <a:ext cx="1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213">
              <a:extLst>
                <a:ext uri="{FF2B5EF4-FFF2-40B4-BE49-F238E27FC236}">
                  <a16:creationId xmlns:a16="http://schemas.microsoft.com/office/drawing/2014/main" id="{54DA5D7A-7215-42B3-962A-AA0446C84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7207" y="537294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64" name="Text Box 213">
              <a:extLst>
                <a:ext uri="{FF2B5EF4-FFF2-40B4-BE49-F238E27FC236}">
                  <a16:creationId xmlns:a16="http://schemas.microsoft.com/office/drawing/2014/main" id="{361D8C18-0B70-4E43-9F70-A82D82CC5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807" y="407694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5" name="Text Box 213">
              <a:extLst>
                <a:ext uri="{FF2B5EF4-FFF2-40B4-BE49-F238E27FC236}">
                  <a16:creationId xmlns:a16="http://schemas.microsoft.com/office/drawing/2014/main" id="{E85D06ED-0516-4248-A42E-1B9F380A2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7207" y="407694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8F4D654-06CF-4101-BB41-1821BA66E530}"/>
                </a:ext>
              </a:extLst>
            </p:cNvPr>
            <p:cNvCxnSpPr/>
            <p:nvPr/>
          </p:nvCxnSpPr>
          <p:spPr bwMode="auto">
            <a:xfrm>
              <a:off x="3273207" y="4365280"/>
              <a:ext cx="0" cy="90000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Line 199">
              <a:extLst>
                <a:ext uri="{FF2B5EF4-FFF2-40B4-BE49-F238E27FC236}">
                  <a16:creationId xmlns:a16="http://schemas.microsoft.com/office/drawing/2014/main" id="{9D232A75-D110-47EA-A403-A1533F71A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207" y="443714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D43DEBE-9D67-4CD0-B79D-87C60C04838F}"/>
              </a:ext>
            </a:extLst>
          </p:cNvPr>
          <p:cNvGrpSpPr/>
          <p:nvPr/>
        </p:nvGrpSpPr>
        <p:grpSpPr>
          <a:xfrm>
            <a:off x="1763102" y="5518802"/>
            <a:ext cx="4825122" cy="870394"/>
            <a:chOff x="2663367" y="5098885"/>
            <a:chExt cx="4825122" cy="723829"/>
          </a:xfrm>
        </p:grpSpPr>
        <p:sp>
          <p:nvSpPr>
            <p:cNvPr id="70" name="Text Box 178">
              <a:extLst>
                <a:ext uri="{FF2B5EF4-FFF2-40B4-BE49-F238E27FC236}">
                  <a16:creationId xmlns:a16="http://schemas.microsoft.com/office/drawing/2014/main" id="{EDE1F8E1-9EB1-4EDE-8EF0-E81BB2E5B933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736489" y="5553272"/>
              <a:ext cx="4752000" cy="269442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FF3399"/>
              </a:solidFill>
              <a:prstDash val="solid"/>
              <a:miter lim="800000"/>
            </a:ln>
            <a:effectLst/>
          </p:spPr>
          <p:txBody>
            <a:bodyPr lIns="54000" tIns="0" rIns="54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u="sng" dirty="0">
                  <a:solidFill>
                    <a:srgbClr val="C00000"/>
                  </a:solidFill>
                </a:rPr>
                <a:t>同一个</a:t>
              </a:r>
              <a:r>
                <a:rPr lang="zh-CN" altLang="en-US" sz="1800" dirty="0">
                  <a:solidFill>
                    <a:schemeClr val="tx1"/>
                  </a:solidFill>
                </a:rPr>
                <a:t>加减法器可实现</a:t>
              </a:r>
              <a:r>
                <a:rPr lang="zh-CN" altLang="en-US" sz="1800" u="sng" dirty="0">
                  <a:solidFill>
                    <a:srgbClr val="C00000"/>
                  </a:solidFill>
                </a:rPr>
                <a:t>有</a:t>
              </a:r>
              <a:r>
                <a:rPr lang="en-US" altLang="zh-CN" sz="1800" u="sng" dirty="0">
                  <a:solidFill>
                    <a:srgbClr val="C00000"/>
                  </a:solidFill>
                </a:rPr>
                <a:t>/</a:t>
              </a:r>
              <a:r>
                <a:rPr lang="zh-CN" altLang="en-US" sz="1800" u="sng" dirty="0">
                  <a:solidFill>
                    <a:srgbClr val="C00000"/>
                  </a:solidFill>
                </a:rPr>
                <a:t>无符号</a:t>
              </a:r>
              <a:r>
                <a:rPr lang="zh-CN" altLang="en-US" sz="1800" dirty="0">
                  <a:solidFill>
                    <a:schemeClr val="tx1"/>
                  </a:solidFill>
                </a:rPr>
                <a:t>加</a:t>
              </a:r>
              <a:r>
                <a:rPr lang="en-US" altLang="zh-CN" sz="1800" dirty="0">
                  <a:solidFill>
                    <a:schemeClr val="tx1"/>
                  </a:solidFill>
                </a:rPr>
                <a:t>/</a:t>
              </a:r>
              <a:r>
                <a:rPr lang="zh-CN" altLang="en-US" sz="1800" dirty="0">
                  <a:solidFill>
                    <a:schemeClr val="tx1"/>
                  </a:solidFill>
                </a:rPr>
                <a:t>减运算！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直接箭头连接符 82">
              <a:extLst>
                <a:ext uri="{FF2B5EF4-FFF2-40B4-BE49-F238E27FC236}">
                  <a16:creationId xmlns:a16="http://schemas.microsoft.com/office/drawing/2014/main" id="{7E33B9E3-F322-456D-91E1-CBD3988B227E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>
              <a:off x="2663367" y="5098885"/>
              <a:ext cx="252000" cy="41913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73" name="Text Box 200">
            <a:extLst>
              <a:ext uri="{FF2B5EF4-FFF2-40B4-BE49-F238E27FC236}">
                <a16:creationId xmlns:a16="http://schemas.microsoft.com/office/drawing/2014/main" id="{016D4770-466C-4444-8BAB-B50619351A00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699792" y="5661248"/>
            <a:ext cx="442820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思考③：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判断逻辑在内部实现的好处是？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74" name="Text Box 16">
            <a:extLst>
              <a:ext uri="{FF2B5EF4-FFF2-40B4-BE49-F238E27FC236}">
                <a16:creationId xmlns:a16="http://schemas.microsoft.com/office/drawing/2014/main" id="{D12C786C-D78D-4BB7-B454-28309780B57C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236504" y="5661248"/>
            <a:ext cx="1439952" cy="288000"/>
          </a:xfrm>
          <a:prstGeom prst="rect">
            <a:avLst/>
          </a:prstGeom>
          <a:noFill/>
          <a:ln w="15875">
            <a:noFill/>
            <a:prstDash val="solid"/>
            <a:miter lim="800000"/>
          </a:ln>
          <a:effectLst/>
        </p:spPr>
        <p:txBody>
          <a:bodyPr lIns="18000" tIns="10800" rIns="18000" bIns="10800" anchor="ctr" anchorCtr="0">
            <a:noAutofit/>
          </a:bodyPr>
          <a:lstStyle/>
          <a:p>
            <a:pPr marL="266700" indent="-266700">
              <a:lnSpc>
                <a:spcPct val="9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实现</a:t>
            </a:r>
            <a:r>
              <a:rPr lang="zh-CN" altLang="en-US" sz="1800" u="sng" dirty="0">
                <a:solidFill>
                  <a:schemeClr val="tx1"/>
                </a:solidFill>
              </a:rPr>
              <a:t>最简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5" name="AutoShape 10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E1B7B3A-C71D-4CBC-B402-2B5EE811086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48000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5" grpId="0" bldLvl="0" animBg="1"/>
      <p:bldP spid="36" grpId="0" bldLvl="0"/>
      <p:bldP spid="38" grpId="0" bldLvl="0" animBg="1"/>
      <p:bldP spid="40" grpId="0" bldLvl="0"/>
      <p:bldP spid="73" grpId="0" bldLvl="0" animBg="1"/>
      <p:bldP spid="74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6DB8CA-BA38-40F6-BD40-1F13943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46</a:t>
            </a:fld>
            <a:endParaRPr lang="en-US" altLang="zh-CN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5AF1080E-9E28-43EF-8B8B-32748052BA5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68" y="332656"/>
            <a:ext cx="8962227" cy="61193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</a:rPr>
              <a:t>关系运算的逻辑实现</a:t>
            </a:r>
            <a:endParaRPr 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运算方法：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逻辑实现：                 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如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语言的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if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语句，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编译器转换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方法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1—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比较器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，        语句转换为</a:t>
            </a:r>
            <a:r>
              <a:rPr lang="zh-CN" altLang="en-US" sz="2200" u="sng" dirty="0">
                <a:solidFill>
                  <a:srgbClr val="0070C0"/>
                </a:solidFill>
                <a:latin typeface="+mn-ea"/>
              </a:rPr>
              <a:t>置位指令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＋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</a:rPr>
              <a:t>条件转移指令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               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比较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+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形成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     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SLT 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  <a:ea typeface="+mn-ea"/>
              </a:rPr>
              <a:t>a,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zh-CN" altLang="en-US" sz="1600" b="0" dirty="0">
                <a:solidFill>
                  <a:schemeClr val="tx1"/>
                </a:solidFill>
                <a:latin typeface="+mn-ea"/>
              </a:rPr>
              <a:t>┴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→形成结果 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</a:rPr>
              <a:t>BEQ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 L1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zh-CN" altLang="en-US" sz="1600" b="0" dirty="0">
                <a:solidFill>
                  <a:schemeClr val="tx1"/>
                </a:solidFill>
                <a:latin typeface="+mn-ea"/>
              </a:rPr>
              <a:t>┴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→判断结果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方法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2—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加减法器＋软件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，语句转换为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</a:rPr>
              <a:t>比较指令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</a:rPr>
              <a:t>条件转移指令</a:t>
            </a:r>
            <a:endParaRPr lang="en-US" altLang="zh-CN" sz="2200" b="1" u="sng" dirty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         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仅比较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         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CMP 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a,b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zh-CN" altLang="en-US" sz="1600" b="0" dirty="0">
                <a:solidFill>
                  <a:schemeClr val="tx1"/>
                </a:solidFill>
                <a:latin typeface="+mn-ea"/>
              </a:rPr>
              <a:t>┴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→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形成标志  </a:t>
            </a:r>
            <a:r>
              <a:rPr lang="en-US" altLang="zh-CN" sz="1600" b="1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</a:rPr>
              <a:t>JC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 L1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→</a:t>
            </a:r>
            <a:r>
              <a:rPr lang="zh-CN" altLang="en-US" sz="1600" b="0" dirty="0">
                <a:solidFill>
                  <a:schemeClr val="tx1"/>
                </a:solidFill>
                <a:latin typeface="+mn-ea"/>
              </a:rPr>
              <a:t>┴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→判断标志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 Box 176">
            <a:extLst>
              <a:ext uri="{FF2B5EF4-FFF2-40B4-BE49-F238E27FC236}">
                <a16:creationId xmlns:a16="http://schemas.microsoft.com/office/drawing/2014/main" id="{C4A1C93E-3613-4C7A-8C4D-A9BA8543E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699" y="2924944"/>
            <a:ext cx="6840805" cy="923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位补码分析 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-1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4       -5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      4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≮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≮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-4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  <a:sym typeface="Symbol" panose="05050102010706020507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结果：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011(-5)  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sym typeface="Symbol" panose="05050102010706020507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111(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+7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  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sym typeface="Symbol" panose="05050102010706020507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001(+1)  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001(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-7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标志：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OF=0,SF=1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OF=1,SF=0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   OF=0,SF=0   OF=1,SF=1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  <a:sym typeface="Symbol" panose="05050102010706020507"/>
            </a:endParaRPr>
          </a:p>
        </p:txBody>
      </p:sp>
      <p:sp>
        <p:nvSpPr>
          <p:cNvPr id="5" name="Text Box 28">
            <a:extLst>
              <a:ext uri="{FF2B5EF4-FFF2-40B4-BE49-F238E27FC236}">
                <a16:creationId xmlns:a16="http://schemas.microsoft.com/office/drawing/2014/main" id="{56585A20-AFBC-47C9-A9BB-72BBD3EC765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16480" y="3818419"/>
            <a:ext cx="7776000" cy="7627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练习：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74H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A3H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A+B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A-B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时，加减法器的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ZF/CF/OF/SF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值？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若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及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分别为有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、无符号数，则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＜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的结果分别是？</a:t>
            </a:r>
          </a:p>
        </p:txBody>
      </p:sp>
      <p:sp>
        <p:nvSpPr>
          <p:cNvPr id="6" name="Text Box 323">
            <a:extLst>
              <a:ext uri="{FF2B5EF4-FFF2-40B4-BE49-F238E27FC236}">
                <a16:creationId xmlns:a16="http://schemas.microsoft.com/office/drawing/2014/main" id="{B9E616B2-ABEC-4BBC-86D0-22CC9AFDA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7" y="764704"/>
            <a:ext cx="7308303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①比较大小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通过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减法运算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产生标志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←不区分有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无符号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②形成结果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通过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逻辑操作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判断标志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←区分有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符号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" name="Group 136">
            <a:extLst>
              <a:ext uri="{FF2B5EF4-FFF2-40B4-BE49-F238E27FC236}">
                <a16:creationId xmlns:a16="http://schemas.microsoft.com/office/drawing/2014/main" id="{5DB401CF-7230-4A25-8539-D925C8DA7474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01051094"/>
              </p:ext>
            </p:extLst>
          </p:nvPr>
        </p:nvGraphicFramePr>
        <p:xfrm>
          <a:off x="2483768" y="1700808"/>
          <a:ext cx="6264696" cy="1241280"/>
        </p:xfrm>
        <a:graphic>
          <a:graphicData uri="http://schemas.openxmlformats.org/drawingml/2006/table">
            <a:tbl>
              <a:tblPr/>
              <a:tblGrid>
                <a:gridCol w="78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2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98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关系运算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A≥B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A≤B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＜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①减法运算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，产生标志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(ZF/CF/OF/SF)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②逻辑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判断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无符号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有符号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3DF70881-0C84-43E4-BA80-98173E66993B}"/>
              </a:ext>
            </a:extLst>
          </p:cNvPr>
          <p:cNvGrpSpPr/>
          <p:nvPr/>
        </p:nvGrpSpPr>
        <p:grpSpPr>
          <a:xfrm>
            <a:off x="4314304" y="2370547"/>
            <a:ext cx="2628000" cy="220210"/>
            <a:chOff x="3211907" y="4530187"/>
            <a:chExt cx="2628000" cy="220210"/>
          </a:xfrm>
        </p:grpSpPr>
        <p:sp>
          <p:nvSpPr>
            <p:cNvPr id="9" name="Text Box 101">
              <a:extLst>
                <a:ext uri="{FF2B5EF4-FFF2-40B4-BE49-F238E27FC236}">
                  <a16:creationId xmlns:a16="http://schemas.microsoft.com/office/drawing/2014/main" id="{8B804385-F33B-4149-B8BF-8F3F345A2EED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11907" y="4534397"/>
              <a:ext cx="262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7780" tIns="0" rIns="17780" bIns="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CF     CF+ZF     </a:t>
              </a:r>
              <a:r>
                <a:rPr lang="en-US" altLang="zh-CN" sz="18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CF+ZF</a:t>
              </a:r>
              <a:endParaRPr lang="en-US" altLang="zh-CN" sz="18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47F00EF-8E7B-4356-AC2B-EB4FFB8DC7F6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3239690" y="4530187"/>
              <a:ext cx="21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D87B707-3442-471B-9618-B06427DA20A8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5200368" y="4530187"/>
              <a:ext cx="57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" name="Text Box 101">
            <a:extLst>
              <a:ext uri="{FF2B5EF4-FFF2-40B4-BE49-F238E27FC236}">
                <a16:creationId xmlns:a16="http://schemas.microsoft.com/office/drawing/2014/main" id="{2A1EC812-DC9D-49FD-AD1E-77121CA50DA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79873" y="2349416"/>
            <a:ext cx="122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7780" rIns="18000" bIns="0" anchor="t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CF     ZF</a:t>
            </a:r>
          </a:p>
          <a:p>
            <a:pPr>
              <a:lnSpc>
                <a:spcPct val="90000"/>
              </a:lnSpc>
            </a:pPr>
            <a:endParaRPr lang="en-US" altLang="zh-CN" sz="1800" b="1" baseline="-18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4B8D612-A6B1-4D63-B38B-C457483EBE59}"/>
              </a:ext>
            </a:extLst>
          </p:cNvPr>
          <p:cNvGrpSpPr/>
          <p:nvPr/>
        </p:nvGrpSpPr>
        <p:grpSpPr>
          <a:xfrm>
            <a:off x="4098280" y="2632637"/>
            <a:ext cx="2988000" cy="252000"/>
            <a:chOff x="3358693" y="5680449"/>
            <a:chExt cx="2988000" cy="316530"/>
          </a:xfrm>
        </p:grpSpPr>
        <p:sp>
          <p:nvSpPr>
            <p:cNvPr id="14" name="Text Box 101">
              <a:extLst>
                <a:ext uri="{FF2B5EF4-FFF2-40B4-BE49-F238E27FC236}">
                  <a16:creationId xmlns:a16="http://schemas.microsoft.com/office/drawing/2014/main" id="{94CB9152-53DA-4BA7-B74A-43BD03C48C88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358693" y="5680449"/>
              <a:ext cx="2988000" cy="31653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46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OF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SF</a:t>
              </a:r>
              <a:r>
                <a:rPr lang="en-US" altLang="zh-CN" sz="1400" b="1" spc="-1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OF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SF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+ZF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OF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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SF</a:t>
              </a:r>
              <a:r>
                <a: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  <a:cs typeface="Cambria Math" panose="02040503050406030204" pitchFamily="18" charset="0"/>
                  <a:sym typeface="+mn-ea"/>
                </a:rPr>
                <a:t>•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ZF</a:t>
              </a:r>
              <a:endParaRPr lang="en-US" altLang="zh-CN" sz="18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8E2212C6-2BE1-406B-9A7A-D2DDFE569A88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3389285" y="5749664"/>
              <a:ext cx="63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42B6934-541E-4E76-AA4A-9F4465DCE856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5349597" y="5746626"/>
              <a:ext cx="63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1A04A42-0071-4BB0-A493-B357DB4456E1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6075947" y="5742434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Text Box 101">
            <a:extLst>
              <a:ext uri="{FF2B5EF4-FFF2-40B4-BE49-F238E27FC236}">
                <a16:creationId xmlns:a16="http://schemas.microsoft.com/office/drawing/2014/main" id="{925302DA-B0FF-45C7-BF86-B3D6630A47E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338555" y="2643520"/>
            <a:ext cx="1440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OF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SF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ZF</a:t>
            </a:r>
            <a:endParaRPr lang="en-US" altLang="zh-CN" sz="1800" b="1" baseline="-180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AutoShape 62">
            <a:hlinkClick r:id="rId17" action="ppaction://hlinksldjump"/>
            <a:extLst>
              <a:ext uri="{FF2B5EF4-FFF2-40B4-BE49-F238E27FC236}">
                <a16:creationId xmlns:a16="http://schemas.microsoft.com/office/drawing/2014/main" id="{B9BA851A-6D5D-4582-92D3-1F2AC9EE8B9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36</a:t>
            </a:r>
          </a:p>
        </p:txBody>
      </p:sp>
      <p:sp>
        <p:nvSpPr>
          <p:cNvPr id="20" name="Text Box 101">
            <a:extLst>
              <a:ext uri="{FF2B5EF4-FFF2-40B4-BE49-F238E27FC236}">
                <a16:creationId xmlns:a16="http://schemas.microsoft.com/office/drawing/2014/main" id="{909FFE5D-99C5-4406-9477-ED6C71301F57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3528" y="1844824"/>
            <a:ext cx="1979969" cy="54000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990099"/>
                </a:solidFill>
              </a:rPr>
              <a:t>SF—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Signal Flag</a:t>
            </a:r>
            <a:r>
              <a:rPr lang="en-US" altLang="zh-CN" sz="1800" dirty="0">
                <a:solidFill>
                  <a:schemeClr val="tx1"/>
                </a:solidFill>
              </a:rPr>
              <a:t>,</a:t>
            </a:r>
          </a:p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结果＜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时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为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1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21" name="Text Box 200">
            <a:extLst>
              <a:ext uri="{FF2B5EF4-FFF2-40B4-BE49-F238E27FC236}">
                <a16:creationId xmlns:a16="http://schemas.microsoft.com/office/drawing/2014/main" id="{84B6075A-F80C-4878-9BB8-3C70C1403AFA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7504" y="2996952"/>
            <a:ext cx="2138987" cy="576064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如何判断有符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</a:rPr>
              <a:t> 号数的小于？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10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12" grpId="0" bldLvl="0" animBg="1"/>
      <p:bldP spid="18" grpId="0" bldLvl="0" animBg="1"/>
      <p:bldP spid="20" grpId="0" animBg="1"/>
      <p:bldP spid="21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D6489C-2CA1-469B-AC1D-D5D26F4F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47</a:t>
            </a:fld>
            <a:endParaRPr lang="en-US" altLang="zh-CN"/>
          </a:p>
        </p:txBody>
      </p:sp>
      <p:sp>
        <p:nvSpPr>
          <p:cNvPr id="3" name="Text Box 323">
            <a:extLst>
              <a:ext uri="{FF2B5EF4-FFF2-40B4-BE49-F238E27FC236}">
                <a16:creationId xmlns:a16="http://schemas.microsoft.com/office/drawing/2014/main" id="{99CA0143-AB61-4E7B-8C94-D3FF09AB1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4582014" cy="43045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cs typeface="宋体" panose="02010600030101010101" pitchFamily="2" charset="-122"/>
              </a:rPr>
              <a:t>※</a:t>
            </a:r>
            <a:r>
              <a:rPr lang="zh-CN" altLang="en-US" sz="2200" dirty="0">
                <a:solidFill>
                  <a:srgbClr val="FF3399"/>
                </a:solidFill>
              </a:rPr>
              <a:t>加减法器的常见功能</a:t>
            </a:r>
            <a:endParaRPr lang="en-US" altLang="zh-CN" sz="2200" dirty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①</a:t>
            </a:r>
            <a:r>
              <a:rPr lang="zh-CN" altLang="en-US" sz="2200" b="1" u="sng" dirty="0">
                <a:solidFill>
                  <a:srgbClr val="C00000"/>
                </a:solidFill>
                <a:latin typeface="+mn-ea"/>
                <a:ea typeface="+mn-ea"/>
              </a:rPr>
              <a:t>产生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结果标志：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②</a:t>
            </a:r>
            <a:r>
              <a:rPr lang="zh-CN" altLang="en-US" sz="2200" b="1" u="sng" dirty="0">
                <a:solidFill>
                  <a:srgbClr val="C00000"/>
                </a:solidFill>
                <a:latin typeface="+mn-ea"/>
                <a:ea typeface="+mn-ea"/>
              </a:rPr>
              <a:t>增加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级联功能：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 ③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常见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引脚组织：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7EED9287-FFF5-4926-AFC1-6E019E58000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99350" y="764704"/>
            <a:ext cx="6265580" cy="16126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产生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ZF/CF/OF/SF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支持关系运算实现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</a:rPr>
              <a:t>逻辑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</a:rPr>
              <a:t>—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ZF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(F</a:t>
            </a:r>
            <a:r>
              <a:rPr lang="en-US" altLang="zh-CN" sz="2000" b="1" baseline="-18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+…+F</a:t>
            </a:r>
            <a:r>
              <a:rPr lang="en-US" altLang="zh-CN" sz="2000" b="1" baseline="-18000" dirty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CF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b="1" dirty="0" err="1">
                <a:solidFill>
                  <a:schemeClr val="tx1"/>
                </a:solidFill>
                <a:latin typeface="+mn-ea"/>
              </a:rPr>
              <a:t>C</a:t>
            </a:r>
            <a:r>
              <a:rPr lang="en-US" altLang="zh-CN" sz="2000" b="1" baseline="-18000" dirty="0" err="1">
                <a:solidFill>
                  <a:schemeClr val="tx1"/>
                </a:solidFill>
                <a:latin typeface="+mn-ea"/>
              </a:rPr>
              <a:t>out</a:t>
            </a:r>
            <a:r>
              <a:rPr lang="en-US" altLang="zh-CN" sz="2000" b="1" dirty="0" err="1">
                <a:solidFill>
                  <a:schemeClr val="tx1"/>
                </a:solidFill>
                <a:latin typeface="+mn-ea"/>
              </a:rPr>
              <a:t>⊕op</a:t>
            </a:r>
            <a:r>
              <a:rPr lang="en-US" altLang="zh-CN" sz="2000" b="1" baseline="-26000" dirty="0" err="1">
                <a:solidFill>
                  <a:schemeClr val="tx1"/>
                </a:solidFill>
                <a:latin typeface="+mn-ea"/>
              </a:rPr>
              <a:t>SUB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，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       OF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C</a:t>
            </a:r>
            <a:r>
              <a:rPr lang="en-US" altLang="zh-CN" sz="2000" b="1" baseline="-18000" dirty="0">
                <a:solidFill>
                  <a:schemeClr val="tx1"/>
                </a:solidFill>
                <a:latin typeface="+mn-ea"/>
              </a:rPr>
              <a:t>out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⊕C</a:t>
            </a:r>
            <a:r>
              <a:rPr lang="en-US" altLang="zh-CN" sz="2000" b="1" baseline="-18000" dirty="0">
                <a:solidFill>
                  <a:schemeClr val="tx1"/>
                </a:solidFill>
                <a:latin typeface="+mn-ea"/>
              </a:rPr>
              <a:t>n-2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SF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b="1" baseline="-18000" dirty="0">
                <a:solidFill>
                  <a:schemeClr val="tx1"/>
                </a:solidFill>
                <a:latin typeface="+mn-ea"/>
              </a:rPr>
              <a:t>n-1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支持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+mn-ea"/>
                <a:ea typeface="+mn-ea"/>
              </a:rPr>
              <a:t>带进位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加法</a:t>
            </a:r>
            <a:r>
              <a:rPr lang="en-US" altLang="zh-CN" sz="2200" b="1" spc="-1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+mn-ea"/>
                <a:ea typeface="+mn-ea"/>
              </a:rPr>
              <a:t>带借位减法</a:t>
            </a:r>
            <a:r>
              <a:rPr lang="en-US" altLang="zh-CN" sz="1800" b="1" spc="-1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spc="-100" dirty="0">
                <a:solidFill>
                  <a:schemeClr val="tx1"/>
                </a:solidFill>
                <a:latin typeface="+mn-ea"/>
                <a:ea typeface="+mn-ea"/>
              </a:rPr>
              <a:t>需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增设引脚</a:t>
            </a:r>
            <a:r>
              <a:rPr lang="en-US" altLang="zh-CN" sz="1800" b="1" dirty="0" err="1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="1" baseline="-18000" dirty="0" err="1">
                <a:solidFill>
                  <a:schemeClr val="tx1"/>
                </a:solidFill>
                <a:latin typeface="+mn-ea"/>
                <a:ea typeface="+mn-ea"/>
              </a:rPr>
              <a:t>in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及</a:t>
            </a:r>
            <a:r>
              <a:rPr lang="en-US" altLang="zh-CN" sz="1800" b="1" dirty="0" err="1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="1" baseline="-18000" dirty="0" err="1">
                <a:solidFill>
                  <a:schemeClr val="tx1"/>
                </a:solidFill>
                <a:latin typeface="+mn-ea"/>
                <a:ea typeface="+mn-ea"/>
              </a:rPr>
              <a:t>out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" name="Text Box 200">
            <a:extLst>
              <a:ext uri="{FF2B5EF4-FFF2-40B4-BE49-F238E27FC236}">
                <a16:creationId xmlns:a16="http://schemas.microsoft.com/office/drawing/2014/main" id="{49EA98E9-A3AD-4099-90D4-E66A5099A34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92152" y="3357112"/>
            <a:ext cx="2662534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105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左</a:t>
            </a:r>
            <a:r>
              <a:rPr lang="zh-CN" sz="1800" dirty="0">
                <a:solidFill>
                  <a:schemeClr val="tx1"/>
                </a:solidFill>
                <a:latin typeface="+mn-ea"/>
                <a:ea typeface="+mn-ea"/>
              </a:rPr>
              <a:t>图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要实现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A+B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A-B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时，</a:t>
            </a:r>
            <a:r>
              <a:rPr lang="en-US" altLang="zh-CN" sz="1800" dirty="0" err="1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in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的取值？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339F0EF-C677-49FF-8339-0BEAB4063A08}"/>
              </a:ext>
            </a:extLst>
          </p:cNvPr>
          <p:cNvGrpSpPr/>
          <p:nvPr/>
        </p:nvGrpSpPr>
        <p:grpSpPr>
          <a:xfrm>
            <a:off x="683568" y="2421008"/>
            <a:ext cx="2736416" cy="1582256"/>
            <a:chOff x="827584" y="937920"/>
            <a:chExt cx="2736416" cy="1582256"/>
          </a:xfrm>
        </p:grpSpPr>
        <p:sp>
          <p:nvSpPr>
            <p:cNvPr id="7" name="Rectangle 183">
              <a:extLst>
                <a:ext uri="{FF2B5EF4-FFF2-40B4-BE49-F238E27FC236}">
                  <a16:creationId xmlns:a16="http://schemas.microsoft.com/office/drawing/2014/main" id="{3E96D2F9-6F1A-4E68-8FA8-DC2CBBBEC533}"/>
                </a:ext>
              </a:extLst>
            </p:cNvPr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330607" y="1152032"/>
              <a:ext cx="1728000" cy="1152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Text Box 184">
              <a:extLst>
                <a:ext uri="{FF2B5EF4-FFF2-40B4-BE49-F238E27FC236}">
                  <a16:creationId xmlns:a16="http://schemas.microsoft.com/office/drawing/2014/main" id="{E222A534-C55E-4258-B07C-2517BDC7789A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872000" y="1943647"/>
              <a:ext cx="1044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n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位加法器</a:t>
              </a:r>
            </a:p>
          </p:txBody>
        </p:sp>
        <p:sp>
          <p:nvSpPr>
            <p:cNvPr id="9" name="Line 189">
              <a:extLst>
                <a:ext uri="{FF2B5EF4-FFF2-40B4-BE49-F238E27FC236}">
                  <a16:creationId xmlns:a16="http://schemas.microsoft.com/office/drawing/2014/main" id="{D46064B7-ED80-4C31-A1FB-8AC250A9AD77}"/>
                </a:ext>
              </a:extLst>
            </p:cNvPr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H="1">
              <a:off x="2481238" y="2232176"/>
              <a:ext cx="1466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200">
              <a:extLst>
                <a:ext uri="{FF2B5EF4-FFF2-40B4-BE49-F238E27FC236}">
                  <a16:creationId xmlns:a16="http://schemas.microsoft.com/office/drawing/2014/main" id="{16DBA905-810E-4FE9-A033-C4EE6E56A1C0}"/>
                </a:ext>
              </a:extLst>
            </p:cNvPr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2122463" y="973920"/>
              <a:ext cx="0" cy="97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93">
              <a:extLst>
                <a:ext uri="{FF2B5EF4-FFF2-40B4-BE49-F238E27FC236}">
                  <a16:creationId xmlns:a16="http://schemas.microsoft.com/office/drawing/2014/main" id="{DEE8EEAF-0919-4717-B5CB-AE681A473EDC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402439" y="1224040"/>
              <a:ext cx="504000" cy="64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标志形成</a:t>
              </a:r>
            </a:p>
          </p:txBody>
        </p:sp>
        <p:sp>
          <p:nvSpPr>
            <p:cNvPr id="12" name="Text Box 194">
              <a:extLst>
                <a:ext uri="{FF2B5EF4-FFF2-40B4-BE49-F238E27FC236}">
                  <a16:creationId xmlns:a16="http://schemas.microsoft.com/office/drawing/2014/main" id="{D13ED9F1-88E9-41DA-9D6C-DC5264732FA5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70415" y="1222488"/>
              <a:ext cx="216000" cy="64800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ZF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CF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OF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SF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96">
              <a:extLst>
                <a:ext uri="{FF2B5EF4-FFF2-40B4-BE49-F238E27FC236}">
                  <a16:creationId xmlns:a16="http://schemas.microsoft.com/office/drawing/2014/main" id="{EE94DDD8-AB85-434C-996E-031E8741F952}"/>
                </a:ext>
              </a:extLst>
            </p:cNvPr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 flipH="1">
              <a:off x="1186447" y="1296048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213">
              <a:extLst>
                <a:ext uri="{FF2B5EF4-FFF2-40B4-BE49-F238E27FC236}">
                  <a16:creationId xmlns:a16="http://schemas.microsoft.com/office/drawing/2014/main" id="{87580FAB-0B74-45CC-9099-3FEFEDDECD70}"/>
                </a:ext>
              </a:extLst>
            </p:cNvPr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484000" y="2302320"/>
              <a:ext cx="1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5" name="Text Box 213">
              <a:extLst>
                <a:ext uri="{FF2B5EF4-FFF2-40B4-BE49-F238E27FC236}">
                  <a16:creationId xmlns:a16="http://schemas.microsoft.com/office/drawing/2014/main" id="{0CD7AF64-DC44-4FBC-8D3A-0769C01D1850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2124000" y="937920"/>
              <a:ext cx="1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6" name="Line 191">
              <a:extLst>
                <a:ext uri="{FF2B5EF4-FFF2-40B4-BE49-F238E27FC236}">
                  <a16:creationId xmlns:a16="http://schemas.microsoft.com/office/drawing/2014/main" id="{2092B842-6E47-41E3-A54A-C9811597AE2D}"/>
                </a:ext>
              </a:extLst>
            </p:cNvPr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H="1">
              <a:off x="1186439" y="2088136"/>
              <a:ext cx="68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96">
              <a:extLst>
                <a:ext uri="{FF2B5EF4-FFF2-40B4-BE49-F238E27FC236}">
                  <a16:creationId xmlns:a16="http://schemas.microsoft.com/office/drawing/2014/main" id="{A1E46259-44EC-431E-9B85-D6280B8839A4}"/>
                </a:ext>
              </a:extLst>
            </p:cNvPr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H="1">
              <a:off x="1186415" y="1455304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96">
              <a:extLst>
                <a:ext uri="{FF2B5EF4-FFF2-40B4-BE49-F238E27FC236}">
                  <a16:creationId xmlns:a16="http://schemas.microsoft.com/office/drawing/2014/main" id="{4589A71D-31A2-4E8B-BE58-0EC4335D3E2D}"/>
                </a:ext>
              </a:extLst>
            </p:cNvPr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flipH="1">
              <a:off x="1186447" y="1614560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6">
              <a:extLst>
                <a:ext uri="{FF2B5EF4-FFF2-40B4-BE49-F238E27FC236}">
                  <a16:creationId xmlns:a16="http://schemas.microsoft.com/office/drawing/2014/main" id="{9044B337-E761-4EB4-B926-29CA31A65476}"/>
                </a:ext>
              </a:extLst>
            </p:cNvPr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H="1">
              <a:off x="1186415" y="1800104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98">
              <a:extLst>
                <a:ext uri="{FF2B5EF4-FFF2-40B4-BE49-F238E27FC236}">
                  <a16:creationId xmlns:a16="http://schemas.microsoft.com/office/drawing/2014/main" id="{FAA648AB-7CD2-4296-AF98-B31E1E697FA3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827584" y="1942488"/>
              <a:ext cx="35877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" name="Line 186">
              <a:extLst>
                <a:ext uri="{FF2B5EF4-FFF2-40B4-BE49-F238E27FC236}">
                  <a16:creationId xmlns:a16="http://schemas.microsoft.com/office/drawing/2014/main" id="{5C73EB12-2C11-4A44-A576-3678761C4E14}"/>
                </a:ext>
              </a:extLst>
            </p:cNvPr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>
              <a:off x="2628032" y="180014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1">
              <a:extLst>
                <a:ext uri="{FF2B5EF4-FFF2-40B4-BE49-F238E27FC236}">
                  <a16:creationId xmlns:a16="http://schemas.microsoft.com/office/drawing/2014/main" id="{8C8009BD-9522-44B6-B107-96CB34A348C6}"/>
                </a:ext>
              </a:extLst>
            </p:cNvPr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H="1">
              <a:off x="2916000" y="2088136"/>
              <a:ext cx="25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198">
              <a:extLst>
                <a:ext uri="{FF2B5EF4-FFF2-40B4-BE49-F238E27FC236}">
                  <a16:creationId xmlns:a16="http://schemas.microsoft.com/office/drawing/2014/main" id="{D9F343A0-956D-4585-99EA-F6A4B170C089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204000" y="1942488"/>
              <a:ext cx="358775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4" name="Line 201">
              <a:extLst>
                <a:ext uri="{FF2B5EF4-FFF2-40B4-BE49-F238E27FC236}">
                  <a16:creationId xmlns:a16="http://schemas.microsoft.com/office/drawing/2014/main" id="{BA6E89C7-F27A-4406-9225-9EBDF372B6E2}"/>
                </a:ext>
              </a:extLst>
            </p:cNvPr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flipH="1">
              <a:off x="3060000" y="1728096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13">
              <a:extLst>
                <a:ext uri="{FF2B5EF4-FFF2-40B4-BE49-F238E27FC236}">
                  <a16:creationId xmlns:a16="http://schemas.microsoft.com/office/drawing/2014/main" id="{8D2A8ABD-3EC0-47A9-AD81-7D78679C4AFF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240000" y="1582488"/>
              <a:ext cx="32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FF3399"/>
                  </a:solidFill>
                </a:rPr>
                <a:t>op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6" name="Text Box 213">
              <a:extLst>
                <a:ext uri="{FF2B5EF4-FFF2-40B4-BE49-F238E27FC236}">
                  <a16:creationId xmlns:a16="http://schemas.microsoft.com/office/drawing/2014/main" id="{EEFCC170-DCC5-4661-9C08-F37573E380D3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2484000" y="937920"/>
              <a:ext cx="1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7" name="流程图: 手动操作 26">
              <a:extLst>
                <a:ext uri="{FF2B5EF4-FFF2-40B4-BE49-F238E27FC236}">
                  <a16:creationId xmlns:a16="http://schemas.microsoft.com/office/drawing/2014/main" id="{235EFDC7-68CE-4B6A-9512-006541F8A48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2340000" y="1656104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Line 199">
              <a:extLst>
                <a:ext uri="{FF2B5EF4-FFF2-40B4-BE49-F238E27FC236}">
                  <a16:creationId xmlns:a16="http://schemas.microsoft.com/office/drawing/2014/main" id="{03F1ACBB-33EC-4A51-9509-B1C9D7903A91}"/>
                </a:ext>
              </a:extLst>
            </p:cNvPr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>
              <a:off x="2484017" y="973920"/>
              <a:ext cx="0" cy="68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434">
              <a:extLst>
                <a:ext uri="{FF2B5EF4-FFF2-40B4-BE49-F238E27FC236}">
                  <a16:creationId xmlns:a16="http://schemas.microsoft.com/office/drawing/2014/main" id="{1E62CFC1-1BB1-4A59-9ED9-D7C16CAC0577}"/>
                </a:ext>
              </a:extLst>
            </p:cNvPr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2700057" y="1296048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CF7F66FB-C9F1-47E4-8A8B-6F62A9AC3551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 bwMode="auto">
            <a:xfrm>
              <a:off x="2735974" y="1450277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Line 199">
              <a:extLst>
                <a:ext uri="{FF2B5EF4-FFF2-40B4-BE49-F238E27FC236}">
                  <a16:creationId xmlns:a16="http://schemas.microsoft.com/office/drawing/2014/main" id="{38293673-6597-4FD8-828E-164503B22362}"/>
                </a:ext>
              </a:extLst>
            </p:cNvPr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>
              <a:off x="2772065" y="1512072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420">
              <a:extLst>
                <a:ext uri="{FF2B5EF4-FFF2-40B4-BE49-F238E27FC236}">
                  <a16:creationId xmlns:a16="http://schemas.microsoft.com/office/drawing/2014/main" id="{F9FEDB15-021E-4C2E-92AC-D95FD5C0AD63}"/>
                </a:ext>
              </a:extLst>
            </p:cNvPr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flipV="1">
              <a:off x="2484016" y="1223374"/>
              <a:ext cx="2879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430">
              <a:extLst>
                <a:ext uri="{FF2B5EF4-FFF2-40B4-BE49-F238E27FC236}">
                  <a16:creationId xmlns:a16="http://schemas.microsoft.com/office/drawing/2014/main" id="{C37C76F0-863F-4B14-81AA-8E865BB7987B}"/>
                </a:ext>
              </a:extLst>
            </p:cNvPr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flipH="1" flipV="1">
              <a:off x="2844056" y="1728096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34" name="Line 199">
              <a:extLst>
                <a:ext uri="{FF2B5EF4-FFF2-40B4-BE49-F238E27FC236}">
                  <a16:creationId xmlns:a16="http://schemas.microsoft.com/office/drawing/2014/main" id="{AD723CBB-26D7-4EB8-80FA-33BFD00C9860}"/>
                </a:ext>
              </a:extLst>
            </p:cNvPr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flipH="1">
              <a:off x="2772049" y="1223375"/>
              <a:ext cx="232" cy="6467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" name="Text Box 176">
            <a:extLst>
              <a:ext uri="{FF2B5EF4-FFF2-40B4-BE49-F238E27FC236}">
                <a16:creationId xmlns:a16="http://schemas.microsoft.com/office/drawing/2014/main" id="{488C34CA-EB1B-43B8-983B-1A2720996FB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92176" y="2493016"/>
            <a:ext cx="2664000" cy="720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>
              <a:lnSpc>
                <a:spcPct val="95000"/>
              </a:lnSpc>
            </a:pPr>
            <a:r>
              <a:rPr lang="zh-CN" altLang="en-US" sz="1600" dirty="0">
                <a:solidFill>
                  <a:srgbClr val="990099"/>
                </a:solidFill>
                <a:sym typeface="Symbol" panose="05050102010706020507"/>
              </a:rPr>
              <a:t>例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  1122H    11H      22H</a:t>
            </a:r>
          </a:p>
          <a:p>
            <a:pPr>
              <a:lnSpc>
                <a:spcPct val="95000"/>
              </a:lnSpc>
            </a:pP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  ±3344H</a:t>
            </a:r>
            <a:r>
              <a:rPr lang="zh-CN" altLang="en-US" sz="1600" dirty="0">
                <a:solidFill>
                  <a:srgbClr val="FF3399"/>
                </a:solidFill>
                <a:sym typeface="Symbol" panose="05050102010706020507"/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±33H </a:t>
            </a:r>
            <a:r>
              <a:rPr lang="zh-CN" altLang="en-US" sz="1600" dirty="0">
                <a:solidFill>
                  <a:srgbClr val="FF3399"/>
                </a:solidFill>
                <a:highlight>
                  <a:srgbClr val="FFFF00"/>
                </a:highlight>
                <a:sym typeface="Symbol" panose="05050102010706020507"/>
              </a:rPr>
              <a:t>及</a:t>
            </a:r>
            <a:r>
              <a:rPr lang="zh-CN" altLang="en-US" sz="1600" dirty="0">
                <a:solidFill>
                  <a:srgbClr val="FF3399"/>
                </a:solidFill>
                <a:sym typeface="Symbol" panose="05050102010706020507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±44H</a:t>
            </a:r>
          </a:p>
          <a:p>
            <a:pPr>
              <a:lnSpc>
                <a:spcPct val="95000"/>
              </a:lnSpc>
            </a:pP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           </a:t>
            </a:r>
            <a:r>
              <a:rPr lang="zh-CN" altLang="en-US" sz="1600" dirty="0">
                <a:solidFill>
                  <a:schemeClr val="tx1"/>
                </a:solidFill>
                <a:sym typeface="Symbol" panose="05050102010706020507"/>
              </a:rPr>
              <a:t>＋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f(</a:t>
            </a:r>
            <a:r>
              <a:rPr lang="en-US" altLang="zh-CN" sz="1600" dirty="0" err="1">
                <a:solidFill>
                  <a:schemeClr val="tx1"/>
                </a:solidFill>
                <a:sym typeface="Symbol" panose="05050102010706020507"/>
              </a:rPr>
              <a:t>C</a:t>
            </a:r>
            <a:r>
              <a:rPr lang="en-US" altLang="zh-CN" sz="1600" baseline="-18000" dirty="0" err="1">
                <a:solidFill>
                  <a:schemeClr val="tx1"/>
                </a:solidFill>
                <a:sym typeface="Symbol" panose="05050102010706020507"/>
              </a:rPr>
              <a:t>out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)</a:t>
            </a:r>
          </a:p>
        </p:txBody>
      </p:sp>
      <p:sp>
        <p:nvSpPr>
          <p:cNvPr id="36" name="Text Box 200">
            <a:extLst>
              <a:ext uri="{FF2B5EF4-FFF2-40B4-BE49-F238E27FC236}">
                <a16:creationId xmlns:a16="http://schemas.microsoft.com/office/drawing/2014/main" id="{5C6A8B40-EC4C-4B13-ADBB-056E1870543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300192" y="2493016"/>
            <a:ext cx="2304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69875" indent="-269875">
              <a:lnSpc>
                <a:spcPct val="105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sz="1800" dirty="0">
                <a:solidFill>
                  <a:schemeClr val="tx1"/>
                </a:solidFill>
                <a:latin typeface="+mn-ea"/>
                <a:ea typeface="+mn-ea"/>
              </a:rPr>
              <a:t>左图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加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减运算功能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1E63E0E-F61B-4485-9E42-62AAC099F873}"/>
              </a:ext>
            </a:extLst>
          </p:cNvPr>
          <p:cNvGrpSpPr/>
          <p:nvPr/>
        </p:nvGrpSpPr>
        <p:grpSpPr>
          <a:xfrm>
            <a:off x="683568" y="4581128"/>
            <a:ext cx="2736416" cy="1584224"/>
            <a:chOff x="827584" y="935952"/>
            <a:chExt cx="2736416" cy="1584224"/>
          </a:xfrm>
        </p:grpSpPr>
        <p:sp>
          <p:nvSpPr>
            <p:cNvPr id="43" name="Rectangle 183">
              <a:extLst>
                <a:ext uri="{FF2B5EF4-FFF2-40B4-BE49-F238E27FC236}">
                  <a16:creationId xmlns:a16="http://schemas.microsoft.com/office/drawing/2014/main" id="{B01959DE-8116-4E52-A5A4-C656F88789C3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330607" y="1152032"/>
              <a:ext cx="1728000" cy="1152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44" name="Text Box 184">
              <a:extLst>
                <a:ext uri="{FF2B5EF4-FFF2-40B4-BE49-F238E27FC236}">
                  <a16:creationId xmlns:a16="http://schemas.microsoft.com/office/drawing/2014/main" id="{4BFD0BDB-6623-4D4C-80A5-B3D49FB1FDEB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872000" y="1943647"/>
              <a:ext cx="1044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n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位加法器</a:t>
              </a:r>
            </a:p>
          </p:txBody>
        </p:sp>
        <p:sp>
          <p:nvSpPr>
            <p:cNvPr id="45" name="Line 189">
              <a:extLst>
                <a:ext uri="{FF2B5EF4-FFF2-40B4-BE49-F238E27FC236}">
                  <a16:creationId xmlns:a16="http://schemas.microsoft.com/office/drawing/2014/main" id="{6FCB5A84-EA80-4A98-AA1E-3AD0475E47F3}"/>
                </a:ext>
              </a:extLst>
            </p:cNvPr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2481238" y="2232176"/>
              <a:ext cx="1466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00">
              <a:extLst>
                <a:ext uri="{FF2B5EF4-FFF2-40B4-BE49-F238E27FC236}">
                  <a16:creationId xmlns:a16="http://schemas.microsoft.com/office/drawing/2014/main" id="{CBB6E8C1-38B5-427E-B09A-AA74ABB5EFDB}"/>
                </a:ext>
              </a:extLst>
            </p:cNvPr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122463" y="971952"/>
              <a:ext cx="0" cy="97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193">
              <a:extLst>
                <a:ext uri="{FF2B5EF4-FFF2-40B4-BE49-F238E27FC236}">
                  <a16:creationId xmlns:a16="http://schemas.microsoft.com/office/drawing/2014/main" id="{FDBEFF1B-5650-4DDC-AEF3-C37C5669E27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402439" y="1224040"/>
              <a:ext cx="504000" cy="64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标志形成</a:t>
              </a:r>
            </a:p>
          </p:txBody>
        </p:sp>
        <p:sp>
          <p:nvSpPr>
            <p:cNvPr id="48" name="Text Box 194">
              <a:extLst>
                <a:ext uri="{FF2B5EF4-FFF2-40B4-BE49-F238E27FC236}">
                  <a16:creationId xmlns:a16="http://schemas.microsoft.com/office/drawing/2014/main" id="{A8843B96-C31C-4FBA-8801-F6FAEA10ABD5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70415" y="1222488"/>
              <a:ext cx="216000" cy="64800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OF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 Box 213">
              <a:extLst>
                <a:ext uri="{FF2B5EF4-FFF2-40B4-BE49-F238E27FC236}">
                  <a16:creationId xmlns:a16="http://schemas.microsoft.com/office/drawing/2014/main" id="{D41602F2-DC82-488D-8B4F-2B5742B3D49A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520000" y="2303952"/>
              <a:ext cx="1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0" name="Text Box 213">
              <a:extLst>
                <a:ext uri="{FF2B5EF4-FFF2-40B4-BE49-F238E27FC236}">
                  <a16:creationId xmlns:a16="http://schemas.microsoft.com/office/drawing/2014/main" id="{7FE82B76-F754-416A-9FB3-ECBE63C4304D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124000" y="935952"/>
              <a:ext cx="1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1" name="Line 191">
              <a:extLst>
                <a:ext uri="{FF2B5EF4-FFF2-40B4-BE49-F238E27FC236}">
                  <a16:creationId xmlns:a16="http://schemas.microsoft.com/office/drawing/2014/main" id="{62E21EA4-E6DB-4C5F-995E-D222DD1289C8}"/>
                </a:ext>
              </a:extLst>
            </p:cNvPr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1186439" y="2088136"/>
              <a:ext cx="68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96">
              <a:extLst>
                <a:ext uri="{FF2B5EF4-FFF2-40B4-BE49-F238E27FC236}">
                  <a16:creationId xmlns:a16="http://schemas.microsoft.com/office/drawing/2014/main" id="{DA0A91D2-BB21-41A6-85BF-9F60C1FA6AD9}"/>
                </a:ext>
              </a:extLst>
            </p:cNvPr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186447" y="1614560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198">
              <a:extLst>
                <a:ext uri="{FF2B5EF4-FFF2-40B4-BE49-F238E27FC236}">
                  <a16:creationId xmlns:a16="http://schemas.microsoft.com/office/drawing/2014/main" id="{D03FCF46-4384-4119-BE3A-09E79E224837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27584" y="1942488"/>
              <a:ext cx="35877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186">
              <a:extLst>
                <a:ext uri="{FF2B5EF4-FFF2-40B4-BE49-F238E27FC236}">
                  <a16:creationId xmlns:a16="http://schemas.microsoft.com/office/drawing/2014/main" id="{53BAA159-2692-44D4-A97F-59773F8D76F5}"/>
                </a:ext>
              </a:extLst>
            </p:cNvPr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2628032" y="180014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91">
              <a:extLst>
                <a:ext uri="{FF2B5EF4-FFF2-40B4-BE49-F238E27FC236}">
                  <a16:creationId xmlns:a16="http://schemas.microsoft.com/office/drawing/2014/main" id="{CE9463EE-0500-4CAB-BF78-665421BB776A}"/>
                </a:ext>
              </a:extLst>
            </p:cNvPr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2916000" y="2088136"/>
              <a:ext cx="25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198">
              <a:extLst>
                <a:ext uri="{FF2B5EF4-FFF2-40B4-BE49-F238E27FC236}">
                  <a16:creationId xmlns:a16="http://schemas.microsoft.com/office/drawing/2014/main" id="{9B51F713-9748-4E3D-BFEF-BE7628C8996E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204000" y="1942488"/>
              <a:ext cx="358775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7" name="Line 201">
              <a:extLst>
                <a:ext uri="{FF2B5EF4-FFF2-40B4-BE49-F238E27FC236}">
                  <a16:creationId xmlns:a16="http://schemas.microsoft.com/office/drawing/2014/main" id="{82EA3B51-8E3F-4570-BC1E-632008EAAFFE}"/>
                </a:ext>
              </a:extLst>
            </p:cNvPr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3060000" y="1728096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213">
              <a:extLst>
                <a:ext uri="{FF2B5EF4-FFF2-40B4-BE49-F238E27FC236}">
                  <a16:creationId xmlns:a16="http://schemas.microsoft.com/office/drawing/2014/main" id="{5715ABB0-F3DD-41D7-8DA1-A2DC129A0082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40000" y="1582488"/>
              <a:ext cx="32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rgbClr val="FF3399"/>
                  </a:solidFill>
                </a:rPr>
                <a:t>op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59" name="Text Box 213">
              <a:extLst>
                <a:ext uri="{FF2B5EF4-FFF2-40B4-BE49-F238E27FC236}">
                  <a16:creationId xmlns:a16="http://schemas.microsoft.com/office/drawing/2014/main" id="{16C622F1-C6F0-4F13-820A-413211BA4493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484000" y="935952"/>
              <a:ext cx="1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60" name="流程图: 手动操作 59">
              <a:extLst>
                <a:ext uri="{FF2B5EF4-FFF2-40B4-BE49-F238E27FC236}">
                  <a16:creationId xmlns:a16="http://schemas.microsoft.com/office/drawing/2014/main" id="{D1A98839-CE50-40B5-807F-B392BD7B34A5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2340000" y="1656104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" name="Line 199">
              <a:extLst>
                <a:ext uri="{FF2B5EF4-FFF2-40B4-BE49-F238E27FC236}">
                  <a16:creationId xmlns:a16="http://schemas.microsoft.com/office/drawing/2014/main" id="{00666B2E-4CD4-4E56-A0D0-1FC240B9639B}"/>
                </a:ext>
              </a:extLst>
            </p:cNvPr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2484017" y="971952"/>
              <a:ext cx="0" cy="68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434">
              <a:extLst>
                <a:ext uri="{FF2B5EF4-FFF2-40B4-BE49-F238E27FC236}">
                  <a16:creationId xmlns:a16="http://schemas.microsoft.com/office/drawing/2014/main" id="{19DF7B3B-C795-4F8D-AC1E-8F0E215DD43F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700057" y="1296048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232A7DDF-CEF1-4144-A20D-44EC0E1DCE2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auto">
            <a:xfrm>
              <a:off x="2735974" y="1450277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Line 199">
              <a:extLst>
                <a:ext uri="{FF2B5EF4-FFF2-40B4-BE49-F238E27FC236}">
                  <a16:creationId xmlns:a16="http://schemas.microsoft.com/office/drawing/2014/main" id="{4FFDD62D-5BCF-4160-A3FB-113703634B44}"/>
                </a:ext>
              </a:extLst>
            </p:cNvPr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772065" y="1512072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420">
              <a:extLst>
                <a:ext uri="{FF2B5EF4-FFF2-40B4-BE49-F238E27FC236}">
                  <a16:creationId xmlns:a16="http://schemas.microsoft.com/office/drawing/2014/main" id="{48C2EFDC-1081-4D71-AF24-D75A2F1DBA20}"/>
                </a:ext>
              </a:extLst>
            </p:cNvPr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V="1">
              <a:off x="2484016" y="1223374"/>
              <a:ext cx="2879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430">
              <a:extLst>
                <a:ext uri="{FF2B5EF4-FFF2-40B4-BE49-F238E27FC236}">
                  <a16:creationId xmlns:a16="http://schemas.microsoft.com/office/drawing/2014/main" id="{08E3571C-E664-4506-8E37-17F2032F549E}"/>
                </a:ext>
              </a:extLst>
            </p:cNvPr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H="1" flipV="1">
              <a:off x="2844056" y="1728096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67" name="Line 199">
              <a:extLst>
                <a:ext uri="{FF2B5EF4-FFF2-40B4-BE49-F238E27FC236}">
                  <a16:creationId xmlns:a16="http://schemas.microsoft.com/office/drawing/2014/main" id="{869D76F2-5CC1-4DB6-8419-B563712F3BAC}"/>
                </a:ext>
              </a:extLst>
            </p:cNvPr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H="1">
              <a:off x="2772049" y="1223375"/>
              <a:ext cx="232" cy="6467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" name="Text Box 323">
            <a:extLst>
              <a:ext uri="{FF2B5EF4-FFF2-40B4-BE49-F238E27FC236}">
                <a16:creationId xmlns:a16="http://schemas.microsoft.com/office/drawing/2014/main" id="{7398130B-6C1F-45B8-A786-9E04A871726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699792" y="4149168"/>
            <a:ext cx="6192224" cy="11775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常</a:t>
            </a:r>
            <a:r>
              <a:rPr lang="zh-CN" altLang="en-US" sz="2200" u="sng" dirty="0">
                <a:solidFill>
                  <a:srgbClr val="990099"/>
                </a:solidFill>
                <a:latin typeface="+mn-ea"/>
              </a:rPr>
              <a:t>缺省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ZF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内部无法优化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CF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已有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C</a:t>
            </a:r>
            <a:r>
              <a:rPr lang="en-US" altLang="zh-CN" sz="1600" baseline="-18000" dirty="0" err="1">
                <a:solidFill>
                  <a:schemeClr val="tx1"/>
                </a:solidFill>
                <a:latin typeface="+mn-ea"/>
              </a:rPr>
              <a:t>out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SF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与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1600" baseline="-18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重复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   └←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可减少引脚、有需求时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外部产生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内部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外部逻辑相同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)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  功能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2499FA85-688C-48D5-8551-2CE8B6090BE7}"/>
              </a:ext>
            </a:extLst>
          </p:cNvPr>
          <p:cNvGrpSpPr/>
          <p:nvPr/>
        </p:nvGrpSpPr>
        <p:grpSpPr>
          <a:xfrm>
            <a:off x="6300192" y="3141088"/>
            <a:ext cx="2772000" cy="1080000"/>
            <a:chOff x="5004048" y="2492856"/>
            <a:chExt cx="2772000" cy="1080000"/>
          </a:xfrm>
        </p:grpSpPr>
        <p:sp>
          <p:nvSpPr>
            <p:cNvPr id="70" name="Text Box 1015">
              <a:extLst>
                <a:ext uri="{FF2B5EF4-FFF2-40B4-BE49-F238E27FC236}">
                  <a16:creationId xmlns:a16="http://schemas.microsoft.com/office/drawing/2014/main" id="{BCCCC332-DBEC-4BF9-A449-0CC247FDA76A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004048" y="2492856"/>
              <a:ext cx="2772000" cy="10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t" anchorCtr="0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加法为</a:t>
              </a: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＋</a:t>
              </a: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＋</a:t>
              </a:r>
              <a:r>
                <a:rPr lang="en-US" altLang="zh-CN" sz="1800" b="1" dirty="0" err="1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800" b="1" baseline="-18000" dirty="0" err="1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endParaRPr lang="en-US" altLang="zh-CN" sz="18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减法为</a:t>
              </a: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－</a:t>
              </a: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－</a:t>
              </a:r>
              <a:r>
                <a:rPr lang="en-US" altLang="zh-CN" sz="1800" b="1" dirty="0" err="1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800" b="1" baseline="-18000" dirty="0" err="1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10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∵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="1" baseline="-18000" dirty="0" err="1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highlight>
                    <a:srgbClr val="CC99FF"/>
                  </a:highlight>
                  <a:latin typeface="+mn-ea"/>
                  <a:ea typeface="+mn-ea"/>
                </a:rPr>
                <a:t>1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时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A+B+1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A-B</a:t>
              </a:r>
              <a:r>
                <a:rPr lang="en-US" altLang="zh-CN" sz="1600" b="1" dirty="0">
                  <a:solidFill>
                    <a:schemeClr val="tx1"/>
                  </a:solidFill>
                  <a:highlight>
                    <a:srgbClr val="FFCCFF"/>
                  </a:highlight>
                  <a:latin typeface="+mn-ea"/>
                  <a:ea typeface="+mn-ea"/>
                </a:rPr>
                <a:t>-0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   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="1" baseline="-18000" dirty="0" err="1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highlight>
                    <a:srgbClr val="CC99FF"/>
                  </a:highlight>
                  <a:latin typeface="+mn-ea"/>
                  <a:ea typeface="+mn-ea"/>
                </a:rPr>
                <a:t>0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时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A+B</a:t>
              </a:r>
              <a:r>
                <a:rPr lang="en-US" altLang="zh-CN" sz="1600" b="1" dirty="0">
                  <a:latin typeface="+mn-ea"/>
                  <a:ea typeface="+mn-ea"/>
                </a:rPr>
                <a:t>  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A-B</a:t>
              </a:r>
              <a:r>
                <a:rPr lang="en-US" altLang="zh-CN" sz="1600" b="1" dirty="0">
                  <a:solidFill>
                    <a:schemeClr val="tx1"/>
                  </a:solidFill>
                  <a:highlight>
                    <a:srgbClr val="FFCCFF"/>
                  </a:highlight>
                  <a:latin typeface="+mn-ea"/>
                  <a:ea typeface="+mn-ea"/>
                </a:rPr>
                <a:t>-1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84D7ABB6-6A18-4152-9FC6-60FC8F30B7EE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6750128" y="2826008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D3119DA-0691-411F-919D-69BB1F2129D6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6699472" y="3337096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563DEE9-E5F6-4B8B-8530-F41101C5093F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6699472" y="3095880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CCDE5A14-3297-47E4-96F2-A5BD332AFEB3}"/>
              </a:ext>
            </a:extLst>
          </p:cNvPr>
          <p:cNvGrpSpPr/>
          <p:nvPr/>
        </p:nvGrpSpPr>
        <p:grpSpPr>
          <a:xfrm>
            <a:off x="4500416" y="4869248"/>
            <a:ext cx="3816000" cy="792000"/>
            <a:chOff x="3835465" y="6131023"/>
            <a:chExt cx="3816000" cy="792000"/>
          </a:xfrm>
        </p:grpSpPr>
        <p:sp>
          <p:nvSpPr>
            <p:cNvPr id="75" name="Text Box 323">
              <a:extLst>
                <a:ext uri="{FF2B5EF4-FFF2-40B4-BE49-F238E27FC236}">
                  <a16:creationId xmlns:a16="http://schemas.microsoft.com/office/drawing/2014/main" id="{D3ED793B-2759-486D-A9AD-5AF197566408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835465" y="6131023"/>
              <a:ext cx="3816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＋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/>
                </a:rPr>
                <a:t>＋</a:t>
              </a:r>
              <a:r>
                <a:rPr lang="en-US" altLang="zh-CN" sz="2000" b="1" dirty="0" err="1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2000" b="1" baseline="-18000" dirty="0" err="1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 或 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－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－</a:t>
              </a:r>
              <a:r>
                <a:rPr lang="en-US" altLang="zh-CN" sz="2000" b="1" dirty="0" err="1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2000" b="1" baseline="-18000" dirty="0" err="1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，</a:t>
              </a:r>
              <a:endParaRPr lang="en-US" altLang="zh-CN" sz="20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产生进位</a:t>
              </a:r>
              <a:r>
                <a:rPr lang="en-US" altLang="zh-CN" sz="2000" b="1" dirty="0" err="1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2000" b="1" baseline="-18000" dirty="0" err="1">
                  <a:solidFill>
                    <a:schemeClr val="tx1"/>
                  </a:solidFill>
                  <a:latin typeface="+mn-ea"/>
                  <a:ea typeface="+mn-ea"/>
                </a:rPr>
                <a:t>out</a:t>
              </a:r>
              <a:r>
                <a:rPr lang="zh-CN" altLang="en-US" sz="2000" b="1" dirty="0">
                  <a:solidFill>
                    <a:schemeClr val="tx1"/>
                  </a:solidFill>
                  <a:latin typeface="+mn-ea"/>
                  <a:ea typeface="+mn-ea"/>
                </a:rPr>
                <a:t>、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溢出</a:t>
              </a:r>
              <a:r>
                <a:rPr lang="en-US" altLang="zh-CN" sz="2000" b="1" dirty="0">
                  <a:solidFill>
                    <a:schemeClr val="tx1"/>
                  </a:solidFill>
                  <a:latin typeface="+mn-ea"/>
                  <a:ea typeface="+mn-ea"/>
                </a:rPr>
                <a:t>OF</a:t>
              </a: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24EF8FB2-20D2-4C04-9571-E778C202371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7045370" y="6244780"/>
              <a:ext cx="32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7" name="AutoShape 41">
            <a:hlinkClick r:id="rId67" action="ppaction://hlinksldjump" highlightClick="1"/>
            <a:extLst>
              <a:ext uri="{FF2B5EF4-FFF2-40B4-BE49-F238E27FC236}">
                <a16:creationId xmlns:a16="http://schemas.microsoft.com/office/drawing/2014/main" id="{595BAD90-8C23-4C45-90FF-6B95E69EEDC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7824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AutoShape 41">
            <a:hlinkClick r:id="rId68" action="ppaction://hlinksldjump" highlightClick="1"/>
            <a:extLst>
              <a:ext uri="{FF2B5EF4-FFF2-40B4-BE49-F238E27FC236}">
                <a16:creationId xmlns:a16="http://schemas.microsoft.com/office/drawing/2014/main" id="{3AC572CA-A120-4B3E-B21C-7C75109F201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45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35" grpId="0" animBg="1"/>
      <p:bldP spid="36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90"/>
          <p:cNvSpPr txBox="1">
            <a:spLocks noChangeArrowheads="1"/>
          </p:cNvSpPr>
          <p:nvPr/>
        </p:nvSpPr>
        <p:spPr bwMode="auto">
          <a:xfrm>
            <a:off x="179512" y="1268760"/>
            <a:ext cx="8785102" cy="3958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运算方法：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设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[A]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…a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[B]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…b</a:t>
            </a:r>
            <a:r>
              <a:rPr lang="en-US" altLang="zh-CN" sz="2200" baseline="-16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0/1(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加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减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0" indent="0" eaLnBrk="1" latinLnBrk="0" hangingPunct="1"/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    ⑴判求和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求差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op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eaLnBrk="1" latinLnBrk="0" hangingPunct="1"/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    ⑵求和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/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求差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spcBef>
                <a:spcPts val="700"/>
              </a:spcBef>
            </a:pPr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*逻辑实现：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zh-CN" sz="22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*溢出判断：</a:t>
            </a:r>
            <a:endParaRPr lang="en-US" altLang="zh-CN" sz="22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3576-934E-45AD-B9A9-6F8C1018EFE9}" type="slidenum">
              <a:rPr lang="en-US" altLang="zh-CN"/>
              <a:t>48</a:t>
            </a:fld>
            <a:endParaRPr lang="en-US" altLang="zh-CN"/>
          </a:p>
        </p:txBody>
      </p:sp>
      <p:sp>
        <p:nvSpPr>
          <p:cNvPr id="367708" name="Text Box 92"/>
          <p:cNvSpPr txBox="1">
            <a:spLocks noChangeArrowheads="1"/>
          </p:cNvSpPr>
          <p:nvPr/>
        </p:nvSpPr>
        <p:spPr bwMode="auto">
          <a:xfrm>
            <a:off x="179388" y="332656"/>
            <a:ext cx="8785225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3</a:t>
            </a:r>
            <a:r>
              <a:rPr lang="zh-CN" altLang="en-US" dirty="0">
                <a:solidFill>
                  <a:srgbClr val="FF3399"/>
                </a:solidFill>
              </a:rPr>
              <a:t>、原码加减运算     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了解，不考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accent2"/>
                </a:solidFill>
              </a:rPr>
              <a:t>    运算特征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符号与数值</a:t>
            </a:r>
            <a:r>
              <a:rPr lang="zh-CN" altLang="en-US" sz="2200" u="sng" dirty="0">
                <a:solidFill>
                  <a:srgbClr val="990099"/>
                </a:solidFill>
              </a:rPr>
              <a:t>分开运算</a:t>
            </a:r>
            <a:r>
              <a:rPr lang="zh-CN" altLang="en-US" sz="2200" dirty="0">
                <a:solidFill>
                  <a:schemeClr val="tx1"/>
                </a:solidFill>
              </a:rPr>
              <a:t>，减法</a:t>
            </a:r>
            <a:r>
              <a:rPr lang="zh-CN" altLang="en-US" sz="2200" u="sng" dirty="0">
                <a:solidFill>
                  <a:srgbClr val="990099"/>
                </a:solidFill>
              </a:rPr>
              <a:t>先比较大小</a:t>
            </a:r>
            <a:r>
              <a:rPr lang="zh-CN" altLang="en-US" sz="2200" dirty="0">
                <a:solidFill>
                  <a:srgbClr val="FF3399"/>
                </a:solidFill>
              </a:rPr>
              <a:t>    </a:t>
            </a:r>
            <a:endParaRPr lang="zh-CN" altLang="en-US" sz="2200" baseline="-18000" dirty="0">
              <a:solidFill>
                <a:schemeClr val="tx1"/>
              </a:solidFill>
            </a:endParaRPr>
          </a:p>
        </p:txBody>
      </p:sp>
      <p:sp>
        <p:nvSpPr>
          <p:cNvPr id="367827" name="Text Box 211"/>
          <p:cNvSpPr txBox="1">
            <a:spLocks noChangeArrowheads="1"/>
          </p:cNvSpPr>
          <p:nvPr/>
        </p:nvSpPr>
        <p:spPr bwMode="auto">
          <a:xfrm>
            <a:off x="1836454" y="4291940"/>
            <a:ext cx="5280439" cy="8956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加减法器＋辅助电路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判断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暂存结果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rgbClr val="FF3399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OF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(a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+mn-ea"/>
              </a:rPr>
              <a:t>·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2200" baseline="-14000" dirty="0">
                <a:solidFill>
                  <a:schemeClr val="tx1"/>
                </a:solidFill>
                <a:latin typeface="+mn-ea"/>
                <a:ea typeface="+mn-ea"/>
              </a:rPr>
              <a:t>n-2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67828" name="Line 212"/>
          <p:cNvSpPr>
            <a:spLocks noChangeShapeType="1"/>
          </p:cNvSpPr>
          <p:nvPr/>
        </p:nvSpPr>
        <p:spPr bwMode="auto">
          <a:xfrm>
            <a:off x="2556000" y="4797152"/>
            <a:ext cx="176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6" name="Text Box 92"/>
          <p:cNvSpPr txBox="1">
            <a:spLocks noChangeArrowheads="1"/>
          </p:cNvSpPr>
          <p:nvPr/>
        </p:nvSpPr>
        <p:spPr bwMode="auto">
          <a:xfrm>
            <a:off x="179512" y="5150574"/>
            <a:ext cx="8785225" cy="9521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4</a:t>
            </a:r>
            <a:r>
              <a:rPr lang="zh-CN" altLang="en-US" dirty="0">
                <a:solidFill>
                  <a:srgbClr val="FF3399"/>
                </a:solidFill>
              </a:rPr>
              <a:t>、移码加减运算     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不考，了解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accent2"/>
                </a:solidFill>
              </a:rPr>
              <a:t>    运算特征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类似于补码运算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教材</a:t>
            </a:r>
            <a:r>
              <a:rPr lang="en-US" altLang="zh-CN" sz="1800" dirty="0">
                <a:solidFill>
                  <a:schemeClr val="tx1"/>
                </a:solidFill>
              </a:rPr>
              <a:t>P78)</a:t>
            </a:r>
            <a:r>
              <a:rPr lang="zh-CN" altLang="en-US" sz="2200" dirty="0">
                <a:solidFill>
                  <a:schemeClr val="tx1"/>
                </a:solidFill>
              </a:rPr>
              <a:t>   </a:t>
            </a:r>
            <a:r>
              <a:rPr lang="zh-CN" altLang="en-US" dirty="0">
                <a:solidFill>
                  <a:schemeClr val="tx1"/>
                </a:solidFill>
              </a:rPr>
              <a:t>  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graphicFrame>
        <p:nvGraphicFramePr>
          <p:cNvPr id="21" name="Group 136">
            <a:extLst>
              <a:ext uri="{FF2B5EF4-FFF2-40B4-BE49-F238E27FC236}">
                <a16:creationId xmlns:a16="http://schemas.microsoft.com/office/drawing/2014/main" id="{0117EA04-F598-412C-84AF-C96200F71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32464"/>
              </p:ext>
            </p:extLst>
          </p:nvPr>
        </p:nvGraphicFramePr>
        <p:xfrm>
          <a:off x="1115616" y="2564904"/>
          <a:ext cx="7272808" cy="165000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endParaRPr lang="zh-CN" sz="2000" b="1" dirty="0"/>
                    </a:p>
                  </a:txBody>
                  <a:tcPr marL="36000" marR="36000" marT="18000" marB="18000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924495"/>
                  </a:ext>
                </a:extLst>
              </a:tr>
              <a:tr h="2468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6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求和</a:t>
                      </a:r>
                      <a:r>
                        <a:rPr lang="en-US" altLang="zh-CN" sz="1600" b="1" dirty="0">
                          <a:latin typeface="+mn-ea"/>
                          <a:ea typeface="+mn-ea"/>
                        </a:rPr>
                        <a:t>)</a:t>
                      </a:r>
                      <a:endParaRPr lang="zh-CN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…a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…b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求差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…z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…a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…b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20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endParaRPr lang="en-US" altLang="zh-CN" sz="2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C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</a:rPr>
                        <a:t>n-2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</a:rPr>
                        <a:t>够减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z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…z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</a:rPr>
                        <a:t>0</a:t>
                      </a:r>
                      <a:endParaRPr lang="en-US" altLang="zh-CN" sz="20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C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</a:rPr>
                        <a:t>n-2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</a:rPr>
                        <a:t>不够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…f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＝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z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</a:rPr>
                        <a:t>n-2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</a:rPr>
                        <a:t>…z</a:t>
                      </a:r>
                      <a:r>
                        <a:rPr lang="en-US" altLang="zh-CN" sz="2000" b="1" baseline="-18000" dirty="0">
                          <a:solidFill>
                            <a:schemeClr val="tx1"/>
                          </a:solidFill>
                          <a:latin typeface="+mn-ea"/>
                        </a:rPr>
                        <a:t>0</a:t>
                      </a:r>
                      <a:r>
                        <a:rPr lang="zh-CN" altLang="en-US" sz="2000" b="1" dirty="0">
                          <a:solidFill>
                            <a:srgbClr val="990099"/>
                          </a:solidFill>
                          <a:latin typeface="+mn-ea"/>
                        </a:rPr>
                        <a:t>＋</a:t>
                      </a:r>
                      <a:r>
                        <a:rPr lang="en-US" altLang="zh-CN" sz="2000" b="1" dirty="0">
                          <a:solidFill>
                            <a:srgbClr val="990099"/>
                          </a:solidFill>
                          <a:latin typeface="+mn-ea"/>
                        </a:rPr>
                        <a:t>1</a:t>
                      </a:r>
                      <a:endParaRPr lang="en-US" altLang="zh-CN" sz="2000" b="1" dirty="0">
                        <a:solidFill>
                          <a:srgbClr val="990099"/>
                        </a:solidFill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4FCF788A-EAB2-4130-90B9-42E8551ECCC8}"/>
              </a:ext>
            </a:extLst>
          </p:cNvPr>
          <p:cNvGrpSpPr/>
          <p:nvPr/>
        </p:nvGrpSpPr>
        <p:grpSpPr>
          <a:xfrm>
            <a:off x="4320032" y="3321080"/>
            <a:ext cx="2898000" cy="656928"/>
            <a:chOff x="4860064" y="2759148"/>
            <a:chExt cx="2898000" cy="656928"/>
          </a:xfrm>
        </p:grpSpPr>
        <p:sp>
          <p:nvSpPr>
            <p:cNvPr id="25" name="Line 203">
              <a:extLst>
                <a:ext uri="{FF2B5EF4-FFF2-40B4-BE49-F238E27FC236}">
                  <a16:creationId xmlns:a16="http://schemas.microsoft.com/office/drawing/2014/main" id="{E7A3D282-A539-4C61-A0CF-FFF12598E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0064" y="3416076"/>
              <a:ext cx="360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04">
              <a:extLst>
                <a:ext uri="{FF2B5EF4-FFF2-40B4-BE49-F238E27FC236}">
                  <a16:creationId xmlns:a16="http://schemas.microsoft.com/office/drawing/2014/main" id="{3096A4A1-13A3-412B-BC0F-DA209CFA7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8064" y="3416076"/>
              <a:ext cx="180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01">
              <a:extLst>
                <a:ext uri="{FF2B5EF4-FFF2-40B4-BE49-F238E27FC236}">
                  <a16:creationId xmlns:a16="http://schemas.microsoft.com/office/drawing/2014/main" id="{AC7B70D5-B518-4065-9B33-84C2E7506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064" y="3416076"/>
              <a:ext cx="360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02">
              <a:extLst>
                <a:ext uri="{FF2B5EF4-FFF2-40B4-BE49-F238E27FC236}">
                  <a16:creationId xmlns:a16="http://schemas.microsoft.com/office/drawing/2014/main" id="{2FC56345-7B3A-4678-A8F2-821256EF2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0064" y="2759148"/>
              <a:ext cx="360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02">
              <a:extLst>
                <a:ext uri="{FF2B5EF4-FFF2-40B4-BE49-F238E27FC236}">
                  <a16:creationId xmlns:a16="http://schemas.microsoft.com/office/drawing/2014/main" id="{07327A25-BED0-42B7-83F4-7BC9FFED0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0064" y="2759148"/>
              <a:ext cx="1800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6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6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828" grpId="0" bldLvl="0" animBg="1"/>
      <p:bldP spid="1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251520" y="404664"/>
            <a:ext cx="8712968" cy="4155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综合例题</a:t>
            </a:r>
            <a:r>
              <a:rPr lang="zh-CN" altLang="zh-CN" sz="2200" dirty="0">
                <a:solidFill>
                  <a:srgbClr val="C00000"/>
                </a:solidFill>
              </a:rPr>
              <a:t>：</a:t>
            </a:r>
            <a:r>
              <a:rPr lang="zh-CN" altLang="zh-CN" sz="2000" dirty="0">
                <a:solidFill>
                  <a:schemeClr val="tx1"/>
                </a:solidFill>
              </a:rPr>
              <a:t>假定在一个</a:t>
            </a:r>
            <a:r>
              <a:rPr lang="en-US" altLang="zh-CN" sz="2000" dirty="0">
                <a:solidFill>
                  <a:schemeClr val="tx1"/>
                </a:solidFill>
              </a:rPr>
              <a:t>8</a:t>
            </a:r>
            <a:r>
              <a:rPr lang="zh-CN" altLang="zh-CN" sz="2000" dirty="0">
                <a:solidFill>
                  <a:schemeClr val="tx1"/>
                </a:solidFill>
              </a:rPr>
              <a:t>位字长的计算机中运行如下</a:t>
            </a:r>
            <a:r>
              <a:rPr lang="en-US" altLang="zh-CN" sz="2000" dirty="0">
                <a:solidFill>
                  <a:schemeClr val="tx1"/>
                </a:solidFill>
              </a:rPr>
              <a:t>C</a:t>
            </a:r>
            <a:r>
              <a:rPr lang="zh-CN" altLang="zh-CN" sz="2000" dirty="0">
                <a:solidFill>
                  <a:schemeClr val="tx1"/>
                </a:solidFill>
              </a:rPr>
              <a:t>程序段：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unsigned int x = 134, y = 246, z1 = x-y, z2 = </a:t>
            </a:r>
            <a:r>
              <a:rPr lang="en-US" altLang="zh-CN" sz="2000" dirty="0" err="1">
                <a:solidFill>
                  <a:schemeClr val="tx1"/>
                </a:solidFill>
              </a:rPr>
              <a:t>x+y</a:t>
            </a:r>
            <a:r>
              <a:rPr lang="en-US" altLang="zh-CN" sz="2000" dirty="0">
                <a:solidFill>
                  <a:schemeClr val="tx1"/>
                </a:solidFill>
              </a:rPr>
              <a:t>;</a:t>
            </a:r>
            <a:endParaRPr lang="zh-CN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int m = x, n = y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de-DE" altLang="zh-CN" sz="2000" dirty="0">
                <a:solidFill>
                  <a:schemeClr val="tx1"/>
                </a:solidFill>
              </a:rPr>
              <a:t>k1 = m-n</a:t>
            </a:r>
            <a:r>
              <a:rPr lang="en-US" altLang="zh-CN" sz="2000" dirty="0">
                <a:solidFill>
                  <a:schemeClr val="tx1"/>
                </a:solidFill>
              </a:rPr>
              <a:t>, </a:t>
            </a:r>
            <a:r>
              <a:rPr lang="de-DE" altLang="zh-CN" sz="2000" dirty="0">
                <a:solidFill>
                  <a:schemeClr val="tx1"/>
                </a:solidFill>
              </a:rPr>
              <a:t>k2 = m+n;</a:t>
            </a:r>
            <a:endParaRPr lang="zh-CN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zh-CN" altLang="zh-CN" sz="2000" dirty="0">
                <a:solidFill>
                  <a:schemeClr val="tx1"/>
                </a:solidFill>
              </a:rPr>
              <a:t>若编译时将</a:t>
            </a:r>
            <a:r>
              <a:rPr lang="de-DE" altLang="zh-CN" sz="2000" dirty="0">
                <a:solidFill>
                  <a:schemeClr val="tx1"/>
                </a:solidFill>
              </a:rPr>
              <a:t>8</a:t>
            </a:r>
            <a:r>
              <a:rPr lang="zh-CN" altLang="zh-CN" sz="2000" dirty="0">
                <a:solidFill>
                  <a:schemeClr val="tx1"/>
                </a:solidFill>
              </a:rPr>
              <a:t>个</a:t>
            </a:r>
            <a:r>
              <a:rPr lang="de-DE" altLang="zh-CN" sz="2000" dirty="0">
                <a:solidFill>
                  <a:schemeClr val="tx1"/>
                </a:solidFill>
              </a:rPr>
              <a:t>8</a:t>
            </a:r>
            <a:r>
              <a:rPr lang="zh-CN" altLang="zh-CN" sz="2000" dirty="0">
                <a:solidFill>
                  <a:schemeClr val="tx1"/>
                </a:solidFill>
              </a:rPr>
              <a:t>位寄存器</a:t>
            </a:r>
            <a:r>
              <a:rPr lang="de-DE" altLang="zh-CN" sz="2000" dirty="0">
                <a:solidFill>
                  <a:schemeClr val="tx1"/>
                </a:solidFill>
              </a:rPr>
              <a:t>R1</a:t>
            </a:r>
            <a:r>
              <a:rPr lang="de-DE" altLang="zh-CN" sz="2000" dirty="0">
                <a:solidFill>
                  <a:schemeClr val="tx1"/>
                </a:solidFill>
                <a:latin typeface="+mn-lt"/>
              </a:rPr>
              <a:t>~</a:t>
            </a:r>
            <a:r>
              <a:rPr lang="de-DE" altLang="zh-CN" sz="2000" dirty="0">
                <a:solidFill>
                  <a:schemeClr val="tx1"/>
                </a:solidFill>
              </a:rPr>
              <a:t>R8</a:t>
            </a:r>
            <a:r>
              <a:rPr lang="zh-CN" altLang="zh-CN" sz="2000" dirty="0">
                <a:solidFill>
                  <a:schemeClr val="tx1"/>
                </a:solidFill>
              </a:rPr>
              <a:t>分别分配给变量</a:t>
            </a:r>
            <a:r>
              <a:rPr lang="de-DE" altLang="zh-CN" sz="2000" dirty="0">
                <a:solidFill>
                  <a:schemeClr val="tx1"/>
                </a:solidFill>
              </a:rPr>
              <a:t>x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y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m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n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z1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z2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k1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k2</a:t>
            </a:r>
            <a:r>
              <a:rPr lang="zh-CN" altLang="zh-CN" sz="2000" dirty="0">
                <a:solidFill>
                  <a:schemeClr val="tx1"/>
                </a:solidFill>
              </a:rPr>
              <a:t>。请回答下列问题。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  (1)</a:t>
            </a:r>
            <a:r>
              <a:rPr lang="zh-CN" altLang="zh-CN" sz="2000" dirty="0">
                <a:solidFill>
                  <a:schemeClr val="tx1"/>
                </a:solidFill>
              </a:rPr>
              <a:t>执行上述程序段后，寄存器</a:t>
            </a:r>
            <a:r>
              <a:rPr lang="de-DE" altLang="zh-CN" sz="2000" dirty="0">
                <a:solidFill>
                  <a:schemeClr val="tx1"/>
                </a:solidFill>
              </a:rPr>
              <a:t>R1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de-DE" altLang="zh-CN" sz="2000" dirty="0">
                <a:solidFill>
                  <a:schemeClr val="tx1"/>
                </a:solidFill>
              </a:rPr>
              <a:t>R5</a:t>
            </a:r>
            <a:r>
              <a:rPr lang="zh-CN" altLang="zh-CN" sz="2000" dirty="0">
                <a:solidFill>
                  <a:schemeClr val="tx1"/>
                </a:solidFill>
              </a:rPr>
              <a:t>和</a:t>
            </a:r>
            <a:r>
              <a:rPr lang="de-DE" altLang="zh-CN" sz="2000" dirty="0">
                <a:solidFill>
                  <a:schemeClr val="tx1"/>
                </a:solidFill>
              </a:rPr>
              <a:t>R6</a:t>
            </a:r>
            <a:r>
              <a:rPr lang="zh-CN" altLang="zh-CN" sz="2000" dirty="0">
                <a:solidFill>
                  <a:schemeClr val="tx1"/>
                </a:solidFill>
              </a:rPr>
              <a:t>的内容分别是什么？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  (</a:t>
            </a:r>
            <a:r>
              <a:rPr lang="de-DE" altLang="zh-CN" sz="2000" dirty="0">
                <a:solidFill>
                  <a:schemeClr val="tx1"/>
                </a:solidFill>
              </a:rPr>
              <a:t>2)</a:t>
            </a:r>
            <a:r>
              <a:rPr lang="zh-CN" altLang="zh-CN" sz="2000" dirty="0">
                <a:solidFill>
                  <a:schemeClr val="tx1"/>
                </a:solidFill>
              </a:rPr>
              <a:t>执行上述程序段后，变量</a:t>
            </a:r>
            <a:r>
              <a:rPr lang="de-DE" altLang="zh-CN" sz="2000" dirty="0">
                <a:solidFill>
                  <a:schemeClr val="tx1"/>
                </a:solidFill>
              </a:rPr>
              <a:t>m</a:t>
            </a:r>
            <a:r>
              <a:rPr lang="zh-CN" altLang="zh-CN" sz="2000" dirty="0">
                <a:solidFill>
                  <a:schemeClr val="tx1"/>
                </a:solidFill>
              </a:rPr>
              <a:t>和</a:t>
            </a:r>
            <a:r>
              <a:rPr lang="de-DE" altLang="zh-CN" sz="2000" dirty="0">
                <a:solidFill>
                  <a:schemeClr val="tx1"/>
                </a:solidFill>
              </a:rPr>
              <a:t>k1</a:t>
            </a:r>
            <a:r>
              <a:rPr lang="zh-CN" altLang="zh-CN" sz="2000" dirty="0">
                <a:solidFill>
                  <a:schemeClr val="tx1"/>
                </a:solidFill>
              </a:rPr>
              <a:t>的值分别是什么？（十进制）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(</a:t>
            </a:r>
            <a:r>
              <a:rPr lang="de-DE" altLang="zh-CN" sz="2000" dirty="0">
                <a:solidFill>
                  <a:schemeClr val="tx1"/>
                </a:solidFill>
              </a:rPr>
              <a:t>3)</a:t>
            </a:r>
            <a:r>
              <a:rPr lang="zh-CN" altLang="zh-CN" sz="2000" dirty="0">
                <a:solidFill>
                  <a:schemeClr val="tx1"/>
                </a:solidFill>
              </a:rPr>
              <a:t>上述程序段涉及带符号整数加</a:t>
            </a:r>
            <a:r>
              <a:rPr lang="de-DE" altLang="zh-CN" sz="2000" dirty="0">
                <a:solidFill>
                  <a:schemeClr val="tx1"/>
                </a:solidFill>
              </a:rPr>
              <a:t>/</a:t>
            </a:r>
            <a:r>
              <a:rPr lang="zh-CN" altLang="zh-CN" sz="2000" dirty="0">
                <a:solidFill>
                  <a:schemeClr val="tx1"/>
                </a:solidFill>
              </a:rPr>
              <a:t>减、无符号整数加</a:t>
            </a:r>
            <a:r>
              <a:rPr lang="de-DE" altLang="zh-CN" sz="2000" dirty="0">
                <a:solidFill>
                  <a:schemeClr val="tx1"/>
                </a:solidFill>
              </a:rPr>
              <a:t>/</a:t>
            </a:r>
            <a:r>
              <a:rPr lang="zh-CN" altLang="zh-CN" sz="2000" dirty="0">
                <a:solidFill>
                  <a:schemeClr val="tx1"/>
                </a:solidFill>
              </a:rPr>
              <a:t>减运算，这四种运算能否利用同一个加法器及辅助电路实现？简述理由。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  (</a:t>
            </a:r>
            <a:r>
              <a:rPr lang="de-DE" altLang="zh-CN" sz="2000" dirty="0">
                <a:solidFill>
                  <a:schemeClr val="tx1"/>
                </a:solidFill>
              </a:rPr>
              <a:t>4)</a:t>
            </a:r>
            <a:r>
              <a:rPr lang="zh-CN" altLang="zh-CN" sz="2000" dirty="0">
                <a:solidFill>
                  <a:schemeClr val="tx1"/>
                </a:solidFill>
              </a:rPr>
              <a:t>如何判断带符号整数加</a:t>
            </a:r>
            <a:r>
              <a:rPr lang="de-DE" altLang="zh-CN" sz="2000" dirty="0">
                <a:solidFill>
                  <a:schemeClr val="tx1"/>
                </a:solidFill>
              </a:rPr>
              <a:t>/</a:t>
            </a:r>
            <a:r>
              <a:rPr lang="zh-CN" altLang="zh-CN" sz="2000" dirty="0">
                <a:solidFill>
                  <a:schemeClr val="tx1"/>
                </a:solidFill>
              </a:rPr>
              <a:t>减运算的结果是否发生溢出？上述程序段中，哪些带符号整数运算语句的执行结果会发生溢出？</a:t>
            </a:r>
          </a:p>
        </p:txBody>
      </p:sp>
      <p:sp>
        <p:nvSpPr>
          <p:cNvPr id="4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47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4509120"/>
            <a:ext cx="6840760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(1)x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86H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y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F6H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z1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</a:rPr>
              <a:t>0</a:t>
            </a:r>
            <a:r>
              <a:rPr lang="en-US" altLang="zh-CN" sz="1800" baseline="-250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90H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z2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</a:rPr>
              <a:t>1</a:t>
            </a:r>
            <a:r>
              <a:rPr lang="en-US" altLang="zh-CN" sz="1800" baseline="-250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7CH</a:t>
            </a:r>
            <a:r>
              <a:rPr lang="zh-CN" altLang="en-US" sz="1800" dirty="0">
                <a:solidFill>
                  <a:schemeClr val="tx1"/>
                </a:solidFill>
              </a:rPr>
              <a:t>， ←下画线为进位位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   (R1)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86H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(R5)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90H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(R6)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7CH</a:t>
            </a:r>
          </a:p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(2)m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86H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-122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F6H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k1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86H-F6H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90H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-112</a:t>
            </a:r>
          </a:p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(3)</a:t>
            </a:r>
            <a:r>
              <a:rPr lang="zh-CN" altLang="en-US" sz="1800" dirty="0">
                <a:solidFill>
                  <a:schemeClr val="tx1"/>
                </a:solidFill>
              </a:rPr>
              <a:t>可以。减法可用加法实现，有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无符号加减的运算方法相同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(4)</a:t>
            </a:r>
            <a:r>
              <a:rPr lang="zh-CN" altLang="en-US" sz="1800" dirty="0">
                <a:solidFill>
                  <a:schemeClr val="tx1"/>
                </a:solidFill>
              </a:rPr>
              <a:t>判断：同号相加或异号相减，结果与被加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减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数异号。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1800" dirty="0">
                <a:solidFill>
                  <a:schemeClr val="tx1"/>
                </a:solidFill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</a:rPr>
              <a:t>仅</a:t>
            </a:r>
            <a:r>
              <a:rPr lang="en-US" altLang="zh-CN" sz="1800" dirty="0">
                <a:solidFill>
                  <a:schemeClr val="tx1"/>
                </a:solidFill>
              </a:rPr>
              <a:t>k2</a:t>
            </a:r>
            <a:r>
              <a:rPr lang="zh-CN" altLang="en-US" sz="1800" dirty="0">
                <a:solidFill>
                  <a:schemeClr val="tx1"/>
                </a:solidFill>
              </a:rPr>
              <a:t>可能溢出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同号相加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k2</a:t>
            </a:r>
            <a:r>
              <a:rPr lang="zh-CN" altLang="en-US" sz="1800" b="1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7CH</a:t>
            </a:r>
            <a:r>
              <a:rPr lang="zh-CN" altLang="en-US" sz="1800" dirty="0">
                <a:solidFill>
                  <a:schemeClr val="tx1"/>
                </a:solidFill>
              </a:rPr>
              <a:t>，溢出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55446F1E-A692-40CF-9BB6-FFBE15F5D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422873"/>
              </p:ext>
            </p:extLst>
          </p:nvPr>
        </p:nvGraphicFramePr>
        <p:xfrm>
          <a:off x="7524328" y="4293096"/>
          <a:ext cx="1008112" cy="1824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19825939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990938935"/>
                    </a:ext>
                  </a:extLst>
                </a:gridCol>
              </a:tblGrid>
              <a:tr h="13432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57278"/>
                  </a:ext>
                </a:extLst>
              </a:tr>
              <a:tr h="1350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688457"/>
                  </a:ext>
                </a:extLst>
              </a:tr>
              <a:tr h="1350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R3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05982"/>
                  </a:ext>
                </a:extLst>
              </a:tr>
              <a:tr h="1350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R4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668481"/>
                  </a:ext>
                </a:extLst>
              </a:tr>
              <a:tr h="1350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R5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77011"/>
                  </a:ext>
                </a:extLst>
              </a:tr>
              <a:tr h="1350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R6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z2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898064"/>
                  </a:ext>
                </a:extLst>
              </a:tr>
              <a:tr h="1350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R7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k1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013372"/>
                  </a:ext>
                </a:extLst>
              </a:tr>
              <a:tr h="13501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R8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k2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91872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50</a:t>
            </a:fld>
            <a:endParaRPr lang="en-US" altLang="zh-CN"/>
          </a:p>
        </p:txBody>
      </p:sp>
      <p:sp>
        <p:nvSpPr>
          <p:cNvPr id="3" name="Text Box 92"/>
          <p:cNvSpPr txBox="1">
            <a:spLocks noChangeArrowheads="1"/>
          </p:cNvSpPr>
          <p:nvPr/>
        </p:nvSpPr>
        <p:spPr bwMode="auto">
          <a:xfrm>
            <a:off x="179388" y="367916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+mn-ea"/>
                <a:ea typeface="+mn-ea"/>
              </a:rPr>
              <a:t>二、移位运算</a:t>
            </a:r>
          </a:p>
        </p:txBody>
      </p:sp>
      <p:sp>
        <p:nvSpPr>
          <p:cNvPr id="6" name="Text Box 95"/>
          <p:cNvSpPr txBox="1">
            <a:spLocks noChangeArrowheads="1"/>
          </p:cNvSpPr>
          <p:nvPr/>
        </p:nvSpPr>
        <p:spPr bwMode="auto">
          <a:xfrm>
            <a:off x="179388" y="828000"/>
            <a:ext cx="8821768" cy="1638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运算类型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逻辑左移、逻辑右移，算术左移、算术右移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  (</a:t>
            </a:r>
            <a:r>
              <a:rPr lang="zh-CN" altLang="en-US" sz="1800" dirty="0">
                <a:solidFill>
                  <a:schemeClr val="tx1"/>
                </a:solidFill>
              </a:rPr>
              <a:t>用于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CCFFFF"/>
                </a:highlight>
              </a:rPr>
              <a:t>无符号</a:t>
            </a:r>
            <a:r>
              <a:rPr lang="zh-CN" altLang="en-US" sz="1800" dirty="0">
                <a:solidFill>
                  <a:schemeClr val="tx1"/>
                </a:solidFill>
              </a:rPr>
              <a:t>整数</a:t>
            </a:r>
            <a:r>
              <a:rPr lang="en-US" altLang="zh-CN" sz="1800" dirty="0">
                <a:solidFill>
                  <a:schemeClr val="tx1"/>
                </a:solidFill>
              </a:rPr>
              <a:t>)         (</a:t>
            </a:r>
            <a:r>
              <a:rPr lang="zh-CN" altLang="en-US" sz="1800" dirty="0">
                <a:solidFill>
                  <a:schemeClr val="tx1"/>
                </a:solidFill>
              </a:rPr>
              <a:t>用于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CCFFFF"/>
                </a:highlight>
              </a:rPr>
              <a:t>有符号</a:t>
            </a:r>
            <a:r>
              <a:rPr lang="zh-CN" altLang="en-US" sz="1800" dirty="0">
                <a:solidFill>
                  <a:schemeClr val="tx1"/>
                </a:solidFill>
              </a:rPr>
              <a:t>整数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</a:rPr>
              <a:t>功能：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en-US" altLang="zh-CN" sz="2200" spc="-30" dirty="0">
                <a:solidFill>
                  <a:schemeClr val="tx1"/>
                </a:solidFill>
              </a:rPr>
              <a:t>×2</a:t>
            </a:r>
            <a:r>
              <a:rPr lang="en-US" altLang="zh-CN" sz="2200" spc="-30" baseline="30000" dirty="0">
                <a:solidFill>
                  <a:schemeClr val="tx1"/>
                </a:solidFill>
              </a:rPr>
              <a:t>k</a:t>
            </a:r>
            <a:r>
              <a:rPr lang="zh-CN" altLang="en-US" sz="2200" spc="-30" dirty="0">
                <a:solidFill>
                  <a:schemeClr val="tx1"/>
                </a:solidFill>
              </a:rPr>
              <a:t>或</a:t>
            </a:r>
            <a:r>
              <a:rPr lang="en-US" altLang="zh-CN" sz="2200" spc="-30" dirty="0">
                <a:solidFill>
                  <a:schemeClr val="tx1"/>
                </a:solidFill>
              </a:rPr>
              <a:t>A÷2</a:t>
            </a:r>
            <a:r>
              <a:rPr lang="en-US" altLang="zh-CN" sz="2200" spc="-30" baseline="30000" dirty="0">
                <a:solidFill>
                  <a:schemeClr val="tx1"/>
                </a:solidFill>
              </a:rPr>
              <a:t>k</a:t>
            </a:r>
            <a:r>
              <a:rPr lang="zh-CN" altLang="en-US" sz="2200" spc="-30" dirty="0">
                <a:solidFill>
                  <a:schemeClr val="tx1"/>
                </a:solidFill>
              </a:rPr>
              <a:t>，</a:t>
            </a:r>
            <a:r>
              <a:rPr lang="en-US" altLang="zh-CN" sz="2200" spc="-30" dirty="0">
                <a:solidFill>
                  <a:schemeClr val="tx1"/>
                </a:solidFill>
              </a:rPr>
              <a:t>A</a:t>
            </a:r>
            <a:r>
              <a:rPr lang="zh-CN" altLang="en-US" sz="2200" spc="-30" dirty="0">
                <a:solidFill>
                  <a:schemeClr val="tx1"/>
                </a:solidFill>
              </a:rPr>
              <a:t>为数据、</a:t>
            </a:r>
            <a:r>
              <a:rPr lang="en-US" altLang="zh-CN" sz="2200" spc="-30" dirty="0">
                <a:solidFill>
                  <a:schemeClr val="tx1"/>
                </a:solidFill>
              </a:rPr>
              <a:t>k</a:t>
            </a:r>
            <a:r>
              <a:rPr lang="zh-CN" altLang="en-US" sz="2200" spc="-30" dirty="0">
                <a:solidFill>
                  <a:schemeClr val="tx1"/>
                </a:solidFill>
              </a:rPr>
              <a:t>为移位位数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990099"/>
                </a:solidFill>
              </a:rPr>
              <a:t>      </a:t>
            </a:r>
            <a:r>
              <a:rPr lang="zh-CN" altLang="en-US" sz="2200" dirty="0">
                <a:solidFill>
                  <a:srgbClr val="990099"/>
                </a:solidFill>
              </a:rPr>
              <a:t>表示：</a:t>
            </a:r>
            <a:r>
              <a:rPr lang="en-US" altLang="zh-CN" sz="2200" dirty="0">
                <a:solidFill>
                  <a:schemeClr val="tx1"/>
                </a:solidFill>
              </a:rPr>
              <a:t>&lt;&lt;</a:t>
            </a:r>
            <a:r>
              <a:rPr lang="en-US" altLang="zh-CN" sz="2200" baseline="-16000" dirty="0">
                <a:solidFill>
                  <a:schemeClr val="tx1"/>
                </a:solidFill>
              </a:rPr>
              <a:t>L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&gt;&gt;</a:t>
            </a:r>
            <a:r>
              <a:rPr lang="en-US" altLang="zh-CN" sz="2200" baseline="-16000" dirty="0">
                <a:solidFill>
                  <a:schemeClr val="tx1"/>
                </a:solidFill>
              </a:rPr>
              <a:t>L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&lt;&lt;</a:t>
            </a:r>
            <a:r>
              <a:rPr lang="en-US" altLang="zh-CN" sz="2200" baseline="-16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&gt;&gt;</a:t>
            </a:r>
            <a:r>
              <a:rPr lang="en-US" altLang="zh-CN" sz="2200" baseline="-16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     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rgbClr val="FF3399"/>
                </a:solidFill>
              </a:rPr>
              <a:t>L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ogical shift</a:t>
            </a:r>
            <a:r>
              <a:rPr lang="zh-CN" altLang="en-US" sz="1800" dirty="0">
                <a:solidFill>
                  <a:schemeClr val="tx1"/>
                </a:solidFill>
                <a:latin typeface="+mn-lt"/>
              </a:rPr>
              <a:t>及</a:t>
            </a:r>
            <a:r>
              <a:rPr lang="en-US" altLang="zh-CN" sz="1800" b="0" dirty="0">
                <a:solidFill>
                  <a:srgbClr val="FF3399"/>
                </a:solidFill>
                <a:latin typeface="+mn-lt"/>
              </a:rPr>
              <a:t>A</a:t>
            </a: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rithmetic shift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Box 268"/>
          <p:cNvSpPr txBox="1">
            <a:spLocks noChangeArrowheads="1"/>
          </p:cNvSpPr>
          <p:nvPr/>
        </p:nvSpPr>
        <p:spPr bwMode="auto">
          <a:xfrm>
            <a:off x="179388" y="2420888"/>
            <a:ext cx="8785225" cy="9959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、逻辑移位</a:t>
            </a:r>
            <a:r>
              <a:rPr lang="en-US" altLang="zh-CN" sz="1600" dirty="0">
                <a:solidFill>
                  <a:srgbClr val="FF3399"/>
                </a:solidFill>
              </a:rPr>
              <a:t>(</a:t>
            </a:r>
            <a:r>
              <a:rPr lang="en-US" altLang="zh-CN" sz="1600" b="0" dirty="0">
                <a:solidFill>
                  <a:srgbClr val="FF3399"/>
                </a:solidFill>
                <a:latin typeface="+mn-lt"/>
              </a:rPr>
              <a:t>Logical Shift</a:t>
            </a:r>
            <a:r>
              <a:rPr lang="en-US" altLang="zh-CN" sz="1600" dirty="0">
                <a:solidFill>
                  <a:srgbClr val="FF3399"/>
                </a:solidFill>
              </a:rPr>
              <a:t>)</a:t>
            </a:r>
            <a:r>
              <a:rPr lang="zh-CN" altLang="en-US" dirty="0">
                <a:solidFill>
                  <a:srgbClr val="FF3399"/>
                </a:solidFill>
              </a:rPr>
              <a:t>运算</a:t>
            </a:r>
          </a:p>
          <a:p>
            <a:pPr>
              <a:spcBef>
                <a:spcPts val="4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运算方法：</a:t>
            </a:r>
            <a:endParaRPr lang="zh-CN" altLang="en-US" sz="2200" u="sng" dirty="0">
              <a:solidFill>
                <a:srgbClr val="990099"/>
              </a:solidFill>
            </a:endParaRPr>
          </a:p>
        </p:txBody>
      </p:sp>
      <p:sp>
        <p:nvSpPr>
          <p:cNvPr id="30" name="Text Box 269"/>
          <p:cNvSpPr txBox="1">
            <a:spLocks noChangeArrowheads="1"/>
          </p:cNvSpPr>
          <p:nvPr/>
        </p:nvSpPr>
        <p:spPr bwMode="auto">
          <a:xfrm>
            <a:off x="179388" y="4726067"/>
            <a:ext cx="8785225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1—</a:t>
            </a:r>
            <a:r>
              <a:rPr lang="zh-CN" altLang="en-US" sz="2000" dirty="0">
                <a:solidFill>
                  <a:schemeClr val="tx1"/>
                </a:solidFill>
              </a:rPr>
              <a:t>无符号整数的机器码为</a:t>
            </a:r>
            <a:r>
              <a:rPr lang="en-US" altLang="zh-CN" sz="2000" dirty="0">
                <a:solidFill>
                  <a:schemeClr val="tx1"/>
                </a:solidFill>
              </a:rPr>
              <a:t>8</a:t>
            </a:r>
            <a:r>
              <a:rPr lang="zh-CN" altLang="en-US" sz="2000" dirty="0">
                <a:solidFill>
                  <a:schemeClr val="tx1"/>
                </a:solidFill>
              </a:rPr>
              <a:t>位，求</a:t>
            </a:r>
            <a:r>
              <a:rPr lang="en-US" altLang="zh-CN" sz="2000" dirty="0">
                <a:solidFill>
                  <a:schemeClr val="tx1"/>
                </a:solidFill>
              </a:rPr>
              <a:t>57&lt;&lt;</a:t>
            </a:r>
            <a:r>
              <a:rPr lang="en-US" altLang="zh-CN" sz="2000" baseline="-16000" dirty="0">
                <a:solidFill>
                  <a:schemeClr val="tx1"/>
                </a:solidFill>
              </a:rPr>
              <a:t>L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57&gt;&gt;</a:t>
            </a:r>
            <a:r>
              <a:rPr lang="en-US" altLang="zh-CN" sz="2000" baseline="-16000" dirty="0">
                <a:solidFill>
                  <a:schemeClr val="tx1"/>
                </a:solidFill>
              </a:rPr>
              <a:t>L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的机器数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rgbClr val="990099"/>
                </a:solidFill>
              </a:rPr>
              <a:t> 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r>
              <a:rPr lang="en-US" altLang="zh-CN" sz="2000" dirty="0">
                <a:solidFill>
                  <a:schemeClr val="tx1"/>
                </a:solidFill>
              </a:rPr>
              <a:t>[57]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00111001B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[57&lt;&lt;</a:t>
            </a:r>
            <a:r>
              <a:rPr lang="en-US" altLang="zh-CN" sz="2000" baseline="-16000" dirty="0">
                <a:solidFill>
                  <a:schemeClr val="tx1"/>
                </a:solidFill>
              </a:rPr>
              <a:t>L</a:t>
            </a:r>
            <a:r>
              <a:rPr lang="en-US" altLang="zh-CN" sz="2000" dirty="0">
                <a:solidFill>
                  <a:schemeClr val="tx1"/>
                </a:solidFill>
              </a:rPr>
              <a:t>2]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                           </a:t>
            </a:r>
            <a:r>
              <a:rPr lang="en-US" altLang="zh-CN" sz="2000" spc="4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[57&gt;&gt;</a:t>
            </a:r>
            <a:r>
              <a:rPr lang="en-US" altLang="zh-CN" sz="2000" baseline="-16000" dirty="0">
                <a:solidFill>
                  <a:schemeClr val="tx1"/>
                </a:solidFill>
              </a:rPr>
              <a:t>L</a:t>
            </a:r>
            <a:r>
              <a:rPr lang="en-US" altLang="zh-CN" sz="2000" dirty="0">
                <a:solidFill>
                  <a:schemeClr val="tx1"/>
                </a:solidFill>
              </a:rPr>
              <a:t>2]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无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1" name="Text Box 269"/>
          <p:cNvSpPr txBox="1">
            <a:spLocks noChangeArrowheads="1"/>
          </p:cNvSpPr>
          <p:nvPr/>
        </p:nvSpPr>
        <p:spPr bwMode="auto">
          <a:xfrm>
            <a:off x="5292080" y="5127575"/>
            <a:ext cx="2232248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111001</a:t>
            </a:r>
            <a:r>
              <a:rPr lang="en-US" altLang="zh-CN" sz="2000" dirty="0">
                <a:solidFill>
                  <a:schemeClr val="accent2"/>
                </a:solidFill>
                <a:highlight>
                  <a:srgbClr val="FFCC99"/>
                </a:highlight>
              </a:rPr>
              <a:t>00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228</a:t>
            </a:r>
          </a:p>
          <a:p>
            <a:r>
              <a:rPr lang="en-US" altLang="zh-CN" sz="2000" dirty="0">
                <a:solidFill>
                  <a:schemeClr val="accent2"/>
                </a:solidFill>
                <a:highlight>
                  <a:srgbClr val="FFCC99"/>
                </a:highlight>
              </a:rPr>
              <a:t>00</a:t>
            </a:r>
            <a:r>
              <a:rPr lang="en-US" altLang="zh-CN" sz="2000" dirty="0">
                <a:solidFill>
                  <a:schemeClr val="tx1"/>
                </a:solidFill>
              </a:rPr>
              <a:t>001110B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1" name="Text Box 95"/>
          <p:cNvSpPr txBox="1">
            <a:spLocks noChangeArrowheads="1"/>
          </p:cNvSpPr>
          <p:nvPr/>
        </p:nvSpPr>
        <p:spPr bwMode="auto">
          <a:xfrm>
            <a:off x="1835696" y="2924944"/>
            <a:ext cx="6840886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机器数</a:t>
            </a:r>
            <a:r>
              <a:rPr lang="zh-CN" altLang="en-US" sz="2200" u="sng" dirty="0">
                <a:solidFill>
                  <a:srgbClr val="990099"/>
                </a:solidFill>
              </a:rPr>
              <a:t>整体移位</a:t>
            </a:r>
            <a:r>
              <a:rPr lang="zh-CN" altLang="en-US" sz="2200" dirty="0">
                <a:solidFill>
                  <a:schemeClr val="tx1"/>
                </a:solidFill>
              </a:rPr>
              <a:t>；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移出的数位</a:t>
            </a:r>
            <a:r>
              <a:rPr lang="zh-CN" altLang="en-US" sz="2200" u="sng" dirty="0">
                <a:solidFill>
                  <a:srgbClr val="990099"/>
                </a:solidFill>
              </a:rPr>
              <a:t>丢弃</a:t>
            </a:r>
            <a:r>
              <a:rPr lang="zh-CN" altLang="en-US" sz="2200" dirty="0">
                <a:solidFill>
                  <a:schemeClr val="tx1"/>
                </a:solidFill>
              </a:rPr>
              <a:t>，出现的空位</a:t>
            </a:r>
            <a:r>
              <a:rPr lang="zh-CN" altLang="en-US" sz="2200" u="sng" dirty="0">
                <a:solidFill>
                  <a:srgbClr val="990099"/>
                </a:solidFill>
              </a:rPr>
              <a:t>补</a:t>
            </a:r>
            <a:r>
              <a:rPr lang="en-US" altLang="zh-CN" sz="2200" u="sng" dirty="0">
                <a:solidFill>
                  <a:srgbClr val="990099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功能是</a:t>
            </a:r>
            <a:r>
              <a:rPr lang="en-US" altLang="zh-CN" sz="1800" spc="-30" dirty="0">
                <a:solidFill>
                  <a:schemeClr val="tx1"/>
                </a:solidFill>
              </a:rPr>
              <a:t>×2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zh-CN" altLang="en-US" sz="1800" spc="-30" dirty="0">
                <a:solidFill>
                  <a:schemeClr val="tx1"/>
                </a:solidFill>
              </a:rPr>
              <a:t>或</a:t>
            </a:r>
            <a:r>
              <a:rPr lang="en-US" altLang="zh-CN" sz="1800" spc="-30" dirty="0">
                <a:solidFill>
                  <a:schemeClr val="tx1"/>
                </a:solidFill>
              </a:rPr>
              <a:t>÷2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FCF47951-3010-4607-B2B8-BE2CDB396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1" y="5539624"/>
            <a:ext cx="3096345" cy="91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逻辑实现：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下页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溢出判断：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下页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CN" altLang="en-US" sz="2200" baseline="-18000" dirty="0">
              <a:solidFill>
                <a:srgbClr val="C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8F37B55-9661-4A3E-A546-A1C7CCCD81BD}"/>
              </a:ext>
            </a:extLst>
          </p:cNvPr>
          <p:cNvGrpSpPr/>
          <p:nvPr/>
        </p:nvGrpSpPr>
        <p:grpSpPr>
          <a:xfrm>
            <a:off x="2339752" y="3852000"/>
            <a:ext cx="4608369" cy="792088"/>
            <a:chOff x="2339752" y="3852000"/>
            <a:chExt cx="4608369" cy="792088"/>
          </a:xfrm>
        </p:grpSpPr>
        <p:sp>
          <p:nvSpPr>
            <p:cNvPr id="13" name="Rectangle 436"/>
            <p:cNvSpPr>
              <a:spLocks noChangeArrowheads="1"/>
            </p:cNvSpPr>
            <p:nvPr/>
          </p:nvSpPr>
          <p:spPr bwMode="auto">
            <a:xfrm>
              <a:off x="2339752" y="3852000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数值</a:t>
              </a:r>
            </a:p>
          </p:txBody>
        </p:sp>
        <p:sp>
          <p:nvSpPr>
            <p:cNvPr id="15" name="Rectangle 436"/>
            <p:cNvSpPr>
              <a:spLocks noChangeArrowheads="1"/>
            </p:cNvSpPr>
            <p:nvPr/>
          </p:nvSpPr>
          <p:spPr bwMode="auto">
            <a:xfrm>
              <a:off x="2339753" y="4356750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数值</a:t>
              </a:r>
            </a:p>
          </p:txBody>
        </p:sp>
        <p:sp>
          <p:nvSpPr>
            <p:cNvPr id="16" name="Rectangle 436"/>
            <p:cNvSpPr>
              <a:spLocks noChangeArrowheads="1"/>
            </p:cNvSpPr>
            <p:nvPr/>
          </p:nvSpPr>
          <p:spPr bwMode="auto">
            <a:xfrm>
              <a:off x="3635953" y="4356056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空位</a:t>
              </a:r>
            </a:p>
          </p:txBody>
        </p:sp>
        <p:cxnSp>
          <p:nvCxnSpPr>
            <p:cNvPr id="17" name="直接连接符 3"/>
            <p:cNvCxnSpPr/>
            <p:nvPr/>
          </p:nvCxnSpPr>
          <p:spPr bwMode="auto">
            <a:xfrm>
              <a:off x="2843809" y="3852000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3"/>
            <p:cNvCxnSpPr/>
            <p:nvPr/>
          </p:nvCxnSpPr>
          <p:spPr bwMode="auto">
            <a:xfrm flipH="1">
              <a:off x="3275857" y="3996016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9" name="Line 443"/>
            <p:cNvSpPr>
              <a:spLocks noChangeShapeType="1"/>
            </p:cNvSpPr>
            <p:nvPr/>
          </p:nvSpPr>
          <p:spPr bwMode="auto">
            <a:xfrm flipH="1">
              <a:off x="2339753" y="4248016"/>
              <a:ext cx="214313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44"/>
            <p:cNvSpPr>
              <a:spLocks noChangeShapeType="1"/>
            </p:cNvSpPr>
            <p:nvPr/>
          </p:nvSpPr>
          <p:spPr bwMode="auto">
            <a:xfrm flipH="1">
              <a:off x="2555777" y="3996016"/>
              <a:ext cx="0" cy="252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436"/>
            <p:cNvSpPr>
              <a:spLocks noChangeArrowheads="1"/>
            </p:cNvSpPr>
            <p:nvPr/>
          </p:nvSpPr>
          <p:spPr bwMode="auto">
            <a:xfrm>
              <a:off x="5148064" y="3852000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数值</a:t>
              </a:r>
            </a:p>
          </p:txBody>
        </p:sp>
        <p:sp>
          <p:nvSpPr>
            <p:cNvPr id="24" name="Rectangle 436"/>
            <p:cNvSpPr>
              <a:spLocks noChangeArrowheads="1"/>
            </p:cNvSpPr>
            <p:nvPr/>
          </p:nvSpPr>
          <p:spPr bwMode="auto">
            <a:xfrm>
              <a:off x="5652121" y="4356750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数值</a:t>
              </a:r>
            </a:p>
          </p:txBody>
        </p:sp>
        <p:sp>
          <p:nvSpPr>
            <p:cNvPr id="25" name="Rectangle 436"/>
            <p:cNvSpPr>
              <a:spLocks noChangeArrowheads="1"/>
            </p:cNvSpPr>
            <p:nvPr/>
          </p:nvSpPr>
          <p:spPr bwMode="auto">
            <a:xfrm>
              <a:off x="5148065" y="4356056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空位</a:t>
              </a:r>
            </a:p>
          </p:txBody>
        </p:sp>
        <p:cxnSp>
          <p:nvCxnSpPr>
            <p:cNvPr id="26" name="直接连接符 3"/>
            <p:cNvCxnSpPr/>
            <p:nvPr/>
          </p:nvCxnSpPr>
          <p:spPr bwMode="auto">
            <a:xfrm>
              <a:off x="6444209" y="3852000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3"/>
            <p:cNvCxnSpPr/>
            <p:nvPr/>
          </p:nvCxnSpPr>
          <p:spPr bwMode="auto">
            <a:xfrm>
              <a:off x="5580153" y="3996016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Line 443"/>
            <p:cNvSpPr>
              <a:spLocks noChangeShapeType="1"/>
            </p:cNvSpPr>
            <p:nvPr/>
          </p:nvSpPr>
          <p:spPr bwMode="auto">
            <a:xfrm>
              <a:off x="6660232" y="4248016"/>
              <a:ext cx="287831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444"/>
            <p:cNvSpPr>
              <a:spLocks noChangeShapeType="1"/>
            </p:cNvSpPr>
            <p:nvPr/>
          </p:nvSpPr>
          <p:spPr bwMode="auto">
            <a:xfrm flipH="1">
              <a:off x="6660233" y="3996016"/>
              <a:ext cx="0" cy="252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443">
              <a:extLst>
                <a:ext uri="{FF2B5EF4-FFF2-40B4-BE49-F238E27FC236}">
                  <a16:creationId xmlns:a16="http://schemas.microsoft.com/office/drawing/2014/main" id="{95305452-58E9-42BF-8A98-AA510D440C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9752" y="4500000"/>
              <a:ext cx="18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443">
              <a:extLst>
                <a:ext uri="{FF2B5EF4-FFF2-40B4-BE49-F238E27FC236}">
                  <a16:creationId xmlns:a16="http://schemas.microsoft.com/office/drawing/2014/main" id="{E9E74818-2D11-459D-BB90-7AF98F5A0B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8000" y="4500000"/>
              <a:ext cx="18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436">
              <a:extLst>
                <a:ext uri="{FF2B5EF4-FFF2-40B4-BE49-F238E27FC236}">
                  <a16:creationId xmlns:a16="http://schemas.microsoft.com/office/drawing/2014/main" id="{3CDF3959-FA3C-4718-AAFE-1C46EBE59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000" y="4356056"/>
              <a:ext cx="180000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436">
              <a:extLst>
                <a:ext uri="{FF2B5EF4-FFF2-40B4-BE49-F238E27FC236}">
                  <a16:creationId xmlns:a16="http://schemas.microsoft.com/office/drawing/2014/main" id="{F8BB260A-14B0-4FE5-B751-06E793F18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00" y="4356000"/>
              <a:ext cx="180000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30" grpId="0"/>
      <p:bldP spid="31" grpId="0"/>
      <p:bldP spid="11" grpId="0"/>
      <p:bldP spid="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Box 90"/>
          <p:cNvSpPr txBox="1">
            <a:spLocks noChangeArrowheads="1"/>
          </p:cNvSpPr>
          <p:nvPr/>
        </p:nvSpPr>
        <p:spPr bwMode="auto">
          <a:xfrm>
            <a:off x="179512" y="332656"/>
            <a:ext cx="2520280" cy="52371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逻辑实现：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rgbClr val="C00000"/>
                </a:solidFill>
              </a:rPr>
              <a:t> *溢出判断：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溢出特征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判断方法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82CE4-B8DF-4A94-A53C-2AF88F268973}" type="slidenum">
              <a:rPr lang="en-US" altLang="zh-CN"/>
              <a:t>51</a:t>
            </a:fld>
            <a:endParaRPr lang="en-US" altLang="zh-CN"/>
          </a:p>
        </p:txBody>
      </p:sp>
      <p:sp>
        <p:nvSpPr>
          <p:cNvPr id="254338" name="Text Box 386"/>
          <p:cNvSpPr txBox="1">
            <a:spLocks noChangeArrowheads="1"/>
          </p:cNvSpPr>
          <p:nvPr/>
        </p:nvSpPr>
        <p:spPr bwMode="auto">
          <a:xfrm>
            <a:off x="1835696" y="332656"/>
            <a:ext cx="6909109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桶形移位器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组合逻辑电路，有左移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右移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7" name="AutoShape 169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Text Box 403"/>
          <p:cNvSpPr txBox="1">
            <a:spLocks noChangeArrowheads="1"/>
          </p:cNvSpPr>
          <p:nvPr/>
        </p:nvSpPr>
        <p:spPr bwMode="auto">
          <a:xfrm>
            <a:off x="1907704" y="4221088"/>
            <a:ext cx="7056784" cy="1983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设入端为</a:t>
            </a:r>
            <a:r>
              <a:rPr lang="en-US" altLang="zh-CN" sz="2200" dirty="0">
                <a:solidFill>
                  <a:schemeClr val="tx1"/>
                </a:solidFill>
              </a:rPr>
              <a:t>D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…D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、控制端为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en-US" altLang="zh-CN" sz="2200" baseline="-18000" dirty="0">
                <a:solidFill>
                  <a:schemeClr val="tx1"/>
                </a:solidFill>
              </a:rPr>
              <a:t>k-1</a:t>
            </a:r>
            <a:r>
              <a:rPr lang="en-US" altLang="zh-CN" sz="2200" dirty="0">
                <a:solidFill>
                  <a:schemeClr val="tx1"/>
                </a:solidFill>
              </a:rPr>
              <a:t>…S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k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log</a:t>
            </a:r>
            <a:r>
              <a:rPr lang="en-US" altLang="zh-CN" sz="1800" baseline="-25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n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u="sng" dirty="0">
                <a:solidFill>
                  <a:schemeClr val="tx1"/>
                </a:solidFill>
              </a:rPr>
              <a:t>左移</a:t>
            </a:r>
            <a:r>
              <a:rPr lang="zh-CN" altLang="en-US" sz="2200" dirty="0">
                <a:solidFill>
                  <a:schemeClr val="tx1"/>
                </a:solidFill>
              </a:rPr>
              <a:t>时移丢</a:t>
            </a:r>
            <a:r>
              <a:rPr lang="zh-CN" altLang="en-US" sz="2200" u="sng" dirty="0">
                <a:solidFill>
                  <a:srgbClr val="990099"/>
                </a:solidFill>
              </a:rPr>
              <a:t>码</a:t>
            </a:r>
            <a:r>
              <a:rPr lang="en-US" altLang="zh-CN" sz="2200" u="sng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真值</a:t>
            </a:r>
            <a:r>
              <a:rPr lang="en-US" altLang="zh-CN" sz="1800" dirty="0">
                <a:solidFill>
                  <a:schemeClr val="tx1"/>
                </a:solidFill>
              </a:rPr>
              <a:t>1)</a:t>
            </a:r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u="sng" dirty="0">
                <a:solidFill>
                  <a:schemeClr val="tx1"/>
                </a:solidFill>
              </a:rPr>
              <a:t>右移</a:t>
            </a:r>
            <a:r>
              <a:rPr lang="zh-CN" altLang="en-US" sz="1800" dirty="0">
                <a:solidFill>
                  <a:schemeClr val="tx1"/>
                </a:solidFill>
              </a:rPr>
              <a:t>时移丢码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仅</a:t>
            </a:r>
            <a:r>
              <a:rPr lang="zh-CN" altLang="en-US" sz="1800" u="sng" dirty="0">
                <a:solidFill>
                  <a:schemeClr val="tx1"/>
                </a:solidFill>
              </a:rPr>
              <a:t>影响精度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2200" dirty="0">
                <a:solidFill>
                  <a:schemeClr val="tx1"/>
                </a:solidFill>
              </a:rPr>
              <a:t>  </a:t>
            </a:r>
            <a:r>
              <a:rPr lang="en-US" altLang="zh-CN" sz="2200" spc="-50" dirty="0">
                <a:solidFill>
                  <a:schemeClr val="tx1"/>
                </a:solidFill>
              </a:rPr>
              <a:t>OF</a:t>
            </a:r>
            <a:r>
              <a:rPr lang="zh-CN" altLang="en-US" sz="2200" spc="-50" dirty="0">
                <a:solidFill>
                  <a:schemeClr val="tx1"/>
                </a:solidFill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</a:rPr>
              <a:t>S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k-1</a:t>
            </a:r>
            <a:r>
              <a:rPr lang="en-US" altLang="zh-CN" sz="2200" spc="-50" dirty="0">
                <a:solidFill>
                  <a:schemeClr val="tx1"/>
                </a:solidFill>
              </a:rPr>
              <a:t>(D</a:t>
            </a:r>
            <a:r>
              <a:rPr lang="en-US" altLang="zh-CN" sz="2200" spc="-5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spc="-50" dirty="0">
                <a:solidFill>
                  <a:schemeClr val="tx1"/>
                </a:solidFill>
              </a:rPr>
              <a:t>+…+</a:t>
            </a:r>
            <a:r>
              <a:rPr lang="en-US" altLang="zh-CN" sz="2200" spc="-50" dirty="0" err="1">
                <a:solidFill>
                  <a:schemeClr val="tx1"/>
                </a:solidFill>
              </a:rPr>
              <a:t>D</a:t>
            </a:r>
            <a:r>
              <a:rPr lang="en-US" altLang="zh-CN" sz="2200" spc="-50" dirty="0" err="1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spc="-5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/2</a:t>
            </a:r>
            <a:r>
              <a:rPr lang="en-US" altLang="zh-CN" sz="2200" spc="-50" dirty="0">
                <a:solidFill>
                  <a:schemeClr val="tx1"/>
                </a:solidFill>
              </a:rPr>
              <a:t>)+S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k-2</a:t>
            </a:r>
            <a:r>
              <a:rPr lang="en-US" altLang="zh-CN" sz="2200" spc="-50" dirty="0">
                <a:solidFill>
                  <a:schemeClr val="tx1"/>
                </a:solidFill>
              </a:rPr>
              <a:t>(D</a:t>
            </a:r>
            <a:r>
              <a:rPr lang="zh-CN" altLang="en-US" sz="2200" spc="-5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spc="-50" dirty="0">
                <a:solidFill>
                  <a:schemeClr val="tx1"/>
                </a:solidFill>
              </a:rPr>
              <a:t>+…+D</a:t>
            </a:r>
            <a:r>
              <a:rPr lang="zh-CN" altLang="en-US" sz="2200" spc="-5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3n/4</a:t>
            </a:r>
            <a:r>
              <a:rPr lang="en-US" altLang="zh-CN" sz="2200" spc="-50" dirty="0">
                <a:solidFill>
                  <a:schemeClr val="tx1"/>
                </a:solidFill>
              </a:rPr>
              <a:t>)+…+S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0</a:t>
            </a:r>
            <a:r>
              <a:rPr lang="en-US" altLang="zh-CN" sz="2200" spc="-50" dirty="0">
                <a:solidFill>
                  <a:schemeClr val="tx1"/>
                </a:solidFill>
              </a:rPr>
              <a:t>D</a:t>
            </a:r>
            <a:r>
              <a:rPr lang="en-US" altLang="zh-CN" sz="2200" spc="-5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35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     如：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4</a:t>
            </a:r>
            <a:r>
              <a:rPr lang="zh-CN" altLang="en-US" sz="1800" dirty="0">
                <a:solidFill>
                  <a:schemeClr val="tx1"/>
                </a:solidFill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3</a:t>
            </a:r>
            <a:r>
              <a:rPr lang="en-US" altLang="zh-CN" sz="1800" dirty="0">
                <a:solidFill>
                  <a:schemeClr val="tx1"/>
                </a:solidFill>
              </a:rPr>
              <a:t>+D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)+S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D</a:t>
            </a:r>
            <a:r>
              <a:rPr lang="en-US" altLang="zh-CN" sz="1800" baseline="-18000" dirty="0">
                <a:solidFill>
                  <a:schemeClr val="tx1"/>
                </a:solidFill>
              </a:rPr>
              <a:t>3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n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8</a:t>
            </a:r>
            <a:r>
              <a:rPr lang="zh-CN" altLang="en-US" sz="1800" dirty="0">
                <a:solidFill>
                  <a:schemeClr val="tx1"/>
                </a:solidFill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dirty="0">
                <a:solidFill>
                  <a:schemeClr val="tx1"/>
                </a:solidFill>
              </a:rPr>
              <a:t>+…+D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18000" dirty="0">
                <a:solidFill>
                  <a:schemeClr val="tx1"/>
                </a:solidFill>
              </a:rPr>
              <a:t>4</a:t>
            </a:r>
            <a:r>
              <a:rPr lang="en-US" altLang="zh-CN" sz="1800" dirty="0">
                <a:solidFill>
                  <a:schemeClr val="tx1"/>
                </a:solidFill>
              </a:rPr>
              <a:t>)+S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dirty="0">
                <a:solidFill>
                  <a:schemeClr val="tx1"/>
                </a:solidFill>
              </a:rPr>
              <a:t>+D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6</a:t>
            </a:r>
            <a:r>
              <a:rPr lang="en-US" altLang="zh-CN" sz="1800" dirty="0">
                <a:solidFill>
                  <a:schemeClr val="tx1"/>
                </a:solidFill>
              </a:rPr>
              <a:t>)+S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D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972440" y="910238"/>
            <a:ext cx="7704016" cy="2816657"/>
            <a:chOff x="252384" y="972383"/>
            <a:chExt cx="7704016" cy="2816657"/>
          </a:xfrm>
        </p:grpSpPr>
        <p:sp>
          <p:nvSpPr>
            <p:cNvPr id="134" name="Text Box 399"/>
            <p:cNvSpPr txBox="1">
              <a:spLocks noChangeArrowheads="1"/>
            </p:cNvSpPr>
            <p:nvPr/>
          </p:nvSpPr>
          <p:spPr bwMode="auto">
            <a:xfrm>
              <a:off x="2123752" y="972383"/>
              <a:ext cx="345596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800" dirty="0">
                  <a:solidFill>
                    <a:schemeClr val="tx1"/>
                  </a:solidFill>
                </a:rPr>
                <a:t>功能表：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0</a:t>
              </a:r>
              <a:r>
                <a:rPr lang="zh-CN" altLang="en-US" sz="1800" dirty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8000" dirty="0">
                  <a:solidFill>
                    <a:schemeClr val="tx1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 &lt;&lt;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L</a:t>
              </a:r>
              <a:r>
                <a:rPr lang="en-US" altLang="zh-CN" sz="1800" dirty="0">
                  <a:solidFill>
                    <a:schemeClr val="tx1"/>
                  </a:solidFill>
                </a:rPr>
                <a:t> S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</a:rPr>
                <a:t>S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S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5" name="Text Box 399"/>
            <p:cNvSpPr txBox="1">
              <a:spLocks noChangeArrowheads="1"/>
            </p:cNvSpPr>
            <p:nvPr/>
          </p:nvSpPr>
          <p:spPr bwMode="auto">
            <a:xfrm>
              <a:off x="252384" y="1556792"/>
              <a:ext cx="7272000" cy="187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0" bIns="10800" anchor="t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 bwMode="auto">
            <a:xfrm flipH="1">
              <a:off x="4139952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7" name="直接连接符 140"/>
            <p:cNvCxnSpPr/>
            <p:nvPr/>
          </p:nvCxnSpPr>
          <p:spPr bwMode="auto">
            <a:xfrm>
              <a:off x="755576" y="2132856"/>
              <a:ext cx="691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/>
          </p:nvCxnSpPr>
          <p:spPr bwMode="auto">
            <a:xfrm>
              <a:off x="4932040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直接连接符 138"/>
            <p:cNvCxnSpPr/>
            <p:nvPr/>
          </p:nvCxnSpPr>
          <p:spPr bwMode="auto">
            <a:xfrm>
              <a:off x="6516216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连接符 139"/>
            <p:cNvCxnSpPr/>
            <p:nvPr/>
          </p:nvCxnSpPr>
          <p:spPr bwMode="auto">
            <a:xfrm>
              <a:off x="5724128" y="1484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4572000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2" name="直接连接符 141"/>
            <p:cNvCxnSpPr/>
            <p:nvPr/>
          </p:nvCxnSpPr>
          <p:spPr bwMode="auto">
            <a:xfrm>
              <a:off x="5364088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直接连接符 142"/>
            <p:cNvCxnSpPr/>
            <p:nvPr/>
          </p:nvCxnSpPr>
          <p:spPr bwMode="auto">
            <a:xfrm>
              <a:off x="6156176" y="3288622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直接连接符 143"/>
            <p:cNvCxnSpPr/>
            <p:nvPr/>
          </p:nvCxnSpPr>
          <p:spPr bwMode="auto">
            <a:xfrm>
              <a:off x="6948264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5" name="直接连接符 144"/>
            <p:cNvCxnSpPr/>
            <p:nvPr/>
          </p:nvCxnSpPr>
          <p:spPr bwMode="auto">
            <a:xfrm flipH="1">
              <a:off x="6804248" y="1700808"/>
              <a:ext cx="504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/>
          </p:nvCxnSpPr>
          <p:spPr bwMode="auto">
            <a:xfrm flipH="1" flipV="1">
              <a:off x="7236318" y="1700944"/>
              <a:ext cx="2" cy="122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sp>
          <p:nvSpPr>
            <p:cNvPr id="147" name="Text Box 399"/>
            <p:cNvSpPr txBox="1">
              <a:spLocks noChangeArrowheads="1"/>
            </p:cNvSpPr>
            <p:nvPr/>
          </p:nvSpPr>
          <p:spPr bwMode="auto">
            <a:xfrm>
              <a:off x="7308328" y="1630510"/>
              <a:ext cx="180000" cy="180000"/>
            </a:xfrm>
            <a:prstGeom prst="rect">
              <a:avLst/>
            </a:prstGeom>
            <a:solidFill>
              <a:srgbClr val="CCE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accent2"/>
                  </a:solidFill>
                </a:rPr>
                <a:t>0</a:t>
              </a:r>
              <a:endParaRPr lang="en-US" altLang="zh-CN" sz="1600" baseline="-16000" dirty="0">
                <a:solidFill>
                  <a:schemeClr val="accent2"/>
                </a:solidFill>
              </a:endParaRPr>
            </a:p>
          </p:txBody>
        </p:sp>
        <p:sp>
          <p:nvSpPr>
            <p:cNvPr id="148" name="流程图: 手动操作 147"/>
            <p:cNvSpPr/>
            <p:nvPr/>
          </p:nvSpPr>
          <p:spPr bwMode="auto">
            <a:xfrm>
              <a:off x="827648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 bwMode="auto">
            <a:xfrm flipH="1">
              <a:off x="971600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0" name="直接连接符 21"/>
            <p:cNvCxnSpPr/>
            <p:nvPr/>
          </p:nvCxnSpPr>
          <p:spPr bwMode="auto">
            <a:xfrm rot="5400000" flipH="1" flipV="1">
              <a:off x="701576" y="197080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51" name="直接连接符 150"/>
            <p:cNvCxnSpPr/>
            <p:nvPr/>
          </p:nvCxnSpPr>
          <p:spPr bwMode="auto">
            <a:xfrm>
              <a:off x="1259632" y="170078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2" name="直接连接符 151"/>
            <p:cNvCxnSpPr/>
            <p:nvPr/>
          </p:nvCxnSpPr>
          <p:spPr bwMode="auto">
            <a:xfrm>
              <a:off x="1763688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3" name="直接连接符 152"/>
            <p:cNvCxnSpPr/>
            <p:nvPr/>
          </p:nvCxnSpPr>
          <p:spPr bwMode="auto">
            <a:xfrm>
              <a:off x="2051720" y="170078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4" name="直接连接符 153"/>
            <p:cNvCxnSpPr/>
            <p:nvPr/>
          </p:nvCxnSpPr>
          <p:spPr bwMode="auto">
            <a:xfrm>
              <a:off x="2555776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5" name="直接连接符 154"/>
            <p:cNvCxnSpPr/>
            <p:nvPr/>
          </p:nvCxnSpPr>
          <p:spPr bwMode="auto">
            <a:xfrm>
              <a:off x="2843808" y="1704422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6" name="直接连接符 155"/>
            <p:cNvCxnSpPr/>
            <p:nvPr/>
          </p:nvCxnSpPr>
          <p:spPr bwMode="auto">
            <a:xfrm>
              <a:off x="3347864" y="148478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7" name="直接连接符 21"/>
            <p:cNvCxnSpPr/>
            <p:nvPr/>
          </p:nvCxnSpPr>
          <p:spPr bwMode="auto">
            <a:xfrm rot="5400000" flipH="1" flipV="1">
              <a:off x="3077840" y="197080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58" name="直接连接符 157"/>
            <p:cNvCxnSpPr/>
            <p:nvPr/>
          </p:nvCxnSpPr>
          <p:spPr bwMode="auto">
            <a:xfrm>
              <a:off x="3635896" y="170078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9" name="直接连接符 158"/>
            <p:cNvCxnSpPr/>
            <p:nvPr/>
          </p:nvCxnSpPr>
          <p:spPr bwMode="auto">
            <a:xfrm flipH="1">
              <a:off x="1259704" y="1632414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/>
          </p:nvCxnSpPr>
          <p:spPr bwMode="auto">
            <a:xfrm flipH="1">
              <a:off x="2051720" y="1628776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/>
          </p:nvCxnSpPr>
          <p:spPr bwMode="auto">
            <a:xfrm flipH="1">
              <a:off x="2843808" y="1632414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62" name="Text Box 399"/>
            <p:cNvSpPr txBox="1">
              <a:spLocks noChangeArrowheads="1"/>
            </p:cNvSpPr>
            <p:nvPr/>
          </p:nvSpPr>
          <p:spPr bwMode="auto">
            <a:xfrm>
              <a:off x="899592" y="126876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6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5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3" name="流程图: 手动操作 162"/>
            <p:cNvSpPr/>
            <p:nvPr/>
          </p:nvSpPr>
          <p:spPr bwMode="auto">
            <a:xfrm>
              <a:off x="1619736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" name="流程图: 手动操作 163"/>
            <p:cNvSpPr/>
            <p:nvPr/>
          </p:nvSpPr>
          <p:spPr bwMode="auto">
            <a:xfrm>
              <a:off x="2411744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5" name="流程图: 手动操作 164"/>
            <p:cNvSpPr/>
            <p:nvPr/>
          </p:nvSpPr>
          <p:spPr bwMode="auto">
            <a:xfrm>
              <a:off x="3203912" y="184480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6" name="直接连接符 21"/>
            <p:cNvCxnSpPr/>
            <p:nvPr/>
          </p:nvCxnSpPr>
          <p:spPr bwMode="auto">
            <a:xfrm rot="5400000" flipH="1" flipV="1">
              <a:off x="2285752" y="197085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67" name="直接连接符 21"/>
            <p:cNvCxnSpPr/>
            <p:nvPr/>
          </p:nvCxnSpPr>
          <p:spPr bwMode="auto">
            <a:xfrm rot="5400000" flipH="1" flipV="1">
              <a:off x="1493744" y="197083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168" name="流程图: 手动操作 167"/>
            <p:cNvSpPr/>
            <p:nvPr/>
          </p:nvSpPr>
          <p:spPr bwMode="auto">
            <a:xfrm>
              <a:off x="3996000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9" name="直接连接符 168"/>
            <p:cNvCxnSpPr/>
            <p:nvPr/>
          </p:nvCxnSpPr>
          <p:spPr bwMode="auto">
            <a:xfrm>
              <a:off x="4427984" y="170080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0" name="直接连接符 169"/>
            <p:cNvCxnSpPr/>
            <p:nvPr/>
          </p:nvCxnSpPr>
          <p:spPr bwMode="auto">
            <a:xfrm>
              <a:off x="5220072" y="170080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1" name="直接连接符 170"/>
            <p:cNvCxnSpPr/>
            <p:nvPr/>
          </p:nvCxnSpPr>
          <p:spPr bwMode="auto">
            <a:xfrm>
              <a:off x="6012160" y="170444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2" name="直接连接符 21"/>
            <p:cNvCxnSpPr/>
            <p:nvPr/>
          </p:nvCxnSpPr>
          <p:spPr bwMode="auto">
            <a:xfrm rot="5400000" flipH="1" flipV="1">
              <a:off x="6246192" y="197083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73" name="直接连接符 172"/>
            <p:cNvCxnSpPr/>
            <p:nvPr/>
          </p:nvCxnSpPr>
          <p:spPr bwMode="auto">
            <a:xfrm>
              <a:off x="6804248" y="170080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4" name="直接连接符 173"/>
            <p:cNvCxnSpPr/>
            <p:nvPr/>
          </p:nvCxnSpPr>
          <p:spPr bwMode="auto">
            <a:xfrm flipH="1">
              <a:off x="3635896" y="1632438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/>
          </p:nvCxnSpPr>
          <p:spPr bwMode="auto">
            <a:xfrm flipH="1">
              <a:off x="5220072" y="1628800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/>
          </p:nvCxnSpPr>
          <p:spPr bwMode="auto">
            <a:xfrm flipH="1">
              <a:off x="6012160" y="1632438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77" name="流程图: 手动操作 176"/>
            <p:cNvSpPr/>
            <p:nvPr/>
          </p:nvSpPr>
          <p:spPr bwMode="auto">
            <a:xfrm>
              <a:off x="4788088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8" name="流程图: 手动操作 177"/>
            <p:cNvSpPr/>
            <p:nvPr/>
          </p:nvSpPr>
          <p:spPr bwMode="auto">
            <a:xfrm>
              <a:off x="5580096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9" name="流程图: 手动操作 178"/>
            <p:cNvSpPr/>
            <p:nvPr/>
          </p:nvSpPr>
          <p:spPr bwMode="auto">
            <a:xfrm>
              <a:off x="6372264" y="184482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80" name="直接连接符 21"/>
            <p:cNvCxnSpPr/>
            <p:nvPr/>
          </p:nvCxnSpPr>
          <p:spPr bwMode="auto">
            <a:xfrm rot="5400000" flipH="1" flipV="1">
              <a:off x="5454104" y="197088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81" name="直接连接符 21"/>
            <p:cNvCxnSpPr/>
            <p:nvPr/>
          </p:nvCxnSpPr>
          <p:spPr bwMode="auto">
            <a:xfrm rot="5400000" flipH="1" flipV="1">
              <a:off x="4662096" y="197085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82" name="直接连接符 181"/>
            <p:cNvCxnSpPr/>
            <p:nvPr/>
          </p:nvCxnSpPr>
          <p:spPr bwMode="auto">
            <a:xfrm flipH="1">
              <a:off x="4427984" y="1628800"/>
              <a:ext cx="504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83" name="直接连接符 182"/>
            <p:cNvCxnSpPr/>
            <p:nvPr/>
          </p:nvCxnSpPr>
          <p:spPr bwMode="auto">
            <a:xfrm flipH="1">
              <a:off x="4283968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4" name="直接连接符 140"/>
            <p:cNvCxnSpPr/>
            <p:nvPr/>
          </p:nvCxnSpPr>
          <p:spPr bwMode="auto">
            <a:xfrm>
              <a:off x="899592" y="2708896"/>
              <a:ext cx="676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/>
          </p:nvCxnSpPr>
          <p:spPr bwMode="auto">
            <a:xfrm>
              <a:off x="5076056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6" name="直接连接符 185"/>
            <p:cNvCxnSpPr/>
            <p:nvPr/>
          </p:nvCxnSpPr>
          <p:spPr bwMode="auto">
            <a:xfrm>
              <a:off x="6660232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7" name="直接连接符 186"/>
            <p:cNvCxnSpPr/>
            <p:nvPr/>
          </p:nvCxnSpPr>
          <p:spPr bwMode="auto">
            <a:xfrm>
              <a:off x="5868144" y="206086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88" name="流程图: 手动操作 187"/>
            <p:cNvSpPr/>
            <p:nvPr/>
          </p:nvSpPr>
          <p:spPr bwMode="auto">
            <a:xfrm>
              <a:off x="971664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89" name="直接连接符 188"/>
            <p:cNvCxnSpPr/>
            <p:nvPr/>
          </p:nvCxnSpPr>
          <p:spPr bwMode="auto">
            <a:xfrm flipH="1">
              <a:off x="1115616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0" name="直接连接符 21"/>
            <p:cNvCxnSpPr/>
            <p:nvPr/>
          </p:nvCxnSpPr>
          <p:spPr bwMode="auto">
            <a:xfrm rot="5400000" flipH="1" flipV="1">
              <a:off x="845592" y="254684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91" name="直接连接符 190"/>
            <p:cNvCxnSpPr/>
            <p:nvPr/>
          </p:nvCxnSpPr>
          <p:spPr bwMode="auto">
            <a:xfrm>
              <a:off x="1403648" y="227682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2" name="直接连接符 191"/>
            <p:cNvCxnSpPr/>
            <p:nvPr/>
          </p:nvCxnSpPr>
          <p:spPr bwMode="auto">
            <a:xfrm>
              <a:off x="1907704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3" name="直接连接符 192"/>
            <p:cNvCxnSpPr/>
            <p:nvPr/>
          </p:nvCxnSpPr>
          <p:spPr bwMode="auto">
            <a:xfrm>
              <a:off x="2195736" y="227682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4" name="直接连接符 193"/>
            <p:cNvCxnSpPr/>
            <p:nvPr/>
          </p:nvCxnSpPr>
          <p:spPr bwMode="auto">
            <a:xfrm>
              <a:off x="2699792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5" name="直接连接符 194"/>
            <p:cNvCxnSpPr/>
            <p:nvPr/>
          </p:nvCxnSpPr>
          <p:spPr bwMode="auto">
            <a:xfrm>
              <a:off x="2987824" y="2280462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6" name="直接连接符 195"/>
            <p:cNvCxnSpPr/>
            <p:nvPr/>
          </p:nvCxnSpPr>
          <p:spPr bwMode="auto">
            <a:xfrm>
              <a:off x="3491880" y="2060824"/>
              <a:ext cx="0" cy="36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直接连接符 21"/>
            <p:cNvCxnSpPr/>
            <p:nvPr/>
          </p:nvCxnSpPr>
          <p:spPr bwMode="auto">
            <a:xfrm rot="5400000" flipH="1" flipV="1">
              <a:off x="3221856" y="254684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98" name="直接连接符 197"/>
            <p:cNvCxnSpPr/>
            <p:nvPr/>
          </p:nvCxnSpPr>
          <p:spPr bwMode="auto">
            <a:xfrm>
              <a:off x="3779912" y="227682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1403720" y="220845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200" name="流程图: 手动操作 199"/>
            <p:cNvSpPr/>
            <p:nvPr/>
          </p:nvSpPr>
          <p:spPr bwMode="auto">
            <a:xfrm>
              <a:off x="1763752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1" name="流程图: 手动操作 200"/>
            <p:cNvSpPr/>
            <p:nvPr/>
          </p:nvSpPr>
          <p:spPr bwMode="auto">
            <a:xfrm>
              <a:off x="2555760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2" name="流程图: 手动操作 201"/>
            <p:cNvSpPr/>
            <p:nvPr/>
          </p:nvSpPr>
          <p:spPr bwMode="auto">
            <a:xfrm>
              <a:off x="3347928" y="242084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03" name="直接连接符 21"/>
            <p:cNvCxnSpPr/>
            <p:nvPr/>
          </p:nvCxnSpPr>
          <p:spPr bwMode="auto">
            <a:xfrm rot="5400000" flipH="1" flipV="1">
              <a:off x="2429768" y="254689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04" name="直接连接符 21"/>
            <p:cNvCxnSpPr/>
            <p:nvPr/>
          </p:nvCxnSpPr>
          <p:spPr bwMode="auto">
            <a:xfrm rot="5400000" flipH="1" flipV="1">
              <a:off x="1637760" y="254687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205" name="流程图: 手动操作 204"/>
            <p:cNvSpPr/>
            <p:nvPr/>
          </p:nvSpPr>
          <p:spPr bwMode="auto">
            <a:xfrm>
              <a:off x="4140016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06" name="直接连接符 205"/>
            <p:cNvCxnSpPr/>
            <p:nvPr/>
          </p:nvCxnSpPr>
          <p:spPr bwMode="auto">
            <a:xfrm>
              <a:off x="4572000" y="227684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连接符 206"/>
            <p:cNvCxnSpPr/>
            <p:nvPr/>
          </p:nvCxnSpPr>
          <p:spPr bwMode="auto">
            <a:xfrm>
              <a:off x="5364088" y="227684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连接符 207"/>
            <p:cNvCxnSpPr/>
            <p:nvPr/>
          </p:nvCxnSpPr>
          <p:spPr bwMode="auto">
            <a:xfrm>
              <a:off x="6156176" y="228048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连接符 21"/>
            <p:cNvCxnSpPr/>
            <p:nvPr/>
          </p:nvCxnSpPr>
          <p:spPr bwMode="auto">
            <a:xfrm rot="5400000" flipH="1" flipV="1">
              <a:off x="6390208" y="254687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10" name="直接连接符 209"/>
            <p:cNvCxnSpPr/>
            <p:nvPr/>
          </p:nvCxnSpPr>
          <p:spPr bwMode="auto">
            <a:xfrm>
              <a:off x="6948264" y="227684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211" name="流程图: 手动操作 210"/>
            <p:cNvSpPr/>
            <p:nvPr/>
          </p:nvSpPr>
          <p:spPr bwMode="auto">
            <a:xfrm>
              <a:off x="4932104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2" name="流程图: 手动操作 211"/>
            <p:cNvSpPr/>
            <p:nvPr/>
          </p:nvSpPr>
          <p:spPr bwMode="auto">
            <a:xfrm>
              <a:off x="5724112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3" name="流程图: 手动操作 212"/>
            <p:cNvSpPr/>
            <p:nvPr/>
          </p:nvSpPr>
          <p:spPr bwMode="auto">
            <a:xfrm>
              <a:off x="6516280" y="242086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14" name="直接连接符 21"/>
            <p:cNvCxnSpPr/>
            <p:nvPr/>
          </p:nvCxnSpPr>
          <p:spPr bwMode="auto">
            <a:xfrm rot="5400000" flipH="1" flipV="1">
              <a:off x="5598120" y="254692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15" name="直接连接符 21"/>
            <p:cNvCxnSpPr/>
            <p:nvPr/>
          </p:nvCxnSpPr>
          <p:spPr bwMode="auto">
            <a:xfrm rot="5400000" flipH="1" flipV="1">
              <a:off x="4806112" y="2546896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16" name="直接连接符 215"/>
            <p:cNvCxnSpPr/>
            <p:nvPr/>
          </p:nvCxnSpPr>
          <p:spPr bwMode="auto">
            <a:xfrm flipH="1">
              <a:off x="2195736" y="220486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17" name="直接连接符 216"/>
            <p:cNvCxnSpPr/>
            <p:nvPr/>
          </p:nvCxnSpPr>
          <p:spPr bwMode="auto">
            <a:xfrm flipH="1">
              <a:off x="2988040" y="220845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18" name="直接连接符 217"/>
            <p:cNvCxnSpPr/>
            <p:nvPr/>
          </p:nvCxnSpPr>
          <p:spPr bwMode="auto">
            <a:xfrm flipH="1">
              <a:off x="3780056" y="220486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/>
          </p:nvCxnSpPr>
          <p:spPr bwMode="auto">
            <a:xfrm flipH="1">
              <a:off x="4572216" y="220845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20" name="直接连接符 219"/>
            <p:cNvCxnSpPr/>
            <p:nvPr/>
          </p:nvCxnSpPr>
          <p:spPr bwMode="auto">
            <a:xfrm flipH="1">
              <a:off x="5364232" y="2204864"/>
              <a:ext cx="1296000" cy="7356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221" name="Text Box 399"/>
            <p:cNvSpPr txBox="1">
              <a:spLocks noChangeArrowheads="1"/>
            </p:cNvSpPr>
            <p:nvPr/>
          </p:nvSpPr>
          <p:spPr bwMode="auto">
            <a:xfrm>
              <a:off x="4068248" y="126876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222" name="直接连接符 221"/>
            <p:cNvCxnSpPr/>
            <p:nvPr/>
          </p:nvCxnSpPr>
          <p:spPr bwMode="auto">
            <a:xfrm flipH="1">
              <a:off x="4436368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3" name="直接连接符 140"/>
            <p:cNvCxnSpPr/>
            <p:nvPr/>
          </p:nvCxnSpPr>
          <p:spPr bwMode="auto">
            <a:xfrm>
              <a:off x="1051992" y="3356968"/>
              <a:ext cx="655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/>
          </p:nvCxnSpPr>
          <p:spPr bwMode="auto">
            <a:xfrm>
              <a:off x="5228456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5" name="直接连接符 224"/>
            <p:cNvCxnSpPr/>
            <p:nvPr/>
          </p:nvCxnSpPr>
          <p:spPr bwMode="auto">
            <a:xfrm>
              <a:off x="6812632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6" name="直接连接符 225"/>
            <p:cNvCxnSpPr/>
            <p:nvPr/>
          </p:nvCxnSpPr>
          <p:spPr bwMode="auto">
            <a:xfrm>
              <a:off x="6020544" y="263692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27" name="流程图: 手动操作 226"/>
            <p:cNvSpPr/>
            <p:nvPr/>
          </p:nvSpPr>
          <p:spPr bwMode="auto">
            <a:xfrm>
              <a:off x="1124064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28" name="直接连接符 227"/>
            <p:cNvCxnSpPr/>
            <p:nvPr/>
          </p:nvCxnSpPr>
          <p:spPr bwMode="auto">
            <a:xfrm flipH="1">
              <a:off x="1268016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9" name="直接连接符 21"/>
            <p:cNvCxnSpPr/>
            <p:nvPr/>
          </p:nvCxnSpPr>
          <p:spPr bwMode="auto">
            <a:xfrm rot="5400000" flipH="1" flipV="1">
              <a:off x="997992" y="319492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230" name="直接连接符 229"/>
            <p:cNvCxnSpPr/>
            <p:nvPr/>
          </p:nvCxnSpPr>
          <p:spPr bwMode="auto">
            <a:xfrm>
              <a:off x="1556048" y="292489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1" name="直接连接符 230"/>
            <p:cNvCxnSpPr/>
            <p:nvPr/>
          </p:nvCxnSpPr>
          <p:spPr bwMode="auto">
            <a:xfrm>
              <a:off x="2060104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2" name="直接连接符 231"/>
            <p:cNvCxnSpPr/>
            <p:nvPr/>
          </p:nvCxnSpPr>
          <p:spPr bwMode="auto">
            <a:xfrm>
              <a:off x="2348136" y="292489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3" name="直接连接符 232"/>
            <p:cNvCxnSpPr/>
            <p:nvPr/>
          </p:nvCxnSpPr>
          <p:spPr bwMode="auto">
            <a:xfrm>
              <a:off x="2852192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4" name="直接连接符 233"/>
            <p:cNvCxnSpPr/>
            <p:nvPr/>
          </p:nvCxnSpPr>
          <p:spPr bwMode="auto">
            <a:xfrm>
              <a:off x="3140224" y="292853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5" name="直接连接符 234"/>
            <p:cNvCxnSpPr/>
            <p:nvPr/>
          </p:nvCxnSpPr>
          <p:spPr bwMode="auto">
            <a:xfrm>
              <a:off x="3644280" y="2636888"/>
              <a:ext cx="0" cy="43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6" name="直接连接符 21"/>
            <p:cNvCxnSpPr/>
            <p:nvPr/>
          </p:nvCxnSpPr>
          <p:spPr bwMode="auto">
            <a:xfrm rot="5400000" flipH="1" flipV="1">
              <a:off x="3374256" y="3194920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37" name="直接连接符 236"/>
            <p:cNvCxnSpPr/>
            <p:nvPr/>
          </p:nvCxnSpPr>
          <p:spPr bwMode="auto">
            <a:xfrm>
              <a:off x="3932312" y="2924896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8" name="直接连接符 237"/>
            <p:cNvCxnSpPr/>
            <p:nvPr/>
          </p:nvCxnSpPr>
          <p:spPr bwMode="auto">
            <a:xfrm flipH="1">
              <a:off x="1556120" y="278451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239" name="流程图: 手动操作 238"/>
            <p:cNvSpPr/>
            <p:nvPr/>
          </p:nvSpPr>
          <p:spPr bwMode="auto">
            <a:xfrm>
              <a:off x="1916152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0" name="流程图: 手动操作 239"/>
            <p:cNvSpPr/>
            <p:nvPr/>
          </p:nvSpPr>
          <p:spPr bwMode="auto">
            <a:xfrm>
              <a:off x="2708160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1" name="流程图: 手动操作 240"/>
            <p:cNvSpPr/>
            <p:nvPr/>
          </p:nvSpPr>
          <p:spPr bwMode="auto">
            <a:xfrm>
              <a:off x="3500328" y="3068912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42" name="直接连接符 21"/>
            <p:cNvCxnSpPr/>
            <p:nvPr/>
          </p:nvCxnSpPr>
          <p:spPr bwMode="auto">
            <a:xfrm rot="5400000" flipH="1" flipV="1">
              <a:off x="2582168" y="319496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43" name="直接连接符 21"/>
            <p:cNvCxnSpPr/>
            <p:nvPr/>
          </p:nvCxnSpPr>
          <p:spPr bwMode="auto">
            <a:xfrm rot="5400000" flipH="1" flipV="1">
              <a:off x="1790160" y="3194944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244" name="流程图: 手动操作 243"/>
            <p:cNvSpPr/>
            <p:nvPr/>
          </p:nvSpPr>
          <p:spPr bwMode="auto">
            <a:xfrm>
              <a:off x="4292416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45" name="直接连接符 244"/>
            <p:cNvCxnSpPr/>
            <p:nvPr/>
          </p:nvCxnSpPr>
          <p:spPr bwMode="auto">
            <a:xfrm>
              <a:off x="4724400" y="292494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6" name="直接连接符 245"/>
            <p:cNvCxnSpPr/>
            <p:nvPr/>
          </p:nvCxnSpPr>
          <p:spPr bwMode="auto">
            <a:xfrm>
              <a:off x="5516488" y="292492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47" name="直接连接符 246"/>
            <p:cNvCxnSpPr/>
            <p:nvPr/>
          </p:nvCxnSpPr>
          <p:spPr bwMode="auto">
            <a:xfrm>
              <a:off x="6308576" y="2928558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48" name="直接连接符 21"/>
            <p:cNvCxnSpPr/>
            <p:nvPr/>
          </p:nvCxnSpPr>
          <p:spPr bwMode="auto">
            <a:xfrm rot="5400000" flipH="1" flipV="1">
              <a:off x="6542608" y="3194944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49" name="直接连接符 248"/>
            <p:cNvCxnSpPr/>
            <p:nvPr/>
          </p:nvCxnSpPr>
          <p:spPr bwMode="auto">
            <a:xfrm>
              <a:off x="7100664" y="292492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250" name="流程图: 手动操作 249"/>
            <p:cNvSpPr/>
            <p:nvPr/>
          </p:nvSpPr>
          <p:spPr bwMode="auto">
            <a:xfrm>
              <a:off x="5084504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1" name="流程图: 手动操作 250"/>
            <p:cNvSpPr/>
            <p:nvPr/>
          </p:nvSpPr>
          <p:spPr bwMode="auto">
            <a:xfrm>
              <a:off x="5876512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2" name="流程图: 手动操作 251"/>
            <p:cNvSpPr/>
            <p:nvPr/>
          </p:nvSpPr>
          <p:spPr bwMode="auto">
            <a:xfrm>
              <a:off x="6668680" y="30689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53" name="直接连接符 21"/>
            <p:cNvCxnSpPr/>
            <p:nvPr/>
          </p:nvCxnSpPr>
          <p:spPr bwMode="auto">
            <a:xfrm rot="5400000" flipH="1" flipV="1">
              <a:off x="5750520" y="3194992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54" name="直接连接符 21"/>
            <p:cNvCxnSpPr/>
            <p:nvPr/>
          </p:nvCxnSpPr>
          <p:spPr bwMode="auto">
            <a:xfrm rot="5400000" flipH="1" flipV="1">
              <a:off x="4958512" y="3194968"/>
              <a:ext cx="216000" cy="108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255" name="直接连接符 254"/>
            <p:cNvCxnSpPr/>
            <p:nvPr/>
          </p:nvCxnSpPr>
          <p:spPr bwMode="auto">
            <a:xfrm flipH="1">
              <a:off x="2348136" y="278092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6" name="直接连接符 255"/>
            <p:cNvCxnSpPr/>
            <p:nvPr/>
          </p:nvCxnSpPr>
          <p:spPr bwMode="auto">
            <a:xfrm flipH="1">
              <a:off x="3140440" y="278451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7" name="直接连接符 256"/>
            <p:cNvCxnSpPr/>
            <p:nvPr/>
          </p:nvCxnSpPr>
          <p:spPr bwMode="auto">
            <a:xfrm flipH="1">
              <a:off x="3932456" y="2780928"/>
              <a:ext cx="288000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/>
          </p:nvCxnSpPr>
          <p:spPr bwMode="auto">
            <a:xfrm flipH="1">
              <a:off x="6156176" y="2276872"/>
              <a:ext cx="108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/>
          </p:nvCxnSpPr>
          <p:spPr bwMode="auto">
            <a:xfrm flipH="1">
              <a:off x="4716016" y="2924944"/>
              <a:ext cx="252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/>
          </p:nvCxnSpPr>
          <p:spPr bwMode="auto">
            <a:xfrm>
              <a:off x="1403648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1" name="直接连接符 260"/>
            <p:cNvCxnSpPr/>
            <p:nvPr/>
          </p:nvCxnSpPr>
          <p:spPr bwMode="auto">
            <a:xfrm>
              <a:off x="2195736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/>
          </p:nvCxnSpPr>
          <p:spPr bwMode="auto">
            <a:xfrm>
              <a:off x="2987824" y="3288622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/>
          </p:nvCxnSpPr>
          <p:spPr bwMode="auto">
            <a:xfrm>
              <a:off x="3779912" y="3284984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4" name="Text Box 399"/>
            <p:cNvSpPr txBox="1">
              <a:spLocks noChangeArrowheads="1"/>
            </p:cNvSpPr>
            <p:nvPr/>
          </p:nvSpPr>
          <p:spPr bwMode="auto">
            <a:xfrm>
              <a:off x="1331640" y="357304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7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6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5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5" name="Text Box 399"/>
            <p:cNvSpPr txBox="1">
              <a:spLocks noChangeArrowheads="1"/>
            </p:cNvSpPr>
            <p:nvPr/>
          </p:nvSpPr>
          <p:spPr bwMode="auto">
            <a:xfrm>
              <a:off x="4500296" y="3573040"/>
              <a:ext cx="27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1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2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 </a:t>
              </a:r>
              <a:r>
                <a:rPr lang="en-US" altLang="zh-CN" sz="1800" spc="300" dirty="0">
                  <a:solidFill>
                    <a:schemeClr val="tx1"/>
                  </a:solidFill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6" name="Text Box 399"/>
            <p:cNvSpPr txBox="1">
              <a:spLocks noChangeArrowheads="1"/>
            </p:cNvSpPr>
            <p:nvPr/>
          </p:nvSpPr>
          <p:spPr bwMode="auto">
            <a:xfrm>
              <a:off x="7668400" y="2566614"/>
              <a:ext cx="288000" cy="21431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rgbClr val="FF3399"/>
                  </a:solidFill>
                </a:rPr>
                <a:t>S</a:t>
              </a:r>
              <a:r>
                <a:rPr lang="en-US" altLang="zh-CN" sz="1800" baseline="-16000" dirty="0">
                  <a:solidFill>
                    <a:srgbClr val="FF3399"/>
                  </a:solidFill>
                </a:rPr>
                <a:t>1</a:t>
              </a:r>
            </a:p>
          </p:txBody>
        </p:sp>
        <p:sp>
          <p:nvSpPr>
            <p:cNvPr id="267" name="Text Box 399"/>
            <p:cNvSpPr txBox="1">
              <a:spLocks noChangeArrowheads="1"/>
            </p:cNvSpPr>
            <p:nvPr/>
          </p:nvSpPr>
          <p:spPr bwMode="auto">
            <a:xfrm>
              <a:off x="7668400" y="1988840"/>
              <a:ext cx="288000" cy="21431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rgbClr val="FF3399"/>
                  </a:solidFill>
                </a:rPr>
                <a:t>S</a:t>
              </a:r>
              <a:r>
                <a:rPr lang="en-US" altLang="zh-CN" sz="1800" baseline="-16000" dirty="0">
                  <a:solidFill>
                    <a:srgbClr val="FF3399"/>
                  </a:solidFill>
                </a:rPr>
                <a:t>0</a:t>
              </a:r>
            </a:p>
          </p:txBody>
        </p:sp>
        <p:sp>
          <p:nvSpPr>
            <p:cNvPr id="268" name="Text Box 399"/>
            <p:cNvSpPr txBox="1">
              <a:spLocks noChangeArrowheads="1"/>
            </p:cNvSpPr>
            <p:nvPr/>
          </p:nvSpPr>
          <p:spPr bwMode="auto">
            <a:xfrm>
              <a:off x="7668368" y="3212976"/>
              <a:ext cx="288000" cy="21431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rgbClr val="FF3399"/>
                  </a:solidFill>
                </a:rPr>
                <a:t>S</a:t>
              </a:r>
              <a:r>
                <a:rPr lang="en-US" altLang="zh-CN" sz="1800" baseline="-16000" dirty="0">
                  <a:solidFill>
                    <a:srgbClr val="FF3399"/>
                  </a:solidFill>
                </a:rPr>
                <a:t>2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9552" y="1628062"/>
            <a:ext cx="3816088" cy="1370256"/>
            <a:chOff x="539552" y="1554536"/>
            <a:chExt cx="3816088" cy="1370256"/>
          </a:xfrm>
        </p:grpSpPr>
        <p:cxnSp>
          <p:nvCxnSpPr>
            <p:cNvPr id="128" name="直接连接符 127"/>
            <p:cNvCxnSpPr/>
            <p:nvPr/>
          </p:nvCxnSpPr>
          <p:spPr bwMode="auto">
            <a:xfrm flipH="1">
              <a:off x="1331728" y="2060848"/>
              <a:ext cx="504000" cy="72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9" name="直接连接符 128"/>
            <p:cNvCxnSpPr/>
            <p:nvPr/>
          </p:nvCxnSpPr>
          <p:spPr bwMode="auto">
            <a:xfrm flipH="1">
              <a:off x="1331816" y="2060848"/>
              <a:ext cx="1296000" cy="144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30" name="直接连接符 129"/>
            <p:cNvCxnSpPr/>
            <p:nvPr/>
          </p:nvCxnSpPr>
          <p:spPr bwMode="auto">
            <a:xfrm flipH="1">
              <a:off x="1331712" y="1554536"/>
              <a:ext cx="360000" cy="72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31" name="Text Box 399"/>
            <p:cNvSpPr txBox="1">
              <a:spLocks noChangeArrowheads="1"/>
            </p:cNvSpPr>
            <p:nvPr/>
          </p:nvSpPr>
          <p:spPr bwMode="auto">
            <a:xfrm>
              <a:off x="1043640" y="1556792"/>
              <a:ext cx="288000" cy="1368000"/>
            </a:xfrm>
            <a:prstGeom prst="rect">
              <a:avLst/>
            </a:prstGeom>
            <a:solidFill>
              <a:srgbClr val="FFCC66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800" dirty="0">
                  <a:solidFill>
                    <a:schemeClr val="tx1"/>
                  </a:solidFill>
                </a:rPr>
                <a:t>溢出判断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cxnSp>
          <p:nvCxnSpPr>
            <p:cNvPr id="269" name="直接连接符 268"/>
            <p:cNvCxnSpPr/>
            <p:nvPr/>
          </p:nvCxnSpPr>
          <p:spPr bwMode="auto">
            <a:xfrm flipH="1">
              <a:off x="1331640" y="2636928"/>
              <a:ext cx="648000" cy="36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0" name="直接连接符 269"/>
            <p:cNvCxnSpPr/>
            <p:nvPr/>
          </p:nvCxnSpPr>
          <p:spPr bwMode="auto">
            <a:xfrm flipH="1">
              <a:off x="1331640" y="2636928"/>
              <a:ext cx="1440000" cy="72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1" name="直接连接符 270"/>
            <p:cNvCxnSpPr/>
            <p:nvPr/>
          </p:nvCxnSpPr>
          <p:spPr bwMode="auto">
            <a:xfrm flipH="1">
              <a:off x="1331640" y="2636928"/>
              <a:ext cx="2232000" cy="108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/>
          </p:nvCxnSpPr>
          <p:spPr bwMode="auto">
            <a:xfrm flipH="1">
              <a:off x="1331640" y="2636912"/>
              <a:ext cx="3024000" cy="144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/>
          </p:nvCxnSpPr>
          <p:spPr bwMode="auto">
            <a:xfrm flipH="1">
              <a:off x="827584" y="2276872"/>
              <a:ext cx="215984" cy="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74" name="Text Box 399"/>
            <p:cNvSpPr txBox="1">
              <a:spLocks noChangeArrowheads="1"/>
            </p:cNvSpPr>
            <p:nvPr/>
          </p:nvSpPr>
          <p:spPr bwMode="auto">
            <a:xfrm>
              <a:off x="539552" y="2132856"/>
              <a:ext cx="28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OF</a:t>
              </a:r>
            </a:p>
          </p:txBody>
        </p:sp>
      </p:grpSp>
      <p:sp>
        <p:nvSpPr>
          <p:cNvPr id="104" name="Text Box 2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03510" y="3861080"/>
            <a:ext cx="356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为什么不用移位寄存器实现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105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075714" y="3861080"/>
            <a:ext cx="2952589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每个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CLK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才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移动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275" name="Text Box 399">
            <a:extLst>
              <a:ext uri="{FF2B5EF4-FFF2-40B4-BE49-F238E27FC236}">
                <a16:creationId xmlns:a16="http://schemas.microsoft.com/office/drawing/2014/main" id="{33C94778-1840-4C3A-A6EE-618F41384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9416" y="476672"/>
            <a:ext cx="2157080" cy="737245"/>
          </a:xfrm>
          <a:prstGeom prst="rect">
            <a:avLst/>
          </a:prstGeom>
          <a:solidFill>
            <a:srgbClr val="CCCCFF">
              <a:alpha val="80000"/>
            </a:srgbClr>
          </a:solidFill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2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</a:rPr>
              <a:t>001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en-US" altLang="zh-CN" sz="1600" baseline="-18000" dirty="0">
                <a:solidFill>
                  <a:schemeClr val="tx1"/>
                </a:solidFill>
              </a:rPr>
              <a:t>6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2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</a:rPr>
              <a:t>010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en-US" altLang="zh-CN" sz="1600" baseline="-18000" dirty="0">
                <a:solidFill>
                  <a:schemeClr val="tx1"/>
                </a:solidFill>
              </a:rPr>
              <a:t>5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en-US" altLang="zh-CN" sz="1600" dirty="0">
                <a:solidFill>
                  <a:schemeClr val="tx1"/>
                </a:solidFill>
              </a:rPr>
              <a:t>00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2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S</a:t>
            </a:r>
            <a:r>
              <a:rPr lang="en-US" altLang="zh-CN" sz="1600" baseline="-160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＝</a:t>
            </a:r>
            <a:r>
              <a:rPr lang="en-US" altLang="zh-CN" sz="1600" dirty="0">
                <a:solidFill>
                  <a:schemeClr val="tx1"/>
                </a:solidFill>
              </a:rPr>
              <a:t>100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en-US" altLang="zh-CN" sz="1600" baseline="-18000" dirty="0">
                <a:solidFill>
                  <a:schemeClr val="tx1"/>
                </a:solidFill>
              </a:rPr>
              <a:t>3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600" dirty="0">
                <a:solidFill>
                  <a:schemeClr val="tx1"/>
                </a:solidFill>
              </a:rPr>
              <a:t>D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en-US" altLang="zh-CN" sz="1600" dirty="0">
                <a:solidFill>
                  <a:schemeClr val="tx1"/>
                </a:solidFill>
              </a:rPr>
              <a:t>0000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338" grpId="0" bldLvl="0" animBg="1"/>
      <p:bldP spid="104" grpId="0" animBg="1"/>
      <p:bldP spid="105" grpId="0"/>
      <p:bldP spid="27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38" name="Text Box 22"/>
          <p:cNvSpPr txBox="1">
            <a:spLocks noChangeArrowheads="1"/>
          </p:cNvSpPr>
          <p:nvPr/>
        </p:nvSpPr>
        <p:spPr bwMode="auto">
          <a:xfrm>
            <a:off x="179389" y="331200"/>
            <a:ext cx="4464620" cy="62435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、算术移位</a:t>
            </a:r>
            <a:r>
              <a:rPr lang="en-US" altLang="zh-CN" sz="1800" dirty="0">
                <a:solidFill>
                  <a:srgbClr val="FF3399"/>
                </a:solidFill>
              </a:rPr>
              <a:t>(</a:t>
            </a:r>
            <a:r>
              <a:rPr lang="en-US" altLang="zh-CN" sz="1800" b="0" dirty="0">
                <a:solidFill>
                  <a:srgbClr val="FF3399"/>
                </a:solidFill>
                <a:latin typeface="+mn-lt"/>
              </a:rPr>
              <a:t>Arithmetic shift</a:t>
            </a:r>
            <a:r>
              <a:rPr lang="en-US" altLang="zh-CN" sz="1800" dirty="0">
                <a:solidFill>
                  <a:srgbClr val="FF3399"/>
                </a:solidFill>
              </a:rPr>
              <a:t>)</a:t>
            </a:r>
            <a:r>
              <a:rPr lang="zh-CN" altLang="en-US" dirty="0">
                <a:solidFill>
                  <a:srgbClr val="FF3399"/>
                </a:solidFill>
              </a:rPr>
              <a:t>运算    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运算方法：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空位添补规则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补码移位逻辑改进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       (</a:t>
            </a:r>
            <a:r>
              <a:rPr lang="zh-CN" altLang="en-US" sz="1600" dirty="0">
                <a:solidFill>
                  <a:srgbClr val="FF3399"/>
                </a:solidFill>
              </a:rPr>
              <a:t>仅需考虑不溢出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逻辑实现：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下页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溢出判断：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下页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64" name="Text Box 6">
            <a:extLst>
              <a:ext uri="{FF2B5EF4-FFF2-40B4-BE49-F238E27FC236}">
                <a16:creationId xmlns:a16="http://schemas.microsoft.com/office/drawing/2014/main" id="{CA7472CD-7DAA-44F9-8B8C-47CF9CAB5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4869160"/>
            <a:ext cx="6264819" cy="15374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    符号与数值位</a:t>
            </a:r>
            <a:r>
              <a:rPr lang="zh-CN" altLang="en-US" sz="2200" u="sng" dirty="0">
                <a:solidFill>
                  <a:srgbClr val="990099"/>
                </a:solidFill>
              </a:rPr>
              <a:t>一起移位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1800" dirty="0">
                <a:solidFill>
                  <a:srgbClr val="0070C0"/>
                </a:solidFill>
              </a:rPr>
              <a:t>  如：</a:t>
            </a:r>
            <a:r>
              <a:rPr lang="en-US" altLang="zh-CN" sz="1800" u="sng" spc="200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  <a:r>
              <a:rPr lang="en-US" altLang="zh-CN" sz="1800" spc="200" dirty="0">
                <a:solidFill>
                  <a:schemeClr val="tx1"/>
                </a:solidFill>
                <a:highlight>
                  <a:srgbClr val="CC99FF"/>
                </a:highlight>
              </a:rPr>
              <a:t>0</a:t>
            </a:r>
            <a:r>
              <a:rPr lang="en-US" altLang="zh-CN" sz="1800" spc="200" dirty="0">
                <a:solidFill>
                  <a:schemeClr val="tx1"/>
                </a:solidFill>
              </a:rPr>
              <a:t>11</a:t>
            </a:r>
            <a:r>
              <a:rPr lang="en-US" altLang="zh-CN" sz="1800" dirty="0">
                <a:solidFill>
                  <a:schemeClr val="tx1"/>
                </a:solidFill>
              </a:rPr>
              <a:t>&lt;&lt;</a:t>
            </a:r>
            <a:r>
              <a:rPr lang="en-US" altLang="zh-CN" sz="1800" baseline="-180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  <a:highlight>
                  <a:srgbClr val="CC99FF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11</a:t>
            </a:r>
            <a:r>
              <a:rPr lang="en-US" altLang="zh-CN" sz="1800" dirty="0">
                <a:solidFill>
                  <a:schemeClr val="accent2"/>
                </a:solidFill>
                <a:highlight>
                  <a:srgbClr val="FFCC99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rgbClr val="FF3399"/>
                </a:solidFill>
              </a:rPr>
              <a:t>√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u="sng" spc="2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spc="200" dirty="0">
                <a:solidFill>
                  <a:schemeClr val="tx1"/>
                </a:solidFill>
                <a:highlight>
                  <a:srgbClr val="CC99FF"/>
                </a:highlight>
              </a:rPr>
              <a:t>1</a:t>
            </a:r>
            <a:r>
              <a:rPr lang="en-US" altLang="zh-CN" sz="1800" spc="200" dirty="0">
                <a:solidFill>
                  <a:schemeClr val="tx1"/>
                </a:solidFill>
              </a:rPr>
              <a:t>01</a:t>
            </a:r>
            <a:r>
              <a:rPr lang="en-US" altLang="zh-CN" sz="1800" dirty="0">
                <a:solidFill>
                  <a:schemeClr val="tx1"/>
                </a:solidFill>
              </a:rPr>
              <a:t>&gt;&gt;</a:t>
            </a:r>
            <a:r>
              <a:rPr lang="en-US" altLang="zh-CN" sz="1800" baseline="-180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CC99FF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0(</a:t>
            </a:r>
            <a:r>
              <a:rPr lang="en-US" altLang="zh-CN" sz="1800" dirty="0">
                <a:solidFill>
                  <a:srgbClr val="FF3399"/>
                </a:solidFill>
              </a:rPr>
              <a:t>√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1800" baseline="-18000" dirty="0">
              <a:solidFill>
                <a:srgbClr val="C00000"/>
              </a:solidFill>
            </a:endParaRPr>
          </a:p>
        </p:txBody>
      </p:sp>
      <p:sp>
        <p:nvSpPr>
          <p:cNvPr id="1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E22D-6816-48EB-8EDC-05469F5F8085}" type="slidenum">
              <a:rPr lang="en-US" altLang="zh-CN"/>
              <a:t>52</a:t>
            </a:fld>
            <a:endParaRPr lang="en-US" altLang="zh-CN"/>
          </a:p>
        </p:txBody>
      </p:sp>
      <p:graphicFrame>
        <p:nvGraphicFramePr>
          <p:cNvPr id="393554" name="Group 3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378449"/>
              </p:ext>
            </p:extLst>
          </p:nvPr>
        </p:nvGraphicFramePr>
        <p:xfrm>
          <a:off x="1547664" y="3645024"/>
          <a:ext cx="7272808" cy="1170136"/>
        </p:xfrm>
        <a:graphic>
          <a:graphicData uri="http://schemas.openxmlformats.org/drawingml/2006/table">
            <a:tbl>
              <a:tblPr/>
              <a:tblGrid>
                <a:gridCol w="220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401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例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原码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补码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原码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补码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45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+2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左移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(Y&lt;&lt;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+4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(Y&gt;&gt;</a:t>
                      </a:r>
                      <a:r>
                        <a:rPr kumimoji="1" lang="en-US" altLang="zh-CN" sz="1800" b="1" i="0" u="none" strike="noStrike" kern="1200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+1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3298" name="Text Box 82"/>
          <p:cNvSpPr txBox="1">
            <a:spLocks noChangeArrowheads="1"/>
          </p:cNvSpPr>
          <p:nvPr/>
        </p:nvSpPr>
        <p:spPr bwMode="auto">
          <a:xfrm>
            <a:off x="1835696" y="836712"/>
            <a:ext cx="6952120" cy="8634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机器数符号位</a:t>
            </a:r>
            <a:r>
              <a:rPr lang="zh-CN" altLang="en-US" sz="2200" u="sng" dirty="0">
                <a:solidFill>
                  <a:srgbClr val="990099"/>
                </a:solidFill>
              </a:rPr>
              <a:t>不变</a:t>
            </a:r>
            <a:r>
              <a:rPr lang="zh-CN" altLang="en-US" sz="2200" dirty="0">
                <a:solidFill>
                  <a:schemeClr val="tx1"/>
                </a:solidFill>
              </a:rPr>
              <a:t>、数值位</a:t>
            </a:r>
            <a:r>
              <a:rPr lang="zh-CN" altLang="en-US" sz="2200" u="sng" dirty="0">
                <a:solidFill>
                  <a:srgbClr val="990099"/>
                </a:solidFill>
              </a:rPr>
              <a:t>整体移位</a:t>
            </a:r>
            <a:r>
              <a:rPr lang="zh-CN" altLang="en-US" sz="2200" dirty="0">
                <a:solidFill>
                  <a:schemeClr val="tx1"/>
                </a:solidFill>
              </a:rPr>
              <a:t>；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spc="-100" dirty="0">
                <a:solidFill>
                  <a:schemeClr val="tx1"/>
                </a:solidFill>
              </a:rPr>
              <a:t>移出的数位</a:t>
            </a:r>
            <a:r>
              <a:rPr lang="zh-CN" altLang="en-US" sz="2200" u="sng" spc="-100" dirty="0">
                <a:solidFill>
                  <a:srgbClr val="990099"/>
                </a:solidFill>
              </a:rPr>
              <a:t>丢弃</a:t>
            </a:r>
            <a:r>
              <a:rPr lang="zh-CN" altLang="en-US" sz="2200" spc="-100" dirty="0">
                <a:solidFill>
                  <a:schemeClr val="tx1"/>
                </a:solidFill>
              </a:rPr>
              <a:t>，出现的</a:t>
            </a:r>
            <a:r>
              <a:rPr lang="zh-CN" altLang="en-US" sz="2200" dirty="0">
                <a:solidFill>
                  <a:schemeClr val="tx1"/>
                </a:solidFill>
              </a:rPr>
              <a:t>空位</a:t>
            </a:r>
            <a:r>
              <a:rPr lang="zh-CN" altLang="en-US" sz="2200" u="sng" dirty="0">
                <a:solidFill>
                  <a:srgbClr val="990099"/>
                </a:solidFill>
              </a:rPr>
              <a:t>按编码特征添补</a:t>
            </a:r>
            <a:endParaRPr lang="en-US" altLang="zh-CN" sz="2200" u="sng" dirty="0">
              <a:solidFill>
                <a:srgbClr val="990099"/>
              </a:solidFill>
            </a:endParaRPr>
          </a:p>
        </p:txBody>
      </p:sp>
      <p:graphicFrame>
        <p:nvGraphicFramePr>
          <p:cNvPr id="393584" name="Group 3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12057"/>
              </p:ext>
            </p:extLst>
          </p:nvPr>
        </p:nvGraphicFramePr>
        <p:xfrm>
          <a:off x="2987824" y="2564904"/>
          <a:ext cx="4896544" cy="889812"/>
        </p:xfrm>
        <a:graphic>
          <a:graphicData uri="http://schemas.openxmlformats.org/drawingml/2006/table">
            <a:tbl>
              <a:tblPr/>
              <a:tblGrid>
                <a:gridCol w="71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码制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符号位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左移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空位添补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右移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空位添补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原码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保持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不变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补符号位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3572" name="Text Box 356"/>
          <p:cNvSpPr txBox="1">
            <a:spLocks noChangeArrowheads="1"/>
          </p:cNvSpPr>
          <p:nvPr/>
        </p:nvSpPr>
        <p:spPr bwMode="auto">
          <a:xfrm>
            <a:off x="7091635" y="4221088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010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0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</a:endParaRPr>
          </a:p>
        </p:txBody>
      </p:sp>
      <p:sp>
        <p:nvSpPr>
          <p:cNvPr id="393573" name="Text Box 357"/>
          <p:cNvSpPr txBox="1">
            <a:spLocks noChangeArrowheads="1"/>
          </p:cNvSpPr>
          <p:nvPr/>
        </p:nvSpPr>
        <p:spPr bwMode="auto">
          <a:xfrm>
            <a:off x="8027739" y="4221088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110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0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111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" name="Text Box 356"/>
          <p:cNvSpPr txBox="1">
            <a:spLocks noChangeArrowheads="1"/>
          </p:cNvSpPr>
          <p:nvPr/>
        </p:nvSpPr>
        <p:spPr bwMode="auto">
          <a:xfrm>
            <a:off x="4499347" y="4232075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010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0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Text Box 357"/>
          <p:cNvSpPr txBox="1">
            <a:spLocks noChangeArrowheads="1"/>
          </p:cNvSpPr>
          <p:nvPr/>
        </p:nvSpPr>
        <p:spPr bwMode="auto">
          <a:xfrm>
            <a:off x="5364088" y="4232075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36000" tIns="10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010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0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  <a:r>
              <a:rPr lang="en-US" altLang="zh-CN" sz="1800" dirty="0">
                <a:solidFill>
                  <a:srgbClr val="FF3399"/>
                </a:solidFill>
                <a:highlight>
                  <a:srgbClr val="FFCC99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695EF94-5366-4765-897D-A28E0BC53F08}"/>
              </a:ext>
            </a:extLst>
          </p:cNvPr>
          <p:cNvGrpSpPr/>
          <p:nvPr/>
        </p:nvGrpSpPr>
        <p:grpSpPr>
          <a:xfrm>
            <a:off x="2771800" y="1700808"/>
            <a:ext cx="4104456" cy="720000"/>
            <a:chOff x="6732240" y="1772816"/>
            <a:chExt cx="4104456" cy="72000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69154107-2834-4E10-B683-D30077E0FE0B}"/>
                </a:ext>
              </a:extLst>
            </p:cNvPr>
            <p:cNvGrpSpPr/>
            <p:nvPr/>
          </p:nvGrpSpPr>
          <p:grpSpPr>
            <a:xfrm>
              <a:off x="6732240" y="1772816"/>
              <a:ext cx="1728216" cy="720000"/>
              <a:chOff x="2627784" y="2196000"/>
              <a:chExt cx="1728216" cy="720000"/>
            </a:xfrm>
          </p:grpSpPr>
          <p:sp>
            <p:nvSpPr>
              <p:cNvPr id="52" name="Rectangle 436">
                <a:extLst>
                  <a:ext uri="{FF2B5EF4-FFF2-40B4-BE49-F238E27FC236}">
                    <a16:creationId xmlns:a16="http://schemas.microsoft.com/office/drawing/2014/main" id="{3361BA6D-10D5-4D69-B87A-22970CF5D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2196000"/>
                <a:ext cx="432000" cy="252000"/>
              </a:xfrm>
              <a:prstGeom prst="rect">
                <a:avLst/>
              </a:prstGeom>
              <a:solidFill>
                <a:srgbClr val="00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符号</a:t>
                </a:r>
              </a:p>
            </p:txBody>
          </p:sp>
          <p:sp>
            <p:nvSpPr>
              <p:cNvPr id="53" name="Rectangle 436">
                <a:extLst>
                  <a:ext uri="{FF2B5EF4-FFF2-40B4-BE49-F238E27FC236}">
                    <a16:creationId xmlns:a16="http://schemas.microsoft.com/office/drawing/2014/main" id="{5F26BC9D-6399-4C29-AF11-DD1555ECD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9831" y="2196000"/>
                <a:ext cx="1296000" cy="252000"/>
              </a:xfrm>
              <a:prstGeom prst="rect">
                <a:avLst/>
              </a:prstGeom>
              <a:solidFill>
                <a:srgbClr val="CCE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数值</a:t>
                </a:r>
              </a:p>
            </p:txBody>
          </p:sp>
          <p:sp>
            <p:nvSpPr>
              <p:cNvPr id="54" name="Rectangle 436">
                <a:extLst>
                  <a:ext uri="{FF2B5EF4-FFF2-40B4-BE49-F238E27FC236}">
                    <a16:creationId xmlns:a16="http://schemas.microsoft.com/office/drawing/2014/main" id="{3100B95F-85B6-4AC8-B5B9-F094E2C54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7784" y="2664000"/>
                <a:ext cx="432000" cy="252000"/>
              </a:xfrm>
              <a:prstGeom prst="rect">
                <a:avLst/>
              </a:prstGeom>
              <a:solidFill>
                <a:srgbClr val="00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符号</a:t>
                </a:r>
              </a:p>
            </p:txBody>
          </p:sp>
          <p:sp>
            <p:nvSpPr>
              <p:cNvPr id="55" name="Rectangle 436">
                <a:extLst>
                  <a:ext uri="{FF2B5EF4-FFF2-40B4-BE49-F238E27FC236}">
                    <a16:creationId xmlns:a16="http://schemas.microsoft.com/office/drawing/2014/main" id="{1D021635-1321-46EC-964A-2561E1292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9832" y="2664000"/>
                <a:ext cx="864000" cy="252000"/>
              </a:xfrm>
              <a:prstGeom prst="rect">
                <a:avLst/>
              </a:prstGeom>
              <a:solidFill>
                <a:srgbClr val="CCE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数值</a:t>
                </a:r>
              </a:p>
            </p:txBody>
          </p:sp>
          <p:sp>
            <p:nvSpPr>
              <p:cNvPr id="56" name="Rectangle 436">
                <a:extLst>
                  <a:ext uri="{FF2B5EF4-FFF2-40B4-BE49-F238E27FC236}">
                    <a16:creationId xmlns:a16="http://schemas.microsoft.com/office/drawing/2014/main" id="{1653204F-68AF-4F5A-9AEA-996A1C115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4000" y="2664000"/>
                <a:ext cx="432000" cy="252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空位</a:t>
                </a:r>
              </a:p>
            </p:txBody>
          </p:sp>
          <p:cxnSp>
            <p:nvCxnSpPr>
              <p:cNvPr id="57" name="直接连接符 3">
                <a:extLst>
                  <a:ext uri="{FF2B5EF4-FFF2-40B4-BE49-F238E27FC236}">
                    <a16:creationId xmlns:a16="http://schemas.microsoft.com/office/drawing/2014/main" id="{5BE540E3-3010-4856-A673-E98DA9FD1C46}"/>
                  </a:ext>
                </a:extLst>
              </p:cNvPr>
              <p:cNvCxnSpPr/>
              <p:nvPr/>
            </p:nvCxnSpPr>
            <p:spPr bwMode="auto">
              <a:xfrm>
                <a:off x="3492000" y="2196000"/>
                <a:ext cx="0" cy="252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直接连接符 3">
                <a:extLst>
                  <a:ext uri="{FF2B5EF4-FFF2-40B4-BE49-F238E27FC236}">
                    <a16:creationId xmlns:a16="http://schemas.microsoft.com/office/drawing/2014/main" id="{737F83D8-3623-44FC-92C9-B08EE9273F4D}"/>
                  </a:ext>
                </a:extLst>
              </p:cNvPr>
              <p:cNvCxnSpPr/>
              <p:nvPr/>
            </p:nvCxnSpPr>
            <p:spPr bwMode="auto">
              <a:xfrm flipH="1">
                <a:off x="3708000" y="2340016"/>
                <a:ext cx="360000" cy="46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59" name="Line 443">
                <a:extLst>
                  <a:ext uri="{FF2B5EF4-FFF2-40B4-BE49-F238E27FC236}">
                    <a16:creationId xmlns:a16="http://schemas.microsoft.com/office/drawing/2014/main" id="{6763EFF1-D4EA-4768-B25F-3BC04074D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9832" y="2556000"/>
                <a:ext cx="214313" cy="0"/>
              </a:xfrm>
              <a:prstGeom prst="line">
                <a:avLst/>
              </a:prstGeom>
              <a:noFill/>
              <a:ln w="15875">
                <a:solidFill>
                  <a:srgbClr val="9900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444">
                <a:extLst>
                  <a:ext uri="{FF2B5EF4-FFF2-40B4-BE49-F238E27FC236}">
                    <a16:creationId xmlns:a16="http://schemas.microsoft.com/office/drawing/2014/main" id="{581E56F1-4E01-4F06-AD5F-74C34030E4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5856" y="2340016"/>
                <a:ext cx="0" cy="216000"/>
              </a:xfrm>
              <a:prstGeom prst="line">
                <a:avLst/>
              </a:prstGeom>
              <a:noFill/>
              <a:ln w="15875">
                <a:solidFill>
                  <a:srgbClr val="990099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61" name="直接连接符 3">
                <a:extLst>
                  <a:ext uri="{FF2B5EF4-FFF2-40B4-BE49-F238E27FC236}">
                    <a16:creationId xmlns:a16="http://schemas.microsoft.com/office/drawing/2014/main" id="{0640B831-8DA5-4430-B5E9-4312FCEDDD46}"/>
                  </a:ext>
                </a:extLst>
              </p:cNvPr>
              <p:cNvCxnSpPr/>
              <p:nvPr/>
            </p:nvCxnSpPr>
            <p:spPr bwMode="auto">
              <a:xfrm>
                <a:off x="2843808" y="2448000"/>
                <a:ext cx="0" cy="217412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5FA9F01F-9DA4-4E3E-A58D-21AE75423BF9}"/>
                </a:ext>
              </a:extLst>
            </p:cNvPr>
            <p:cNvGrpSpPr/>
            <p:nvPr/>
          </p:nvGrpSpPr>
          <p:grpSpPr>
            <a:xfrm>
              <a:off x="9072961" y="1772816"/>
              <a:ext cx="1763735" cy="720000"/>
              <a:chOff x="5436096" y="2196000"/>
              <a:chExt cx="1763735" cy="720000"/>
            </a:xfrm>
          </p:grpSpPr>
          <p:sp>
            <p:nvSpPr>
              <p:cNvPr id="42" name="Rectangle 436">
                <a:extLst>
                  <a:ext uri="{FF2B5EF4-FFF2-40B4-BE49-F238E27FC236}">
                    <a16:creationId xmlns:a16="http://schemas.microsoft.com/office/drawing/2014/main" id="{A9498C34-4118-4B7B-A48B-8DF18C5F4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6096" y="2196000"/>
                <a:ext cx="432000" cy="252000"/>
              </a:xfrm>
              <a:prstGeom prst="rect">
                <a:avLst/>
              </a:prstGeom>
              <a:solidFill>
                <a:srgbClr val="00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符号</a:t>
                </a:r>
              </a:p>
            </p:txBody>
          </p:sp>
          <p:sp>
            <p:nvSpPr>
              <p:cNvPr id="43" name="Rectangle 436">
                <a:extLst>
                  <a:ext uri="{FF2B5EF4-FFF2-40B4-BE49-F238E27FC236}">
                    <a16:creationId xmlns:a16="http://schemas.microsoft.com/office/drawing/2014/main" id="{4017BB2B-3994-4287-96DD-E98CB5563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8143" y="2196000"/>
                <a:ext cx="1296000" cy="252000"/>
              </a:xfrm>
              <a:prstGeom prst="rect">
                <a:avLst/>
              </a:prstGeom>
              <a:solidFill>
                <a:srgbClr val="CCE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数值</a:t>
                </a:r>
              </a:p>
            </p:txBody>
          </p:sp>
          <p:sp>
            <p:nvSpPr>
              <p:cNvPr id="44" name="Rectangle 436">
                <a:extLst>
                  <a:ext uri="{FF2B5EF4-FFF2-40B4-BE49-F238E27FC236}">
                    <a16:creationId xmlns:a16="http://schemas.microsoft.com/office/drawing/2014/main" id="{98EEE426-792A-4F84-95CF-9F6CA371C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6096" y="2664000"/>
                <a:ext cx="432000" cy="252000"/>
              </a:xfrm>
              <a:prstGeom prst="rect">
                <a:avLst/>
              </a:prstGeom>
              <a:solidFill>
                <a:srgbClr val="00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符号</a:t>
                </a:r>
              </a:p>
            </p:txBody>
          </p:sp>
          <p:sp>
            <p:nvSpPr>
              <p:cNvPr id="45" name="Rectangle 436">
                <a:extLst>
                  <a:ext uri="{FF2B5EF4-FFF2-40B4-BE49-F238E27FC236}">
                    <a16:creationId xmlns:a16="http://schemas.microsoft.com/office/drawing/2014/main" id="{D280AAFF-8BFD-4D3E-ACB2-1DBF00EE7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0000" y="2664000"/>
                <a:ext cx="864000" cy="252000"/>
              </a:xfrm>
              <a:prstGeom prst="rect">
                <a:avLst/>
              </a:prstGeom>
              <a:solidFill>
                <a:srgbClr val="CCE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数值</a:t>
                </a:r>
              </a:p>
            </p:txBody>
          </p:sp>
          <p:sp>
            <p:nvSpPr>
              <p:cNvPr id="46" name="Rectangle 436">
                <a:extLst>
                  <a:ext uri="{FF2B5EF4-FFF2-40B4-BE49-F238E27FC236}">
                    <a16:creationId xmlns:a16="http://schemas.microsoft.com/office/drawing/2014/main" id="{C67F3065-9B16-4B49-9BC4-44DCAB9BD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8144" y="2664000"/>
                <a:ext cx="432000" cy="252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空位</a:t>
                </a:r>
              </a:p>
            </p:txBody>
          </p:sp>
          <p:cxnSp>
            <p:nvCxnSpPr>
              <p:cNvPr id="47" name="直接连接符 3">
                <a:extLst>
                  <a:ext uri="{FF2B5EF4-FFF2-40B4-BE49-F238E27FC236}">
                    <a16:creationId xmlns:a16="http://schemas.microsoft.com/office/drawing/2014/main" id="{DA2793F7-6B1B-4F2A-8B81-47ACD66DE438}"/>
                  </a:ext>
                </a:extLst>
              </p:cNvPr>
              <p:cNvCxnSpPr/>
              <p:nvPr/>
            </p:nvCxnSpPr>
            <p:spPr bwMode="auto">
              <a:xfrm>
                <a:off x="6732000" y="2196000"/>
                <a:ext cx="0" cy="252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直接连接符 3">
                <a:extLst>
                  <a:ext uri="{FF2B5EF4-FFF2-40B4-BE49-F238E27FC236}">
                    <a16:creationId xmlns:a16="http://schemas.microsoft.com/office/drawing/2014/main" id="{5D9DFD47-B430-48C9-8A99-467C0304EBBC}"/>
                  </a:ext>
                </a:extLst>
              </p:cNvPr>
              <p:cNvCxnSpPr/>
              <p:nvPr/>
            </p:nvCxnSpPr>
            <p:spPr bwMode="auto">
              <a:xfrm>
                <a:off x="6120000" y="2340016"/>
                <a:ext cx="360000" cy="46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49" name="Line 443">
                <a:extLst>
                  <a:ext uri="{FF2B5EF4-FFF2-40B4-BE49-F238E27FC236}">
                    <a16:creationId xmlns:a16="http://schemas.microsoft.com/office/drawing/2014/main" id="{B463B519-745C-446F-AF4B-8891189F6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2000" y="2556000"/>
                <a:ext cx="287831" cy="0"/>
              </a:xfrm>
              <a:prstGeom prst="line">
                <a:avLst/>
              </a:prstGeom>
              <a:noFill/>
              <a:ln w="15875">
                <a:solidFill>
                  <a:srgbClr val="9900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444">
                <a:extLst>
                  <a:ext uri="{FF2B5EF4-FFF2-40B4-BE49-F238E27FC236}">
                    <a16:creationId xmlns:a16="http://schemas.microsoft.com/office/drawing/2014/main" id="{7DADBCA4-B921-4725-9E43-CDA29F099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12000" y="2340016"/>
                <a:ext cx="0" cy="216000"/>
              </a:xfrm>
              <a:prstGeom prst="line">
                <a:avLst/>
              </a:prstGeom>
              <a:noFill/>
              <a:ln w="15875">
                <a:solidFill>
                  <a:srgbClr val="990099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51" name="直接连接符 3">
                <a:extLst>
                  <a:ext uri="{FF2B5EF4-FFF2-40B4-BE49-F238E27FC236}">
                    <a16:creationId xmlns:a16="http://schemas.microsoft.com/office/drawing/2014/main" id="{98E237A9-511F-4293-A587-FEF8BA6109F0}"/>
                  </a:ext>
                </a:extLst>
              </p:cNvPr>
              <p:cNvCxnSpPr/>
              <p:nvPr/>
            </p:nvCxnSpPr>
            <p:spPr bwMode="auto">
              <a:xfrm>
                <a:off x="5652120" y="2448000"/>
                <a:ext cx="0" cy="217412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cxnSp>
        <p:nvCxnSpPr>
          <p:cNvPr id="65" name="直接连接符 3">
            <a:extLst>
              <a:ext uri="{FF2B5EF4-FFF2-40B4-BE49-F238E27FC236}">
                <a16:creationId xmlns:a16="http://schemas.microsoft.com/office/drawing/2014/main" id="{B1536B89-DB7C-4320-84BC-29E6BF86711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 flipV="1">
            <a:off x="1115616" y="5589240"/>
            <a:ext cx="180384" cy="504056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7837DE4-150F-4DB8-821D-25B05105BB0B}"/>
              </a:ext>
            </a:extLst>
          </p:cNvPr>
          <p:cNvGrpSpPr/>
          <p:nvPr/>
        </p:nvGrpSpPr>
        <p:grpSpPr>
          <a:xfrm>
            <a:off x="3132448" y="5301219"/>
            <a:ext cx="1691640" cy="684308"/>
            <a:chOff x="5386" y="2097"/>
            <a:chExt cx="2664" cy="1078"/>
          </a:xfrm>
        </p:grpSpPr>
        <p:sp>
          <p:nvSpPr>
            <p:cNvPr id="38" name="Text Box 442">
              <a:extLst>
                <a:ext uri="{FF2B5EF4-FFF2-40B4-BE49-F238E27FC236}">
                  <a16:creationId xmlns:a16="http://schemas.microsoft.com/office/drawing/2014/main" id="{87DB4DEC-E76A-4D60-9ADF-0A91AA78E178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726" y="2097"/>
              <a:ext cx="56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n-2</a:t>
              </a:r>
            </a:p>
          </p:txBody>
        </p:sp>
        <p:sp>
          <p:nvSpPr>
            <p:cNvPr id="39" name="Rectangle 435">
              <a:extLst>
                <a:ext uri="{FF2B5EF4-FFF2-40B4-BE49-F238E27FC236}">
                  <a16:creationId xmlns:a16="http://schemas.microsoft.com/office/drawing/2014/main" id="{1E997422-7C64-4C17-A9D7-334197D6D67F}"/>
                </a:ext>
              </a:extLst>
            </p:cNvPr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293" y="226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62" name="Rectangle 436">
              <a:extLst>
                <a:ext uri="{FF2B5EF4-FFF2-40B4-BE49-F238E27FC236}">
                  <a16:creationId xmlns:a16="http://schemas.microsoft.com/office/drawing/2014/main" id="{DCE0FD3E-44D9-41F5-9593-922A3BA39A8F}"/>
                </a:ext>
              </a:extLst>
            </p:cNvPr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386" y="2268"/>
              <a:ext cx="22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63" name="Text Box 442">
              <a:extLst>
                <a:ext uri="{FF2B5EF4-FFF2-40B4-BE49-F238E27FC236}">
                  <a16:creationId xmlns:a16="http://schemas.microsoft.com/office/drawing/2014/main" id="{A1D10A5B-9873-446F-89DE-5B29A1918BF9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823" y="2268"/>
              <a:ext cx="22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6" name="直接连接符 3">
              <a:extLst>
                <a:ext uri="{FF2B5EF4-FFF2-40B4-BE49-F238E27FC236}">
                  <a16:creationId xmlns:a16="http://schemas.microsoft.com/office/drawing/2014/main" id="{7F1E72DE-3D56-472C-A820-4EC74BA6328D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953" y="243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3">
              <a:extLst>
                <a:ext uri="{FF2B5EF4-FFF2-40B4-BE49-F238E27FC236}">
                  <a16:creationId xmlns:a16="http://schemas.microsoft.com/office/drawing/2014/main" id="{784EB29E-CF2F-4F79-A278-3C490400B8D0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7541" y="245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3">
              <a:extLst>
                <a:ext uri="{FF2B5EF4-FFF2-40B4-BE49-F238E27FC236}">
                  <a16:creationId xmlns:a16="http://schemas.microsoft.com/office/drawing/2014/main" id="{0EFEF0EC-FA74-4DF8-A562-CC2C40641DE8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6520" y="243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直接连接符 3">
              <a:extLst>
                <a:ext uri="{FF2B5EF4-FFF2-40B4-BE49-F238E27FC236}">
                  <a16:creationId xmlns:a16="http://schemas.microsoft.com/office/drawing/2014/main" id="{44860FD9-9C79-40BF-A95A-EAE36EF5FEBC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5953" y="243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0" name="Rectangle 435">
              <a:extLst>
                <a:ext uri="{FF2B5EF4-FFF2-40B4-BE49-F238E27FC236}">
                  <a16:creationId xmlns:a16="http://schemas.microsoft.com/office/drawing/2014/main" id="{F25C0624-001E-441E-8C3D-9AF2F86B4FA5}"/>
                </a:ext>
              </a:extLst>
            </p:cNvPr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293" y="277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71" name="Rectangle 436">
              <a:extLst>
                <a:ext uri="{FF2B5EF4-FFF2-40B4-BE49-F238E27FC236}">
                  <a16:creationId xmlns:a16="http://schemas.microsoft.com/office/drawing/2014/main" id="{EE9C779F-464E-48DE-B5DA-7CEFF0166D80}"/>
                </a:ext>
              </a:extLst>
            </p:cNvPr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386" y="2778"/>
              <a:ext cx="22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72" name="直接连接符 3">
              <a:extLst>
                <a:ext uri="{FF2B5EF4-FFF2-40B4-BE49-F238E27FC236}">
                  <a16:creationId xmlns:a16="http://schemas.microsoft.com/office/drawing/2014/main" id="{82AC9C99-C035-43D2-B076-B335C5DE0ED0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7540" y="294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3">
              <a:extLst>
                <a:ext uri="{FF2B5EF4-FFF2-40B4-BE49-F238E27FC236}">
                  <a16:creationId xmlns:a16="http://schemas.microsoft.com/office/drawing/2014/main" id="{1E529CBD-BF26-43EC-A1D4-B2A20F46BB1D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6522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3">
              <a:extLst>
                <a:ext uri="{FF2B5EF4-FFF2-40B4-BE49-F238E27FC236}">
                  <a16:creationId xmlns:a16="http://schemas.microsoft.com/office/drawing/2014/main" id="{95344503-302B-4241-B518-251BE59D2082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>
              <a:off x="7880" y="294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直接连接符 3">
              <a:extLst>
                <a:ext uri="{FF2B5EF4-FFF2-40B4-BE49-F238E27FC236}">
                  <a16:creationId xmlns:a16="http://schemas.microsoft.com/office/drawing/2014/main" id="{6229C441-2E1C-4646-B834-2EA3CC66D8F3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5614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FDAF93DF-D8F9-4987-A147-90FF943F0D81}"/>
              </a:ext>
            </a:extLst>
          </p:cNvPr>
          <p:cNvGrpSpPr/>
          <p:nvPr/>
        </p:nvGrpSpPr>
        <p:grpSpPr>
          <a:xfrm>
            <a:off x="5436448" y="5301208"/>
            <a:ext cx="2087880" cy="728980"/>
            <a:chOff x="8844" y="2097"/>
            <a:chExt cx="3288" cy="1148"/>
          </a:xfrm>
        </p:grpSpPr>
        <p:cxnSp>
          <p:nvCxnSpPr>
            <p:cNvPr id="77" name="直接连接符 3">
              <a:extLst>
                <a:ext uri="{FF2B5EF4-FFF2-40B4-BE49-F238E27FC236}">
                  <a16:creationId xmlns:a16="http://schemas.microsoft.com/office/drawing/2014/main" id="{DF608287-F133-47EA-A88A-EE4D8DE5E125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 bwMode="auto">
            <a:xfrm>
              <a:off x="10035" y="2948"/>
              <a:ext cx="0" cy="29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78" name="直接连接符 3">
              <a:extLst>
                <a:ext uri="{FF2B5EF4-FFF2-40B4-BE49-F238E27FC236}">
                  <a16:creationId xmlns:a16="http://schemas.microsoft.com/office/drawing/2014/main" id="{B001D4EC-37C6-4B42-A3C6-267111A7E6D7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8844" y="2452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9" name="Text Box 442">
              <a:extLst>
                <a:ext uri="{FF2B5EF4-FFF2-40B4-BE49-F238E27FC236}">
                  <a16:creationId xmlns:a16="http://schemas.microsoft.com/office/drawing/2014/main" id="{1173F141-5699-42E5-AABF-3528B7D70CDE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864" y="2097"/>
              <a:ext cx="56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n-2</a:t>
              </a:r>
            </a:p>
          </p:txBody>
        </p:sp>
        <p:sp>
          <p:nvSpPr>
            <p:cNvPr id="80" name="Text Box 442">
              <a:extLst>
                <a:ext uri="{FF2B5EF4-FFF2-40B4-BE49-F238E27FC236}">
                  <a16:creationId xmlns:a16="http://schemas.microsoft.com/office/drawing/2014/main" id="{03CE8D6F-7E5C-4F93-B72B-F4E892D27282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957" y="2097"/>
              <a:ext cx="56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n-1</a:t>
              </a:r>
            </a:p>
          </p:txBody>
        </p:sp>
        <p:sp>
          <p:nvSpPr>
            <p:cNvPr id="81" name="Rectangle 435">
              <a:extLst>
                <a:ext uri="{FF2B5EF4-FFF2-40B4-BE49-F238E27FC236}">
                  <a16:creationId xmlns:a16="http://schemas.microsoft.com/office/drawing/2014/main" id="{6B09F3DE-3193-4667-AAF2-4A7D988A7C40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431" y="226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82" name="Rectangle 436">
              <a:extLst>
                <a:ext uri="{FF2B5EF4-FFF2-40B4-BE49-F238E27FC236}">
                  <a16:creationId xmlns:a16="http://schemas.microsoft.com/office/drawing/2014/main" id="{84DF8320-F817-44C8-9065-C974C05FE691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524" y="2268"/>
              <a:ext cx="22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83" name="Text Box 442">
              <a:extLst>
                <a:ext uri="{FF2B5EF4-FFF2-40B4-BE49-F238E27FC236}">
                  <a16:creationId xmlns:a16="http://schemas.microsoft.com/office/drawing/2014/main" id="{40190F9C-B5F3-42CE-A5F9-2475427E7ABF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905" y="2268"/>
              <a:ext cx="22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4" name="直接连接符 3">
              <a:extLst>
                <a:ext uri="{FF2B5EF4-FFF2-40B4-BE49-F238E27FC236}">
                  <a16:creationId xmlns:a16="http://schemas.microsoft.com/office/drawing/2014/main" id="{420357DD-A1F3-4B67-ACFB-3F03BF56185B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11679" y="245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3">
              <a:extLst>
                <a:ext uri="{FF2B5EF4-FFF2-40B4-BE49-F238E27FC236}">
                  <a16:creationId xmlns:a16="http://schemas.microsoft.com/office/drawing/2014/main" id="{D8C72F71-3E60-41B1-9FD1-B9736A710B0F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10658" y="243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6" name="Rectangle 435">
              <a:extLst>
                <a:ext uri="{FF2B5EF4-FFF2-40B4-BE49-F238E27FC236}">
                  <a16:creationId xmlns:a16="http://schemas.microsoft.com/office/drawing/2014/main" id="{0B01CA6C-A19C-48A4-ADF8-8D0E59D70F04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431" y="2778"/>
              <a:ext cx="124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87" name="Rectangle 436">
              <a:extLst>
                <a:ext uri="{FF2B5EF4-FFF2-40B4-BE49-F238E27FC236}">
                  <a16:creationId xmlns:a16="http://schemas.microsoft.com/office/drawing/2014/main" id="{FEEDD17D-DC0D-4F2D-A0BA-5B2B66CC984B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524" y="2778"/>
              <a:ext cx="22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latin typeface="宋体" panose="02010600030101010101" pitchFamily="2" charset="-122"/>
              </a:endParaRPr>
            </a:p>
          </p:txBody>
        </p:sp>
        <p:cxnSp>
          <p:nvCxnSpPr>
            <p:cNvPr id="88" name="直接连接符 3">
              <a:extLst>
                <a:ext uri="{FF2B5EF4-FFF2-40B4-BE49-F238E27FC236}">
                  <a16:creationId xmlns:a16="http://schemas.microsoft.com/office/drawing/2014/main" id="{70575A3B-926A-45E8-8446-E3CD9B7C8F54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11678" y="294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3">
              <a:extLst>
                <a:ext uri="{FF2B5EF4-FFF2-40B4-BE49-F238E27FC236}">
                  <a16:creationId xmlns:a16="http://schemas.microsoft.com/office/drawing/2014/main" id="{7B1E49B4-0EE0-4394-BB97-0A9AFF359C7C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10660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0" name="直接连接符 3">
              <a:extLst>
                <a:ext uri="{FF2B5EF4-FFF2-40B4-BE49-F238E27FC236}">
                  <a16:creationId xmlns:a16="http://schemas.microsoft.com/office/drawing/2014/main" id="{D81B986D-AB18-4004-8B26-3BBB9643CB8A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12018" y="2948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" name="直接连接符 3">
              <a:extLst>
                <a:ext uri="{FF2B5EF4-FFF2-40B4-BE49-F238E27FC236}">
                  <a16:creationId xmlns:a16="http://schemas.microsoft.com/office/drawing/2014/main" id="{4E0E33ED-7B42-450F-9ADC-38AB80AD1C62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9752" y="294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" name="直接连接符 3">
              <a:extLst>
                <a:ext uri="{FF2B5EF4-FFF2-40B4-BE49-F238E27FC236}">
                  <a16:creationId xmlns:a16="http://schemas.microsoft.com/office/drawing/2014/main" id="{59DF1DF5-9811-43AE-94B0-FA5243C0E67C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9751" y="2438"/>
              <a:ext cx="6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3" name="直接连接符 3">
              <a:extLst>
                <a:ext uri="{FF2B5EF4-FFF2-40B4-BE49-F238E27FC236}">
                  <a16:creationId xmlns:a16="http://schemas.microsoft.com/office/drawing/2014/main" id="{89F59A4C-DDCE-4B51-8F97-9B946ED61CF2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9524" y="243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3">
              <a:extLst>
                <a:ext uri="{FF2B5EF4-FFF2-40B4-BE49-F238E27FC236}">
                  <a16:creationId xmlns:a16="http://schemas.microsoft.com/office/drawing/2014/main" id="{A0DE32CA-04BE-4593-A74B-7613C6EF9C83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9184" y="294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3">
              <a:extLst>
                <a:ext uri="{FF2B5EF4-FFF2-40B4-BE49-F238E27FC236}">
                  <a16:creationId xmlns:a16="http://schemas.microsoft.com/office/drawing/2014/main" id="{728B43EC-584C-4870-BA9D-34EA7FEBBB6D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9524" y="294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直接连接符 3">
              <a:extLst>
                <a:ext uri="{FF2B5EF4-FFF2-40B4-BE49-F238E27FC236}">
                  <a16:creationId xmlns:a16="http://schemas.microsoft.com/office/drawing/2014/main" id="{99BB1711-0E08-482E-8098-D3F36D8D4000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9184" y="3231"/>
              <a:ext cx="85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3">
              <a:extLst>
                <a:ext uri="{FF2B5EF4-FFF2-40B4-BE49-F238E27FC236}">
                  <a16:creationId xmlns:a16="http://schemas.microsoft.com/office/drawing/2014/main" id="{0BDE89CA-B264-4C28-98F6-371B9A9B74AE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9184" y="2948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8" name="右箭头 478">
            <a:extLst>
              <a:ext uri="{FF2B5EF4-FFF2-40B4-BE49-F238E27FC236}">
                <a16:creationId xmlns:a16="http://schemas.microsoft.com/office/drawing/2014/main" id="{87DDFA16-2527-4105-B0CD-291B9931C65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968448" y="5589403"/>
            <a:ext cx="360045" cy="216535"/>
          </a:xfrm>
          <a:prstGeom prst="right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Text Box 6">
            <a:extLst>
              <a:ext uri="{FF2B5EF4-FFF2-40B4-BE49-F238E27FC236}">
                <a16:creationId xmlns:a16="http://schemas.microsoft.com/office/drawing/2014/main" id="{3E0405F4-CE59-4163-90BD-8E96484C7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3697" y="4869160"/>
            <a:ext cx="2872669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便于复用</a:t>
            </a:r>
            <a:r>
              <a:rPr lang="zh-CN" altLang="en-US" sz="1800" u="sng" dirty="0">
                <a:solidFill>
                  <a:schemeClr val="tx1"/>
                </a:solidFill>
              </a:rPr>
              <a:t>逻辑移位</a:t>
            </a:r>
            <a:r>
              <a:rPr lang="zh-CN" altLang="en-US" sz="1800" dirty="0">
                <a:solidFill>
                  <a:schemeClr val="tx1"/>
                </a:solidFill>
              </a:rPr>
              <a:t>电路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00" name="AutoShape 29">
            <a:extLst>
              <a:ext uri="{FF2B5EF4-FFF2-40B4-BE49-F238E27FC236}">
                <a16:creationId xmlns:a16="http://schemas.microsoft.com/office/drawing/2014/main" id="{048B160B-5A91-4B8B-9FCF-C4697B7E0588}"/>
              </a:ext>
            </a:extLst>
          </p:cNvPr>
          <p:cNvSpPr/>
          <p:nvPr/>
        </p:nvSpPr>
        <p:spPr bwMode="auto">
          <a:xfrm>
            <a:off x="124932" y="3717032"/>
            <a:ext cx="1260000" cy="792000"/>
          </a:xfrm>
          <a:prstGeom prst="borderCallout2">
            <a:avLst>
              <a:gd name="adj1" fmla="val 100040"/>
              <a:gd name="adj2" fmla="val 30449"/>
              <a:gd name="adj3" fmla="val 127534"/>
              <a:gd name="adj4" fmla="val 30478"/>
              <a:gd name="adj5" fmla="val 153661"/>
              <a:gd name="adj6" fmla="val 8124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</a:rPr>
              <a:t>原码</a:t>
            </a:r>
            <a:r>
              <a:rPr lang="zh-CN" altLang="en-US" sz="1800" dirty="0">
                <a:solidFill>
                  <a:schemeClr val="tx1"/>
                </a:solidFill>
              </a:rPr>
              <a:t>符号位不参与，同逻辑移位</a:t>
            </a:r>
            <a:endParaRPr lang="en-US" altLang="zh-CN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3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9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932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932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98" grpId="0" autoUpdateAnimBg="0"/>
      <p:bldP spid="393572" grpId="0"/>
      <p:bldP spid="393573" grpId="0"/>
      <p:bldP spid="14" grpId="0"/>
      <p:bldP spid="15" grpId="0"/>
      <p:bldP spid="98" grpId="0" animBg="1"/>
      <p:bldP spid="10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53</a:t>
            </a:fld>
            <a:endParaRPr lang="en-US" altLang="zh-CN"/>
          </a:p>
        </p:txBody>
      </p:sp>
      <p:sp>
        <p:nvSpPr>
          <p:cNvPr id="69" name="AutoShape 62">
            <a:hlinkClick r:id="rId69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8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02" name="AutoShape 10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996631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Text Box 429">
            <a:extLst>
              <a:ext uri="{FF2B5EF4-FFF2-40B4-BE49-F238E27FC236}">
                <a16:creationId xmlns:a16="http://schemas.microsoft.com/office/drawing/2014/main" id="{568FD27D-3387-4387-A82A-B09FE840CA9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262" y="332656"/>
            <a:ext cx="7057284" cy="50611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逻辑实现：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指补码算术移位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1800" dirty="0">
              <a:solidFill>
                <a:srgbClr val="C00000"/>
              </a:solidFill>
            </a:endParaRPr>
          </a:p>
          <a:p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溢出判断：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指补码算术移位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2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溢出特征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990099"/>
              </a:solidFill>
            </a:endParaRPr>
          </a:p>
          <a:p>
            <a:endParaRPr lang="en-US" altLang="zh-CN" sz="1800" dirty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600" dirty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dirty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判断方法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B2A5208-B40D-4E7E-B9DC-C820727A20D9}"/>
              </a:ext>
            </a:extLst>
          </p:cNvPr>
          <p:cNvGrpSpPr/>
          <p:nvPr/>
        </p:nvGrpSpPr>
        <p:grpSpPr>
          <a:xfrm>
            <a:off x="4824408" y="1484784"/>
            <a:ext cx="3420000" cy="1188000"/>
            <a:chOff x="4716000" y="4140000"/>
            <a:chExt cx="3420000" cy="1188000"/>
          </a:xfrm>
        </p:grpSpPr>
        <p:sp>
          <p:nvSpPr>
            <p:cNvPr id="88" name="Rectangle 435">
              <a:extLst>
                <a:ext uri="{FF2B5EF4-FFF2-40B4-BE49-F238E27FC236}">
                  <a16:creationId xmlns:a16="http://schemas.microsoft.com/office/drawing/2014/main" id="{519C52E5-B523-4758-8194-E902C2323FCA}"/>
                </a:ext>
              </a:extLst>
            </p:cNvPr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076000" y="4428000"/>
              <a:ext cx="2232000" cy="61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9" name="直接连接符 3">
              <a:extLst>
                <a:ext uri="{FF2B5EF4-FFF2-40B4-BE49-F238E27FC236}">
                  <a16:creationId xmlns:a16="http://schemas.microsoft.com/office/drawing/2014/main" id="{02BC29B4-079A-4D26-913D-1EE5C4728AFF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5256000" y="4572315"/>
              <a:ext cx="0" cy="1079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0" name="Rectangle 436">
              <a:extLst>
                <a:ext uri="{FF2B5EF4-FFF2-40B4-BE49-F238E27FC236}">
                  <a16:creationId xmlns:a16="http://schemas.microsoft.com/office/drawing/2014/main" id="{1181885F-A5A1-4E7A-8D47-5056DC126060}"/>
                </a:ext>
              </a:extLst>
            </p:cNvPr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400000" y="4644060"/>
              <a:ext cx="360045" cy="21587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91" name="直接连接符 3">
              <a:extLst>
                <a:ext uri="{FF2B5EF4-FFF2-40B4-BE49-F238E27FC236}">
                  <a16:creationId xmlns:a16="http://schemas.microsoft.com/office/drawing/2014/main" id="{498C99EF-41F5-4BCD-8B0C-E43E05E33FB2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256000" y="4824375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" name="直接连接符 3">
              <a:extLst>
                <a:ext uri="{FF2B5EF4-FFF2-40B4-BE49-F238E27FC236}">
                  <a16:creationId xmlns:a16="http://schemas.microsoft.com/office/drawing/2014/main" id="{F295101D-4961-40D9-8AB9-FB7C478C67AA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5256000" y="468025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Text Box 442">
              <a:extLst>
                <a:ext uri="{FF2B5EF4-FFF2-40B4-BE49-F238E27FC236}">
                  <a16:creationId xmlns:a16="http://schemas.microsoft.com/office/drawing/2014/main" id="{1D6308B1-3545-49E9-91E4-FADA8F8A8C8D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112000" y="4716000"/>
              <a:ext cx="144145" cy="21587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4" name="直接连接符 3">
              <a:extLst>
                <a:ext uri="{FF2B5EF4-FFF2-40B4-BE49-F238E27FC236}">
                  <a16:creationId xmlns:a16="http://schemas.microsoft.com/office/drawing/2014/main" id="{388120DD-0CEF-4C86-ADF3-8D4773E0604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5544051" y="485993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5" name="直接连接符 3">
              <a:extLst>
                <a:ext uri="{FF2B5EF4-FFF2-40B4-BE49-F238E27FC236}">
                  <a16:creationId xmlns:a16="http://schemas.microsoft.com/office/drawing/2014/main" id="{9550194A-CA89-4B68-BD96-4ECD764AA2E7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5255999" y="4572000"/>
              <a:ext cx="54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3">
              <a:extLst>
                <a:ext uri="{FF2B5EF4-FFF2-40B4-BE49-F238E27FC236}">
                  <a16:creationId xmlns:a16="http://schemas.microsoft.com/office/drawing/2014/main" id="{9625F443-44E0-4CDD-8E19-B01342D2BC63}"/>
                </a:ext>
              </a:extLst>
            </p:cNvPr>
            <p:cNvCxnSpPr>
              <a:cxnSpLocks/>
            </p:cNvCxnSpPr>
            <p:nvPr>
              <p:custDataLst>
                <p:tags r:id="rId48"/>
              </p:custDataLst>
            </p:nvPr>
          </p:nvCxnSpPr>
          <p:spPr bwMode="auto">
            <a:xfrm>
              <a:off x="5003999" y="4968000"/>
              <a:ext cx="54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C0CB849E-AA9B-4169-9348-89E1FAD14920}"/>
                </a:ext>
              </a:extLst>
            </p:cNvPr>
            <p:cNvGrpSpPr/>
            <p:nvPr/>
          </p:nvGrpSpPr>
          <p:grpSpPr>
            <a:xfrm>
              <a:off x="5759999" y="4356000"/>
              <a:ext cx="1620001" cy="792000"/>
              <a:chOff x="5759999" y="4356000"/>
              <a:chExt cx="1620001" cy="792000"/>
            </a:xfrm>
          </p:grpSpPr>
          <p:sp>
            <p:nvSpPr>
              <p:cNvPr id="102" name="Rectangle 435">
                <a:extLst>
                  <a:ext uri="{FF2B5EF4-FFF2-40B4-BE49-F238E27FC236}">
                    <a16:creationId xmlns:a16="http://schemas.microsoft.com/office/drawing/2014/main" id="{4DA89F08-B81F-4FD1-BD83-3E8548AAE5F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5904000" y="4500000"/>
                <a:ext cx="1260000" cy="432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Rectangle 435">
                <a:extLst>
                  <a:ext uri="{FF2B5EF4-FFF2-40B4-BE49-F238E27FC236}">
                    <a16:creationId xmlns:a16="http://schemas.microsoft.com/office/drawing/2014/main" id="{A6FF6D5F-B953-4733-94F3-5DEB06A1526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6300000" y="4644060"/>
                <a:ext cx="792000" cy="21587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宋体" panose="02010600030101010101" pitchFamily="2" charset="-122"/>
                </a:endParaRPr>
              </a:p>
            </p:txBody>
          </p:sp>
          <p:sp>
            <p:nvSpPr>
              <p:cNvPr id="104" name="Rectangle 436">
                <a:extLst>
                  <a:ext uri="{FF2B5EF4-FFF2-40B4-BE49-F238E27FC236}">
                    <a16:creationId xmlns:a16="http://schemas.microsoft.com/office/drawing/2014/main" id="{4D608D63-DDCE-4A52-9E03-4916931E321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5976000" y="4644000"/>
                <a:ext cx="144145" cy="21587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05" name="直接连接符 3">
                <a:extLst>
                  <a:ext uri="{FF2B5EF4-FFF2-40B4-BE49-F238E27FC236}">
                    <a16:creationId xmlns:a16="http://schemas.microsoft.com/office/drawing/2014/main" id="{F3E50201-CB04-4DB6-B71E-9A00ED6FA5DF}"/>
                  </a:ext>
                </a:extLst>
              </p:cNvPr>
              <p:cNvCxnSpPr>
                <a:cxnSpLocks/>
              </p:cNvCxnSpPr>
              <p:nvPr>
                <p:custDataLst>
                  <p:tags r:id="rId52"/>
                </p:custDataLst>
              </p:nvPr>
            </p:nvCxnSpPr>
            <p:spPr bwMode="auto">
              <a:xfrm>
                <a:off x="7092000" y="4752000"/>
                <a:ext cx="180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06" name="直接连接符 3">
                <a:extLst>
                  <a:ext uri="{FF2B5EF4-FFF2-40B4-BE49-F238E27FC236}">
                    <a16:creationId xmlns:a16="http://schemas.microsoft.com/office/drawing/2014/main" id="{0FFC538F-7C0B-4954-B3CD-A1E8A9717AC2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6425536" y="4751995"/>
                <a:ext cx="540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7" name="直接连接符 3">
                <a:extLst>
                  <a:ext uri="{FF2B5EF4-FFF2-40B4-BE49-F238E27FC236}">
                    <a16:creationId xmlns:a16="http://schemas.microsoft.com/office/drawing/2014/main" id="{B6BAC5F6-775E-445A-AC29-147F0AB9F9BB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6120000" y="4751995"/>
                <a:ext cx="180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08" name="直接连接符 3">
                <a:extLst>
                  <a:ext uri="{FF2B5EF4-FFF2-40B4-BE49-F238E27FC236}">
                    <a16:creationId xmlns:a16="http://schemas.microsoft.com/office/drawing/2014/main" id="{85271086-ECCB-4AA5-8792-B5B91AFB8E74}"/>
                  </a:ext>
                </a:extLst>
              </p:cNvPr>
              <p:cNvCxnSpPr/>
              <p:nvPr>
                <p:custDataLst>
                  <p:tags r:id="rId55"/>
                </p:custDataLst>
              </p:nvPr>
            </p:nvCxnSpPr>
            <p:spPr bwMode="auto">
              <a:xfrm flipV="1">
                <a:off x="5759999" y="4751995"/>
                <a:ext cx="216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09" name="直接连接符 3">
                <a:extLst>
                  <a:ext uri="{FF2B5EF4-FFF2-40B4-BE49-F238E27FC236}">
                    <a16:creationId xmlns:a16="http://schemas.microsoft.com/office/drawing/2014/main" id="{2138357C-24AF-42C7-B3FC-0DE0E250C0BC}"/>
                  </a:ext>
                </a:extLst>
              </p:cNvPr>
              <p:cNvCxnSpPr/>
              <p:nvPr>
                <p:custDataLst>
                  <p:tags r:id="rId56"/>
                </p:custDataLst>
              </p:nvPr>
            </p:nvCxnSpPr>
            <p:spPr bwMode="auto">
              <a:xfrm flipV="1">
                <a:off x="5976000" y="4751995"/>
                <a:ext cx="144145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0" name="直接连接符 3">
                <a:extLst>
                  <a:ext uri="{FF2B5EF4-FFF2-40B4-BE49-F238E27FC236}">
                    <a16:creationId xmlns:a16="http://schemas.microsoft.com/office/drawing/2014/main" id="{591072C9-6D66-4F91-8D1B-13E01798047C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 flipH="1">
                <a:off x="5760000" y="4572000"/>
                <a:ext cx="43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1" name="直接连接符 3">
                <a:extLst>
                  <a:ext uri="{FF2B5EF4-FFF2-40B4-BE49-F238E27FC236}">
                    <a16:creationId xmlns:a16="http://schemas.microsoft.com/office/drawing/2014/main" id="{E02CFD39-1C6E-4925-952D-128BA21430ED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 flipV="1">
                <a:off x="6192000" y="4572000"/>
                <a:ext cx="0" cy="180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cxnSp>
            <p:nvCxnSpPr>
              <p:cNvPr id="112" name="直接连接符 3">
                <a:extLst>
                  <a:ext uri="{FF2B5EF4-FFF2-40B4-BE49-F238E27FC236}">
                    <a16:creationId xmlns:a16="http://schemas.microsoft.com/office/drawing/2014/main" id="{4C690493-FF3F-40D7-8015-1FA31FEE24BA}"/>
                  </a:ext>
                </a:extLst>
              </p:cNvPr>
              <p:cNvCxnSpPr>
                <a:cxnSpLocks/>
              </p:cNvCxnSpPr>
              <p:nvPr>
                <p:custDataLst>
                  <p:tags r:id="rId59"/>
                </p:custDataLst>
              </p:nvPr>
            </p:nvCxnSpPr>
            <p:spPr bwMode="auto">
              <a:xfrm>
                <a:off x="6444128" y="4356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13" name="直接连接符 3">
                <a:extLst>
                  <a:ext uri="{FF2B5EF4-FFF2-40B4-BE49-F238E27FC236}">
                    <a16:creationId xmlns:a16="http://schemas.microsoft.com/office/drawing/2014/main" id="{8019E28C-0869-4660-923E-0344304F898A}"/>
                  </a:ext>
                </a:extLst>
              </p:cNvPr>
              <p:cNvCxnSpPr>
                <a:cxnSpLocks/>
              </p:cNvCxnSpPr>
              <p:nvPr>
                <p:custDataLst>
                  <p:tags r:id="rId60"/>
                </p:custDataLst>
              </p:nvPr>
            </p:nvCxnSpPr>
            <p:spPr bwMode="auto">
              <a:xfrm>
                <a:off x="6425536" y="485987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14" name="直接连接符 3">
                <a:extLst>
                  <a:ext uri="{FF2B5EF4-FFF2-40B4-BE49-F238E27FC236}">
                    <a16:creationId xmlns:a16="http://schemas.microsoft.com/office/drawing/2014/main" id="{5DC0778F-A95E-4434-813B-5F89B3F6B038}"/>
                  </a:ext>
                </a:extLst>
              </p:cNvPr>
              <p:cNvCxnSpPr>
                <a:cxnSpLocks/>
              </p:cNvCxnSpPr>
              <p:nvPr>
                <p:custDataLst>
                  <p:tags r:id="rId61"/>
                </p:custDataLst>
              </p:nvPr>
            </p:nvCxnSpPr>
            <p:spPr bwMode="auto">
              <a:xfrm>
                <a:off x="6948000" y="4356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15" name="直接连接符 3">
                <a:extLst>
                  <a:ext uri="{FF2B5EF4-FFF2-40B4-BE49-F238E27FC236}">
                    <a16:creationId xmlns:a16="http://schemas.microsoft.com/office/drawing/2014/main" id="{52DA3F4C-C370-4957-95AD-7A49470441DC}"/>
                  </a:ext>
                </a:extLst>
              </p:cNvPr>
              <p:cNvCxnSpPr>
                <a:cxnSpLocks/>
              </p:cNvCxnSpPr>
              <p:nvPr>
                <p:custDataLst>
                  <p:tags r:id="rId62"/>
                </p:custDataLst>
              </p:nvPr>
            </p:nvCxnSpPr>
            <p:spPr bwMode="auto">
              <a:xfrm>
                <a:off x="6048000" y="4356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16" name="Text Box 442">
                <a:extLst>
                  <a:ext uri="{FF2B5EF4-FFF2-40B4-BE49-F238E27FC236}">
                    <a16:creationId xmlns:a16="http://schemas.microsoft.com/office/drawing/2014/main" id="{1516293D-7B94-4E81-9B73-45525BE033E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6588000" y="4500000"/>
                <a:ext cx="252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 sz="1400" baseline="-20000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17" name="直接连接符 3">
                <a:extLst>
                  <a:ext uri="{FF2B5EF4-FFF2-40B4-BE49-F238E27FC236}">
                    <a16:creationId xmlns:a16="http://schemas.microsoft.com/office/drawing/2014/main" id="{E290221F-8BDB-4EFB-9751-080AB1B0BD93}"/>
                  </a:ext>
                </a:extLst>
              </p:cNvPr>
              <p:cNvCxnSpPr>
                <a:cxnSpLocks/>
              </p:cNvCxnSpPr>
              <p:nvPr>
                <p:custDataLst>
                  <p:tags r:id="rId64"/>
                </p:custDataLst>
              </p:nvPr>
            </p:nvCxnSpPr>
            <p:spPr bwMode="auto">
              <a:xfrm flipH="1">
                <a:off x="7164000" y="4608000"/>
                <a:ext cx="216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18" name="直接连接符 3">
                <a:extLst>
                  <a:ext uri="{FF2B5EF4-FFF2-40B4-BE49-F238E27FC236}">
                    <a16:creationId xmlns:a16="http://schemas.microsoft.com/office/drawing/2014/main" id="{38DE2B8D-4CB4-4907-A6F0-CA0D95361923}"/>
                  </a:ext>
                </a:extLst>
              </p:cNvPr>
              <p:cNvCxnSpPr>
                <a:cxnSpLocks/>
              </p:cNvCxnSpPr>
              <p:nvPr>
                <p:custDataLst>
                  <p:tags r:id="rId65"/>
                </p:custDataLst>
              </p:nvPr>
            </p:nvCxnSpPr>
            <p:spPr bwMode="auto">
              <a:xfrm>
                <a:off x="6948000" y="48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19" name="直接连接符 3">
                <a:extLst>
                  <a:ext uri="{FF2B5EF4-FFF2-40B4-BE49-F238E27FC236}">
                    <a16:creationId xmlns:a16="http://schemas.microsoft.com/office/drawing/2014/main" id="{6DB16198-E84A-492F-BE8D-585B50DB3F09}"/>
                  </a:ext>
                </a:extLst>
              </p:cNvPr>
              <p:cNvCxnSpPr>
                <a:cxnSpLocks/>
              </p:cNvCxnSpPr>
              <p:nvPr>
                <p:custDataLst>
                  <p:tags r:id="rId66"/>
                </p:custDataLst>
              </p:nvPr>
            </p:nvCxnSpPr>
            <p:spPr bwMode="auto">
              <a:xfrm>
                <a:off x="6048000" y="485987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sp>
          <p:nvSpPr>
            <p:cNvPr id="98" name="Text Box 399">
              <a:extLst>
                <a:ext uri="{FF2B5EF4-FFF2-40B4-BE49-F238E27FC236}">
                  <a16:creationId xmlns:a16="http://schemas.microsoft.com/office/drawing/2014/main" id="{6ECC9956-B6B7-498E-B85D-E180D9A98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000" y="5148000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600" spc="1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9" name="Text Box 399">
              <a:extLst>
                <a:ext uri="{FF2B5EF4-FFF2-40B4-BE49-F238E27FC236}">
                  <a16:creationId xmlns:a16="http://schemas.microsoft.com/office/drawing/2014/main" id="{8AC739A2-10F9-4EE6-BBC7-D655DC72C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000" y="4140000"/>
              <a:ext cx="11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D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600" spc="1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D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1600" dirty="0">
                  <a:solidFill>
                    <a:schemeClr val="tx1"/>
                  </a:solidFill>
                </a:rPr>
                <a:t>D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0" name="Text Box 399">
              <a:extLst>
                <a:ext uri="{FF2B5EF4-FFF2-40B4-BE49-F238E27FC236}">
                  <a16:creationId xmlns:a16="http://schemas.microsoft.com/office/drawing/2014/main" id="{74328FC1-E300-4770-ACA6-55A7786EA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000" y="4500000"/>
              <a:ext cx="75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k-1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1600" dirty="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1" name="Text Box 399">
              <a:extLst>
                <a:ext uri="{FF2B5EF4-FFF2-40B4-BE49-F238E27FC236}">
                  <a16:creationId xmlns:a16="http://schemas.microsoft.com/office/drawing/2014/main" id="{B0984525-C0E0-447C-A11E-F8B61649A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0" y="4860000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LA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4CF08ADE-9436-466F-B89D-4D4CD964923E}"/>
              </a:ext>
            </a:extLst>
          </p:cNvPr>
          <p:cNvGrpSpPr/>
          <p:nvPr/>
        </p:nvGrpSpPr>
        <p:grpSpPr>
          <a:xfrm>
            <a:off x="1133944" y="1484784"/>
            <a:ext cx="3546464" cy="1188000"/>
            <a:chOff x="1025536" y="4140000"/>
            <a:chExt cx="3546464" cy="1188000"/>
          </a:xfrm>
        </p:grpSpPr>
        <p:sp>
          <p:nvSpPr>
            <p:cNvPr id="122" name="Rectangle 435">
              <a:extLst>
                <a:ext uri="{FF2B5EF4-FFF2-40B4-BE49-F238E27FC236}">
                  <a16:creationId xmlns:a16="http://schemas.microsoft.com/office/drawing/2014/main" id="{550F820C-53CC-41FF-97D8-8F21E4853585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440000" y="4428000"/>
              <a:ext cx="2304000" cy="61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Text Box 442">
              <a:extLst>
                <a:ext uri="{FF2B5EF4-FFF2-40B4-BE49-F238E27FC236}">
                  <a16:creationId xmlns:a16="http://schemas.microsoft.com/office/drawing/2014/main" id="{12E5FBDF-0232-4155-8B1C-1FB24AFC0074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600000" y="4644000"/>
              <a:ext cx="144145" cy="21587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9E4A4978-1462-4117-9F40-58462FE2CBA4}"/>
                </a:ext>
              </a:extLst>
            </p:cNvPr>
            <p:cNvGrpSpPr/>
            <p:nvPr/>
          </p:nvGrpSpPr>
          <p:grpSpPr>
            <a:xfrm>
              <a:off x="2087328" y="4356000"/>
              <a:ext cx="1728672" cy="792000"/>
              <a:chOff x="5759680" y="4356000"/>
              <a:chExt cx="1728672" cy="792000"/>
            </a:xfrm>
          </p:grpSpPr>
          <p:sp>
            <p:nvSpPr>
              <p:cNvPr id="137" name="Rectangle 435">
                <a:extLst>
                  <a:ext uri="{FF2B5EF4-FFF2-40B4-BE49-F238E27FC236}">
                    <a16:creationId xmlns:a16="http://schemas.microsoft.com/office/drawing/2014/main" id="{0D9E5B71-8C1B-40A5-A16D-81A338D211F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904000" y="4500000"/>
                <a:ext cx="1296000" cy="432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Rectangle 435">
                <a:extLst>
                  <a:ext uri="{FF2B5EF4-FFF2-40B4-BE49-F238E27FC236}">
                    <a16:creationId xmlns:a16="http://schemas.microsoft.com/office/drawing/2014/main" id="{05C89C33-D720-4FA1-8A27-ADADBA57FEB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6300000" y="4644060"/>
                <a:ext cx="792000" cy="21587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宋体" panose="02010600030101010101" pitchFamily="2" charset="-122"/>
                </a:endParaRPr>
              </a:p>
            </p:txBody>
          </p:sp>
          <p:sp>
            <p:nvSpPr>
              <p:cNvPr id="150" name="Rectangle 436">
                <a:extLst>
                  <a:ext uri="{FF2B5EF4-FFF2-40B4-BE49-F238E27FC236}">
                    <a16:creationId xmlns:a16="http://schemas.microsoft.com/office/drawing/2014/main" id="{2C6F2E00-D637-46B1-B19D-4A947164819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976000" y="4644000"/>
                <a:ext cx="144145" cy="21587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2" name="直接连接符 3">
                <a:extLst>
                  <a:ext uri="{FF2B5EF4-FFF2-40B4-BE49-F238E27FC236}">
                    <a16:creationId xmlns:a16="http://schemas.microsoft.com/office/drawing/2014/main" id="{B9400C53-0487-4434-99B8-6032D02B41C2}"/>
                  </a:ext>
                </a:extLst>
              </p:cNvPr>
              <p:cNvCxnSpPr>
                <a:cxnSpLocks/>
              </p:cNvCxnSpPr>
              <p:nvPr>
                <p:custDataLst>
                  <p:tags r:id="rId27"/>
                </p:custDataLst>
              </p:nvPr>
            </p:nvCxnSpPr>
            <p:spPr bwMode="auto">
              <a:xfrm flipH="1">
                <a:off x="7092352" y="4752000"/>
                <a:ext cx="180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86" name="直接连接符 3">
                <a:extLst>
                  <a:ext uri="{FF2B5EF4-FFF2-40B4-BE49-F238E27FC236}">
                    <a16:creationId xmlns:a16="http://schemas.microsoft.com/office/drawing/2014/main" id="{07914C9D-06CD-4CD7-8508-0E48F5D9051E}"/>
                  </a:ext>
                </a:extLst>
              </p:cNvPr>
              <p:cNvCxnSpPr>
                <a:cxnSpLocks/>
              </p:cNvCxnSpPr>
              <p:nvPr>
                <p:custDataLst>
                  <p:tags r:id="rId28"/>
                </p:custDataLst>
              </p:nvPr>
            </p:nvCxnSpPr>
            <p:spPr bwMode="auto">
              <a:xfrm flipH="1" flipV="1">
                <a:off x="6444352" y="4751995"/>
                <a:ext cx="50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15" name="直接连接符 3">
                <a:extLst>
                  <a:ext uri="{FF2B5EF4-FFF2-40B4-BE49-F238E27FC236}">
                    <a16:creationId xmlns:a16="http://schemas.microsoft.com/office/drawing/2014/main" id="{EAEFF338-7A7E-4481-9F8C-E86769C638E5}"/>
                  </a:ext>
                </a:extLst>
              </p:cNvPr>
              <p:cNvCxnSpPr>
                <a:cxnSpLocks/>
              </p:cNvCxnSpPr>
              <p:nvPr>
                <p:custDataLst>
                  <p:tags r:id="rId29"/>
                </p:custDataLst>
              </p:nvPr>
            </p:nvCxnSpPr>
            <p:spPr bwMode="auto">
              <a:xfrm flipH="1">
                <a:off x="6120352" y="4751995"/>
                <a:ext cx="180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16" name="直接连接符 3">
                <a:extLst>
                  <a:ext uri="{FF2B5EF4-FFF2-40B4-BE49-F238E27FC236}">
                    <a16:creationId xmlns:a16="http://schemas.microsoft.com/office/drawing/2014/main" id="{1D6FAC13-4FCC-4D99-8F88-5185904DA9FA}"/>
                  </a:ext>
                </a:extLst>
              </p:cNvPr>
              <p:cNvCxnSpPr>
                <a:cxnSpLocks/>
              </p:cNvCxnSpPr>
              <p:nvPr>
                <p:custDataLst>
                  <p:tags r:id="rId30"/>
                </p:custDataLst>
              </p:nvPr>
            </p:nvCxnSpPr>
            <p:spPr bwMode="auto">
              <a:xfrm flipH="1">
                <a:off x="5759680" y="4751995"/>
                <a:ext cx="216672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17" name="直接连接符 3">
                <a:extLst>
                  <a:ext uri="{FF2B5EF4-FFF2-40B4-BE49-F238E27FC236}">
                    <a16:creationId xmlns:a16="http://schemas.microsoft.com/office/drawing/2014/main" id="{EAE35B2F-6928-47CA-ACB4-E6E7FCA99031}"/>
                  </a:ext>
                </a:extLst>
              </p:cNvPr>
              <p:cNvCxnSpPr>
                <a:cxnSpLocks/>
              </p:cNvCxnSpPr>
              <p:nvPr>
                <p:custDataLst>
                  <p:tags r:id="rId31"/>
                </p:custDataLst>
              </p:nvPr>
            </p:nvCxnSpPr>
            <p:spPr bwMode="auto">
              <a:xfrm flipH="1">
                <a:off x="5976352" y="4751935"/>
                <a:ext cx="144000" cy="6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18" name="直接连接符 3">
                <a:extLst>
                  <a:ext uri="{FF2B5EF4-FFF2-40B4-BE49-F238E27FC236}">
                    <a16:creationId xmlns:a16="http://schemas.microsoft.com/office/drawing/2014/main" id="{8B0997FA-4910-4DAA-BB05-C184CC236B38}"/>
                  </a:ext>
                </a:extLst>
              </p:cNvPr>
              <p:cNvCxnSpPr>
                <a:cxnSpLocks/>
              </p:cNvCxnSpPr>
              <p:nvPr>
                <p:custDataLst>
                  <p:tags r:id="rId32"/>
                </p:custDataLst>
              </p:nvPr>
            </p:nvCxnSpPr>
            <p:spPr bwMode="auto">
              <a:xfrm>
                <a:off x="6444128" y="4356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19" name="直接连接符 3">
                <a:extLst>
                  <a:ext uri="{FF2B5EF4-FFF2-40B4-BE49-F238E27FC236}">
                    <a16:creationId xmlns:a16="http://schemas.microsoft.com/office/drawing/2014/main" id="{A2B902AF-4199-4629-BE0B-36089C615D2D}"/>
                  </a:ext>
                </a:extLst>
              </p:cNvPr>
              <p:cNvCxnSpPr>
                <a:cxnSpLocks/>
              </p:cNvCxnSpPr>
              <p:nvPr>
                <p:custDataLst>
                  <p:tags r:id="rId33"/>
                </p:custDataLst>
              </p:nvPr>
            </p:nvCxnSpPr>
            <p:spPr bwMode="auto">
              <a:xfrm>
                <a:off x="6425536" y="485987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20" name="直接连接符 3">
                <a:extLst>
                  <a:ext uri="{FF2B5EF4-FFF2-40B4-BE49-F238E27FC236}">
                    <a16:creationId xmlns:a16="http://schemas.microsoft.com/office/drawing/2014/main" id="{F02EF01B-15B9-4A09-85EA-7FE113D41701}"/>
                  </a:ext>
                </a:extLst>
              </p:cNvPr>
              <p:cNvCxnSpPr>
                <a:cxnSpLocks/>
              </p:cNvCxnSpPr>
              <p:nvPr>
                <p:custDataLst>
                  <p:tags r:id="rId34"/>
                </p:custDataLst>
              </p:nvPr>
            </p:nvCxnSpPr>
            <p:spPr bwMode="auto">
              <a:xfrm>
                <a:off x="6948000" y="4356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21" name="直接连接符 3">
                <a:extLst>
                  <a:ext uri="{FF2B5EF4-FFF2-40B4-BE49-F238E27FC236}">
                    <a16:creationId xmlns:a16="http://schemas.microsoft.com/office/drawing/2014/main" id="{E2038FF5-EB30-43F4-BB0E-E9583F54A604}"/>
                  </a:ext>
                </a:extLst>
              </p:cNvPr>
              <p:cNvCxnSpPr>
                <a:cxnSpLocks/>
              </p:cNvCxnSpPr>
              <p:nvPr>
                <p:custDataLst>
                  <p:tags r:id="rId35"/>
                </p:custDataLst>
              </p:nvPr>
            </p:nvCxnSpPr>
            <p:spPr bwMode="auto">
              <a:xfrm>
                <a:off x="6048000" y="4356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22" name="Text Box 442">
                <a:extLst>
                  <a:ext uri="{FF2B5EF4-FFF2-40B4-BE49-F238E27FC236}">
                    <a16:creationId xmlns:a16="http://schemas.microsoft.com/office/drawing/2014/main" id="{AF712C9E-95E3-49B5-B01D-578058947E6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6588352" y="4500000"/>
                <a:ext cx="252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 sz="1400" baseline="-20000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223" name="直接连接符 3">
                <a:extLst>
                  <a:ext uri="{FF2B5EF4-FFF2-40B4-BE49-F238E27FC236}">
                    <a16:creationId xmlns:a16="http://schemas.microsoft.com/office/drawing/2014/main" id="{30BFAE34-840D-40A7-95FB-8A18B4BEF404}"/>
                  </a:ext>
                </a:extLst>
              </p:cNvPr>
              <p:cNvCxnSpPr>
                <a:cxnSpLocks/>
              </p:cNvCxnSpPr>
              <p:nvPr>
                <p:custDataLst>
                  <p:tags r:id="rId37"/>
                </p:custDataLst>
              </p:nvPr>
            </p:nvCxnSpPr>
            <p:spPr bwMode="auto">
              <a:xfrm flipH="1">
                <a:off x="7200352" y="4608000"/>
                <a:ext cx="288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24" name="直接连接符 3">
                <a:extLst>
                  <a:ext uri="{FF2B5EF4-FFF2-40B4-BE49-F238E27FC236}">
                    <a16:creationId xmlns:a16="http://schemas.microsoft.com/office/drawing/2014/main" id="{2CEEF48D-7AB0-42B3-8F6F-6C92E42148B7}"/>
                  </a:ext>
                </a:extLst>
              </p:cNvPr>
              <p:cNvCxnSpPr>
                <a:cxnSpLocks/>
              </p:cNvCxnSpPr>
              <p:nvPr>
                <p:custDataLst>
                  <p:tags r:id="rId38"/>
                </p:custDataLst>
              </p:nvPr>
            </p:nvCxnSpPr>
            <p:spPr bwMode="auto">
              <a:xfrm>
                <a:off x="6948000" y="48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25" name="直接连接符 3">
                <a:extLst>
                  <a:ext uri="{FF2B5EF4-FFF2-40B4-BE49-F238E27FC236}">
                    <a16:creationId xmlns:a16="http://schemas.microsoft.com/office/drawing/2014/main" id="{0EE61D8D-108D-4AB6-9909-E70C247A3471}"/>
                  </a:ext>
                </a:extLst>
              </p:cNvPr>
              <p:cNvCxnSpPr>
                <a:cxnSpLocks/>
              </p:cNvCxnSpPr>
              <p:nvPr>
                <p:custDataLst>
                  <p:tags r:id="rId39"/>
                </p:custDataLst>
              </p:nvPr>
            </p:nvCxnSpPr>
            <p:spPr bwMode="auto">
              <a:xfrm>
                <a:off x="6048000" y="485987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sp>
          <p:nvSpPr>
            <p:cNvPr id="128" name="Text Box 399">
              <a:extLst>
                <a:ext uri="{FF2B5EF4-FFF2-40B4-BE49-F238E27FC236}">
                  <a16:creationId xmlns:a16="http://schemas.microsoft.com/office/drawing/2014/main" id="{C5016D21-6C5A-496D-A23F-2F02D86C3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648" y="5148000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600" spc="1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9" name="Text Box 399">
              <a:extLst>
                <a:ext uri="{FF2B5EF4-FFF2-40B4-BE49-F238E27FC236}">
                  <a16:creationId xmlns:a16="http://schemas.microsoft.com/office/drawing/2014/main" id="{1698BE0D-4759-4875-9E3A-9D249E669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648" y="4140000"/>
              <a:ext cx="11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D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n-1</a:t>
              </a:r>
              <a:r>
                <a:rPr lang="en-US" altLang="zh-CN" sz="1600" spc="1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D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1600" dirty="0">
                  <a:solidFill>
                    <a:schemeClr val="tx1"/>
                  </a:solidFill>
                </a:rPr>
                <a:t>D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0" name="Text Box 399">
              <a:extLst>
                <a:ext uri="{FF2B5EF4-FFF2-40B4-BE49-F238E27FC236}">
                  <a16:creationId xmlns:a16="http://schemas.microsoft.com/office/drawing/2014/main" id="{3C878DBF-F4FD-4661-9CA6-545C118F7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000" y="4500000"/>
              <a:ext cx="75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k-1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1600" dirty="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1" name="Text Box 193">
              <a:extLst>
                <a:ext uri="{FF2B5EF4-FFF2-40B4-BE49-F238E27FC236}">
                  <a16:creationId xmlns:a16="http://schemas.microsoft.com/office/drawing/2014/main" id="{821031E7-9D6D-4CE3-A384-4C7CC98BD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000" y="4509120"/>
              <a:ext cx="504000" cy="468000"/>
            </a:xfrm>
            <a:prstGeom prst="rect">
              <a:avLst/>
            </a:prstGeom>
            <a:solidFill>
              <a:srgbClr val="FFCC99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溢出判断</a:t>
              </a:r>
              <a:endParaRPr lang="zh-CN" altLang="en-US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32" name="直接连接符 3">
              <a:extLst>
                <a:ext uri="{FF2B5EF4-FFF2-40B4-BE49-F238E27FC236}">
                  <a16:creationId xmlns:a16="http://schemas.microsoft.com/office/drawing/2014/main" id="{12F6E47D-2238-45E4-9689-D2F140B519B7}"/>
                </a:ext>
              </a:extLst>
            </p:cNvPr>
            <p:cNvCxnSpPr>
              <a:cxnSpLocks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2052000" y="4581128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3" name="直接连接符 3">
              <a:extLst>
                <a:ext uri="{FF2B5EF4-FFF2-40B4-BE49-F238E27FC236}">
                  <a16:creationId xmlns:a16="http://schemas.microsoft.com/office/drawing/2014/main" id="{AB46FE85-BDAF-4F32-80DA-F613ADDE0AB5}"/>
                </a:ext>
              </a:extLst>
            </p:cNvPr>
            <p:cNvCxnSpPr>
              <a:cxnSpLocks/>
            </p:cNvCxnSpPr>
            <p:nvPr>
              <p:custDataLst>
                <p:tags r:id="rId22"/>
              </p:custDataLst>
            </p:nvPr>
          </p:nvCxnSpPr>
          <p:spPr bwMode="auto">
            <a:xfrm>
              <a:off x="1332000" y="4896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4" name="Text Box 399">
              <a:extLst>
                <a:ext uri="{FF2B5EF4-FFF2-40B4-BE49-F238E27FC236}">
                  <a16:creationId xmlns:a16="http://schemas.microsoft.com/office/drawing/2014/main" id="{C9CA1556-0B10-475C-BA3F-4DACB4159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5536" y="4788000"/>
              <a:ext cx="306463" cy="18911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LA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</p:txBody>
        </p:sp>
        <p:cxnSp>
          <p:nvCxnSpPr>
            <p:cNvPr id="135" name="直接连接符 3">
              <a:extLst>
                <a:ext uri="{FF2B5EF4-FFF2-40B4-BE49-F238E27FC236}">
                  <a16:creationId xmlns:a16="http://schemas.microsoft.com/office/drawing/2014/main" id="{D85555AF-201A-4C86-99AF-18F48438E4F6}"/>
                </a:ext>
              </a:extLst>
            </p:cNvPr>
            <p:cNvCxnSpPr>
              <a:cxnSpLocks/>
            </p:cNvCxnSpPr>
            <p:nvPr>
              <p:custDataLst>
                <p:tags r:id="rId23"/>
              </p:custDataLst>
            </p:nvPr>
          </p:nvCxnSpPr>
          <p:spPr bwMode="auto">
            <a:xfrm flipH="1" flipV="1">
              <a:off x="1332000" y="4608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36" name="Text Box 399">
              <a:extLst>
                <a:ext uri="{FF2B5EF4-FFF2-40B4-BE49-F238E27FC236}">
                  <a16:creationId xmlns:a16="http://schemas.microsoft.com/office/drawing/2014/main" id="{74E3A288-5556-4CE8-85BF-AE4109481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00" y="450000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dirty="0">
                  <a:solidFill>
                    <a:schemeClr val="tx1"/>
                  </a:solidFill>
                </a:rPr>
                <a:t>OF</a:t>
              </a:r>
              <a:endParaRPr lang="en-US" altLang="zh-CN" sz="1600" baseline="-16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6" name="Text Box 720">
            <a:extLst>
              <a:ext uri="{FF2B5EF4-FFF2-40B4-BE49-F238E27FC236}">
                <a16:creationId xmlns:a16="http://schemas.microsoft.com/office/drawing/2014/main" id="{FCBCB138-AE95-49CA-A908-446C05325B6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9446" y="764704"/>
            <a:ext cx="8317049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u="sng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复用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逻辑移位电路，</a:t>
            </a:r>
            <a:r>
              <a:rPr lang="zh-CN" altLang="en-US" sz="2200" u="sng" dirty="0">
                <a:solidFill>
                  <a:srgbClr val="990099"/>
                </a:solidFill>
                <a:cs typeface="宋体" panose="02010600030101010101" pitchFamily="2" charset="-122"/>
                <a:sym typeface="+mn-ea"/>
              </a:rPr>
              <a:t>增加</a:t>
            </a:r>
            <a:r>
              <a:rPr lang="zh-CN" altLang="en-US" sz="22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右移移入值选择、溢出判断的逻辑</a:t>
            </a:r>
            <a:endParaRPr lang="en-US" altLang="zh-CN" sz="2200" dirty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                        </a:t>
            </a:r>
            <a:r>
              <a:rPr lang="zh-CN" altLang="en-US" sz="1800" b="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用</a:t>
            </a:r>
            <a:r>
              <a:rPr lang="en-US" altLang="zh-CN" sz="1800" dirty="0">
                <a:solidFill>
                  <a:schemeClr val="tx1"/>
                </a:solidFill>
              </a:rPr>
              <a:t>LA</a:t>
            </a:r>
            <a:r>
              <a:rPr lang="zh-CN" altLang="en-US" sz="1800" dirty="0">
                <a:solidFill>
                  <a:schemeClr val="tx1"/>
                </a:solidFill>
              </a:rPr>
              <a:t>选择逻辑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算术</a:t>
            </a:r>
            <a:endParaRPr lang="en-US" altLang="zh-CN" sz="2200" u="sng" dirty="0">
              <a:solidFill>
                <a:schemeClr val="tx1"/>
              </a:solidFill>
            </a:endParaRPr>
          </a:p>
        </p:txBody>
      </p:sp>
      <p:sp>
        <p:nvSpPr>
          <p:cNvPr id="227" name="Text Box 720">
            <a:extLst>
              <a:ext uri="{FF2B5EF4-FFF2-40B4-BE49-F238E27FC236}">
                <a16:creationId xmlns:a16="http://schemas.microsoft.com/office/drawing/2014/main" id="{8363FF0C-291A-4BE2-8184-A9539B33BC3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7454" y="3140968"/>
            <a:ext cx="7129042" cy="30900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u="sng" dirty="0">
                <a:solidFill>
                  <a:schemeClr val="tx1"/>
                </a:solidFill>
              </a:rPr>
              <a:t>左移</a:t>
            </a:r>
            <a:r>
              <a:rPr lang="zh-CN" altLang="en-US" sz="2200" dirty="0">
                <a:solidFill>
                  <a:schemeClr val="tx1"/>
                </a:solidFill>
              </a:rPr>
              <a:t>时移丢</a:t>
            </a:r>
            <a:r>
              <a:rPr lang="zh-CN" altLang="en-US" sz="2200" u="sng" dirty="0">
                <a:solidFill>
                  <a:srgbClr val="990099"/>
                </a:solidFill>
              </a:rPr>
              <a:t>与符号位相反的码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真值</a:t>
            </a:r>
            <a:r>
              <a:rPr lang="en-US" altLang="zh-CN" sz="1800" dirty="0">
                <a:solidFill>
                  <a:schemeClr val="tx1"/>
                </a:solidFill>
              </a:rPr>
              <a:t>1)</a:t>
            </a:r>
            <a:r>
              <a:rPr lang="zh-CN" altLang="en-US" sz="1800" dirty="0">
                <a:solidFill>
                  <a:srgbClr val="990099"/>
                </a:solidFill>
              </a:rPr>
              <a:t>    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基于整体移位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zh-CN" altLang="en-US" sz="1800" dirty="0">
                <a:solidFill>
                  <a:srgbClr val="0070C0"/>
                </a:solidFill>
              </a:rPr>
              <a:t>    如：</a:t>
            </a:r>
            <a:r>
              <a:rPr lang="en-US" altLang="zh-CN" sz="1800" u="sng" spc="200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  <a:r>
              <a:rPr lang="en-US" altLang="zh-CN" sz="1800" spc="200" dirty="0">
                <a:solidFill>
                  <a:schemeClr val="tx1"/>
                </a:solidFill>
                <a:highlight>
                  <a:srgbClr val="CC99FF"/>
                </a:highlight>
              </a:rPr>
              <a:t>0</a:t>
            </a:r>
            <a:r>
              <a:rPr lang="en-US" altLang="zh-CN" sz="1800" spc="200" dirty="0">
                <a:solidFill>
                  <a:schemeClr val="tx1"/>
                </a:solidFill>
              </a:rPr>
              <a:t>11</a:t>
            </a:r>
            <a:r>
              <a:rPr lang="en-US" altLang="zh-CN" sz="1800" dirty="0">
                <a:solidFill>
                  <a:schemeClr val="tx1"/>
                </a:solidFill>
              </a:rPr>
              <a:t>(+3)&lt;&lt;</a:t>
            </a:r>
            <a:r>
              <a:rPr lang="en-US" altLang="zh-CN" sz="1800" baseline="-180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  <a:highlight>
                  <a:srgbClr val="CC99FF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11</a:t>
            </a:r>
            <a:r>
              <a:rPr lang="en-US" altLang="zh-CN" sz="1800" dirty="0">
                <a:solidFill>
                  <a:schemeClr val="accent2"/>
                </a:solidFill>
                <a:highlight>
                  <a:srgbClr val="FFCC99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(+6)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u="sng" spc="2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spc="200" dirty="0">
                <a:solidFill>
                  <a:schemeClr val="tx1"/>
                </a:solidFill>
                <a:highlight>
                  <a:srgbClr val="CC99FF"/>
                </a:highlight>
              </a:rPr>
              <a:t>1</a:t>
            </a:r>
            <a:r>
              <a:rPr lang="en-US" altLang="zh-CN" sz="1800" spc="200" dirty="0">
                <a:solidFill>
                  <a:schemeClr val="tx1"/>
                </a:solidFill>
              </a:rPr>
              <a:t>01</a:t>
            </a:r>
            <a:r>
              <a:rPr lang="en-US" altLang="zh-CN" sz="1800" dirty="0">
                <a:solidFill>
                  <a:schemeClr val="tx1"/>
                </a:solidFill>
              </a:rPr>
              <a:t>(-3)&lt;&lt;</a:t>
            </a:r>
            <a:r>
              <a:rPr lang="en-US" altLang="zh-CN" sz="1800" baseline="-180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  <a:highlight>
                  <a:srgbClr val="CC99FF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01</a:t>
            </a:r>
            <a:r>
              <a:rPr lang="en-US" altLang="zh-CN" sz="1800" dirty="0">
                <a:solidFill>
                  <a:schemeClr val="accent2"/>
                </a:solidFill>
                <a:highlight>
                  <a:srgbClr val="FFCC99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(-6)</a:t>
            </a:r>
          </a:p>
          <a:p>
            <a:pPr>
              <a:lnSpc>
                <a:spcPct val="105000"/>
              </a:lnSpc>
            </a:pPr>
            <a:r>
              <a:rPr lang="en-US" altLang="zh-CN" sz="1600" spc="200" dirty="0">
                <a:solidFill>
                  <a:schemeClr val="tx1"/>
                </a:solidFill>
              </a:rPr>
              <a:t>           </a:t>
            </a:r>
            <a:r>
              <a:rPr lang="en-US" altLang="zh-CN" sz="1600" spc="200" baseline="-18000" dirty="0">
                <a:solidFill>
                  <a:schemeClr val="tx1"/>
                </a:solidFill>
              </a:rPr>
              <a:t> </a:t>
            </a:r>
            <a:r>
              <a:rPr lang="zh-CN" altLang="en-US" sz="1600" spc="200" dirty="0">
                <a:solidFill>
                  <a:srgbClr val="0070C0"/>
                </a:solidFill>
              </a:rPr>
              <a:t>相同</a:t>
            </a:r>
            <a:r>
              <a:rPr lang="en-US" altLang="zh-CN" sz="1600" spc="200" dirty="0">
                <a:solidFill>
                  <a:srgbClr val="0070C0"/>
                </a:solidFill>
              </a:rPr>
              <a:t>(</a:t>
            </a:r>
            <a:r>
              <a:rPr lang="zh-CN" altLang="en-US" sz="1600" spc="200" dirty="0">
                <a:solidFill>
                  <a:srgbClr val="0070C0"/>
                </a:solidFill>
              </a:rPr>
              <a:t>不溢出</a:t>
            </a:r>
            <a:r>
              <a:rPr lang="en-US" altLang="zh-CN" sz="1600" spc="200" dirty="0">
                <a:solidFill>
                  <a:srgbClr val="0070C0"/>
                </a:solidFill>
              </a:rPr>
              <a:t>)           </a:t>
            </a:r>
            <a:r>
              <a:rPr lang="zh-CN" altLang="en-US" sz="1600" spc="200" dirty="0">
                <a:solidFill>
                  <a:srgbClr val="0070C0"/>
                </a:solidFill>
              </a:rPr>
              <a:t>相同</a:t>
            </a:r>
            <a:r>
              <a:rPr lang="en-US" altLang="zh-CN" sz="1600" spc="200" dirty="0">
                <a:solidFill>
                  <a:srgbClr val="0070C0"/>
                </a:solidFill>
              </a:rPr>
              <a:t>(</a:t>
            </a:r>
            <a:r>
              <a:rPr lang="zh-CN" altLang="en-US" sz="1600" spc="200" dirty="0">
                <a:solidFill>
                  <a:srgbClr val="0070C0"/>
                </a:solidFill>
              </a:rPr>
              <a:t>不溢出</a:t>
            </a:r>
            <a:r>
              <a:rPr lang="en-US" altLang="zh-CN" sz="1600" spc="200" dirty="0">
                <a:solidFill>
                  <a:srgbClr val="0070C0"/>
                </a:solidFill>
              </a:rPr>
              <a:t>)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  </a:t>
            </a:r>
            <a:r>
              <a:rPr lang="en-US" altLang="zh-CN" sz="1800" u="sng" spc="200" dirty="0">
                <a:solidFill>
                  <a:schemeClr val="tx1"/>
                </a:solidFill>
                <a:highlight>
                  <a:srgbClr val="00FFFF"/>
                </a:highlight>
              </a:rPr>
              <a:t>0</a:t>
            </a:r>
            <a:r>
              <a:rPr lang="en-US" altLang="zh-CN" sz="1800" spc="200" dirty="0">
                <a:solidFill>
                  <a:schemeClr val="tx1"/>
                </a:solidFill>
                <a:highlight>
                  <a:srgbClr val="CC99FF"/>
                </a:highlight>
              </a:rPr>
              <a:t>01</a:t>
            </a:r>
            <a:r>
              <a:rPr lang="en-US" altLang="zh-CN" sz="1800" spc="2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(+3)&lt;&lt;</a:t>
            </a:r>
            <a:r>
              <a:rPr lang="en-US" altLang="zh-CN" sz="1800" baseline="-180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rgbClr val="990099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  <a:highlight>
                  <a:srgbClr val="CC99FF"/>
                </a:highligh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accent2"/>
                </a:solidFill>
                <a:highlight>
                  <a:srgbClr val="FFCC99"/>
                </a:highlight>
              </a:rPr>
              <a:t>00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rgbClr val="FF3399"/>
                </a:solidFill>
              </a:rPr>
              <a:t>-4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u="sng" spc="200" dirty="0">
                <a:solidFill>
                  <a:schemeClr val="tx1"/>
                </a:solidFill>
                <a:highlight>
                  <a:srgbClr val="00FFFF"/>
                </a:highlight>
              </a:rPr>
              <a:t>1</a:t>
            </a:r>
            <a:r>
              <a:rPr lang="en-US" altLang="zh-CN" sz="1800" spc="200" dirty="0">
                <a:solidFill>
                  <a:schemeClr val="tx1"/>
                </a:solidFill>
                <a:highlight>
                  <a:srgbClr val="CC99FF"/>
                </a:highlight>
              </a:rPr>
              <a:t>10</a:t>
            </a:r>
            <a:r>
              <a:rPr lang="en-US" altLang="zh-CN" sz="1800" spc="2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(-3)&lt;&lt;</a:t>
            </a:r>
            <a:r>
              <a:rPr lang="en-US" altLang="zh-CN" sz="1800" baseline="-180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rgbClr val="990099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u="sng" dirty="0">
                <a:solidFill>
                  <a:schemeClr val="tx1"/>
                </a:solidFill>
                <a:highlight>
                  <a:srgbClr val="CC99FF"/>
                </a:highligh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accent2"/>
                </a:solidFill>
                <a:highlight>
                  <a:srgbClr val="FFCC99"/>
                </a:highlight>
              </a:rPr>
              <a:t>00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rgbClr val="FF3399"/>
                </a:solidFill>
              </a:rPr>
              <a:t>+4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lang="en-US" altLang="zh-CN" sz="1600" spc="200" dirty="0">
                <a:solidFill>
                  <a:schemeClr val="tx1"/>
                </a:solidFill>
              </a:rPr>
              <a:t>           </a:t>
            </a:r>
            <a:r>
              <a:rPr lang="en-US" altLang="zh-CN" sz="1600" spc="200" baseline="-18000" dirty="0">
                <a:solidFill>
                  <a:schemeClr val="tx1"/>
                </a:solidFill>
              </a:rPr>
              <a:t> </a:t>
            </a:r>
            <a:r>
              <a:rPr lang="zh-CN" altLang="en-US" sz="1600" spc="200" dirty="0">
                <a:solidFill>
                  <a:srgbClr val="0070C0"/>
                </a:solidFill>
              </a:rPr>
              <a:t>不同</a:t>
            </a:r>
            <a:r>
              <a:rPr lang="en-US" altLang="zh-CN" sz="1600" spc="200" dirty="0">
                <a:solidFill>
                  <a:srgbClr val="0070C0"/>
                </a:solidFill>
              </a:rPr>
              <a:t>(</a:t>
            </a:r>
            <a:r>
              <a:rPr lang="zh-CN" altLang="en-US" sz="1600" spc="200" dirty="0">
                <a:solidFill>
                  <a:srgbClr val="0070C0"/>
                </a:solidFill>
              </a:rPr>
              <a:t>溢出</a:t>
            </a:r>
            <a:r>
              <a:rPr lang="en-US" altLang="zh-CN" sz="1600" spc="200" dirty="0">
                <a:solidFill>
                  <a:srgbClr val="0070C0"/>
                </a:solidFill>
              </a:rPr>
              <a:t>)             </a:t>
            </a:r>
            <a:r>
              <a:rPr lang="zh-CN" altLang="en-US" sz="1600" spc="200" dirty="0">
                <a:solidFill>
                  <a:srgbClr val="0070C0"/>
                </a:solidFill>
              </a:rPr>
              <a:t>不同</a:t>
            </a:r>
            <a:r>
              <a:rPr lang="en-US" altLang="zh-CN" sz="1600" spc="200" dirty="0">
                <a:solidFill>
                  <a:srgbClr val="0070C0"/>
                </a:solidFill>
              </a:rPr>
              <a:t>(</a:t>
            </a:r>
            <a:r>
              <a:rPr lang="zh-CN" altLang="en-US" sz="1600" spc="200" dirty="0">
                <a:solidFill>
                  <a:srgbClr val="0070C0"/>
                </a:solidFill>
              </a:rPr>
              <a:t>溢出</a:t>
            </a:r>
            <a:r>
              <a:rPr lang="en-US" altLang="zh-CN" sz="1600" spc="200" dirty="0">
                <a:solidFill>
                  <a:srgbClr val="0070C0"/>
                </a:solidFill>
              </a:rPr>
              <a:t>)</a:t>
            </a:r>
            <a:endParaRPr lang="en-US" altLang="zh-CN" sz="1600" dirty="0">
              <a:solidFill>
                <a:srgbClr val="0070C0"/>
              </a:solidFill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2200" dirty="0">
                <a:solidFill>
                  <a:schemeClr val="tx1"/>
                </a:solidFill>
              </a:rPr>
              <a:t>  </a:t>
            </a:r>
            <a:r>
              <a:rPr lang="en-US" altLang="zh-CN" sz="2200" spc="-50" dirty="0">
                <a:solidFill>
                  <a:schemeClr val="tx1"/>
                </a:solidFill>
              </a:rPr>
              <a:t>OF</a:t>
            </a:r>
            <a:r>
              <a:rPr lang="zh-CN" altLang="en-US" sz="2200" spc="-50" dirty="0">
                <a:solidFill>
                  <a:schemeClr val="tx1"/>
                </a:solidFill>
              </a:rPr>
              <a:t>＝</a:t>
            </a:r>
            <a:r>
              <a:rPr lang="en-US" altLang="zh-CN" sz="2200" spc="-80" dirty="0">
                <a:solidFill>
                  <a:schemeClr val="tx1"/>
                </a:solidFill>
              </a:rPr>
              <a:t>S</a:t>
            </a:r>
            <a:r>
              <a:rPr lang="en-US" altLang="zh-CN" sz="2200" spc="-80" baseline="-18000" dirty="0">
                <a:solidFill>
                  <a:schemeClr val="tx1"/>
                </a:solidFill>
              </a:rPr>
              <a:t>k-1</a:t>
            </a:r>
            <a:r>
              <a:rPr lang="en-US" altLang="zh-CN" sz="2200" spc="-80" dirty="0">
                <a:solidFill>
                  <a:schemeClr val="tx1"/>
                </a:solidFill>
              </a:rPr>
              <a:t>(D</a:t>
            </a:r>
            <a:r>
              <a:rPr lang="en-US" altLang="zh-CN" sz="2200" spc="-8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spc="-8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spc="-80" dirty="0">
                <a:solidFill>
                  <a:schemeClr val="tx1"/>
                </a:solidFill>
                <a:highlight>
                  <a:srgbClr val="CCFFFF"/>
                </a:highlight>
              </a:rPr>
              <a:t>⊕D</a:t>
            </a:r>
            <a:r>
              <a:rPr lang="en-US" altLang="zh-CN" sz="2200" spc="-80" dirty="0">
                <a:solidFill>
                  <a:schemeClr val="tx1"/>
                </a:solidFill>
                <a:highlight>
                  <a:srgbClr val="CCFFFF"/>
                </a:highlight>
                <a:sym typeface="Symbol" panose="05050102010706020507"/>
              </a:rPr>
              <a:t></a:t>
            </a:r>
            <a:r>
              <a:rPr lang="en-US" altLang="zh-CN" sz="2200" spc="-80" baseline="-18000" dirty="0">
                <a:solidFill>
                  <a:schemeClr val="tx1"/>
                </a:solidFill>
                <a:highlight>
                  <a:srgbClr val="CCFFFF"/>
                </a:highlight>
              </a:rPr>
              <a:t>n/2-1</a:t>
            </a:r>
            <a:r>
              <a:rPr lang="en-US" altLang="zh-CN" sz="2200" spc="-80" dirty="0">
                <a:solidFill>
                  <a:schemeClr val="tx1"/>
                </a:solidFill>
              </a:rPr>
              <a:t>+…+</a:t>
            </a:r>
            <a:r>
              <a:rPr lang="en-US" altLang="zh-CN" sz="2200" spc="-80" dirty="0" err="1">
                <a:solidFill>
                  <a:schemeClr val="tx1"/>
                </a:solidFill>
              </a:rPr>
              <a:t>D</a:t>
            </a:r>
            <a:r>
              <a:rPr lang="en-US" altLang="zh-CN" sz="2200" spc="-80" dirty="0" err="1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200" spc="-80" baseline="-18000" dirty="0" err="1">
                <a:solidFill>
                  <a:schemeClr val="tx1"/>
                </a:solidFill>
              </a:rPr>
              <a:t>n</a:t>
            </a:r>
            <a:r>
              <a:rPr lang="en-US" altLang="zh-CN" sz="2200" spc="-80" baseline="-18000" dirty="0">
                <a:solidFill>
                  <a:schemeClr val="tx1"/>
                </a:solidFill>
              </a:rPr>
              <a:t>/2</a:t>
            </a:r>
            <a:r>
              <a:rPr lang="en-US" altLang="zh-CN" sz="2200" spc="-80" dirty="0">
                <a:solidFill>
                  <a:schemeClr val="tx1"/>
                </a:solidFill>
                <a:highlight>
                  <a:srgbClr val="CCFFFF"/>
                </a:highlight>
              </a:rPr>
              <a:t>⊕D</a:t>
            </a:r>
            <a:r>
              <a:rPr lang="en-US" altLang="zh-CN" sz="2200" spc="-80" dirty="0">
                <a:solidFill>
                  <a:schemeClr val="tx1"/>
                </a:solidFill>
                <a:highlight>
                  <a:srgbClr val="CCFFFF"/>
                </a:highlight>
                <a:sym typeface="Symbol" panose="05050102010706020507"/>
              </a:rPr>
              <a:t></a:t>
            </a:r>
            <a:r>
              <a:rPr lang="en-US" altLang="zh-CN" sz="2200" spc="-80" baseline="-18000" dirty="0">
                <a:solidFill>
                  <a:schemeClr val="tx1"/>
                </a:solidFill>
                <a:highlight>
                  <a:srgbClr val="CCFFFF"/>
                </a:highlight>
              </a:rPr>
              <a:t>n/2-1</a:t>
            </a:r>
            <a:r>
              <a:rPr lang="en-US" altLang="zh-CN" sz="2200" spc="-80" dirty="0">
                <a:solidFill>
                  <a:schemeClr val="tx1"/>
                </a:solidFill>
              </a:rPr>
              <a:t>)+…+S</a:t>
            </a:r>
            <a:r>
              <a:rPr lang="en-US" altLang="zh-CN" sz="2200" spc="-80" baseline="-18000" dirty="0">
                <a:solidFill>
                  <a:schemeClr val="tx1"/>
                </a:solidFill>
              </a:rPr>
              <a:t>0</a:t>
            </a:r>
            <a:r>
              <a:rPr lang="en-US" altLang="zh-CN" sz="2200" spc="-80" dirty="0">
                <a:solidFill>
                  <a:schemeClr val="tx1"/>
                </a:solidFill>
              </a:rPr>
              <a:t>(D</a:t>
            </a:r>
            <a:r>
              <a:rPr lang="en-US" altLang="zh-CN" sz="2200" spc="-8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spc="-80" dirty="0">
                <a:solidFill>
                  <a:schemeClr val="tx1"/>
                </a:solidFill>
                <a:highlight>
                  <a:srgbClr val="CCFFFF"/>
                </a:highlight>
              </a:rPr>
              <a:t>⊕D</a:t>
            </a:r>
            <a:r>
              <a:rPr lang="en-US" altLang="zh-CN" sz="2200" spc="-80" baseline="-18000" dirty="0">
                <a:solidFill>
                  <a:schemeClr val="tx1"/>
                </a:solidFill>
                <a:highlight>
                  <a:srgbClr val="CCFFFF"/>
                </a:highlight>
              </a:rPr>
              <a:t>n-2</a:t>
            </a:r>
            <a:r>
              <a:rPr lang="en-US" altLang="zh-CN" sz="2200" spc="-8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     如：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4</a:t>
            </a:r>
            <a:r>
              <a:rPr lang="zh-CN" altLang="en-US" sz="1800" dirty="0">
                <a:solidFill>
                  <a:schemeClr val="tx1"/>
                </a:solidFill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3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+D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)+S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en-US" altLang="zh-CN" sz="1800" baseline="-18000" dirty="0">
                <a:solidFill>
                  <a:schemeClr val="tx1"/>
                </a:solidFill>
              </a:rPr>
              <a:t>3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14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n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8</a:t>
            </a:r>
            <a:r>
              <a:rPr lang="zh-CN" altLang="en-US" sz="1800" dirty="0">
                <a:solidFill>
                  <a:schemeClr val="tx1"/>
                </a:solidFill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</a:rPr>
              <a:t>OF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2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3</a:t>
            </a:r>
            <a:r>
              <a:rPr lang="en-US" altLang="zh-CN" sz="1800" dirty="0">
                <a:solidFill>
                  <a:schemeClr val="tx1"/>
                </a:solidFill>
              </a:rPr>
              <a:t>+…+D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18000" dirty="0">
                <a:solidFill>
                  <a:schemeClr val="tx1"/>
                </a:solidFill>
              </a:rPr>
              <a:t>4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3</a:t>
            </a:r>
            <a:r>
              <a:rPr lang="en-US" altLang="zh-CN" sz="1800" dirty="0">
                <a:solidFill>
                  <a:schemeClr val="tx1"/>
                </a:solidFill>
              </a:rPr>
              <a:t>)+</a:t>
            </a:r>
          </a:p>
          <a:p>
            <a:pPr>
              <a:lnSpc>
                <a:spcPct val="114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   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5</a:t>
            </a:r>
            <a:r>
              <a:rPr lang="en-US" altLang="zh-CN" sz="1800" dirty="0">
                <a:solidFill>
                  <a:schemeClr val="tx1"/>
                </a:solidFill>
              </a:rPr>
              <a:t>+D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</a:rPr>
              <a:t>6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zh-CN" altLang="en-US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5</a:t>
            </a:r>
            <a:r>
              <a:rPr lang="en-US" altLang="zh-CN" sz="1800" dirty="0">
                <a:solidFill>
                  <a:schemeClr val="tx1"/>
                </a:solidFill>
              </a:rPr>
              <a:t>)+S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(D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spc="-50" dirty="0">
                <a:solidFill>
                  <a:schemeClr val="tx1"/>
                </a:solidFill>
              </a:rPr>
              <a:t>⊕D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6</a:t>
            </a:r>
            <a:r>
              <a:rPr lang="en-US" altLang="zh-CN" sz="1800" dirty="0">
                <a:solidFill>
                  <a:schemeClr val="tx1"/>
                </a:solidFill>
              </a:rPr>
              <a:t>) 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99E3ACDA-F334-4BE9-BC43-318A4D21777B}"/>
              </a:ext>
            </a:extLst>
          </p:cNvPr>
          <p:cNvGrpSpPr/>
          <p:nvPr/>
        </p:nvGrpSpPr>
        <p:grpSpPr>
          <a:xfrm>
            <a:off x="2987824" y="3933056"/>
            <a:ext cx="3276184" cy="721880"/>
            <a:chOff x="2987824" y="2520000"/>
            <a:chExt cx="3276184" cy="721880"/>
          </a:xfrm>
        </p:grpSpPr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92C120E5-8C1A-4EFA-B0D0-CC6226F17954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3132008" y="2520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CF0ADE90-284E-4798-9585-2A70CF57E301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2988000" y="2520001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075CE40E-056E-48DF-B23D-D4756A15E2B1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 bwMode="auto">
            <a:xfrm>
              <a:off x="2987999" y="2664000"/>
              <a:ext cx="39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4889D788-ADBC-4F8C-98FF-B3F9848A9092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3132000" y="309788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B71A0820-8B52-4A81-A2FA-C18F640252B1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2987825" y="309788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C463D14C-D499-4DE0-846C-EB41FD7BE31C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>
              <a:off x="2987824" y="3241880"/>
              <a:ext cx="39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18AE760F-C6ED-4684-ABCA-811EF176B098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3276008" y="309788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A14B6DDF-540D-43A2-B108-2318CF0FE474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5976008" y="2520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61554D25-75B0-41F2-BAD2-BAED5F1FCBFE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5832008" y="2520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3603ADD4-BE17-47B5-AC30-22DA1B426CEA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>
              <a:off x="5832008" y="2665880"/>
              <a:ext cx="39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9365F075-2491-4637-AC2A-4FFD1691D551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5976008" y="309788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0" name="直接箭头连接符 239">
              <a:extLst>
                <a:ext uri="{FF2B5EF4-FFF2-40B4-BE49-F238E27FC236}">
                  <a16:creationId xmlns:a16="http://schemas.microsoft.com/office/drawing/2014/main" id="{287F41B0-B1B8-4B4E-B652-650A3B6B3C5D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5832008" y="309788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CA21BA83-B52A-4FC2-8037-A20D3B9BABCB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>
              <a:off x="5832008" y="3241880"/>
              <a:ext cx="43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42" name="直接箭头连接符 241">
              <a:extLst>
                <a:ext uri="{FF2B5EF4-FFF2-40B4-BE49-F238E27FC236}">
                  <a16:creationId xmlns:a16="http://schemas.microsoft.com/office/drawing/2014/main" id="{5E47676A-EA1B-48F4-A8BD-4E3A9CA76FDD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6120008" y="309788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43" name="Text Box 216">
            <a:extLst>
              <a:ext uri="{FF2B5EF4-FFF2-40B4-BE49-F238E27FC236}">
                <a16:creationId xmlns:a16="http://schemas.microsoft.com/office/drawing/2014/main" id="{B398DF83-442E-4DF8-9DE9-610934D3BFE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1560" y="5949280"/>
            <a:ext cx="3348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作业</a:t>
            </a:r>
            <a:r>
              <a:rPr lang="en-US" altLang="zh-CN" sz="2000" dirty="0"/>
              <a:t>2-3</a:t>
            </a:r>
            <a:r>
              <a:rPr lang="zh-CN" altLang="en-US" sz="2000" dirty="0"/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P87—23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26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D2E97-C701-404B-8BE7-893FE5FACAAF}" type="slidenum">
              <a:rPr lang="en-US" altLang="zh-CN"/>
              <a:t>54</a:t>
            </a:fld>
            <a:endParaRPr lang="en-US" altLang="zh-CN"/>
          </a:p>
        </p:txBody>
      </p:sp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79388" y="367916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+mn-ea"/>
                <a:ea typeface="+mn-ea"/>
              </a:rPr>
              <a:t>三、定点乘法运算</a:t>
            </a:r>
          </a:p>
        </p:txBody>
      </p:sp>
      <p:sp>
        <p:nvSpPr>
          <p:cNvPr id="45" name="Text Box 95"/>
          <p:cNvSpPr txBox="1">
            <a:spLocks noChangeArrowheads="1"/>
          </p:cNvSpPr>
          <p:nvPr/>
        </p:nvSpPr>
        <p:spPr bwMode="auto">
          <a:xfrm>
            <a:off x="179388" y="836712"/>
            <a:ext cx="8785101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accent2"/>
                </a:solidFill>
              </a:rPr>
              <a:t>   </a:t>
            </a:r>
            <a:r>
              <a:rPr lang="zh-CN" altLang="en-US" sz="2200" dirty="0">
                <a:solidFill>
                  <a:schemeClr val="accent2"/>
                </a:solidFill>
              </a:rPr>
              <a:t>运算类型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无符号乘法、补码乘法、原码乘法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除法不考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                 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用于整数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      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用于小数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←运算基于数据表示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9" name="Text Box 181"/>
          <p:cNvSpPr txBox="1">
            <a:spLocks noChangeArrowheads="1"/>
          </p:cNvSpPr>
          <p:nvPr/>
        </p:nvSpPr>
        <p:spPr bwMode="auto">
          <a:xfrm>
            <a:off x="179388" y="1556792"/>
            <a:ext cx="8497068" cy="41581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机器乘法的运算需求：  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硬件为定长运算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u="sng" dirty="0">
                <a:solidFill>
                  <a:srgbClr val="990099"/>
                </a:solidFill>
              </a:rPr>
              <a:t>多次累加</a:t>
            </a:r>
            <a:r>
              <a:rPr lang="zh-CN" altLang="en-US" sz="2200" dirty="0">
                <a:solidFill>
                  <a:schemeClr val="tx1"/>
                </a:solidFill>
              </a:rPr>
              <a:t>形成乘积，部分积</a:t>
            </a:r>
            <a:r>
              <a:rPr lang="zh-CN" altLang="en-US" sz="2200" u="sng" dirty="0">
                <a:solidFill>
                  <a:srgbClr val="990099"/>
                </a:solidFill>
              </a:rPr>
              <a:t>移位后再相加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机器乘法的实现策略：  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尽量复用器件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   ①</a:t>
            </a:r>
            <a:r>
              <a:rPr lang="zh-CN" altLang="en-US" sz="2200" dirty="0">
                <a:solidFill>
                  <a:schemeClr val="tx1"/>
                </a:solidFill>
              </a:rPr>
              <a:t>用</a:t>
            </a:r>
            <a:r>
              <a:rPr lang="zh-CN" altLang="en-US" sz="2200" u="sng" dirty="0">
                <a:solidFill>
                  <a:srgbClr val="990099"/>
                </a:solidFill>
              </a:rPr>
              <a:t>循环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zh-CN" altLang="en-US" sz="2200" u="sng" dirty="0">
                <a:solidFill>
                  <a:schemeClr val="accent2"/>
                </a:solidFill>
              </a:rPr>
              <a:t>加法</a:t>
            </a:r>
            <a:r>
              <a:rPr lang="zh-CN" altLang="en-US" sz="2200" dirty="0">
                <a:solidFill>
                  <a:schemeClr val="tx1"/>
                </a:solidFill>
              </a:rPr>
              <a:t>和</a:t>
            </a:r>
            <a:r>
              <a:rPr lang="zh-CN" altLang="en-US" sz="2200" u="sng" dirty="0">
                <a:solidFill>
                  <a:schemeClr val="accent2"/>
                </a:solidFill>
              </a:rPr>
              <a:t>右移</a:t>
            </a:r>
            <a:r>
              <a:rPr lang="zh-CN" altLang="en-US" sz="2200" dirty="0">
                <a:solidFill>
                  <a:schemeClr val="tx1"/>
                </a:solidFill>
              </a:rPr>
              <a:t>实现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   ②</a:t>
            </a:r>
            <a:r>
              <a:rPr lang="zh-CN" altLang="en-US" sz="2200" dirty="0">
                <a:solidFill>
                  <a:schemeClr val="tx1"/>
                </a:solidFill>
              </a:rPr>
              <a:t>加法时，</a:t>
            </a:r>
            <a:r>
              <a:rPr lang="zh-CN" altLang="en-US" sz="2200" u="sng" dirty="0">
                <a:solidFill>
                  <a:srgbClr val="990099"/>
                </a:solidFill>
              </a:rPr>
              <a:t>加</a:t>
            </a:r>
            <a:r>
              <a:rPr lang="zh-CN" altLang="en-US" sz="2200" dirty="0">
                <a:solidFill>
                  <a:schemeClr val="tx1"/>
                </a:solidFill>
              </a:rPr>
              <a:t>被乘数或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</a:p>
          <a:p>
            <a:pPr marL="2155825" indent="-2155825"/>
            <a:r>
              <a:rPr lang="en-US" altLang="zh-CN" sz="2200" dirty="0">
                <a:solidFill>
                  <a:schemeClr val="tx1"/>
                </a:solidFill>
              </a:rPr>
              <a:t>    ③</a:t>
            </a:r>
            <a:r>
              <a:rPr lang="zh-CN" altLang="en-US" sz="2200" dirty="0">
                <a:solidFill>
                  <a:schemeClr val="tx1"/>
                </a:solidFill>
              </a:rPr>
              <a:t>右移时，</a:t>
            </a:r>
            <a:r>
              <a:rPr lang="zh-CN" altLang="en-US" sz="2200" dirty="0">
                <a:solidFill>
                  <a:srgbClr val="0070C0"/>
                </a:solidFill>
              </a:rPr>
              <a:t>加法进位</a:t>
            </a:r>
            <a:r>
              <a:rPr lang="zh-CN" altLang="en-US" sz="2200" dirty="0">
                <a:solidFill>
                  <a:schemeClr val="tx1"/>
                </a:solidFill>
              </a:rPr>
              <a:t>、部分积高位、部分积低位</a:t>
            </a:r>
            <a:r>
              <a:rPr lang="zh-CN" altLang="en-US" sz="2200" u="sng" dirty="0">
                <a:solidFill>
                  <a:srgbClr val="990099"/>
                </a:solidFill>
              </a:rPr>
              <a:t>一起右移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155825" indent="-2155825"/>
            <a:endParaRPr lang="en-US" altLang="zh-CN" sz="2200" dirty="0">
              <a:solidFill>
                <a:schemeClr val="tx1"/>
              </a:solidFill>
            </a:endParaRPr>
          </a:p>
          <a:p>
            <a:pPr marL="2155825" indent="-2155825"/>
            <a:endParaRPr lang="en-US" altLang="zh-CN" sz="2200" dirty="0">
              <a:solidFill>
                <a:schemeClr val="tx1"/>
              </a:solidFill>
            </a:endParaRPr>
          </a:p>
          <a:p>
            <a:pPr marL="2155825" indent="-2155825">
              <a:spcBef>
                <a:spcPts val="500"/>
              </a:spcBef>
            </a:pPr>
            <a:r>
              <a:rPr lang="zh-CN" altLang="en-US" sz="1800" b="0" dirty="0">
                <a:solidFill>
                  <a:schemeClr val="tx1"/>
                </a:solidFill>
              </a:rPr>
              <a:t>     </a:t>
            </a:r>
            <a:r>
              <a:rPr lang="zh-CN" altLang="en-US" sz="1600" b="0" spc="200" dirty="0">
                <a:solidFill>
                  <a:schemeClr val="tx1"/>
                </a:solidFill>
              </a:rPr>
              <a:t> </a:t>
            </a:r>
            <a:r>
              <a:rPr lang="zh-CN" altLang="en-US" sz="1800" b="0" dirty="0">
                <a:solidFill>
                  <a:schemeClr val="tx1"/>
                </a:solidFill>
              </a:rPr>
              <a:t>│</a:t>
            </a:r>
            <a:r>
              <a:rPr lang="zh-CN" altLang="en-US" sz="1800" dirty="0">
                <a:solidFill>
                  <a:schemeClr val="tx1"/>
                </a:solidFill>
              </a:rPr>
              <a:t>         </a:t>
            </a:r>
            <a:r>
              <a:rPr lang="zh-CN" altLang="en-US" sz="1800" b="0" dirty="0">
                <a:solidFill>
                  <a:schemeClr val="tx1"/>
                </a:solidFill>
              </a:rPr>
              <a:t>│</a:t>
            </a:r>
            <a:endParaRPr lang="en-US" altLang="zh-CN" sz="1800" b="0" dirty="0">
              <a:solidFill>
                <a:schemeClr val="tx1"/>
              </a:solidFill>
            </a:endParaRPr>
          </a:p>
          <a:p>
            <a:pPr marL="2155825" indent="-2155825">
              <a:lnSpc>
                <a:spcPct val="105000"/>
              </a:lnSpc>
              <a:spcBef>
                <a:spcPts val="0"/>
              </a:spcBef>
            </a:pPr>
            <a:r>
              <a:rPr lang="zh-CN" altLang="en-US" sz="1800" b="0" spc="200" dirty="0">
                <a:solidFill>
                  <a:schemeClr val="tx1"/>
                </a:solidFill>
              </a:rPr>
              <a:t>     </a:t>
            </a:r>
            <a:r>
              <a:rPr lang="zh-CN" altLang="en-US" sz="1800" b="0" dirty="0">
                <a:solidFill>
                  <a:schemeClr val="tx1"/>
                </a:solidFill>
              </a:rPr>
              <a:t>│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0" name="Text Box 151"/>
          <p:cNvSpPr txBox="1">
            <a:spLocks noChangeArrowheads="1"/>
          </p:cNvSpPr>
          <p:nvPr/>
        </p:nvSpPr>
        <p:spPr bwMode="auto">
          <a:xfrm>
            <a:off x="179512" y="4221088"/>
            <a:ext cx="8785101" cy="18328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C00000"/>
                </a:solidFill>
              </a:rPr>
              <a:t> *机器乘法的类型： 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基于每次所乘的位数</a:t>
            </a:r>
          </a:p>
          <a:p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u="sng" dirty="0">
                <a:solidFill>
                  <a:schemeClr val="tx1"/>
                </a:solidFill>
              </a:rPr>
              <a:t>位</a:t>
            </a:r>
            <a:r>
              <a:rPr lang="zh-CN" altLang="en-US" sz="2200" dirty="0">
                <a:solidFill>
                  <a:schemeClr val="tx1"/>
                </a:solidFill>
              </a:rPr>
              <a:t>乘法、</a:t>
            </a:r>
            <a:r>
              <a:rPr lang="en-US" altLang="zh-CN" sz="2200" u="sng" dirty="0">
                <a:solidFill>
                  <a:schemeClr val="tx1"/>
                </a:solidFill>
              </a:rPr>
              <a:t>2</a:t>
            </a:r>
            <a:r>
              <a:rPr lang="zh-CN" altLang="en-US" sz="2200" u="sng" dirty="0">
                <a:solidFill>
                  <a:schemeClr val="tx1"/>
                </a:solidFill>
              </a:rPr>
              <a:t>位</a:t>
            </a:r>
            <a:r>
              <a:rPr lang="zh-CN" altLang="en-US" sz="2200" dirty="0">
                <a:solidFill>
                  <a:schemeClr val="tx1"/>
                </a:solidFill>
              </a:rPr>
              <a:t>乘法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加法器＋移位器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chemeClr val="tx1"/>
                </a:solidFill>
              </a:rPr>
              <a:t>快速</a:t>
            </a:r>
            <a:r>
              <a:rPr lang="zh-CN" altLang="en-US" sz="2200" dirty="0">
                <a:solidFill>
                  <a:schemeClr val="tx1"/>
                </a:solidFill>
              </a:rPr>
              <a:t>乘法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阵列乘法器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                       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←判断</a:t>
            </a:r>
            <a:r>
              <a:rPr lang="zh-CN" altLang="en-US" sz="1800" dirty="0">
                <a:solidFill>
                  <a:srgbClr val="990099"/>
                </a:solidFill>
              </a:rPr>
              <a:t>全部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乘数，</a:t>
            </a:r>
            <a:r>
              <a:rPr lang="zh-CN" altLang="en-US" sz="1800" dirty="0">
                <a:solidFill>
                  <a:schemeClr val="tx1"/>
                </a:solidFill>
              </a:rPr>
              <a:t>循环</a:t>
            </a:r>
            <a:r>
              <a:rPr lang="en-US" altLang="zh-CN" sz="1800" dirty="0">
                <a:solidFill>
                  <a:srgbClr val="990099"/>
                </a:solidFill>
              </a:rPr>
              <a:t>0</a:t>
            </a:r>
            <a:r>
              <a:rPr lang="zh-CN" altLang="en-US" sz="1800" dirty="0">
                <a:solidFill>
                  <a:srgbClr val="990099"/>
                </a:solidFill>
              </a:rPr>
              <a:t>次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</a:t>
            </a:r>
            <a:r>
              <a:rPr lang="zh-CN" altLang="en-US" sz="1800" b="0" dirty="0">
                <a:solidFill>
                  <a:schemeClr val="tx1"/>
                </a:solidFill>
              </a:rPr>
              <a:t>  </a:t>
            </a:r>
            <a:r>
              <a:rPr lang="zh-CN" altLang="en-US" sz="1800" dirty="0">
                <a:solidFill>
                  <a:schemeClr val="tx1"/>
                </a:solidFill>
              </a:rPr>
              <a:t>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←每次判断</a:t>
            </a:r>
            <a:r>
              <a:rPr lang="en-US" altLang="zh-CN" sz="1800" dirty="0">
                <a:solidFill>
                  <a:srgbClr val="990099"/>
                </a:solidFill>
              </a:rPr>
              <a:t>2</a:t>
            </a:r>
            <a:r>
              <a:rPr lang="zh-CN" altLang="en-US" sz="1800" dirty="0">
                <a:solidFill>
                  <a:srgbClr val="990099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乘数</a:t>
            </a:r>
            <a:r>
              <a:rPr lang="zh-CN" altLang="en-US" sz="1800" dirty="0">
                <a:solidFill>
                  <a:schemeClr val="tx1"/>
                </a:solidFill>
              </a:rPr>
              <a:t>、加</a:t>
            </a:r>
            <a:r>
              <a:rPr lang="en-US" altLang="zh-CN" sz="1800" dirty="0">
                <a:solidFill>
                  <a:schemeClr val="tx1"/>
                </a:solidFill>
              </a:rPr>
              <a:t>0/A/2A/3A</a:t>
            </a:r>
            <a:r>
              <a:rPr lang="zh-CN" altLang="en-US" sz="1800" dirty="0">
                <a:solidFill>
                  <a:schemeClr val="tx1"/>
                </a:solidFill>
              </a:rPr>
              <a:t>、右移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位，循环</a:t>
            </a:r>
            <a:r>
              <a:rPr lang="en-US" altLang="zh-CN" sz="1800" dirty="0">
                <a:solidFill>
                  <a:srgbClr val="990099"/>
                </a:solidFill>
              </a:rPr>
              <a:t>n/2</a:t>
            </a:r>
            <a:r>
              <a:rPr lang="zh-CN" altLang="en-US" sz="1800" dirty="0">
                <a:solidFill>
                  <a:srgbClr val="990099"/>
                </a:solidFill>
              </a:rPr>
              <a:t>次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←每次判断</a:t>
            </a: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zh-CN" altLang="en-US" sz="1800" dirty="0">
                <a:solidFill>
                  <a:srgbClr val="990099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乘数、加</a:t>
            </a:r>
            <a:r>
              <a:rPr lang="en-US" altLang="zh-CN" sz="1800" dirty="0">
                <a:solidFill>
                  <a:schemeClr val="tx1"/>
                </a:solidFill>
              </a:rPr>
              <a:t>0/A</a:t>
            </a:r>
            <a:r>
              <a:rPr lang="zh-CN" altLang="en-US" sz="1800" dirty="0">
                <a:solidFill>
                  <a:schemeClr val="tx1"/>
                </a:solidFill>
              </a:rPr>
              <a:t>、右移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位，循环</a:t>
            </a:r>
            <a:r>
              <a:rPr lang="en-US" altLang="zh-CN" sz="1800" dirty="0">
                <a:solidFill>
                  <a:srgbClr val="990099"/>
                </a:solidFill>
              </a:rPr>
              <a:t>n</a:t>
            </a:r>
            <a:r>
              <a:rPr lang="zh-CN" altLang="en-US" sz="1800" dirty="0">
                <a:solidFill>
                  <a:srgbClr val="990099"/>
                </a:solidFill>
              </a:rPr>
              <a:t>次</a:t>
            </a:r>
            <a:r>
              <a:rPr lang="en-US" altLang="zh-CN" sz="1800" dirty="0">
                <a:solidFill>
                  <a:schemeClr val="tx1"/>
                </a:solidFill>
              </a:rPr>
              <a:t>  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2" name="AutoShape 29"/>
          <p:cNvSpPr/>
          <p:nvPr>
            <p:custDataLst>
              <p:tags r:id="rId1"/>
            </p:custDataLst>
          </p:nvPr>
        </p:nvSpPr>
        <p:spPr bwMode="auto">
          <a:xfrm>
            <a:off x="4211960" y="3356992"/>
            <a:ext cx="1548000" cy="252095"/>
          </a:xfrm>
          <a:prstGeom prst="borderCallout2">
            <a:avLst>
              <a:gd name="adj1" fmla="val 48385"/>
              <a:gd name="adj2" fmla="val 332"/>
              <a:gd name="adj3" fmla="val 46468"/>
              <a:gd name="adj4" fmla="val -11397"/>
              <a:gd name="adj5" fmla="val -49370"/>
              <a:gd name="adj6" fmla="val -4087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1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加法器位置不变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4F26840-6196-4081-AAAD-5B3708B234E9}"/>
              </a:ext>
            </a:extLst>
          </p:cNvPr>
          <p:cNvGrpSpPr/>
          <p:nvPr/>
        </p:nvGrpSpPr>
        <p:grpSpPr>
          <a:xfrm>
            <a:off x="6552836" y="2060800"/>
            <a:ext cx="1943724" cy="1620000"/>
            <a:chOff x="4176276" y="2124000"/>
            <a:chExt cx="1943724" cy="162000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7F0C45E-72A1-4A8B-BF10-12798B35EC77}"/>
                </a:ext>
              </a:extLst>
            </p:cNvPr>
            <p:cNvSpPr/>
            <p:nvPr/>
          </p:nvSpPr>
          <p:spPr>
            <a:xfrm>
              <a:off x="5544000" y="3492000"/>
              <a:ext cx="576000" cy="252000"/>
            </a:xfrm>
            <a:prstGeom prst="rect">
              <a:avLst/>
            </a:prstGeom>
          </p:spPr>
          <p:txBody>
            <a:bodyPr wrap="none" lIns="36000" tIns="10800" rIns="18000" bIns="1080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…P</a:t>
              </a:r>
              <a:r>
                <a:rPr lang="en-US" altLang="zh-CN" sz="1600" baseline="-25000" dirty="0">
                  <a:solidFill>
                    <a:srgbClr val="990099"/>
                  </a:solidFill>
                </a:rPr>
                <a:t>3</a:t>
              </a:r>
              <a:endParaRPr lang="zh-CN" altLang="en-US" sz="1600" baseline="-25000" dirty="0"/>
            </a:p>
          </p:txBody>
        </p:sp>
        <p:sp>
          <p:nvSpPr>
            <p:cNvPr id="32" name="Rectangle 172">
              <a:extLst>
                <a:ext uri="{FF2B5EF4-FFF2-40B4-BE49-F238E27FC236}">
                  <a16:creationId xmlns:a16="http://schemas.microsoft.com/office/drawing/2014/main" id="{CAC9FF24-2833-4AB3-915E-D248FD23EE6C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860171" y="2124000"/>
              <a:ext cx="647700" cy="450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 algn="ctr">
              <a:solidFill>
                <a:srgbClr val="FF33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33" name="Rectangle 178">
              <a:extLst>
                <a:ext uri="{FF2B5EF4-FFF2-40B4-BE49-F238E27FC236}">
                  <a16:creationId xmlns:a16="http://schemas.microsoft.com/office/drawing/2014/main" id="{478BF920-81B9-4F49-9E02-D0B98DCFFCF1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823976" y="3503025"/>
              <a:ext cx="647700" cy="234315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Rectangle 209">
              <a:extLst>
                <a:ext uri="{FF2B5EF4-FFF2-40B4-BE49-F238E27FC236}">
                  <a16:creationId xmlns:a16="http://schemas.microsoft.com/office/drawing/2014/main" id="{01D8F6E8-E0A1-46D2-97D3-D6732B8C9240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625856" y="2591800"/>
              <a:ext cx="647700" cy="4318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 algn="ctr">
              <a:solidFill>
                <a:srgbClr val="FF33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35" name="Rectangle 210">
              <a:extLst>
                <a:ext uri="{FF2B5EF4-FFF2-40B4-BE49-F238E27FC236}">
                  <a16:creationId xmlns:a16="http://schemas.microsoft.com/office/drawing/2014/main" id="{3F156423-9ABB-46CE-8AB9-4D8F6E7885A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09956" y="3042015"/>
              <a:ext cx="647700" cy="4318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 algn="ctr">
              <a:solidFill>
                <a:srgbClr val="FF33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36" name="Rectangle 178">
              <a:extLst>
                <a:ext uri="{FF2B5EF4-FFF2-40B4-BE49-F238E27FC236}">
                  <a16:creationId xmlns:a16="http://schemas.microsoft.com/office/drawing/2014/main" id="{9112A5BE-F05A-4213-B830-B2C07B7A8FC7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176276" y="3503025"/>
              <a:ext cx="647700" cy="234315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0070C0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Rectangle 178">
              <a:extLst>
                <a:ext uri="{FF2B5EF4-FFF2-40B4-BE49-F238E27FC236}">
                  <a16:creationId xmlns:a16="http://schemas.microsoft.com/office/drawing/2014/main" id="{2F282C25-45FD-4801-A4C8-168A15DD41BD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62000" y="2610000"/>
              <a:ext cx="144000" cy="215900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prstDash val="sysDot"/>
              <a:miter lim="800000"/>
            </a:ln>
            <a:effectLst/>
          </p:spPr>
          <p:txBody>
            <a:bodyPr lIns="0" tIns="10800" rIns="0" bIns="1080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800" u="sng" dirty="0">
                  <a:solidFill>
                    <a:schemeClr val="tx1"/>
                  </a:solidFill>
                </a:rPr>
                <a:t>0</a:t>
              </a:r>
              <a:endParaRPr lang="zh-CN" altLang="en-US" sz="1800" u="sng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178">
              <a:extLst>
                <a:ext uri="{FF2B5EF4-FFF2-40B4-BE49-F238E27FC236}">
                  <a16:creationId xmlns:a16="http://schemas.microsoft.com/office/drawing/2014/main" id="{2E2A2D5F-68F1-4BB2-800C-0BE658A7B8A3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428000" y="3060000"/>
              <a:ext cx="144000" cy="215900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prstDash val="sysDot"/>
              <a:miter lim="800000"/>
            </a:ln>
            <a:effectLst/>
          </p:spPr>
          <p:txBody>
            <a:bodyPr lIns="0" tIns="10800" rIns="0" bIns="1080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800" u="sng" dirty="0">
                  <a:solidFill>
                    <a:schemeClr val="tx1"/>
                  </a:solidFill>
                </a:rPr>
                <a:t>0</a:t>
              </a:r>
              <a:endParaRPr lang="zh-CN" altLang="en-US" sz="1800" u="sng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178">
              <a:extLst>
                <a:ext uri="{FF2B5EF4-FFF2-40B4-BE49-F238E27FC236}">
                  <a16:creationId xmlns:a16="http://schemas.microsoft.com/office/drawing/2014/main" id="{9386927C-93EE-4C66-B97A-1EF00EC5E66F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212000" y="3510000"/>
              <a:ext cx="144000" cy="215900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prstDash val="sysDot"/>
              <a:miter lim="800000"/>
            </a:ln>
            <a:effectLst/>
          </p:spPr>
          <p:txBody>
            <a:bodyPr lIns="0" tIns="10800" rIns="0" bIns="1080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zh-CN" altLang="en-US" sz="1800" u="sng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Text Box 212">
            <a:extLst>
              <a:ext uri="{FF2B5EF4-FFF2-40B4-BE49-F238E27FC236}">
                <a16:creationId xmlns:a16="http://schemas.microsoft.com/office/drawing/2014/main" id="{48D67807-F682-4D7A-9FFC-219032EDF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504" y="1628800"/>
            <a:ext cx="2664000" cy="205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8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1 1 1</a:t>
            </a:r>
          </a:p>
          <a:p>
            <a:pPr>
              <a:lnSpc>
                <a:spcPct val="8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×    1 0 1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8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0 0 0 </a:t>
            </a:r>
            <a:r>
              <a:rPr lang="en-US" altLang="zh-CN" sz="1600" dirty="0">
                <a:solidFill>
                  <a:srgbClr val="990099"/>
                </a:solidFill>
              </a:rPr>
              <a:t>…P</a:t>
            </a:r>
            <a:r>
              <a:rPr lang="en-US" altLang="zh-CN" sz="1600" baseline="-25000" dirty="0">
                <a:solidFill>
                  <a:srgbClr val="990099"/>
                </a:solidFill>
              </a:rPr>
              <a:t>O</a:t>
            </a:r>
            <a:r>
              <a:rPr lang="en-US" altLang="zh-CN" sz="1600" dirty="0">
                <a:solidFill>
                  <a:srgbClr val="990099"/>
                </a:solidFill>
              </a:rPr>
              <a:t>(</a:t>
            </a:r>
            <a:r>
              <a:rPr lang="zh-CN" altLang="en-US" sz="1600" dirty="0">
                <a:solidFill>
                  <a:srgbClr val="990099"/>
                </a:solidFill>
              </a:rPr>
              <a:t>初值</a:t>
            </a:r>
            <a:r>
              <a:rPr lang="en-US" altLang="zh-CN" sz="1600" dirty="0">
                <a:solidFill>
                  <a:srgbClr val="990099"/>
                </a:solidFill>
              </a:rPr>
              <a:t>)</a:t>
            </a:r>
            <a:endParaRPr lang="en-US" altLang="zh-CN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+ 1 1 1</a:t>
            </a:r>
          </a:p>
          <a:p>
            <a:pPr>
              <a:lnSpc>
                <a:spcPct val="8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rgbClr val="990099"/>
                </a:solidFill>
              </a:rPr>
              <a:t>…P</a:t>
            </a:r>
            <a:r>
              <a:rPr lang="en-US" altLang="zh-CN" sz="1600" baseline="-25000" dirty="0">
                <a:solidFill>
                  <a:srgbClr val="990099"/>
                </a:solidFill>
              </a:rPr>
              <a:t>1</a:t>
            </a:r>
            <a:endParaRPr lang="en-US" altLang="zh-CN" sz="1800" baseline="-25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+ 0 0 0</a:t>
            </a:r>
          </a:p>
          <a:p>
            <a:pPr>
              <a:lnSpc>
                <a:spcPct val="8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1600" dirty="0">
                <a:solidFill>
                  <a:srgbClr val="990099"/>
                </a:solidFill>
              </a:rPr>
              <a:t>…P</a:t>
            </a:r>
            <a:r>
              <a:rPr lang="en-US" altLang="zh-CN" sz="1600" baseline="-25000" dirty="0">
                <a:solidFill>
                  <a:srgbClr val="990099"/>
                </a:solidFill>
              </a:rPr>
              <a:t>2</a:t>
            </a:r>
            <a:endParaRPr lang="en-US" altLang="zh-CN" sz="1800" baseline="-25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+ 1 1 1</a:t>
            </a:r>
          </a:p>
          <a:p>
            <a:pPr>
              <a:lnSpc>
                <a:spcPct val="80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1800" u="sng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99CCFF"/>
                </a:highlight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bg1"/>
                </a:solidFill>
                <a:latin typeface="+mn-ea"/>
                <a:ea typeface="+mn-ea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200"/>
          <p:cNvSpPr txBox="1">
            <a:spLocks noChangeArrowheads="1"/>
          </p:cNvSpPr>
          <p:nvPr/>
        </p:nvSpPr>
        <p:spPr bwMode="auto">
          <a:xfrm>
            <a:off x="179512" y="1268760"/>
            <a:ext cx="2511896" cy="418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rgbClr val="C00000"/>
                </a:solidFill>
              </a:rPr>
              <a:t> *运算方法：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递推公式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运算逻辑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55</a:t>
            </a:fld>
            <a:endParaRPr lang="en-US" altLang="zh-CN"/>
          </a:p>
        </p:txBody>
      </p:sp>
      <p:sp>
        <p:nvSpPr>
          <p:cNvPr id="24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200"/>
          <p:cNvSpPr txBox="1">
            <a:spLocks noChangeArrowheads="1"/>
          </p:cNvSpPr>
          <p:nvPr/>
        </p:nvSpPr>
        <p:spPr bwMode="auto">
          <a:xfrm>
            <a:off x="179388" y="332656"/>
            <a:ext cx="8857108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、无符号乘法运算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只讨论</a:t>
            </a:r>
            <a:r>
              <a:rPr lang="zh-CN" altLang="en-US" sz="1800" dirty="0">
                <a:solidFill>
                  <a:srgbClr val="990099"/>
                </a:solidFill>
              </a:rPr>
              <a:t>整数</a:t>
            </a:r>
            <a:r>
              <a:rPr lang="zh-CN" altLang="en-US" sz="1800" dirty="0">
                <a:solidFill>
                  <a:schemeClr val="tx1"/>
                </a:solidFill>
              </a:rPr>
              <a:t>一位乘法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sz="2200" dirty="0">
                <a:solidFill>
                  <a:schemeClr val="tx1"/>
                </a:solidFill>
              </a:rPr>
              <a:t>    [A×B]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无</a:t>
            </a:r>
            <a:r>
              <a:rPr lang="en-US" altLang="zh-CN" sz="2200" dirty="0">
                <a:solidFill>
                  <a:srgbClr val="FF3399"/>
                </a:solidFill>
              </a:rPr>
              <a:t>×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无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长度</a:t>
            </a:r>
            <a:r>
              <a:rPr lang="zh-CN" altLang="en-US" sz="2200" dirty="0">
                <a:solidFill>
                  <a:srgbClr val="990099"/>
                </a:solidFill>
              </a:rPr>
              <a:t>须</a:t>
            </a:r>
            <a:r>
              <a:rPr lang="zh-CN" altLang="en-US" sz="2200" dirty="0">
                <a:solidFill>
                  <a:schemeClr val="tx1"/>
                </a:solidFill>
              </a:rPr>
              <a:t>相同，结果为</a:t>
            </a:r>
            <a:r>
              <a:rPr lang="en-US" altLang="zh-CN" sz="2200" dirty="0">
                <a:solidFill>
                  <a:schemeClr val="tx1"/>
                </a:solidFill>
              </a:rPr>
              <a:t>2n</a:t>
            </a:r>
            <a:r>
              <a:rPr lang="zh-CN" altLang="en-US" sz="2200" dirty="0">
                <a:solidFill>
                  <a:schemeClr val="tx1"/>
                </a:solidFill>
              </a:rPr>
              <a:t>位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22" name="Text Box 122"/>
          <p:cNvSpPr txBox="1">
            <a:spLocks noChangeArrowheads="1"/>
          </p:cNvSpPr>
          <p:nvPr/>
        </p:nvSpPr>
        <p:spPr bwMode="auto">
          <a:xfrm>
            <a:off x="792088" y="1700808"/>
            <a:ext cx="8100392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n-1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…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1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1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0</a:t>
            </a:r>
            <a:endParaRPr lang="en-US" altLang="zh-CN" sz="2000" spc="-100" dirty="0">
              <a:solidFill>
                <a:schemeClr val="tx1"/>
              </a:solidFill>
            </a:endParaRPr>
          </a:p>
          <a:p>
            <a:r>
              <a:rPr lang="en-US" altLang="zh-CN" sz="2000" spc="-100" dirty="0">
                <a:solidFill>
                  <a:schemeClr val="tx1"/>
                </a:solidFill>
              </a:rPr>
              <a:t>    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n</a:t>
            </a:r>
            <a:r>
              <a:rPr lang="en-US" altLang="zh-CN" sz="2000" spc="-100" dirty="0">
                <a:solidFill>
                  <a:schemeClr val="tx1"/>
                </a:solidFill>
              </a:rPr>
              <a:t>×{A×b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-1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…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1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-(n-1)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-n</a:t>
            </a:r>
            <a:r>
              <a:rPr lang="en-US" altLang="zh-CN" sz="2000" spc="-100" dirty="0">
                <a:solidFill>
                  <a:schemeClr val="tx1"/>
                </a:solidFill>
              </a:rPr>
              <a:t>}</a:t>
            </a:r>
          </a:p>
          <a:p>
            <a:r>
              <a:rPr lang="en-US" altLang="zh-CN" sz="2000" spc="-100" dirty="0">
                <a:solidFill>
                  <a:schemeClr val="tx1"/>
                </a:solidFill>
              </a:rPr>
              <a:t>    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n</a:t>
            </a:r>
            <a:r>
              <a:rPr lang="en-US" altLang="zh-CN" sz="2000" spc="-100" dirty="0">
                <a:solidFill>
                  <a:schemeClr val="tx1"/>
                </a:solidFill>
              </a:rPr>
              <a:t>×{</a:t>
            </a:r>
            <a:r>
              <a:rPr lang="en-US" altLang="zh-CN" sz="2000" spc="-100" dirty="0">
                <a:solidFill>
                  <a:srgbClr val="C00000"/>
                </a:solidFill>
              </a:rPr>
              <a:t>(</a:t>
            </a:r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rgbClr val="0070C0"/>
                </a:solidFill>
              </a:rPr>
              <a:t>(</a:t>
            </a:r>
            <a:r>
              <a:rPr lang="en-US" altLang="zh-CN" sz="2000" spc="-100" dirty="0">
                <a:solidFill>
                  <a:schemeClr val="tx1"/>
                </a:solidFill>
              </a:rPr>
              <a:t>…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(A×b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1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(</a:t>
            </a:r>
            <a:r>
              <a:rPr lang="en-US" altLang="zh-CN" sz="2000" spc="-100" dirty="0">
                <a:solidFill>
                  <a:srgbClr val="990099"/>
                </a:solidFill>
              </a:rPr>
              <a:t>0</a:t>
            </a:r>
            <a:r>
              <a:rPr lang="zh-CN" altLang="en-US" sz="2000" spc="-100" dirty="0">
                <a:solidFill>
                  <a:schemeClr val="tx1"/>
                </a:solidFill>
              </a:rPr>
              <a:t>＋</a:t>
            </a:r>
            <a:r>
              <a:rPr lang="en-US" altLang="zh-CN" sz="2000" spc="-100" dirty="0">
                <a:solidFill>
                  <a:schemeClr val="tx1"/>
                </a:solidFill>
              </a:rPr>
              <a:t>A×b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spc="-100" dirty="0">
                <a:solidFill>
                  <a:schemeClr val="tx1"/>
                </a:solidFill>
              </a:rPr>
              <a:t>)×2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spc="-100" dirty="0">
                <a:solidFill>
                  <a:schemeClr val="tx1"/>
                </a:solidFill>
              </a:rPr>
              <a:t>)×2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spc="-100" dirty="0">
                <a:solidFill>
                  <a:schemeClr val="tx1"/>
                </a:solidFill>
              </a:rPr>
              <a:t>…</a:t>
            </a:r>
            <a:r>
              <a:rPr lang="en-US" altLang="zh-CN" sz="2000" spc="-100" dirty="0">
                <a:solidFill>
                  <a:srgbClr val="0070C0"/>
                </a:solidFill>
              </a:rPr>
              <a:t>)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spc="-100" dirty="0">
                <a:solidFill>
                  <a:srgbClr val="C00000"/>
                </a:solidFill>
              </a:rPr>
              <a:t>)</a:t>
            </a:r>
            <a:r>
              <a:rPr lang="en-US" altLang="zh-CN" sz="2000" spc="-100" dirty="0">
                <a:solidFill>
                  <a:schemeClr val="tx1"/>
                </a:solidFill>
              </a:rPr>
              <a:t>×2</a:t>
            </a:r>
            <a:r>
              <a:rPr lang="en-US" altLang="zh-CN" sz="2000" spc="-1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spc="-100" dirty="0">
                <a:solidFill>
                  <a:schemeClr val="tx1"/>
                </a:solidFill>
              </a:rPr>
              <a:t>}</a:t>
            </a:r>
            <a:endParaRPr lang="en-US" altLang="zh-CN" sz="2000" spc="-100" dirty="0">
              <a:solidFill>
                <a:schemeClr val="accent2"/>
              </a:solidFill>
            </a:endParaRPr>
          </a:p>
        </p:txBody>
      </p:sp>
      <p:sp>
        <p:nvSpPr>
          <p:cNvPr id="30" name="Text Box 267"/>
          <p:cNvSpPr txBox="1">
            <a:spLocks noChangeArrowheads="1"/>
          </p:cNvSpPr>
          <p:nvPr/>
        </p:nvSpPr>
        <p:spPr bwMode="auto">
          <a:xfrm>
            <a:off x="2195737" y="3284984"/>
            <a:ext cx="6768752" cy="15388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(P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A×b</a:t>
            </a:r>
            <a:r>
              <a:rPr lang="en-US" altLang="zh-CN" sz="2000" baseline="-2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      </a:t>
            </a:r>
            <a:r>
              <a:rPr lang="zh-CN" altLang="en-US" sz="1800" dirty="0">
                <a:solidFill>
                  <a:schemeClr val="tx1"/>
                </a:solidFill>
              </a:rPr>
              <a:t>←初始部分积</a:t>
            </a:r>
            <a:r>
              <a:rPr lang="en-US" altLang="zh-CN" sz="1800" dirty="0">
                <a:solidFill>
                  <a:schemeClr val="tx1"/>
                </a:solidFill>
              </a:rPr>
              <a:t>P</a:t>
            </a:r>
            <a:r>
              <a:rPr lang="en-US" altLang="zh-CN" sz="1800" baseline="-20000" dirty="0">
                <a:solidFill>
                  <a:schemeClr val="tx1"/>
                </a:solidFill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endParaRPr lang="en-US" altLang="zh-CN" sz="1800" baseline="30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…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en-US" altLang="zh-CN" sz="2000" baseline="-16000" dirty="0">
                <a:solidFill>
                  <a:schemeClr val="tx1"/>
                </a:solidFill>
              </a:rPr>
              <a:t>i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(P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i-1</a:t>
            </a:r>
            <a:r>
              <a:rPr lang="zh-CN" altLang="en-US" sz="2000" dirty="0">
                <a:solidFill>
                  <a:srgbClr val="990099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A×b</a:t>
            </a:r>
            <a:r>
              <a:rPr lang="en-US" altLang="zh-CN" sz="2000" baseline="-16000" dirty="0">
                <a:solidFill>
                  <a:schemeClr val="tx1"/>
                </a:solidFill>
              </a:rPr>
              <a:t>i-1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>
                <a:solidFill>
                  <a:srgbClr val="0070C0"/>
                </a:solidFill>
              </a:rPr>
              <a:t>×2</a:t>
            </a:r>
            <a:r>
              <a:rPr lang="en-US" altLang="zh-CN" sz="2000" baseline="30000" dirty="0">
                <a:solidFill>
                  <a:srgbClr val="0070C0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</a:rPr>
              <a:t>←右移带进位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加法</a:t>
            </a:r>
            <a:r>
              <a:rPr lang="zh-CN" altLang="en-US" sz="1800" dirty="0">
                <a:solidFill>
                  <a:srgbClr val="990099"/>
                </a:solidFill>
              </a:rPr>
              <a:t>有进位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… </a:t>
            </a:r>
          </a:p>
          <a:p>
            <a:pPr>
              <a:lnSpc>
                <a:spcPct val="100000"/>
              </a:lnSpc>
            </a:pPr>
            <a:r>
              <a:rPr lang="en-US" altLang="zh-CN" sz="2000" dirty="0" err="1">
                <a:solidFill>
                  <a:schemeClr val="tx1"/>
                </a:solidFill>
              </a:rPr>
              <a:t>P</a:t>
            </a:r>
            <a:r>
              <a:rPr lang="en-US" altLang="zh-CN" sz="2000" baseline="-20000" dirty="0" err="1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(P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n-1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A×b</a:t>
            </a:r>
            <a:r>
              <a:rPr lang="en-US" altLang="zh-CN" sz="2000" baseline="-20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)×2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</a:rPr>
              <a:t>←循环为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1800" dirty="0">
                <a:solidFill>
                  <a:schemeClr val="tx1"/>
                </a:solidFill>
              </a:rPr>
              <a:t>次</a:t>
            </a:r>
            <a:endParaRPr lang="en-US" altLang="zh-CN" sz="2000" baseline="-18000" dirty="0">
              <a:solidFill>
                <a:schemeClr val="accent2"/>
              </a:solidFill>
            </a:endParaRPr>
          </a:p>
        </p:txBody>
      </p:sp>
      <p:sp>
        <p:nvSpPr>
          <p:cNvPr id="31" name="AutoShape 29"/>
          <p:cNvSpPr/>
          <p:nvPr/>
        </p:nvSpPr>
        <p:spPr bwMode="auto">
          <a:xfrm>
            <a:off x="2483768" y="3032984"/>
            <a:ext cx="2196000" cy="252000"/>
          </a:xfrm>
          <a:prstGeom prst="borderCallout2">
            <a:avLst>
              <a:gd name="adj1" fmla="val 49352"/>
              <a:gd name="adj2" fmla="val 99523"/>
              <a:gd name="adj3" fmla="val 53582"/>
              <a:gd name="adj4" fmla="val 107240"/>
              <a:gd name="adj5" fmla="val -89842"/>
              <a:gd name="adj6" fmla="val 11058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10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部分积初值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递推所需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73201" y="4797152"/>
            <a:ext cx="6791287" cy="457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循环的</a:t>
            </a:r>
            <a:r>
              <a:rPr lang="zh-CN" altLang="en-US" sz="2200" u="sng" dirty="0">
                <a:solidFill>
                  <a:srgbClr val="990099"/>
                </a:solidFill>
              </a:rPr>
              <a:t>判断</a:t>
            </a:r>
            <a:r>
              <a:rPr lang="en-US" altLang="zh-CN" sz="2200" u="sng" dirty="0">
                <a:solidFill>
                  <a:srgbClr val="990099"/>
                </a:solidFill>
              </a:rPr>
              <a:t>-</a:t>
            </a:r>
            <a:r>
              <a:rPr lang="zh-CN" altLang="en-US" sz="2200" u="sng" dirty="0">
                <a:solidFill>
                  <a:srgbClr val="990099"/>
                </a:solidFill>
              </a:rPr>
              <a:t>加法</a:t>
            </a:r>
            <a:r>
              <a:rPr lang="en-US" altLang="zh-CN" sz="2200" u="sng" dirty="0">
                <a:solidFill>
                  <a:srgbClr val="990099"/>
                </a:solidFill>
              </a:rPr>
              <a:t>-</a:t>
            </a:r>
            <a:r>
              <a:rPr lang="zh-CN" altLang="en-US" sz="2200" u="sng" dirty="0">
                <a:solidFill>
                  <a:srgbClr val="990099"/>
                </a:solidFill>
              </a:rPr>
              <a:t>移位</a:t>
            </a:r>
            <a:r>
              <a:rPr lang="zh-CN" altLang="en-US" sz="2200" dirty="0">
                <a:solidFill>
                  <a:schemeClr val="tx1"/>
                </a:solidFill>
              </a:rPr>
              <a:t>操作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判断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zh-CN" altLang="en-US" sz="1800" baseline="-18000" dirty="0">
                <a:solidFill>
                  <a:schemeClr val="tx1"/>
                </a:solidFill>
              </a:rPr>
              <a:t>当前</a:t>
            </a:r>
            <a:r>
              <a:rPr lang="zh-CN" altLang="en-US" sz="1800" dirty="0">
                <a:solidFill>
                  <a:schemeClr val="tx1"/>
                </a:solidFill>
              </a:rPr>
              <a:t>，＋</a:t>
            </a:r>
            <a:r>
              <a:rPr lang="en-US" altLang="zh-CN" sz="1800" dirty="0">
                <a:solidFill>
                  <a:schemeClr val="tx1"/>
                </a:solidFill>
              </a:rPr>
              <a:t>0/A</a:t>
            </a:r>
            <a:r>
              <a:rPr lang="zh-CN" altLang="en-US" sz="1800" dirty="0">
                <a:solidFill>
                  <a:schemeClr val="tx1"/>
                </a:solidFill>
              </a:rPr>
              <a:t>，带进位右移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  <a:endParaRPr lang="zh-CN" altLang="en-US" sz="1800" dirty="0"/>
          </a:p>
        </p:txBody>
      </p:sp>
      <p:cxnSp>
        <p:nvCxnSpPr>
          <p:cNvPr id="20" name="直接连接符 3">
            <a:extLst>
              <a:ext uri="{FF2B5EF4-FFF2-40B4-BE49-F238E27FC236}">
                <a16:creationId xmlns:a16="http://schemas.microsoft.com/office/drawing/2014/main" id="{3D352BBD-D961-49E1-BCFA-538B28BA7B9B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 flipV="1">
            <a:off x="1979712" y="1196752"/>
            <a:ext cx="900000" cy="36004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graphicFrame>
        <p:nvGraphicFramePr>
          <p:cNvPr id="33" name="Group 318">
            <a:extLst>
              <a:ext uri="{FF2B5EF4-FFF2-40B4-BE49-F238E27FC236}">
                <a16:creationId xmlns:a16="http://schemas.microsoft.com/office/drawing/2014/main" id="{48599D36-BCD9-47C9-8689-6F61FE446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62025"/>
              </p:ext>
            </p:extLst>
          </p:nvPr>
        </p:nvGraphicFramePr>
        <p:xfrm>
          <a:off x="2339752" y="5301208"/>
          <a:ext cx="6192688" cy="848664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判断</a:t>
                      </a:r>
                      <a:endParaRPr kumimoji="1" lang="en-US" altLang="zh-CN" sz="1800" b="1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加法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移位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低位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带进位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7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低位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3276000" y="2880000"/>
            <a:ext cx="5238000" cy="440992"/>
            <a:chOff x="3708544" y="4464176"/>
            <a:chExt cx="5238000" cy="440992"/>
          </a:xfrm>
        </p:grpSpPr>
        <p:sp>
          <p:nvSpPr>
            <p:cNvPr id="25" name="Line 125"/>
            <p:cNvSpPr>
              <a:spLocks noChangeShapeType="1"/>
            </p:cNvSpPr>
            <p:nvPr/>
          </p:nvSpPr>
          <p:spPr bwMode="auto">
            <a:xfrm>
              <a:off x="5220544" y="4464176"/>
              <a:ext cx="1548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25"/>
            <p:cNvSpPr>
              <a:spLocks noChangeShapeType="1"/>
            </p:cNvSpPr>
            <p:nvPr/>
          </p:nvSpPr>
          <p:spPr bwMode="auto">
            <a:xfrm>
              <a:off x="4320544" y="4518176"/>
              <a:ext cx="3096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25"/>
            <p:cNvSpPr>
              <a:spLocks noChangeShapeType="1"/>
            </p:cNvSpPr>
            <p:nvPr/>
          </p:nvSpPr>
          <p:spPr bwMode="auto">
            <a:xfrm>
              <a:off x="3708544" y="4572176"/>
              <a:ext cx="4572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右大括号 27"/>
            <p:cNvSpPr/>
            <p:nvPr/>
          </p:nvSpPr>
          <p:spPr bwMode="auto">
            <a:xfrm rot="5400000">
              <a:off x="7614544" y="3357128"/>
              <a:ext cx="108000" cy="2556000"/>
            </a:xfrm>
            <a:prstGeom prst="rightBrace">
              <a:avLst>
                <a:gd name="adj1" fmla="val 53685"/>
                <a:gd name="adj2" fmla="val 49599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Text Box 178"/>
            <p:cNvSpPr txBox="1">
              <a:spLocks noChangeArrowheads="1"/>
            </p:cNvSpPr>
            <p:nvPr/>
          </p:nvSpPr>
          <p:spPr bwMode="auto">
            <a:xfrm>
              <a:off x="7560544" y="4689168"/>
              <a:ext cx="432048" cy="216000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n</a:t>
              </a:r>
              <a:r>
                <a:rPr lang="zh-CN" altLang="en-US" sz="1600" dirty="0">
                  <a:solidFill>
                    <a:srgbClr val="990099"/>
                  </a:solidFill>
                </a:rPr>
                <a:t>个</a:t>
              </a:r>
            </a:p>
          </p:txBody>
        </p:sp>
      </p:grpSp>
      <p:sp>
        <p:nvSpPr>
          <p:cNvPr id="21" name="AutoShape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764638E-DDCD-4BAF-9A65-BD8DCE1C7CF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68639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D2F947E-72A1-43FA-823F-C93C22541E6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228000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bldLvl="0" animBg="1"/>
      <p:bldP spid="1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56</a:t>
            </a:fld>
            <a:endParaRPr lang="en-US" altLang="zh-CN"/>
          </a:p>
        </p:txBody>
      </p:sp>
      <p:sp>
        <p:nvSpPr>
          <p:cNvPr id="3" name="Text Box 99"/>
          <p:cNvSpPr txBox="1">
            <a:spLocks noChangeArrowheads="1"/>
          </p:cNvSpPr>
          <p:nvPr/>
        </p:nvSpPr>
        <p:spPr bwMode="auto">
          <a:xfrm>
            <a:off x="179388" y="332656"/>
            <a:ext cx="8785225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1—</a:t>
            </a:r>
            <a:r>
              <a:rPr lang="zh-CN" altLang="en-US" sz="2000" dirty="0">
                <a:solidFill>
                  <a:schemeClr val="tx1"/>
                </a:solidFill>
              </a:rPr>
              <a:t>设</a:t>
            </a:r>
            <a:r>
              <a:rPr lang="en-US" altLang="zh-CN" sz="2000" dirty="0">
                <a:solidFill>
                  <a:schemeClr val="tx1"/>
                </a:solidFill>
              </a:rPr>
              <a:t>A=111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B=110</a:t>
            </a:r>
            <a:r>
              <a:rPr lang="zh-CN" altLang="en-US" sz="2000" dirty="0">
                <a:solidFill>
                  <a:schemeClr val="tx1"/>
                </a:solidFill>
              </a:rPr>
              <a:t>，用无符号一位乘法求</a:t>
            </a:r>
            <a:r>
              <a:rPr lang="en-US" altLang="zh-CN" sz="2000" dirty="0">
                <a:solidFill>
                  <a:schemeClr val="tx1"/>
                </a:solidFill>
              </a:rPr>
              <a:t>[A×B]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无</a:t>
            </a:r>
            <a:endParaRPr lang="en-US" altLang="zh-CN" sz="2000" baseline="-18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rgbClr val="990099"/>
                </a:solidFill>
              </a:rPr>
              <a:t>     </a:t>
            </a:r>
            <a:r>
              <a:rPr lang="zh-CN" altLang="en-US" sz="2000" dirty="0">
                <a:solidFill>
                  <a:srgbClr val="990099"/>
                </a:solidFill>
              </a:rPr>
              <a:t>解：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Group 1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151421"/>
              </p:ext>
            </p:extLst>
          </p:nvPr>
        </p:nvGraphicFramePr>
        <p:xfrm>
          <a:off x="1475656" y="836712"/>
          <a:ext cx="4896544" cy="315792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部分积高位</a:t>
                      </a: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乘数</a:t>
                      </a: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000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初始部分积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5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</a:p>
                  </a:txBody>
                  <a:tcPr marL="36000" marR="36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484000" y="1916832"/>
            <a:ext cx="540000" cy="1909868"/>
            <a:chOff x="2699791" y="2531766"/>
            <a:chExt cx="786494" cy="1909868"/>
          </a:xfrm>
        </p:grpSpPr>
        <p:sp>
          <p:nvSpPr>
            <p:cNvPr id="6" name="Line 144"/>
            <p:cNvSpPr>
              <a:spLocks noChangeShapeType="1"/>
            </p:cNvSpPr>
            <p:nvPr/>
          </p:nvSpPr>
          <p:spPr bwMode="auto">
            <a:xfrm>
              <a:off x="2699792" y="2531766"/>
              <a:ext cx="786493" cy="252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145"/>
            <p:cNvSpPr>
              <a:spLocks noChangeShapeType="1"/>
            </p:cNvSpPr>
            <p:nvPr/>
          </p:nvSpPr>
          <p:spPr bwMode="auto">
            <a:xfrm>
              <a:off x="2699791" y="3361734"/>
              <a:ext cx="786493" cy="252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146"/>
            <p:cNvSpPr>
              <a:spLocks noChangeShapeType="1"/>
            </p:cNvSpPr>
            <p:nvPr/>
          </p:nvSpPr>
          <p:spPr bwMode="auto">
            <a:xfrm>
              <a:off x="2699791" y="4225734"/>
              <a:ext cx="786493" cy="2159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" name="Text Box 99"/>
          <p:cNvSpPr txBox="1">
            <a:spLocks noChangeArrowheads="1"/>
          </p:cNvSpPr>
          <p:nvPr/>
        </p:nvSpPr>
        <p:spPr bwMode="auto">
          <a:xfrm>
            <a:off x="873003" y="4149080"/>
            <a:ext cx="8019477" cy="42415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990600" indent="-990600"/>
            <a:r>
              <a:rPr lang="zh-CN" altLang="en-US" sz="2000" dirty="0">
                <a:solidFill>
                  <a:srgbClr val="990099"/>
                </a:solidFill>
              </a:rPr>
              <a:t>练习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zh-CN" altLang="en-US" sz="2000" dirty="0">
                <a:solidFill>
                  <a:schemeClr val="tx1"/>
                </a:solidFill>
              </a:rPr>
              <a:t>无符号整数为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位，用无符号一位乘法求</a:t>
            </a:r>
            <a:r>
              <a:rPr lang="en-US" altLang="zh-CN" sz="2000" dirty="0">
                <a:solidFill>
                  <a:schemeClr val="tx1"/>
                </a:solidFill>
              </a:rPr>
              <a:t>[9×6]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无</a:t>
            </a:r>
            <a:endParaRPr lang="en-US" altLang="zh-CN" sz="2000" baseline="-18000" dirty="0">
              <a:solidFill>
                <a:schemeClr val="tx1"/>
              </a:solidFill>
            </a:endParaRPr>
          </a:p>
        </p:txBody>
      </p:sp>
      <p:sp>
        <p:nvSpPr>
          <p:cNvPr id="13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223FA21-6D0F-475D-82EF-17373D193E7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15816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21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FAB237C-08DA-4E41-A37B-8E98580893D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28000" y="6524302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57</a:t>
            </a:fld>
            <a:endParaRPr lang="en-US" altLang="zh-CN"/>
          </a:p>
        </p:txBody>
      </p:sp>
      <p:sp>
        <p:nvSpPr>
          <p:cNvPr id="63" name="AutoShape 9">
            <a:hlinkClick r:id="rId1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201"/>
          <p:cNvSpPr txBox="1">
            <a:spLocks noChangeArrowheads="1"/>
          </p:cNvSpPr>
          <p:nvPr/>
        </p:nvSpPr>
        <p:spPr bwMode="auto">
          <a:xfrm>
            <a:off x="179511" y="332656"/>
            <a:ext cx="3380769" cy="60614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*逻辑实现：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思路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chemeClr val="accent2"/>
                </a:solidFill>
              </a:rPr>
              <a:t>    组成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u="sng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u="sng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u="sng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u="sng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控制逻辑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*溢出判断：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8230" indent="-1078230"/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判断方法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1078230" indent="-1078230"/>
            <a:r>
              <a:rPr lang="zh-CN" altLang="en-US" sz="2200" dirty="0">
                <a:solidFill>
                  <a:schemeClr val="accent2"/>
                </a:solidFill>
              </a:rPr>
              <a:t>    使用方式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rgbClr val="C00000"/>
                </a:solidFill>
              </a:rPr>
              <a:t> </a:t>
            </a:r>
            <a:endParaRPr lang="en-US" altLang="zh-CN" sz="2200" u="sng" dirty="0">
              <a:solidFill>
                <a:srgbClr val="C00000"/>
              </a:solidFill>
            </a:endParaRPr>
          </a:p>
        </p:txBody>
      </p:sp>
      <p:sp>
        <p:nvSpPr>
          <p:cNvPr id="83" name="Text Box 201"/>
          <p:cNvSpPr txBox="1">
            <a:spLocks noChangeArrowheads="1"/>
          </p:cNvSpPr>
          <p:nvPr/>
        </p:nvSpPr>
        <p:spPr bwMode="auto">
          <a:xfrm>
            <a:off x="1619672" y="764704"/>
            <a:ext cx="7344812" cy="22106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①循环的</a:t>
            </a:r>
            <a:r>
              <a:rPr lang="zh-CN" altLang="en-US" sz="2200" u="sng" dirty="0">
                <a:solidFill>
                  <a:srgbClr val="990099"/>
                </a:solidFill>
              </a:rPr>
              <a:t>判断</a:t>
            </a:r>
            <a:r>
              <a:rPr lang="en-US" altLang="zh-CN" sz="2200" u="sng" dirty="0">
                <a:solidFill>
                  <a:srgbClr val="990099"/>
                </a:solidFill>
              </a:rPr>
              <a:t>-</a:t>
            </a:r>
            <a:r>
              <a:rPr lang="zh-CN" altLang="en-US" sz="2200" u="sng" dirty="0">
                <a:solidFill>
                  <a:srgbClr val="990099"/>
                </a:solidFill>
              </a:rPr>
              <a:t>加法</a:t>
            </a:r>
            <a:r>
              <a:rPr lang="en-US" altLang="zh-CN" sz="2200" u="sng" dirty="0">
                <a:solidFill>
                  <a:srgbClr val="990099"/>
                </a:solidFill>
              </a:rPr>
              <a:t>-</a:t>
            </a:r>
            <a:r>
              <a:rPr lang="zh-CN" altLang="en-US" sz="2200" u="sng" dirty="0">
                <a:solidFill>
                  <a:srgbClr val="990099"/>
                </a:solidFill>
              </a:rPr>
              <a:t>移位</a:t>
            </a:r>
            <a:r>
              <a:rPr lang="zh-CN" altLang="en-US" sz="2200" dirty="0">
                <a:solidFill>
                  <a:schemeClr val="tx1"/>
                </a:solidFill>
              </a:rPr>
              <a:t>操作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判断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zh-CN" altLang="en-US" sz="1800" baseline="-18000" dirty="0">
                <a:solidFill>
                  <a:schemeClr val="tx1"/>
                </a:solidFill>
              </a:rPr>
              <a:t>当前</a:t>
            </a:r>
            <a:r>
              <a:rPr lang="zh-CN" altLang="en-US" sz="1800" dirty="0">
                <a:solidFill>
                  <a:schemeClr val="tx1"/>
                </a:solidFill>
              </a:rPr>
              <a:t>、＋</a:t>
            </a:r>
            <a:r>
              <a:rPr lang="en-US" altLang="zh-CN" sz="1800" dirty="0">
                <a:solidFill>
                  <a:schemeClr val="tx1"/>
                </a:solidFill>
              </a:rPr>
              <a:t>0/A</a:t>
            </a:r>
            <a:r>
              <a:rPr lang="zh-CN" altLang="en-US" sz="1800" dirty="0">
                <a:solidFill>
                  <a:schemeClr val="tx1"/>
                </a:solidFill>
              </a:rPr>
              <a:t>、带进位右移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②部分积低位放在</a:t>
            </a:r>
            <a:r>
              <a:rPr lang="zh-CN" altLang="en-US" sz="2200" u="sng" dirty="0">
                <a:solidFill>
                  <a:srgbClr val="990099"/>
                </a:solidFill>
              </a:rPr>
              <a:t>乘数的空位</a:t>
            </a:r>
            <a:r>
              <a:rPr lang="zh-CN" altLang="en-US" sz="2200" dirty="0">
                <a:solidFill>
                  <a:schemeClr val="tx1"/>
                </a:solidFill>
              </a:rPr>
              <a:t>上           </a:t>
            </a:r>
            <a:r>
              <a:rPr lang="zh-CN" altLang="en-US" sz="1600" dirty="0">
                <a:solidFill>
                  <a:schemeClr val="tx1"/>
                </a:solidFill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</a:rPr>
              <a:t>←省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个</a:t>
            </a:r>
            <a:r>
              <a:rPr lang="en-US" altLang="zh-CN" sz="1800" dirty="0">
                <a:solidFill>
                  <a:schemeClr val="tx1"/>
                </a:solidFill>
              </a:rPr>
              <a:t>REG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├</a:t>
            </a:r>
            <a:r>
              <a:rPr lang="zh-CN" altLang="en-US" sz="1800" dirty="0">
                <a:solidFill>
                  <a:schemeClr val="tx1"/>
                </a:solidFill>
              </a:rPr>
              <a:t>→判断</a:t>
            </a:r>
            <a:r>
              <a:rPr lang="zh-CN" altLang="en-US" sz="1800" dirty="0">
                <a:solidFill>
                  <a:srgbClr val="FF3399"/>
                </a:solidFill>
              </a:rPr>
              <a:t>仅为</a:t>
            </a:r>
            <a:r>
              <a:rPr lang="en-US" altLang="zh-CN" sz="1800" dirty="0">
                <a:solidFill>
                  <a:schemeClr val="tx1"/>
                </a:solidFill>
              </a:rPr>
              <a:t>REG</a:t>
            </a:r>
            <a:r>
              <a:rPr lang="zh-CN" altLang="en-US" sz="1800" dirty="0">
                <a:solidFill>
                  <a:srgbClr val="0070C0"/>
                </a:solidFill>
              </a:rPr>
              <a:t>最低位      </a:t>
            </a:r>
            <a:r>
              <a:rPr lang="zh-CN" altLang="en-US" sz="1800" dirty="0">
                <a:solidFill>
                  <a:schemeClr val="tx1"/>
                </a:solidFill>
              </a:rPr>
              <a:t>←实现简单</a:t>
            </a:r>
            <a:endParaRPr lang="zh-CN" altLang="en-US" sz="1800" dirty="0">
              <a:solidFill>
                <a:srgbClr val="0070C0"/>
              </a:solidFill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→部分积与乘数</a:t>
            </a:r>
            <a:r>
              <a:rPr lang="zh-CN" altLang="en-US" sz="1800" dirty="0">
                <a:solidFill>
                  <a:srgbClr val="FF3399"/>
                </a:solidFill>
              </a:rPr>
              <a:t>需一起</a:t>
            </a:r>
            <a:r>
              <a:rPr lang="zh-CN" altLang="en-US" sz="1800" dirty="0">
                <a:solidFill>
                  <a:srgbClr val="0070C0"/>
                </a:solidFill>
              </a:rPr>
              <a:t>右移 </a:t>
            </a:r>
            <a:r>
              <a:rPr lang="zh-CN" altLang="en-US" sz="1800" dirty="0">
                <a:solidFill>
                  <a:schemeClr val="tx1"/>
                </a:solidFill>
              </a:rPr>
              <a:t>←要求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循环逻辑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Cnt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控制</a:t>
            </a:r>
            <a:r>
              <a:rPr lang="en-US" altLang="zh-CN" sz="1800" dirty="0">
                <a:solidFill>
                  <a:schemeClr val="tx1"/>
                </a:solidFill>
              </a:rPr>
              <a:t>)+</a:t>
            </a:r>
            <a:r>
              <a:rPr lang="zh-CN" altLang="en-US" sz="2200" dirty="0">
                <a:solidFill>
                  <a:schemeClr val="tx1"/>
                </a:solidFill>
              </a:rPr>
              <a:t>判断逻辑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判</a:t>
            </a:r>
            <a:r>
              <a:rPr lang="en-US" altLang="zh-CN" sz="1800" dirty="0">
                <a:solidFill>
                  <a:schemeClr val="tx1"/>
                </a:solidFill>
              </a:rPr>
              <a:t>RegB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en-US" altLang="zh-CN" sz="2200" dirty="0">
                <a:solidFill>
                  <a:schemeClr val="tx1"/>
                </a:solidFill>
              </a:rPr>
              <a:t>+</a:t>
            </a:r>
            <a:r>
              <a:rPr lang="zh-CN" altLang="en-US" sz="2200" dirty="0">
                <a:solidFill>
                  <a:schemeClr val="tx1"/>
                </a:solidFill>
              </a:rPr>
              <a:t>加法逻辑</a:t>
            </a:r>
            <a:r>
              <a:rPr lang="en-US" altLang="zh-CN" sz="2200" dirty="0">
                <a:solidFill>
                  <a:schemeClr val="tx1"/>
                </a:solidFill>
              </a:rPr>
              <a:t>+</a:t>
            </a:r>
            <a:r>
              <a:rPr lang="zh-CN" altLang="en-US" sz="2200" dirty="0">
                <a:solidFill>
                  <a:schemeClr val="tx1"/>
                </a:solidFill>
              </a:rPr>
              <a:t>移位逻辑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chemeClr val="tx1"/>
                </a:solidFill>
              </a:rPr>
              <a:t>               </a:t>
            </a:r>
            <a:r>
              <a:rPr lang="zh-CN" altLang="en-US" sz="1600" b="0" dirty="0">
                <a:solidFill>
                  <a:schemeClr val="tx1"/>
                </a:solidFill>
              </a:rPr>
              <a:t>          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</a:rPr>
              <a:t>         </a:t>
            </a:r>
            <a:r>
              <a:rPr lang="zh-CN" altLang="en-US" sz="1600" b="0" dirty="0">
                <a:solidFill>
                  <a:schemeClr val="tx1"/>
                </a:solidFill>
              </a:rPr>
              <a:t>└</a:t>
            </a:r>
            <a:r>
              <a:rPr lang="en-US" altLang="zh-CN" sz="1600" dirty="0">
                <a:solidFill>
                  <a:schemeClr val="tx1"/>
                </a:solidFill>
              </a:rPr>
              <a:t>→+0/</a:t>
            </a:r>
            <a:r>
              <a:rPr lang="en-US" altLang="zh-CN" sz="1600" dirty="0" err="1">
                <a:solidFill>
                  <a:schemeClr val="tx1"/>
                </a:solidFill>
              </a:rPr>
              <a:t>RegA</a:t>
            </a:r>
            <a:r>
              <a:rPr lang="en-US" altLang="zh-CN" sz="1600" dirty="0">
                <a:solidFill>
                  <a:schemeClr val="tx1"/>
                </a:solidFill>
              </a:rPr>
              <a:t>→</a:t>
            </a:r>
            <a:r>
              <a:rPr lang="en-US" altLang="zh-CN" sz="1600" b="0" dirty="0">
                <a:solidFill>
                  <a:schemeClr val="tx1"/>
                </a:solidFill>
              </a:rPr>
              <a:t>┘  </a:t>
            </a:r>
            <a:r>
              <a:rPr lang="zh-CN" altLang="en-US" sz="1600" dirty="0">
                <a:solidFill>
                  <a:schemeClr val="tx1"/>
                </a:solidFill>
              </a:rPr>
              <a:t>写</a:t>
            </a:r>
            <a:r>
              <a:rPr lang="en-US" altLang="zh-CN" sz="1600" dirty="0" err="1">
                <a:solidFill>
                  <a:schemeClr val="tx1"/>
                </a:solidFill>
              </a:rPr>
              <a:t>RegP</a:t>
            </a:r>
            <a:r>
              <a:rPr lang="zh-CN" altLang="en-US" sz="1600" dirty="0">
                <a:solidFill>
                  <a:schemeClr val="tx1"/>
                </a:solidFill>
              </a:rPr>
              <a:t>后→┘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1835696" y="1916800"/>
            <a:ext cx="2448136" cy="216000"/>
            <a:chOff x="5220360" y="4149080"/>
            <a:chExt cx="2448136" cy="216000"/>
          </a:xfrm>
        </p:grpSpPr>
        <p:sp>
          <p:nvSpPr>
            <p:cNvPr id="161" name="Text Box 235"/>
            <p:cNvSpPr txBox="1">
              <a:spLocks noChangeArrowheads="1"/>
            </p:cNvSpPr>
            <p:nvPr/>
          </p:nvSpPr>
          <p:spPr bwMode="auto">
            <a:xfrm>
              <a:off x="5220360" y="4149080"/>
              <a:ext cx="122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54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部分积高位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Text Box 235"/>
            <p:cNvSpPr txBox="1">
              <a:spLocks noChangeArrowheads="1"/>
            </p:cNvSpPr>
            <p:nvPr/>
          </p:nvSpPr>
          <p:spPr bwMode="auto">
            <a:xfrm>
              <a:off x="6444496" y="4149080"/>
              <a:ext cx="122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highlight>
                    <a:srgbClr val="CCCCFF"/>
                  </a:highlight>
                </a:rPr>
                <a:t>低位</a:t>
              </a:r>
              <a:r>
                <a:rPr lang="en-US" altLang="zh-CN" sz="1600" dirty="0">
                  <a:solidFill>
                    <a:schemeClr val="tx1"/>
                  </a:solidFill>
                </a:rPr>
                <a:t>/</a:t>
              </a:r>
              <a:r>
                <a:rPr lang="zh-CN" altLang="en-US" sz="1600" dirty="0">
                  <a:solidFill>
                    <a:schemeClr val="tx1"/>
                  </a:solidFill>
                </a:rPr>
                <a:t>乘数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63" name="Rectangle 259"/>
            <p:cNvSpPr>
              <a:spLocks noChangeArrowheads="1"/>
            </p:cNvSpPr>
            <p:nvPr/>
          </p:nvSpPr>
          <p:spPr bwMode="auto">
            <a:xfrm>
              <a:off x="7524328" y="4157795"/>
              <a:ext cx="136800" cy="201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64" name="Line 236"/>
            <p:cNvSpPr>
              <a:spLocks noChangeShapeType="1"/>
            </p:cNvSpPr>
            <p:nvPr/>
          </p:nvSpPr>
          <p:spPr bwMode="auto">
            <a:xfrm>
              <a:off x="7524328" y="414908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9" name="AutoShape 9">
            <a:hlinkClick r:id="rId18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00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483368" y="1628800"/>
            <a:ext cx="1008224" cy="216000"/>
            <a:chOff x="2843544" y="2780171"/>
            <a:chExt cx="1008224" cy="216000"/>
          </a:xfrm>
        </p:grpSpPr>
        <p:sp>
          <p:nvSpPr>
            <p:cNvPr id="69" name="Line 236"/>
            <p:cNvSpPr>
              <a:spLocks noChangeShapeType="1"/>
            </p:cNvSpPr>
            <p:nvPr/>
          </p:nvSpPr>
          <p:spPr bwMode="auto">
            <a:xfrm>
              <a:off x="2843544" y="2996171"/>
              <a:ext cx="1008224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Box 232"/>
            <p:cNvSpPr txBox="1">
              <a:spLocks noChangeArrowheads="1"/>
            </p:cNvSpPr>
            <p:nvPr/>
          </p:nvSpPr>
          <p:spPr bwMode="auto">
            <a:xfrm>
              <a:off x="2951768" y="2780171"/>
              <a:ext cx="9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一起移位</a:t>
              </a:r>
            </a:p>
          </p:txBody>
        </p:sp>
      </p:grpSp>
      <p:sp>
        <p:nvSpPr>
          <p:cNvPr id="71" name="Line 236"/>
          <p:cNvSpPr>
            <a:spLocks noChangeShapeType="1"/>
          </p:cNvSpPr>
          <p:nvPr/>
        </p:nvSpPr>
        <p:spPr bwMode="auto">
          <a:xfrm flipV="1">
            <a:off x="4208064" y="1704400"/>
            <a:ext cx="0" cy="216000"/>
          </a:xfrm>
          <a:prstGeom prst="line">
            <a:avLst/>
          </a:prstGeom>
          <a:noFill/>
          <a:ln w="12700">
            <a:solidFill>
              <a:srgbClr val="990099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F32E724-81C8-46AA-8206-6E4966AB290D}"/>
              </a:ext>
            </a:extLst>
          </p:cNvPr>
          <p:cNvGrpSpPr/>
          <p:nvPr/>
        </p:nvGrpSpPr>
        <p:grpSpPr>
          <a:xfrm>
            <a:off x="1259632" y="2708920"/>
            <a:ext cx="5473126" cy="1872000"/>
            <a:chOff x="1224032" y="4185080"/>
            <a:chExt cx="5473126" cy="1872000"/>
          </a:xfrm>
        </p:grpSpPr>
        <p:sp>
          <p:nvSpPr>
            <p:cNvPr id="157" name="Text Box 235"/>
            <p:cNvSpPr txBox="1">
              <a:spLocks noChangeArrowheads="1"/>
            </p:cNvSpPr>
            <p:nvPr/>
          </p:nvSpPr>
          <p:spPr bwMode="auto">
            <a:xfrm>
              <a:off x="1224032" y="4545080"/>
              <a:ext cx="3996000" cy="1404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2000" i="1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9" name="Text Box 235"/>
            <p:cNvSpPr txBox="1">
              <a:spLocks noChangeArrowheads="1"/>
            </p:cNvSpPr>
            <p:nvPr/>
          </p:nvSpPr>
          <p:spPr bwMode="auto">
            <a:xfrm>
              <a:off x="2160248" y="4185080"/>
              <a:ext cx="1224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被乘数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RegA</a:t>
              </a:r>
              <a:endParaRPr lang="en-US" altLang="zh-CN" sz="1800" dirty="0" err="1">
                <a:solidFill>
                  <a:schemeClr val="tx1"/>
                </a:solidFill>
              </a:endParaRPr>
            </a:p>
          </p:txBody>
        </p:sp>
        <p:sp>
          <p:nvSpPr>
            <p:cNvPr id="170" name="Text Box 235"/>
            <p:cNvSpPr txBox="1">
              <a:spLocks noChangeArrowheads="1"/>
            </p:cNvSpPr>
            <p:nvPr/>
          </p:nvSpPr>
          <p:spPr bwMode="auto">
            <a:xfrm>
              <a:off x="2988032" y="555308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778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乘数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RegB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71" name="Text Box 235"/>
            <p:cNvSpPr txBox="1">
              <a:spLocks noChangeArrowheads="1"/>
            </p:cNvSpPr>
            <p:nvPr/>
          </p:nvSpPr>
          <p:spPr bwMode="auto">
            <a:xfrm>
              <a:off x="1872032" y="555308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部分积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RegP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72" name="Line 238"/>
            <p:cNvSpPr>
              <a:spLocks noChangeShapeType="1"/>
            </p:cNvSpPr>
            <p:nvPr/>
          </p:nvSpPr>
          <p:spPr bwMode="auto">
            <a:xfrm>
              <a:off x="2772248" y="4869080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238"/>
            <p:cNvSpPr>
              <a:spLocks noChangeShapeType="1"/>
            </p:cNvSpPr>
            <p:nvPr/>
          </p:nvSpPr>
          <p:spPr bwMode="auto">
            <a:xfrm flipH="1">
              <a:off x="2772248" y="443708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Text Box 230"/>
            <p:cNvSpPr txBox="1">
              <a:spLocks noChangeArrowheads="1"/>
            </p:cNvSpPr>
            <p:nvPr/>
          </p:nvSpPr>
          <p:spPr bwMode="auto">
            <a:xfrm>
              <a:off x="2376248" y="4653080"/>
              <a:ext cx="792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控制门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75" name="Line 238"/>
            <p:cNvSpPr>
              <a:spLocks noChangeShapeType="1"/>
            </p:cNvSpPr>
            <p:nvPr/>
          </p:nvSpPr>
          <p:spPr bwMode="auto">
            <a:xfrm>
              <a:off x="1981771" y="479708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238"/>
            <p:cNvSpPr>
              <a:spLocks noChangeShapeType="1"/>
            </p:cNvSpPr>
            <p:nvPr/>
          </p:nvSpPr>
          <p:spPr bwMode="auto">
            <a:xfrm flipH="1">
              <a:off x="2376248" y="5265080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238"/>
            <p:cNvSpPr>
              <a:spLocks noChangeShapeType="1"/>
            </p:cNvSpPr>
            <p:nvPr/>
          </p:nvSpPr>
          <p:spPr bwMode="auto">
            <a:xfrm flipH="1">
              <a:off x="2376248" y="5805080"/>
              <a:ext cx="0" cy="25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36"/>
            <p:cNvSpPr>
              <a:spLocks noChangeShapeType="1"/>
            </p:cNvSpPr>
            <p:nvPr/>
          </p:nvSpPr>
          <p:spPr bwMode="auto">
            <a:xfrm>
              <a:off x="2664248" y="5373080"/>
              <a:ext cx="0" cy="18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236"/>
            <p:cNvSpPr>
              <a:spLocks noChangeShapeType="1"/>
            </p:cNvSpPr>
            <p:nvPr/>
          </p:nvSpPr>
          <p:spPr bwMode="auto">
            <a:xfrm>
              <a:off x="3816248" y="5301080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Text Box 239"/>
            <p:cNvSpPr txBox="1">
              <a:spLocks noChangeArrowheads="1"/>
            </p:cNvSpPr>
            <p:nvPr/>
          </p:nvSpPr>
          <p:spPr bwMode="auto">
            <a:xfrm>
              <a:off x="3744248" y="5047456"/>
              <a:ext cx="100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控制逻辑</a:t>
              </a:r>
              <a:endParaRPr lang="zh-CN" altLang="en-US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81" name="Rectangle 259"/>
            <p:cNvSpPr>
              <a:spLocks noChangeArrowheads="1"/>
            </p:cNvSpPr>
            <p:nvPr/>
          </p:nvSpPr>
          <p:spPr bwMode="auto">
            <a:xfrm>
              <a:off x="3960032" y="5563880"/>
              <a:ext cx="136800" cy="237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82" name="Line 236"/>
            <p:cNvSpPr>
              <a:spLocks noChangeShapeType="1"/>
            </p:cNvSpPr>
            <p:nvPr/>
          </p:nvSpPr>
          <p:spPr bwMode="auto">
            <a:xfrm>
              <a:off x="3960032" y="5553080"/>
              <a:ext cx="0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236"/>
            <p:cNvSpPr>
              <a:spLocks noChangeShapeType="1"/>
            </p:cNvSpPr>
            <p:nvPr/>
          </p:nvSpPr>
          <p:spPr bwMode="auto">
            <a:xfrm flipV="1">
              <a:off x="4032032" y="5301080"/>
              <a:ext cx="0" cy="252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236"/>
            <p:cNvSpPr>
              <a:spLocks noChangeShapeType="1"/>
            </p:cNvSpPr>
            <p:nvPr/>
          </p:nvSpPr>
          <p:spPr bwMode="auto">
            <a:xfrm flipH="1">
              <a:off x="2808248" y="5157080"/>
              <a:ext cx="93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85" name="直接箭头连接符 61"/>
            <p:cNvCxnSpPr/>
            <p:nvPr/>
          </p:nvCxnSpPr>
          <p:spPr bwMode="auto">
            <a:xfrm flipH="1" flipV="1">
              <a:off x="3168032" y="4761080"/>
              <a:ext cx="86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86" name="Text Box 242"/>
            <p:cNvSpPr txBox="1">
              <a:spLocks noChangeArrowheads="1"/>
            </p:cNvSpPr>
            <p:nvPr/>
          </p:nvSpPr>
          <p:spPr bwMode="auto">
            <a:xfrm>
              <a:off x="4104248" y="4615400"/>
              <a:ext cx="1008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计数器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Cnt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87" name="Text Box 232"/>
            <p:cNvSpPr txBox="1">
              <a:spLocks noChangeArrowheads="1"/>
            </p:cNvSpPr>
            <p:nvPr/>
          </p:nvSpPr>
          <p:spPr bwMode="auto">
            <a:xfrm>
              <a:off x="3060248" y="494108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加法</a:t>
              </a:r>
            </a:p>
          </p:txBody>
        </p:sp>
        <p:sp>
          <p:nvSpPr>
            <p:cNvPr id="188" name="Text Box 247"/>
            <p:cNvSpPr txBox="1">
              <a:spLocks noChangeArrowheads="1"/>
            </p:cNvSpPr>
            <p:nvPr/>
          </p:nvSpPr>
          <p:spPr bwMode="auto">
            <a:xfrm>
              <a:off x="3312248" y="530108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右移</a:t>
              </a:r>
            </a:p>
          </p:txBody>
        </p:sp>
        <p:cxnSp>
          <p:nvCxnSpPr>
            <p:cNvPr id="189" name="直接箭头连接符 61"/>
            <p:cNvCxnSpPr/>
            <p:nvPr/>
          </p:nvCxnSpPr>
          <p:spPr bwMode="auto">
            <a:xfrm flipH="1">
              <a:off x="4752248" y="5191440"/>
              <a:ext cx="54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90" name="Text Box 232"/>
            <p:cNvSpPr txBox="1">
              <a:spLocks noChangeArrowheads="1"/>
            </p:cNvSpPr>
            <p:nvPr/>
          </p:nvSpPr>
          <p:spPr bwMode="auto">
            <a:xfrm>
              <a:off x="5292247" y="5047455"/>
              <a:ext cx="1404911" cy="46962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op(1—</a:t>
              </a:r>
              <a:r>
                <a:rPr lang="zh-CN" altLang="en-US" sz="1600" dirty="0">
                  <a:solidFill>
                    <a:schemeClr val="tx1"/>
                  </a:solidFill>
                </a:rPr>
                <a:t>乘法、</a:t>
              </a:r>
              <a:endParaRPr lang="en-US" altLang="zh-CN" sz="1600" dirty="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0—</a:t>
              </a:r>
              <a:r>
                <a:rPr lang="zh-CN" altLang="en-US" sz="1600" dirty="0">
                  <a:solidFill>
                    <a:schemeClr val="tx1"/>
                  </a:solidFill>
                </a:rPr>
                <a:t>无运算</a:t>
              </a:r>
              <a:r>
                <a:rPr lang="en-US" altLang="zh-CN" sz="1600" dirty="0">
                  <a:solidFill>
                    <a:schemeClr val="tx1"/>
                  </a:solidFill>
                </a:rPr>
                <a:t>)</a:t>
              </a:r>
            </a:p>
          </p:txBody>
        </p:sp>
        <p:cxnSp>
          <p:nvCxnSpPr>
            <p:cNvPr id="191" name="直接箭头连接符 61"/>
            <p:cNvCxnSpPr/>
            <p:nvPr/>
          </p:nvCxnSpPr>
          <p:spPr bwMode="auto">
            <a:xfrm flipH="1">
              <a:off x="5112248" y="472508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2" name="Text Box 232"/>
            <p:cNvSpPr txBox="1">
              <a:spLocks noChangeArrowheads="1"/>
            </p:cNvSpPr>
            <p:nvPr/>
          </p:nvSpPr>
          <p:spPr bwMode="auto">
            <a:xfrm>
              <a:off x="5328248" y="461708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CLK</a:t>
              </a:r>
            </a:p>
          </p:txBody>
        </p:sp>
        <p:sp>
          <p:nvSpPr>
            <p:cNvPr id="193" name="Line 236"/>
            <p:cNvSpPr>
              <a:spLocks noChangeShapeType="1"/>
            </p:cNvSpPr>
            <p:nvPr/>
          </p:nvSpPr>
          <p:spPr bwMode="auto">
            <a:xfrm flipH="1">
              <a:off x="2844248" y="5410960"/>
              <a:ext cx="9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36"/>
            <p:cNvSpPr>
              <a:spLocks noChangeShapeType="1"/>
            </p:cNvSpPr>
            <p:nvPr/>
          </p:nvSpPr>
          <p:spPr bwMode="auto">
            <a:xfrm>
              <a:off x="4536008" y="486908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238"/>
            <p:cNvSpPr>
              <a:spLocks noChangeShapeType="1"/>
            </p:cNvSpPr>
            <p:nvPr/>
          </p:nvSpPr>
          <p:spPr bwMode="auto">
            <a:xfrm>
              <a:off x="1296032" y="4797080"/>
              <a:ext cx="684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238"/>
            <p:cNvSpPr>
              <a:spLocks noChangeShapeType="1"/>
            </p:cNvSpPr>
            <p:nvPr/>
          </p:nvSpPr>
          <p:spPr bwMode="auto">
            <a:xfrm flipV="1">
              <a:off x="1296032" y="4797080"/>
              <a:ext cx="0" cy="108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238"/>
            <p:cNvSpPr>
              <a:spLocks noChangeShapeType="1"/>
            </p:cNvSpPr>
            <p:nvPr/>
          </p:nvSpPr>
          <p:spPr bwMode="auto">
            <a:xfrm flipH="1" flipV="1">
              <a:off x="1296032" y="5875328"/>
              <a:ext cx="1080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238"/>
            <p:cNvSpPr>
              <a:spLocks noChangeShapeType="1"/>
            </p:cNvSpPr>
            <p:nvPr/>
          </p:nvSpPr>
          <p:spPr bwMode="auto">
            <a:xfrm flipH="1">
              <a:off x="3564248" y="5805080"/>
              <a:ext cx="0" cy="25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236"/>
            <p:cNvSpPr>
              <a:spLocks noChangeShapeType="1"/>
            </p:cNvSpPr>
            <p:nvPr/>
          </p:nvSpPr>
          <p:spPr bwMode="auto">
            <a:xfrm flipH="1">
              <a:off x="2664248" y="5229080"/>
              <a:ext cx="1080000" cy="14404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236"/>
            <p:cNvSpPr>
              <a:spLocks noChangeShapeType="1"/>
            </p:cNvSpPr>
            <p:nvPr/>
          </p:nvSpPr>
          <p:spPr bwMode="auto">
            <a:xfrm>
              <a:off x="2844248" y="5410960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Text Box 247"/>
            <p:cNvSpPr txBox="1">
              <a:spLocks noChangeArrowheads="1"/>
            </p:cNvSpPr>
            <p:nvPr/>
          </p:nvSpPr>
          <p:spPr bwMode="auto">
            <a:xfrm>
              <a:off x="2880248" y="519308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写入</a:t>
              </a:r>
            </a:p>
          </p:txBody>
        </p:sp>
        <p:sp>
          <p:nvSpPr>
            <p:cNvPr id="202" name="Text Box 235"/>
            <p:cNvSpPr txBox="1">
              <a:spLocks noChangeArrowheads="1"/>
            </p:cNvSpPr>
            <p:nvPr/>
          </p:nvSpPr>
          <p:spPr bwMode="auto">
            <a:xfrm>
              <a:off x="1332400" y="4941080"/>
              <a:ext cx="432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203" name="Line 236"/>
            <p:cNvSpPr>
              <a:spLocks noChangeShapeType="1"/>
            </p:cNvSpPr>
            <p:nvPr/>
          </p:nvSpPr>
          <p:spPr bwMode="auto">
            <a:xfrm flipH="1">
              <a:off x="1440400" y="5157080"/>
              <a:ext cx="39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04" name="直接箭头连接符 61"/>
            <p:cNvCxnSpPr/>
            <p:nvPr/>
          </p:nvCxnSpPr>
          <p:spPr bwMode="auto">
            <a:xfrm>
              <a:off x="1440400" y="5157088"/>
              <a:ext cx="0" cy="540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7" name="Text Box 235"/>
            <p:cNvSpPr txBox="1">
              <a:spLocks noChangeArrowheads="1"/>
            </p:cNvSpPr>
            <p:nvPr/>
          </p:nvSpPr>
          <p:spPr bwMode="auto">
            <a:xfrm>
              <a:off x="2376184" y="5302800"/>
              <a:ext cx="216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" name="梯形 8">
              <a:extLst>
                <a:ext uri="{FF2B5EF4-FFF2-40B4-BE49-F238E27FC236}">
                  <a16:creationId xmlns:a16="http://schemas.microsoft.com/office/drawing/2014/main" id="{21BCF02B-A1D9-4B1F-BAD9-F3B6A336DC28}"/>
                </a:ext>
              </a:extLst>
            </p:cNvPr>
            <p:cNvSpPr/>
            <p:nvPr/>
          </p:nvSpPr>
          <p:spPr bwMode="auto">
            <a:xfrm rot="10800000">
              <a:off x="1728248" y="5013304"/>
              <a:ext cx="1188000" cy="288000"/>
            </a:xfrm>
            <a:prstGeom prst="trapezoid">
              <a:avLst>
                <a:gd name="adj" fmla="val 61278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</p:spPr>
          <p:txBody>
            <a:bodyPr lIns="0" tIns="10800" rIns="0" rtlCol="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dirty="0"/>
            </a:p>
          </p:txBody>
        </p:sp>
        <p:sp>
          <p:nvSpPr>
            <p:cNvPr id="88" name="Text Box 235">
              <a:extLst>
                <a:ext uri="{FF2B5EF4-FFF2-40B4-BE49-F238E27FC236}">
                  <a16:creationId xmlns:a16="http://schemas.microsoft.com/office/drawing/2014/main" id="{0CA2273E-919F-47CB-9FED-4836ED31F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400" y="5049304"/>
              <a:ext cx="900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加法器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89" name="直接箭头连接符 61">
              <a:extLst>
                <a:ext uri="{FF2B5EF4-FFF2-40B4-BE49-F238E27FC236}">
                  <a16:creationId xmlns:a16="http://schemas.microsoft.com/office/drawing/2014/main" id="{DEEF90A8-27CA-4047-A539-001BA1732B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40400" y="5697080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1" name="Line 236">
              <a:extLst>
                <a:ext uri="{FF2B5EF4-FFF2-40B4-BE49-F238E27FC236}">
                  <a16:creationId xmlns:a16="http://schemas.microsoft.com/office/drawing/2014/main" id="{5E10AAA5-F85B-4197-9E99-8B8A348577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032" y="4761080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539552" y="2772873"/>
            <a:ext cx="1836224" cy="656127"/>
            <a:chOff x="2916296" y="4070064"/>
            <a:chExt cx="1836224" cy="656127"/>
          </a:xfrm>
        </p:grpSpPr>
        <p:sp>
          <p:nvSpPr>
            <p:cNvPr id="82" name="Text Box 101"/>
            <p:cNvSpPr txBox="1">
              <a:spLocks noChangeArrowheads="1"/>
            </p:cNvSpPr>
            <p:nvPr/>
          </p:nvSpPr>
          <p:spPr bwMode="auto">
            <a:xfrm>
              <a:off x="2916296" y="4140184"/>
              <a:ext cx="612000" cy="48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</a:pP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84" name="Line 186"/>
            <p:cNvSpPr>
              <a:spLocks noChangeShapeType="1"/>
            </p:cNvSpPr>
            <p:nvPr/>
          </p:nvSpPr>
          <p:spPr bwMode="auto">
            <a:xfrm>
              <a:off x="3240296" y="4582191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流程图: 手动操作 84"/>
            <p:cNvSpPr/>
            <p:nvPr/>
          </p:nvSpPr>
          <p:spPr bwMode="auto">
            <a:xfrm>
              <a:off x="2952296" y="4438151"/>
              <a:ext cx="540000" cy="144000"/>
            </a:xfrm>
            <a:prstGeom prst="flowChartManualOperation">
              <a:avLst/>
            </a:prstGeom>
            <a:solidFill>
              <a:srgbClr val="CCCC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" name="Line 199"/>
            <p:cNvSpPr>
              <a:spLocks noChangeShapeType="1"/>
            </p:cNvSpPr>
            <p:nvPr/>
          </p:nvSpPr>
          <p:spPr bwMode="auto">
            <a:xfrm>
              <a:off x="3348296" y="4070064"/>
              <a:ext cx="0" cy="36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99"/>
            <p:cNvSpPr>
              <a:spLocks noChangeShapeType="1"/>
            </p:cNvSpPr>
            <p:nvPr/>
          </p:nvSpPr>
          <p:spPr bwMode="auto">
            <a:xfrm>
              <a:off x="3096296" y="4330984"/>
              <a:ext cx="0" cy="1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430"/>
            <p:cNvSpPr>
              <a:spLocks noChangeShapeType="1"/>
            </p:cNvSpPr>
            <p:nvPr/>
          </p:nvSpPr>
          <p:spPr bwMode="auto">
            <a:xfrm flipH="1" flipV="1">
              <a:off x="3438296" y="4510143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97" name="直接箭头连接符 96"/>
            <p:cNvCxnSpPr>
              <a:cxnSpLocks/>
            </p:cNvCxnSpPr>
            <p:nvPr/>
          </p:nvCxnSpPr>
          <p:spPr bwMode="auto">
            <a:xfrm>
              <a:off x="3528520" y="4294143"/>
              <a:ext cx="1224000" cy="288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98" name="Text Box 235"/>
            <p:cNvSpPr txBox="1">
              <a:spLocks noChangeArrowheads="1"/>
            </p:cNvSpPr>
            <p:nvPr/>
          </p:nvSpPr>
          <p:spPr bwMode="auto">
            <a:xfrm>
              <a:off x="3024296" y="4150984"/>
              <a:ext cx="144000" cy="180000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4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4" name="Text Box 99">
            <a:extLst>
              <a:ext uri="{FF2B5EF4-FFF2-40B4-BE49-F238E27FC236}">
                <a16:creationId xmlns:a16="http://schemas.microsoft.com/office/drawing/2014/main" id="{9F70ACA3-CA2B-49DD-8CBC-C634799DA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5" y="4582372"/>
            <a:ext cx="6912759" cy="1763077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tIns="18000">
            <a:spAutoFit/>
          </a:bodyPr>
          <a:lstStyle/>
          <a:p>
            <a:pPr marL="892175" indent="-892175"/>
            <a:r>
              <a:rPr lang="zh-CN" altLang="en-US" sz="2200" dirty="0">
                <a:solidFill>
                  <a:schemeClr val="tx1"/>
                </a:solidFill>
              </a:rPr>
              <a:t> </a:t>
            </a:r>
            <a:r>
              <a:rPr lang="zh-CN" altLang="en-US" sz="2200" u="sng" dirty="0">
                <a:solidFill>
                  <a:schemeClr val="tx1"/>
                </a:solidFill>
              </a:rPr>
              <a:t>初始化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err="1">
                <a:solidFill>
                  <a:schemeClr val="tx1"/>
                </a:solidFill>
              </a:rPr>
              <a:t>Cnt</a:t>
            </a:r>
            <a:r>
              <a:rPr lang="en-US" altLang="zh-CN" sz="1600" dirty="0">
                <a:solidFill>
                  <a:schemeClr val="tx1"/>
                </a:solidFill>
              </a:rPr>
              <a:t>=n</a:t>
            </a:r>
            <a:r>
              <a:rPr lang="zh-CN" altLang="en-US" sz="1600" dirty="0">
                <a:solidFill>
                  <a:schemeClr val="tx1"/>
                </a:solidFill>
              </a:rPr>
              <a:t>、</a:t>
            </a:r>
            <a:r>
              <a:rPr lang="en-US" altLang="zh-CN" sz="1600" dirty="0" err="1">
                <a:solidFill>
                  <a:schemeClr val="tx1"/>
                </a:solidFill>
              </a:rPr>
              <a:t>RegP</a:t>
            </a:r>
            <a:r>
              <a:rPr lang="en-US" altLang="zh-CN" sz="1600" dirty="0">
                <a:solidFill>
                  <a:schemeClr val="tx1"/>
                </a:solidFill>
              </a:rPr>
              <a:t>=0)</a:t>
            </a:r>
            <a:r>
              <a:rPr lang="zh-CN" altLang="en-US" sz="2200" dirty="0">
                <a:solidFill>
                  <a:schemeClr val="tx1"/>
                </a:solidFill>
              </a:rPr>
              <a:t>，每轮为</a:t>
            </a:r>
            <a:r>
              <a:rPr lang="zh-CN" altLang="en-US" sz="2200" u="sng" dirty="0">
                <a:solidFill>
                  <a:schemeClr val="tx1"/>
                </a:solidFill>
              </a:rPr>
              <a:t>判断</a:t>
            </a:r>
            <a:r>
              <a:rPr lang="en-US" altLang="zh-CN" sz="2200" u="sng" dirty="0">
                <a:solidFill>
                  <a:schemeClr val="tx1"/>
                </a:solidFill>
              </a:rPr>
              <a:t>-</a:t>
            </a:r>
            <a:r>
              <a:rPr lang="zh-CN" altLang="en-US" sz="2200" u="sng" dirty="0">
                <a:solidFill>
                  <a:schemeClr val="tx1"/>
                </a:solidFill>
              </a:rPr>
              <a:t>加法</a:t>
            </a:r>
            <a:r>
              <a:rPr lang="en-US" altLang="zh-CN" sz="2200" u="sng" dirty="0">
                <a:solidFill>
                  <a:schemeClr val="tx1"/>
                </a:solidFill>
              </a:rPr>
              <a:t>-</a:t>
            </a:r>
            <a:r>
              <a:rPr lang="zh-CN" altLang="en-US" sz="2200" u="sng" dirty="0">
                <a:solidFill>
                  <a:schemeClr val="tx1"/>
                </a:solidFill>
              </a:rPr>
              <a:t>移位</a:t>
            </a:r>
            <a:r>
              <a:rPr lang="zh-CN" altLang="en-US" sz="2200" dirty="0">
                <a:solidFill>
                  <a:schemeClr val="tx1"/>
                </a:solidFill>
              </a:rPr>
              <a:t>操作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892175" indent="-892175">
              <a:spcBef>
                <a:spcPts val="50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支持指令需求，如目的</a:t>
            </a:r>
            <a:r>
              <a:rPr lang="en-US" altLang="zh-CN" sz="1800" dirty="0">
                <a:solidFill>
                  <a:schemeClr val="tx1"/>
                </a:solidFill>
              </a:rPr>
              <a:t>OPD</a:t>
            </a:r>
            <a:r>
              <a:rPr lang="zh-CN" altLang="en-US" sz="1800" dirty="0">
                <a:solidFill>
                  <a:schemeClr val="tx1"/>
                </a:solidFill>
              </a:rPr>
              <a:t>可能为</a:t>
            </a:r>
            <a:r>
              <a:rPr lang="en-US" altLang="zh-CN" sz="1800" dirty="0">
                <a:solidFill>
                  <a:srgbClr val="990099"/>
                </a:solidFill>
              </a:rPr>
              <a:t>n</a:t>
            </a:r>
            <a:r>
              <a:rPr lang="zh-CN" altLang="en-US" sz="1800" dirty="0">
                <a:solidFill>
                  <a:srgbClr val="990099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[int=int*int])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</a:p>
          <a:p>
            <a:pPr marL="892175" indent="-892175"/>
            <a:r>
              <a:rPr lang="en-US" altLang="zh-CN" sz="2200" dirty="0">
                <a:solidFill>
                  <a:schemeClr val="tx1"/>
                </a:solidFill>
              </a:rPr>
              <a:t> OF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2n-1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+…+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  <a:ea typeface="+mn-ea"/>
              </a:rPr>
              <a:t>z</a:t>
            </a:r>
            <a:r>
              <a:rPr lang="en-US" altLang="zh-CN" sz="2200" baseline="-18000" dirty="0" err="1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      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←按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位结果判断，高位有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endParaRPr lang="en-US" altLang="zh-CN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92175" indent="-892175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软件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其他指令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200" u="sng" dirty="0">
                <a:solidFill>
                  <a:srgbClr val="990099"/>
                </a:solidFill>
              </a:rPr>
              <a:t>决定</a:t>
            </a:r>
            <a:r>
              <a:rPr lang="zh-CN" altLang="en-US" sz="2200" dirty="0">
                <a:solidFill>
                  <a:schemeClr val="tx1"/>
                </a:solidFill>
              </a:rPr>
              <a:t>是否判断</a:t>
            </a:r>
            <a:r>
              <a:rPr lang="en-US" altLang="zh-CN" sz="2200" dirty="0">
                <a:solidFill>
                  <a:schemeClr val="tx1"/>
                </a:solidFill>
              </a:rPr>
              <a:t>OF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视为溢出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782A3FC-2A1A-461A-A2EB-2883C83D7AA6}"/>
              </a:ext>
            </a:extLst>
          </p:cNvPr>
          <p:cNvGrpSpPr/>
          <p:nvPr/>
        </p:nvGrpSpPr>
        <p:grpSpPr>
          <a:xfrm>
            <a:off x="6876544" y="3499488"/>
            <a:ext cx="1368000" cy="289824"/>
            <a:chOff x="6480280" y="3212976"/>
            <a:chExt cx="1368000" cy="289824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B3100A5-C725-4DAD-A394-B3C2F1D0F8EB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6480280" y="3429511"/>
              <a:ext cx="10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01395948-5306-4DE7-88EB-ADCB10D0E8CB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6589175" y="3213611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DAE8C818-68E6-4AE4-A0C2-71059877959A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6589175" y="3212976"/>
              <a:ext cx="576000" cy="63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F9AEC59B-5CD6-4062-9AD6-4DA514D21C5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7164280" y="3213611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EF35ED6-10A9-42E0-B05D-CEB287E5D18D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7164280" y="3429511"/>
              <a:ext cx="57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407845B9-4E98-460D-84B1-38318F109B31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7740280" y="3213611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A793D94F-84F4-4FBE-AE4A-063DF106E98E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7740280" y="3212976"/>
              <a:ext cx="108000" cy="63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0C2FCBDD-B365-4186-9FA0-08C0345C063D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740280" y="3249171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108" name="Text Box 140">
              <a:extLst>
                <a:ext uri="{FF2B5EF4-FFF2-40B4-BE49-F238E27FC236}">
                  <a16:creationId xmlns:a16="http://schemas.microsoft.com/office/drawing/2014/main" id="{7FF4FE72-8C59-4679-934B-88FD6DB31997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624280" y="3212976"/>
              <a:ext cx="5041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加法</a:t>
              </a:r>
              <a:endParaRPr lang="zh-CN" altLang="en-US" sz="1600" b="1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4DDFD2E1-D27E-48C9-96B3-07022EB52AB2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7164280" y="3249171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16271BBE-10E0-4EE7-B205-336C281C191B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>
              <a:off x="7740280" y="3430800"/>
              <a:ext cx="0" cy="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0" name="Text Box 200">
            <a:extLst>
              <a:ext uri="{FF2B5EF4-FFF2-40B4-BE49-F238E27FC236}">
                <a16:creationId xmlns:a16="http://schemas.microsoft.com/office/drawing/2014/main" id="{2F75A376-9042-49E4-A5DC-CBF183D5527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68144" y="3068992"/>
            <a:ext cx="309601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cs typeface="宋体" panose="02010600030101010101" pitchFamily="2" charset="-122"/>
              </a:rPr>
              <a:t>思考①：</a:t>
            </a:r>
            <a:r>
              <a:rPr lang="zh-CN" altLang="en-US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同一</a:t>
            </a:r>
            <a:r>
              <a:rPr lang="en-US" altLang="zh-CN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CLK</a:t>
            </a:r>
            <a:r>
              <a:rPr lang="zh-CN" altLang="en-US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如何写</a:t>
            </a:r>
            <a:r>
              <a:rPr lang="en-US" altLang="zh-CN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移位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121" name="Text Box 140">
            <a:extLst>
              <a:ext uri="{FF2B5EF4-FFF2-40B4-BE49-F238E27FC236}">
                <a16:creationId xmlns:a16="http://schemas.microsoft.com/office/drawing/2014/main" id="{4D77D871-9C4A-4E86-A206-4635E3585F7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56496" y="3789088"/>
            <a:ext cx="1980000" cy="432000"/>
          </a:xfrm>
          <a:prstGeom prst="rect">
            <a:avLst/>
          </a:prstGeom>
          <a:solidFill>
            <a:srgbClr val="CCFFFF">
              <a:alpha val="80000"/>
            </a:srgbClr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写</a:t>
            </a:r>
            <a:r>
              <a:rPr lang="en-US" altLang="zh-CN" sz="1600" b="1" dirty="0" err="1">
                <a:solidFill>
                  <a:schemeClr val="tx1"/>
                </a:solidFill>
              </a:rPr>
              <a:t>RegP</a:t>
            </a:r>
            <a:r>
              <a:rPr lang="en-US" altLang="zh-CN" sz="1600" b="1" dirty="0">
                <a:solidFill>
                  <a:schemeClr val="tx1"/>
                </a:solidFill>
              </a:rPr>
              <a:t>(=</a:t>
            </a:r>
            <a:r>
              <a:rPr lang="en-US" altLang="zh-CN" sz="1600" b="1" dirty="0">
                <a:solidFill>
                  <a:srgbClr val="990099"/>
                </a:solidFill>
              </a:rPr>
              <a:t>C</a:t>
            </a:r>
            <a:r>
              <a:rPr lang="en-US" altLang="zh-CN" sz="1600" baseline="-18000" dirty="0">
                <a:solidFill>
                  <a:srgbClr val="990099"/>
                </a:solidFill>
              </a:rPr>
              <a:t>n-1</a:t>
            </a:r>
            <a:r>
              <a:rPr lang="en-US" altLang="zh-CN" sz="1600" b="1" dirty="0">
                <a:solidFill>
                  <a:schemeClr val="tx1"/>
                </a:solidFill>
              </a:rPr>
              <a:t>Z</a:t>
            </a:r>
            <a:r>
              <a:rPr lang="en-US" altLang="zh-CN" sz="1600" b="1" baseline="-18000" dirty="0">
                <a:solidFill>
                  <a:schemeClr val="tx1"/>
                </a:solidFill>
              </a:rPr>
              <a:t>n-1</a:t>
            </a:r>
            <a:r>
              <a:rPr lang="en-US" altLang="zh-CN" sz="1600" b="1" dirty="0">
                <a:solidFill>
                  <a:schemeClr val="tx1"/>
                </a:solidFill>
              </a:rPr>
              <a:t>…Z</a:t>
            </a:r>
            <a:r>
              <a:rPr lang="en-US" altLang="zh-CN" sz="1600" b="1" baseline="-18000" dirty="0">
                <a:solidFill>
                  <a:schemeClr val="tx1"/>
                </a:solidFill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写</a:t>
            </a:r>
            <a:r>
              <a:rPr lang="en-US" altLang="zh-CN" sz="1600" b="1" dirty="0" err="1">
                <a:solidFill>
                  <a:schemeClr val="tx1"/>
                </a:solidFill>
              </a:rPr>
              <a:t>RegB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b="1" dirty="0">
                <a:solidFill>
                  <a:schemeClr val="tx1"/>
                </a:solidFill>
              </a:rPr>
              <a:t>=</a:t>
            </a:r>
            <a:r>
              <a:rPr lang="en-US" altLang="zh-CN" sz="1600" b="1" dirty="0">
                <a:solidFill>
                  <a:srgbClr val="990099"/>
                </a:solidFill>
              </a:rPr>
              <a:t>Z</a:t>
            </a:r>
            <a:r>
              <a:rPr lang="en-US" altLang="zh-CN" sz="1600" b="1" baseline="-18000" dirty="0">
                <a:solidFill>
                  <a:srgbClr val="990099"/>
                </a:solidFill>
              </a:rPr>
              <a:t>0</a:t>
            </a:r>
            <a:r>
              <a:rPr lang="en-US" altLang="zh-CN" sz="1600" b="1" dirty="0">
                <a:solidFill>
                  <a:schemeClr val="tx1"/>
                </a:solidFill>
              </a:rPr>
              <a:t>B</a:t>
            </a:r>
            <a:r>
              <a:rPr lang="en-US" altLang="zh-CN" sz="1600" b="1" baseline="-18000" dirty="0">
                <a:solidFill>
                  <a:schemeClr val="tx1"/>
                </a:solidFill>
              </a:rPr>
              <a:t>n-1</a:t>
            </a:r>
            <a:r>
              <a:rPr lang="en-US" altLang="zh-CN" sz="1600" b="1" dirty="0">
                <a:solidFill>
                  <a:schemeClr val="tx1"/>
                </a:solidFill>
              </a:rPr>
              <a:t>…B</a:t>
            </a:r>
            <a:r>
              <a:rPr lang="en-US" altLang="zh-CN" sz="1600" b="1" baseline="-18000" dirty="0">
                <a:solidFill>
                  <a:schemeClr val="tx1"/>
                </a:solidFill>
              </a:rPr>
              <a:t>1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1600" b="1" dirty="0">
              <a:solidFill>
                <a:schemeClr val="tx1"/>
              </a:solidFill>
            </a:endParaRPr>
          </a:p>
        </p:txBody>
      </p:sp>
      <p:sp>
        <p:nvSpPr>
          <p:cNvPr id="122" name="AutoShape 21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763FB7F-BD13-4A66-B891-788EAEB038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15817" y="6524302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Text Box 200">
            <a:extLst>
              <a:ext uri="{FF2B5EF4-FFF2-40B4-BE49-F238E27FC236}">
                <a16:creationId xmlns:a16="http://schemas.microsoft.com/office/drawing/2014/main" id="{C2378279-1FC4-4C04-A2B2-D83C38AD4358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68144" y="4293128"/>
            <a:ext cx="2736301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cs typeface="宋体" panose="02010600030101010101" pitchFamily="2" charset="-122"/>
              </a:rPr>
              <a:t>思考②：</a:t>
            </a:r>
            <a:r>
              <a:rPr lang="zh-CN" altLang="en-US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如何节省控制门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20" grpId="0" animBg="1"/>
      <p:bldP spid="121" grpId="0" animBg="1"/>
      <p:bldP spid="8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58</a:t>
            </a:fld>
            <a:endParaRPr lang="en-US" altLang="zh-CN"/>
          </a:p>
        </p:txBody>
      </p:sp>
      <p:sp>
        <p:nvSpPr>
          <p:cNvPr id="23" name="Rectangle 445"/>
          <p:cNvSpPr>
            <a:spLocks noChangeArrowheads="1"/>
          </p:cNvSpPr>
          <p:nvPr/>
        </p:nvSpPr>
        <p:spPr bwMode="auto">
          <a:xfrm>
            <a:off x="1403648" y="2708920"/>
            <a:ext cx="2088000" cy="288000"/>
          </a:xfrm>
          <a:prstGeom prst="rect">
            <a:avLst/>
          </a:prstGeom>
          <a:solidFill>
            <a:srgbClr val="FFCC99"/>
          </a:solidFill>
          <a:ln w="19050" algn="ctr">
            <a:noFill/>
            <a:miter lim="800000"/>
          </a:ln>
          <a:effectLst/>
        </p:spPr>
        <p:txBody>
          <a:bodyPr wrap="square" anchor="ctr">
            <a:noAutofit/>
          </a:bodyPr>
          <a:lstStyle/>
          <a:p>
            <a:endParaRPr lang="zh-CN" altLang="en-US"/>
          </a:p>
        </p:txBody>
      </p:sp>
      <p:sp>
        <p:nvSpPr>
          <p:cNvPr id="24" name="Text Box 200"/>
          <p:cNvSpPr txBox="1">
            <a:spLocks noChangeArrowheads="1"/>
          </p:cNvSpPr>
          <p:nvPr/>
        </p:nvSpPr>
        <p:spPr bwMode="auto">
          <a:xfrm>
            <a:off x="179388" y="332656"/>
            <a:ext cx="8785100" cy="56602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、补码乘法运算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只讨论</a:t>
            </a:r>
            <a:r>
              <a:rPr lang="zh-CN" altLang="en-US" sz="1800" dirty="0">
                <a:solidFill>
                  <a:srgbClr val="990099"/>
                </a:solidFill>
              </a:rPr>
              <a:t>整数</a:t>
            </a:r>
            <a:r>
              <a:rPr lang="zh-CN" altLang="en-US" sz="1800" dirty="0">
                <a:solidFill>
                  <a:schemeClr val="tx1"/>
                </a:solidFill>
              </a:rPr>
              <a:t>一位乘法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sz="2200" dirty="0">
                <a:solidFill>
                  <a:srgbClr val="C00000"/>
                </a:solidFill>
              </a:rPr>
              <a:t>    </a:t>
            </a:r>
            <a:r>
              <a:rPr lang="en-US" altLang="zh-CN" sz="2200" dirty="0">
                <a:solidFill>
                  <a:schemeClr val="tx1"/>
                </a:solidFill>
              </a:rPr>
              <a:t>[A×B]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rgbClr val="FF3399"/>
                </a:solidFill>
              </a:rPr>
              <a:t>×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dirty="0">
                <a:solidFill>
                  <a:schemeClr val="tx1"/>
                </a:solidFill>
              </a:rPr>
              <a:t>，结果</a:t>
            </a:r>
            <a:r>
              <a:rPr lang="zh-CN" altLang="en-US" sz="2200" dirty="0">
                <a:solidFill>
                  <a:srgbClr val="990099"/>
                </a:solidFill>
              </a:rPr>
              <a:t>应</a:t>
            </a:r>
            <a:r>
              <a:rPr lang="zh-CN" altLang="en-US" sz="2200" dirty="0">
                <a:solidFill>
                  <a:schemeClr val="tx1"/>
                </a:solidFill>
              </a:rPr>
              <a:t>为</a:t>
            </a:r>
            <a:r>
              <a:rPr lang="en-US" altLang="zh-CN" sz="2200" dirty="0">
                <a:solidFill>
                  <a:schemeClr val="tx1"/>
                </a:solidFill>
              </a:rPr>
              <a:t>2n</a:t>
            </a:r>
            <a:r>
              <a:rPr lang="zh-CN" altLang="en-US" sz="22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同无符号乘法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*运算方法：</a:t>
            </a:r>
            <a:r>
              <a:rPr lang="zh-CN" altLang="en-US" sz="2200" dirty="0">
                <a:solidFill>
                  <a:schemeClr val="tx1"/>
                </a:solidFill>
              </a:rPr>
              <a:t>又称</a:t>
            </a:r>
            <a:r>
              <a:rPr lang="en-US" altLang="zh-CN" sz="2200" dirty="0">
                <a:solidFill>
                  <a:schemeClr val="tx1"/>
                </a:solidFill>
              </a:rPr>
              <a:t>Booth</a:t>
            </a:r>
            <a:r>
              <a:rPr lang="zh-CN" altLang="en-US" sz="2200" dirty="0">
                <a:solidFill>
                  <a:schemeClr val="tx1"/>
                </a:solidFill>
              </a:rPr>
              <a:t>算法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设</a:t>
            </a:r>
            <a:r>
              <a:rPr lang="en-US" altLang="zh-CN" sz="2000" spc="-40" dirty="0">
                <a:solidFill>
                  <a:schemeClr val="tx1"/>
                </a:solidFill>
              </a:rPr>
              <a:t>[B]</a:t>
            </a:r>
            <a:r>
              <a:rPr lang="zh-CN" altLang="en-US" sz="2000" spc="-4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000" spc="-40" dirty="0">
                <a:solidFill>
                  <a:schemeClr val="tx1"/>
                </a:solidFill>
              </a:rPr>
              <a:t>＝</a:t>
            </a:r>
            <a:r>
              <a:rPr lang="en-US" altLang="zh-CN" sz="2000" spc="-40" dirty="0">
                <a:solidFill>
                  <a:srgbClr val="990099"/>
                </a:solidFill>
              </a:rPr>
              <a:t>b</a:t>
            </a:r>
            <a:r>
              <a:rPr lang="en-US" altLang="zh-CN" sz="2000" spc="-40" baseline="-18000" dirty="0">
                <a:solidFill>
                  <a:srgbClr val="990099"/>
                </a:solidFill>
              </a:rPr>
              <a:t>n-1</a:t>
            </a:r>
            <a:r>
              <a:rPr lang="en-US" altLang="zh-CN" sz="2000" spc="-40" dirty="0">
                <a:solidFill>
                  <a:schemeClr val="tx1"/>
                </a:solidFill>
              </a:rPr>
              <a:t>b</a:t>
            </a:r>
            <a:r>
              <a:rPr lang="en-US" altLang="zh-CN" sz="2000" spc="-4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spc="-40" dirty="0">
                <a:solidFill>
                  <a:schemeClr val="tx1"/>
                </a:solidFill>
              </a:rPr>
              <a:t>…b</a:t>
            </a:r>
            <a:r>
              <a:rPr lang="en-US" altLang="zh-CN" sz="2000" spc="-40" baseline="-18000" dirty="0">
                <a:solidFill>
                  <a:schemeClr val="tx1"/>
                </a:solidFill>
              </a:rPr>
              <a:t>0</a:t>
            </a:r>
            <a:r>
              <a:rPr lang="zh-CN" altLang="en-US" sz="2000" spc="-40" dirty="0">
                <a:solidFill>
                  <a:schemeClr val="tx1"/>
                </a:solidFill>
              </a:rPr>
              <a:t>，则</a:t>
            </a:r>
            <a:r>
              <a:rPr lang="en-US" altLang="zh-CN" sz="2000" spc="-40" dirty="0">
                <a:solidFill>
                  <a:schemeClr val="tx1"/>
                </a:solidFill>
              </a:rPr>
              <a:t>B</a:t>
            </a:r>
            <a:r>
              <a:rPr lang="zh-CN" altLang="en-US" sz="2000" spc="-40" dirty="0">
                <a:solidFill>
                  <a:schemeClr val="tx1"/>
                </a:solidFill>
              </a:rPr>
              <a:t>＝</a:t>
            </a:r>
            <a:r>
              <a:rPr lang="en-US" altLang="zh-CN" sz="2000" spc="-40" dirty="0">
                <a:solidFill>
                  <a:srgbClr val="990099"/>
                </a:solidFill>
              </a:rPr>
              <a:t>b</a:t>
            </a:r>
            <a:r>
              <a:rPr lang="en-US" altLang="zh-CN" sz="2000" spc="-40" baseline="-18000" dirty="0">
                <a:solidFill>
                  <a:srgbClr val="990099"/>
                </a:solidFill>
              </a:rPr>
              <a:t>n-1</a:t>
            </a:r>
            <a:r>
              <a:rPr lang="en-US" altLang="zh-CN" sz="2000" spc="-40" dirty="0">
                <a:solidFill>
                  <a:schemeClr val="tx1"/>
                </a:solidFill>
              </a:rPr>
              <a:t>b</a:t>
            </a:r>
            <a:r>
              <a:rPr lang="en-US" altLang="zh-CN" sz="2000" spc="-4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spc="-40" dirty="0">
                <a:solidFill>
                  <a:schemeClr val="tx1"/>
                </a:solidFill>
              </a:rPr>
              <a:t>…b</a:t>
            </a:r>
            <a:r>
              <a:rPr lang="en-US" altLang="zh-CN" sz="2000" spc="-40" baseline="-18000" dirty="0">
                <a:solidFill>
                  <a:schemeClr val="tx1"/>
                </a:solidFill>
              </a:rPr>
              <a:t>0</a:t>
            </a:r>
            <a:r>
              <a:rPr lang="zh-CN" altLang="en-US" sz="2000" spc="-40" dirty="0">
                <a:solidFill>
                  <a:schemeClr val="tx1"/>
                </a:solidFill>
              </a:rPr>
              <a:t>－</a:t>
            </a:r>
            <a:r>
              <a:rPr lang="en-US" altLang="zh-CN" sz="2000" spc="-40" dirty="0">
                <a:solidFill>
                  <a:schemeClr val="tx1"/>
                </a:solidFill>
              </a:rPr>
              <a:t>2</a:t>
            </a:r>
            <a:r>
              <a:rPr lang="en-US" altLang="zh-CN" sz="2000" spc="-40" baseline="30000" dirty="0">
                <a:solidFill>
                  <a:schemeClr val="tx1"/>
                </a:solidFill>
              </a:rPr>
              <a:t>n</a:t>
            </a:r>
            <a:r>
              <a:rPr lang="zh-CN" altLang="en-US" sz="2000" spc="-40" dirty="0">
                <a:solidFill>
                  <a:schemeClr val="tx1"/>
                </a:solidFill>
              </a:rPr>
              <a:t>＝</a:t>
            </a:r>
            <a:r>
              <a:rPr lang="en-US" altLang="zh-CN" sz="2000" spc="-40" dirty="0">
                <a:solidFill>
                  <a:srgbClr val="990099"/>
                </a:solidFill>
              </a:rPr>
              <a:t>-b</a:t>
            </a:r>
            <a:r>
              <a:rPr lang="en-US" altLang="zh-CN" sz="2000" spc="-40" baseline="-18000" dirty="0">
                <a:solidFill>
                  <a:srgbClr val="990099"/>
                </a:solidFill>
              </a:rPr>
              <a:t>n-1</a:t>
            </a:r>
            <a:r>
              <a:rPr lang="en-US" altLang="zh-CN" sz="2000" spc="-40" dirty="0">
                <a:solidFill>
                  <a:srgbClr val="990099"/>
                </a:solidFill>
              </a:rPr>
              <a:t>×2</a:t>
            </a:r>
            <a:r>
              <a:rPr lang="en-US" altLang="zh-CN" sz="2000" spc="-40" baseline="30000" dirty="0">
                <a:solidFill>
                  <a:srgbClr val="990099"/>
                </a:solidFill>
              </a:rPr>
              <a:t>n-1</a:t>
            </a:r>
            <a:r>
              <a:rPr lang="zh-CN" altLang="en-US" sz="2000" spc="-40" dirty="0">
                <a:solidFill>
                  <a:schemeClr val="tx1"/>
                </a:solidFill>
              </a:rPr>
              <a:t>＋</a:t>
            </a:r>
            <a:r>
              <a:rPr lang="en-US" altLang="zh-CN" sz="2000" spc="-40" dirty="0">
                <a:solidFill>
                  <a:schemeClr val="tx1"/>
                </a:solidFill>
              </a:rPr>
              <a:t>b</a:t>
            </a:r>
            <a:r>
              <a:rPr lang="en-US" altLang="zh-CN" sz="2000" spc="-4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spc="-40" dirty="0">
                <a:solidFill>
                  <a:schemeClr val="tx1"/>
                </a:solidFill>
              </a:rPr>
              <a:t>…b</a:t>
            </a:r>
            <a:r>
              <a:rPr lang="en-US" altLang="zh-CN" sz="2000" spc="-4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endParaRPr lang="en-US" altLang="zh-CN" sz="2000" dirty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                       b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时</a:t>
            </a:r>
            <a:r>
              <a:rPr lang="en-US" altLang="zh-CN" sz="1800" spc="-40" dirty="0">
                <a:solidFill>
                  <a:schemeClr val="tx1"/>
                </a:solidFill>
              </a:rPr>
              <a:t>b</a:t>
            </a:r>
            <a:r>
              <a:rPr lang="en-US" altLang="zh-CN" sz="1800" spc="-40" baseline="-18000" dirty="0">
                <a:solidFill>
                  <a:schemeClr val="tx1"/>
                </a:solidFill>
              </a:rPr>
              <a:t>n-2</a:t>
            </a:r>
            <a:r>
              <a:rPr lang="en-US" altLang="zh-CN" sz="1800" spc="-40" dirty="0">
                <a:solidFill>
                  <a:schemeClr val="tx1"/>
                </a:solidFill>
              </a:rPr>
              <a:t>…b</a:t>
            </a:r>
            <a:r>
              <a:rPr lang="en-US" altLang="zh-CN" sz="1800" spc="-40" baseline="-18000" dirty="0">
                <a:solidFill>
                  <a:schemeClr val="tx1"/>
                </a:solidFill>
              </a:rPr>
              <a:t>0 </a:t>
            </a:r>
            <a:r>
              <a:rPr lang="zh-CN" altLang="en-US" sz="1800" dirty="0">
                <a:solidFill>
                  <a:srgbClr val="FF3399"/>
                </a:solidFill>
              </a:rPr>
              <a:t>→</a:t>
            </a:r>
            <a:r>
              <a:rPr lang="zh-CN" altLang="en-US" sz="1800" b="0" dirty="0">
                <a:solidFill>
                  <a:srgbClr val="FF3399"/>
                </a:solidFill>
              </a:rPr>
              <a:t>┴</a:t>
            </a:r>
            <a:r>
              <a:rPr lang="zh-CN" altLang="en-US" sz="1800" dirty="0">
                <a:solidFill>
                  <a:srgbClr val="FF3399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时</a:t>
            </a:r>
            <a:r>
              <a:rPr lang="en-US" altLang="zh-CN" sz="1800" dirty="0">
                <a:solidFill>
                  <a:schemeClr val="tx1"/>
                </a:solidFill>
              </a:rPr>
              <a:t>-(</a:t>
            </a:r>
            <a:r>
              <a:rPr lang="en-US" altLang="zh-CN" sz="1800" spc="-40" dirty="0">
                <a:solidFill>
                  <a:schemeClr val="tx1"/>
                </a:solidFill>
              </a:rPr>
              <a:t>b</a:t>
            </a:r>
            <a:r>
              <a:rPr lang="en-US" altLang="zh-CN" sz="1800" spc="-40" baseline="-18000" dirty="0">
                <a:solidFill>
                  <a:schemeClr val="tx1"/>
                </a:solidFill>
              </a:rPr>
              <a:t>n-2</a:t>
            </a:r>
            <a:r>
              <a:rPr lang="en-US" altLang="zh-CN" sz="1800" spc="-40" dirty="0">
                <a:solidFill>
                  <a:schemeClr val="tx1"/>
                </a:solidFill>
              </a:rPr>
              <a:t>…b</a:t>
            </a:r>
            <a:r>
              <a:rPr lang="en-US" altLang="zh-CN" sz="1800" spc="-4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spc="-40" dirty="0">
                <a:solidFill>
                  <a:schemeClr val="tx1"/>
                </a:solidFill>
              </a:rPr>
              <a:t>+1)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    有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rgbClr val="990099"/>
                </a:solidFill>
              </a:rPr>
              <a:t>-b</a:t>
            </a:r>
            <a:r>
              <a:rPr lang="en-US" altLang="zh-CN" sz="2000" baseline="-18000" dirty="0">
                <a:solidFill>
                  <a:srgbClr val="990099"/>
                </a:solidFill>
              </a:rPr>
              <a:t>n-1</a:t>
            </a:r>
            <a:r>
              <a:rPr lang="en-US" altLang="zh-CN" sz="2000" dirty="0">
                <a:solidFill>
                  <a:srgbClr val="990099"/>
                </a:solidFill>
              </a:rPr>
              <a:t>×2</a:t>
            </a:r>
            <a:r>
              <a:rPr lang="en-US" altLang="zh-CN" sz="2000" baseline="30000" dirty="0">
                <a:solidFill>
                  <a:srgbClr val="990099"/>
                </a:solidFill>
              </a:rPr>
              <a:t>n-1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accent2"/>
                </a:solidFill>
              </a:rPr>
              <a:t>b</a:t>
            </a:r>
            <a:r>
              <a:rPr lang="en-US" altLang="zh-CN" sz="2000" baseline="-18000" dirty="0">
                <a:solidFill>
                  <a:schemeClr val="accent2"/>
                </a:solidFill>
              </a:rPr>
              <a:t>n-2</a:t>
            </a:r>
            <a:r>
              <a:rPr lang="en-US" altLang="zh-CN" sz="2000" dirty="0">
                <a:solidFill>
                  <a:schemeClr val="accent2"/>
                </a:solidFill>
              </a:rPr>
              <a:t>×2</a:t>
            </a:r>
            <a:r>
              <a:rPr lang="en-US" altLang="zh-CN" sz="2000" baseline="30000" dirty="0">
                <a:solidFill>
                  <a:schemeClr val="accent2"/>
                </a:solidFill>
              </a:rPr>
              <a:t>n-2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…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0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＝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</a:rPr>
              <a:t>n-1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>
                <a:solidFill>
                  <a:schemeClr val="accent2"/>
                </a:solidFill>
              </a:rPr>
              <a:t>b</a:t>
            </a:r>
            <a:r>
              <a:rPr lang="en-US" altLang="zh-CN" sz="2000" baseline="-18000" dirty="0">
                <a:solidFill>
                  <a:schemeClr val="accent2"/>
                </a:solidFill>
              </a:rPr>
              <a:t>n-2</a:t>
            </a: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r>
              <a:rPr lang="en-US" altLang="zh-CN" sz="2000" baseline="30000" dirty="0">
                <a:solidFill>
                  <a:schemeClr val="accent2"/>
                </a:solidFill>
              </a:rPr>
              <a:t>n-1</a:t>
            </a:r>
            <a:r>
              <a:rPr lang="en-US" altLang="zh-CN" sz="2000" dirty="0">
                <a:solidFill>
                  <a:schemeClr val="accent2"/>
                </a:solidFill>
              </a:rPr>
              <a:t>-b</a:t>
            </a:r>
            <a:r>
              <a:rPr lang="en-US" altLang="zh-CN" sz="2000" baseline="-18000" dirty="0">
                <a:solidFill>
                  <a:schemeClr val="accent2"/>
                </a:solidFill>
              </a:rPr>
              <a:t>n-2</a:t>
            </a: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r>
              <a:rPr lang="en-US" altLang="zh-CN" sz="2000" baseline="30000" dirty="0">
                <a:solidFill>
                  <a:schemeClr val="accent2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…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>
                <a:solidFill>
                  <a:schemeClr val="accent2"/>
                </a:solidFill>
              </a:rPr>
              <a:t>b</a:t>
            </a:r>
            <a:r>
              <a:rPr lang="en-US" altLang="zh-CN" sz="2000" baseline="-18000" dirty="0">
                <a:solidFill>
                  <a:schemeClr val="accent2"/>
                </a:solidFill>
              </a:rPr>
              <a:t>0</a:t>
            </a: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r>
              <a:rPr lang="en-US" altLang="zh-CN" sz="2000" baseline="30000" dirty="0">
                <a:solidFill>
                  <a:schemeClr val="accent2"/>
                </a:solidFill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</a:rPr>
              <a:t>-b</a:t>
            </a:r>
            <a:r>
              <a:rPr lang="en-US" altLang="zh-CN" sz="2000" baseline="-18000" dirty="0">
                <a:solidFill>
                  <a:schemeClr val="accent2"/>
                </a:solidFill>
              </a:rPr>
              <a:t>0</a:t>
            </a: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r>
              <a:rPr lang="en-US" altLang="zh-CN" sz="2000" baseline="30000" dirty="0">
                <a:solidFill>
                  <a:schemeClr val="accent2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  ←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</a:rPr>
              <a:t>i-1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en-US" altLang="zh-CN" sz="2000" baseline="30000" dirty="0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-2</a:t>
            </a:r>
            <a:r>
              <a:rPr lang="en-US" altLang="zh-CN" sz="2000" baseline="30000" dirty="0">
                <a:solidFill>
                  <a:schemeClr val="tx1"/>
                </a:solidFill>
              </a:rPr>
              <a:t>i-1</a:t>
            </a: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＝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>
                <a:solidFill>
                  <a:srgbClr val="C00000"/>
                </a:solidFill>
              </a:rPr>
              <a:t>b</a:t>
            </a:r>
            <a:r>
              <a:rPr lang="en-US" altLang="zh-CN" sz="2000" baseline="-18000" dirty="0">
                <a:solidFill>
                  <a:srgbClr val="C00000"/>
                </a:solidFill>
              </a:rPr>
              <a:t>n-2</a:t>
            </a:r>
            <a:r>
              <a:rPr lang="en-US" altLang="zh-CN" sz="2000" dirty="0">
                <a:solidFill>
                  <a:srgbClr val="C00000"/>
                </a:solidFill>
              </a:rPr>
              <a:t>-b</a:t>
            </a:r>
            <a:r>
              <a:rPr lang="en-US" altLang="zh-CN" sz="2000" baseline="-18000" dirty="0">
                <a:solidFill>
                  <a:srgbClr val="C00000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n-1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>
                <a:solidFill>
                  <a:srgbClr val="C00000"/>
                </a:solidFill>
              </a:rPr>
              <a:t>b</a:t>
            </a:r>
            <a:r>
              <a:rPr lang="en-US" altLang="zh-CN" sz="2000" baseline="-18000" dirty="0">
                <a:solidFill>
                  <a:srgbClr val="C00000"/>
                </a:solidFill>
              </a:rPr>
              <a:t>n-3</a:t>
            </a:r>
            <a:r>
              <a:rPr lang="en-US" altLang="zh-CN" sz="2000" dirty="0">
                <a:solidFill>
                  <a:srgbClr val="C00000"/>
                </a:solidFill>
              </a:rPr>
              <a:t>-b</a:t>
            </a:r>
            <a:r>
              <a:rPr lang="en-US" altLang="zh-CN" sz="2000" baseline="-18000" dirty="0">
                <a:solidFill>
                  <a:srgbClr val="C00000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n-2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…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>
                <a:solidFill>
                  <a:srgbClr val="FF3399"/>
                </a:solidFill>
              </a:rPr>
              <a:t>0</a:t>
            </a:r>
            <a:r>
              <a:rPr lang="en-US" altLang="zh-CN" sz="2000" dirty="0">
                <a:solidFill>
                  <a:srgbClr val="C00000"/>
                </a:solidFill>
              </a:rPr>
              <a:t>-b</a:t>
            </a:r>
            <a:r>
              <a:rPr lang="en-US" altLang="zh-CN" sz="2000" baseline="-18000" dirty="0">
                <a:solidFill>
                  <a:srgbClr val="C00000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</a:rPr>
              <a:t>则</a:t>
            </a:r>
            <a:r>
              <a:rPr lang="en-US" altLang="zh-CN" sz="2000" dirty="0">
                <a:solidFill>
                  <a:schemeClr val="tx1"/>
                </a:solidFill>
              </a:rPr>
              <a:t>[A×B]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[A×{(b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n-1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n-3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n-2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…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(0-b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}]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endParaRPr lang="en-US" altLang="zh-CN" sz="2000" baseline="-18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    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rgbClr val="990099"/>
                </a:solidFill>
              </a:rPr>
              <a:t>2</a:t>
            </a:r>
            <a:r>
              <a:rPr lang="en-US" altLang="zh-CN" sz="2000" baseline="30000" dirty="0">
                <a:solidFill>
                  <a:srgbClr val="990099"/>
                </a:solidFill>
              </a:rPr>
              <a:t>n</a:t>
            </a:r>
            <a:r>
              <a:rPr lang="en-US" altLang="zh-CN" sz="2000" dirty="0">
                <a:solidFill>
                  <a:srgbClr val="990099"/>
                </a:solidFill>
              </a:rPr>
              <a:t>×</a:t>
            </a:r>
            <a:r>
              <a:rPr lang="en-US" altLang="zh-CN" sz="2000" dirty="0">
                <a:solidFill>
                  <a:schemeClr val="tx1"/>
                </a:solidFill>
              </a:rPr>
              <a:t>[A×{(b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</a:t>
            </a:r>
            <a:r>
              <a:rPr lang="en-US" altLang="zh-CN" sz="2000" baseline="30000" dirty="0">
                <a:solidFill>
                  <a:srgbClr val="990099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n-3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-2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…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(0-b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</a:t>
            </a:r>
            <a:r>
              <a:rPr lang="en-US" altLang="zh-CN" sz="2000" baseline="30000" dirty="0">
                <a:solidFill>
                  <a:srgbClr val="990099"/>
                </a:solidFill>
              </a:rPr>
              <a:t>n</a:t>
            </a:r>
            <a:r>
              <a:rPr lang="en-US" altLang="zh-CN" sz="2000" dirty="0">
                <a:solidFill>
                  <a:schemeClr val="tx1"/>
                </a:solidFill>
              </a:rPr>
              <a:t>}]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endParaRPr lang="en-US" altLang="zh-CN" sz="2000" baseline="-18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      ＝</a:t>
            </a:r>
            <a:r>
              <a:rPr lang="en-US" altLang="zh-CN" sz="2000" dirty="0">
                <a:solidFill>
                  <a:srgbClr val="990099"/>
                </a:solidFill>
              </a:rPr>
              <a:t>2</a:t>
            </a:r>
            <a:r>
              <a:rPr lang="en-US" altLang="zh-CN" sz="2000" baseline="30000" dirty="0">
                <a:solidFill>
                  <a:srgbClr val="990099"/>
                </a:solidFill>
              </a:rPr>
              <a:t>n</a:t>
            </a:r>
            <a:r>
              <a:rPr lang="en-US" altLang="zh-CN" sz="2000" dirty="0">
                <a:solidFill>
                  <a:schemeClr val="tx1"/>
                </a:solidFill>
              </a:rPr>
              <a:t>×[</a:t>
            </a:r>
            <a:r>
              <a:rPr lang="en-US" altLang="zh-CN" sz="2000" dirty="0">
                <a:solidFill>
                  <a:srgbClr val="C00000"/>
                </a:solidFill>
              </a:rPr>
              <a:t>{</a:t>
            </a:r>
            <a:r>
              <a:rPr lang="en-US" altLang="zh-CN" sz="2000" dirty="0">
                <a:solidFill>
                  <a:schemeClr val="tx1"/>
                </a:solidFill>
              </a:rPr>
              <a:t>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)×A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{…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rgbClr val="0070C0"/>
                </a:solidFill>
              </a:rPr>
              <a:t>{</a:t>
            </a:r>
            <a:r>
              <a:rPr lang="en-US" altLang="zh-CN" sz="2000" dirty="0">
                <a:solidFill>
                  <a:schemeClr val="tx1"/>
                </a:solidFill>
              </a:rPr>
              <a:t>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)×A</a:t>
            </a: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                 ＋</a:t>
            </a:r>
            <a:r>
              <a:rPr lang="en-US" altLang="zh-CN" sz="2000" dirty="0">
                <a:solidFill>
                  <a:schemeClr val="tx1"/>
                </a:solidFill>
              </a:rPr>
              <a:t>{</a:t>
            </a:r>
            <a:r>
              <a:rPr lang="en-US" altLang="zh-CN" sz="2000" dirty="0">
                <a:solidFill>
                  <a:srgbClr val="FF3399"/>
                </a:solidFill>
              </a:rPr>
              <a:t>0</a:t>
            </a:r>
            <a:r>
              <a:rPr lang="zh-CN" altLang="en-US" sz="2000" dirty="0">
                <a:solidFill>
                  <a:srgbClr val="FF3399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(0-b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)×A}×2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rgbClr val="0070C0"/>
                </a:solidFill>
              </a:rPr>
              <a:t>}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…}×2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rgbClr val="C00000"/>
                </a:solidFill>
              </a:rPr>
              <a:t>}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    由于</a:t>
            </a:r>
            <a:r>
              <a:rPr lang="en-US" altLang="zh-CN" sz="2000" dirty="0">
                <a:solidFill>
                  <a:schemeClr val="tx1"/>
                </a:solidFill>
              </a:rPr>
              <a:t>[A×2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[A]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则</a:t>
            </a:r>
            <a:r>
              <a:rPr lang="en-US" altLang="zh-CN" sz="2000" dirty="0">
                <a:solidFill>
                  <a:schemeClr val="tx1"/>
                </a:solidFill>
              </a:rPr>
              <a:t>[A×B]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rgbClr val="990099"/>
                </a:solidFill>
              </a:rPr>
              <a:t>2</a:t>
            </a:r>
            <a:r>
              <a:rPr lang="en-US" altLang="zh-CN" sz="2000" baseline="30000" dirty="0">
                <a:solidFill>
                  <a:srgbClr val="990099"/>
                </a:solidFill>
              </a:rPr>
              <a:t>n</a:t>
            </a:r>
            <a:r>
              <a:rPr lang="en-US" altLang="zh-CN" sz="2000" dirty="0">
                <a:solidFill>
                  <a:schemeClr val="tx1"/>
                </a:solidFill>
              </a:rPr>
              <a:t>×</a:t>
            </a:r>
            <a:r>
              <a:rPr lang="en-US" altLang="zh-CN" sz="2000" dirty="0">
                <a:solidFill>
                  <a:srgbClr val="C00000"/>
                </a:solidFill>
              </a:rPr>
              <a:t>{</a:t>
            </a:r>
            <a:r>
              <a:rPr lang="en-US" altLang="zh-CN" sz="2000" dirty="0">
                <a:solidFill>
                  <a:schemeClr val="tx1"/>
                </a:solidFill>
              </a:rPr>
              <a:t>[(b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)×A]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{…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rgbClr val="0070C0"/>
                </a:solidFill>
              </a:rPr>
              <a:t>{</a:t>
            </a:r>
            <a:r>
              <a:rPr lang="en-US" altLang="zh-CN" sz="2000" dirty="0">
                <a:solidFill>
                  <a:schemeClr val="tx1"/>
                </a:solidFill>
              </a:rPr>
              <a:t>[(b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)×A]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                        ＋</a:t>
            </a:r>
            <a:r>
              <a:rPr lang="en-US" altLang="zh-CN" sz="2000" dirty="0">
                <a:solidFill>
                  <a:schemeClr val="tx1"/>
                </a:solidFill>
              </a:rPr>
              <a:t>{</a:t>
            </a:r>
            <a:r>
              <a:rPr lang="en-US" altLang="zh-CN" sz="2000" dirty="0">
                <a:solidFill>
                  <a:srgbClr val="FF3399"/>
                </a:solidFill>
              </a:rPr>
              <a:t>0</a:t>
            </a:r>
            <a:r>
              <a:rPr lang="zh-CN" altLang="en-US" sz="2000" dirty="0">
                <a:solidFill>
                  <a:srgbClr val="FF3399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[(0-b</a:t>
            </a:r>
            <a:r>
              <a:rPr lang="en-US" altLang="zh-CN" sz="2000" baseline="-18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)×A]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}×2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rgbClr val="0070C0"/>
                </a:solidFill>
              </a:rPr>
              <a:t>}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…}×2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rgbClr val="C00000"/>
                </a:solidFill>
              </a:rPr>
              <a:t>}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5868146" y="5914801"/>
            <a:ext cx="2736000" cy="324023"/>
            <a:chOff x="6164505" y="6904631"/>
            <a:chExt cx="2160000" cy="324023"/>
          </a:xfrm>
        </p:grpSpPr>
        <p:sp>
          <p:nvSpPr>
            <p:cNvPr id="35" name="右大括号 34"/>
            <p:cNvSpPr/>
            <p:nvPr/>
          </p:nvSpPr>
          <p:spPr bwMode="auto">
            <a:xfrm rot="5400000">
              <a:off x="7190505" y="5878631"/>
              <a:ext cx="108000" cy="2160000"/>
            </a:xfrm>
            <a:prstGeom prst="rightBrace">
              <a:avLst>
                <a:gd name="adj1" fmla="val 53685"/>
                <a:gd name="adj2" fmla="val 49599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Text Box 178"/>
            <p:cNvSpPr txBox="1">
              <a:spLocks noChangeArrowheads="1"/>
            </p:cNvSpPr>
            <p:nvPr/>
          </p:nvSpPr>
          <p:spPr bwMode="auto">
            <a:xfrm>
              <a:off x="7136664" y="7012654"/>
              <a:ext cx="341053" cy="216000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n</a:t>
              </a:r>
              <a:r>
                <a:rPr lang="zh-CN" altLang="en-US" sz="1600" dirty="0">
                  <a:solidFill>
                    <a:srgbClr val="990099"/>
                  </a:solidFill>
                </a:rPr>
                <a:t>次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7AC21F2-E0E6-423A-80AF-3B50F2617CA7}"/>
              </a:ext>
            </a:extLst>
          </p:cNvPr>
          <p:cNvGrpSpPr/>
          <p:nvPr/>
        </p:nvGrpSpPr>
        <p:grpSpPr>
          <a:xfrm>
            <a:off x="5436096" y="4797152"/>
            <a:ext cx="2808000" cy="324024"/>
            <a:chOff x="6164504" y="6904630"/>
            <a:chExt cx="2160000" cy="324024"/>
          </a:xfrm>
        </p:grpSpPr>
        <p:sp>
          <p:nvSpPr>
            <p:cNvPr id="16" name="右大括号 15">
              <a:extLst>
                <a:ext uri="{FF2B5EF4-FFF2-40B4-BE49-F238E27FC236}">
                  <a16:creationId xmlns:a16="http://schemas.microsoft.com/office/drawing/2014/main" id="{BEC5B095-DFAA-4422-8DAC-361B7C944DA4}"/>
                </a:ext>
              </a:extLst>
            </p:cNvPr>
            <p:cNvSpPr/>
            <p:nvPr/>
          </p:nvSpPr>
          <p:spPr bwMode="auto">
            <a:xfrm rot="5400000">
              <a:off x="7190504" y="5878630"/>
              <a:ext cx="108000" cy="2160000"/>
            </a:xfrm>
            <a:prstGeom prst="rightBrace">
              <a:avLst>
                <a:gd name="adj1" fmla="val 53685"/>
                <a:gd name="adj2" fmla="val 49599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Text Box 178">
              <a:extLst>
                <a:ext uri="{FF2B5EF4-FFF2-40B4-BE49-F238E27FC236}">
                  <a16:creationId xmlns:a16="http://schemas.microsoft.com/office/drawing/2014/main" id="{CF403337-D7BD-4739-86E1-420BAE838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6664" y="7012654"/>
              <a:ext cx="341053" cy="216000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n</a:t>
              </a:r>
              <a:r>
                <a:rPr lang="zh-CN" altLang="en-US" sz="1600" dirty="0">
                  <a:solidFill>
                    <a:srgbClr val="990099"/>
                  </a:solidFill>
                </a:rPr>
                <a:t>次</a:t>
              </a:r>
            </a:p>
          </p:txBody>
        </p:sp>
      </p:grpSp>
      <p:sp>
        <p:nvSpPr>
          <p:cNvPr id="12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CDB51FE-89AA-4369-9DD3-873E6346CB2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C20372D-0C41-493B-A4D0-9DD2D3BC36D1}"/>
              </a:ext>
            </a:extLst>
          </p:cNvPr>
          <p:cNvGrpSpPr/>
          <p:nvPr/>
        </p:nvGrpSpPr>
        <p:grpSpPr>
          <a:xfrm>
            <a:off x="7553263" y="2037049"/>
            <a:ext cx="708470" cy="0"/>
            <a:chOff x="7332005" y="2048623"/>
            <a:chExt cx="708470" cy="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2F712E7-BF2F-455B-A694-87CCD40F0A8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2005" y="2048623"/>
              <a:ext cx="327309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46BD1E6-0C63-414E-8951-210E7F27D8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82057" y="2048623"/>
              <a:ext cx="158418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59</a:t>
            </a:fld>
            <a:endParaRPr lang="en-US" altLang="zh-CN"/>
          </a:p>
        </p:txBody>
      </p:sp>
      <p:sp>
        <p:nvSpPr>
          <p:cNvPr id="3" name="Text Box 267"/>
          <p:cNvSpPr txBox="1">
            <a:spLocks noChangeArrowheads="1"/>
          </p:cNvSpPr>
          <p:nvPr/>
        </p:nvSpPr>
        <p:spPr bwMode="auto">
          <a:xfrm>
            <a:off x="176513" y="332656"/>
            <a:ext cx="8785350" cy="2411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递推公式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设</a:t>
            </a:r>
            <a:r>
              <a:rPr lang="en-US" altLang="zh-CN" sz="2200" spc="-100" dirty="0">
                <a:solidFill>
                  <a:schemeClr val="tx1"/>
                </a:solidFill>
              </a:rPr>
              <a:t>[B]</a:t>
            </a:r>
            <a:r>
              <a:rPr lang="zh-CN" altLang="en-US" sz="2200" spc="-1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spc="-100" dirty="0">
                <a:solidFill>
                  <a:schemeClr val="tx1"/>
                </a:solidFill>
              </a:rPr>
              <a:t>＝</a:t>
            </a:r>
            <a:r>
              <a:rPr lang="en-US" altLang="zh-CN" sz="2200" spc="-100" dirty="0">
                <a:solidFill>
                  <a:schemeClr val="tx1"/>
                </a:solidFill>
              </a:rPr>
              <a:t>b</a:t>
            </a:r>
            <a:r>
              <a:rPr lang="en-US" altLang="zh-CN" sz="2200" spc="-1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spc="-100" dirty="0">
                <a:solidFill>
                  <a:schemeClr val="tx1"/>
                </a:solidFill>
              </a:rPr>
              <a:t>b</a:t>
            </a:r>
            <a:r>
              <a:rPr lang="en-US" altLang="zh-CN" sz="2200" spc="-1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200" spc="-100" dirty="0">
                <a:solidFill>
                  <a:schemeClr val="tx1"/>
                </a:solidFill>
              </a:rPr>
              <a:t>…b</a:t>
            </a:r>
            <a:r>
              <a:rPr lang="en-US" altLang="zh-CN" sz="2200" spc="-100" baseline="-18000" dirty="0">
                <a:solidFill>
                  <a:schemeClr val="tx1"/>
                </a:solidFill>
              </a:rPr>
              <a:t>0</a:t>
            </a:r>
            <a:r>
              <a:rPr lang="zh-CN" altLang="en-US" sz="2200" spc="-100" dirty="0">
                <a:solidFill>
                  <a:schemeClr val="tx1"/>
                </a:solidFill>
              </a:rPr>
              <a:t>，</a:t>
            </a:r>
            <a:r>
              <a:rPr lang="zh-CN" altLang="en-US" sz="2200" spc="-100" dirty="0">
                <a:solidFill>
                  <a:srgbClr val="990099"/>
                </a:solidFill>
              </a:rPr>
              <a:t>附加位</a:t>
            </a:r>
            <a:r>
              <a:rPr lang="en-US" altLang="zh-CN" sz="2200" spc="-100" dirty="0">
                <a:solidFill>
                  <a:srgbClr val="990099"/>
                </a:solidFill>
              </a:rPr>
              <a:t>b</a:t>
            </a:r>
            <a:r>
              <a:rPr lang="en-US" altLang="zh-CN" sz="2200" spc="-100" baseline="-20000" dirty="0">
                <a:solidFill>
                  <a:srgbClr val="990099"/>
                </a:solidFill>
              </a:rPr>
              <a:t>-1</a:t>
            </a:r>
            <a:r>
              <a:rPr lang="zh-CN" altLang="en-US" sz="2200" spc="-100" dirty="0">
                <a:solidFill>
                  <a:schemeClr val="tx1"/>
                </a:solidFill>
              </a:rPr>
              <a:t>＝</a:t>
            </a:r>
            <a:r>
              <a:rPr lang="en-US" altLang="zh-CN" sz="2200" spc="-100" dirty="0">
                <a:solidFill>
                  <a:schemeClr val="tx1"/>
                </a:solidFill>
              </a:rPr>
              <a:t>0</a:t>
            </a:r>
            <a:r>
              <a:rPr lang="zh-CN" altLang="en-US" sz="2200" spc="-100" dirty="0">
                <a:solidFill>
                  <a:schemeClr val="tx1"/>
                </a:solidFill>
              </a:rPr>
              <a:t>，</a:t>
            </a:r>
            <a:r>
              <a:rPr lang="en-US" altLang="zh-CN" sz="2200" spc="-100" dirty="0">
                <a:solidFill>
                  <a:schemeClr val="tx1"/>
                </a:solidFill>
              </a:rPr>
              <a:t>[P</a:t>
            </a:r>
            <a:r>
              <a:rPr lang="en-US" altLang="zh-CN" sz="2200" spc="-100" baseline="-20000" dirty="0">
                <a:solidFill>
                  <a:schemeClr val="tx1"/>
                </a:solidFill>
              </a:rPr>
              <a:t>0</a:t>
            </a:r>
            <a:r>
              <a:rPr lang="en-US" altLang="zh-CN" sz="2200" spc="-100" dirty="0">
                <a:solidFill>
                  <a:schemeClr val="tx1"/>
                </a:solidFill>
              </a:rPr>
              <a:t>]</a:t>
            </a:r>
            <a:r>
              <a:rPr lang="zh-CN" altLang="en-US" sz="2200" spc="-100" baseline="-16000" dirty="0">
                <a:solidFill>
                  <a:schemeClr val="tx1"/>
                </a:solidFill>
              </a:rPr>
              <a:t>补</a:t>
            </a:r>
            <a:r>
              <a:rPr lang="zh-CN" altLang="en-US" sz="2200" spc="-100" dirty="0">
                <a:solidFill>
                  <a:schemeClr val="tx1"/>
                </a:solidFill>
              </a:rPr>
              <a:t>＝</a:t>
            </a:r>
            <a:r>
              <a:rPr lang="en-US" altLang="zh-CN" sz="2200" spc="-100" dirty="0">
                <a:solidFill>
                  <a:schemeClr val="tx1"/>
                </a:solidFill>
              </a:rPr>
              <a:t>0</a:t>
            </a:r>
            <a:endParaRPr lang="en-US" altLang="zh-CN" sz="2200" spc="-1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[P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{[P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[(</a:t>
            </a:r>
            <a:r>
              <a:rPr lang="en-US" altLang="zh-CN" sz="2000" dirty="0">
                <a:solidFill>
                  <a:srgbClr val="990099"/>
                </a:solidFill>
              </a:rPr>
              <a:t>b</a:t>
            </a:r>
            <a:r>
              <a:rPr lang="en-US" altLang="zh-CN" sz="2000" baseline="-20000" dirty="0">
                <a:solidFill>
                  <a:srgbClr val="990099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20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</a:rPr>
              <a:t>)×A]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}×2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 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           …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[P</a:t>
            </a:r>
            <a:r>
              <a:rPr lang="en-US" altLang="zh-CN" sz="2000" baseline="-16000" dirty="0">
                <a:solidFill>
                  <a:schemeClr val="tx1"/>
                </a:solidFill>
              </a:rPr>
              <a:t>i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{[P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i-1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[(b</a:t>
            </a:r>
            <a:r>
              <a:rPr lang="en-US" altLang="zh-CN" sz="2000" baseline="-20000" dirty="0">
                <a:solidFill>
                  <a:schemeClr val="tx1"/>
                </a:solidFill>
              </a:rPr>
              <a:t>i-2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20000" dirty="0">
                <a:solidFill>
                  <a:schemeClr val="tx1"/>
                </a:solidFill>
              </a:rPr>
              <a:t>i-1</a:t>
            </a:r>
            <a:r>
              <a:rPr lang="en-US" altLang="zh-CN" sz="2000" dirty="0">
                <a:solidFill>
                  <a:schemeClr val="tx1"/>
                </a:solidFill>
              </a:rPr>
              <a:t>)×A]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}</a:t>
            </a:r>
            <a:r>
              <a:rPr lang="en-US" altLang="zh-CN" sz="2000" dirty="0">
                <a:solidFill>
                  <a:srgbClr val="0070C0"/>
                </a:solidFill>
              </a:rPr>
              <a:t>×2</a:t>
            </a:r>
            <a:r>
              <a:rPr lang="en-US" altLang="zh-CN" sz="2000" baseline="30000" dirty="0">
                <a:solidFill>
                  <a:srgbClr val="0070C0"/>
                </a:solidFill>
              </a:rPr>
              <a:t>-1</a:t>
            </a:r>
            <a:r>
              <a:rPr lang="en-US" altLang="zh-CN" sz="2000" baseline="30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rgbClr val="0070C0"/>
                </a:solidFill>
              </a:rPr>
              <a:t>算术</a:t>
            </a:r>
            <a:r>
              <a:rPr lang="zh-CN" altLang="en-US" sz="1800" dirty="0">
                <a:solidFill>
                  <a:schemeClr val="tx1"/>
                </a:solidFill>
              </a:rPr>
              <a:t>右移</a:t>
            </a:r>
            <a:endParaRPr lang="en-US" altLang="zh-CN" sz="1800" baseline="300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                     … 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[</a:t>
            </a:r>
            <a:r>
              <a:rPr lang="en-US" altLang="zh-CN" sz="2000" dirty="0" err="1">
                <a:solidFill>
                  <a:schemeClr val="tx1"/>
                </a:solidFill>
              </a:rPr>
              <a:t>P</a:t>
            </a:r>
            <a:r>
              <a:rPr lang="en-US" altLang="zh-CN" sz="2000" baseline="-20000" dirty="0" err="1">
                <a:solidFill>
                  <a:schemeClr val="tx1"/>
                </a:solidFill>
              </a:rPr>
              <a:t>n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{[P</a:t>
            </a:r>
            <a:r>
              <a:rPr lang="en-US" altLang="zh-CN" sz="2000" baseline="-20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[(b</a:t>
            </a:r>
            <a:r>
              <a:rPr lang="en-US" altLang="zh-CN" sz="2000" baseline="-20000" dirty="0">
                <a:solidFill>
                  <a:schemeClr val="tx1"/>
                </a:solidFill>
              </a:rPr>
              <a:t>n-2</a:t>
            </a:r>
            <a:r>
              <a:rPr lang="en-US" altLang="zh-CN" sz="2000" dirty="0">
                <a:solidFill>
                  <a:schemeClr val="tx1"/>
                </a:solidFill>
              </a:rPr>
              <a:t>-b</a:t>
            </a:r>
            <a:r>
              <a:rPr lang="en-US" altLang="zh-CN" sz="2000" baseline="-20000" dirty="0">
                <a:solidFill>
                  <a:schemeClr val="tx1"/>
                </a:solidFill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</a:rPr>
              <a:t>)×A]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}×2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-1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  <a:p>
            <a:pPr lvl="0">
              <a:spcBef>
                <a:spcPts val="9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运算逻辑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3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160240" y="2204864"/>
            <a:ext cx="6981056" cy="457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-50" dirty="0">
                <a:solidFill>
                  <a:schemeClr val="tx1"/>
                </a:solidFill>
              </a:rPr>
              <a:t>循环的</a:t>
            </a:r>
            <a:r>
              <a:rPr lang="zh-CN" altLang="en-US" sz="2200" u="sng" spc="-50" dirty="0">
                <a:solidFill>
                  <a:srgbClr val="990099"/>
                </a:solidFill>
              </a:rPr>
              <a:t>判断</a:t>
            </a:r>
            <a:r>
              <a:rPr lang="en-US" altLang="zh-CN" sz="2200" u="sng" spc="-50" dirty="0">
                <a:solidFill>
                  <a:srgbClr val="990099"/>
                </a:solidFill>
              </a:rPr>
              <a:t>-</a:t>
            </a:r>
            <a:r>
              <a:rPr lang="zh-CN" altLang="en-US" sz="2200" u="sng" spc="-50" dirty="0">
                <a:solidFill>
                  <a:srgbClr val="990099"/>
                </a:solidFill>
              </a:rPr>
              <a:t>加法</a:t>
            </a:r>
            <a:r>
              <a:rPr lang="en-US" altLang="zh-CN" sz="2200" u="sng" spc="-50" dirty="0">
                <a:solidFill>
                  <a:srgbClr val="990099"/>
                </a:solidFill>
              </a:rPr>
              <a:t>-</a:t>
            </a:r>
            <a:r>
              <a:rPr lang="zh-CN" altLang="en-US" sz="2200" u="sng" spc="-50" dirty="0">
                <a:solidFill>
                  <a:srgbClr val="990099"/>
                </a:solidFill>
              </a:rPr>
              <a:t>移位</a:t>
            </a:r>
            <a:r>
              <a:rPr lang="zh-CN" altLang="en-US" sz="2200" spc="-50" dirty="0">
                <a:solidFill>
                  <a:schemeClr val="tx1"/>
                </a:solidFill>
              </a:rPr>
              <a:t>操作</a:t>
            </a:r>
            <a:r>
              <a:rPr lang="en-US" altLang="zh-CN" sz="1800" spc="-50" dirty="0">
                <a:solidFill>
                  <a:schemeClr val="tx1"/>
                </a:solidFill>
              </a:rPr>
              <a:t>(</a:t>
            </a:r>
            <a:r>
              <a:rPr lang="zh-CN" altLang="en-US" sz="1800" spc="-50" dirty="0">
                <a:solidFill>
                  <a:schemeClr val="tx1"/>
                </a:solidFill>
              </a:rPr>
              <a:t>判</a:t>
            </a:r>
            <a:r>
              <a:rPr lang="en-US" altLang="zh-CN" sz="1800" spc="-50" dirty="0">
                <a:solidFill>
                  <a:schemeClr val="tx1"/>
                </a:solidFill>
              </a:rPr>
              <a:t>b</a:t>
            </a:r>
            <a:r>
              <a:rPr lang="zh-CN" altLang="en-US" sz="1800" spc="-50" baseline="-18000" dirty="0">
                <a:solidFill>
                  <a:schemeClr val="tx1"/>
                </a:solidFill>
              </a:rPr>
              <a:t>当前</a:t>
            </a:r>
            <a:r>
              <a:rPr lang="en-US" altLang="zh-CN" sz="1800" spc="-50" dirty="0">
                <a:solidFill>
                  <a:schemeClr val="tx1"/>
                </a:solidFill>
              </a:rPr>
              <a:t>b</a:t>
            </a:r>
            <a:r>
              <a:rPr lang="zh-CN" altLang="en-US" sz="1800" spc="-50" baseline="-18000" dirty="0">
                <a:solidFill>
                  <a:schemeClr val="tx1"/>
                </a:solidFill>
              </a:rPr>
              <a:t>上次</a:t>
            </a:r>
            <a:r>
              <a:rPr lang="zh-CN" altLang="en-US" sz="1800" spc="-50" dirty="0">
                <a:solidFill>
                  <a:schemeClr val="tx1"/>
                </a:solidFill>
              </a:rPr>
              <a:t>，</a:t>
            </a:r>
            <a:r>
              <a:rPr lang="en-US" altLang="zh-CN" sz="1800" spc="-50" dirty="0">
                <a:solidFill>
                  <a:schemeClr val="tx1"/>
                </a:solidFill>
              </a:rPr>
              <a:t>+0/+A/-A</a:t>
            </a:r>
            <a:r>
              <a:rPr lang="zh-CN" altLang="en-US" sz="1800" spc="-50" dirty="0">
                <a:solidFill>
                  <a:schemeClr val="tx1"/>
                </a:solidFill>
              </a:rPr>
              <a:t>，算术右移</a:t>
            </a:r>
            <a:r>
              <a:rPr lang="en-US" altLang="zh-CN" sz="1800" spc="-50" dirty="0">
                <a:solidFill>
                  <a:schemeClr val="tx1"/>
                </a:solidFill>
              </a:rPr>
              <a:t>)</a:t>
            </a:r>
            <a:endParaRPr lang="zh-CN" altLang="en-US" sz="1800" spc="-50" dirty="0"/>
          </a:p>
        </p:txBody>
      </p:sp>
      <p:graphicFrame>
        <p:nvGraphicFramePr>
          <p:cNvPr id="25" name="Group 318">
            <a:extLst>
              <a:ext uri="{FF2B5EF4-FFF2-40B4-BE49-F238E27FC236}">
                <a16:creationId xmlns:a16="http://schemas.microsoft.com/office/drawing/2014/main" id="{4C07CBA2-BED9-4224-800C-CD7311389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397243"/>
              </p:ext>
            </p:extLst>
          </p:nvPr>
        </p:nvGraphicFramePr>
        <p:xfrm>
          <a:off x="1475656" y="2708920"/>
          <a:ext cx="7344816" cy="1193280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判断</a:t>
                      </a:r>
                      <a:endParaRPr kumimoji="1" lang="en-US" altLang="zh-CN" sz="1800" b="1" i="0" u="none" strike="noStrike" cap="none" normalizeH="0" baseline="-2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加法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(n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移位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    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[A]</a:t>
                      </a:r>
                      <a:r>
                        <a:rPr lang="zh-CN" altLang="en-US" sz="1800" b="1" baseline="-16000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 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[-A]</a:t>
                      </a:r>
                      <a:r>
                        <a:rPr lang="zh-CN" altLang="en-US" sz="1800" b="1" baseline="-16000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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kumimoji="1" lang="zh-CN" altLang="en-US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i-1</a:t>
                      </a:r>
                      <a:r>
                        <a:rPr lang="zh-CN" altLang="en-US" sz="1800" b="1" baseline="-2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Box 43">
            <a:extLst>
              <a:ext uri="{FF2B5EF4-FFF2-40B4-BE49-F238E27FC236}">
                <a16:creationId xmlns:a16="http://schemas.microsoft.com/office/drawing/2014/main" id="{07489677-68CE-4CDE-AE1D-9635B52B6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933056"/>
            <a:ext cx="4032571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00113" indent="-900113"/>
            <a:r>
              <a:rPr lang="en-US" altLang="zh-CN" sz="2000" dirty="0">
                <a:solidFill>
                  <a:srgbClr val="990099"/>
                </a:solidFill>
              </a:rPr>
              <a:t>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2—</a:t>
            </a:r>
            <a:r>
              <a:rPr lang="en-US" altLang="zh-CN" sz="2000" dirty="0">
                <a:solidFill>
                  <a:schemeClr val="tx1"/>
                </a:solidFill>
              </a:rPr>
              <a:t>[A]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=011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[B]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=101</a:t>
            </a:r>
            <a:r>
              <a:rPr lang="zh-CN" altLang="en-US" sz="2000" dirty="0">
                <a:solidFill>
                  <a:schemeClr val="tx1"/>
                </a:solidFill>
              </a:rPr>
              <a:t>，用</a:t>
            </a:r>
            <a:r>
              <a:rPr lang="en-US" altLang="zh-CN" sz="2000" dirty="0">
                <a:solidFill>
                  <a:schemeClr val="tx1"/>
                </a:solidFill>
              </a:rPr>
              <a:t>Booth</a:t>
            </a:r>
            <a:r>
              <a:rPr lang="zh-CN" altLang="en-US" sz="2000" dirty="0">
                <a:solidFill>
                  <a:schemeClr val="tx1"/>
                </a:solidFill>
              </a:rPr>
              <a:t>算法求</a:t>
            </a:r>
            <a:r>
              <a:rPr lang="en-US" altLang="zh-CN" sz="2000" dirty="0">
                <a:solidFill>
                  <a:schemeClr val="tx1"/>
                </a:solidFill>
              </a:rPr>
              <a:t>[A×B]</a:t>
            </a:r>
            <a:r>
              <a:rPr lang="zh-CN" altLang="en-US" sz="2000" baseline="-20000" dirty="0">
                <a:solidFill>
                  <a:schemeClr val="tx1"/>
                </a:solidFill>
              </a:rPr>
              <a:t>补</a:t>
            </a:r>
            <a:endParaRPr lang="en-US" altLang="zh-CN" sz="2000" baseline="-20000" dirty="0">
              <a:solidFill>
                <a:schemeClr val="tx1"/>
              </a:solidFill>
            </a:endParaRPr>
          </a:p>
        </p:txBody>
      </p:sp>
      <p:graphicFrame>
        <p:nvGraphicFramePr>
          <p:cNvPr id="50" name="Group 116">
            <a:extLst>
              <a:ext uri="{FF2B5EF4-FFF2-40B4-BE49-F238E27FC236}">
                <a16:creationId xmlns:a16="http://schemas.microsoft.com/office/drawing/2014/main" id="{3ED86708-DE00-4C59-918D-C28D524DD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040841"/>
              </p:ext>
            </p:extLst>
          </p:nvPr>
        </p:nvGraphicFramePr>
        <p:xfrm>
          <a:off x="4211960" y="4020982"/>
          <a:ext cx="4752528" cy="2432354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高位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乘数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000</a:t>
                      </a: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44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8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4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0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44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08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[-A]</a:t>
                      </a:r>
                      <a:r>
                        <a:rPr kumimoji="1" lang="zh-CN" altLang="en-US" sz="1800" b="1" i="0" u="none" strike="noStrike" cap="none" normalizeH="0" baseline="-2000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7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44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08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[A]</a:t>
                      </a:r>
                      <a:r>
                        <a:rPr kumimoji="1" lang="zh-CN" altLang="en-US" sz="1800" b="1" i="0" u="none" strike="noStrike" cap="none" normalizeH="0" baseline="-2000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144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spc="2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spc="2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</a:t>
                      </a: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8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sng" strike="noStrike" cap="none" spc="200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sng" strike="noStrike" cap="none" spc="200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-18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[-A]</a:t>
                      </a:r>
                      <a:r>
                        <a:rPr kumimoji="1" lang="zh-CN" altLang="en-US" sz="1800" b="1" i="0" u="none" strike="noStrike" cap="none" normalizeH="0" baseline="-2000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</a:p>
                  </a:txBody>
                  <a:tcPr marL="72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1" name="组合 50">
            <a:extLst>
              <a:ext uri="{FF2B5EF4-FFF2-40B4-BE49-F238E27FC236}">
                <a16:creationId xmlns:a16="http://schemas.microsoft.com/office/drawing/2014/main" id="{843FB345-7B91-43A5-B9B7-4C094D4C8339}"/>
              </a:ext>
            </a:extLst>
          </p:cNvPr>
          <p:cNvGrpSpPr/>
          <p:nvPr/>
        </p:nvGrpSpPr>
        <p:grpSpPr>
          <a:xfrm>
            <a:off x="4968344" y="4522472"/>
            <a:ext cx="1620666" cy="1837704"/>
            <a:chOff x="2305855" y="2387003"/>
            <a:chExt cx="1620666" cy="1837704"/>
          </a:xfrm>
        </p:grpSpPr>
        <p:sp>
          <p:nvSpPr>
            <p:cNvPr id="52" name="Line 147">
              <a:extLst>
                <a:ext uri="{FF2B5EF4-FFF2-40B4-BE49-F238E27FC236}">
                  <a16:creationId xmlns:a16="http://schemas.microsoft.com/office/drawing/2014/main" id="{0B433150-A904-485D-BAAB-AAAB27C57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521" y="3036707"/>
              <a:ext cx="324000" cy="50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144">
              <a:extLst>
                <a:ext uri="{FF2B5EF4-FFF2-40B4-BE49-F238E27FC236}">
                  <a16:creationId xmlns:a16="http://schemas.microsoft.com/office/drawing/2014/main" id="{F5942A97-BB77-43A0-BD71-550280513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855" y="2676707"/>
              <a:ext cx="252000" cy="214313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145">
              <a:extLst>
                <a:ext uri="{FF2B5EF4-FFF2-40B4-BE49-F238E27FC236}">
                  <a16:creationId xmlns:a16="http://schemas.microsoft.com/office/drawing/2014/main" id="{7A7976FA-1A98-42D2-9992-8D5A3B944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855" y="3324707"/>
              <a:ext cx="252000" cy="217488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Line 146">
              <a:extLst>
                <a:ext uri="{FF2B5EF4-FFF2-40B4-BE49-F238E27FC236}">
                  <a16:creationId xmlns:a16="http://schemas.microsoft.com/office/drawing/2014/main" id="{B1CE6EA9-006E-4EF4-AE97-71B10D5F5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855" y="4008707"/>
              <a:ext cx="252000" cy="2159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147">
              <a:extLst>
                <a:ext uri="{FF2B5EF4-FFF2-40B4-BE49-F238E27FC236}">
                  <a16:creationId xmlns:a16="http://schemas.microsoft.com/office/drawing/2014/main" id="{9917AEE3-E4BC-42B2-9F84-6696FBED1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521" y="2387003"/>
              <a:ext cx="324000" cy="50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147">
              <a:extLst>
                <a:ext uri="{FF2B5EF4-FFF2-40B4-BE49-F238E27FC236}">
                  <a16:creationId xmlns:a16="http://schemas.microsoft.com/office/drawing/2014/main" id="{4076920C-AFCA-428A-96F8-EE23C8594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2521" y="3720707"/>
              <a:ext cx="288000" cy="50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8" name="Text Box 200">
            <a:extLst>
              <a:ext uri="{FF2B5EF4-FFF2-40B4-BE49-F238E27FC236}">
                <a16:creationId xmlns:a16="http://schemas.microsoft.com/office/drawing/2014/main" id="{C0DD6DDB-66A6-48FA-B1B8-C55AC579D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44" y="4887568"/>
            <a:ext cx="3600000" cy="341632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269875" indent="-269875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右移为何忽略</a:t>
            </a:r>
            <a:r>
              <a:rPr lang="zh-CN" altLang="en-US" sz="1800" u="sng" dirty="0">
                <a:solidFill>
                  <a:schemeClr val="tx1"/>
                </a:solidFill>
              </a:rPr>
              <a:t>加法的进位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84ADF7D-C1F5-4F40-9539-F2C52C231099}"/>
              </a:ext>
            </a:extLst>
          </p:cNvPr>
          <p:cNvGrpSpPr/>
          <p:nvPr/>
        </p:nvGrpSpPr>
        <p:grpSpPr>
          <a:xfrm>
            <a:off x="756000" y="5301208"/>
            <a:ext cx="3096000" cy="1080000"/>
            <a:chOff x="6912755" y="4765602"/>
            <a:chExt cx="3612000" cy="1080000"/>
          </a:xfrm>
        </p:grpSpPr>
        <p:sp>
          <p:nvSpPr>
            <p:cNvPr id="61" name="Text Box 141">
              <a:extLst>
                <a:ext uri="{FF2B5EF4-FFF2-40B4-BE49-F238E27FC236}">
                  <a16:creationId xmlns:a16="http://schemas.microsoft.com/office/drawing/2014/main" id="{EE8B5B13-A5A1-4158-8679-913057376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2755" y="4765602"/>
              <a:ext cx="3612000" cy="10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加法运算中，</a:t>
              </a:r>
              <a:r>
                <a:rPr lang="en-US" altLang="zh-CN" sz="1800" dirty="0">
                  <a:solidFill>
                    <a:schemeClr val="tx1"/>
                  </a:solidFill>
                </a:rPr>
                <a:t>+A</a:t>
              </a:r>
              <a:r>
                <a:rPr lang="zh-CN" altLang="en-US" sz="1800" dirty="0">
                  <a:solidFill>
                    <a:schemeClr val="tx1"/>
                  </a:solidFill>
                </a:rPr>
                <a:t>、</a:t>
              </a:r>
              <a:r>
                <a:rPr lang="en-US" altLang="zh-CN" sz="1800" dirty="0">
                  <a:solidFill>
                    <a:schemeClr val="tx1"/>
                  </a:solidFill>
                </a:rPr>
                <a:t>-A</a:t>
              </a:r>
              <a:r>
                <a:rPr lang="zh-CN" altLang="en-US" sz="1800" dirty="0">
                  <a:solidFill>
                    <a:schemeClr val="tx1"/>
                  </a:solidFill>
                </a:rPr>
                <a:t>交替进行</a:t>
              </a:r>
              <a:r>
                <a:rPr lang="en-US" altLang="zh-CN" sz="1600" dirty="0">
                  <a:solidFill>
                    <a:schemeClr val="tx1"/>
                  </a:solidFill>
                </a:rPr>
                <a:t>(2</a:t>
              </a:r>
              <a:r>
                <a:rPr lang="zh-CN" altLang="en-US" sz="1600" dirty="0">
                  <a:solidFill>
                    <a:schemeClr val="tx1"/>
                  </a:solidFill>
                </a:rPr>
                <a:t>个</a:t>
              </a:r>
              <a:r>
                <a:rPr lang="en-US" altLang="zh-CN" sz="1600" dirty="0">
                  <a:solidFill>
                    <a:schemeClr val="tx1"/>
                  </a:solidFill>
                </a:rPr>
                <a:t>10</a:t>
              </a:r>
              <a:r>
                <a:rPr lang="zh-CN" altLang="en-US" sz="1600" dirty="0">
                  <a:solidFill>
                    <a:schemeClr val="tx1"/>
                  </a:solidFill>
                </a:rPr>
                <a:t>间必有</a:t>
              </a:r>
              <a:r>
                <a:rPr lang="en-US" altLang="zh-CN" sz="1600" dirty="0">
                  <a:solidFill>
                    <a:schemeClr val="tx1"/>
                  </a:solidFill>
                </a:rPr>
                <a:t>01)</a:t>
              </a:r>
              <a:r>
                <a:rPr lang="zh-CN" altLang="en-US" sz="1600" dirty="0">
                  <a:solidFill>
                    <a:schemeClr val="tx1"/>
                  </a:solidFill>
                </a:rPr>
                <a:t>，</a:t>
              </a:r>
              <a:r>
                <a:rPr lang="zh-CN" altLang="en-US" sz="1800" dirty="0">
                  <a:solidFill>
                    <a:schemeClr val="tx1"/>
                  </a:solidFill>
                </a:rPr>
                <a:t>进位无意义</a:t>
              </a:r>
              <a:endParaRPr lang="en-US" altLang="zh-CN" sz="16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   如</a:t>
              </a: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  <a:r>
                <a:rPr lang="zh-CN" altLang="en-US" sz="1800" dirty="0">
                  <a:solidFill>
                    <a:schemeClr val="tx1"/>
                  </a:solidFill>
                </a:rPr>
                <a:t>＝</a:t>
              </a:r>
              <a:r>
                <a:rPr lang="en-US" altLang="zh-CN" sz="1800" dirty="0">
                  <a:solidFill>
                    <a:schemeClr val="tx1"/>
                  </a:solidFill>
                </a:rPr>
                <a:t>1 0 1 1 0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109CD2B6-B115-4F38-AA1E-42F0B2982EA7}"/>
                </a:ext>
              </a:extLst>
            </p:cNvPr>
            <p:cNvCxnSpPr/>
            <p:nvPr/>
          </p:nvCxnSpPr>
          <p:spPr bwMode="auto">
            <a:xfrm>
              <a:off x="8592755" y="5710394"/>
              <a:ext cx="33600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92E20F8-EA5F-4599-A722-A46B59390D2D}"/>
                </a:ext>
              </a:extLst>
            </p:cNvPr>
            <p:cNvCxnSpPr/>
            <p:nvPr/>
          </p:nvCxnSpPr>
          <p:spPr bwMode="auto">
            <a:xfrm>
              <a:off x="8319755" y="5656394"/>
              <a:ext cx="336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D94F7369-07D4-4E68-B612-EFE16B91741D}"/>
                </a:ext>
              </a:extLst>
            </p:cNvPr>
            <p:cNvCxnSpPr/>
            <p:nvPr/>
          </p:nvCxnSpPr>
          <p:spPr bwMode="auto">
            <a:xfrm>
              <a:off x="8025755" y="5602394"/>
              <a:ext cx="37800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E322C3F7-1D8A-49FC-BFAA-34789A54B6EE}"/>
                </a:ext>
              </a:extLst>
            </p:cNvPr>
            <p:cNvCxnSpPr/>
            <p:nvPr/>
          </p:nvCxnSpPr>
          <p:spPr bwMode="auto">
            <a:xfrm>
              <a:off x="8844755" y="5602394"/>
              <a:ext cx="37800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E64BB1F4-DEC2-4C47-A1E8-BC061C26EDD5}"/>
                </a:ext>
              </a:extLst>
            </p:cNvPr>
            <p:cNvCxnSpPr/>
            <p:nvPr/>
          </p:nvCxnSpPr>
          <p:spPr bwMode="auto">
            <a:xfrm flipH="1">
              <a:off x="8046755" y="5796032"/>
              <a:ext cx="1176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27" name="AutoShape 21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6D5DF8F-58C9-42E3-8095-9777F8121B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68638" y="6525195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82A7450-C4C9-45CD-AC4C-00241DBC41B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5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 201"/>
          <p:cNvSpPr txBox="1">
            <a:spLocks noChangeArrowheads="1"/>
          </p:cNvSpPr>
          <p:nvPr/>
        </p:nvSpPr>
        <p:spPr bwMode="auto">
          <a:xfrm>
            <a:off x="179510" y="332656"/>
            <a:ext cx="6012925" cy="58306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*逻辑实现：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思路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组成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15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控制流程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*溢出判断：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支持指令需求，如目的</a:t>
            </a:r>
            <a:r>
              <a:rPr lang="en-US" altLang="zh-CN" sz="1800" dirty="0">
                <a:solidFill>
                  <a:schemeClr val="tx1"/>
                </a:solidFill>
              </a:rPr>
              <a:t>OPD</a:t>
            </a:r>
            <a:r>
              <a:rPr lang="zh-CN" altLang="en-US" sz="1800" dirty="0">
                <a:solidFill>
                  <a:schemeClr val="tx1"/>
                </a:solidFill>
              </a:rPr>
              <a:t>可能为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) 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判断方法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使用方式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60</a:t>
            </a:fld>
            <a:endParaRPr lang="en-US" altLang="zh-CN"/>
          </a:p>
        </p:txBody>
      </p:sp>
      <p:sp>
        <p:nvSpPr>
          <p:cNvPr id="3" name="Text Box 201"/>
          <p:cNvSpPr txBox="1">
            <a:spLocks noChangeArrowheads="1"/>
          </p:cNvSpPr>
          <p:nvPr/>
        </p:nvSpPr>
        <p:spPr bwMode="auto">
          <a:xfrm>
            <a:off x="1619672" y="764704"/>
            <a:ext cx="7344816" cy="16658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sz="2200" dirty="0">
                <a:solidFill>
                  <a:schemeClr val="tx1"/>
                </a:solidFill>
              </a:rPr>
              <a:t>①</a:t>
            </a:r>
            <a:r>
              <a:rPr lang="zh-CN" altLang="en-US" sz="2200" dirty="0">
                <a:solidFill>
                  <a:schemeClr val="tx1"/>
                </a:solidFill>
              </a:rPr>
              <a:t>循环的</a:t>
            </a:r>
            <a:r>
              <a:rPr lang="zh-CN" altLang="en-US" sz="2200" u="sng" dirty="0">
                <a:solidFill>
                  <a:srgbClr val="990099"/>
                </a:solidFill>
              </a:rPr>
              <a:t>判断</a:t>
            </a:r>
            <a:r>
              <a:rPr lang="en-US" altLang="zh-CN" sz="2200" u="sng" dirty="0">
                <a:solidFill>
                  <a:srgbClr val="990099"/>
                </a:solidFill>
              </a:rPr>
              <a:t>-</a:t>
            </a:r>
            <a:r>
              <a:rPr lang="zh-CN" altLang="en-US" sz="2200" u="sng" dirty="0">
                <a:solidFill>
                  <a:srgbClr val="990099"/>
                </a:solidFill>
              </a:rPr>
              <a:t>加法</a:t>
            </a:r>
            <a:r>
              <a:rPr lang="en-US" altLang="zh-CN" sz="2200" u="sng" dirty="0">
                <a:solidFill>
                  <a:srgbClr val="990099"/>
                </a:solidFill>
              </a:rPr>
              <a:t>-</a:t>
            </a:r>
            <a:r>
              <a:rPr lang="zh-CN" altLang="en-US" sz="2200" u="sng" dirty="0">
                <a:solidFill>
                  <a:srgbClr val="990099"/>
                </a:solidFill>
              </a:rPr>
              <a:t>移位</a:t>
            </a:r>
            <a:r>
              <a:rPr lang="zh-CN" altLang="en-US" sz="2200" dirty="0">
                <a:solidFill>
                  <a:schemeClr val="tx1"/>
                </a:solidFill>
              </a:rPr>
              <a:t>操作    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</a:rPr>
              <a:t>类似</a:t>
            </a:r>
            <a:r>
              <a:rPr lang="zh-CN" altLang="en-US" sz="1800" dirty="0">
                <a:solidFill>
                  <a:schemeClr val="tx1"/>
                </a:solidFill>
              </a:rPr>
              <a:t>无符号乘法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②部分积低位放在</a:t>
            </a:r>
            <a:r>
              <a:rPr lang="zh-CN" altLang="en-US" sz="2200" u="sng" dirty="0">
                <a:solidFill>
                  <a:srgbClr val="990099"/>
                </a:solidFill>
              </a:rPr>
              <a:t>乘数的空位</a:t>
            </a:r>
            <a:r>
              <a:rPr lang="zh-CN" altLang="en-US" sz="2200" dirty="0">
                <a:solidFill>
                  <a:schemeClr val="tx1"/>
                </a:solidFill>
              </a:rPr>
              <a:t>上  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</a:rPr>
              <a:t>同</a:t>
            </a:r>
            <a:r>
              <a:rPr lang="zh-CN" altLang="en-US" sz="1800" dirty="0">
                <a:solidFill>
                  <a:schemeClr val="tx1"/>
                </a:solidFill>
              </a:rPr>
              <a:t>无符号乘法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1078230" indent="-1078230">
              <a:spcBef>
                <a:spcPts val="300"/>
              </a:spcBef>
            </a:pPr>
            <a:r>
              <a:rPr lang="zh-CN" altLang="en-US" sz="2200" u="sng" dirty="0">
                <a:solidFill>
                  <a:srgbClr val="990099"/>
                </a:solidFill>
              </a:rPr>
              <a:t>类似</a:t>
            </a:r>
            <a:r>
              <a:rPr lang="zh-CN" altLang="en-US" sz="2200" dirty="0">
                <a:solidFill>
                  <a:schemeClr val="tx1"/>
                </a:solidFill>
              </a:rPr>
              <a:t>无符号乘法器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增加</a:t>
            </a:r>
            <a:r>
              <a:rPr lang="en-US" altLang="zh-CN" sz="1800" dirty="0">
                <a:solidFill>
                  <a:srgbClr val="0070C0"/>
                </a:solidFill>
              </a:rPr>
              <a:t>B</a:t>
            </a:r>
            <a:r>
              <a:rPr lang="zh-CN" altLang="en-US" sz="1800" baseline="-16000" dirty="0">
                <a:solidFill>
                  <a:srgbClr val="0070C0"/>
                </a:solidFill>
              </a:rPr>
              <a:t>附</a:t>
            </a:r>
            <a:r>
              <a:rPr lang="zh-CN" altLang="en-US" sz="1800" dirty="0">
                <a:solidFill>
                  <a:schemeClr val="tx1"/>
                </a:solidFill>
              </a:rPr>
              <a:t>、改为</a:t>
            </a:r>
            <a:r>
              <a:rPr lang="zh-CN" altLang="en-US" sz="1800" dirty="0">
                <a:solidFill>
                  <a:srgbClr val="0070C0"/>
                </a:solidFill>
              </a:rPr>
              <a:t>加减法器、</a:t>
            </a:r>
            <a:r>
              <a:rPr lang="zh-CN" altLang="en-US" sz="1800" dirty="0">
                <a:solidFill>
                  <a:schemeClr val="tx1"/>
                </a:solidFill>
              </a:rPr>
              <a:t>改为</a:t>
            </a:r>
            <a:r>
              <a:rPr lang="zh-CN" altLang="en-US" sz="1800" dirty="0">
                <a:solidFill>
                  <a:srgbClr val="0070C0"/>
                </a:solidFill>
              </a:rPr>
              <a:t>算术移位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           判</a:t>
            </a:r>
            <a:r>
              <a:rPr lang="en-US" altLang="zh-CN" sz="1600" dirty="0">
                <a:solidFill>
                  <a:schemeClr val="tx1"/>
                </a:solidFill>
              </a:rPr>
              <a:t>RegB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及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zh-CN" altLang="en-US" sz="1600" baseline="-18000" dirty="0">
                <a:solidFill>
                  <a:schemeClr val="tx1"/>
                </a:solidFill>
              </a:rPr>
              <a:t>附</a:t>
            </a:r>
            <a:r>
              <a:rPr lang="zh-CN" altLang="en-US" sz="1600" dirty="0">
                <a:solidFill>
                  <a:schemeClr val="tx1"/>
                </a:solidFill>
              </a:rPr>
              <a:t>控制→</a:t>
            </a:r>
            <a:r>
              <a:rPr lang="zh-CN" altLang="en-US" sz="1600" b="0" dirty="0">
                <a:solidFill>
                  <a:schemeClr val="tx1"/>
                </a:solidFill>
              </a:rPr>
              <a:t>┘        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zh-CN" altLang="en-US" sz="1600" b="0" dirty="0">
                <a:solidFill>
                  <a:schemeClr val="tx1"/>
                </a:solidFill>
              </a:rPr>
              <a:t>└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+0/+</a:t>
            </a:r>
            <a:r>
              <a:rPr lang="en-US" altLang="zh-CN" sz="1600" dirty="0" err="1">
                <a:solidFill>
                  <a:schemeClr val="tx1"/>
                </a:solidFill>
              </a:rPr>
              <a:t>RegA</a:t>
            </a:r>
            <a:r>
              <a:rPr lang="en-US" altLang="zh-CN" sz="1600" dirty="0">
                <a:solidFill>
                  <a:schemeClr val="tx1"/>
                </a:solidFill>
              </a:rPr>
              <a:t>/-</a:t>
            </a:r>
            <a:r>
              <a:rPr lang="en-US" altLang="zh-CN" sz="1600" dirty="0" err="1">
                <a:solidFill>
                  <a:schemeClr val="tx1"/>
                </a:solidFill>
              </a:rPr>
              <a:t>RegA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52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57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F24A5EE-930D-497C-8BC8-603BA4FFBDC5}"/>
              </a:ext>
            </a:extLst>
          </p:cNvPr>
          <p:cNvGrpSpPr/>
          <p:nvPr/>
        </p:nvGrpSpPr>
        <p:grpSpPr>
          <a:xfrm>
            <a:off x="395536" y="2420888"/>
            <a:ext cx="5471958" cy="1872000"/>
            <a:chOff x="1584024" y="2628000"/>
            <a:chExt cx="5471958" cy="1872000"/>
          </a:xfrm>
        </p:grpSpPr>
        <p:sp>
          <p:nvSpPr>
            <p:cNvPr id="154" name="Text Box 232">
              <a:extLst>
                <a:ext uri="{FF2B5EF4-FFF2-40B4-BE49-F238E27FC236}">
                  <a16:creationId xmlns:a16="http://schemas.microsoft.com/office/drawing/2014/main" id="{FC9281F1-A024-4868-A69B-DDA4BAA35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240" y="3490376"/>
              <a:ext cx="1403742" cy="5320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op(1—</a:t>
              </a:r>
              <a:r>
                <a:rPr lang="zh-CN" altLang="en-US" sz="1600" dirty="0">
                  <a:solidFill>
                    <a:schemeClr val="tx1"/>
                  </a:solidFill>
                </a:rPr>
                <a:t>乘法、</a:t>
              </a:r>
              <a:endParaRPr lang="en-US" altLang="zh-CN" sz="1600" dirty="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0—</a:t>
              </a:r>
              <a:r>
                <a:rPr lang="zh-CN" altLang="en-US" sz="1600" dirty="0">
                  <a:solidFill>
                    <a:schemeClr val="tx1"/>
                  </a:solidFill>
                </a:rPr>
                <a:t>无运算</a:t>
              </a:r>
              <a:r>
                <a:rPr lang="en-US" altLang="zh-CN" sz="16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55" name="Text Box 235">
              <a:extLst>
                <a:ext uri="{FF2B5EF4-FFF2-40B4-BE49-F238E27FC236}">
                  <a16:creationId xmlns:a16="http://schemas.microsoft.com/office/drawing/2014/main" id="{C93DB012-50FA-4E62-96A5-6ED7344F7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024" y="2988000"/>
              <a:ext cx="3996000" cy="1404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2000" i="1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6" name="Text Box 235">
              <a:extLst>
                <a:ext uri="{FF2B5EF4-FFF2-40B4-BE49-F238E27FC236}">
                  <a16:creationId xmlns:a16="http://schemas.microsoft.com/office/drawing/2014/main" id="{389268A3-5BD6-4FAA-AB9C-1605AE738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392" y="3672000"/>
              <a:ext cx="396000" cy="576000"/>
            </a:xfrm>
            <a:prstGeom prst="rect">
              <a:avLst/>
            </a:prstGeom>
            <a:solidFill>
              <a:srgbClr val="FFFF00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57" name="Text Box 235">
              <a:extLst>
                <a:ext uri="{FF2B5EF4-FFF2-40B4-BE49-F238E27FC236}">
                  <a16:creationId xmlns:a16="http://schemas.microsoft.com/office/drawing/2014/main" id="{4850B0CB-4994-4886-8B1C-7C3291134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240" y="2628000"/>
              <a:ext cx="1224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被乘数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RegA</a:t>
              </a:r>
              <a:endParaRPr lang="en-US" altLang="zh-CN" sz="1800" dirty="0" err="1">
                <a:solidFill>
                  <a:schemeClr val="tx1"/>
                </a:solidFill>
              </a:endParaRPr>
            </a:p>
          </p:txBody>
        </p:sp>
        <p:sp>
          <p:nvSpPr>
            <p:cNvPr id="158" name="Text Box 235">
              <a:extLst>
                <a:ext uri="{FF2B5EF4-FFF2-40B4-BE49-F238E27FC236}">
                  <a16:creationId xmlns:a16="http://schemas.microsoft.com/office/drawing/2014/main" id="{740631E8-A72F-45E6-989C-D464D99A6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024" y="399600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778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乘数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RegB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59" name="Text Box 235">
              <a:extLst>
                <a:ext uri="{FF2B5EF4-FFF2-40B4-BE49-F238E27FC236}">
                  <a16:creationId xmlns:a16="http://schemas.microsoft.com/office/drawing/2014/main" id="{CB49D945-E34A-4E1A-97F7-52810C57E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024" y="399600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部分积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RegP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60" name="Line 238">
              <a:extLst>
                <a:ext uri="{FF2B5EF4-FFF2-40B4-BE49-F238E27FC236}">
                  <a16:creationId xmlns:a16="http://schemas.microsoft.com/office/drawing/2014/main" id="{8571FC9C-C416-416C-AF34-74D409F40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240" y="3312000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38">
              <a:extLst>
                <a:ext uri="{FF2B5EF4-FFF2-40B4-BE49-F238E27FC236}">
                  <a16:creationId xmlns:a16="http://schemas.microsoft.com/office/drawing/2014/main" id="{6BABDB7B-042D-41B4-A752-695730900E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2240" y="288000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Text Box 230">
              <a:extLst>
                <a:ext uri="{FF2B5EF4-FFF2-40B4-BE49-F238E27FC236}">
                  <a16:creationId xmlns:a16="http://schemas.microsoft.com/office/drawing/2014/main" id="{375F6C97-A9CB-409E-9161-5FB491991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240" y="3096000"/>
              <a:ext cx="792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控制门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63" name="Line 238">
              <a:extLst>
                <a:ext uri="{FF2B5EF4-FFF2-40B4-BE49-F238E27FC236}">
                  <a16:creationId xmlns:a16="http://schemas.microsoft.com/office/drawing/2014/main" id="{C878FF81-BB56-4D28-A1A3-353050D7F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1763" y="324000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238">
              <a:extLst>
                <a:ext uri="{FF2B5EF4-FFF2-40B4-BE49-F238E27FC236}">
                  <a16:creationId xmlns:a16="http://schemas.microsoft.com/office/drawing/2014/main" id="{25FAB5AA-C66F-4F1A-83B8-23767B875A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240" y="3708000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238">
              <a:extLst>
                <a:ext uri="{FF2B5EF4-FFF2-40B4-BE49-F238E27FC236}">
                  <a16:creationId xmlns:a16="http://schemas.microsoft.com/office/drawing/2014/main" id="{62CF6F1D-90BA-4A31-995C-F48FA4B236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240" y="4248000"/>
              <a:ext cx="0" cy="25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236">
              <a:extLst>
                <a:ext uri="{FF2B5EF4-FFF2-40B4-BE49-F238E27FC236}">
                  <a16:creationId xmlns:a16="http://schemas.microsoft.com/office/drawing/2014/main" id="{C8AC0CB0-83BB-4486-8398-2A0CD79C1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240" y="3816000"/>
              <a:ext cx="0" cy="18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236">
              <a:extLst>
                <a:ext uri="{FF2B5EF4-FFF2-40B4-BE49-F238E27FC236}">
                  <a16:creationId xmlns:a16="http://schemas.microsoft.com/office/drawing/2014/main" id="{7DE33E92-BBB4-497D-B9E8-3EB23F324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240" y="3744000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Rectangle 259">
              <a:extLst>
                <a:ext uri="{FF2B5EF4-FFF2-40B4-BE49-F238E27FC236}">
                  <a16:creationId xmlns:a16="http://schemas.microsoft.com/office/drawing/2014/main" id="{4BC346E6-2366-42BB-9ED5-61140D0E5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024" y="4006800"/>
              <a:ext cx="136800" cy="237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69" name="Line 236">
              <a:extLst>
                <a:ext uri="{FF2B5EF4-FFF2-40B4-BE49-F238E27FC236}">
                  <a16:creationId xmlns:a16="http://schemas.microsoft.com/office/drawing/2014/main" id="{90A708BE-ABAC-4312-9005-CE82E8A03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024" y="3996000"/>
              <a:ext cx="0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236">
              <a:extLst>
                <a:ext uri="{FF2B5EF4-FFF2-40B4-BE49-F238E27FC236}">
                  <a16:creationId xmlns:a16="http://schemas.microsoft.com/office/drawing/2014/main" id="{10B5DD4D-DC16-40CD-A97F-46617F428A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2024" y="3744000"/>
              <a:ext cx="0" cy="252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71" name="直接箭头连接符 61">
              <a:extLst>
                <a:ext uri="{FF2B5EF4-FFF2-40B4-BE49-F238E27FC236}">
                  <a16:creationId xmlns:a16="http://schemas.microsoft.com/office/drawing/2014/main" id="{7B8DD8EB-31CF-460A-BD76-B78F238FB08F}"/>
                </a:ext>
              </a:extLst>
            </p:cNvPr>
            <p:cNvCxnSpPr/>
            <p:nvPr/>
          </p:nvCxnSpPr>
          <p:spPr bwMode="auto">
            <a:xfrm flipH="1" flipV="1">
              <a:off x="3528024" y="3204000"/>
              <a:ext cx="86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72" name="Text Box 242">
              <a:extLst>
                <a:ext uri="{FF2B5EF4-FFF2-40B4-BE49-F238E27FC236}">
                  <a16:creationId xmlns:a16="http://schemas.microsoft.com/office/drawing/2014/main" id="{3AB31801-7D73-41E6-BA1C-102772F32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240" y="3058320"/>
              <a:ext cx="1008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计数器</a:t>
              </a:r>
              <a:r>
                <a:rPr lang="en-US" altLang="zh-CN" sz="1600" dirty="0" err="1">
                  <a:solidFill>
                    <a:schemeClr val="tx1"/>
                  </a:solidFill>
                </a:rPr>
                <a:t>Cnt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73" name="Text Box 247">
              <a:extLst>
                <a:ext uri="{FF2B5EF4-FFF2-40B4-BE49-F238E27FC236}">
                  <a16:creationId xmlns:a16="http://schemas.microsoft.com/office/drawing/2014/main" id="{15B3325B-7500-42CE-9351-712096B9A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240" y="3744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右移</a:t>
              </a:r>
            </a:p>
          </p:txBody>
        </p:sp>
        <p:cxnSp>
          <p:nvCxnSpPr>
            <p:cNvPr id="174" name="直接箭头连接符 61">
              <a:extLst>
                <a:ext uri="{FF2B5EF4-FFF2-40B4-BE49-F238E27FC236}">
                  <a16:creationId xmlns:a16="http://schemas.microsoft.com/office/drawing/2014/main" id="{E90EBDA4-0207-469A-92D8-278D7A18E922}"/>
                </a:ext>
              </a:extLst>
            </p:cNvPr>
            <p:cNvCxnSpPr/>
            <p:nvPr/>
          </p:nvCxnSpPr>
          <p:spPr bwMode="auto">
            <a:xfrm flipH="1">
              <a:off x="5112240" y="3634360"/>
              <a:ext cx="54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5" name="直接箭头连接符 61">
              <a:extLst>
                <a:ext uri="{FF2B5EF4-FFF2-40B4-BE49-F238E27FC236}">
                  <a16:creationId xmlns:a16="http://schemas.microsoft.com/office/drawing/2014/main" id="{CC1A450D-3F8D-4B9B-8CD0-53C1CFE3A07F}"/>
                </a:ext>
              </a:extLst>
            </p:cNvPr>
            <p:cNvCxnSpPr/>
            <p:nvPr/>
          </p:nvCxnSpPr>
          <p:spPr bwMode="auto">
            <a:xfrm flipH="1">
              <a:off x="5472240" y="3168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6" name="Text Box 232">
              <a:extLst>
                <a:ext uri="{FF2B5EF4-FFF2-40B4-BE49-F238E27FC236}">
                  <a16:creationId xmlns:a16="http://schemas.microsoft.com/office/drawing/2014/main" id="{36802D7B-CCE1-4C50-8225-E4DFF7DDF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240" y="306000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CLK</a:t>
              </a:r>
            </a:p>
          </p:txBody>
        </p:sp>
        <p:sp>
          <p:nvSpPr>
            <p:cNvPr id="177" name="Line 236">
              <a:extLst>
                <a:ext uri="{FF2B5EF4-FFF2-40B4-BE49-F238E27FC236}">
                  <a16:creationId xmlns:a16="http://schemas.microsoft.com/office/drawing/2014/main" id="{63DCD138-C874-48A0-B90A-3D0FC302B5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4240" y="3852000"/>
              <a:ext cx="9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36">
              <a:extLst>
                <a:ext uri="{FF2B5EF4-FFF2-40B4-BE49-F238E27FC236}">
                  <a16:creationId xmlns:a16="http://schemas.microsoft.com/office/drawing/2014/main" id="{3D42AC20-9FAB-475F-94B3-77CFD0413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000" y="3312000"/>
              <a:ext cx="0" cy="180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238">
              <a:extLst>
                <a:ext uri="{FF2B5EF4-FFF2-40B4-BE49-F238E27FC236}">
                  <a16:creationId xmlns:a16="http://schemas.microsoft.com/office/drawing/2014/main" id="{2F750EAD-AFFB-4F63-8C47-7DC76F370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024" y="3240000"/>
              <a:ext cx="684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238">
              <a:extLst>
                <a:ext uri="{FF2B5EF4-FFF2-40B4-BE49-F238E27FC236}">
                  <a16:creationId xmlns:a16="http://schemas.microsoft.com/office/drawing/2014/main" id="{54F4830A-55C6-43AB-B7D1-7E98782597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6024" y="3240000"/>
              <a:ext cx="0" cy="108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238">
              <a:extLst>
                <a:ext uri="{FF2B5EF4-FFF2-40B4-BE49-F238E27FC236}">
                  <a16:creationId xmlns:a16="http://schemas.microsoft.com/office/drawing/2014/main" id="{E5409E7B-CFDE-43C3-BEC1-6C003874AA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56024" y="4318248"/>
              <a:ext cx="1080000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238">
              <a:extLst>
                <a:ext uri="{FF2B5EF4-FFF2-40B4-BE49-F238E27FC236}">
                  <a16:creationId xmlns:a16="http://schemas.microsoft.com/office/drawing/2014/main" id="{F59272E8-DCE2-4476-A223-6AFE2CA25E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4240" y="4248000"/>
              <a:ext cx="0" cy="252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236">
              <a:extLst>
                <a:ext uri="{FF2B5EF4-FFF2-40B4-BE49-F238E27FC236}">
                  <a16:creationId xmlns:a16="http://schemas.microsoft.com/office/drawing/2014/main" id="{3734CA79-E8B2-4613-91D9-8C6083CD6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240" y="3672000"/>
              <a:ext cx="1080000" cy="14404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236">
              <a:extLst>
                <a:ext uri="{FF2B5EF4-FFF2-40B4-BE49-F238E27FC236}">
                  <a16:creationId xmlns:a16="http://schemas.microsoft.com/office/drawing/2014/main" id="{5DF2FE1A-28E8-4879-AF61-36EC6CBF8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240" y="3852000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Text Box 247">
              <a:extLst>
                <a:ext uri="{FF2B5EF4-FFF2-40B4-BE49-F238E27FC236}">
                  <a16:creationId xmlns:a16="http://schemas.microsoft.com/office/drawing/2014/main" id="{2B954869-2337-40CB-9BC5-CC23FC970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240" y="3636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写入</a:t>
              </a:r>
            </a:p>
          </p:txBody>
        </p:sp>
        <p:sp>
          <p:nvSpPr>
            <p:cNvPr id="186" name="Line 236">
              <a:extLst>
                <a:ext uri="{FF2B5EF4-FFF2-40B4-BE49-F238E27FC236}">
                  <a16:creationId xmlns:a16="http://schemas.microsoft.com/office/drawing/2014/main" id="{B06FD23F-503E-4D51-BDDE-87ED1488C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4392" y="4140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Text Box 235">
              <a:extLst>
                <a:ext uri="{FF2B5EF4-FFF2-40B4-BE49-F238E27FC236}">
                  <a16:creationId xmlns:a16="http://schemas.microsoft.com/office/drawing/2014/main" id="{B0EFFC65-7ABF-4E60-BBC6-C255C2C06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176" y="3745720"/>
              <a:ext cx="216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Text Box 235">
              <a:extLst>
                <a:ext uri="{FF2B5EF4-FFF2-40B4-BE49-F238E27FC236}">
                  <a16:creationId xmlns:a16="http://schemas.microsoft.com/office/drawing/2014/main" id="{342E9E76-1A31-49A7-9309-E65A46B94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392" y="3744000"/>
              <a:ext cx="360000" cy="576000"/>
            </a:xfrm>
            <a:prstGeom prst="rect">
              <a:avLst/>
            </a:prstGeom>
            <a:solidFill>
              <a:srgbClr val="FFFF00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89" name="Text Box 235">
              <a:extLst>
                <a:ext uri="{FF2B5EF4-FFF2-40B4-BE49-F238E27FC236}">
                  <a16:creationId xmlns:a16="http://schemas.microsoft.com/office/drawing/2014/main" id="{D5F53E16-8460-48CF-BB54-3E9C6F3D8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392" y="3996000"/>
              <a:ext cx="324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B</a:t>
              </a:r>
              <a:r>
                <a:rPr lang="zh-CN" altLang="en-US" sz="1800" baseline="-16000" dirty="0">
                  <a:solidFill>
                    <a:schemeClr val="tx1"/>
                  </a:solidFill>
                </a:rPr>
                <a:t>附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90" name="Line 236">
              <a:extLst>
                <a:ext uri="{FF2B5EF4-FFF2-40B4-BE49-F238E27FC236}">
                  <a16:creationId xmlns:a16="http://schemas.microsoft.com/office/drawing/2014/main" id="{D043EFA2-0F1D-4B69-8020-AB035C0F7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4000" y="3744000"/>
              <a:ext cx="0" cy="252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Text Box 235">
              <a:extLst>
                <a:ext uri="{FF2B5EF4-FFF2-40B4-BE49-F238E27FC236}">
                  <a16:creationId xmlns:a16="http://schemas.microsoft.com/office/drawing/2014/main" id="{9459DA20-837B-4845-A5B1-544C2DFA7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9192" y="3384000"/>
              <a:ext cx="306000" cy="216000"/>
            </a:xfrm>
            <a:prstGeom prst="rect">
              <a:avLst/>
            </a:prstGeom>
            <a:solidFill>
              <a:srgbClr val="FFFF00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Line 236">
              <a:extLst>
                <a:ext uri="{FF2B5EF4-FFF2-40B4-BE49-F238E27FC236}">
                  <a16:creationId xmlns:a16="http://schemas.microsoft.com/office/drawing/2014/main" id="{8028CC75-EE40-4C82-BD9E-FFAFFFF5D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240" y="3600000"/>
              <a:ext cx="93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Text Box 232">
              <a:extLst>
                <a:ext uri="{FF2B5EF4-FFF2-40B4-BE49-F238E27FC236}">
                  <a16:creationId xmlns:a16="http://schemas.microsoft.com/office/drawing/2014/main" id="{CED0E58C-45EF-43A5-A94E-75656DAE6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392" y="3384000"/>
              <a:ext cx="79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加</a:t>
              </a:r>
              <a:r>
                <a:rPr lang="en-US" altLang="zh-CN" sz="1600" dirty="0">
                  <a:solidFill>
                    <a:schemeClr val="tx1"/>
                  </a:solidFill>
                </a:rPr>
                <a:t>/</a:t>
              </a:r>
              <a:r>
                <a:rPr lang="zh-CN" altLang="en-US" sz="1600" dirty="0">
                  <a:solidFill>
                    <a:schemeClr val="tx1"/>
                  </a:solidFill>
                </a:rPr>
                <a:t>减法</a:t>
              </a:r>
            </a:p>
          </p:txBody>
        </p:sp>
        <p:sp>
          <p:nvSpPr>
            <p:cNvPr id="194" name="Line 236">
              <a:extLst>
                <a:ext uri="{FF2B5EF4-FFF2-40B4-BE49-F238E27FC236}">
                  <a16:creationId xmlns:a16="http://schemas.microsoft.com/office/drawing/2014/main" id="{CAB29DE7-4746-4CC6-A86D-EDBA7D18B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4392" y="3888000"/>
              <a:ext cx="79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95" name="直接箭头连接符 61">
              <a:extLst>
                <a:ext uri="{FF2B5EF4-FFF2-40B4-BE49-F238E27FC236}">
                  <a16:creationId xmlns:a16="http://schemas.microsoft.com/office/drawing/2014/main" id="{4F711E4C-67C0-4229-9272-819D716B4335}"/>
                </a:ext>
              </a:extLst>
            </p:cNvPr>
            <p:cNvCxnSpPr/>
            <p:nvPr/>
          </p:nvCxnSpPr>
          <p:spPr bwMode="auto">
            <a:xfrm>
              <a:off x="1944392" y="388800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6" name="Text Box 235">
              <a:extLst>
                <a:ext uri="{FF2B5EF4-FFF2-40B4-BE49-F238E27FC236}">
                  <a16:creationId xmlns:a16="http://schemas.microsoft.com/office/drawing/2014/main" id="{F8A69538-B509-44E1-97FE-B593B48E4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040" y="3384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197" name="Line 236">
              <a:extLst>
                <a:ext uri="{FF2B5EF4-FFF2-40B4-BE49-F238E27FC236}">
                  <a16:creationId xmlns:a16="http://schemas.microsoft.com/office/drawing/2014/main" id="{2606495F-D033-496B-8F23-560059483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0392" y="3600000"/>
              <a:ext cx="39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梯形 197">
              <a:extLst>
                <a:ext uri="{FF2B5EF4-FFF2-40B4-BE49-F238E27FC236}">
                  <a16:creationId xmlns:a16="http://schemas.microsoft.com/office/drawing/2014/main" id="{134D4896-58B4-47D7-9974-0F435C42BF7B}"/>
                </a:ext>
              </a:extLst>
            </p:cNvPr>
            <p:cNvSpPr/>
            <p:nvPr/>
          </p:nvSpPr>
          <p:spPr bwMode="auto">
            <a:xfrm rot="10800000">
              <a:off x="2088240" y="3456224"/>
              <a:ext cx="1188000" cy="288000"/>
            </a:xfrm>
            <a:prstGeom prst="trapezoid">
              <a:avLst>
                <a:gd name="adj" fmla="val 61278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</p:spPr>
          <p:txBody>
            <a:bodyPr lIns="0" tIns="10800" rIns="0" rtlCol="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dirty="0"/>
            </a:p>
          </p:txBody>
        </p:sp>
        <p:sp>
          <p:nvSpPr>
            <p:cNvPr id="199" name="Text Box 235">
              <a:extLst>
                <a:ext uri="{FF2B5EF4-FFF2-40B4-BE49-F238E27FC236}">
                  <a16:creationId xmlns:a16="http://schemas.microsoft.com/office/drawing/2014/main" id="{D1AFD59D-AF14-4897-84D1-10627AB3C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3592" y="3489095"/>
              <a:ext cx="216000" cy="216000"/>
            </a:xfrm>
            <a:prstGeom prst="rect">
              <a:avLst/>
            </a:prstGeom>
            <a:solidFill>
              <a:srgbClr val="FFFF00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Text Box 235">
              <a:extLst>
                <a:ext uri="{FF2B5EF4-FFF2-40B4-BE49-F238E27FC236}">
                  <a16:creationId xmlns:a16="http://schemas.microsoft.com/office/drawing/2014/main" id="{13317632-DDBD-44B0-BCB7-C7369B31A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392" y="3492224"/>
              <a:ext cx="900000" cy="216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加减法器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Text Box 235">
              <a:extLst>
                <a:ext uri="{FF2B5EF4-FFF2-40B4-BE49-F238E27FC236}">
                  <a16:creationId xmlns:a16="http://schemas.microsoft.com/office/drawing/2014/main" id="{86C19B8A-EBF2-4CDE-8B63-BB83D2D23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392" y="3672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202" name="Text Box 239">
              <a:extLst>
                <a:ext uri="{FF2B5EF4-FFF2-40B4-BE49-F238E27FC236}">
                  <a16:creationId xmlns:a16="http://schemas.microsoft.com/office/drawing/2014/main" id="{7CF3D5F8-03C2-4392-93C6-BCF91F6BF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240" y="3490376"/>
              <a:ext cx="100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控制逻辑</a:t>
              </a:r>
              <a:endParaRPr lang="zh-CN" altLang="en-US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03" name="Line 236">
              <a:extLst>
                <a:ext uri="{FF2B5EF4-FFF2-40B4-BE49-F238E27FC236}">
                  <a16:creationId xmlns:a16="http://schemas.microsoft.com/office/drawing/2014/main" id="{7703860B-F7BC-48E1-AE68-99B100B88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2024" y="3204000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Text Box 235">
              <a:extLst>
                <a:ext uri="{FF2B5EF4-FFF2-40B4-BE49-F238E27FC236}">
                  <a16:creationId xmlns:a16="http://schemas.microsoft.com/office/drawing/2014/main" id="{07EFA51B-2D29-4930-90BD-287EFE861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392" y="3499200"/>
              <a:ext cx="144000" cy="72000"/>
            </a:xfrm>
            <a:prstGeom prst="rect">
              <a:avLst/>
            </a:prstGeom>
            <a:solidFill>
              <a:srgbClr val="FFFF00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9" name="Line 236">
              <a:extLst>
                <a:ext uri="{FF2B5EF4-FFF2-40B4-BE49-F238E27FC236}">
                  <a16:creationId xmlns:a16="http://schemas.microsoft.com/office/drawing/2014/main" id="{0DFB915D-381D-482A-BBA2-0DA15C99E7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000" y="3852000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236">
              <a:extLst>
                <a:ext uri="{FF2B5EF4-FFF2-40B4-BE49-F238E27FC236}">
                  <a16:creationId xmlns:a16="http://schemas.microsoft.com/office/drawing/2014/main" id="{795CFF78-FD9B-4A04-A447-C57DFFB2E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000" y="3852000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1" name="Text Box 99">
            <a:extLst>
              <a:ext uri="{FF2B5EF4-FFF2-40B4-BE49-F238E27FC236}">
                <a16:creationId xmlns:a16="http://schemas.microsoft.com/office/drawing/2014/main" id="{253FBCCE-EFE1-4CFE-BC73-08F00BC72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4366348"/>
            <a:ext cx="7164431" cy="1763077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tIns="18000">
            <a:spAutoFit/>
          </a:bodyPr>
          <a:lstStyle/>
          <a:p>
            <a:pPr marL="892175" indent="-892175"/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u="sng" dirty="0">
                <a:solidFill>
                  <a:srgbClr val="990099"/>
                </a:solidFill>
              </a:rPr>
              <a:t>类似</a:t>
            </a:r>
            <a:r>
              <a:rPr lang="zh-CN" altLang="en-US" sz="2200" dirty="0">
                <a:solidFill>
                  <a:schemeClr val="tx1"/>
                </a:solidFill>
              </a:rPr>
              <a:t>无符号乘法器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初始化增加</a:t>
            </a:r>
            <a:r>
              <a:rPr lang="en-US" altLang="zh-CN" sz="1800" dirty="0">
                <a:solidFill>
                  <a:srgbClr val="0070C0"/>
                </a:solidFill>
              </a:rPr>
              <a:t>B</a:t>
            </a:r>
            <a:r>
              <a:rPr lang="zh-CN" altLang="en-US" sz="1800" baseline="-18000" dirty="0">
                <a:solidFill>
                  <a:srgbClr val="0070C0"/>
                </a:solidFill>
              </a:rPr>
              <a:t>附</a:t>
            </a:r>
            <a:r>
              <a:rPr lang="en-US" altLang="zh-CN" sz="1800" dirty="0">
                <a:solidFill>
                  <a:srgbClr val="0070C0"/>
                </a:solidFill>
              </a:rPr>
              <a:t>=0</a:t>
            </a:r>
            <a:r>
              <a:rPr lang="zh-CN" altLang="en-US" sz="1800" dirty="0">
                <a:solidFill>
                  <a:schemeClr val="tx1"/>
                </a:solidFill>
              </a:rPr>
              <a:t>、其余增加</a:t>
            </a:r>
            <a:r>
              <a:rPr lang="zh-CN" altLang="en-US" sz="1800" dirty="0">
                <a:solidFill>
                  <a:srgbClr val="0070C0"/>
                </a:solidFill>
              </a:rPr>
              <a:t>相关于</a:t>
            </a:r>
            <a:r>
              <a:rPr lang="en-US" altLang="zh-CN" sz="1800" dirty="0">
                <a:solidFill>
                  <a:srgbClr val="0070C0"/>
                </a:solidFill>
              </a:rPr>
              <a:t>-</a:t>
            </a:r>
            <a:r>
              <a:rPr lang="en-US" altLang="zh-CN" sz="1800" dirty="0" err="1">
                <a:solidFill>
                  <a:srgbClr val="0070C0"/>
                </a:solidFill>
              </a:rPr>
              <a:t>RegA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 marL="892175" indent="-892175">
              <a:spcBef>
                <a:spcPts val="50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892175" indent="-892175"/>
            <a:r>
              <a:rPr lang="en-US" altLang="zh-CN" sz="2200" dirty="0">
                <a:solidFill>
                  <a:schemeClr val="tx1"/>
                </a:solidFill>
              </a:rPr>
              <a:t>  OF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</a:rPr>
              <a:t>2n-1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+…+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</a:rPr>
              <a:t>z</a:t>
            </a:r>
            <a:r>
              <a:rPr lang="en-US" altLang="zh-CN" sz="2200" baseline="-18000" dirty="0" err="1">
                <a:solidFill>
                  <a:schemeClr val="tx1"/>
                </a:solidFill>
                <a:latin typeface="+mn-ea"/>
              </a:rPr>
              <a:t>n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)+</a:t>
            </a:r>
            <a:r>
              <a:rPr lang="en-US" altLang="zh-CN" sz="2200" dirty="0">
                <a:solidFill>
                  <a:schemeClr val="tx1"/>
                </a:solidFill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</a:rPr>
              <a:t>2n-1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+…+</a:t>
            </a:r>
            <a:r>
              <a:rPr lang="en-US" altLang="zh-CN" sz="2200" dirty="0" err="1">
                <a:solidFill>
                  <a:schemeClr val="tx1"/>
                </a:solidFill>
                <a:latin typeface="+mn-ea"/>
              </a:rPr>
              <a:t>z</a:t>
            </a:r>
            <a:r>
              <a:rPr lang="en-US" altLang="zh-CN" sz="2200" baseline="-18000" dirty="0" err="1">
                <a:solidFill>
                  <a:schemeClr val="tx1"/>
                </a:solidFill>
                <a:latin typeface="+mn-ea"/>
              </a:rPr>
              <a:t>n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←高位≠符号位时</a:t>
            </a:r>
            <a:endParaRPr lang="en-US" altLang="zh-CN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92175" indent="-892175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软件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其他指令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u="sng" dirty="0">
                <a:solidFill>
                  <a:srgbClr val="990099"/>
                </a:solidFill>
              </a:rPr>
              <a:t>决定</a:t>
            </a:r>
            <a:r>
              <a:rPr lang="zh-CN" altLang="en-US" sz="2200" dirty="0">
                <a:solidFill>
                  <a:schemeClr val="tx1"/>
                </a:solidFill>
              </a:rPr>
              <a:t>是否判断</a:t>
            </a:r>
            <a:r>
              <a:rPr lang="en-US" altLang="zh-CN" sz="2200" dirty="0">
                <a:solidFill>
                  <a:schemeClr val="tx1"/>
                </a:solidFill>
              </a:rPr>
              <a:t>OF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视为溢出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79C3B73B-7E1E-4DA5-9775-B6EC350BCFA4}"/>
              </a:ext>
            </a:extLst>
          </p:cNvPr>
          <p:cNvGrpSpPr/>
          <p:nvPr/>
        </p:nvGrpSpPr>
        <p:grpSpPr>
          <a:xfrm>
            <a:off x="2861786" y="5431048"/>
            <a:ext cx="4000500" cy="0"/>
            <a:chOff x="6803" y="45381"/>
            <a:chExt cx="6300" cy="0"/>
          </a:xfrm>
        </p:grpSpPr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E0592589-0DF2-42DC-B8EA-C7ABB4E8F5D3}"/>
                </a:ext>
              </a:extLst>
            </p:cNvPr>
            <p:cNvCxnSpPr/>
            <p:nvPr/>
          </p:nvCxnSpPr>
          <p:spPr bwMode="auto">
            <a:xfrm>
              <a:off x="6803" y="45381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563DFA86-7B3B-41D7-9254-F727BE4574D7}"/>
                </a:ext>
              </a:extLst>
            </p:cNvPr>
            <p:cNvCxnSpPr/>
            <p:nvPr/>
          </p:nvCxnSpPr>
          <p:spPr bwMode="auto">
            <a:xfrm>
              <a:off x="11112" y="45381"/>
              <a:ext cx="73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77CF7293-2C78-4274-A7AE-58E6FA5B23D4}"/>
                </a:ext>
              </a:extLst>
            </p:cNvPr>
            <p:cNvCxnSpPr/>
            <p:nvPr/>
          </p:nvCxnSpPr>
          <p:spPr bwMode="auto">
            <a:xfrm>
              <a:off x="12791" y="45381"/>
              <a:ext cx="312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27" name="Text Box 200">
            <a:extLst>
              <a:ext uri="{FF2B5EF4-FFF2-40B4-BE49-F238E27FC236}">
                <a16:creationId xmlns:a16="http://schemas.microsoft.com/office/drawing/2014/main" id="{308ACF8C-92CD-415C-8BCE-E40E0210587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96136" y="2492896"/>
            <a:ext cx="3096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marL="684000" indent="-684000"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基于补码乘法器，如何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集成</a:t>
            </a:r>
            <a:r>
              <a:rPr lang="zh-CN" altLang="en-US" sz="18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无符号乘法功能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228" name="Text Box 200">
            <a:extLst>
              <a:ext uri="{FF2B5EF4-FFF2-40B4-BE49-F238E27FC236}">
                <a16:creationId xmlns:a16="http://schemas.microsoft.com/office/drawing/2014/main" id="{6A1EA220-4F24-42DD-A454-5968FFE7C65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96136" y="3140968"/>
            <a:ext cx="3276000" cy="900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rgbClr val="0070C0"/>
                </a:solidFill>
                <a:cs typeface="宋体" panose="02010600030101010101" pitchFamily="2" charset="-122"/>
              </a:rPr>
              <a:t>电路</a:t>
            </a:r>
            <a:r>
              <a:rPr lang="en-US" altLang="zh-CN" sz="1600" dirty="0">
                <a:solidFill>
                  <a:srgbClr val="0070C0"/>
                </a:solidFill>
                <a:cs typeface="宋体" panose="02010600030101010101" pitchFamily="2" charset="-122"/>
              </a:rPr>
              <a:t>—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</a:rPr>
              <a:t>o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位，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</a:rPr>
              <a:t>      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</a:rPr>
              <a:t>移入值为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C</a:t>
            </a:r>
            <a:r>
              <a:rPr lang="en-US" altLang="zh-CN" sz="1600" baseline="-16000" dirty="0">
                <a:solidFill>
                  <a:schemeClr val="tx1"/>
                </a:solidFill>
                <a:latin typeface="+mn-ea"/>
              </a:rPr>
              <a:t>n-1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</a:rPr>
              <a:t>或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Z</a:t>
            </a:r>
            <a:r>
              <a:rPr lang="en-US" altLang="zh-CN" sz="1600" baseline="-16000" dirty="0">
                <a:solidFill>
                  <a:schemeClr val="tx1"/>
                </a:solidFill>
                <a:latin typeface="+mn-ea"/>
              </a:rPr>
              <a:t>n-1</a:t>
            </a:r>
            <a:endParaRPr lang="en-US" altLang="zh-CN" sz="1600" dirty="0">
              <a:solidFill>
                <a:schemeClr val="tx1"/>
              </a:solidFill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70C0"/>
                </a:solidFill>
                <a:cs typeface="宋体" panose="02010600030101010101" pitchFamily="2" charset="-122"/>
              </a:rPr>
              <a:t>控制逻辑</a:t>
            </a:r>
            <a:r>
              <a:rPr lang="en-US" altLang="zh-CN" sz="1600" dirty="0">
                <a:solidFill>
                  <a:srgbClr val="0070C0"/>
                </a:solidFill>
                <a:cs typeface="宋体" panose="02010600030101010101" pitchFamily="2" charset="-122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</a:rPr>
              <a:t>判断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</a:rPr>
              <a:t>&amp;</a:t>
            </a:r>
            <a:r>
              <a:rPr lang="zh-CN" altLang="en-US" sz="1600" dirty="0">
                <a:solidFill>
                  <a:schemeClr val="tx1"/>
                </a:solidFill>
                <a:cs typeface="宋体" panose="02010600030101010101" pitchFamily="2" charset="-122"/>
              </a:rPr>
              <a:t>控制～</a:t>
            </a:r>
            <a:r>
              <a:rPr lang="en-US" altLang="zh-CN" sz="1600" dirty="0">
                <a:solidFill>
                  <a:schemeClr val="tx1"/>
                </a:solidFill>
                <a:cs typeface="宋体" panose="02010600030101010101" pitchFamily="2" charset="-122"/>
              </a:rPr>
              <a:t>op</a:t>
            </a:r>
          </a:p>
        </p:txBody>
      </p: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BB745D72-7972-45AA-AF3E-975DED3857D7}"/>
              </a:ext>
            </a:extLst>
          </p:cNvPr>
          <p:cNvGrpSpPr/>
          <p:nvPr/>
        </p:nvGrpSpPr>
        <p:grpSpPr>
          <a:xfrm>
            <a:off x="8316416" y="3212976"/>
            <a:ext cx="756000" cy="612000"/>
            <a:chOff x="467849" y="4536000"/>
            <a:chExt cx="756000" cy="612000"/>
          </a:xfrm>
        </p:grpSpPr>
        <p:sp>
          <p:nvSpPr>
            <p:cNvPr id="207" name="Text Box 101">
              <a:extLst>
                <a:ext uri="{FF2B5EF4-FFF2-40B4-BE49-F238E27FC236}">
                  <a16:creationId xmlns:a16="http://schemas.microsoft.com/office/drawing/2014/main" id="{D35EA144-A31C-4DFC-9AFC-C98120294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849" y="4788000"/>
              <a:ext cx="576000" cy="288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0000"/>
                </a:lnSpc>
              </a:pP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A3123EB8-651C-412B-99B8-52F0666CF1F6}"/>
                </a:ext>
              </a:extLst>
            </p:cNvPr>
            <p:cNvGrpSpPr/>
            <p:nvPr/>
          </p:nvGrpSpPr>
          <p:grpSpPr>
            <a:xfrm>
              <a:off x="503849" y="4860000"/>
              <a:ext cx="504000" cy="144000"/>
              <a:chOff x="6660000" y="4644000"/>
              <a:chExt cx="504000" cy="144000"/>
            </a:xfrm>
          </p:grpSpPr>
          <p:sp>
            <p:nvSpPr>
              <p:cNvPr id="217" name="梯形 216">
                <a:extLst>
                  <a:ext uri="{FF2B5EF4-FFF2-40B4-BE49-F238E27FC236}">
                    <a16:creationId xmlns:a16="http://schemas.microsoft.com/office/drawing/2014/main" id="{8500C355-82CD-47FB-957C-6D3AFA0B17B5}"/>
                  </a:ext>
                </a:extLst>
              </p:cNvPr>
              <p:cNvSpPr/>
              <p:nvPr/>
            </p:nvSpPr>
            <p:spPr bwMode="auto">
              <a:xfrm rot="10800000">
                <a:off x="6660000" y="4644000"/>
                <a:ext cx="504000" cy="144000"/>
              </a:xfrm>
              <a:prstGeom prst="trapezoid">
                <a:avLst>
                  <a:gd name="adj" fmla="val 44473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lIns="0" tIns="10800" rIns="0" rtlCol="0" anchor="ctr"/>
              <a:lstStyle/>
              <a:p>
                <a:pPr algn="ctr">
                  <a:lnSpc>
                    <a:spcPct val="90000"/>
                  </a:lnSpc>
                </a:pPr>
                <a:endParaRPr lang="zh-CN" altLang="en-US" sz="1800" dirty="0"/>
              </a:p>
            </p:txBody>
          </p:sp>
          <p:sp>
            <p:nvSpPr>
              <p:cNvPr id="218" name="Text Box 235">
                <a:extLst>
                  <a:ext uri="{FF2B5EF4-FFF2-40B4-BE49-F238E27FC236}">
                    <a16:creationId xmlns:a16="http://schemas.microsoft.com/office/drawing/2014/main" id="{03F05771-6960-4D32-B237-C1DA4B98D2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6000" y="4644000"/>
                <a:ext cx="432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dirty="0">
                    <a:solidFill>
                      <a:schemeClr val="tx1"/>
                    </a:solidFill>
                    <a:latin typeface="+mn-ea"/>
                    <a:ea typeface="+mn-ea"/>
                  </a:rPr>
                  <a:t>0  </a:t>
                </a:r>
                <a:r>
                  <a:rPr lang="en-US" altLang="zh-CN" sz="1200" baseline="-18000" dirty="0">
                    <a:solidFill>
                      <a:schemeClr val="tx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+mn-ea"/>
                    <a:ea typeface="+mn-ea"/>
                  </a:rPr>
                  <a:t>1</a:t>
                </a:r>
                <a:endParaRPr lang="en-US" altLang="zh-CN" sz="12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209" name="Line 236">
              <a:extLst>
                <a:ext uri="{FF2B5EF4-FFF2-40B4-BE49-F238E27FC236}">
                  <a16:creationId xmlns:a16="http://schemas.microsoft.com/office/drawing/2014/main" id="{151BBA71-2B2E-42F7-B9BE-E9FA0F069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8571" y="4932000"/>
              <a:ext cx="144000" cy="12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10" name="直接箭头连接符 61">
              <a:extLst>
                <a:ext uri="{FF2B5EF4-FFF2-40B4-BE49-F238E27FC236}">
                  <a16:creationId xmlns:a16="http://schemas.microsoft.com/office/drawing/2014/main" id="{CBF51DE0-64DA-4AA3-B44F-33DC730E2524}"/>
                </a:ext>
              </a:extLst>
            </p:cNvPr>
            <p:cNvCxnSpPr/>
            <p:nvPr/>
          </p:nvCxnSpPr>
          <p:spPr bwMode="auto">
            <a:xfrm>
              <a:off x="575849" y="4716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1" name="直接箭头连接符 61">
              <a:extLst>
                <a:ext uri="{FF2B5EF4-FFF2-40B4-BE49-F238E27FC236}">
                  <a16:creationId xmlns:a16="http://schemas.microsoft.com/office/drawing/2014/main" id="{960B0486-445C-4258-83B0-E24D07E2413A}"/>
                </a:ext>
              </a:extLst>
            </p:cNvPr>
            <p:cNvCxnSpPr/>
            <p:nvPr/>
          </p:nvCxnSpPr>
          <p:spPr bwMode="auto">
            <a:xfrm>
              <a:off x="935849" y="4716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2" name="直接箭头连接符 61">
              <a:extLst>
                <a:ext uri="{FF2B5EF4-FFF2-40B4-BE49-F238E27FC236}">
                  <a16:creationId xmlns:a16="http://schemas.microsoft.com/office/drawing/2014/main" id="{891D8856-9E6B-413E-9C8D-A456D4074D34}"/>
                </a:ext>
              </a:extLst>
            </p:cNvPr>
            <p:cNvCxnSpPr/>
            <p:nvPr/>
          </p:nvCxnSpPr>
          <p:spPr bwMode="auto">
            <a:xfrm>
              <a:off x="755849" y="500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13" name="Text Box 235">
              <a:extLst>
                <a:ext uri="{FF2B5EF4-FFF2-40B4-BE49-F238E27FC236}">
                  <a16:creationId xmlns:a16="http://schemas.microsoft.com/office/drawing/2014/main" id="{605770EC-E792-456D-B326-C477417D6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849" y="4536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214" name="Text Box 235">
              <a:extLst>
                <a:ext uri="{FF2B5EF4-FFF2-40B4-BE49-F238E27FC236}">
                  <a16:creationId xmlns:a16="http://schemas.microsoft.com/office/drawing/2014/main" id="{0348E8AF-41DC-4080-901E-F9DDE3898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849" y="4536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215" name="Line 236">
              <a:extLst>
                <a:ext uri="{FF2B5EF4-FFF2-40B4-BE49-F238E27FC236}">
                  <a16:creationId xmlns:a16="http://schemas.microsoft.com/office/drawing/2014/main" id="{56ED1E4C-3C66-4E6D-883F-C94AA8830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849" y="5148000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9" name="AutoShape 21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CE3ABDA-5936-4592-A416-9664E2B48FA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8518" y="6525195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  <p:bldP spid="22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61</a:t>
            </a:fld>
            <a:endParaRPr lang="en-US" altLang="zh-CN"/>
          </a:p>
        </p:txBody>
      </p:sp>
      <p:sp>
        <p:nvSpPr>
          <p:cNvPr id="3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303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55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" name="Text Box 200"/>
          <p:cNvSpPr txBox="1">
            <a:spLocks noChangeArrowheads="1"/>
          </p:cNvSpPr>
          <p:nvPr/>
        </p:nvSpPr>
        <p:spPr bwMode="auto">
          <a:xfrm>
            <a:off x="179388" y="332656"/>
            <a:ext cx="8785100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3</a:t>
            </a:r>
            <a:r>
              <a:rPr lang="zh-CN" altLang="en-US" dirty="0">
                <a:solidFill>
                  <a:srgbClr val="FF3399"/>
                </a:solidFill>
              </a:rPr>
              <a:t>、原码乘法运算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只讨论</a:t>
            </a:r>
            <a:r>
              <a:rPr lang="zh-CN" altLang="en-US" sz="1800" dirty="0">
                <a:solidFill>
                  <a:srgbClr val="990099"/>
                </a:solidFill>
              </a:rPr>
              <a:t>小数</a:t>
            </a:r>
            <a:r>
              <a:rPr lang="zh-CN" altLang="en-US" sz="1800" dirty="0">
                <a:solidFill>
                  <a:schemeClr val="tx1"/>
                </a:solidFill>
              </a:rPr>
              <a:t>一位乘法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sz="2200" dirty="0">
                <a:solidFill>
                  <a:srgbClr val="C00000"/>
                </a:solidFill>
              </a:rPr>
              <a:t>    </a:t>
            </a:r>
            <a:r>
              <a:rPr lang="en-US" altLang="zh-CN" sz="2200" dirty="0">
                <a:solidFill>
                  <a:schemeClr val="tx1"/>
                </a:solidFill>
              </a:rPr>
              <a:t>[A×B]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[A]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rgbClr val="FF3399"/>
                </a:solidFill>
              </a:rPr>
              <a:t>×</a:t>
            </a:r>
            <a:r>
              <a:rPr lang="en-US" altLang="zh-CN" sz="2200" dirty="0">
                <a:solidFill>
                  <a:schemeClr val="tx1"/>
                </a:solidFill>
              </a:rPr>
              <a:t>[B]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</a:rPr>
              <a:t>，结果≤</a:t>
            </a:r>
            <a:r>
              <a:rPr lang="en-US" altLang="zh-CN" sz="2200" dirty="0">
                <a:solidFill>
                  <a:schemeClr val="tx1"/>
                </a:solidFill>
              </a:rPr>
              <a:t>2n-1</a:t>
            </a:r>
            <a:r>
              <a:rPr lang="zh-CN" altLang="en-US" sz="2200" dirty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记为</a:t>
            </a:r>
            <a:r>
              <a:rPr lang="en-US" altLang="zh-CN" sz="2200" dirty="0">
                <a:solidFill>
                  <a:schemeClr val="tx1"/>
                </a:solidFill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2n-2</a:t>
            </a:r>
            <a:r>
              <a:rPr lang="en-US" altLang="zh-CN" sz="2200" dirty="0">
                <a:solidFill>
                  <a:schemeClr val="tx1"/>
                </a:solidFill>
              </a:rPr>
              <a:t>…z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20" name="Text Box 200"/>
          <p:cNvSpPr txBox="1">
            <a:spLocks noChangeArrowheads="1"/>
          </p:cNvSpPr>
          <p:nvPr/>
        </p:nvSpPr>
        <p:spPr bwMode="auto">
          <a:xfrm>
            <a:off x="179511" y="1270800"/>
            <a:ext cx="4032447" cy="51124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200" dirty="0">
                <a:solidFill>
                  <a:srgbClr val="C00000"/>
                </a:solidFill>
              </a:rPr>
              <a:t> *运算方法：</a:t>
            </a:r>
            <a:endParaRPr lang="en-US" altLang="zh-CN" sz="2200" baseline="-180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rgbClr val="990099"/>
              </a:solidFill>
            </a:endParaRPr>
          </a:p>
          <a:p>
            <a:pPr>
              <a:spcBef>
                <a:spcPts val="21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逻辑实现：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思路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组成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控制流程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溢出判断：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22" name="Text Box 200"/>
          <p:cNvSpPr txBox="1">
            <a:spLocks noChangeArrowheads="1"/>
          </p:cNvSpPr>
          <p:nvPr/>
        </p:nvSpPr>
        <p:spPr bwMode="auto">
          <a:xfrm>
            <a:off x="755576" y="1268760"/>
            <a:ext cx="8280920" cy="20421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        设</a:t>
            </a:r>
            <a:r>
              <a:rPr lang="en-US" altLang="zh-CN" sz="2200" dirty="0">
                <a:solidFill>
                  <a:schemeClr val="tx1"/>
                </a:solidFill>
              </a:rPr>
              <a:t>[A×B]</a:t>
            </a:r>
            <a:r>
              <a:rPr lang="zh-CN" altLang="en-US" sz="2200" baseline="-16000" dirty="0">
                <a:solidFill>
                  <a:schemeClr val="tx1"/>
                </a:solidFill>
              </a:rPr>
              <a:t>原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2n-2</a:t>
            </a:r>
            <a:r>
              <a:rPr lang="en-US" altLang="zh-CN" sz="2200" dirty="0">
                <a:solidFill>
                  <a:schemeClr val="tx1"/>
                </a:solidFill>
              </a:rPr>
              <a:t>…z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     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99CCFF"/>
                </a:highlight>
              </a:rPr>
              <a:t>教材中方法</a:t>
            </a:r>
            <a:r>
              <a:rPr lang="zh-CN" altLang="en-US" sz="1800" dirty="0">
                <a:solidFill>
                  <a:schemeClr val="tx1"/>
                </a:solidFill>
              </a:rPr>
              <a:t>适于</a:t>
            </a:r>
            <a:r>
              <a:rPr lang="zh-CN" altLang="en-US" sz="1800" u="sng" dirty="0">
                <a:solidFill>
                  <a:schemeClr val="tx1"/>
                </a:solidFill>
              </a:rPr>
              <a:t>整数乘法</a:t>
            </a:r>
            <a:endParaRPr lang="en-US" altLang="zh-CN" sz="2200" u="sng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①</a:t>
            </a:r>
            <a:r>
              <a:rPr lang="zh-CN" altLang="en-US" sz="2200" dirty="0">
                <a:solidFill>
                  <a:schemeClr val="tx1"/>
                </a:solidFill>
              </a:rPr>
              <a:t>求乘积符号，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en-US" altLang="zh-CN" sz="2200" baseline="-180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，  </a:t>
            </a:r>
            <a:r>
              <a:rPr lang="en-US" altLang="zh-CN" sz="2200" spc="500" dirty="0">
                <a:solidFill>
                  <a:schemeClr val="tx1"/>
                </a:solidFill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2n-2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en-US" altLang="zh-CN" sz="2200" baseline="-18000" dirty="0">
                <a:solidFill>
                  <a:schemeClr val="tx1"/>
                </a:solidFill>
              </a:rPr>
              <a:t>P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②</a:t>
            </a:r>
            <a:r>
              <a:rPr lang="zh-CN" altLang="en-US" sz="2200" dirty="0">
                <a:solidFill>
                  <a:schemeClr val="tx1"/>
                </a:solidFill>
              </a:rPr>
              <a:t>求乘积数值，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|A|×|B|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2n-3</a:t>
            </a:r>
            <a:r>
              <a:rPr lang="en-US" altLang="zh-CN" sz="2200" dirty="0">
                <a:solidFill>
                  <a:schemeClr val="tx1"/>
                </a:solidFill>
              </a:rPr>
              <a:t>…z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             P</a:t>
            </a:r>
            <a:r>
              <a:rPr lang="zh-CN" altLang="en-US" sz="2200" dirty="0">
                <a:solidFill>
                  <a:schemeClr val="tx1"/>
                </a:solidFill>
              </a:rPr>
              <a:t>为</a:t>
            </a:r>
            <a:r>
              <a:rPr lang="en-US" altLang="zh-CN" sz="2200" u="sng" dirty="0">
                <a:solidFill>
                  <a:srgbClr val="990099"/>
                </a:solidFill>
              </a:rPr>
              <a:t>n-1</a:t>
            </a:r>
            <a:r>
              <a:rPr lang="zh-CN" altLang="en-US" sz="2200" u="sng" dirty="0">
                <a:solidFill>
                  <a:srgbClr val="990099"/>
                </a:solidFill>
              </a:rPr>
              <a:t>位</a:t>
            </a:r>
            <a:r>
              <a:rPr lang="zh-CN" altLang="en-US" sz="2200" dirty="0">
                <a:solidFill>
                  <a:schemeClr val="tx1"/>
                </a:solidFill>
              </a:rPr>
              <a:t>无符号乘法运算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rgbClr val="990099"/>
                </a:solidFill>
              </a:rPr>
              <a:t>n-1</a:t>
            </a:r>
            <a:r>
              <a:rPr lang="zh-CN" altLang="en-US" sz="1800" dirty="0">
                <a:solidFill>
                  <a:srgbClr val="990099"/>
                </a:solidFill>
              </a:rPr>
              <a:t>次</a:t>
            </a:r>
            <a:r>
              <a:rPr lang="zh-CN" altLang="en-US" sz="1800" dirty="0">
                <a:solidFill>
                  <a:schemeClr val="tx1"/>
                </a:solidFill>
              </a:rPr>
              <a:t>循环，</a:t>
            </a:r>
            <a:r>
              <a:rPr lang="en-US" altLang="zh-CN" sz="1800" dirty="0">
                <a:solidFill>
                  <a:srgbClr val="990099"/>
                </a:solidFill>
              </a:rPr>
              <a:t>n-1</a:t>
            </a:r>
            <a:r>
              <a:rPr lang="zh-CN" altLang="en-US" sz="1800" dirty="0">
                <a:solidFill>
                  <a:srgbClr val="990099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加法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                     教材中方法适于整数乘法→</a:t>
            </a:r>
            <a:r>
              <a:rPr lang="en-US" altLang="zh-CN" sz="1800" dirty="0">
                <a:solidFill>
                  <a:srgbClr val="0070C0"/>
                </a:solidFill>
              </a:rPr>
              <a:t>n</a:t>
            </a:r>
            <a:r>
              <a:rPr lang="zh-CN" altLang="en-US" sz="1800" dirty="0">
                <a:solidFill>
                  <a:srgbClr val="0070C0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加法→</a:t>
            </a:r>
            <a:r>
              <a:rPr lang="zh-CN" altLang="en-US" sz="1800" b="0" dirty="0">
                <a:solidFill>
                  <a:schemeClr val="tx1"/>
                </a:solidFill>
              </a:rPr>
              <a:t>┘</a:t>
            </a:r>
            <a:endParaRPr lang="en-US" altLang="zh-CN" sz="2200" b="0" dirty="0">
              <a:solidFill>
                <a:schemeClr val="tx1"/>
              </a:solidFill>
            </a:endParaRPr>
          </a:p>
        </p:txBody>
      </p:sp>
      <p:sp>
        <p:nvSpPr>
          <p:cNvPr id="12" name="Text Box 201">
            <a:extLst>
              <a:ext uri="{FF2B5EF4-FFF2-40B4-BE49-F238E27FC236}">
                <a16:creationId xmlns:a16="http://schemas.microsoft.com/office/drawing/2014/main" id="{C9797E0D-DFBD-4BCF-8093-C9C4BFEA1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3284984"/>
            <a:ext cx="7344816" cy="30606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en-US" altLang="zh-CN" sz="1800" dirty="0">
                <a:solidFill>
                  <a:schemeClr val="tx1"/>
                </a:solidFill>
              </a:rPr>
              <a:t>   (</a:t>
            </a:r>
            <a:r>
              <a:rPr lang="zh-CN" altLang="en-US" sz="1800" dirty="0">
                <a:solidFill>
                  <a:schemeClr val="tx1"/>
                </a:solidFill>
              </a:rPr>
              <a:t>仅讨论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FFFF00"/>
                </a:highlight>
              </a:rPr>
              <a:t>位加法</a:t>
            </a:r>
            <a:r>
              <a:rPr lang="zh-CN" altLang="en-US" sz="1800" dirty="0">
                <a:solidFill>
                  <a:schemeClr val="tx1"/>
                </a:solidFill>
              </a:rPr>
              <a:t>的实现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078230" indent="-1078230">
              <a:spcBef>
                <a:spcPts val="200"/>
              </a:spcBef>
            </a:pPr>
            <a:r>
              <a:rPr lang="en-US" altLang="zh-CN" sz="2200" dirty="0">
                <a:solidFill>
                  <a:schemeClr val="tx1"/>
                </a:solidFill>
              </a:rPr>
              <a:t>①</a:t>
            </a:r>
            <a:r>
              <a:rPr lang="zh-CN" altLang="en-US" sz="2200" dirty="0">
                <a:solidFill>
                  <a:schemeClr val="tx1"/>
                </a:solidFill>
              </a:rPr>
              <a:t>计算并保存</a:t>
            </a:r>
            <a:r>
              <a:rPr lang="zh-CN" altLang="en-US" sz="2200" u="sng" dirty="0">
                <a:solidFill>
                  <a:schemeClr val="tx1"/>
                </a:solidFill>
              </a:rPr>
              <a:t>乘积符号</a:t>
            </a:r>
            <a:endParaRPr lang="en-US" altLang="zh-CN" sz="2200" u="sng" dirty="0">
              <a:solidFill>
                <a:schemeClr val="tx1"/>
              </a:solidFill>
            </a:endParaRPr>
          </a:p>
          <a:p>
            <a:pPr marL="1078230" indent="-1078230"/>
            <a:r>
              <a:rPr lang="zh-CN" altLang="en-US" sz="2200" dirty="0">
                <a:solidFill>
                  <a:schemeClr val="tx1"/>
                </a:solidFill>
              </a:rPr>
              <a:t>②循环的</a:t>
            </a:r>
            <a:r>
              <a:rPr lang="zh-CN" altLang="en-US" sz="2200" u="sng" dirty="0">
                <a:solidFill>
                  <a:schemeClr val="tx1"/>
                </a:solidFill>
              </a:rPr>
              <a:t>判断</a:t>
            </a:r>
            <a:r>
              <a:rPr lang="en-US" altLang="zh-CN" sz="2200" u="sng" dirty="0">
                <a:solidFill>
                  <a:schemeClr val="tx1"/>
                </a:solidFill>
              </a:rPr>
              <a:t>-</a:t>
            </a:r>
            <a:r>
              <a:rPr lang="zh-CN" altLang="en-US" sz="2200" u="sng" dirty="0">
                <a:solidFill>
                  <a:schemeClr val="tx1"/>
                </a:solidFill>
              </a:rPr>
              <a:t>加法</a:t>
            </a:r>
            <a:r>
              <a:rPr lang="en-US" altLang="zh-CN" sz="2200" u="sng" dirty="0">
                <a:solidFill>
                  <a:schemeClr val="tx1"/>
                </a:solidFill>
              </a:rPr>
              <a:t>-</a:t>
            </a:r>
            <a:r>
              <a:rPr lang="zh-CN" altLang="en-US" sz="2200" u="sng" dirty="0">
                <a:solidFill>
                  <a:schemeClr val="tx1"/>
                </a:solidFill>
              </a:rPr>
              <a:t>移位</a:t>
            </a:r>
            <a:r>
              <a:rPr lang="zh-CN" altLang="en-US" sz="2200" dirty="0">
                <a:solidFill>
                  <a:schemeClr val="tx1"/>
                </a:solidFill>
              </a:rPr>
              <a:t>操作 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</a:rPr>
              <a:t>同</a:t>
            </a:r>
            <a:r>
              <a:rPr lang="en-US" altLang="zh-CN" sz="1800" dirty="0">
                <a:solidFill>
                  <a:srgbClr val="0070C0"/>
                </a:solidFill>
              </a:rPr>
              <a:t>n-1</a:t>
            </a:r>
            <a:r>
              <a:rPr lang="zh-CN" altLang="en-US" sz="1800" dirty="0">
                <a:solidFill>
                  <a:srgbClr val="0070C0"/>
                </a:solidFill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</a:rPr>
              <a:t>无符号乘法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③部分积低位放在</a:t>
            </a:r>
            <a:r>
              <a:rPr lang="zh-CN" altLang="en-US" sz="2200" u="sng" dirty="0">
                <a:solidFill>
                  <a:schemeClr val="tx1"/>
                </a:solidFill>
              </a:rPr>
              <a:t>乘数的空位</a:t>
            </a:r>
            <a:r>
              <a:rPr lang="zh-CN" altLang="en-US" sz="2200" dirty="0">
                <a:solidFill>
                  <a:schemeClr val="tx1"/>
                </a:solidFill>
              </a:rPr>
              <a:t>上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dirty="0">
                <a:solidFill>
                  <a:srgbClr val="990099"/>
                </a:solidFill>
              </a:rPr>
              <a:t>同</a:t>
            </a:r>
            <a:r>
              <a:rPr lang="zh-CN" altLang="en-US" sz="1800" dirty="0">
                <a:solidFill>
                  <a:schemeClr val="tx1"/>
                </a:solidFill>
              </a:rPr>
              <a:t>无符号乘法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 sz="2200" u="sng" dirty="0">
                <a:solidFill>
                  <a:srgbClr val="990099"/>
                </a:solidFill>
              </a:rPr>
              <a:t>类似</a:t>
            </a:r>
            <a:r>
              <a:rPr lang="zh-CN" altLang="en-US" sz="2200" dirty="0">
                <a:solidFill>
                  <a:schemeClr val="tx1"/>
                </a:solidFill>
              </a:rPr>
              <a:t>无符号乘法器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增加</a:t>
            </a:r>
            <a:r>
              <a:rPr lang="zh-CN" altLang="en-US" sz="1800" dirty="0">
                <a:solidFill>
                  <a:srgbClr val="0070C0"/>
                </a:solidFill>
              </a:rPr>
              <a:t>符号运算逻辑、</a:t>
            </a:r>
            <a:r>
              <a:rPr lang="en-US" altLang="zh-CN" sz="1800" dirty="0">
                <a:solidFill>
                  <a:srgbClr val="0070C0"/>
                </a:solidFill>
              </a:rPr>
              <a:t>S</a:t>
            </a:r>
            <a:r>
              <a:rPr lang="en-US" altLang="zh-CN" sz="1800" baseline="-18000" dirty="0">
                <a:solidFill>
                  <a:srgbClr val="0070C0"/>
                </a:solidFill>
              </a:rPr>
              <a:t>P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1800" baseline="-18000" dirty="0">
              <a:solidFill>
                <a:schemeClr val="tx1"/>
              </a:solidFill>
            </a:endParaRPr>
          </a:p>
          <a:p>
            <a:pPr marL="1078230" indent="-1078230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</a:t>
            </a:r>
            <a:r>
              <a:rPr lang="zh-CN" altLang="en-US" sz="2200" u="sng" dirty="0">
                <a:solidFill>
                  <a:srgbClr val="990099"/>
                </a:solidFill>
              </a:rPr>
              <a:t>同</a:t>
            </a:r>
            <a:r>
              <a:rPr lang="zh-CN" altLang="en-US" sz="2200" dirty="0">
                <a:solidFill>
                  <a:schemeClr val="tx1"/>
                </a:solidFill>
              </a:rPr>
              <a:t>无符号乘法器</a:t>
            </a:r>
            <a:r>
              <a:rPr lang="en-US" altLang="zh-CN" sz="1800" dirty="0">
                <a:solidFill>
                  <a:schemeClr val="tx1"/>
                </a:solidFill>
              </a:rPr>
              <a:t>(S</a:t>
            </a:r>
            <a:r>
              <a:rPr lang="en-US" altLang="zh-CN" sz="1800" baseline="-18000" dirty="0">
                <a:solidFill>
                  <a:schemeClr val="tx1"/>
                </a:solidFill>
              </a:rPr>
              <a:t>P</a:t>
            </a:r>
            <a:r>
              <a:rPr lang="zh-CN" altLang="en-US" sz="1800" dirty="0">
                <a:solidFill>
                  <a:schemeClr val="tx1"/>
                </a:solidFill>
              </a:rPr>
              <a:t>保存</a:t>
            </a:r>
            <a:r>
              <a:rPr lang="zh-CN" altLang="en-US" sz="1800" dirty="0">
                <a:solidFill>
                  <a:srgbClr val="0070C0"/>
                </a:solidFill>
              </a:rPr>
              <a:t>可用</a:t>
            </a:r>
            <a:r>
              <a:rPr lang="en-US" altLang="zh-CN" sz="1800" dirty="0">
                <a:solidFill>
                  <a:srgbClr val="0070C0"/>
                </a:solidFill>
              </a:rPr>
              <a:t>CLK</a:t>
            </a:r>
            <a:r>
              <a:rPr lang="zh-CN" altLang="en-US" sz="1800" dirty="0">
                <a:solidFill>
                  <a:srgbClr val="0070C0"/>
                </a:solidFill>
              </a:rPr>
              <a:t>控制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 marL="1078230" indent="-1078230"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小数乘法不会溢出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取部分乘积位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baseline="-18000" dirty="0">
              <a:solidFill>
                <a:schemeClr val="tx1"/>
              </a:solidFill>
            </a:endParaRPr>
          </a:p>
        </p:txBody>
      </p:sp>
      <p:sp>
        <p:nvSpPr>
          <p:cNvPr id="13" name="AutoShape 62">
            <a:hlinkClick r:id="rId4" action="ppaction://hlinksldjump"/>
            <a:extLst>
              <a:ext uri="{FF2B5EF4-FFF2-40B4-BE49-F238E27FC236}">
                <a16:creationId xmlns:a16="http://schemas.microsoft.com/office/drawing/2014/main" id="{C3741E1E-50C3-456A-9EFA-108450FDE4A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14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A141EC2-0543-4E15-A308-2264C4527F44}"/>
              </a:ext>
            </a:extLst>
          </p:cNvPr>
          <p:cNvGrpSpPr/>
          <p:nvPr/>
        </p:nvGrpSpPr>
        <p:grpSpPr>
          <a:xfrm>
            <a:off x="5076056" y="3429000"/>
            <a:ext cx="3745829" cy="756000"/>
            <a:chOff x="970171" y="3456000"/>
            <a:chExt cx="3745829" cy="756000"/>
          </a:xfrm>
        </p:grpSpPr>
        <p:sp>
          <p:nvSpPr>
            <p:cNvPr id="46" name="Text Box 235">
              <a:extLst>
                <a:ext uri="{FF2B5EF4-FFF2-40B4-BE49-F238E27FC236}">
                  <a16:creationId xmlns:a16="http://schemas.microsoft.com/office/drawing/2014/main" id="{6590A469-4228-4734-99F1-B7DB2095D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032" y="3780000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RegP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600" baseline="-180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7" name="Text Box 235">
              <a:extLst>
                <a:ext uri="{FF2B5EF4-FFF2-40B4-BE49-F238E27FC236}">
                  <a16:creationId xmlns:a16="http://schemas.microsoft.com/office/drawing/2014/main" id="{8F018BE6-C44D-4E22-BCB0-4ABACE387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00" y="3780000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RegB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1600" baseline="-180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8" name="Text Box 235">
              <a:extLst>
                <a:ext uri="{FF2B5EF4-FFF2-40B4-BE49-F238E27FC236}">
                  <a16:creationId xmlns:a16="http://schemas.microsoft.com/office/drawing/2014/main" id="{AAEFB499-1529-4450-91B1-98E4BB71D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7744" y="3780000"/>
              <a:ext cx="28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49" name="Line 236">
              <a:extLst>
                <a:ext uri="{FF2B5EF4-FFF2-40B4-BE49-F238E27FC236}">
                  <a16:creationId xmlns:a16="http://schemas.microsoft.com/office/drawing/2014/main" id="{1332E47D-9C0A-4A2F-A48F-621B89985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032" y="3888000"/>
              <a:ext cx="1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0" name="直接箭头连接符 61">
              <a:extLst>
                <a:ext uri="{FF2B5EF4-FFF2-40B4-BE49-F238E27FC236}">
                  <a16:creationId xmlns:a16="http://schemas.microsoft.com/office/drawing/2014/main" id="{C42BBD09-1D7F-4567-8767-775E992780A3}"/>
                </a:ext>
              </a:extLst>
            </p:cNvPr>
            <p:cNvCxnSpPr/>
            <p:nvPr/>
          </p:nvCxnSpPr>
          <p:spPr bwMode="auto">
            <a:xfrm>
              <a:off x="2664032" y="3600000"/>
              <a:ext cx="0" cy="288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1" name="Line 236">
              <a:extLst>
                <a:ext uri="{FF2B5EF4-FFF2-40B4-BE49-F238E27FC236}">
                  <a16:creationId xmlns:a16="http://schemas.microsoft.com/office/drawing/2014/main" id="{FEEA9216-9AED-4DDB-87FB-66CB2056C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864" y="3600000"/>
              <a:ext cx="0" cy="180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36">
              <a:extLst>
                <a:ext uri="{FF2B5EF4-FFF2-40B4-BE49-F238E27FC236}">
                  <a16:creationId xmlns:a16="http://schemas.microsoft.com/office/drawing/2014/main" id="{4F785E26-1669-4097-BAC3-6C869B9DF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8168" y="4032000"/>
              <a:ext cx="0" cy="180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36">
              <a:extLst>
                <a:ext uri="{FF2B5EF4-FFF2-40B4-BE49-F238E27FC236}">
                  <a16:creationId xmlns:a16="http://schemas.microsoft.com/office/drawing/2014/main" id="{A4FCA103-25ED-442D-88EA-0BFBD7D29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000" y="3600000"/>
              <a:ext cx="0" cy="180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36">
              <a:extLst>
                <a:ext uri="{FF2B5EF4-FFF2-40B4-BE49-F238E27FC236}">
                  <a16:creationId xmlns:a16="http://schemas.microsoft.com/office/drawing/2014/main" id="{7E3B7B4F-828A-4C4E-B0CC-77561C4AE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3968" y="4032000"/>
              <a:ext cx="0" cy="180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36">
              <a:extLst>
                <a:ext uri="{FF2B5EF4-FFF2-40B4-BE49-F238E27FC236}">
                  <a16:creationId xmlns:a16="http://schemas.microsoft.com/office/drawing/2014/main" id="{1028D0B2-7D1C-4D82-B9F1-8BF60739E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176" y="4032000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236">
              <a:extLst>
                <a:ext uri="{FF2B5EF4-FFF2-40B4-BE49-F238E27FC236}">
                  <a16:creationId xmlns:a16="http://schemas.microsoft.com/office/drawing/2014/main" id="{D33E22C3-E831-4278-B608-8FD3FBD9D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176" y="3600000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235">
              <a:extLst>
                <a:ext uri="{FF2B5EF4-FFF2-40B4-BE49-F238E27FC236}">
                  <a16:creationId xmlns:a16="http://schemas.microsoft.com/office/drawing/2014/main" id="{25A2FCF4-3DD9-46BA-B0C6-C449ED18E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728" y="3528000"/>
              <a:ext cx="252000" cy="43200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=1</a:t>
              </a:r>
              <a:endParaRPr lang="en-US" altLang="zh-CN" sz="14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58" name="Line 236">
              <a:extLst>
                <a:ext uri="{FF2B5EF4-FFF2-40B4-BE49-F238E27FC236}">
                  <a16:creationId xmlns:a16="http://schemas.microsoft.com/office/drawing/2014/main" id="{A710C7C6-2512-4640-BEE2-8DD7A2964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728" y="3600000"/>
              <a:ext cx="2160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235">
              <a:extLst>
                <a:ext uri="{FF2B5EF4-FFF2-40B4-BE49-F238E27FC236}">
                  <a16:creationId xmlns:a16="http://schemas.microsoft.com/office/drawing/2014/main" id="{A190D06A-90C5-46ED-AB8C-17E09FACB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0171" y="3780000"/>
              <a:ext cx="68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RegB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n-1</a:t>
              </a:r>
            </a:p>
          </p:txBody>
        </p:sp>
        <p:sp>
          <p:nvSpPr>
            <p:cNvPr id="60" name="Text Box 235">
              <a:extLst>
                <a:ext uri="{FF2B5EF4-FFF2-40B4-BE49-F238E27FC236}">
                  <a16:creationId xmlns:a16="http://schemas.microsoft.com/office/drawing/2014/main" id="{DAFDCBD0-F56C-498E-80B8-DA484797A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0494" y="3456000"/>
              <a:ext cx="684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RegA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n-1</a:t>
              </a:r>
            </a:p>
          </p:txBody>
        </p:sp>
        <p:sp>
          <p:nvSpPr>
            <p:cNvPr id="61" name="Line 236">
              <a:extLst>
                <a:ext uri="{FF2B5EF4-FFF2-40B4-BE49-F238E27FC236}">
                  <a16:creationId xmlns:a16="http://schemas.microsoft.com/office/drawing/2014/main" id="{BC838BA1-D3F5-4F3B-852C-3028D29DC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728" y="3888000"/>
              <a:ext cx="2160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A48CB99B-F002-4211-BA1B-A9F9BECE4C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24000" y="3600000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Box 68"/>
          <p:cNvSpPr txBox="1">
            <a:spLocks noChangeArrowheads="1"/>
          </p:cNvSpPr>
          <p:nvPr/>
        </p:nvSpPr>
        <p:spPr bwMode="auto">
          <a:xfrm>
            <a:off x="179512" y="332656"/>
            <a:ext cx="6336325" cy="46905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4</a:t>
            </a:r>
            <a:r>
              <a:rPr lang="zh-CN" altLang="en-US" dirty="0">
                <a:solidFill>
                  <a:srgbClr val="FF3399"/>
                </a:solidFill>
              </a:rPr>
              <a:t>、阵列乘法器  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快速乘法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阵列乘法器组成：</a:t>
            </a:r>
            <a:r>
              <a:rPr lang="zh-CN" altLang="en-US" sz="2200" u="sng" dirty="0">
                <a:solidFill>
                  <a:schemeClr val="tx1"/>
                </a:solidFill>
              </a:rPr>
              <a:t>组合逻辑</a:t>
            </a:r>
            <a:r>
              <a:rPr lang="zh-CN" altLang="en-US" sz="2200" dirty="0">
                <a:solidFill>
                  <a:schemeClr val="tx1"/>
                </a:solidFill>
              </a:rPr>
              <a:t>电路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rgbClr val="990099"/>
                </a:solidFill>
              </a:rPr>
              <a:t>无需</a:t>
            </a:r>
            <a:r>
              <a:rPr lang="zh-CN" altLang="en-US" sz="1800" dirty="0">
                <a:solidFill>
                  <a:schemeClr val="tx1"/>
                </a:solidFill>
              </a:rPr>
              <a:t>循环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accent2"/>
                </a:solidFill>
              </a:rPr>
              <a:t>    位乘元件组成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r>
              <a:rPr lang="zh-CN" altLang="en-US" sz="2200" dirty="0">
                <a:solidFill>
                  <a:schemeClr val="accent2"/>
                </a:solidFill>
              </a:rPr>
              <a:t>    运算时延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阵列乘法器功能：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62</a:t>
            </a:fld>
            <a:endParaRPr lang="en-US" altLang="zh-CN"/>
          </a:p>
        </p:txBody>
      </p:sp>
      <p:sp>
        <p:nvSpPr>
          <p:cNvPr id="144" name="Text Box 66"/>
          <p:cNvSpPr txBox="1">
            <a:spLocks noChangeArrowheads="1"/>
          </p:cNvSpPr>
          <p:nvPr/>
        </p:nvSpPr>
        <p:spPr bwMode="auto">
          <a:xfrm>
            <a:off x="2195736" y="3645024"/>
            <a:ext cx="5040576" cy="8956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</a:rPr>
              <a:t>    P</a:t>
            </a:r>
            <a:r>
              <a:rPr lang="en-US" altLang="zh-CN" sz="2200" baseline="-16000" dirty="0">
                <a:solidFill>
                  <a:schemeClr val="tx1"/>
                </a:solidFill>
              </a:rPr>
              <a:t>i+1,j</a:t>
            </a:r>
            <a:r>
              <a:rPr lang="en-US" altLang="zh-CN" sz="2200" dirty="0">
                <a:solidFill>
                  <a:schemeClr val="tx1"/>
                </a:solidFill>
              </a:rPr>
              <a:t>=(P</a:t>
            </a:r>
            <a:r>
              <a:rPr lang="en-US" altLang="zh-CN" sz="2200" baseline="-16000" dirty="0">
                <a:solidFill>
                  <a:schemeClr val="tx1"/>
                </a:solidFill>
              </a:rPr>
              <a:t>i,j+1</a:t>
            </a:r>
            <a:r>
              <a:rPr lang="zh-CN" altLang="en-US" sz="2200" dirty="0">
                <a:solidFill>
                  <a:srgbClr val="990099"/>
                </a:solidFill>
              </a:rPr>
              <a:t>＋</a:t>
            </a:r>
            <a:r>
              <a:rPr lang="en-US" altLang="zh-CN" sz="2200" dirty="0" err="1">
                <a:solidFill>
                  <a:schemeClr val="tx1"/>
                </a:solidFill>
              </a:rPr>
              <a:t>a</a:t>
            </a:r>
            <a:r>
              <a:rPr lang="en-US" altLang="zh-CN" sz="2200" baseline="-16000" dirty="0" err="1">
                <a:solidFill>
                  <a:schemeClr val="tx1"/>
                </a:solidFill>
              </a:rPr>
              <a:t>i</a:t>
            </a:r>
            <a:r>
              <a:rPr lang="en-US" altLang="zh-CN" sz="2200" dirty="0" err="1">
                <a:solidFill>
                  <a:schemeClr val="tx1"/>
                </a:solidFill>
              </a:rPr>
              <a:t>×b</a:t>
            </a:r>
            <a:r>
              <a:rPr lang="en-US" altLang="zh-CN" sz="2200" baseline="-16000" dirty="0" err="1">
                <a:solidFill>
                  <a:schemeClr val="tx1"/>
                </a:solidFill>
              </a:rPr>
              <a:t>j</a:t>
            </a:r>
            <a:r>
              <a:rPr lang="zh-CN" altLang="en-US" sz="2200" dirty="0">
                <a:solidFill>
                  <a:srgbClr val="990099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C</a:t>
            </a:r>
            <a:r>
              <a:rPr lang="en-US" altLang="zh-CN" sz="2200" baseline="-25000" dirty="0">
                <a:solidFill>
                  <a:schemeClr val="tx1"/>
                </a:solidFill>
              </a:rPr>
              <a:t>i,j-1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sz="2200" dirty="0">
                <a:solidFill>
                  <a:schemeClr val="tx1"/>
                </a:solidFill>
              </a:rPr>
              <a:t>T</a:t>
            </a:r>
            <a:r>
              <a:rPr lang="zh-CN" altLang="en-US" sz="2200" baseline="-18000" dirty="0">
                <a:solidFill>
                  <a:schemeClr val="tx1"/>
                </a:solidFill>
              </a:rPr>
              <a:t>阵列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n</a:t>
            </a:r>
            <a:r>
              <a:rPr lang="en-US" altLang="zh-CN" sz="2200" dirty="0" err="1">
                <a:solidFill>
                  <a:schemeClr val="tx1"/>
                </a:solidFill>
                <a:latin typeface="+mn-lt"/>
              </a:rPr>
              <a:t>·</a:t>
            </a:r>
            <a:r>
              <a:rPr lang="en-US" altLang="zh-CN" sz="2200" dirty="0" err="1">
                <a:solidFill>
                  <a:schemeClr val="tx1"/>
                </a:solidFill>
              </a:rPr>
              <a:t>T</a:t>
            </a:r>
            <a:r>
              <a:rPr lang="zh-CN" altLang="en-US" sz="2200" baseline="-16000" dirty="0">
                <a:solidFill>
                  <a:schemeClr val="tx1"/>
                </a:solidFill>
              </a:rPr>
              <a:t>位乘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  </a:t>
            </a:r>
            <a:r>
              <a:rPr lang="zh-CN" altLang="en-US" sz="2200" dirty="0">
                <a:solidFill>
                  <a:srgbClr val="FF3399"/>
                </a:solidFill>
              </a:rPr>
              <a:t>＜ </a:t>
            </a:r>
            <a:r>
              <a:rPr lang="en-US" altLang="zh-CN" sz="2200" dirty="0">
                <a:solidFill>
                  <a:schemeClr val="tx1"/>
                </a:solidFill>
              </a:rPr>
              <a:t>T</a:t>
            </a:r>
            <a:r>
              <a:rPr lang="zh-CN" altLang="en-US" sz="2200" baseline="-18000" dirty="0">
                <a:solidFill>
                  <a:schemeClr val="tx1"/>
                </a:solidFill>
              </a:rPr>
              <a:t>一位乘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n</a:t>
            </a:r>
            <a:r>
              <a:rPr lang="en-US" altLang="zh-CN" sz="2200" dirty="0" err="1">
                <a:solidFill>
                  <a:schemeClr val="tx1"/>
                </a:solidFill>
                <a:latin typeface="+mn-lt"/>
              </a:rPr>
              <a:t>·</a:t>
            </a:r>
            <a:r>
              <a:rPr lang="en-US" altLang="zh-CN" sz="2200" dirty="0" err="1">
                <a:solidFill>
                  <a:schemeClr val="tx1"/>
                </a:solidFill>
              </a:rPr>
              <a:t>T</a:t>
            </a:r>
            <a:r>
              <a:rPr lang="en-US" altLang="zh-CN" sz="2200" baseline="-16000" dirty="0" err="1">
                <a:solidFill>
                  <a:schemeClr val="tx1"/>
                </a:solidFill>
              </a:rPr>
              <a:t>CLK</a:t>
            </a:r>
            <a:endParaRPr lang="en-US" altLang="zh-CN" sz="2200" b="0" dirty="0">
              <a:solidFill>
                <a:schemeClr val="tx1"/>
              </a:solidFill>
            </a:endParaRPr>
          </a:p>
        </p:txBody>
      </p:sp>
      <p:sp>
        <p:nvSpPr>
          <p:cNvPr id="152" name="Text Box 187"/>
          <p:cNvSpPr txBox="1">
            <a:spLocks noChangeArrowheads="1"/>
          </p:cNvSpPr>
          <p:nvPr/>
        </p:nvSpPr>
        <p:spPr bwMode="auto">
          <a:xfrm>
            <a:off x="683568" y="5013176"/>
            <a:ext cx="5458403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无符号乘法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u="sng" dirty="0">
                <a:solidFill>
                  <a:srgbClr val="990099"/>
                </a:solidFill>
              </a:rPr>
              <a:t>其他乘法</a:t>
            </a:r>
            <a:r>
              <a:rPr lang="zh-CN" altLang="en-US" sz="1800" u="sng" dirty="0">
                <a:solidFill>
                  <a:schemeClr val="tx1"/>
                </a:solidFill>
              </a:rPr>
              <a:t>需增加</a:t>
            </a:r>
            <a:r>
              <a:rPr lang="zh-CN" altLang="en-US" sz="1800" dirty="0">
                <a:solidFill>
                  <a:schemeClr val="tx1"/>
                </a:solidFill>
              </a:rPr>
              <a:t>辅助电路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65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266" name="组合 265"/>
          <p:cNvGrpSpPr/>
          <p:nvPr/>
        </p:nvGrpSpPr>
        <p:grpSpPr>
          <a:xfrm>
            <a:off x="1260109" y="1157424"/>
            <a:ext cx="5399501" cy="2487600"/>
            <a:chOff x="2699917" y="1123208"/>
            <a:chExt cx="5399501" cy="2487600"/>
          </a:xfrm>
        </p:grpSpPr>
        <p:sp>
          <p:nvSpPr>
            <p:cNvPr id="273" name="Rectangle 70"/>
            <p:cNvSpPr>
              <a:spLocks noChangeArrowheads="1"/>
            </p:cNvSpPr>
            <p:nvPr/>
          </p:nvSpPr>
          <p:spPr bwMode="auto">
            <a:xfrm>
              <a:off x="2700352" y="1412778"/>
              <a:ext cx="5040000" cy="194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2000" dirty="0">
                  <a:solidFill>
                    <a:schemeClr val="tx1"/>
                  </a:solidFill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</a:rPr>
                <a:t>阵列乘法器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dirty="0"/>
            </a:p>
          </p:txBody>
        </p:sp>
        <p:sp>
          <p:nvSpPr>
            <p:cNvPr id="274" name="Rectangle 70"/>
            <p:cNvSpPr>
              <a:spLocks noChangeArrowheads="1"/>
            </p:cNvSpPr>
            <p:nvPr/>
          </p:nvSpPr>
          <p:spPr bwMode="auto">
            <a:xfrm>
              <a:off x="7164287" y="1700808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" name="Line 71"/>
            <p:cNvSpPr>
              <a:spLocks noChangeShapeType="1"/>
            </p:cNvSpPr>
            <p:nvPr/>
          </p:nvSpPr>
          <p:spPr bwMode="auto">
            <a:xfrm flipH="1" flipV="1">
              <a:off x="6804248" y="1772816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72"/>
            <p:cNvSpPr>
              <a:spLocks noChangeShapeType="1"/>
            </p:cNvSpPr>
            <p:nvPr/>
          </p:nvSpPr>
          <p:spPr bwMode="auto">
            <a:xfrm flipH="1">
              <a:off x="6804248" y="1844824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Line 75"/>
            <p:cNvSpPr>
              <a:spLocks noChangeShapeType="1"/>
            </p:cNvSpPr>
            <p:nvPr/>
          </p:nvSpPr>
          <p:spPr bwMode="auto">
            <a:xfrm flipH="1">
              <a:off x="7308304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80"/>
            <p:cNvSpPr>
              <a:spLocks noChangeShapeType="1"/>
            </p:cNvSpPr>
            <p:nvPr/>
          </p:nvSpPr>
          <p:spPr bwMode="auto">
            <a:xfrm flipH="1">
              <a:off x="7452320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Text Box 81"/>
            <p:cNvSpPr txBox="1">
              <a:spLocks noChangeArrowheads="1"/>
            </p:cNvSpPr>
            <p:nvPr/>
          </p:nvSpPr>
          <p:spPr bwMode="auto">
            <a:xfrm>
              <a:off x="2699917" y="3394808"/>
              <a:ext cx="482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7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6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5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  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4</a:t>
              </a:r>
              <a:r>
                <a:rPr lang="en-US" altLang="zh-CN" sz="1600" baseline="-240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 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3 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 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2 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 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1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20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280" name="Line 84"/>
            <p:cNvSpPr>
              <a:spLocks noChangeShapeType="1"/>
            </p:cNvSpPr>
            <p:nvPr/>
          </p:nvSpPr>
          <p:spPr bwMode="auto">
            <a:xfrm flipH="1" flipV="1">
              <a:off x="4860032" y="1484784"/>
              <a:ext cx="24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Text Box 174"/>
            <p:cNvSpPr txBox="1">
              <a:spLocks noChangeArrowheads="1"/>
            </p:cNvSpPr>
            <p:nvPr/>
          </p:nvSpPr>
          <p:spPr bwMode="auto">
            <a:xfrm>
              <a:off x="5540743" y="1123208"/>
              <a:ext cx="22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3</a:t>
              </a:r>
              <a:r>
                <a:rPr lang="en-US" altLang="zh-CN" sz="1600" dirty="0">
                  <a:solidFill>
                    <a:schemeClr val="tx1"/>
                  </a:solidFill>
                </a:rPr>
                <a:t>     a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2 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   a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1</a:t>
              </a:r>
              <a:r>
                <a:rPr lang="en-US" altLang="zh-CN" sz="1600" dirty="0">
                  <a:solidFill>
                    <a:schemeClr val="tx1"/>
                  </a:solidFill>
                </a:rPr>
                <a:t>   </a:t>
              </a:r>
              <a:r>
                <a:rPr lang="en-US" altLang="zh-CN" sz="14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2" name="Line 178"/>
            <p:cNvSpPr>
              <a:spLocks noChangeShapeType="1"/>
            </p:cNvSpPr>
            <p:nvPr/>
          </p:nvSpPr>
          <p:spPr bwMode="auto">
            <a:xfrm flipH="1">
              <a:off x="7596336" y="1339208"/>
              <a:ext cx="0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283" name="Text Box 179"/>
            <p:cNvSpPr txBox="1">
              <a:spLocks noChangeArrowheads="1"/>
            </p:cNvSpPr>
            <p:nvPr/>
          </p:nvSpPr>
          <p:spPr bwMode="auto">
            <a:xfrm>
              <a:off x="7812080" y="1611849"/>
              <a:ext cx="287338" cy="162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0</a:t>
              </a:r>
            </a:p>
            <a:p>
              <a:pPr>
                <a:lnSpc>
                  <a:spcPct val="10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1</a:t>
              </a: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2</a:t>
              </a: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60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4" name="Line 82"/>
            <p:cNvSpPr>
              <a:spLocks noChangeShapeType="1"/>
            </p:cNvSpPr>
            <p:nvPr/>
          </p:nvSpPr>
          <p:spPr bwMode="auto">
            <a:xfrm>
              <a:off x="7668344" y="1844824"/>
              <a:ext cx="0" cy="14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Rectangle 70"/>
            <p:cNvSpPr>
              <a:spLocks noChangeArrowheads="1"/>
            </p:cNvSpPr>
            <p:nvPr/>
          </p:nvSpPr>
          <p:spPr bwMode="auto">
            <a:xfrm>
              <a:off x="6516909" y="1700832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" name="Line 71"/>
            <p:cNvSpPr>
              <a:spLocks noChangeShapeType="1"/>
            </p:cNvSpPr>
            <p:nvPr/>
          </p:nvSpPr>
          <p:spPr bwMode="auto">
            <a:xfrm flipH="1" flipV="1">
              <a:off x="6156870" y="1772816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72"/>
            <p:cNvSpPr>
              <a:spLocks noChangeShapeType="1"/>
            </p:cNvSpPr>
            <p:nvPr/>
          </p:nvSpPr>
          <p:spPr bwMode="auto">
            <a:xfrm flipH="1">
              <a:off x="6156870" y="1844824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75"/>
            <p:cNvSpPr>
              <a:spLocks noChangeShapeType="1"/>
            </p:cNvSpPr>
            <p:nvPr/>
          </p:nvSpPr>
          <p:spPr bwMode="auto">
            <a:xfrm flipH="1">
              <a:off x="6660232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Rectangle 70"/>
            <p:cNvSpPr>
              <a:spLocks noChangeArrowheads="1"/>
            </p:cNvSpPr>
            <p:nvPr/>
          </p:nvSpPr>
          <p:spPr bwMode="auto">
            <a:xfrm>
              <a:off x="5868176" y="1700832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0" name="Line 71"/>
            <p:cNvSpPr>
              <a:spLocks noChangeShapeType="1"/>
            </p:cNvSpPr>
            <p:nvPr/>
          </p:nvSpPr>
          <p:spPr bwMode="auto">
            <a:xfrm flipH="1" flipV="1">
              <a:off x="5503740" y="1772816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72"/>
            <p:cNvSpPr>
              <a:spLocks noChangeShapeType="1"/>
            </p:cNvSpPr>
            <p:nvPr/>
          </p:nvSpPr>
          <p:spPr bwMode="auto">
            <a:xfrm flipH="1">
              <a:off x="5503740" y="1844824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75"/>
            <p:cNvSpPr>
              <a:spLocks noChangeShapeType="1"/>
            </p:cNvSpPr>
            <p:nvPr/>
          </p:nvSpPr>
          <p:spPr bwMode="auto">
            <a:xfrm flipH="1">
              <a:off x="6012160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Rectangle 70"/>
            <p:cNvSpPr>
              <a:spLocks noChangeArrowheads="1"/>
            </p:cNvSpPr>
            <p:nvPr/>
          </p:nvSpPr>
          <p:spPr bwMode="auto">
            <a:xfrm>
              <a:off x="5220104" y="1700832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Line 72"/>
            <p:cNvSpPr>
              <a:spLocks noChangeShapeType="1"/>
            </p:cNvSpPr>
            <p:nvPr/>
          </p:nvSpPr>
          <p:spPr bwMode="auto">
            <a:xfrm flipH="1">
              <a:off x="4716072" y="1844824"/>
              <a:ext cx="504000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75"/>
            <p:cNvSpPr>
              <a:spLocks noChangeShapeType="1"/>
            </p:cNvSpPr>
            <p:nvPr/>
          </p:nvSpPr>
          <p:spPr bwMode="auto">
            <a:xfrm flipH="1">
              <a:off x="5364088" y="1484784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Rectangle 70"/>
            <p:cNvSpPr>
              <a:spLocks noChangeArrowheads="1"/>
            </p:cNvSpPr>
            <p:nvPr/>
          </p:nvSpPr>
          <p:spPr bwMode="auto">
            <a:xfrm>
              <a:off x="6516909" y="2132856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" name="Line 71"/>
            <p:cNvSpPr>
              <a:spLocks noChangeShapeType="1"/>
            </p:cNvSpPr>
            <p:nvPr/>
          </p:nvSpPr>
          <p:spPr bwMode="auto">
            <a:xfrm flipH="1" flipV="1">
              <a:off x="6156870" y="2204864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72"/>
            <p:cNvSpPr>
              <a:spLocks noChangeShapeType="1"/>
            </p:cNvSpPr>
            <p:nvPr/>
          </p:nvSpPr>
          <p:spPr bwMode="auto">
            <a:xfrm flipH="1">
              <a:off x="6156870" y="2276872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75"/>
            <p:cNvSpPr>
              <a:spLocks noChangeShapeType="1"/>
            </p:cNvSpPr>
            <p:nvPr/>
          </p:nvSpPr>
          <p:spPr bwMode="auto">
            <a:xfrm flipH="1">
              <a:off x="6660232" y="191683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Rectangle 70"/>
            <p:cNvSpPr>
              <a:spLocks noChangeArrowheads="1"/>
            </p:cNvSpPr>
            <p:nvPr/>
          </p:nvSpPr>
          <p:spPr bwMode="auto">
            <a:xfrm>
              <a:off x="5868176" y="2132856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" name="Line 71"/>
            <p:cNvSpPr>
              <a:spLocks noChangeShapeType="1"/>
            </p:cNvSpPr>
            <p:nvPr/>
          </p:nvSpPr>
          <p:spPr bwMode="auto">
            <a:xfrm flipH="1" flipV="1">
              <a:off x="5503740" y="2204864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72"/>
            <p:cNvSpPr>
              <a:spLocks noChangeShapeType="1"/>
            </p:cNvSpPr>
            <p:nvPr/>
          </p:nvSpPr>
          <p:spPr bwMode="auto">
            <a:xfrm flipH="1">
              <a:off x="5503740" y="2276872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75"/>
            <p:cNvSpPr>
              <a:spLocks noChangeShapeType="1"/>
            </p:cNvSpPr>
            <p:nvPr/>
          </p:nvSpPr>
          <p:spPr bwMode="auto">
            <a:xfrm flipH="1">
              <a:off x="6012160" y="191683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Rectangle 70"/>
            <p:cNvSpPr>
              <a:spLocks noChangeArrowheads="1"/>
            </p:cNvSpPr>
            <p:nvPr/>
          </p:nvSpPr>
          <p:spPr bwMode="auto">
            <a:xfrm>
              <a:off x="5220104" y="2132856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5" name="Line 71"/>
            <p:cNvSpPr>
              <a:spLocks noChangeShapeType="1"/>
            </p:cNvSpPr>
            <p:nvPr/>
          </p:nvSpPr>
          <p:spPr bwMode="auto">
            <a:xfrm flipH="1" flipV="1">
              <a:off x="4860726" y="2204864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72"/>
            <p:cNvSpPr>
              <a:spLocks noChangeShapeType="1"/>
            </p:cNvSpPr>
            <p:nvPr/>
          </p:nvSpPr>
          <p:spPr bwMode="auto">
            <a:xfrm flipH="1">
              <a:off x="4860726" y="2276872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75"/>
            <p:cNvSpPr>
              <a:spLocks noChangeShapeType="1"/>
            </p:cNvSpPr>
            <p:nvPr/>
          </p:nvSpPr>
          <p:spPr bwMode="auto">
            <a:xfrm flipH="1">
              <a:off x="5364088" y="191683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Rectangle 70"/>
            <p:cNvSpPr>
              <a:spLocks noChangeArrowheads="1"/>
            </p:cNvSpPr>
            <p:nvPr/>
          </p:nvSpPr>
          <p:spPr bwMode="auto">
            <a:xfrm>
              <a:off x="4572032" y="2132856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" name="Line 72"/>
            <p:cNvSpPr>
              <a:spLocks noChangeShapeType="1"/>
            </p:cNvSpPr>
            <p:nvPr/>
          </p:nvSpPr>
          <p:spPr bwMode="auto">
            <a:xfrm flipH="1">
              <a:off x="4067944" y="2276872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75"/>
            <p:cNvSpPr>
              <a:spLocks noChangeShapeType="1"/>
            </p:cNvSpPr>
            <p:nvPr/>
          </p:nvSpPr>
          <p:spPr bwMode="auto">
            <a:xfrm flipH="1">
              <a:off x="4716016" y="1844824"/>
              <a:ext cx="0" cy="2880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Rectangle 70"/>
            <p:cNvSpPr>
              <a:spLocks noChangeArrowheads="1"/>
            </p:cNvSpPr>
            <p:nvPr/>
          </p:nvSpPr>
          <p:spPr bwMode="auto">
            <a:xfrm>
              <a:off x="5868176" y="2564904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2" name="Line 71"/>
            <p:cNvSpPr>
              <a:spLocks noChangeShapeType="1"/>
            </p:cNvSpPr>
            <p:nvPr/>
          </p:nvSpPr>
          <p:spPr bwMode="auto">
            <a:xfrm flipH="1" flipV="1">
              <a:off x="5503740" y="2636912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72"/>
            <p:cNvSpPr>
              <a:spLocks noChangeShapeType="1"/>
            </p:cNvSpPr>
            <p:nvPr/>
          </p:nvSpPr>
          <p:spPr bwMode="auto">
            <a:xfrm flipH="1">
              <a:off x="5503740" y="2708920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75"/>
            <p:cNvSpPr>
              <a:spLocks noChangeShapeType="1"/>
            </p:cNvSpPr>
            <p:nvPr/>
          </p:nvSpPr>
          <p:spPr bwMode="auto">
            <a:xfrm flipH="1">
              <a:off x="6012160" y="2348880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Rectangle 70"/>
            <p:cNvSpPr>
              <a:spLocks noChangeArrowheads="1"/>
            </p:cNvSpPr>
            <p:nvPr/>
          </p:nvSpPr>
          <p:spPr bwMode="auto">
            <a:xfrm>
              <a:off x="5220765" y="2567186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" name="Line 71"/>
            <p:cNvSpPr>
              <a:spLocks noChangeShapeType="1"/>
            </p:cNvSpPr>
            <p:nvPr/>
          </p:nvSpPr>
          <p:spPr bwMode="auto">
            <a:xfrm flipH="1" flipV="1">
              <a:off x="4860726" y="2636912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72"/>
            <p:cNvSpPr>
              <a:spLocks noChangeShapeType="1"/>
            </p:cNvSpPr>
            <p:nvPr/>
          </p:nvSpPr>
          <p:spPr bwMode="auto">
            <a:xfrm flipH="1">
              <a:off x="4860726" y="2708920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75"/>
            <p:cNvSpPr>
              <a:spLocks noChangeShapeType="1"/>
            </p:cNvSpPr>
            <p:nvPr/>
          </p:nvSpPr>
          <p:spPr bwMode="auto">
            <a:xfrm flipH="1">
              <a:off x="5364088" y="2348881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Rectangle 70"/>
            <p:cNvSpPr>
              <a:spLocks noChangeArrowheads="1"/>
            </p:cNvSpPr>
            <p:nvPr/>
          </p:nvSpPr>
          <p:spPr bwMode="auto">
            <a:xfrm>
              <a:off x="4572032" y="2567187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0" name="Line 71"/>
            <p:cNvSpPr>
              <a:spLocks noChangeShapeType="1"/>
            </p:cNvSpPr>
            <p:nvPr/>
          </p:nvSpPr>
          <p:spPr bwMode="auto">
            <a:xfrm flipH="1" flipV="1">
              <a:off x="4211993" y="2636913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72"/>
            <p:cNvSpPr>
              <a:spLocks noChangeShapeType="1"/>
            </p:cNvSpPr>
            <p:nvPr/>
          </p:nvSpPr>
          <p:spPr bwMode="auto">
            <a:xfrm flipH="1">
              <a:off x="4207596" y="2708920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75"/>
            <p:cNvSpPr>
              <a:spLocks noChangeShapeType="1"/>
            </p:cNvSpPr>
            <p:nvPr/>
          </p:nvSpPr>
          <p:spPr bwMode="auto">
            <a:xfrm flipH="1">
              <a:off x="4716016" y="2348882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Rectangle 70"/>
            <p:cNvSpPr>
              <a:spLocks noChangeArrowheads="1"/>
            </p:cNvSpPr>
            <p:nvPr/>
          </p:nvSpPr>
          <p:spPr bwMode="auto">
            <a:xfrm>
              <a:off x="3919563" y="2564928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4" name="Line 72"/>
            <p:cNvSpPr>
              <a:spLocks noChangeShapeType="1"/>
            </p:cNvSpPr>
            <p:nvPr/>
          </p:nvSpPr>
          <p:spPr bwMode="auto">
            <a:xfrm flipH="1">
              <a:off x="3415508" y="270892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75"/>
            <p:cNvSpPr>
              <a:spLocks noChangeShapeType="1"/>
            </p:cNvSpPr>
            <p:nvPr/>
          </p:nvSpPr>
          <p:spPr bwMode="auto">
            <a:xfrm flipH="1">
              <a:off x="4067944" y="2276872"/>
              <a:ext cx="0" cy="2880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Rectangle 70"/>
            <p:cNvSpPr>
              <a:spLocks noChangeArrowheads="1"/>
            </p:cNvSpPr>
            <p:nvPr/>
          </p:nvSpPr>
          <p:spPr bwMode="auto">
            <a:xfrm>
              <a:off x="5220765" y="2996976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" name="Line 71"/>
            <p:cNvSpPr>
              <a:spLocks noChangeShapeType="1"/>
            </p:cNvSpPr>
            <p:nvPr/>
          </p:nvSpPr>
          <p:spPr bwMode="auto">
            <a:xfrm flipH="1" flipV="1">
              <a:off x="4860726" y="3068960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72"/>
            <p:cNvSpPr>
              <a:spLocks noChangeShapeType="1"/>
            </p:cNvSpPr>
            <p:nvPr/>
          </p:nvSpPr>
          <p:spPr bwMode="auto">
            <a:xfrm flipH="1">
              <a:off x="4860726" y="3140968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75"/>
            <p:cNvSpPr>
              <a:spLocks noChangeShapeType="1"/>
            </p:cNvSpPr>
            <p:nvPr/>
          </p:nvSpPr>
          <p:spPr bwMode="auto">
            <a:xfrm flipH="1">
              <a:off x="5364088" y="2780930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Rectangle 70"/>
            <p:cNvSpPr>
              <a:spLocks noChangeArrowheads="1"/>
            </p:cNvSpPr>
            <p:nvPr/>
          </p:nvSpPr>
          <p:spPr bwMode="auto">
            <a:xfrm>
              <a:off x="4572032" y="2996976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" name="Line 71"/>
            <p:cNvSpPr>
              <a:spLocks noChangeShapeType="1"/>
            </p:cNvSpPr>
            <p:nvPr/>
          </p:nvSpPr>
          <p:spPr bwMode="auto">
            <a:xfrm flipH="1" flipV="1">
              <a:off x="4211993" y="3068960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72"/>
            <p:cNvSpPr>
              <a:spLocks noChangeShapeType="1"/>
            </p:cNvSpPr>
            <p:nvPr/>
          </p:nvSpPr>
          <p:spPr bwMode="auto">
            <a:xfrm flipH="1">
              <a:off x="4211993" y="3140968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75"/>
            <p:cNvSpPr>
              <a:spLocks noChangeShapeType="1"/>
            </p:cNvSpPr>
            <p:nvPr/>
          </p:nvSpPr>
          <p:spPr bwMode="auto">
            <a:xfrm flipH="1">
              <a:off x="4716016" y="2780929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Rectangle 70"/>
            <p:cNvSpPr>
              <a:spLocks noChangeArrowheads="1"/>
            </p:cNvSpPr>
            <p:nvPr/>
          </p:nvSpPr>
          <p:spPr bwMode="auto">
            <a:xfrm>
              <a:off x="3919563" y="2996952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" name="Line 71"/>
            <p:cNvSpPr>
              <a:spLocks noChangeShapeType="1"/>
            </p:cNvSpPr>
            <p:nvPr/>
          </p:nvSpPr>
          <p:spPr bwMode="auto">
            <a:xfrm flipH="1" flipV="1">
              <a:off x="3559524" y="3068960"/>
              <a:ext cx="3600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72"/>
            <p:cNvSpPr>
              <a:spLocks noChangeShapeType="1"/>
            </p:cNvSpPr>
            <p:nvPr/>
          </p:nvSpPr>
          <p:spPr bwMode="auto">
            <a:xfrm flipH="1">
              <a:off x="3559524" y="3140968"/>
              <a:ext cx="364404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75"/>
            <p:cNvSpPr>
              <a:spLocks noChangeShapeType="1"/>
            </p:cNvSpPr>
            <p:nvPr/>
          </p:nvSpPr>
          <p:spPr bwMode="auto">
            <a:xfrm flipH="1">
              <a:off x="4067944" y="2780928"/>
              <a:ext cx="0" cy="2160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Rectangle 70"/>
            <p:cNvSpPr>
              <a:spLocks noChangeArrowheads="1"/>
            </p:cNvSpPr>
            <p:nvPr/>
          </p:nvSpPr>
          <p:spPr bwMode="auto">
            <a:xfrm>
              <a:off x="3275888" y="2999234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" name="Line 75"/>
            <p:cNvSpPr>
              <a:spLocks noChangeShapeType="1"/>
            </p:cNvSpPr>
            <p:nvPr/>
          </p:nvSpPr>
          <p:spPr bwMode="auto">
            <a:xfrm flipH="1">
              <a:off x="3419872" y="2708921"/>
              <a:ext cx="0" cy="2880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75"/>
            <p:cNvSpPr>
              <a:spLocks noChangeShapeType="1"/>
            </p:cNvSpPr>
            <p:nvPr/>
          </p:nvSpPr>
          <p:spPr bwMode="auto">
            <a:xfrm flipH="1">
              <a:off x="6804248" y="1916832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75"/>
            <p:cNvSpPr>
              <a:spLocks noChangeShapeType="1"/>
            </p:cNvSpPr>
            <p:nvPr/>
          </p:nvSpPr>
          <p:spPr bwMode="auto">
            <a:xfrm flipH="1">
              <a:off x="6156870" y="1916832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75"/>
            <p:cNvSpPr>
              <a:spLocks noChangeShapeType="1"/>
            </p:cNvSpPr>
            <p:nvPr/>
          </p:nvSpPr>
          <p:spPr bwMode="auto">
            <a:xfrm flipH="1">
              <a:off x="5505923" y="1916832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75"/>
            <p:cNvSpPr>
              <a:spLocks noChangeShapeType="1"/>
            </p:cNvSpPr>
            <p:nvPr/>
          </p:nvSpPr>
          <p:spPr bwMode="auto">
            <a:xfrm flipH="1">
              <a:off x="4862909" y="1914549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Line 75"/>
            <p:cNvSpPr>
              <a:spLocks noChangeShapeType="1"/>
            </p:cNvSpPr>
            <p:nvPr/>
          </p:nvSpPr>
          <p:spPr bwMode="auto">
            <a:xfrm flipH="1">
              <a:off x="6156870" y="2349910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75"/>
            <p:cNvSpPr>
              <a:spLocks noChangeShapeType="1"/>
            </p:cNvSpPr>
            <p:nvPr/>
          </p:nvSpPr>
          <p:spPr bwMode="auto">
            <a:xfrm flipH="1">
              <a:off x="5503740" y="2348880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75"/>
            <p:cNvSpPr>
              <a:spLocks noChangeShapeType="1"/>
            </p:cNvSpPr>
            <p:nvPr/>
          </p:nvSpPr>
          <p:spPr bwMode="auto">
            <a:xfrm flipH="1">
              <a:off x="4862909" y="2346597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75"/>
            <p:cNvSpPr>
              <a:spLocks noChangeShapeType="1"/>
            </p:cNvSpPr>
            <p:nvPr/>
          </p:nvSpPr>
          <p:spPr bwMode="auto">
            <a:xfrm flipH="1">
              <a:off x="4211962" y="2348880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75"/>
            <p:cNvSpPr>
              <a:spLocks noChangeShapeType="1"/>
            </p:cNvSpPr>
            <p:nvPr/>
          </p:nvSpPr>
          <p:spPr bwMode="auto">
            <a:xfrm flipH="1">
              <a:off x="5508104" y="2780928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75"/>
            <p:cNvSpPr>
              <a:spLocks noChangeShapeType="1"/>
            </p:cNvSpPr>
            <p:nvPr/>
          </p:nvSpPr>
          <p:spPr bwMode="auto">
            <a:xfrm flipH="1">
              <a:off x="4862909" y="2780511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75"/>
            <p:cNvSpPr>
              <a:spLocks noChangeShapeType="1"/>
            </p:cNvSpPr>
            <p:nvPr/>
          </p:nvSpPr>
          <p:spPr bwMode="auto">
            <a:xfrm flipH="1">
              <a:off x="4216359" y="2778645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75"/>
            <p:cNvSpPr>
              <a:spLocks noChangeShapeType="1"/>
            </p:cNvSpPr>
            <p:nvPr/>
          </p:nvSpPr>
          <p:spPr bwMode="auto">
            <a:xfrm flipH="1">
              <a:off x="3563888" y="2773834"/>
              <a:ext cx="360038" cy="218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75"/>
            <p:cNvSpPr>
              <a:spLocks noChangeShapeType="1"/>
            </p:cNvSpPr>
            <p:nvPr/>
          </p:nvSpPr>
          <p:spPr bwMode="auto">
            <a:xfrm flipH="1">
              <a:off x="5364088" y="3212976"/>
              <a:ext cx="1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75"/>
            <p:cNvSpPr>
              <a:spLocks noChangeShapeType="1"/>
            </p:cNvSpPr>
            <p:nvPr/>
          </p:nvSpPr>
          <p:spPr bwMode="auto">
            <a:xfrm flipH="1">
              <a:off x="4716016" y="3212976"/>
              <a:ext cx="1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75"/>
            <p:cNvSpPr>
              <a:spLocks noChangeShapeType="1"/>
            </p:cNvSpPr>
            <p:nvPr/>
          </p:nvSpPr>
          <p:spPr bwMode="auto">
            <a:xfrm flipH="1">
              <a:off x="4067944" y="3212976"/>
              <a:ext cx="1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75"/>
            <p:cNvSpPr>
              <a:spLocks noChangeShapeType="1"/>
            </p:cNvSpPr>
            <p:nvPr/>
          </p:nvSpPr>
          <p:spPr bwMode="auto">
            <a:xfrm flipH="1">
              <a:off x="3419871" y="3212975"/>
              <a:ext cx="1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71"/>
            <p:cNvSpPr>
              <a:spLocks noChangeShapeType="1"/>
            </p:cNvSpPr>
            <p:nvPr/>
          </p:nvSpPr>
          <p:spPr bwMode="auto">
            <a:xfrm flipH="1" flipV="1">
              <a:off x="7452320" y="1772816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Line 72"/>
            <p:cNvSpPr>
              <a:spLocks noChangeShapeType="1"/>
            </p:cNvSpPr>
            <p:nvPr/>
          </p:nvSpPr>
          <p:spPr bwMode="auto">
            <a:xfrm flipH="1">
              <a:off x="7452320" y="1844824"/>
              <a:ext cx="220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80"/>
            <p:cNvSpPr>
              <a:spLocks noChangeShapeType="1"/>
            </p:cNvSpPr>
            <p:nvPr/>
          </p:nvSpPr>
          <p:spPr bwMode="auto">
            <a:xfrm flipH="1">
              <a:off x="6807290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Line 178"/>
            <p:cNvSpPr>
              <a:spLocks noChangeShapeType="1"/>
            </p:cNvSpPr>
            <p:nvPr/>
          </p:nvSpPr>
          <p:spPr bwMode="auto">
            <a:xfrm>
              <a:off x="6948264" y="1339208"/>
              <a:ext cx="1377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0" name="Line 80"/>
            <p:cNvSpPr>
              <a:spLocks noChangeShapeType="1"/>
            </p:cNvSpPr>
            <p:nvPr/>
          </p:nvSpPr>
          <p:spPr bwMode="auto">
            <a:xfrm flipH="1">
              <a:off x="6155406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178"/>
            <p:cNvSpPr>
              <a:spLocks noChangeShapeType="1"/>
            </p:cNvSpPr>
            <p:nvPr/>
          </p:nvSpPr>
          <p:spPr bwMode="auto">
            <a:xfrm>
              <a:off x="6296380" y="1339208"/>
              <a:ext cx="0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2" name="Line 80"/>
            <p:cNvSpPr>
              <a:spLocks noChangeShapeType="1"/>
            </p:cNvSpPr>
            <p:nvPr/>
          </p:nvSpPr>
          <p:spPr bwMode="auto">
            <a:xfrm flipH="1">
              <a:off x="5502276" y="1628808"/>
              <a:ext cx="14548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178"/>
            <p:cNvSpPr>
              <a:spLocks noChangeShapeType="1"/>
            </p:cNvSpPr>
            <p:nvPr/>
          </p:nvSpPr>
          <p:spPr bwMode="auto">
            <a:xfrm>
              <a:off x="5647756" y="1339208"/>
              <a:ext cx="0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4" name="Text Box 78"/>
            <p:cNvSpPr txBox="1">
              <a:spLocks noChangeArrowheads="1"/>
            </p:cNvSpPr>
            <p:nvPr/>
          </p:nvSpPr>
          <p:spPr bwMode="auto">
            <a:xfrm>
              <a:off x="4788040" y="1592816"/>
              <a:ext cx="144000" cy="1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5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5" name="Line 71"/>
            <p:cNvSpPr>
              <a:spLocks noChangeShapeType="1"/>
            </p:cNvSpPr>
            <p:nvPr/>
          </p:nvSpPr>
          <p:spPr bwMode="auto">
            <a:xfrm flipH="1">
              <a:off x="6804248" y="2204864"/>
              <a:ext cx="10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72"/>
            <p:cNvSpPr>
              <a:spLocks noChangeShapeType="1"/>
            </p:cNvSpPr>
            <p:nvPr/>
          </p:nvSpPr>
          <p:spPr bwMode="auto">
            <a:xfrm flipH="1">
              <a:off x="6804248" y="2276872"/>
              <a:ext cx="86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71"/>
            <p:cNvSpPr>
              <a:spLocks noChangeShapeType="1"/>
            </p:cNvSpPr>
            <p:nvPr/>
          </p:nvSpPr>
          <p:spPr bwMode="auto">
            <a:xfrm flipH="1">
              <a:off x="6156870" y="2636911"/>
              <a:ext cx="165600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72"/>
            <p:cNvSpPr>
              <a:spLocks noChangeShapeType="1"/>
            </p:cNvSpPr>
            <p:nvPr/>
          </p:nvSpPr>
          <p:spPr bwMode="auto">
            <a:xfrm flipH="1">
              <a:off x="6156870" y="2708920"/>
              <a:ext cx="1512000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71"/>
            <p:cNvSpPr>
              <a:spLocks noChangeShapeType="1"/>
            </p:cNvSpPr>
            <p:nvPr/>
          </p:nvSpPr>
          <p:spPr bwMode="auto">
            <a:xfrm flipH="1">
              <a:off x="5508104" y="3068960"/>
              <a:ext cx="23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72"/>
            <p:cNvSpPr>
              <a:spLocks noChangeShapeType="1"/>
            </p:cNvSpPr>
            <p:nvPr/>
          </p:nvSpPr>
          <p:spPr bwMode="auto">
            <a:xfrm flipH="1">
              <a:off x="5508104" y="3140968"/>
              <a:ext cx="21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Text Box 78"/>
            <p:cNvSpPr txBox="1">
              <a:spLocks noChangeArrowheads="1"/>
            </p:cNvSpPr>
            <p:nvPr/>
          </p:nvSpPr>
          <p:spPr bwMode="auto">
            <a:xfrm>
              <a:off x="7380312" y="3140968"/>
              <a:ext cx="144000" cy="180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5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72" name="Line 72"/>
            <p:cNvSpPr>
              <a:spLocks noChangeShapeType="1"/>
            </p:cNvSpPr>
            <p:nvPr/>
          </p:nvSpPr>
          <p:spPr bwMode="auto">
            <a:xfrm flipH="1">
              <a:off x="2771800" y="3140968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75"/>
            <p:cNvSpPr>
              <a:spLocks noChangeShapeType="1"/>
            </p:cNvSpPr>
            <p:nvPr/>
          </p:nvSpPr>
          <p:spPr bwMode="auto">
            <a:xfrm flipH="1">
              <a:off x="2771800" y="3140968"/>
              <a:ext cx="0" cy="3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75"/>
            <p:cNvSpPr>
              <a:spLocks noChangeShapeType="1"/>
            </p:cNvSpPr>
            <p:nvPr/>
          </p:nvSpPr>
          <p:spPr bwMode="auto">
            <a:xfrm flipH="1">
              <a:off x="3166893" y="3212977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75"/>
            <p:cNvSpPr>
              <a:spLocks noChangeShapeType="1"/>
            </p:cNvSpPr>
            <p:nvPr/>
          </p:nvSpPr>
          <p:spPr bwMode="auto">
            <a:xfrm flipH="1">
              <a:off x="3810601" y="3212975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75"/>
            <p:cNvSpPr>
              <a:spLocks noChangeShapeType="1"/>
            </p:cNvSpPr>
            <p:nvPr/>
          </p:nvSpPr>
          <p:spPr bwMode="auto">
            <a:xfrm flipH="1">
              <a:off x="4467433" y="3212976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75"/>
            <p:cNvSpPr>
              <a:spLocks noChangeShapeType="1"/>
            </p:cNvSpPr>
            <p:nvPr/>
          </p:nvSpPr>
          <p:spPr bwMode="auto">
            <a:xfrm flipH="1">
              <a:off x="5111803" y="3212976"/>
              <a:ext cx="108963" cy="720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72"/>
            <p:cNvSpPr>
              <a:spLocks noChangeShapeType="1"/>
            </p:cNvSpPr>
            <p:nvPr/>
          </p:nvSpPr>
          <p:spPr bwMode="auto">
            <a:xfrm flipH="1">
              <a:off x="7524328" y="3248816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75"/>
            <p:cNvSpPr>
              <a:spLocks noChangeShapeType="1"/>
            </p:cNvSpPr>
            <p:nvPr/>
          </p:nvSpPr>
          <p:spPr bwMode="auto">
            <a:xfrm flipH="1">
              <a:off x="6012160" y="2780928"/>
              <a:ext cx="1" cy="68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75"/>
            <p:cNvSpPr>
              <a:spLocks noChangeShapeType="1"/>
            </p:cNvSpPr>
            <p:nvPr/>
          </p:nvSpPr>
          <p:spPr bwMode="auto">
            <a:xfrm flipH="1">
              <a:off x="6660232" y="2347463"/>
              <a:ext cx="0" cy="11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75"/>
            <p:cNvSpPr>
              <a:spLocks noChangeShapeType="1"/>
            </p:cNvSpPr>
            <p:nvPr/>
          </p:nvSpPr>
          <p:spPr bwMode="auto">
            <a:xfrm flipH="1">
              <a:off x="7308304" y="1916832"/>
              <a:ext cx="1" cy="154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178"/>
            <p:cNvSpPr>
              <a:spLocks noChangeShapeType="1"/>
            </p:cNvSpPr>
            <p:nvPr/>
          </p:nvSpPr>
          <p:spPr bwMode="auto">
            <a:xfrm>
              <a:off x="4860032" y="1484784"/>
              <a:ext cx="0" cy="1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83" name="组合 382"/>
          <p:cNvGrpSpPr/>
          <p:nvPr/>
        </p:nvGrpSpPr>
        <p:grpSpPr>
          <a:xfrm>
            <a:off x="6516364" y="3582312"/>
            <a:ext cx="2520132" cy="1718896"/>
            <a:chOff x="6156076" y="4437112"/>
            <a:chExt cx="2520132" cy="1718896"/>
          </a:xfrm>
        </p:grpSpPr>
        <p:sp>
          <p:nvSpPr>
            <p:cNvPr id="384" name="Rectangle 14"/>
            <p:cNvSpPr>
              <a:spLocks noChangeArrowheads="1"/>
            </p:cNvSpPr>
            <p:nvPr/>
          </p:nvSpPr>
          <p:spPr bwMode="auto">
            <a:xfrm>
              <a:off x="6732240" y="4796184"/>
              <a:ext cx="1224000" cy="93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5" name="Line 16"/>
            <p:cNvSpPr>
              <a:spLocks noChangeShapeType="1"/>
            </p:cNvSpPr>
            <p:nvPr/>
          </p:nvSpPr>
          <p:spPr bwMode="auto">
            <a:xfrm flipH="1">
              <a:off x="6588224" y="5660927"/>
              <a:ext cx="28800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Text Box 27"/>
            <p:cNvSpPr txBox="1">
              <a:spLocks noChangeArrowheads="1"/>
            </p:cNvSpPr>
            <p:nvPr/>
          </p:nvSpPr>
          <p:spPr bwMode="auto">
            <a:xfrm>
              <a:off x="8100392" y="4437112"/>
              <a:ext cx="28733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a</a:t>
              </a:r>
              <a:r>
                <a:rPr lang="en-US" altLang="zh-CN" sz="1800" baseline="-16000" dirty="0" err="1">
                  <a:solidFill>
                    <a:schemeClr val="tx1"/>
                  </a:solidFill>
                </a:rPr>
                <a:t>i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87" name="Text Box 28"/>
            <p:cNvSpPr txBox="1">
              <a:spLocks noChangeArrowheads="1"/>
            </p:cNvSpPr>
            <p:nvPr/>
          </p:nvSpPr>
          <p:spPr bwMode="auto">
            <a:xfrm>
              <a:off x="6299870" y="5661248"/>
              <a:ext cx="360362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a</a:t>
              </a:r>
              <a:r>
                <a:rPr lang="en-US" altLang="zh-CN" sz="1800" baseline="-16000" dirty="0" err="1">
                  <a:solidFill>
                    <a:schemeClr val="tx1"/>
                  </a:solidFill>
                </a:rPr>
                <a:t>i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88" name="Text Box 30"/>
            <p:cNvSpPr txBox="1">
              <a:spLocks noChangeArrowheads="1"/>
            </p:cNvSpPr>
            <p:nvPr/>
          </p:nvSpPr>
          <p:spPr bwMode="auto">
            <a:xfrm>
              <a:off x="6300887" y="4869184"/>
              <a:ext cx="28733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b</a:t>
              </a:r>
              <a:r>
                <a:rPr lang="en-US" altLang="zh-CN" sz="1800" baseline="-18000" dirty="0" err="1">
                  <a:solidFill>
                    <a:schemeClr val="tx1"/>
                  </a:solidFill>
                </a:rPr>
                <a:t>j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389" name="Text Box 32"/>
            <p:cNvSpPr txBox="1">
              <a:spLocks noChangeArrowheads="1"/>
            </p:cNvSpPr>
            <p:nvPr/>
          </p:nvSpPr>
          <p:spPr bwMode="auto">
            <a:xfrm>
              <a:off x="6156076" y="5373216"/>
              <a:ext cx="43214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6000" dirty="0" err="1">
                  <a:solidFill>
                    <a:schemeClr val="tx1"/>
                  </a:solidFill>
                </a:rPr>
                <a:t>i,j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390" name="Text Box 33"/>
            <p:cNvSpPr txBox="1">
              <a:spLocks noChangeArrowheads="1"/>
            </p:cNvSpPr>
            <p:nvPr/>
          </p:nvSpPr>
          <p:spPr bwMode="auto">
            <a:xfrm>
              <a:off x="6588224" y="4437136"/>
              <a:ext cx="129698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部分积</a:t>
              </a:r>
              <a:r>
                <a:rPr lang="en-US" altLang="zh-CN" sz="1800" dirty="0">
                  <a:solidFill>
                    <a:schemeClr val="tx1"/>
                  </a:solidFill>
                </a:rPr>
                <a:t>P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i,j+1</a:t>
              </a:r>
            </a:p>
          </p:txBody>
        </p:sp>
        <p:sp>
          <p:nvSpPr>
            <p:cNvPr id="391" name="Text Box 34"/>
            <p:cNvSpPr txBox="1">
              <a:spLocks noChangeArrowheads="1"/>
            </p:cNvSpPr>
            <p:nvPr/>
          </p:nvSpPr>
          <p:spPr bwMode="auto">
            <a:xfrm>
              <a:off x="6732240" y="5940008"/>
              <a:ext cx="13684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部分积</a:t>
              </a:r>
              <a:r>
                <a:rPr lang="en-US" altLang="zh-CN" sz="1800" dirty="0">
                  <a:solidFill>
                    <a:schemeClr val="tx1"/>
                  </a:solidFill>
                </a:rPr>
                <a:t>P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i+1,j</a:t>
              </a:r>
            </a:p>
          </p:txBody>
        </p:sp>
        <p:sp>
          <p:nvSpPr>
            <p:cNvPr id="392" name="Line 41"/>
            <p:cNvSpPr>
              <a:spLocks noChangeShapeType="1"/>
            </p:cNvSpPr>
            <p:nvPr/>
          </p:nvSpPr>
          <p:spPr bwMode="auto">
            <a:xfrm>
              <a:off x="6876256" y="4869160"/>
              <a:ext cx="10080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42"/>
            <p:cNvSpPr>
              <a:spLocks noChangeShapeType="1"/>
            </p:cNvSpPr>
            <p:nvPr/>
          </p:nvSpPr>
          <p:spPr bwMode="auto">
            <a:xfrm>
              <a:off x="6876256" y="4868638"/>
              <a:ext cx="0" cy="7921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43"/>
            <p:cNvSpPr>
              <a:spLocks noChangeShapeType="1"/>
            </p:cNvSpPr>
            <p:nvPr/>
          </p:nvSpPr>
          <p:spPr bwMode="auto">
            <a:xfrm flipH="1">
              <a:off x="7956376" y="4653136"/>
              <a:ext cx="14400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44"/>
            <p:cNvSpPr>
              <a:spLocks noChangeShapeType="1"/>
            </p:cNvSpPr>
            <p:nvPr/>
          </p:nvSpPr>
          <p:spPr bwMode="auto">
            <a:xfrm flipH="1">
              <a:off x="7884864" y="4797160"/>
              <a:ext cx="7200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46"/>
            <p:cNvSpPr>
              <a:spLocks noChangeShapeType="1"/>
            </p:cNvSpPr>
            <p:nvPr/>
          </p:nvSpPr>
          <p:spPr bwMode="auto">
            <a:xfrm flipH="1">
              <a:off x="7740352" y="5552404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47"/>
            <p:cNvSpPr>
              <a:spLocks noChangeShapeType="1"/>
            </p:cNvSpPr>
            <p:nvPr/>
          </p:nvSpPr>
          <p:spPr bwMode="auto">
            <a:xfrm flipH="1">
              <a:off x="7956376" y="5013101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48"/>
            <p:cNvSpPr>
              <a:spLocks noChangeShapeType="1"/>
            </p:cNvSpPr>
            <p:nvPr/>
          </p:nvSpPr>
          <p:spPr bwMode="auto">
            <a:xfrm>
              <a:off x="7380312" y="5661248"/>
              <a:ext cx="1587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49"/>
            <p:cNvSpPr>
              <a:spLocks noChangeShapeType="1"/>
            </p:cNvSpPr>
            <p:nvPr/>
          </p:nvSpPr>
          <p:spPr bwMode="auto">
            <a:xfrm flipH="1">
              <a:off x="7216527" y="465315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Text Box 52"/>
            <p:cNvSpPr txBox="1">
              <a:spLocks noChangeArrowheads="1"/>
            </p:cNvSpPr>
            <p:nvPr/>
          </p:nvSpPr>
          <p:spPr bwMode="auto">
            <a:xfrm>
              <a:off x="8100392" y="4869184"/>
              <a:ext cx="28733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solidFill>
                    <a:schemeClr val="tx1"/>
                  </a:solidFill>
                </a:rPr>
                <a:t>b</a:t>
              </a:r>
              <a:r>
                <a:rPr lang="en-US" altLang="zh-CN" sz="1800" baseline="-16000" dirty="0" err="1">
                  <a:solidFill>
                    <a:schemeClr val="tx1"/>
                  </a:solidFill>
                </a:rPr>
                <a:t>j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401" name="Text Box 53"/>
            <p:cNvSpPr txBox="1">
              <a:spLocks noChangeArrowheads="1"/>
            </p:cNvSpPr>
            <p:nvPr/>
          </p:nvSpPr>
          <p:spPr bwMode="auto">
            <a:xfrm>
              <a:off x="8100392" y="5445027"/>
              <a:ext cx="575816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C</a:t>
              </a:r>
              <a:r>
                <a:rPr lang="en-US" altLang="zh-CN" sz="1800" baseline="-16000" dirty="0">
                  <a:solidFill>
                    <a:schemeClr val="tx1"/>
                  </a:solidFill>
                </a:rPr>
                <a:t>i,j-1</a:t>
              </a:r>
            </a:p>
          </p:txBody>
        </p:sp>
        <p:sp>
          <p:nvSpPr>
            <p:cNvPr id="402" name="Line 54"/>
            <p:cNvSpPr>
              <a:spLocks noChangeShapeType="1"/>
            </p:cNvSpPr>
            <p:nvPr/>
          </p:nvSpPr>
          <p:spPr bwMode="auto">
            <a:xfrm flipH="1">
              <a:off x="6588224" y="5013101"/>
              <a:ext cx="13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56"/>
            <p:cNvSpPr>
              <a:spLocks noChangeShapeType="1"/>
            </p:cNvSpPr>
            <p:nvPr/>
          </p:nvSpPr>
          <p:spPr bwMode="auto">
            <a:xfrm flipH="1">
              <a:off x="6588272" y="5552404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Text Box 60"/>
            <p:cNvSpPr txBox="1">
              <a:spLocks noChangeArrowheads="1"/>
            </p:cNvSpPr>
            <p:nvPr/>
          </p:nvSpPr>
          <p:spPr bwMode="auto">
            <a:xfrm>
              <a:off x="7020352" y="5446488"/>
              <a:ext cx="72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全加器</a:t>
              </a:r>
            </a:p>
          </p:txBody>
        </p:sp>
        <p:sp>
          <p:nvSpPr>
            <p:cNvPr id="405" name="Line 62"/>
            <p:cNvSpPr>
              <a:spLocks noChangeShapeType="1"/>
            </p:cNvSpPr>
            <p:nvPr/>
          </p:nvSpPr>
          <p:spPr bwMode="auto">
            <a:xfrm>
              <a:off x="7596336" y="5300761"/>
              <a:ext cx="0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63"/>
            <p:cNvSpPr>
              <a:spLocks noChangeShapeType="1"/>
            </p:cNvSpPr>
            <p:nvPr/>
          </p:nvSpPr>
          <p:spPr bwMode="auto">
            <a:xfrm>
              <a:off x="7668344" y="5013176"/>
              <a:ext cx="0" cy="10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64"/>
            <p:cNvSpPr>
              <a:spLocks noChangeShapeType="1"/>
            </p:cNvSpPr>
            <p:nvPr/>
          </p:nvSpPr>
          <p:spPr bwMode="auto">
            <a:xfrm>
              <a:off x="7503782" y="4869160"/>
              <a:ext cx="0" cy="252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65"/>
            <p:cNvSpPr>
              <a:spLocks noChangeShapeType="1"/>
            </p:cNvSpPr>
            <p:nvPr/>
          </p:nvSpPr>
          <p:spPr bwMode="auto">
            <a:xfrm flipH="1">
              <a:off x="7216444" y="4796507"/>
              <a:ext cx="0" cy="648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Text Box 60"/>
            <p:cNvSpPr txBox="1">
              <a:spLocks noChangeArrowheads="1"/>
            </p:cNvSpPr>
            <p:nvPr/>
          </p:nvSpPr>
          <p:spPr bwMode="auto">
            <a:xfrm>
              <a:off x="7308056" y="5121208"/>
              <a:ext cx="576000" cy="180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ea typeface="+mn-ea"/>
                </a:rPr>
                <a:t>乘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endParaRPr lang="zh-CN" altLang="en-US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10" name="Line 47"/>
            <p:cNvSpPr>
              <a:spLocks noChangeShapeType="1"/>
            </p:cNvSpPr>
            <p:nvPr/>
          </p:nvSpPr>
          <p:spPr bwMode="auto">
            <a:xfrm flipH="1">
              <a:off x="7956376" y="5552404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4" name="直接箭头连接符 3"/>
          <p:cNvCxnSpPr/>
          <p:nvPr/>
        </p:nvCxnSpPr>
        <p:spPr bwMode="auto">
          <a:xfrm>
            <a:off x="3744000" y="764704"/>
            <a:ext cx="1080000" cy="180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7" name="组合 6"/>
          <p:cNvGrpSpPr/>
          <p:nvPr/>
        </p:nvGrpSpPr>
        <p:grpSpPr>
          <a:xfrm>
            <a:off x="1259290" y="1375008"/>
            <a:ext cx="5760982" cy="2052000"/>
            <a:chOff x="1691018" y="1484784"/>
            <a:chExt cx="5760982" cy="2052000"/>
          </a:xfrm>
        </p:grpSpPr>
        <p:sp>
          <p:nvSpPr>
            <p:cNvPr id="154" name="Line 184"/>
            <p:cNvSpPr>
              <a:spLocks noChangeShapeType="1"/>
            </p:cNvSpPr>
            <p:nvPr/>
          </p:nvSpPr>
          <p:spPr bwMode="auto">
            <a:xfrm>
              <a:off x="2339090" y="2996829"/>
              <a:ext cx="4824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184"/>
            <p:cNvSpPr>
              <a:spLocks noChangeShapeType="1"/>
            </p:cNvSpPr>
            <p:nvPr/>
          </p:nvSpPr>
          <p:spPr bwMode="auto">
            <a:xfrm>
              <a:off x="2987162" y="2564880"/>
              <a:ext cx="4176000" cy="5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184"/>
            <p:cNvSpPr>
              <a:spLocks noChangeShapeType="1"/>
            </p:cNvSpPr>
            <p:nvPr/>
          </p:nvSpPr>
          <p:spPr bwMode="auto">
            <a:xfrm>
              <a:off x="3635234" y="2132832"/>
              <a:ext cx="352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184"/>
            <p:cNvSpPr>
              <a:spLocks noChangeShapeType="1"/>
            </p:cNvSpPr>
            <p:nvPr/>
          </p:nvSpPr>
          <p:spPr bwMode="auto">
            <a:xfrm flipV="1">
              <a:off x="1691018" y="3428976"/>
              <a:ext cx="5472000" cy="2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Text Box 186"/>
            <p:cNvSpPr txBox="1">
              <a:spLocks noChangeArrowheads="1"/>
            </p:cNvSpPr>
            <p:nvPr/>
          </p:nvSpPr>
          <p:spPr bwMode="auto">
            <a:xfrm>
              <a:off x="7164000" y="1484784"/>
              <a:ext cx="288000" cy="20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8000" dirty="0">
                  <a:solidFill>
                    <a:srgbClr val="990099"/>
                  </a:solidFill>
                </a:rPr>
                <a:t>0</a:t>
              </a:r>
            </a:p>
            <a:p>
              <a:pPr>
                <a:lnSpc>
                  <a:spcPct val="100000"/>
                </a:lnSpc>
              </a:pPr>
              <a:endParaRPr lang="en-US" altLang="zh-CN" sz="16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>
                  <a:solidFill>
                    <a:srgbClr val="990099"/>
                  </a:solidFill>
                </a:rPr>
                <a:t>1</a:t>
              </a: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>
                  <a:solidFill>
                    <a:srgbClr val="990099"/>
                  </a:solidFill>
                </a:rPr>
                <a:t>2</a:t>
              </a: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>
                  <a:solidFill>
                    <a:srgbClr val="990099"/>
                  </a:solidFill>
                </a:rPr>
                <a:t>3</a:t>
              </a:r>
            </a:p>
            <a:p>
              <a:pPr>
                <a:lnSpc>
                  <a:spcPct val="100000"/>
                </a:lnSpc>
              </a:pPr>
              <a:endParaRPr lang="en-US" altLang="zh-CN" sz="1200" dirty="0">
                <a:solidFill>
                  <a:srgbClr val="990099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P</a:t>
              </a:r>
              <a:r>
                <a:rPr lang="en-US" altLang="zh-CN" sz="1600" baseline="-16000" dirty="0">
                  <a:solidFill>
                    <a:srgbClr val="990099"/>
                  </a:solidFill>
                </a:rPr>
                <a:t>4</a:t>
              </a:r>
            </a:p>
          </p:txBody>
        </p:sp>
        <p:sp>
          <p:nvSpPr>
            <p:cNvPr id="156" name="Line 184"/>
            <p:cNvSpPr>
              <a:spLocks noChangeShapeType="1"/>
            </p:cNvSpPr>
            <p:nvPr/>
          </p:nvSpPr>
          <p:spPr bwMode="auto">
            <a:xfrm>
              <a:off x="6372200" y="1628800"/>
              <a:ext cx="792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5" name="Text Box 343">
            <a:extLst>
              <a:ext uri="{FF2B5EF4-FFF2-40B4-BE49-F238E27FC236}">
                <a16:creationId xmlns:a16="http://schemas.microsoft.com/office/drawing/2014/main" id="{58ACE316-DAAD-42A1-8C22-4DE8A8A87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213" y="5877272"/>
            <a:ext cx="5256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作业</a:t>
            </a:r>
            <a:r>
              <a:rPr lang="en-US" altLang="zh-CN" sz="2000" dirty="0"/>
              <a:t>2-4</a:t>
            </a:r>
            <a:r>
              <a:rPr lang="zh-CN" altLang="en-US" sz="2000" dirty="0"/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P87</a:t>
            </a:r>
            <a:r>
              <a:rPr lang="zh-CN" altLang="en-US" sz="2000" dirty="0">
                <a:solidFill>
                  <a:schemeClr val="tx1"/>
                </a:solidFill>
              </a:rPr>
              <a:t>起</a:t>
            </a:r>
            <a:r>
              <a:rPr lang="en-US" altLang="zh-CN" sz="2000" dirty="0">
                <a:solidFill>
                  <a:schemeClr val="tx1"/>
                </a:solidFill>
              </a:rPr>
              <a:t>—30(1)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31(1)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5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497E5-F6BB-443F-ABBF-82B2FC3CBB80}" type="slidenum">
              <a:rPr lang="en-US" altLang="zh-CN"/>
              <a:t>63</a:t>
            </a:fld>
            <a:endParaRPr lang="en-US" altLang="zh-CN"/>
          </a:p>
        </p:txBody>
      </p:sp>
      <p:sp>
        <p:nvSpPr>
          <p:cNvPr id="322570" name="Text Box 10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§2.4 </a:t>
            </a:r>
            <a:r>
              <a:rPr lang="zh-CN" altLang="en-US" sz="2800" dirty="0">
                <a:solidFill>
                  <a:schemeClr val="tx1"/>
                </a:solidFill>
              </a:rPr>
              <a:t>浮点数的运算</a:t>
            </a: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179512" y="836712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sz="2000" dirty="0">
                <a:solidFill>
                  <a:srgbClr val="FF3399"/>
                </a:solidFill>
              </a:rPr>
              <a:t> ※</a:t>
            </a:r>
            <a:r>
              <a:rPr lang="zh-CN" altLang="en-US" sz="2000" dirty="0">
                <a:solidFill>
                  <a:srgbClr val="FF3399"/>
                </a:solidFill>
              </a:rPr>
              <a:t>主要内容：</a:t>
            </a:r>
            <a:r>
              <a:rPr lang="zh-CN" altLang="en-US" sz="2000" dirty="0">
                <a:solidFill>
                  <a:schemeClr val="tx1"/>
                </a:solidFill>
              </a:rPr>
              <a:t>浮点加减的运算方法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不要求逻辑实现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Text Box 1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504" y="1268760"/>
            <a:ext cx="8281213" cy="847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*浮点数表示回顾：</a:t>
            </a:r>
            <a:r>
              <a:rPr lang="zh-CN" altLang="en-US" sz="2200" dirty="0">
                <a:solidFill>
                  <a:schemeClr val="tx1"/>
                </a:solidFill>
              </a:rPr>
              <a:t>二进制，浮点格式，尾数</a:t>
            </a:r>
            <a:r>
              <a:rPr lang="en-US" altLang="zh-CN" sz="2200" dirty="0">
                <a:solidFill>
                  <a:schemeClr val="tx1"/>
                </a:solidFill>
              </a:rPr>
              <a:t>&amp;</a:t>
            </a:r>
            <a:r>
              <a:rPr lang="zh-CN" altLang="en-US" sz="2200" dirty="0">
                <a:solidFill>
                  <a:schemeClr val="tx1"/>
                </a:solidFill>
              </a:rPr>
              <a:t>阶独立编码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rgbClr val="990099"/>
                </a:solidFill>
              </a:rPr>
              <a:t>     IEEE 754</a:t>
            </a:r>
            <a:r>
              <a:rPr lang="zh-CN" altLang="en-US" sz="2000" dirty="0">
                <a:solidFill>
                  <a:srgbClr val="990099"/>
                </a:solidFill>
              </a:rPr>
              <a:t>标准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en-US" altLang="zh-CN" sz="2000" dirty="0">
                <a:solidFill>
                  <a:schemeClr val="tx1"/>
                </a:solidFill>
              </a:rPr>
              <a:t>    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单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双精度</a:t>
            </a:r>
            <a:r>
              <a:rPr lang="en-US" altLang="zh-CN" sz="1800" dirty="0">
                <a:solidFill>
                  <a:schemeClr val="tx1"/>
                </a:solidFill>
              </a:rPr>
              <a:t>)  (M</a:t>
            </a:r>
            <a:r>
              <a:rPr lang="zh-CN" altLang="en-US" sz="1800" dirty="0">
                <a:solidFill>
                  <a:schemeClr val="tx1"/>
                </a:solidFill>
              </a:rPr>
              <a:t>原码</a:t>
            </a:r>
            <a:r>
              <a:rPr lang="en-US" altLang="zh-CN" sz="1800" dirty="0">
                <a:solidFill>
                  <a:schemeClr val="tx1"/>
                </a:solidFill>
              </a:rPr>
              <a:t>&amp;E</a:t>
            </a:r>
            <a:r>
              <a:rPr lang="zh-CN" altLang="en-US" sz="1800" dirty="0">
                <a:solidFill>
                  <a:schemeClr val="tx1"/>
                </a:solidFill>
              </a:rPr>
              <a:t>移码</a:t>
            </a:r>
            <a:r>
              <a:rPr lang="en-US" altLang="zh-CN" sz="1800" dirty="0">
                <a:solidFill>
                  <a:schemeClr val="tx1"/>
                </a:solidFill>
              </a:rPr>
              <a:t>[</a:t>
            </a:r>
            <a:r>
              <a:rPr lang="zh-CN" altLang="en-US" sz="1800" dirty="0">
                <a:solidFill>
                  <a:schemeClr val="tx1"/>
                </a:solidFill>
              </a:rPr>
              <a:t>有改进</a:t>
            </a:r>
            <a:r>
              <a:rPr lang="en-US" altLang="zh-CN" sz="1800" dirty="0">
                <a:solidFill>
                  <a:schemeClr val="tx1"/>
                </a:solidFill>
              </a:rPr>
              <a:t>]) 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id="{9B037954-9F14-4632-A535-F7CA30CF6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492896"/>
            <a:ext cx="3816548" cy="3458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1</a:t>
            </a:r>
            <a:r>
              <a:rPr lang="zh-CN" altLang="en-US" dirty="0">
                <a:solidFill>
                  <a:srgbClr val="FF3399"/>
                </a:solidFill>
              </a:rPr>
              <a:t>、浮点加减运算</a:t>
            </a:r>
            <a:endParaRPr lang="en-US" altLang="zh-CN" dirty="0">
              <a:solidFill>
                <a:srgbClr val="FF3399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运算步骤：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基本步骤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减少精度损失的方法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zh-CN" altLang="en-US" sz="2200" dirty="0">
                <a:solidFill>
                  <a:schemeClr val="accent2"/>
                </a:solidFill>
              </a:rPr>
              <a:t>   实际步骤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zh-CN" altLang="en-US" sz="2200" dirty="0">
              <a:solidFill>
                <a:schemeClr val="accent2"/>
              </a:solidFill>
            </a:endParaRPr>
          </a:p>
        </p:txBody>
      </p:sp>
      <p:sp>
        <p:nvSpPr>
          <p:cNvPr id="17" name="Text Box 41">
            <a:extLst>
              <a:ext uri="{FF2B5EF4-FFF2-40B4-BE49-F238E27FC236}">
                <a16:creationId xmlns:a16="http://schemas.microsoft.com/office/drawing/2014/main" id="{E0033F35-885A-437E-AF78-238D55B9E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2962776"/>
            <a:ext cx="7776864" cy="33019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    </a:t>
            </a:r>
            <a:r>
              <a:rPr lang="zh-CN" altLang="en-US" sz="2200" dirty="0">
                <a:solidFill>
                  <a:schemeClr val="tx1"/>
                </a:solidFill>
              </a:rPr>
              <a:t>设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A±B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6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≤E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endParaRPr lang="zh-CN" altLang="en-US" sz="2200" baseline="-180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       ①对阶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</a:rPr>
              <a:t>A</a:t>
            </a:r>
            <a:r>
              <a:rPr lang="en-US" altLang="zh-CN" sz="2200" baseline="50000" dirty="0">
                <a:solidFill>
                  <a:schemeClr val="tx1"/>
                </a:solidFill>
              </a:rPr>
              <a:t>-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</a:rPr>
              <a:t>B</a:t>
            </a:r>
            <a:r>
              <a:rPr lang="en-US" altLang="zh-CN" sz="2200" dirty="0">
                <a:solidFill>
                  <a:schemeClr val="tx1"/>
                </a:solidFill>
              </a:rPr>
              <a:t>)×2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</a:rPr>
              <a:t>B</a:t>
            </a:r>
            <a:endParaRPr lang="zh-CN" altLang="en-US" sz="2200" baseline="280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       ②尾数加减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M</a:t>
            </a:r>
            <a:r>
              <a:rPr lang="en-US" altLang="zh-CN" sz="2200" baseline="-16000" dirty="0">
                <a:solidFill>
                  <a:schemeClr val="tx1"/>
                </a:solidFill>
                <a:highlight>
                  <a:srgbClr val="99CCFF"/>
                </a:highlight>
              </a:rPr>
              <a:t>A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  <a:highlight>
                  <a:srgbClr val="99CCFF"/>
                </a:highlight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  <a:highlight>
                  <a:srgbClr val="99CCFF"/>
                </a:highlight>
              </a:rPr>
              <a:t>A</a:t>
            </a:r>
            <a:r>
              <a:rPr lang="en-US" altLang="zh-CN" sz="2200" baseline="50000" dirty="0">
                <a:solidFill>
                  <a:schemeClr val="tx1"/>
                </a:solidFill>
                <a:highlight>
                  <a:srgbClr val="99CCFF"/>
                </a:highlight>
              </a:rPr>
              <a:t>-</a:t>
            </a:r>
            <a:r>
              <a:rPr lang="en-US" altLang="zh-CN" sz="2200" baseline="45000" dirty="0">
                <a:solidFill>
                  <a:schemeClr val="tx1"/>
                </a:solidFill>
                <a:highlight>
                  <a:srgbClr val="99CCFF"/>
                </a:highlight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  <a:highlight>
                  <a:srgbClr val="99CCFF"/>
                </a:highlight>
              </a:rPr>
              <a:t>B</a:t>
            </a:r>
            <a:r>
              <a:rPr lang="en-US" altLang="zh-CN" sz="2200" dirty="0">
                <a:solidFill>
                  <a:schemeClr val="tx1"/>
                </a:solidFill>
              </a:rPr>
              <a:t>±M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</a:rPr>
              <a:t>←有效位数</a:t>
            </a:r>
            <a:r>
              <a:rPr lang="zh-CN" altLang="en-US" sz="1800" u="sng" dirty="0">
                <a:solidFill>
                  <a:srgbClr val="0070C0"/>
                </a:solidFill>
              </a:rPr>
              <a:t>受损</a:t>
            </a:r>
            <a:endParaRPr lang="zh-CN" altLang="en-US" sz="1800" u="sng" baseline="-16000" dirty="0">
              <a:solidFill>
                <a:srgbClr val="0070C0"/>
              </a:solidFill>
            </a:endParaRPr>
          </a:p>
          <a:p>
            <a:pPr>
              <a:tabLst>
                <a:tab pos="1619250" algn="l"/>
              </a:tabLst>
            </a:pPr>
            <a:r>
              <a:rPr lang="zh-CN" altLang="en-US" sz="2200" dirty="0">
                <a:solidFill>
                  <a:srgbClr val="990099"/>
                </a:solidFill>
              </a:rPr>
              <a:t>       ③结果规格化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使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20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为规格化数    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dirty="0">
                <a:solidFill>
                  <a:srgbClr val="0070C0"/>
                </a:solidFill>
              </a:rPr>
              <a:t>保证</a:t>
            </a:r>
            <a:r>
              <a:rPr lang="zh-CN" altLang="en-US" sz="1800" dirty="0">
                <a:solidFill>
                  <a:schemeClr val="tx1"/>
                </a:solidFill>
              </a:rPr>
              <a:t>结果精度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             运算过程中，</a:t>
            </a:r>
            <a:r>
              <a:rPr lang="zh-CN" altLang="en-US" sz="2200" u="sng" dirty="0">
                <a:solidFill>
                  <a:srgbClr val="990099"/>
                </a:solidFill>
              </a:rPr>
              <a:t>增加</a:t>
            </a:r>
            <a:r>
              <a:rPr lang="zh-CN" altLang="en-US" sz="2200" dirty="0">
                <a:solidFill>
                  <a:schemeClr val="tx1"/>
                </a:solidFill>
              </a:rPr>
              <a:t>尾数的位数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称为</a:t>
            </a:r>
            <a:r>
              <a:rPr lang="zh-CN" altLang="en-US" sz="1800" u="sng" dirty="0">
                <a:solidFill>
                  <a:schemeClr val="tx1"/>
                </a:solidFill>
              </a:rPr>
              <a:t>附加位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r>
              <a:rPr lang="zh-CN" altLang="en-US" sz="1800" dirty="0">
                <a:solidFill>
                  <a:srgbClr val="990099"/>
                </a:solidFill>
              </a:rPr>
              <a:t>                   </a:t>
            </a:r>
            <a:r>
              <a:rPr lang="zh-CN" altLang="en-US" sz="1800" dirty="0">
                <a:solidFill>
                  <a:srgbClr val="0070C0"/>
                </a:solidFill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</a:rPr>
              <a:t>IEEE 754</a:t>
            </a:r>
            <a:r>
              <a:rPr lang="zh-CN" altLang="en-US" sz="1800" dirty="0">
                <a:solidFill>
                  <a:schemeClr val="tx1"/>
                </a:solidFill>
              </a:rPr>
              <a:t>标准中，附加位</a:t>
            </a:r>
            <a:r>
              <a:rPr lang="zh-CN" altLang="en-US" sz="1800" u="sng" dirty="0">
                <a:solidFill>
                  <a:schemeClr val="tx1"/>
                </a:solidFill>
              </a:rPr>
              <a:t>至少含</a:t>
            </a:r>
            <a:r>
              <a:rPr lang="zh-CN" altLang="en-US" sz="1800" dirty="0">
                <a:solidFill>
                  <a:srgbClr val="0070C0"/>
                </a:solidFill>
              </a:rPr>
              <a:t>保护位、舍入位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>
              <a:spcBef>
                <a:spcPts val="2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       ①对阶 ②尾数加减 ③结果规格化 ④尾数舍入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</a:rPr>
              <a:t>        (</a:t>
            </a:r>
            <a:r>
              <a:rPr lang="zh-CN" altLang="en-US" sz="1800" dirty="0">
                <a:solidFill>
                  <a:schemeClr val="tx1"/>
                </a:solidFill>
              </a:rPr>
              <a:t>教材中的“溢出判断”，</a:t>
            </a:r>
            <a:r>
              <a:rPr lang="zh-CN" altLang="en-US" sz="1800" u="sng" dirty="0">
                <a:solidFill>
                  <a:srgbClr val="FF3399"/>
                </a:solidFill>
              </a:rPr>
              <a:t>应融入</a:t>
            </a:r>
            <a:r>
              <a:rPr lang="zh-CN" altLang="en-US" sz="1800" dirty="0">
                <a:solidFill>
                  <a:schemeClr val="tx1"/>
                </a:solidFill>
              </a:rPr>
              <a:t>结果规格化、尾数舍入步骤中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89FCF2C-9F97-49AB-906A-D237C4404CCA}"/>
              </a:ext>
            </a:extLst>
          </p:cNvPr>
          <p:cNvGrpSpPr/>
          <p:nvPr/>
        </p:nvGrpSpPr>
        <p:grpSpPr>
          <a:xfrm>
            <a:off x="3419872" y="2132856"/>
            <a:ext cx="4752000" cy="477869"/>
            <a:chOff x="3708000" y="1980000"/>
            <a:chExt cx="4752000" cy="477869"/>
          </a:xfrm>
        </p:grpSpPr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F7C8567C-470E-439D-8C64-4A4E2E41E0BD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020000" y="2204639"/>
              <a:ext cx="1440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S</a:t>
              </a:r>
              <a:r>
                <a:rPr lang="en-US" altLang="zh-CN" sz="1800" baseline="-20000" dirty="0">
                  <a:solidFill>
                    <a:schemeClr val="tx1"/>
                  </a:solidFill>
                </a:rPr>
                <a:t>M</a:t>
              </a:r>
              <a:r>
                <a:rPr lang="en-US" altLang="zh-CN" sz="1800" dirty="0">
                  <a:solidFill>
                    <a:schemeClr val="tx1"/>
                  </a:solidFill>
                </a:rPr>
                <a:t>   M(</a:t>
              </a:r>
              <a:r>
                <a:rPr lang="zh-CN" altLang="en-US" sz="1800" dirty="0">
                  <a:solidFill>
                    <a:schemeClr val="tx1"/>
                  </a:solidFill>
                </a:rPr>
                <a:t>补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EF69A801-2825-461B-AD66-EE2CC23A4E72}"/>
                </a:ext>
              </a:extLst>
            </p:cNvPr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7308000" y="2205869"/>
              <a:ext cx="0" cy="2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 sz="2000"/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5F7A7731-F99E-42BC-BC8D-C5FBC943D00A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372000" y="2204639"/>
              <a:ext cx="646113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3C6CA80D-25DE-4390-8180-85F01CE6CD6E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643263" y="2195994"/>
              <a:ext cx="1152525" cy="2519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M(</a:t>
              </a:r>
              <a:r>
                <a:rPr lang="zh-CN" altLang="en-US" sz="1800" dirty="0">
                  <a:solidFill>
                    <a:schemeClr val="tx1"/>
                  </a:solidFill>
                </a:rPr>
                <a:t>原</a:t>
              </a:r>
              <a:r>
                <a:rPr lang="en-US" altLang="zh-CN" sz="18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33F0806D-5E6D-4043-95B0-5800BBC49E42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97151" y="2195994"/>
              <a:ext cx="646113" cy="25199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09326AE5-53D8-44EF-9A41-310630C19B20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708000" y="2195993"/>
              <a:ext cx="288000" cy="2519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S</a:t>
              </a:r>
              <a:r>
                <a:rPr lang="en-US" altLang="zh-CN" sz="1800" baseline="-20000" dirty="0">
                  <a:solidFill>
                    <a:schemeClr val="tx1"/>
                  </a:solidFill>
                </a:rPr>
                <a:t>M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5BDB1712-944A-4043-BFDE-383E6CBB3BE9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904000" y="2195995"/>
              <a:ext cx="360363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或</a:t>
              </a:r>
            </a:p>
          </p:txBody>
        </p:sp>
        <p:sp>
          <p:nvSpPr>
            <p:cNvPr id="27" name="Text Box 531">
              <a:extLst>
                <a:ext uri="{FF2B5EF4-FFF2-40B4-BE49-F238E27FC236}">
                  <a16:creationId xmlns:a16="http://schemas.microsoft.com/office/drawing/2014/main" id="{CD370F95-2845-4F48-B278-F2483DE94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00" y="1980000"/>
              <a:ext cx="720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0070C0"/>
                  </a:solidFill>
                  <a:latin typeface="+mn-ea"/>
                  <a:ea typeface="+mn-ea"/>
                </a:rPr>
                <a:t>23</a:t>
              </a: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或</a:t>
              </a:r>
              <a:r>
                <a:rPr lang="en-US" altLang="zh-CN" sz="1600" dirty="0">
                  <a:solidFill>
                    <a:srgbClr val="0070C0"/>
                  </a:solidFill>
                  <a:latin typeface="+mn-ea"/>
                  <a:ea typeface="+mn-ea"/>
                </a:rPr>
                <a:t>52</a:t>
              </a:r>
            </a:p>
          </p:txBody>
        </p:sp>
        <p:sp>
          <p:nvSpPr>
            <p:cNvPr id="28" name="Line 533">
              <a:extLst>
                <a:ext uri="{FF2B5EF4-FFF2-40B4-BE49-F238E27FC236}">
                  <a16:creationId xmlns:a16="http://schemas.microsoft.com/office/drawing/2014/main" id="{E3DD8926-3663-407F-B173-59D26CFDC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4000" y="19800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" name="Line 534">
              <a:extLst>
                <a:ext uri="{FF2B5EF4-FFF2-40B4-BE49-F238E27FC236}">
                  <a16:creationId xmlns:a16="http://schemas.microsoft.com/office/drawing/2014/main" id="{6E66EC5F-9713-427F-9E15-81ED5DE49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7151" y="19800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0" name="Text Box 536">
              <a:extLst>
                <a:ext uri="{FF2B5EF4-FFF2-40B4-BE49-F238E27FC236}">
                  <a16:creationId xmlns:a16="http://schemas.microsoft.com/office/drawing/2014/main" id="{2D8927F5-1B8C-4E06-8050-78FFA4DE2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000" y="1980000"/>
              <a:ext cx="576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0070C0"/>
                  </a:solidFill>
                  <a:latin typeface="+mn-ea"/>
                  <a:ea typeface="+mn-ea"/>
                </a:rPr>
                <a:t>8</a:t>
              </a:r>
              <a:r>
                <a:rPr lang="zh-CN" altLang="en-US" sz="1600" dirty="0">
                  <a:solidFill>
                    <a:srgbClr val="0070C0"/>
                  </a:solidFill>
                  <a:latin typeface="+mn-ea"/>
                  <a:ea typeface="+mn-ea"/>
                </a:rPr>
                <a:t>或</a:t>
              </a:r>
              <a:r>
                <a:rPr lang="en-US" altLang="zh-CN" sz="1600" dirty="0">
                  <a:solidFill>
                    <a:srgbClr val="0070C0"/>
                  </a:solidFill>
                  <a:latin typeface="+mn-ea"/>
                  <a:ea typeface="+mn-ea"/>
                </a:rPr>
                <a:t>11</a:t>
              </a:r>
            </a:p>
          </p:txBody>
        </p:sp>
        <p:sp>
          <p:nvSpPr>
            <p:cNvPr id="31" name="Text Box 538">
              <a:extLst>
                <a:ext uri="{FF2B5EF4-FFF2-40B4-BE49-F238E27FC236}">
                  <a16:creationId xmlns:a16="http://schemas.microsoft.com/office/drawing/2014/main" id="{EB0EB544-45F3-49B1-9113-196D66CF7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00" y="1980000"/>
              <a:ext cx="14287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0070C0"/>
                  </a:solidFill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32" name="Line 534">
              <a:extLst>
                <a:ext uri="{FF2B5EF4-FFF2-40B4-BE49-F238E27FC236}">
                  <a16:creationId xmlns:a16="http://schemas.microsoft.com/office/drawing/2014/main" id="{5011817A-953C-46C4-B0C1-C24A08107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000" y="19800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" name="Line 534">
              <a:extLst>
                <a:ext uri="{FF2B5EF4-FFF2-40B4-BE49-F238E27FC236}">
                  <a16:creationId xmlns:a16="http://schemas.microsoft.com/office/drawing/2014/main" id="{6DE4F378-BDC6-4B31-941A-6D6987655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5788" y="19800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4" name="Line 533">
              <a:extLst>
                <a:ext uri="{FF2B5EF4-FFF2-40B4-BE49-F238E27FC236}">
                  <a16:creationId xmlns:a16="http://schemas.microsoft.com/office/drawing/2014/main" id="{F9FF3442-1A9D-403A-BDF7-4F35B0B45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2000" y="19800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5" name="Line 534">
              <a:extLst>
                <a:ext uri="{FF2B5EF4-FFF2-40B4-BE49-F238E27FC236}">
                  <a16:creationId xmlns:a16="http://schemas.microsoft.com/office/drawing/2014/main" id="{C7E8239C-1800-4642-903D-F11ADCCB4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59459" y="1980000"/>
              <a:ext cx="0" cy="2159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6" name="Text Box 531">
              <a:extLst>
                <a:ext uri="{FF2B5EF4-FFF2-40B4-BE49-F238E27FC236}">
                  <a16:creationId xmlns:a16="http://schemas.microsoft.com/office/drawing/2014/main" id="{30700FB2-2919-4276-9567-4A8176484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2128" y="1980000"/>
              <a:ext cx="1728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rgbClr val="0070C0"/>
                  </a:solidFill>
                  <a:latin typeface="+mn-ea"/>
                  <a:ea typeface="+mn-ea"/>
                </a:rPr>
                <a:t>＝</a:t>
              </a:r>
              <a:r>
                <a:rPr lang="en-US" altLang="zh-CN" sz="1600" dirty="0" err="1">
                  <a:solidFill>
                    <a:srgbClr val="0070C0"/>
                  </a:solidFill>
                  <a:latin typeface="+mn-ea"/>
                  <a:ea typeface="+mn-ea"/>
                </a:rPr>
                <a:t>k×MEM</a:t>
              </a:r>
              <a:r>
                <a:rPr lang="zh-CN" altLang="en-US" sz="1600" dirty="0">
                  <a:solidFill>
                    <a:srgbClr val="0070C0"/>
                  </a:solidFill>
                  <a:latin typeface="+mn-ea"/>
                  <a:ea typeface="+mn-ea"/>
                </a:rPr>
                <a:t>单元长度</a:t>
              </a:r>
              <a:endParaRPr lang="en-US" altLang="zh-CN" sz="1600" dirty="0">
                <a:solidFill>
                  <a:srgbClr val="0070C0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BF2B8-357C-43D5-87D4-E253D13442A0}" type="slidenum">
              <a:rPr lang="en-US" altLang="zh-CN"/>
              <a:t>64</a:t>
            </a:fld>
            <a:endParaRPr lang="en-US" altLang="zh-CN"/>
          </a:p>
        </p:txBody>
      </p:sp>
      <p:sp>
        <p:nvSpPr>
          <p:cNvPr id="329730" name="Text Box 2"/>
          <p:cNvSpPr txBox="1">
            <a:spLocks noChangeArrowheads="1"/>
          </p:cNvSpPr>
          <p:nvPr/>
        </p:nvSpPr>
        <p:spPr bwMode="auto">
          <a:xfrm>
            <a:off x="179388" y="332656"/>
            <a:ext cx="8712000" cy="25016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*运算方法：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举例说明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</a:rPr>
              <a:t>设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A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45000" dirty="0">
                <a:solidFill>
                  <a:schemeClr val="tx1"/>
                </a:solidFill>
              </a:rPr>
              <a:t>E</a:t>
            </a:r>
            <a:r>
              <a:rPr lang="en-US" altLang="zh-CN" sz="2000" baseline="26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B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45000" dirty="0">
                <a:solidFill>
                  <a:schemeClr val="tx1"/>
                </a:solidFill>
              </a:rPr>
              <a:t>E</a:t>
            </a:r>
            <a:r>
              <a:rPr lang="en-US" altLang="zh-CN" sz="2000" baseline="26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，尾数加减后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45000" dirty="0">
                <a:solidFill>
                  <a:schemeClr val="tx1"/>
                </a:solidFill>
              </a:rPr>
              <a:t>E</a:t>
            </a:r>
            <a:r>
              <a:rPr lang="en-US" altLang="zh-CN" sz="2000" baseline="450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000" baseline="26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       </a:t>
            </a:r>
            <a:r>
              <a:rPr lang="zh-CN" altLang="en-US" sz="2000" dirty="0">
                <a:solidFill>
                  <a:schemeClr val="tx1"/>
                </a:solidFill>
              </a:rPr>
              <a:t>规格化后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45000" dirty="0">
                <a:solidFill>
                  <a:schemeClr val="tx1"/>
                </a:solidFill>
              </a:rPr>
              <a:t>E</a:t>
            </a:r>
            <a:r>
              <a:rPr lang="en-US" altLang="zh-CN" sz="2000" baseline="450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baseline="26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，尾数舍入后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×2</a:t>
            </a:r>
            <a:r>
              <a:rPr lang="en-US" altLang="zh-CN" sz="2000" baseline="45000" dirty="0">
                <a:solidFill>
                  <a:schemeClr val="tx1"/>
                </a:solidFill>
              </a:rPr>
              <a:t>E</a:t>
            </a:r>
            <a:r>
              <a:rPr lang="en-US" altLang="zh-CN" sz="2000" baseline="26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dirty="0">
                <a:solidFill>
                  <a:schemeClr val="tx1"/>
                </a:solidFill>
              </a:rPr>
              <a:t>含附加位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1152000" indent="-1152000">
              <a:spcBef>
                <a:spcPts val="300"/>
              </a:spcBef>
            </a:pPr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1—</a:t>
            </a:r>
            <a:r>
              <a:rPr lang="zh-CN" altLang="en-US" sz="2000" dirty="0">
                <a:solidFill>
                  <a:schemeClr val="tx1"/>
                </a:solidFill>
              </a:rPr>
              <a:t>浮点数的尾数用</a:t>
            </a:r>
            <a:r>
              <a:rPr lang="en-US" altLang="zh-CN" sz="2000" dirty="0">
                <a:solidFill>
                  <a:schemeClr val="tx1"/>
                </a:solidFill>
              </a:rPr>
              <a:t>5</a:t>
            </a:r>
            <a:r>
              <a:rPr lang="zh-CN" altLang="en-US" sz="2000" dirty="0">
                <a:solidFill>
                  <a:schemeClr val="tx1"/>
                </a:solidFill>
              </a:rPr>
              <a:t>位补码、阶用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位补码表示，附加位为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位，采用</a:t>
            </a:r>
            <a:r>
              <a:rPr lang="zh-CN" altLang="en-US" sz="2000" u="sng" dirty="0">
                <a:solidFill>
                  <a:schemeClr val="tx1"/>
                </a:solidFill>
              </a:rPr>
              <a:t>双符号位</a:t>
            </a:r>
            <a:r>
              <a:rPr lang="zh-CN" altLang="en-US" sz="2000" dirty="0">
                <a:solidFill>
                  <a:schemeClr val="tx1"/>
                </a:solidFill>
              </a:rPr>
              <a:t>运算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即变形补码、可忽略运算进位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，尾数采用舍入法。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1134000" indent="-1134000"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       </a:t>
            </a:r>
            <a:r>
              <a:rPr lang="zh-CN" altLang="en-US" sz="2000" dirty="0">
                <a:solidFill>
                  <a:schemeClr val="tx1"/>
                </a:solidFill>
              </a:rPr>
              <a:t>  已知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0.1101×2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+01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-0.1010×2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+11</a:t>
            </a:r>
            <a:r>
              <a:rPr lang="zh-CN" altLang="en-US" sz="2000" dirty="0">
                <a:solidFill>
                  <a:schemeClr val="tx1"/>
                </a:solidFill>
              </a:rPr>
              <a:t>，求</a:t>
            </a:r>
            <a:r>
              <a:rPr lang="en-US" altLang="zh-CN" sz="2000" dirty="0">
                <a:solidFill>
                  <a:schemeClr val="tx1"/>
                </a:solidFill>
              </a:rPr>
              <a:t>[A</a:t>
            </a:r>
            <a:r>
              <a:rPr lang="zh-CN" altLang="en-US" sz="2000" dirty="0">
                <a:solidFill>
                  <a:schemeClr val="tx1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B]</a:t>
            </a:r>
            <a:r>
              <a:rPr lang="zh-CN" altLang="en-US" sz="2000" b="0" baseline="-18000" dirty="0">
                <a:solidFill>
                  <a:schemeClr val="tx1"/>
                </a:solidFill>
              </a:rPr>
              <a:t>浮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29731" name="Text Box 3"/>
          <p:cNvSpPr txBox="1">
            <a:spLocks noChangeArrowheads="1"/>
          </p:cNvSpPr>
          <p:nvPr/>
        </p:nvSpPr>
        <p:spPr bwMode="auto">
          <a:xfrm>
            <a:off x="179388" y="2780928"/>
            <a:ext cx="8785225" cy="16651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①对阶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⑴求公共阶：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max(E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,E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</a:rPr>
              <a:t>Δ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|E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-E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endParaRPr lang="zh-CN" altLang="en-US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        ⑵小阶尾数右移：右移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</a:rPr>
              <a:t>Δ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zh-CN" altLang="en-US" sz="2200" dirty="0">
                <a:solidFill>
                  <a:schemeClr val="tx1"/>
                </a:solidFill>
              </a:rPr>
              <a:t>位，移出的位→附加位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rgbClr val="990099"/>
                </a:solidFill>
              </a:rPr>
              <a:t>        解</a:t>
            </a:r>
            <a:r>
              <a:rPr lang="en-US" altLang="zh-CN" sz="2000" dirty="0">
                <a:solidFill>
                  <a:srgbClr val="990099"/>
                </a:solidFill>
              </a:rPr>
              <a:t>-1</a:t>
            </a:r>
            <a:r>
              <a:rPr lang="zh-CN" altLang="en-US" sz="2000" dirty="0">
                <a:solidFill>
                  <a:srgbClr val="990099"/>
                </a:solidFill>
              </a:rPr>
              <a:t>：</a:t>
            </a:r>
            <a:r>
              <a:rPr lang="en-US" altLang="zh-CN" sz="2000" spc="-100" dirty="0">
                <a:solidFill>
                  <a:schemeClr val="tx1"/>
                </a:solidFill>
              </a:rPr>
              <a:t>[E</a:t>
            </a:r>
            <a:r>
              <a:rPr lang="en-US" altLang="zh-CN" sz="20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spc="-1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/>
              <a:t>00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spc="-100" dirty="0">
                <a:solidFill>
                  <a:schemeClr val="tx1"/>
                </a:solidFill>
              </a:rPr>
              <a:t>11</a:t>
            </a:r>
            <a:r>
              <a:rPr lang="zh-CN" altLang="en-US" sz="2000" spc="-100" dirty="0">
                <a:solidFill>
                  <a:schemeClr val="tx1"/>
                </a:solidFill>
              </a:rPr>
              <a:t>，</a:t>
            </a:r>
            <a:r>
              <a:rPr lang="en-US" altLang="zh-CN" sz="2000" b="0" dirty="0">
                <a:solidFill>
                  <a:schemeClr val="tx1"/>
                </a:solidFill>
              </a:rPr>
              <a:t>Δ</a:t>
            </a:r>
            <a:r>
              <a:rPr lang="en-US" altLang="zh-CN" sz="2000" spc="-100" dirty="0">
                <a:solidFill>
                  <a:schemeClr val="tx1"/>
                </a:solidFill>
              </a:rPr>
              <a:t>E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|</a:t>
            </a:r>
            <a:r>
              <a:rPr lang="en-US" altLang="zh-CN" sz="2000" spc="-100" dirty="0">
                <a:solidFill>
                  <a:srgbClr val="C00000"/>
                </a:solidFill>
              </a:rPr>
              <a:t>00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spc="-100" dirty="0">
                <a:solidFill>
                  <a:schemeClr val="tx1"/>
                </a:solidFill>
              </a:rPr>
              <a:t>01</a:t>
            </a:r>
            <a:r>
              <a:rPr lang="zh-CN" altLang="en-US" sz="2000" spc="-100" dirty="0">
                <a:solidFill>
                  <a:schemeClr val="tx1"/>
                </a:solidFill>
              </a:rPr>
              <a:t>－</a:t>
            </a:r>
            <a:r>
              <a:rPr lang="en-US" altLang="zh-CN" sz="2000" spc="-100" dirty="0">
                <a:solidFill>
                  <a:srgbClr val="C00000"/>
                </a:solidFill>
              </a:rPr>
              <a:t>00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spc="-100" dirty="0">
                <a:solidFill>
                  <a:schemeClr val="tx1"/>
                </a:solidFill>
              </a:rPr>
              <a:t>11|</a:t>
            </a:r>
            <a:r>
              <a:rPr lang="zh-CN" altLang="en-US" sz="2000" spc="-100" dirty="0">
                <a:solidFill>
                  <a:schemeClr val="tx1"/>
                </a:solidFill>
              </a:rPr>
              <a:t>＝</a:t>
            </a:r>
            <a:r>
              <a:rPr lang="en-US" altLang="zh-CN" sz="2000" spc="-100" dirty="0">
                <a:solidFill>
                  <a:schemeClr val="tx1"/>
                </a:solidFill>
              </a:rPr>
              <a:t>10</a:t>
            </a:r>
            <a:r>
              <a:rPr lang="zh-CN" altLang="en-US" sz="2000" spc="-100" dirty="0">
                <a:solidFill>
                  <a:schemeClr val="tx1"/>
                </a:solidFill>
              </a:rPr>
              <a:t>，</a:t>
            </a:r>
            <a:endParaRPr lang="en-US" altLang="zh-CN" sz="2000" spc="-1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             [M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/>
              <a:t>00</a:t>
            </a:r>
            <a:r>
              <a:rPr lang="en-US" altLang="zh-CN" sz="2000" dirty="0">
                <a:solidFill>
                  <a:schemeClr val="tx1"/>
                </a:solidFill>
              </a:rPr>
              <a:t>.</a:t>
            </a:r>
            <a:r>
              <a:rPr lang="en-US" altLang="zh-CN" sz="2000" dirty="0">
                <a:solidFill>
                  <a:srgbClr val="990099"/>
                </a:solidFill>
              </a:rPr>
              <a:t>00</a:t>
            </a:r>
            <a:r>
              <a:rPr lang="en-US" altLang="zh-CN" sz="2000" dirty="0">
                <a:solidFill>
                  <a:schemeClr val="tx1"/>
                </a:solidFill>
              </a:rPr>
              <a:t>11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>
                <a:solidFill>
                  <a:schemeClr val="accent2"/>
                </a:solidFill>
              </a:rPr>
              <a:t>01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[M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/>
              <a:t>11</a:t>
            </a:r>
            <a:r>
              <a:rPr lang="en-US" altLang="zh-CN" sz="2000" dirty="0">
                <a:solidFill>
                  <a:schemeClr val="tx1"/>
                </a:solidFill>
              </a:rPr>
              <a:t>.0110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>
                <a:solidFill>
                  <a:schemeClr val="accent2"/>
                </a:solidFill>
              </a:rPr>
              <a:t>00</a:t>
            </a:r>
            <a:endParaRPr lang="zh-CN" altLang="en-US" sz="2000" u="sng" dirty="0">
              <a:solidFill>
                <a:schemeClr val="tx1"/>
              </a:solidFill>
            </a:endParaRPr>
          </a:p>
        </p:txBody>
      </p:sp>
      <p:sp>
        <p:nvSpPr>
          <p:cNvPr id="329739" name="Text Box 11"/>
          <p:cNvSpPr txBox="1">
            <a:spLocks noChangeArrowheads="1"/>
          </p:cNvSpPr>
          <p:nvPr/>
        </p:nvSpPr>
        <p:spPr bwMode="auto">
          <a:xfrm>
            <a:off x="179388" y="4797152"/>
            <a:ext cx="8785225" cy="8995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4572000" indent="-4572000"/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②尾数加减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±M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，尾数及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附加</a:t>
            </a:r>
            <a:r>
              <a:rPr lang="zh-CN" altLang="en-US" sz="2200" dirty="0">
                <a:solidFill>
                  <a:schemeClr val="tx1"/>
                </a:solidFill>
              </a:rPr>
              <a:t>位一起运算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0" indent="-4572000">
              <a:spcBef>
                <a:spcPts val="30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        解</a:t>
            </a:r>
            <a:r>
              <a:rPr lang="en-US" altLang="zh-CN" sz="2000" dirty="0">
                <a:solidFill>
                  <a:srgbClr val="990099"/>
                </a:solidFill>
              </a:rPr>
              <a:t>-2</a:t>
            </a:r>
            <a:r>
              <a:rPr lang="zh-CN" altLang="en-US" sz="2000" dirty="0">
                <a:solidFill>
                  <a:srgbClr val="990099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[M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00.0011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>
                <a:solidFill>
                  <a:schemeClr val="accent2"/>
                </a:solidFill>
              </a:rPr>
              <a:t>01</a:t>
            </a:r>
            <a:r>
              <a:rPr lang="zh-CN" altLang="en-US" sz="2000" dirty="0">
                <a:solidFill>
                  <a:schemeClr val="accent2"/>
                </a:solidFill>
              </a:rPr>
              <a:t>＋</a:t>
            </a:r>
            <a:r>
              <a:rPr lang="en-US" altLang="zh-CN" sz="2000" dirty="0">
                <a:solidFill>
                  <a:schemeClr val="tx1"/>
                </a:solidFill>
              </a:rPr>
              <a:t>11.0110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</a:rPr>
              <a:t>00</a:t>
            </a:r>
            <a:r>
              <a:rPr lang="zh-CN" altLang="en-US" sz="2000" dirty="0">
                <a:solidFill>
                  <a:schemeClr val="accent2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11.1001</a:t>
            </a:r>
            <a:r>
              <a:rPr lang="en-US" altLang="zh-CN" sz="2000" spc="-100" baseline="-18000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>
                <a:solidFill>
                  <a:schemeClr val="accent2"/>
                </a:solidFill>
              </a:rPr>
              <a:t>01</a:t>
            </a:r>
            <a:endParaRPr lang="en-US" altLang="zh-CN" sz="2000" u="sng" dirty="0">
              <a:solidFill>
                <a:schemeClr val="tx1"/>
              </a:solidFill>
            </a:endParaRPr>
          </a:p>
        </p:txBody>
      </p:sp>
      <p:sp>
        <p:nvSpPr>
          <p:cNvPr id="329749" name="AutoShape 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200"/>
          <p:cNvSpPr txBox="1">
            <a:spLocks noChangeArrowheads="1"/>
          </p:cNvSpPr>
          <p:nvPr/>
        </p:nvSpPr>
        <p:spPr bwMode="auto">
          <a:xfrm>
            <a:off x="1763688" y="4437144"/>
            <a:ext cx="4608512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dirty="0">
                <a:solidFill>
                  <a:schemeClr val="tx1"/>
                </a:solidFill>
              </a:rPr>
              <a:t>小数何时被大数吃掉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右移后＝</a:t>
            </a:r>
            <a:r>
              <a:rPr lang="en-US" altLang="zh-CN" sz="1800" dirty="0">
                <a:solidFill>
                  <a:schemeClr val="tx1"/>
                </a:solidFill>
              </a:rPr>
              <a:t>0)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4" name="Text Box 200"/>
          <p:cNvSpPr txBox="1">
            <a:spLocks noChangeArrowheads="1"/>
          </p:cNvSpPr>
          <p:nvPr/>
        </p:nvSpPr>
        <p:spPr bwMode="auto">
          <a:xfrm>
            <a:off x="6444208" y="4437112"/>
            <a:ext cx="2520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en-US" altLang="zh-CN" sz="1800" b="0" dirty="0">
                <a:solidFill>
                  <a:schemeClr val="tx1"/>
                </a:solidFill>
                <a:latin typeface="+mn-lt"/>
              </a:rPr>
              <a:t>Δ</a:t>
            </a:r>
            <a:r>
              <a:rPr lang="en-US" altLang="zh-CN" sz="1800" dirty="0">
                <a:solidFill>
                  <a:schemeClr val="tx1"/>
                </a:solidFill>
              </a:rPr>
              <a:t>E</a:t>
            </a:r>
            <a:r>
              <a:rPr lang="zh-CN" altLang="en-US" sz="1800" dirty="0">
                <a:solidFill>
                  <a:schemeClr val="tx1"/>
                </a:solidFill>
              </a:rPr>
              <a:t>≥尾数</a:t>
            </a:r>
            <a:r>
              <a:rPr lang="en-US" altLang="zh-CN" sz="1800" dirty="0">
                <a:solidFill>
                  <a:schemeClr val="tx1"/>
                </a:solidFill>
              </a:rPr>
              <a:t>+</a:t>
            </a:r>
            <a:r>
              <a:rPr lang="zh-CN" altLang="en-US" sz="1800" dirty="0">
                <a:solidFill>
                  <a:schemeClr val="tx1"/>
                </a:solidFill>
              </a:rPr>
              <a:t>附加位长度时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5" name="Text Box 200"/>
          <p:cNvSpPr txBox="1">
            <a:spLocks noChangeArrowheads="1"/>
          </p:cNvSpPr>
          <p:nvPr/>
        </p:nvSpPr>
        <p:spPr bwMode="auto">
          <a:xfrm>
            <a:off x="1763688" y="5733256"/>
            <a:ext cx="331236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思考②：运算</a:t>
            </a:r>
            <a:r>
              <a:rPr lang="zh-CN" altLang="en-US" sz="1800" dirty="0">
                <a:solidFill>
                  <a:schemeClr val="tx1"/>
                </a:solidFill>
              </a:rPr>
              <a:t>结果溢出怎么办？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7" name="Text Box 200"/>
          <p:cNvSpPr txBox="1">
            <a:spLocks noChangeArrowheads="1"/>
          </p:cNvSpPr>
          <p:nvPr/>
        </p:nvSpPr>
        <p:spPr bwMode="auto">
          <a:xfrm>
            <a:off x="5148464" y="5733256"/>
            <a:ext cx="3384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不算错误，尾数规格化时可处理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29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29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  <p:bldP spid="1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5" name="Text Box 7"/>
          <p:cNvSpPr txBox="1">
            <a:spLocks noChangeArrowheads="1"/>
          </p:cNvSpPr>
          <p:nvPr/>
        </p:nvSpPr>
        <p:spPr bwMode="auto">
          <a:xfrm>
            <a:off x="179388" y="332656"/>
            <a:ext cx="8713092" cy="61713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2961005" indent="-2961005"/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③结果规格化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规格化结果，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k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934000" indent="-2934000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             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判断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是否溢出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961005" indent="-2961005">
              <a:lnSpc>
                <a:spcPct val="105000"/>
              </a:lnSpc>
            </a:pP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   </a:t>
            </a:r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规格化处理：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方法基于真值、处理基于机器数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961005" indent="-2961005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             |M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|≥1.0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— 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961005" indent="-2961005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0.5≤|M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1.0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—</a:t>
            </a:r>
            <a:r>
              <a:rPr lang="en-US" altLang="zh-CN" sz="11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已为规格化数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   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k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 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053080" indent="-3053080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       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0.5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—</a:t>
            </a:r>
          </a:p>
          <a:p>
            <a:pPr marL="4310380" indent="-4310380"/>
            <a:endParaRPr lang="en-US" altLang="zh-CN" sz="2200" dirty="0">
              <a:solidFill>
                <a:srgbClr val="990099"/>
              </a:solidFill>
              <a:latin typeface="+mn-ea"/>
              <a:ea typeface="+mn-ea"/>
            </a:endParaRPr>
          </a:p>
          <a:p>
            <a:pPr marL="4310380" indent="-4310380"/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       溢出判断：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方法基于机器数、结果基于数据表示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 marL="4035425" indent="-4035425"/>
            <a:r>
              <a:rPr lang="zh-CN" altLang="en-US" sz="2200" dirty="0">
                <a:solidFill>
                  <a:schemeClr val="tx1"/>
                </a:solidFill>
              </a:rPr>
              <a:t>         判断方法～阶的编码、运算方法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如补码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移码、单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双符号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4035425" indent="-4035425"/>
            <a:r>
              <a:rPr lang="en-US" altLang="zh-CN" sz="2200" dirty="0">
                <a:solidFill>
                  <a:schemeClr val="tx1"/>
                </a:solidFill>
              </a:rPr>
              <a:t>         </a:t>
            </a:r>
            <a:r>
              <a:rPr lang="zh-CN" altLang="en-US" sz="2200" dirty="0">
                <a:solidFill>
                  <a:schemeClr val="tx1"/>
                </a:solidFill>
              </a:rPr>
              <a:t>溢出时进行相应处理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并终止运算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035425" indent="-4035425">
              <a:spcBef>
                <a:spcPts val="0"/>
              </a:spcBef>
            </a:pPr>
            <a:r>
              <a:rPr lang="en-US" altLang="zh-CN" sz="2000" dirty="0">
                <a:solidFill>
                  <a:srgbClr val="0070C0"/>
                </a:solidFill>
              </a:rPr>
              <a:t>          IEEE 754</a:t>
            </a:r>
            <a:r>
              <a:rPr lang="zh-CN" altLang="en-US" sz="2000" dirty="0">
                <a:solidFill>
                  <a:srgbClr val="0070C0"/>
                </a:solidFill>
              </a:rPr>
              <a:t>标准</a:t>
            </a:r>
            <a:r>
              <a:rPr lang="en-US" altLang="zh-CN" sz="2000" dirty="0">
                <a:solidFill>
                  <a:srgbClr val="0070C0"/>
                </a:solidFill>
              </a:rPr>
              <a:t>—</a:t>
            </a:r>
            <a:r>
              <a:rPr lang="en-US" altLang="zh-CN" sz="2000" dirty="0">
                <a:solidFill>
                  <a:schemeClr val="tx1"/>
                </a:solidFill>
              </a:rPr>
              <a:t>E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上溢时，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±</a:t>
            </a:r>
            <a:r>
              <a:rPr lang="zh-CN" altLang="en-US" sz="2000" dirty="0">
                <a:solidFill>
                  <a:schemeClr val="tx1"/>
                </a:solidFill>
              </a:rPr>
              <a:t>∞</a:t>
            </a:r>
            <a:r>
              <a:rPr lang="en-US" altLang="zh-CN" sz="2000" dirty="0">
                <a:solidFill>
                  <a:schemeClr val="tx1"/>
                </a:solidFill>
              </a:rPr>
              <a:t>([E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移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255,[M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0)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4035425" indent="-4035425"/>
            <a:r>
              <a:rPr lang="en-US" altLang="zh-CN" sz="2000" dirty="0">
                <a:solidFill>
                  <a:schemeClr val="tx1"/>
                </a:solidFill>
              </a:rPr>
              <a:t>                        E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下溢时，</a:t>
            </a:r>
            <a:r>
              <a:rPr lang="en-US" altLang="zh-CN" sz="2000" dirty="0">
                <a:solidFill>
                  <a:schemeClr val="tx1"/>
                </a:solidFill>
              </a:rPr>
              <a:t>F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0([E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移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0,[M</a:t>
            </a:r>
            <a:r>
              <a:rPr lang="en-US" altLang="zh-CN" sz="2000" baseline="-18000" dirty="0">
                <a:solidFill>
                  <a:schemeClr val="tx1"/>
                </a:solidFill>
              </a:rPr>
              <a:t>F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原</a:t>
            </a:r>
            <a:r>
              <a:rPr lang="zh-CN" altLang="en-US" sz="2000" dirty="0">
                <a:solidFill>
                  <a:schemeClr val="tx1"/>
                </a:solidFill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</a:rPr>
              <a:t>0)</a:t>
            </a:r>
          </a:p>
          <a:p>
            <a:pPr>
              <a:spcBef>
                <a:spcPts val="300"/>
              </a:spcBef>
            </a:pPr>
            <a:r>
              <a:rPr lang="en-US" altLang="zh-CN" sz="2000" dirty="0">
                <a:solidFill>
                  <a:srgbClr val="990099"/>
                </a:solidFill>
                <a:latin typeface="+mn-ea"/>
              </a:rPr>
              <a:t>        </a:t>
            </a:r>
            <a:r>
              <a:rPr lang="zh-CN" altLang="en-US" sz="2000" dirty="0">
                <a:solidFill>
                  <a:srgbClr val="990099"/>
                </a:solidFill>
                <a:latin typeface="+mn-ea"/>
              </a:rPr>
              <a:t>解</a:t>
            </a:r>
            <a:r>
              <a:rPr lang="en-US" altLang="zh-CN" sz="2000" dirty="0">
                <a:solidFill>
                  <a:srgbClr val="990099"/>
                </a:solidFill>
                <a:latin typeface="+mn-ea"/>
              </a:rPr>
              <a:t>-3</a:t>
            </a:r>
            <a:r>
              <a:rPr lang="zh-CN" altLang="en-US" sz="2000" dirty="0">
                <a:solidFill>
                  <a:srgbClr val="990099"/>
                </a:solidFill>
                <a:latin typeface="+mn-ea"/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因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[E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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u="sng" dirty="0">
                <a:solidFill>
                  <a:schemeClr val="tx1"/>
                </a:solidFill>
                <a:latin typeface="+mn-ea"/>
              </a:rPr>
              <a:t>11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[M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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11.</a:t>
            </a:r>
            <a:r>
              <a:rPr lang="en-US" altLang="zh-CN" sz="2000" dirty="0">
                <a:solidFill>
                  <a:schemeClr val="tx1"/>
                </a:solidFill>
                <a:highlight>
                  <a:srgbClr val="FFCC99"/>
                </a:highlight>
                <a:latin typeface="+mn-ea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001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u="sng" dirty="0">
                <a:solidFill>
                  <a:schemeClr val="accent2"/>
                </a:solidFill>
                <a:latin typeface="+mn-ea"/>
              </a:rPr>
              <a:t>01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              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故需左规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次，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[M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11.001</a:t>
            </a:r>
            <a:r>
              <a:rPr lang="en-US" altLang="zh-CN" sz="2000" dirty="0">
                <a:solidFill>
                  <a:schemeClr val="accent2"/>
                </a:solidFill>
                <a:latin typeface="+mn-ea"/>
              </a:rPr>
              <a:t>0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u="sng" dirty="0">
                <a:solidFill>
                  <a:schemeClr val="accent2"/>
                </a:solidFill>
                <a:latin typeface="+mn-ea"/>
              </a:rPr>
              <a:t>1</a:t>
            </a:r>
            <a:r>
              <a:rPr lang="en-US" altLang="zh-CN" sz="2000" u="sng" dirty="0">
                <a:solidFill>
                  <a:schemeClr val="tx1"/>
                </a:solidFill>
                <a:highlight>
                  <a:srgbClr val="CCCCFF"/>
                </a:highlight>
                <a:latin typeface="+mn-ea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[E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u="sng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；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                E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未溢出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([E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16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16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符号＝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01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或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时溢出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067944" y="1484784"/>
            <a:ext cx="4968926" cy="13145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2961005" indent="-2961005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右规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次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(M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＜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2.0)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 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k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961005" indent="-2961005"/>
            <a:endParaRPr lang="zh-CN" altLang="en-US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3053080" indent="-3053080"/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左规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次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直到≥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0.5)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k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-x</a:t>
            </a: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4A4F-4B26-40EA-B82E-7CF9965F094D}" type="slidenum">
              <a:rPr lang="en-US" altLang="zh-CN"/>
              <a:t>65</a:t>
            </a:fld>
            <a:endParaRPr lang="en-US" altLang="zh-CN"/>
          </a:p>
        </p:txBody>
      </p:sp>
      <p:sp>
        <p:nvSpPr>
          <p:cNvPr id="416780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1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200"/>
          <p:cNvSpPr txBox="1">
            <a:spLocks noChangeArrowheads="1"/>
          </p:cNvSpPr>
          <p:nvPr/>
        </p:nvSpPr>
        <p:spPr bwMode="auto">
          <a:xfrm>
            <a:off x="1763688" y="2852936"/>
            <a:ext cx="46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M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1800" baseline="-20000" dirty="0">
                <a:solidFill>
                  <a:schemeClr val="tx1"/>
                </a:solidFill>
              </a:rPr>
              <a:t>F</a:t>
            </a:r>
            <a:r>
              <a:rPr lang="zh-CN" altLang="en-US" sz="1800" dirty="0">
                <a:solidFill>
                  <a:schemeClr val="tx1"/>
                </a:solidFill>
              </a:rPr>
              <a:t>为补码、＜</a:t>
            </a:r>
            <a:r>
              <a:rPr lang="en-US" altLang="zh-CN" sz="1800" dirty="0">
                <a:solidFill>
                  <a:schemeClr val="tx1"/>
                </a:solidFill>
              </a:rPr>
              <a:t>0</a:t>
            </a:r>
            <a:r>
              <a:rPr lang="zh-CN" altLang="en-US" sz="1800" dirty="0">
                <a:solidFill>
                  <a:schemeClr val="tx1"/>
                </a:solidFill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</a:rPr>
              <a:t>3</a:t>
            </a:r>
            <a:r>
              <a:rPr lang="zh-CN" altLang="en-US" sz="1800" dirty="0">
                <a:solidFill>
                  <a:schemeClr val="tx1"/>
                </a:solidFill>
              </a:rPr>
              <a:t>种范围有何变化？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3" name="Text Box 200"/>
          <p:cNvSpPr txBox="1">
            <a:spLocks noChangeArrowheads="1"/>
          </p:cNvSpPr>
          <p:nvPr/>
        </p:nvSpPr>
        <p:spPr bwMode="auto">
          <a:xfrm>
            <a:off x="6480000" y="2859562"/>
            <a:ext cx="262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＞，＜及≤</a:t>
            </a:r>
            <a:r>
              <a:rPr lang="en-US" altLang="zh-CN" sz="1800" dirty="0">
                <a:solidFill>
                  <a:schemeClr val="tx1"/>
                </a:solidFill>
              </a:rPr>
              <a:t>-1.0</a:t>
            </a:r>
            <a:r>
              <a:rPr lang="zh-CN" altLang="en-US" sz="1800" dirty="0">
                <a:solidFill>
                  <a:schemeClr val="tx1"/>
                </a:solidFill>
              </a:rPr>
              <a:t>，≤</a:t>
            </a:r>
            <a:r>
              <a:rPr lang="en-US" altLang="zh-CN" sz="1800" dirty="0">
                <a:solidFill>
                  <a:schemeClr val="tx1"/>
                </a:solidFill>
              </a:rPr>
              <a:t>-0.5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67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67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167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167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67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167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167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16" name="Text Box 12"/>
          <p:cNvSpPr txBox="1">
            <a:spLocks noChangeArrowheads="1"/>
          </p:cNvSpPr>
          <p:nvPr/>
        </p:nvSpPr>
        <p:spPr bwMode="auto">
          <a:xfrm>
            <a:off x="179388" y="332656"/>
            <a:ext cx="8857108" cy="51255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4035425" indent="-4035425"/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  <a:latin typeface="+mn-ea"/>
                <a:ea typeface="+mn-ea"/>
              </a:rPr>
              <a:t>④尾数舍入</a:t>
            </a: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根据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附加位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得到；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035425" indent="-4035425"/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                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规格化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en-US" altLang="zh-CN" sz="1800" baseline="-20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E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E</a:t>
            </a:r>
            <a:r>
              <a:rPr lang="en-US" altLang="zh-CN" sz="1800" baseline="-20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  <a:ea typeface="+mn-ea"/>
              </a:rPr>
              <a:t>判断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E</a:t>
            </a:r>
            <a:r>
              <a:rPr lang="en-US" altLang="zh-CN" sz="2200" baseline="-20000" dirty="0">
                <a:solidFill>
                  <a:schemeClr val="tx1"/>
                </a:solidFill>
                <a:latin typeface="+mn-ea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是否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溢出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035425" indent="-4035425">
              <a:spcBef>
                <a:spcPts val="200"/>
              </a:spcBef>
            </a:pPr>
            <a:r>
              <a:rPr lang="en-US" altLang="zh-CN" sz="2200" dirty="0">
                <a:solidFill>
                  <a:srgbClr val="990099"/>
                </a:solidFill>
                <a:latin typeface="+mn-ea"/>
                <a:ea typeface="+mn-ea"/>
              </a:rPr>
              <a:t>       </a:t>
            </a:r>
            <a:r>
              <a:rPr lang="zh-CN" altLang="en-US" sz="2200" dirty="0">
                <a:solidFill>
                  <a:srgbClr val="990099"/>
                </a:solidFill>
                <a:latin typeface="+mn-ea"/>
                <a:ea typeface="+mn-ea"/>
              </a:rPr>
              <a:t>舍入方法：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035425" indent="-4035425">
              <a:lnSpc>
                <a:spcPct val="105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          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基于真值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1800" dirty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           IEEE 754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标准：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默认采用</a:t>
            </a:r>
            <a:r>
              <a:rPr lang="zh-CN" altLang="en-US" sz="2000" u="sng" dirty="0">
                <a:solidFill>
                  <a:schemeClr val="tx1"/>
                </a:solidFill>
                <a:latin typeface="+mn-ea"/>
                <a:ea typeface="+mn-ea"/>
              </a:rPr>
              <a:t>就近舍入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法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(4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舍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/6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入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en-US" altLang="zh-CN" sz="1600" dirty="0">
                <a:solidFill>
                  <a:srgbClr val="0070C0"/>
                </a:solidFill>
                <a:latin typeface="+mn-ea"/>
                <a:ea typeface="+mn-ea"/>
              </a:rPr>
              <a:t>5</a:t>
            </a:r>
            <a:r>
              <a:rPr lang="zh-CN" altLang="en-US" sz="1600" dirty="0">
                <a:solidFill>
                  <a:srgbClr val="0070C0"/>
                </a:solidFill>
                <a:latin typeface="+mn-ea"/>
                <a:ea typeface="+mn-ea"/>
              </a:rPr>
              <a:t>成偶数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 marL="4035425" indent="-4035425">
              <a:lnSpc>
                <a:spcPct val="10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                              M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18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1800" baseline="-20000" dirty="0">
                <a:solidFill>
                  <a:schemeClr val="tx1"/>
                </a:solidFill>
                <a:latin typeface="+mn-ea"/>
                <a:ea typeface="+mn-ea"/>
              </a:rPr>
              <a:t>末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=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、否则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</a:rPr>
              <a:t>┴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M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1800" baseline="-2000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1800" baseline="-20000" dirty="0">
                <a:solidFill>
                  <a:schemeClr val="tx1"/>
                </a:solidFill>
                <a:latin typeface="+mn-ea"/>
                <a:ea typeface="+mn-ea"/>
              </a:rPr>
              <a:t>附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=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10…0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990099"/>
                </a:solidFill>
                <a:latin typeface="+mn-ea"/>
              </a:rPr>
              <a:t>       </a:t>
            </a:r>
            <a:r>
              <a:rPr lang="zh-CN" altLang="en-US" sz="2200" dirty="0">
                <a:solidFill>
                  <a:srgbClr val="990099"/>
                </a:solidFill>
                <a:latin typeface="+mn-ea"/>
              </a:rPr>
              <a:t>舍入处理：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</a:rPr>
              <a:t>基于编码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完成舍入</a:t>
            </a:r>
            <a:r>
              <a:rPr lang="zh-CN" altLang="en-US" sz="2200" dirty="0">
                <a:solidFill>
                  <a:schemeClr val="tx1"/>
                </a:solidFill>
              </a:rPr>
              <a:t>方法</a:t>
            </a:r>
            <a:endParaRPr lang="en-US" altLang="zh-CN" sz="2200" dirty="0">
              <a:solidFill>
                <a:schemeClr val="tx1"/>
              </a:solidFill>
              <a:latin typeface="+mn-ea"/>
            </a:endParaRPr>
          </a:p>
          <a:p>
            <a:endParaRPr lang="en-US" altLang="zh-CN" sz="2000" dirty="0">
              <a:solidFill>
                <a:srgbClr val="990099"/>
              </a:solidFill>
              <a:latin typeface="+mn-ea"/>
            </a:endParaRPr>
          </a:p>
          <a:p>
            <a:endParaRPr lang="en-US" altLang="zh-CN" sz="2000" dirty="0">
              <a:solidFill>
                <a:srgbClr val="990099"/>
              </a:solidFill>
              <a:latin typeface="+mn-ea"/>
            </a:endParaRPr>
          </a:p>
          <a:p>
            <a:endParaRPr lang="en-US" altLang="zh-CN" sz="2000" dirty="0">
              <a:solidFill>
                <a:srgbClr val="990099"/>
              </a:solidFill>
              <a:latin typeface="+mn-ea"/>
            </a:endParaRPr>
          </a:p>
          <a:p>
            <a:endParaRPr lang="en-US" altLang="zh-CN" sz="2000" dirty="0">
              <a:solidFill>
                <a:srgbClr val="990099"/>
              </a:solidFill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rgbClr val="990099"/>
                </a:solidFill>
                <a:latin typeface="+mn-ea"/>
              </a:rPr>
              <a:t>        </a:t>
            </a:r>
            <a:r>
              <a:rPr lang="zh-CN" altLang="en-US" sz="2000" dirty="0">
                <a:solidFill>
                  <a:srgbClr val="990099"/>
                </a:solidFill>
                <a:latin typeface="+mn-ea"/>
              </a:rPr>
              <a:t>解</a:t>
            </a:r>
            <a:r>
              <a:rPr lang="en-US" altLang="zh-CN" sz="2000" dirty="0">
                <a:solidFill>
                  <a:srgbClr val="990099"/>
                </a:solidFill>
                <a:latin typeface="+mn-ea"/>
              </a:rPr>
              <a:t>-4</a:t>
            </a:r>
            <a:r>
              <a:rPr lang="zh-CN" altLang="en-US" sz="2000" dirty="0">
                <a:solidFill>
                  <a:srgbClr val="990099"/>
                </a:solidFill>
                <a:latin typeface="+mn-ea"/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因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[M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11.0010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u="sng" dirty="0">
                <a:solidFill>
                  <a:schemeClr val="accent2"/>
                </a:solidFill>
                <a:latin typeface="+mn-ea"/>
              </a:rPr>
              <a:t>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[E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00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u="sng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，尾数采用舍入法，</a:t>
            </a:r>
            <a:endParaRPr lang="en-US" altLang="zh-CN" sz="20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              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故附加位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选择</a:t>
            </a:r>
            <a:r>
              <a:rPr lang="zh-CN" altLang="en-US" sz="2000" u="sng" dirty="0">
                <a:solidFill>
                  <a:schemeClr val="tx1"/>
                </a:solidFill>
                <a:latin typeface="+mn-ea"/>
              </a:rPr>
              <a:t>舍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真值变大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[M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1.0010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[E</a:t>
            </a:r>
            <a:r>
              <a:rPr lang="en-US" altLang="zh-CN" sz="2000" baseline="-18000" dirty="0">
                <a:solidFill>
                  <a:schemeClr val="tx1"/>
                </a:solidFill>
                <a:latin typeface="+mn-ea"/>
              </a:rPr>
              <a:t>F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  <a:latin typeface="+mn-ea"/>
              </a:rPr>
              <a:t>补</a:t>
            </a:r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2000" b="0" baseline="-18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10        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167A-F375-4095-89D4-CE8E39B16F54}" type="slidenum">
              <a:rPr lang="en-US" altLang="zh-CN"/>
              <a:t>66</a:t>
            </a:fld>
            <a:endParaRPr lang="en-US" altLang="zh-CN" dirty="0"/>
          </a:p>
        </p:txBody>
      </p:sp>
      <p:sp>
        <p:nvSpPr>
          <p:cNvPr id="328719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9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79388" y="5447546"/>
            <a:ext cx="8785225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</a:rPr>
              <a:t>    </a:t>
            </a:r>
            <a:r>
              <a:rPr lang="zh-CN" altLang="en-US" sz="2000" dirty="0">
                <a:solidFill>
                  <a:srgbClr val="990099"/>
                </a:solidFill>
              </a:rPr>
              <a:t>练习</a:t>
            </a:r>
            <a:r>
              <a:rPr lang="en-US" altLang="zh-CN" sz="2000" dirty="0">
                <a:solidFill>
                  <a:srgbClr val="990099"/>
                </a:solidFill>
              </a:rPr>
              <a:t>—</a:t>
            </a:r>
            <a:r>
              <a:rPr lang="zh-CN" altLang="en-US" sz="2000" dirty="0">
                <a:solidFill>
                  <a:schemeClr val="tx1"/>
                </a:solidFill>
              </a:rPr>
              <a:t>浮点数的尾数用</a:t>
            </a:r>
            <a:r>
              <a:rPr lang="en-US" altLang="zh-CN" sz="2000" dirty="0">
                <a:solidFill>
                  <a:schemeClr val="tx1"/>
                </a:solidFill>
              </a:rPr>
              <a:t>6</a:t>
            </a:r>
            <a:r>
              <a:rPr lang="zh-CN" altLang="en-US" sz="2000" dirty="0">
                <a:solidFill>
                  <a:schemeClr val="tx1"/>
                </a:solidFill>
              </a:rPr>
              <a:t>位原码、阶用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位移码表示，附加位为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位，采用</a:t>
            </a:r>
            <a:r>
              <a:rPr lang="zh-CN" altLang="en-US" sz="2000" u="sng" dirty="0">
                <a:solidFill>
                  <a:schemeClr val="tx1"/>
                </a:solidFill>
              </a:rPr>
              <a:t>单符号位</a:t>
            </a:r>
            <a:r>
              <a:rPr lang="zh-CN" altLang="en-US" sz="2000" dirty="0">
                <a:solidFill>
                  <a:schemeClr val="tx1"/>
                </a:solidFill>
              </a:rPr>
              <a:t>运算，尾数采用舍入法。求</a:t>
            </a:r>
            <a:r>
              <a:rPr lang="en-US" altLang="zh-CN" sz="2000" dirty="0">
                <a:solidFill>
                  <a:schemeClr val="tx1"/>
                </a:solidFill>
              </a:rPr>
              <a:t>[0.11001×2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6</a:t>
            </a:r>
            <a:r>
              <a:rPr lang="zh-CN" altLang="en-US" sz="2000" dirty="0">
                <a:solidFill>
                  <a:schemeClr val="tx1"/>
                </a:solidFill>
              </a:rPr>
              <a:t>－</a:t>
            </a:r>
            <a:r>
              <a:rPr lang="en-US" altLang="zh-CN" sz="2000" dirty="0">
                <a:solidFill>
                  <a:schemeClr val="tx1"/>
                </a:solidFill>
              </a:rPr>
              <a:t>0.10101×2</a:t>
            </a:r>
            <a:r>
              <a:rPr lang="en-US" altLang="zh-CN" sz="2000" baseline="30000" dirty="0">
                <a:solidFill>
                  <a:schemeClr val="tx1"/>
                </a:solidFill>
              </a:rPr>
              <a:t>4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r>
              <a:rPr lang="zh-CN" altLang="en-US" sz="2000" baseline="-18000" dirty="0">
                <a:solidFill>
                  <a:schemeClr val="tx1"/>
                </a:solidFill>
              </a:rPr>
              <a:t>浮</a:t>
            </a:r>
          </a:p>
        </p:txBody>
      </p:sp>
      <p:sp>
        <p:nvSpPr>
          <p:cNvPr id="22" name="AutoShape 29"/>
          <p:cNvSpPr/>
          <p:nvPr/>
        </p:nvSpPr>
        <p:spPr bwMode="auto">
          <a:xfrm>
            <a:off x="7596464" y="2636912"/>
            <a:ext cx="1332000" cy="252000"/>
          </a:xfrm>
          <a:prstGeom prst="borderCallout2">
            <a:avLst>
              <a:gd name="adj1" fmla="val 52165"/>
              <a:gd name="adj2" fmla="val 428"/>
              <a:gd name="adj3" fmla="val 53342"/>
              <a:gd name="adj4" fmla="val -16329"/>
              <a:gd name="adj5" fmla="val -147779"/>
              <a:gd name="adj6" fmla="val -3188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∈查表</a:t>
            </a:r>
            <a:r>
              <a:rPr lang="zh-CN" altLang="en-US" sz="1600" b="1" dirty="0">
                <a:solidFill>
                  <a:schemeClr val="tx1"/>
                </a:solidFill>
              </a:rPr>
              <a:t>舍入法</a:t>
            </a:r>
          </a:p>
        </p:txBody>
      </p:sp>
      <p:sp>
        <p:nvSpPr>
          <p:cNvPr id="32" name="矩形 31"/>
          <p:cNvSpPr/>
          <p:nvPr/>
        </p:nvSpPr>
        <p:spPr>
          <a:xfrm>
            <a:off x="1584488" y="3068960"/>
            <a:ext cx="7380000" cy="1492250"/>
          </a:xfrm>
          <a:prstGeom prst="rect">
            <a:avLst/>
          </a:prstGeom>
          <a:ln w="12700">
            <a:solidFill>
              <a:srgbClr val="FF3399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教材</a:t>
            </a:r>
            <a:r>
              <a:rPr lang="en-US" altLang="zh-CN" sz="1600" dirty="0">
                <a:solidFill>
                  <a:schemeClr val="tx1"/>
                </a:solidFill>
              </a:rPr>
              <a:t>P76</a:t>
            </a:r>
            <a:r>
              <a:rPr lang="zh-CN" altLang="en-US" sz="1600" dirty="0">
                <a:solidFill>
                  <a:schemeClr val="tx1"/>
                </a:solidFill>
              </a:rPr>
              <a:t>第</a:t>
            </a:r>
            <a:r>
              <a:rPr lang="en-US" altLang="zh-CN" sz="1600" dirty="0">
                <a:solidFill>
                  <a:schemeClr val="tx1"/>
                </a:solidFill>
              </a:rPr>
              <a:t>17</a:t>
            </a:r>
            <a:r>
              <a:rPr lang="zh-CN" altLang="en-US" sz="1600" dirty="0">
                <a:solidFill>
                  <a:schemeClr val="tx1"/>
                </a:solidFill>
              </a:rPr>
              <a:t>行那一段，说明的是</a:t>
            </a:r>
            <a:r>
              <a:rPr lang="zh-CN" altLang="en-US" sz="1600" u="sng" dirty="0">
                <a:solidFill>
                  <a:srgbClr val="0070C0"/>
                </a:solidFill>
                <a:highlight>
                  <a:srgbClr val="FFFF00"/>
                </a:highlight>
              </a:rPr>
              <a:t>基于机器数</a:t>
            </a:r>
            <a:r>
              <a:rPr lang="zh-CN" altLang="en-US" sz="1600" dirty="0">
                <a:solidFill>
                  <a:schemeClr val="tx1"/>
                </a:solidFill>
              </a:rPr>
              <a:t>的舍入方法，</a:t>
            </a:r>
            <a:r>
              <a:rPr lang="zh-CN" altLang="en-US" sz="1600" dirty="0">
                <a:solidFill>
                  <a:srgbClr val="FF3399"/>
                </a:solidFill>
              </a:rPr>
              <a:t>更正如下</a:t>
            </a:r>
            <a:r>
              <a:rPr lang="zh-CN" altLang="en-US" sz="1600" dirty="0">
                <a:solidFill>
                  <a:schemeClr val="tx1"/>
                </a:solidFill>
              </a:rPr>
              <a:t>：</a:t>
            </a:r>
            <a:endParaRPr lang="en-US" altLang="zh-CN" sz="1600" dirty="0"/>
          </a:p>
          <a:p>
            <a:pPr>
              <a:lnSpc>
                <a:spcPct val="114000"/>
              </a:lnSpc>
            </a:pPr>
            <a:r>
              <a:rPr lang="zh-CN" altLang="zh-CN" sz="1600" dirty="0">
                <a:solidFill>
                  <a:schemeClr val="tx1"/>
                </a:solidFill>
              </a:rPr>
              <a:t>由于负数</a:t>
            </a:r>
            <a:r>
              <a:rPr lang="zh-CN" altLang="en-US" sz="1600" dirty="0">
                <a:solidFill>
                  <a:srgbClr val="C00000"/>
                </a:solidFill>
              </a:rPr>
              <a:t>机器数</a:t>
            </a:r>
            <a:r>
              <a:rPr lang="zh-CN" altLang="zh-CN" sz="1600" dirty="0">
                <a:solidFill>
                  <a:schemeClr val="tx1"/>
                </a:solidFill>
              </a:rPr>
              <a:t>的舍使绝对值变大、入使绝对值变小，为了针对真值舍入，负数</a:t>
            </a:r>
            <a:r>
              <a:rPr lang="zh-CN" altLang="en-US" sz="1600" dirty="0">
                <a:solidFill>
                  <a:srgbClr val="C00000"/>
                </a:solidFill>
              </a:rPr>
              <a:t>机器数</a:t>
            </a:r>
            <a:r>
              <a:rPr lang="zh-CN" altLang="zh-CN" sz="1600" dirty="0">
                <a:solidFill>
                  <a:schemeClr val="tx1"/>
                </a:solidFill>
              </a:rPr>
              <a:t>采用如下规则：①所有位全为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时，不舍不入；②最高位为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、其余位不全为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时，或最高位为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zh-CN" sz="1600" dirty="0">
                <a:solidFill>
                  <a:schemeClr val="tx1"/>
                </a:solidFill>
              </a:rPr>
              <a:t>、其余位全为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时，进行</a:t>
            </a:r>
            <a:r>
              <a:rPr lang="zh-CN" altLang="en-US" sz="1600" dirty="0">
                <a:solidFill>
                  <a:schemeClr val="tx1"/>
                </a:solidFill>
              </a:rPr>
              <a:t>舍</a:t>
            </a:r>
            <a:r>
              <a:rPr lang="zh-CN" altLang="zh-CN" sz="1600" dirty="0">
                <a:solidFill>
                  <a:schemeClr val="tx1"/>
                </a:solidFill>
              </a:rPr>
              <a:t>处理；③最高位为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zh-CN" sz="1600" dirty="0">
                <a:solidFill>
                  <a:schemeClr val="tx1"/>
                </a:solidFill>
              </a:rPr>
              <a:t>、其余位不全为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时，进行</a:t>
            </a:r>
            <a:r>
              <a:rPr lang="zh-CN" altLang="en-US" sz="1600" dirty="0">
                <a:solidFill>
                  <a:schemeClr val="tx1"/>
                </a:solidFill>
              </a:rPr>
              <a:t>入</a:t>
            </a:r>
            <a:r>
              <a:rPr lang="zh-CN" altLang="zh-CN" sz="1600" dirty="0">
                <a:solidFill>
                  <a:schemeClr val="tx1"/>
                </a:solidFill>
              </a:rPr>
              <a:t>处理。就是说，</a:t>
            </a:r>
            <a:r>
              <a:rPr lang="zh-CN" altLang="en-US" sz="1600" dirty="0">
                <a:solidFill>
                  <a:srgbClr val="C00000"/>
                </a:solidFill>
              </a:rPr>
              <a:t>附加位机器数</a:t>
            </a:r>
            <a:r>
              <a:rPr lang="zh-CN" altLang="zh-CN" sz="1600" dirty="0">
                <a:solidFill>
                  <a:schemeClr val="tx1"/>
                </a:solidFill>
              </a:rPr>
              <a:t>在</a:t>
            </a:r>
            <a:r>
              <a:rPr lang="en-US" altLang="zh-CN" sz="1600" dirty="0">
                <a:solidFill>
                  <a:srgbClr val="C00000"/>
                </a:solidFill>
              </a:rPr>
              <a:t>01/10</a:t>
            </a:r>
            <a:r>
              <a:rPr lang="zh-CN" altLang="zh-CN" sz="1600" dirty="0">
                <a:solidFill>
                  <a:schemeClr val="tx1"/>
                </a:solidFill>
              </a:rPr>
              <a:t>时舍、</a:t>
            </a:r>
            <a:r>
              <a:rPr lang="en-US" altLang="zh-CN" sz="1600" dirty="0">
                <a:solidFill>
                  <a:srgbClr val="C00000"/>
                </a:solidFill>
              </a:rPr>
              <a:t>11</a:t>
            </a:r>
            <a:r>
              <a:rPr lang="zh-CN" altLang="zh-CN" sz="1600" dirty="0">
                <a:solidFill>
                  <a:schemeClr val="tx1"/>
                </a:solidFill>
              </a:rPr>
              <a:t>时入、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en-US" altLang="zh-CN" sz="1600" dirty="0">
                <a:solidFill>
                  <a:srgbClr val="C00000"/>
                </a:solidFill>
              </a:rPr>
              <a:t>0</a:t>
            </a:r>
            <a:r>
              <a:rPr lang="zh-CN" altLang="zh-CN" sz="1600" dirty="0">
                <a:solidFill>
                  <a:schemeClr val="tx1"/>
                </a:solidFill>
              </a:rPr>
              <a:t>时弃。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AD74B6F-469F-4D6A-AC20-5B6B9E11B462}"/>
              </a:ext>
            </a:extLst>
          </p:cNvPr>
          <p:cNvGrpSpPr/>
          <p:nvPr/>
        </p:nvGrpSpPr>
        <p:grpSpPr>
          <a:xfrm>
            <a:off x="6948432" y="475200"/>
            <a:ext cx="2016056" cy="576072"/>
            <a:chOff x="6948432" y="468000"/>
            <a:chExt cx="2016056" cy="576072"/>
          </a:xfrm>
        </p:grpSpPr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C34F904D-69BB-46CE-8A43-AA157C89AF06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7848000" y="504000"/>
              <a:ext cx="72000" cy="10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 Box 22">
              <a:extLst>
                <a:ext uri="{FF2B5EF4-FFF2-40B4-BE49-F238E27FC236}">
                  <a16:creationId xmlns:a16="http://schemas.microsoft.com/office/drawing/2014/main" id="{AF6F038C-F104-4AEC-BA5A-293CCBBCB6F7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136000" y="504000"/>
              <a:ext cx="72000" cy="10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94F96A85-A4B2-4A3A-8102-5F6A74C6EC86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424000" y="504000"/>
              <a:ext cx="72000" cy="10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 bwMode="auto">
            <a:xfrm>
              <a:off x="7452488" y="612072"/>
              <a:ext cx="1512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 flipV="1">
              <a:off x="7632256" y="468024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/>
          </p:nvCxnSpPr>
          <p:spPr bwMode="auto">
            <a:xfrm flipV="1">
              <a:off x="8748632" y="46800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28"/>
            <p:cNvSpPr txBox="1">
              <a:spLocks noChangeArrowheads="1"/>
            </p:cNvSpPr>
            <p:nvPr/>
          </p:nvSpPr>
          <p:spPr bwMode="auto">
            <a:xfrm>
              <a:off x="6948432" y="612072"/>
              <a:ext cx="2016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solidFill>
                    <a:schemeClr val="tx1"/>
                  </a:solidFill>
                </a:rPr>
                <a:t>真值</a:t>
              </a:r>
              <a:r>
                <a:rPr lang="en-US" altLang="zh-CN" sz="1400" dirty="0">
                  <a:solidFill>
                    <a:schemeClr val="tx1"/>
                  </a:solidFill>
                </a:rPr>
                <a:t>-0.11        -0.10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400" dirty="0">
                  <a:solidFill>
                    <a:schemeClr val="tx1"/>
                  </a:solidFill>
                </a:rPr>
                <a:t>补码  </a:t>
              </a:r>
              <a:r>
                <a:rPr lang="en-US" altLang="zh-CN" sz="1400" dirty="0">
                  <a:solidFill>
                    <a:schemeClr val="accent2"/>
                  </a:solidFill>
                </a:rPr>
                <a:t>101</a:t>
              </a:r>
              <a:r>
                <a:rPr lang="en-US" altLang="zh-CN" sz="1400" dirty="0">
                  <a:solidFill>
                    <a:schemeClr val="tx1"/>
                  </a:solidFill>
                </a:rPr>
                <a:t>  101:</a:t>
              </a:r>
              <a:r>
                <a:rPr lang="en-US" altLang="zh-CN" sz="1400" dirty="0">
                  <a:solidFill>
                    <a:srgbClr val="C00000"/>
                  </a:solidFill>
                </a:rPr>
                <a:t>10</a:t>
              </a:r>
              <a:r>
                <a:rPr lang="en-US" altLang="zh-CN" sz="1400" dirty="0">
                  <a:solidFill>
                    <a:schemeClr val="tx1"/>
                  </a:solidFill>
                </a:rPr>
                <a:t>  </a:t>
              </a:r>
              <a:r>
                <a:rPr lang="en-US" altLang="zh-CN" sz="1400" dirty="0">
                  <a:solidFill>
                    <a:schemeClr val="accent2"/>
                  </a:solidFill>
                </a:rPr>
                <a:t>110</a:t>
              </a:r>
            </a:p>
          </p:txBody>
        </p:sp>
        <p:cxnSp>
          <p:nvCxnSpPr>
            <p:cNvPr id="38" name="直接连接符 37"/>
            <p:cNvCxnSpPr/>
            <p:nvPr/>
          </p:nvCxnSpPr>
          <p:spPr bwMode="auto">
            <a:xfrm flipV="1">
              <a:off x="8172336" y="504072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 flipV="1">
              <a:off x="8460600" y="504024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 flipV="1">
              <a:off x="7884536" y="504024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7" name="Text Box 12">
            <a:extLst>
              <a:ext uri="{FF2B5EF4-FFF2-40B4-BE49-F238E27FC236}">
                <a16:creationId xmlns:a16="http://schemas.microsoft.com/office/drawing/2014/main" id="{4189CABC-D38B-47C2-BC43-FEF33732D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652" y="1196752"/>
            <a:ext cx="6264820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4035425" indent="-4035425"/>
            <a:r>
              <a:rPr lang="zh-CN" altLang="en-US" sz="2200" u="sng" dirty="0">
                <a:solidFill>
                  <a:schemeClr val="tx1"/>
                </a:solidFill>
                <a:latin typeface="+mn-ea"/>
              </a:rPr>
              <a:t>截断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舍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,y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0)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</a:rPr>
              <a:t>恒置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200" u="sng" dirty="0">
                <a:solidFill>
                  <a:schemeClr val="tx1"/>
                </a:solidFill>
                <a:latin typeface="+mn-ea"/>
              </a:rPr>
              <a:t>舍入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就近舍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入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,y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＝附加</a:t>
            </a:r>
            <a:r>
              <a:rPr lang="zh-CN" altLang="en-US" sz="1800" baseline="-20000" dirty="0">
                <a:solidFill>
                  <a:schemeClr val="tx1"/>
                </a:solidFill>
                <a:latin typeface="+mn-ea"/>
              </a:rPr>
              <a:t>首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035425" indent="-4035425">
              <a:lnSpc>
                <a:spcPct val="105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                        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朝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∞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入、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1[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正数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]/-1[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负数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endParaRPr lang="en-US" altLang="zh-CN" sz="18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8" name="AutoShape 29">
            <a:extLst>
              <a:ext uri="{FF2B5EF4-FFF2-40B4-BE49-F238E27FC236}">
                <a16:creationId xmlns:a16="http://schemas.microsoft.com/office/drawing/2014/main" id="{22C80248-02D3-4765-9A75-135030CD4F69}"/>
              </a:ext>
            </a:extLst>
          </p:cNvPr>
          <p:cNvSpPr/>
          <p:nvPr/>
        </p:nvSpPr>
        <p:spPr bwMode="auto">
          <a:xfrm>
            <a:off x="323640" y="980728"/>
            <a:ext cx="1008000" cy="252000"/>
          </a:xfrm>
          <a:prstGeom prst="borderCallout2">
            <a:avLst>
              <a:gd name="adj1" fmla="val 57791"/>
              <a:gd name="adj2" fmla="val 98878"/>
              <a:gd name="adj3" fmla="val 56155"/>
              <a:gd name="adj4" fmla="val 115609"/>
              <a:gd name="adj5" fmla="val 153196"/>
              <a:gd name="adj6" fmla="val 11976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M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</a:t>
            </a:r>
            <a:r>
              <a:rPr lang="en-US" altLang="zh-CN" sz="1600" baseline="-20000" dirty="0">
                <a:solidFill>
                  <a:schemeClr val="tx1"/>
                </a:solidFill>
                <a:latin typeface="+mn-ea"/>
              </a:rPr>
              <a:t>F</a:t>
            </a:r>
            <a:r>
              <a:rPr lang="zh-CN" altLang="en-US" sz="1600" baseline="-20000" dirty="0">
                <a:solidFill>
                  <a:schemeClr val="tx1"/>
                </a:solidFill>
                <a:latin typeface="+mn-ea"/>
              </a:rPr>
              <a:t>附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≠0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时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8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8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28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8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 bldLvl="0" animBg="1"/>
      <p:bldP spid="32" grpId="0" bldLvl="0" animBg="1"/>
      <p:bldP spid="1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F046-C5DA-4321-8B0D-6634E89CDC53}" type="slidenum">
              <a:rPr lang="en-US" altLang="zh-CN"/>
              <a:t>67</a:t>
            </a:fld>
            <a:endParaRPr lang="en-US" altLang="zh-CN"/>
          </a:p>
        </p:txBody>
      </p:sp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179388" y="332656"/>
            <a:ext cx="3672651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*逻辑实现：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思路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结构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55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907704" y="1700808"/>
            <a:ext cx="5760488" cy="4320480"/>
            <a:chOff x="2051720" y="1484784"/>
            <a:chExt cx="5760488" cy="4320480"/>
          </a:xfrm>
        </p:grpSpPr>
        <p:sp>
          <p:nvSpPr>
            <p:cNvPr id="111" name="Text Box 128"/>
            <p:cNvSpPr txBox="1">
              <a:spLocks noChangeArrowheads="1"/>
            </p:cNvSpPr>
            <p:nvPr/>
          </p:nvSpPr>
          <p:spPr bwMode="auto">
            <a:xfrm>
              <a:off x="2123728" y="2853000"/>
              <a:ext cx="180000" cy="576000"/>
            </a:xfrm>
            <a:prstGeom prst="rect">
              <a:avLst/>
            </a:prstGeom>
            <a:solidFill>
              <a:srgbClr val="CCFFFF"/>
            </a:solidFill>
            <a:ln w="15875">
              <a:noFill/>
              <a:miter lim="800000"/>
            </a:ln>
            <a:effectLst/>
          </p:spPr>
          <p:txBody>
            <a:bodyPr vert="eaVert" wrap="none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solidFill>
                    <a:schemeClr val="tx1"/>
                  </a:solidFill>
                </a:rPr>
                <a:t>结果阶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13" name="Text Box 128"/>
            <p:cNvSpPr txBox="1">
              <a:spLocks noChangeArrowheads="1"/>
            </p:cNvSpPr>
            <p:nvPr/>
          </p:nvSpPr>
          <p:spPr bwMode="auto">
            <a:xfrm>
              <a:off x="4896120" y="3213000"/>
              <a:ext cx="756000" cy="216000"/>
            </a:xfrm>
            <a:prstGeom prst="rect">
              <a:avLst/>
            </a:prstGeom>
            <a:solidFill>
              <a:srgbClr val="CCFFFF"/>
            </a:solidFill>
            <a:ln w="15875">
              <a:noFill/>
              <a:miter lim="800000"/>
            </a:ln>
            <a:effectLst/>
          </p:spPr>
          <p:txBody>
            <a:bodyPr vert="horz" wrap="none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solidFill>
                    <a:schemeClr val="tx1"/>
                  </a:solidFill>
                </a:rPr>
                <a:t>小阶尾数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 bwMode="auto">
            <a:xfrm>
              <a:off x="2987792" y="1700808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9" name="Line 121"/>
            <p:cNvSpPr>
              <a:spLocks noChangeShapeType="1"/>
            </p:cNvSpPr>
            <p:nvPr/>
          </p:nvSpPr>
          <p:spPr bwMode="auto">
            <a:xfrm>
              <a:off x="5003848" y="1700808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80" name="直接箭头连接符 79"/>
            <p:cNvCxnSpPr/>
            <p:nvPr/>
          </p:nvCxnSpPr>
          <p:spPr bwMode="auto">
            <a:xfrm>
              <a:off x="3995784" y="530126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1" name="Text Box 19"/>
            <p:cNvSpPr txBox="1">
              <a:spLocks noChangeArrowheads="1"/>
            </p:cNvSpPr>
            <p:nvPr/>
          </p:nvSpPr>
          <p:spPr bwMode="auto">
            <a:xfrm>
              <a:off x="3203784" y="1484784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 M</a:t>
              </a:r>
            </a:p>
          </p:txBody>
        </p:sp>
        <p:sp>
          <p:nvSpPr>
            <p:cNvPr id="82" name="Text Box 21"/>
            <p:cNvSpPr txBox="1">
              <a:spLocks noChangeArrowheads="1"/>
            </p:cNvSpPr>
            <p:nvPr/>
          </p:nvSpPr>
          <p:spPr bwMode="auto">
            <a:xfrm>
              <a:off x="2627720" y="1484784"/>
              <a:ext cx="57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83" name="Text Box 22"/>
            <p:cNvSpPr txBox="1">
              <a:spLocks noChangeArrowheads="1"/>
            </p:cNvSpPr>
            <p:nvPr/>
          </p:nvSpPr>
          <p:spPr bwMode="auto">
            <a:xfrm>
              <a:off x="2339720" y="1484784"/>
              <a:ext cx="28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20000">
                  <a:solidFill>
                    <a:schemeClr val="tx1"/>
                  </a:solidFill>
                </a:rPr>
                <a:t>M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84" name="Text Box 19"/>
            <p:cNvSpPr txBox="1">
              <a:spLocks noChangeArrowheads="1"/>
            </p:cNvSpPr>
            <p:nvPr/>
          </p:nvSpPr>
          <p:spPr bwMode="auto">
            <a:xfrm>
              <a:off x="5292016" y="1484784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 M</a:t>
              </a:r>
            </a:p>
          </p:txBody>
        </p:sp>
        <p:sp>
          <p:nvSpPr>
            <p:cNvPr id="85" name="Text Box 21"/>
            <p:cNvSpPr txBox="1">
              <a:spLocks noChangeArrowheads="1"/>
            </p:cNvSpPr>
            <p:nvPr/>
          </p:nvSpPr>
          <p:spPr bwMode="auto">
            <a:xfrm>
              <a:off x="4715952" y="1484784"/>
              <a:ext cx="57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86" name="Text Box 22"/>
            <p:cNvSpPr txBox="1">
              <a:spLocks noChangeArrowheads="1"/>
            </p:cNvSpPr>
            <p:nvPr/>
          </p:nvSpPr>
          <p:spPr bwMode="auto">
            <a:xfrm>
              <a:off x="4427952" y="1484784"/>
              <a:ext cx="28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20000">
                  <a:solidFill>
                    <a:schemeClr val="tx1"/>
                  </a:solidFill>
                </a:rPr>
                <a:t>M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87" name="Line 121"/>
            <p:cNvSpPr>
              <a:spLocks noChangeShapeType="1"/>
            </p:cNvSpPr>
            <p:nvPr/>
          </p:nvSpPr>
          <p:spPr bwMode="auto">
            <a:xfrm>
              <a:off x="5868112" y="1700808"/>
              <a:ext cx="0" cy="72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88" name="Line 121"/>
            <p:cNvSpPr>
              <a:spLocks noChangeShapeType="1"/>
            </p:cNvSpPr>
            <p:nvPr/>
          </p:nvSpPr>
          <p:spPr bwMode="auto">
            <a:xfrm flipH="1" flipV="1">
              <a:off x="2483792" y="1844824"/>
              <a:ext cx="252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92" name="直接箭头连接符 91"/>
            <p:cNvCxnSpPr/>
            <p:nvPr/>
          </p:nvCxnSpPr>
          <p:spPr bwMode="auto">
            <a:xfrm>
              <a:off x="3419840" y="1844848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94" name="流程图: 手动操作 93"/>
            <p:cNvSpPr/>
            <p:nvPr/>
          </p:nvSpPr>
          <p:spPr bwMode="auto">
            <a:xfrm>
              <a:off x="2771768" y="2060880"/>
              <a:ext cx="864000" cy="288000"/>
            </a:xfrm>
            <a:prstGeom prst="flowChartManualOperation">
              <a:avLst/>
            </a:prstGeom>
            <a:solidFill>
              <a:srgbClr val="FFCCFF">
                <a:alpha val="80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0800" rIns="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小</a:t>
              </a: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5" name="Line 121"/>
            <p:cNvSpPr>
              <a:spLocks noChangeShapeType="1"/>
            </p:cNvSpPr>
            <p:nvPr/>
          </p:nvSpPr>
          <p:spPr bwMode="auto">
            <a:xfrm>
              <a:off x="3851888" y="1695197"/>
              <a:ext cx="0" cy="57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 bwMode="auto">
            <a:xfrm>
              <a:off x="2987904" y="3068992"/>
              <a:ext cx="1008000" cy="288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 rtlCol="0" anchor="ctr"/>
            <a:lstStyle/>
            <a:p>
              <a:pPr algn="ctr"/>
              <a:r>
                <a:rPr lang="zh-CN" altLang="en-US" sz="1600" dirty="0">
                  <a:solidFill>
                    <a:srgbClr val="FF3399"/>
                  </a:solidFill>
                </a:rPr>
                <a:t>控制</a:t>
              </a:r>
            </a:p>
          </p:txBody>
        </p:sp>
        <p:sp>
          <p:nvSpPr>
            <p:cNvPr id="97" name="Text Box 21"/>
            <p:cNvSpPr txBox="1">
              <a:spLocks noChangeArrowheads="1"/>
            </p:cNvSpPr>
            <p:nvPr/>
          </p:nvSpPr>
          <p:spPr bwMode="auto">
            <a:xfrm>
              <a:off x="2915720" y="2564928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阶差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98" name="直接箭头连接符 97"/>
            <p:cNvCxnSpPr/>
            <p:nvPr/>
          </p:nvCxnSpPr>
          <p:spPr bwMode="auto">
            <a:xfrm>
              <a:off x="3203816" y="234892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9" name="流程图: 手动操作 98"/>
            <p:cNvSpPr/>
            <p:nvPr/>
          </p:nvSpPr>
          <p:spPr bwMode="auto">
            <a:xfrm>
              <a:off x="2051720" y="2564904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/>
          </p:nvCxnSpPr>
          <p:spPr bwMode="auto">
            <a:xfrm>
              <a:off x="3203816" y="2780952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1" name="Line 121"/>
            <p:cNvSpPr>
              <a:spLocks noChangeShapeType="1"/>
            </p:cNvSpPr>
            <p:nvPr/>
          </p:nvSpPr>
          <p:spPr bwMode="auto">
            <a:xfrm>
              <a:off x="2339720" y="2780904"/>
              <a:ext cx="0" cy="11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02" name="直接箭头连接符 101"/>
            <p:cNvCxnSpPr/>
            <p:nvPr/>
          </p:nvCxnSpPr>
          <p:spPr bwMode="auto">
            <a:xfrm>
              <a:off x="2484255" y="1839197"/>
              <a:ext cx="0" cy="72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3" name="Line 121"/>
            <p:cNvSpPr>
              <a:spLocks noChangeShapeType="1"/>
            </p:cNvSpPr>
            <p:nvPr/>
          </p:nvSpPr>
          <p:spPr bwMode="auto">
            <a:xfrm flipH="1" flipV="1">
              <a:off x="2195792" y="1758922"/>
              <a:ext cx="79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04" name="直接箭头连接符 103"/>
            <p:cNvCxnSpPr/>
            <p:nvPr/>
          </p:nvCxnSpPr>
          <p:spPr bwMode="auto">
            <a:xfrm>
              <a:off x="2195704" y="1772896"/>
              <a:ext cx="0" cy="79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5" name="流程图: 手动操作 104"/>
            <p:cNvSpPr/>
            <p:nvPr/>
          </p:nvSpPr>
          <p:spPr bwMode="auto">
            <a:xfrm>
              <a:off x="4572176" y="256492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6" name="流程图: 手动操作 105"/>
            <p:cNvSpPr/>
            <p:nvPr/>
          </p:nvSpPr>
          <p:spPr bwMode="auto">
            <a:xfrm>
              <a:off x="5436208" y="2564920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07" name="直接箭头连接符 106"/>
            <p:cNvCxnSpPr/>
            <p:nvPr/>
          </p:nvCxnSpPr>
          <p:spPr bwMode="auto">
            <a:xfrm>
              <a:off x="4860144" y="2780968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5724176" y="2780968"/>
              <a:ext cx="0" cy="64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9" name="Line 121"/>
            <p:cNvSpPr>
              <a:spLocks noChangeShapeType="1"/>
            </p:cNvSpPr>
            <p:nvPr/>
          </p:nvSpPr>
          <p:spPr bwMode="auto">
            <a:xfrm flipH="1" flipV="1">
              <a:off x="5004160" y="2420856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10" name="直接箭头连接符 109"/>
            <p:cNvCxnSpPr/>
            <p:nvPr/>
          </p:nvCxnSpPr>
          <p:spPr bwMode="auto">
            <a:xfrm>
              <a:off x="5004160" y="242087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2" name="Line 121"/>
            <p:cNvSpPr>
              <a:spLocks noChangeShapeType="1"/>
            </p:cNvSpPr>
            <p:nvPr/>
          </p:nvSpPr>
          <p:spPr bwMode="auto">
            <a:xfrm>
              <a:off x="3851888" y="2276840"/>
              <a:ext cx="172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14" name="直接箭头连接符 113"/>
            <p:cNvCxnSpPr/>
            <p:nvPr/>
          </p:nvCxnSpPr>
          <p:spPr bwMode="auto">
            <a:xfrm>
              <a:off x="5580160" y="227686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>
              <a:off x="5868192" y="242087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>
              <a:off x="4716128" y="227686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17" name="Text Box 21"/>
            <p:cNvSpPr txBox="1">
              <a:spLocks noChangeArrowheads="1"/>
            </p:cNvSpPr>
            <p:nvPr/>
          </p:nvSpPr>
          <p:spPr bwMode="auto">
            <a:xfrm>
              <a:off x="4572176" y="2996992"/>
              <a:ext cx="57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右移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18" name="直接箭头连接符 117"/>
            <p:cNvCxnSpPr/>
            <p:nvPr/>
          </p:nvCxnSpPr>
          <p:spPr bwMode="auto">
            <a:xfrm>
              <a:off x="4860144" y="3212968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9" name="流程图: 手动操作 118"/>
            <p:cNvSpPr/>
            <p:nvPr/>
          </p:nvSpPr>
          <p:spPr bwMode="auto">
            <a:xfrm>
              <a:off x="4644120" y="3429000"/>
              <a:ext cx="1296080" cy="288000"/>
            </a:xfrm>
            <a:prstGeom prst="flowChartManualOperation">
              <a:avLst/>
            </a:prstGeom>
            <a:solidFill>
              <a:srgbClr val="FFCCFF">
                <a:alpha val="80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0800" rIns="0" bIns="1080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大</a:t>
              </a:r>
              <a:r>
                <a:rPr kumimoji="1" lang="en-US" altLang="zh-CN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 bwMode="auto">
            <a:xfrm>
              <a:off x="5292048" y="3717024"/>
              <a:ext cx="0" cy="43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1" name="流程图: 手动操作 120"/>
            <p:cNvSpPr/>
            <p:nvPr/>
          </p:nvSpPr>
          <p:spPr bwMode="auto">
            <a:xfrm>
              <a:off x="5148096" y="4149128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2" name="Line 121"/>
            <p:cNvSpPr>
              <a:spLocks noChangeShapeType="1"/>
            </p:cNvSpPr>
            <p:nvPr/>
          </p:nvSpPr>
          <p:spPr bwMode="auto">
            <a:xfrm>
              <a:off x="2339720" y="3933056"/>
              <a:ext cx="79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23" name="直接箭头连接符 122"/>
            <p:cNvCxnSpPr/>
            <p:nvPr/>
          </p:nvCxnSpPr>
          <p:spPr bwMode="auto">
            <a:xfrm>
              <a:off x="5580080" y="3933056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24" name="流程图: 手动操作 123"/>
            <p:cNvSpPr/>
            <p:nvPr/>
          </p:nvSpPr>
          <p:spPr bwMode="auto">
            <a:xfrm>
              <a:off x="2987736" y="4149136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Text Box 21"/>
            <p:cNvSpPr txBox="1">
              <a:spLocks noChangeArrowheads="1"/>
            </p:cNvSpPr>
            <p:nvPr/>
          </p:nvSpPr>
          <p:spPr bwMode="auto">
            <a:xfrm>
              <a:off x="4860008" y="4581152"/>
              <a:ext cx="115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左移</a:t>
              </a:r>
              <a:r>
                <a:rPr lang="en-US" altLang="zh-CN" sz="1600" dirty="0">
                  <a:solidFill>
                    <a:schemeClr val="tx1"/>
                  </a:solidFill>
                </a:rPr>
                <a:t>/</a:t>
              </a:r>
              <a:r>
                <a:rPr lang="zh-CN" altLang="en-US" sz="1600" dirty="0">
                  <a:solidFill>
                    <a:schemeClr val="tx1"/>
                  </a:solidFill>
                </a:rPr>
                <a:t>右移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26" name="直接箭头连接符 98"/>
            <p:cNvCxnSpPr/>
            <p:nvPr/>
          </p:nvCxnSpPr>
          <p:spPr bwMode="auto">
            <a:xfrm rot="10800000" flipV="1">
              <a:off x="4643952" y="4941183"/>
              <a:ext cx="792000" cy="144000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Text Box 21"/>
            <p:cNvSpPr txBox="1">
              <a:spLocks noChangeArrowheads="1"/>
            </p:cNvSpPr>
            <p:nvPr/>
          </p:nvSpPr>
          <p:spPr bwMode="auto">
            <a:xfrm>
              <a:off x="2843656" y="4581184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阶码增减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28" name="直接箭头连接符 127"/>
            <p:cNvCxnSpPr/>
            <p:nvPr/>
          </p:nvCxnSpPr>
          <p:spPr bwMode="auto">
            <a:xfrm>
              <a:off x="3275704" y="436516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9" name="Line 121"/>
            <p:cNvSpPr>
              <a:spLocks noChangeShapeType="1"/>
            </p:cNvSpPr>
            <p:nvPr/>
          </p:nvSpPr>
          <p:spPr bwMode="auto">
            <a:xfrm flipH="1" flipV="1">
              <a:off x="3780048" y="3789008"/>
              <a:ext cx="151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30" name="Line 121"/>
            <p:cNvSpPr>
              <a:spLocks noChangeShapeType="1"/>
            </p:cNvSpPr>
            <p:nvPr/>
          </p:nvSpPr>
          <p:spPr bwMode="auto">
            <a:xfrm flipH="1" flipV="1">
              <a:off x="3636168" y="3933056"/>
              <a:ext cx="26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none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31" name="直接箭头连接符 130"/>
            <p:cNvCxnSpPr/>
            <p:nvPr/>
          </p:nvCxnSpPr>
          <p:spPr bwMode="auto">
            <a:xfrm>
              <a:off x="3131688" y="393308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 bwMode="auto">
            <a:xfrm>
              <a:off x="3419720" y="3789080"/>
              <a:ext cx="0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3" name="Text Box 21"/>
            <p:cNvSpPr txBox="1">
              <a:spLocks noChangeArrowheads="1"/>
            </p:cNvSpPr>
            <p:nvPr/>
          </p:nvSpPr>
          <p:spPr bwMode="auto">
            <a:xfrm>
              <a:off x="3779880" y="5085240"/>
              <a:ext cx="108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舍入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4" name="直接箭头连接符 133"/>
            <p:cNvCxnSpPr/>
            <p:nvPr/>
          </p:nvCxnSpPr>
          <p:spPr bwMode="auto">
            <a:xfrm>
              <a:off x="5436064" y="4365104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>
              <a:off x="4644120" y="5301296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6" name="Text Box 19"/>
            <p:cNvSpPr txBox="1">
              <a:spLocks noChangeArrowheads="1"/>
            </p:cNvSpPr>
            <p:nvPr/>
          </p:nvSpPr>
          <p:spPr bwMode="auto">
            <a:xfrm>
              <a:off x="4211920" y="5589264"/>
              <a:ext cx="100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   M</a:t>
              </a:r>
            </a:p>
          </p:txBody>
        </p:sp>
        <p:sp>
          <p:nvSpPr>
            <p:cNvPr id="137" name="Text Box 21"/>
            <p:cNvSpPr txBox="1">
              <a:spLocks noChangeArrowheads="1"/>
            </p:cNvSpPr>
            <p:nvPr/>
          </p:nvSpPr>
          <p:spPr bwMode="auto">
            <a:xfrm>
              <a:off x="3635856" y="5589264"/>
              <a:ext cx="57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38" name="Text Box 22"/>
            <p:cNvSpPr txBox="1">
              <a:spLocks noChangeArrowheads="1"/>
            </p:cNvSpPr>
            <p:nvPr/>
          </p:nvSpPr>
          <p:spPr bwMode="auto">
            <a:xfrm>
              <a:off x="3347856" y="5589264"/>
              <a:ext cx="28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S</a:t>
              </a:r>
              <a:r>
                <a:rPr lang="en-US" altLang="zh-CN" sz="1600" baseline="-20000">
                  <a:solidFill>
                    <a:schemeClr val="tx1"/>
                  </a:solidFill>
                </a:rPr>
                <a:t>M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139" name="Line 121"/>
            <p:cNvSpPr>
              <a:spLocks noChangeShapeType="1"/>
            </p:cNvSpPr>
            <p:nvPr/>
          </p:nvSpPr>
          <p:spPr bwMode="auto">
            <a:xfrm>
              <a:off x="5436064" y="4797208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0" name="Line 121"/>
            <p:cNvSpPr>
              <a:spLocks noChangeShapeType="1"/>
            </p:cNvSpPr>
            <p:nvPr/>
          </p:nvSpPr>
          <p:spPr bwMode="auto">
            <a:xfrm>
              <a:off x="4644160" y="5445224"/>
              <a:ext cx="165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1" name="Line 121"/>
            <p:cNvSpPr>
              <a:spLocks noChangeShapeType="1"/>
            </p:cNvSpPr>
            <p:nvPr/>
          </p:nvSpPr>
          <p:spPr bwMode="auto">
            <a:xfrm flipH="1">
              <a:off x="6299772" y="3933224"/>
              <a:ext cx="388" cy="151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2" name="Line 121"/>
            <p:cNvSpPr>
              <a:spLocks noChangeShapeType="1"/>
            </p:cNvSpPr>
            <p:nvPr/>
          </p:nvSpPr>
          <p:spPr bwMode="auto">
            <a:xfrm flipH="1">
              <a:off x="2195704" y="5445224"/>
              <a:ext cx="180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3" name="Line 121"/>
            <p:cNvSpPr>
              <a:spLocks noChangeShapeType="1"/>
            </p:cNvSpPr>
            <p:nvPr/>
          </p:nvSpPr>
          <p:spPr bwMode="auto">
            <a:xfrm>
              <a:off x="2195704" y="3789040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44" name="Line 121"/>
            <p:cNvSpPr>
              <a:spLocks noChangeShapeType="1"/>
            </p:cNvSpPr>
            <p:nvPr/>
          </p:nvSpPr>
          <p:spPr bwMode="auto">
            <a:xfrm flipH="1">
              <a:off x="2204192" y="3789224"/>
              <a:ext cx="388" cy="165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45" name="直接箭头连接符 144"/>
            <p:cNvCxnSpPr/>
            <p:nvPr/>
          </p:nvCxnSpPr>
          <p:spPr bwMode="auto">
            <a:xfrm>
              <a:off x="3707872" y="2708936"/>
              <a:ext cx="93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5292072" y="2708936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47" name="Line 121"/>
            <p:cNvSpPr>
              <a:spLocks noChangeShapeType="1"/>
            </p:cNvSpPr>
            <p:nvPr/>
          </p:nvSpPr>
          <p:spPr bwMode="auto">
            <a:xfrm>
              <a:off x="5292048" y="2708952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66" name="Line 121"/>
            <p:cNvSpPr>
              <a:spLocks noChangeShapeType="1"/>
            </p:cNvSpPr>
            <p:nvPr/>
          </p:nvSpPr>
          <p:spPr bwMode="auto">
            <a:xfrm flipH="1" flipV="1">
              <a:off x="3851888" y="2852936"/>
              <a:ext cx="144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68" name="Line 121"/>
            <p:cNvSpPr>
              <a:spLocks noChangeShapeType="1"/>
            </p:cNvSpPr>
            <p:nvPr/>
          </p:nvSpPr>
          <p:spPr bwMode="auto">
            <a:xfrm>
              <a:off x="3707872" y="2708920"/>
              <a:ext cx="0" cy="37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69" name="直接箭头连接符 168"/>
            <p:cNvCxnSpPr/>
            <p:nvPr/>
          </p:nvCxnSpPr>
          <p:spPr bwMode="auto">
            <a:xfrm flipH="1">
              <a:off x="2547448" y="2708920"/>
              <a:ext cx="15231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0" name="Line 121"/>
            <p:cNvSpPr>
              <a:spLocks noChangeShapeType="1"/>
            </p:cNvSpPr>
            <p:nvPr/>
          </p:nvSpPr>
          <p:spPr bwMode="auto">
            <a:xfrm>
              <a:off x="2699760" y="2708976"/>
              <a:ext cx="0" cy="43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71" name="直接箭头连接符 170"/>
            <p:cNvCxnSpPr/>
            <p:nvPr/>
          </p:nvCxnSpPr>
          <p:spPr bwMode="auto">
            <a:xfrm flipV="1">
              <a:off x="3779880" y="3321040"/>
              <a:ext cx="0" cy="46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171"/>
            <p:cNvCxnSpPr/>
            <p:nvPr/>
          </p:nvCxnSpPr>
          <p:spPr bwMode="auto">
            <a:xfrm flipV="1">
              <a:off x="3635864" y="3357064"/>
              <a:ext cx="0" cy="57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/>
          </p:nvCxnSpPr>
          <p:spPr bwMode="auto">
            <a:xfrm>
              <a:off x="4355944" y="4293064"/>
              <a:ext cx="86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4" name="Line 121"/>
            <p:cNvSpPr>
              <a:spLocks noChangeShapeType="1"/>
            </p:cNvSpPr>
            <p:nvPr/>
          </p:nvSpPr>
          <p:spPr bwMode="auto">
            <a:xfrm>
              <a:off x="4355944" y="3212976"/>
              <a:ext cx="0" cy="108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75" name="直接箭头连接符 174"/>
            <p:cNvCxnSpPr/>
            <p:nvPr/>
          </p:nvCxnSpPr>
          <p:spPr bwMode="auto">
            <a:xfrm>
              <a:off x="2843680" y="4293096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8" name="Line 121"/>
            <p:cNvSpPr>
              <a:spLocks noChangeShapeType="1"/>
            </p:cNvSpPr>
            <p:nvPr/>
          </p:nvSpPr>
          <p:spPr bwMode="auto">
            <a:xfrm>
              <a:off x="2843656" y="3357104"/>
              <a:ext cx="0" cy="93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79" name="Line 121"/>
            <p:cNvSpPr>
              <a:spLocks noChangeShapeType="1"/>
            </p:cNvSpPr>
            <p:nvPr/>
          </p:nvSpPr>
          <p:spPr bwMode="auto">
            <a:xfrm flipH="1" flipV="1">
              <a:off x="2699760" y="314096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1" name="Line 121"/>
            <p:cNvSpPr>
              <a:spLocks noChangeShapeType="1"/>
            </p:cNvSpPr>
            <p:nvPr/>
          </p:nvSpPr>
          <p:spPr bwMode="auto">
            <a:xfrm flipH="1" flipV="1">
              <a:off x="3995832" y="3212976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2" name="Line 121"/>
            <p:cNvSpPr>
              <a:spLocks noChangeShapeType="1"/>
            </p:cNvSpPr>
            <p:nvPr/>
          </p:nvSpPr>
          <p:spPr bwMode="auto">
            <a:xfrm flipH="1" flipV="1">
              <a:off x="2843680" y="3356992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3" name="Line 121"/>
            <p:cNvSpPr>
              <a:spLocks noChangeShapeType="1"/>
            </p:cNvSpPr>
            <p:nvPr/>
          </p:nvSpPr>
          <p:spPr bwMode="auto">
            <a:xfrm>
              <a:off x="3275783" y="4797152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84" name="直接箭头连接符 98"/>
            <p:cNvCxnSpPr/>
            <p:nvPr/>
          </p:nvCxnSpPr>
          <p:spPr bwMode="auto">
            <a:xfrm>
              <a:off x="3275784" y="4941168"/>
              <a:ext cx="720000" cy="144016"/>
            </a:xfrm>
            <a:prstGeom prst="bentConnector3">
              <a:avLst>
                <a:gd name="adj1" fmla="val 1003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5" name="直接箭头连接符 184"/>
            <p:cNvCxnSpPr/>
            <p:nvPr/>
          </p:nvCxnSpPr>
          <p:spPr bwMode="auto">
            <a:xfrm flipV="1">
              <a:off x="3923776" y="3140968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86" name="Line 121"/>
            <p:cNvSpPr>
              <a:spLocks noChangeShapeType="1"/>
            </p:cNvSpPr>
            <p:nvPr/>
          </p:nvSpPr>
          <p:spPr bwMode="auto">
            <a:xfrm>
              <a:off x="3851888" y="2852936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87" name="Text Box 128"/>
            <p:cNvSpPr txBox="1">
              <a:spLocks noChangeArrowheads="1"/>
            </p:cNvSpPr>
            <p:nvPr/>
          </p:nvSpPr>
          <p:spPr bwMode="auto">
            <a:xfrm>
              <a:off x="6732208" y="2564928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对阶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88" name="右大括号 187"/>
            <p:cNvSpPr/>
            <p:nvPr/>
          </p:nvSpPr>
          <p:spPr bwMode="auto">
            <a:xfrm>
              <a:off x="6660200" y="2060880"/>
              <a:ext cx="72000" cy="1152088"/>
            </a:xfrm>
            <a:prstGeom prst="rightBrace">
              <a:avLst>
                <a:gd name="adj1" fmla="val 28654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9" name="Text Box 128"/>
            <p:cNvSpPr txBox="1">
              <a:spLocks noChangeArrowheads="1"/>
            </p:cNvSpPr>
            <p:nvPr/>
          </p:nvSpPr>
          <p:spPr bwMode="auto">
            <a:xfrm>
              <a:off x="6732208" y="3501032"/>
              <a:ext cx="936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尾数加减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90" name="Text Box 128"/>
            <p:cNvSpPr txBox="1">
              <a:spLocks noChangeArrowheads="1"/>
            </p:cNvSpPr>
            <p:nvPr/>
          </p:nvSpPr>
          <p:spPr bwMode="auto">
            <a:xfrm>
              <a:off x="6732208" y="4581152"/>
              <a:ext cx="108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结果规格化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91" name="Text Box 128"/>
            <p:cNvSpPr txBox="1">
              <a:spLocks noChangeArrowheads="1"/>
            </p:cNvSpPr>
            <p:nvPr/>
          </p:nvSpPr>
          <p:spPr bwMode="auto">
            <a:xfrm>
              <a:off x="6732208" y="5085208"/>
              <a:ext cx="936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结果舍入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92" name="直接箭头连接符 191"/>
            <p:cNvCxnSpPr/>
            <p:nvPr/>
          </p:nvCxnSpPr>
          <p:spPr bwMode="auto">
            <a:xfrm>
              <a:off x="2627632" y="47251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4" name="Line 121"/>
            <p:cNvSpPr>
              <a:spLocks noChangeShapeType="1"/>
            </p:cNvSpPr>
            <p:nvPr/>
          </p:nvSpPr>
          <p:spPr bwMode="auto">
            <a:xfrm>
              <a:off x="2627632" y="3285152"/>
              <a:ext cx="0" cy="144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196" name="直接箭头连接符 195"/>
            <p:cNvCxnSpPr/>
            <p:nvPr/>
          </p:nvCxnSpPr>
          <p:spPr bwMode="auto">
            <a:xfrm>
              <a:off x="4211808" y="4725144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7" name="Line 121"/>
            <p:cNvSpPr>
              <a:spLocks noChangeShapeType="1"/>
            </p:cNvSpPr>
            <p:nvPr/>
          </p:nvSpPr>
          <p:spPr bwMode="auto">
            <a:xfrm>
              <a:off x="4211808" y="3284984"/>
              <a:ext cx="0" cy="144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98" name="Line 121"/>
            <p:cNvSpPr>
              <a:spLocks noChangeShapeType="1"/>
            </p:cNvSpPr>
            <p:nvPr/>
          </p:nvSpPr>
          <p:spPr bwMode="auto">
            <a:xfrm flipH="1" flipV="1">
              <a:off x="2483680" y="3212976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199" name="Line 121"/>
            <p:cNvSpPr>
              <a:spLocks noChangeShapeType="1"/>
            </p:cNvSpPr>
            <p:nvPr/>
          </p:nvSpPr>
          <p:spPr bwMode="auto">
            <a:xfrm flipH="1" flipV="1">
              <a:off x="3923776" y="3284984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cxnSp>
          <p:nvCxnSpPr>
            <p:cNvPr id="200" name="直接箭头连接符 199"/>
            <p:cNvCxnSpPr/>
            <p:nvPr/>
          </p:nvCxnSpPr>
          <p:spPr bwMode="auto">
            <a:xfrm>
              <a:off x="2483768" y="5229200"/>
              <a:ext cx="129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02" name="Line 121"/>
            <p:cNvSpPr>
              <a:spLocks noChangeShapeType="1"/>
            </p:cNvSpPr>
            <p:nvPr/>
          </p:nvSpPr>
          <p:spPr bwMode="auto">
            <a:xfrm>
              <a:off x="2483616" y="3212976"/>
              <a:ext cx="0" cy="20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  <p:sp>
          <p:nvSpPr>
            <p:cNvPr id="203" name="Line 121"/>
            <p:cNvSpPr>
              <a:spLocks noChangeShapeType="1"/>
            </p:cNvSpPr>
            <p:nvPr/>
          </p:nvSpPr>
          <p:spPr bwMode="auto">
            <a:xfrm flipH="1" flipV="1">
              <a:off x="2627688" y="3284984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 lIns="18000" tIns="10800" rIns="18000" bIns="10800"/>
            <a:lstStyle/>
            <a:p>
              <a:endParaRPr lang="zh-CN" altLang="en-US"/>
            </a:p>
          </p:txBody>
        </p:sp>
      </p:grpSp>
      <p:sp>
        <p:nvSpPr>
          <p:cNvPr id="204" name="Text Box 201"/>
          <p:cNvSpPr txBox="1">
            <a:spLocks noChangeArrowheads="1"/>
          </p:cNvSpPr>
          <p:nvPr/>
        </p:nvSpPr>
        <p:spPr bwMode="auto">
          <a:xfrm>
            <a:off x="1619672" y="764704"/>
            <a:ext cx="727010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zh-CN" altLang="en-US" sz="2200" dirty="0">
                <a:solidFill>
                  <a:schemeClr val="tx1"/>
                </a:solidFill>
              </a:rPr>
              <a:t>结构按运算步骤组织，尾数、阶分开处理，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078230" indent="-1078230"/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结果规格化、尾数舍入会引起阶的改变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需判断溢出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68</a:t>
            </a:fld>
            <a:endParaRPr lang="en-US" altLang="zh-CN"/>
          </a:p>
        </p:txBody>
      </p:sp>
      <p:sp>
        <p:nvSpPr>
          <p:cNvPr id="3" name="Text Box 33"/>
          <p:cNvSpPr txBox="1">
            <a:spLocks noChangeArrowheads="1"/>
          </p:cNvSpPr>
          <p:nvPr/>
        </p:nvSpPr>
        <p:spPr bwMode="auto">
          <a:xfrm>
            <a:off x="179388" y="332656"/>
            <a:ext cx="5688756" cy="95750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</a:rPr>
              <a:t>2</a:t>
            </a:r>
            <a:r>
              <a:rPr lang="zh-CN" altLang="en-US" dirty="0">
                <a:solidFill>
                  <a:srgbClr val="FF3399"/>
                </a:solidFill>
              </a:rPr>
              <a:t>、浮点乘除运算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不要求，了解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运算步骤：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4" name="Text Box 41"/>
          <p:cNvSpPr txBox="1">
            <a:spLocks noChangeArrowheads="1"/>
          </p:cNvSpPr>
          <p:nvPr/>
        </p:nvSpPr>
        <p:spPr bwMode="auto">
          <a:xfrm>
            <a:off x="827584" y="836712"/>
            <a:ext cx="8137028" cy="29685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        </a:t>
            </a:r>
            <a:r>
              <a:rPr lang="zh-CN" altLang="en-US" sz="2200" dirty="0">
                <a:solidFill>
                  <a:schemeClr val="tx1"/>
                </a:solidFill>
              </a:rPr>
              <a:t>设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20000" dirty="0">
                <a:solidFill>
                  <a:schemeClr val="tx1"/>
                </a:solidFill>
              </a:rPr>
              <a:t>B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8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A×/÷B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en-US" altLang="zh-CN" sz="2200" dirty="0">
                <a:solidFill>
                  <a:schemeClr val="tx1"/>
                </a:solidFill>
              </a:rPr>
              <a:t>×2</a:t>
            </a:r>
            <a:r>
              <a:rPr lang="en-US" altLang="zh-CN" sz="2200" baseline="45000" dirty="0">
                <a:solidFill>
                  <a:schemeClr val="tx1"/>
                </a:solidFill>
              </a:rPr>
              <a:t>E</a:t>
            </a:r>
            <a:r>
              <a:rPr lang="en-US" altLang="zh-CN" sz="2200" baseline="26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 </a:t>
            </a:r>
            <a:endParaRPr lang="zh-CN" altLang="en-US" sz="2200" dirty="0">
              <a:solidFill>
                <a:srgbClr val="C00000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①操作数预判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判断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6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及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6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符合要求否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如＝</a:t>
            </a:r>
            <a:r>
              <a:rPr lang="en-US" altLang="zh-CN" sz="1600" dirty="0">
                <a:solidFill>
                  <a:schemeClr val="tx1"/>
                </a:solidFill>
              </a:rPr>
              <a:t>0</a:t>
            </a:r>
            <a:r>
              <a:rPr lang="zh-CN" altLang="en-US" sz="1600" dirty="0">
                <a:solidFill>
                  <a:schemeClr val="tx1"/>
                </a:solidFill>
              </a:rPr>
              <a:t>或∞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zh-CN" altLang="en-US" sz="1800" dirty="0">
                <a:solidFill>
                  <a:schemeClr val="tx1"/>
                </a:solidFill>
              </a:rPr>
              <a:t>←不符合立即结束</a:t>
            </a:r>
          </a:p>
          <a:p>
            <a:r>
              <a:rPr lang="zh-CN" altLang="en-US" sz="2200" dirty="0">
                <a:solidFill>
                  <a:srgbClr val="990099"/>
                </a:solidFill>
              </a:rPr>
              <a:t>②阶码运算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zh-CN" altLang="en-US" sz="2200" dirty="0">
                <a:solidFill>
                  <a:schemeClr val="tx1"/>
                </a:solidFill>
              </a:rPr>
              <a:t>－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endParaRPr lang="zh-CN" altLang="en-US" sz="2200" dirty="0">
              <a:solidFill>
                <a:schemeClr val="tx1"/>
              </a:solidFill>
            </a:endParaRPr>
          </a:p>
          <a:p>
            <a:pPr>
              <a:tabLst>
                <a:tab pos="1619250" algn="l"/>
              </a:tabLst>
            </a:pPr>
            <a:r>
              <a:rPr lang="zh-CN" altLang="en-US" sz="2200" dirty="0">
                <a:solidFill>
                  <a:srgbClr val="990099"/>
                </a:solidFill>
              </a:rPr>
              <a:t>③尾数运算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×M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A</a:t>
            </a:r>
            <a:r>
              <a:rPr lang="en-US" altLang="zh-CN" sz="2200" dirty="0">
                <a:solidFill>
                  <a:schemeClr val="tx1"/>
                </a:solidFill>
              </a:rPr>
              <a:t>÷M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B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④结果规格化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使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baseline="-20000" dirty="0">
                <a:solidFill>
                  <a:schemeClr val="tx1"/>
                </a:solidFill>
              </a:rPr>
              <a:t>F</a:t>
            </a:r>
            <a:r>
              <a:rPr lang="zh-CN" altLang="en-US" sz="2200" dirty="0">
                <a:solidFill>
                  <a:schemeClr val="tx1"/>
                </a:solidFill>
              </a:rPr>
              <a:t>为规格化数               </a:t>
            </a:r>
            <a:r>
              <a:rPr lang="zh-CN" altLang="en-US" sz="1800" dirty="0">
                <a:solidFill>
                  <a:schemeClr val="tx1"/>
                </a:solidFill>
              </a:rPr>
              <a:t>←同浮点加减运算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990099"/>
                </a:solidFill>
              </a:rPr>
              <a:t>⑤尾数舍入</a:t>
            </a:r>
            <a:r>
              <a:rPr lang="en-US" altLang="zh-CN" sz="2200" dirty="0">
                <a:solidFill>
                  <a:srgbClr val="990099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附加位处理                   </a:t>
            </a:r>
            <a:r>
              <a:rPr lang="zh-CN" altLang="en-US" sz="1800" dirty="0">
                <a:solidFill>
                  <a:schemeClr val="tx1"/>
                </a:solidFill>
              </a:rPr>
              <a:t>  ←同浮点加减运算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1800" dirty="0">
                <a:solidFill>
                  <a:srgbClr val="0070C0"/>
                </a:solidFill>
              </a:rPr>
              <a:t>   </a:t>
            </a:r>
            <a:r>
              <a:rPr lang="zh-CN" altLang="en-US" sz="1800" dirty="0">
                <a:solidFill>
                  <a:srgbClr val="0070C0"/>
                </a:solidFill>
              </a:rPr>
              <a:t>注：</a:t>
            </a:r>
            <a:r>
              <a:rPr lang="zh-CN" altLang="en-US" sz="1800" dirty="0">
                <a:solidFill>
                  <a:schemeClr val="tx1"/>
                </a:solidFill>
              </a:rPr>
              <a:t>步骤②、④及⑤会改变阶，需判断溢出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69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§2.5 </a:t>
            </a:r>
            <a:r>
              <a:rPr lang="zh-CN" altLang="en-US" sz="2800" dirty="0">
                <a:solidFill>
                  <a:schemeClr val="tx1"/>
                </a:solidFill>
              </a:rPr>
              <a:t>运算器的组成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179512" y="836712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r>
              <a:rPr lang="en-US" altLang="zh-CN" sz="2000" dirty="0">
                <a:solidFill>
                  <a:srgbClr val="FF3399"/>
                </a:solidFill>
              </a:rPr>
              <a:t> ※</a:t>
            </a:r>
            <a:r>
              <a:rPr lang="zh-CN" altLang="en-US" sz="2000" dirty="0">
                <a:solidFill>
                  <a:srgbClr val="FF3399"/>
                </a:solidFill>
              </a:rPr>
              <a:t>主要内容：</a:t>
            </a:r>
            <a:r>
              <a:rPr lang="en-US" altLang="zh-CN" sz="2000" dirty="0">
                <a:solidFill>
                  <a:schemeClr val="tx1"/>
                </a:solidFill>
              </a:rPr>
              <a:t>ALU</a:t>
            </a:r>
            <a:r>
              <a:rPr lang="zh-CN" altLang="en-US" sz="2000" dirty="0">
                <a:solidFill>
                  <a:schemeClr val="tx1"/>
                </a:solidFill>
              </a:rPr>
              <a:t>的组成、运算器的组成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部件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zh-CN" altLang="en-US" sz="2000" dirty="0">
                <a:solidFill>
                  <a:schemeClr val="tx1"/>
                </a:solidFill>
              </a:rPr>
              <a:t>互连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6" name="Text Box 7">
            <a:extLst>
              <a:ext uri="{FF2B5EF4-FFF2-40B4-BE49-F238E27FC236}">
                <a16:creationId xmlns:a16="http://schemas.microsoft.com/office/drawing/2014/main" id="{D9CA0B85-DEC6-46DD-A3AC-2F1AF003E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1268760"/>
            <a:ext cx="3744540" cy="51244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dirty="0">
                <a:solidFill>
                  <a:srgbClr val="FF3399"/>
                </a:solidFill>
                <a:latin typeface="+mn-ea"/>
              </a:rPr>
              <a:t>1</a:t>
            </a:r>
            <a:r>
              <a:rPr lang="zh-CN" altLang="en-US" dirty="0">
                <a:solidFill>
                  <a:srgbClr val="FF3399"/>
                </a:solidFill>
                <a:latin typeface="+mn-ea"/>
              </a:rPr>
              <a:t>、加法器的组成</a:t>
            </a:r>
            <a:endParaRPr lang="en-US" altLang="zh-CN" dirty="0">
              <a:solidFill>
                <a:srgbClr val="FF3399"/>
              </a:solidFill>
              <a:latin typeface="+mn-ea"/>
            </a:endParaRPr>
          </a:p>
          <a:p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dirty="0">
                <a:solidFill>
                  <a:srgbClr val="FF3399"/>
                </a:solidFill>
              </a:rPr>
              <a:t>全加器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回顾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*真值表：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半加器无</a:t>
            </a:r>
            <a:r>
              <a:rPr lang="en-US" altLang="zh-CN" sz="1800" dirty="0">
                <a:solidFill>
                  <a:schemeClr val="tx1"/>
                </a:solidFill>
              </a:rPr>
              <a:t>CI)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内部逻辑：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000" dirty="0">
              <a:solidFill>
                <a:srgbClr val="FF3399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串行进位加法器</a:t>
            </a:r>
          </a:p>
          <a:p>
            <a:r>
              <a:rPr lang="zh-CN" altLang="en-US" sz="2200" dirty="0">
                <a:solidFill>
                  <a:srgbClr val="C00000"/>
                </a:solidFill>
              </a:rPr>
              <a:t> *组成：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串行进位电路：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特点：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graphicFrame>
        <p:nvGraphicFramePr>
          <p:cNvPr id="8" name="Group 416">
            <a:extLst>
              <a:ext uri="{FF2B5EF4-FFF2-40B4-BE49-F238E27FC236}">
                <a16:creationId xmlns:a16="http://schemas.microsoft.com/office/drawing/2014/main" id="{00293CF9-800C-4AAD-B5DE-44BF83E2D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647893"/>
              </p:ext>
            </p:extLst>
          </p:nvPr>
        </p:nvGraphicFramePr>
        <p:xfrm>
          <a:off x="6804248" y="1804512"/>
          <a:ext cx="2056683" cy="2056536"/>
        </p:xfrm>
        <a:graphic>
          <a:graphicData uri="http://schemas.openxmlformats.org/drawingml/2006/table">
            <a:tbl>
              <a:tblPr/>
              <a:tblGrid>
                <a:gridCol w="39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800" b="1" i="0" u="none" strike="noStrike" cap="none" normalizeH="0" baseline="-18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C5ECC82D-4BD4-4E77-B7D9-4394B59E3627}"/>
              </a:ext>
            </a:extLst>
          </p:cNvPr>
          <p:cNvGrpSpPr/>
          <p:nvPr/>
        </p:nvGrpSpPr>
        <p:grpSpPr>
          <a:xfrm>
            <a:off x="3887862" y="1771192"/>
            <a:ext cx="2340322" cy="865720"/>
            <a:chOff x="3995936" y="2230625"/>
            <a:chExt cx="2340322" cy="865720"/>
          </a:xfrm>
        </p:grpSpPr>
        <p:sp>
          <p:nvSpPr>
            <p:cNvPr id="47" name="Text Box 36">
              <a:extLst>
                <a:ext uri="{FF2B5EF4-FFF2-40B4-BE49-F238E27FC236}">
                  <a16:creationId xmlns:a16="http://schemas.microsoft.com/office/drawing/2014/main" id="{5DE53802-36BC-40F3-8DF7-D0FBE7762126}"/>
                </a:ext>
              </a:extLst>
            </p:cNvPr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4392132" y="2232000"/>
              <a:ext cx="1548000" cy="864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191">
              <a:extLst>
                <a:ext uri="{FF2B5EF4-FFF2-40B4-BE49-F238E27FC236}">
                  <a16:creationId xmlns:a16="http://schemas.microsoft.com/office/drawing/2014/main" id="{7D75770E-125E-4370-8447-1DB6EA13E3BD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103874" y="2230625"/>
              <a:ext cx="179685" cy="2158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9" name="Text Box 191">
              <a:extLst>
                <a:ext uri="{FF2B5EF4-FFF2-40B4-BE49-F238E27FC236}">
                  <a16:creationId xmlns:a16="http://schemas.microsoft.com/office/drawing/2014/main" id="{B83C4BBA-A4E8-45C2-AD13-A241EC9AC66A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048000" y="2808104"/>
              <a:ext cx="179685" cy="2158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800F21C-8E6E-49FA-8AC9-9182D48B9583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4284194" y="2340000"/>
              <a:ext cx="10793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8" name="Text Box 191">
              <a:extLst>
                <a:ext uri="{FF2B5EF4-FFF2-40B4-BE49-F238E27FC236}">
                  <a16:creationId xmlns:a16="http://schemas.microsoft.com/office/drawing/2014/main" id="{EA0BB17F-2A56-4B20-BBAD-0D7AE40ECDED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048000" y="2411932"/>
              <a:ext cx="288258" cy="2158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CO</a:t>
              </a:r>
              <a:endPara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" name="Text Box 191">
              <a:extLst>
                <a:ext uri="{FF2B5EF4-FFF2-40B4-BE49-F238E27FC236}">
                  <a16:creationId xmlns:a16="http://schemas.microsoft.com/office/drawing/2014/main" id="{43A3C5F4-B29E-4054-8189-E7C435C77101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4103874" y="2663984"/>
              <a:ext cx="179685" cy="2158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5" name="Text Box 191">
              <a:extLst>
                <a:ext uri="{FF2B5EF4-FFF2-40B4-BE49-F238E27FC236}">
                  <a16:creationId xmlns:a16="http://schemas.microsoft.com/office/drawing/2014/main" id="{F231FA14-7D55-48BF-BC67-3CC385F18F71}"/>
                </a:ext>
              </a:extLst>
            </p:cNvPr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995936" y="2880482"/>
              <a:ext cx="288258" cy="2158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CI</a:t>
              </a:r>
              <a:endPara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3E460072-B237-46AB-A29C-A259696D902F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4284000" y="2772000"/>
              <a:ext cx="10793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514ECEE6-5C36-45BB-855B-3714A5E56355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4284000" y="2988000"/>
              <a:ext cx="10793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2A718D38-ADBA-4C02-8756-5E80BCD33D92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5940000" y="2916000"/>
              <a:ext cx="10793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B354F4C1-CCD2-472F-BB8D-EE796D7638C8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5940000" y="2520000"/>
              <a:ext cx="10793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BC55508-DC89-4669-865A-03B234D94A25}"/>
              </a:ext>
            </a:extLst>
          </p:cNvPr>
          <p:cNvGrpSpPr/>
          <p:nvPr/>
        </p:nvGrpSpPr>
        <p:grpSpPr>
          <a:xfrm>
            <a:off x="4283926" y="1844566"/>
            <a:ext cx="1548084" cy="719968"/>
            <a:chOff x="4392000" y="2303999"/>
            <a:chExt cx="1548084" cy="719968"/>
          </a:xfrm>
        </p:grpSpPr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90DA57BA-057A-4C8A-A043-C2707660DC61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4392132" y="2771915"/>
              <a:ext cx="28825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1" name="Text Box 36">
              <a:extLst>
                <a:ext uri="{FF2B5EF4-FFF2-40B4-BE49-F238E27FC236}">
                  <a16:creationId xmlns:a16="http://schemas.microsoft.com/office/drawing/2014/main" id="{9B6312B0-0179-4B04-A8C0-7E78667EA692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677850" y="2736361"/>
              <a:ext cx="288258" cy="2158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=1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60728E78-239C-40B6-BC39-EE7924ECE53D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H="1" flipV="1">
              <a:off x="4536261" y="2483999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75716FFD-7BF7-4C5B-B950-986FE918CC7A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4968012" y="2844293"/>
              <a:ext cx="32381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6" name="Text Box 36">
              <a:extLst>
                <a:ext uri="{FF2B5EF4-FFF2-40B4-BE49-F238E27FC236}">
                  <a16:creationId xmlns:a16="http://schemas.microsoft.com/office/drawing/2014/main" id="{19A29819-0046-46BC-A3C8-A6D7C3BE8FDC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291854" y="2304000"/>
              <a:ext cx="288258" cy="2158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23E8F2A-1C36-4E71-BC64-BA52031429E8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4536260" y="2484000"/>
              <a:ext cx="75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1CB68AC8-94EA-4F3A-8139-F0396CAAA82B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4463879" y="2916036"/>
              <a:ext cx="21587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B0CE24F-0213-4EC6-AA39-C4520B56C2A0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4463879" y="2340000"/>
              <a:ext cx="0" cy="57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63" name="Text Box 36">
              <a:extLst>
                <a:ext uri="{FF2B5EF4-FFF2-40B4-BE49-F238E27FC236}">
                  <a16:creationId xmlns:a16="http://schemas.microsoft.com/office/drawing/2014/main" id="{BE844AF8-6FB4-472D-A4DC-749E5F669093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291826" y="2520498"/>
              <a:ext cx="288258" cy="2158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64" name="Text Box 36">
              <a:extLst>
                <a:ext uri="{FF2B5EF4-FFF2-40B4-BE49-F238E27FC236}">
                  <a16:creationId xmlns:a16="http://schemas.microsoft.com/office/drawing/2014/main" id="{A23C77EB-EC0A-4E75-9B5B-9B8C1E81F6B7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580000" y="2303999"/>
              <a:ext cx="288000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219CF6B9-2FB1-4D5D-A8CC-57F411754F14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4392132" y="2987778"/>
              <a:ext cx="89969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50B4A082-6B29-4B12-AE04-ADC6323B871B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H="1" flipV="1">
              <a:off x="5183888" y="2700173"/>
              <a:ext cx="0" cy="2882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0361C645-E5CE-4A05-B397-C9BB02F3292E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112141" y="2556052"/>
              <a:ext cx="17968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9" name="Text Box 36">
              <a:extLst>
                <a:ext uri="{FF2B5EF4-FFF2-40B4-BE49-F238E27FC236}">
                  <a16:creationId xmlns:a16="http://schemas.microsoft.com/office/drawing/2014/main" id="{9AA8BF94-E329-44DB-8658-2128FE26E53C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291826" y="2808104"/>
              <a:ext cx="288000" cy="2158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=1</a:t>
              </a: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4199F870-1824-45D3-AAF0-B206B7ED6CFB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5112141" y="2556052"/>
              <a:ext cx="0" cy="2882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75D0F435-6956-44A1-ABC4-74436214D0D6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5183888" y="2700173"/>
              <a:ext cx="10793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FE74B193-A3ED-46FB-9626-41D8B8967E97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5868000" y="2520498"/>
              <a:ext cx="7174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A7C01184-DFD9-47B6-8426-E4558D87A6D5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5580084" y="2916036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D83D5320-B925-4E9F-A7E3-99A8B9D3F415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4392000" y="2340000"/>
              <a:ext cx="90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EF8351A-BDCC-4BE1-94FB-44A7D1A67876}"/>
              </a:ext>
            </a:extLst>
          </p:cNvPr>
          <p:cNvGrpSpPr/>
          <p:nvPr/>
        </p:nvGrpSpPr>
        <p:grpSpPr>
          <a:xfrm>
            <a:off x="1835696" y="2636912"/>
            <a:ext cx="4644000" cy="828000"/>
            <a:chOff x="1835696" y="2708920"/>
            <a:chExt cx="4644000" cy="828000"/>
          </a:xfrm>
        </p:grpSpPr>
        <p:sp>
          <p:nvSpPr>
            <p:cNvPr id="9" name="Text Box 191">
              <a:extLst>
                <a:ext uri="{FF2B5EF4-FFF2-40B4-BE49-F238E27FC236}">
                  <a16:creationId xmlns:a16="http://schemas.microsoft.com/office/drawing/2014/main" id="{1374FEC5-A01E-4C79-B6E8-7CBCFE584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696" y="2708920"/>
              <a:ext cx="4644000" cy="828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90000" tIns="46800" rIns="90000" bIns="46800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b="1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 F</a:t>
              </a:r>
              <a:r>
                <a:rPr lang="zh-CN" altLang="en-US" sz="2200" b="1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＝</a:t>
              </a:r>
              <a:r>
                <a:rPr lang="en-US" altLang="zh-CN" sz="2200" b="1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(A⊕B)</a:t>
              </a:r>
              <a:r>
                <a:rPr lang="en-US" altLang="zh-CN" sz="2200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CI+(A⊙B)CI</a:t>
              </a:r>
              <a:r>
                <a:rPr lang="zh-CN" altLang="en-US" sz="2200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＝</a:t>
              </a:r>
              <a:r>
                <a:rPr lang="en-US" altLang="zh-CN" sz="2200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A⊕B⊕CI</a:t>
              </a:r>
              <a:endParaRPr lang="en-US" altLang="zh-CN" sz="2200" b="1" dirty="0">
                <a:solidFill>
                  <a:schemeClr val="tx1"/>
                </a:solidFill>
                <a:cs typeface="Cambria Math" panose="02040503050406030204" pitchFamily="18" charset="0"/>
                <a:sym typeface="+mn-ea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200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CO</a:t>
              </a:r>
              <a:r>
                <a:rPr lang="zh-CN" altLang="en-US" sz="2200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＝</a:t>
              </a:r>
              <a:r>
                <a:rPr lang="en-US" altLang="zh-CN" sz="2200" dirty="0">
                  <a:solidFill>
                    <a:schemeClr val="tx1"/>
                  </a:solidFill>
                  <a:cs typeface="Cambria Math" panose="02040503050406030204" pitchFamily="18" charset="0"/>
                  <a:sym typeface="+mn-ea"/>
                </a:rPr>
                <a:t>AB+(A⊕B)CI</a:t>
              </a:r>
            </a:p>
          </p:txBody>
        </p: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BA3C9371-DA5A-400A-A447-E3766ECDB6FE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3340800" y="2836800"/>
              <a:ext cx="25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82" name="Text Box 419">
            <a:extLst>
              <a:ext uri="{FF2B5EF4-FFF2-40B4-BE49-F238E27FC236}">
                <a16:creationId xmlns:a16="http://schemas.microsoft.com/office/drawing/2014/main" id="{85D2165B-F25E-4503-8CEF-AC1A282E7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39" y="3862792"/>
            <a:ext cx="7632971" cy="25083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</a:rPr>
              <a:t>n</a:t>
            </a:r>
            <a:r>
              <a:rPr lang="zh-CN" altLang="en-US" sz="2200" dirty="0">
                <a:solidFill>
                  <a:schemeClr val="tx1"/>
                </a:solidFill>
              </a:rPr>
              <a:t>个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位全加器＋串行进位逻辑</a:t>
            </a:r>
            <a:endParaRPr lang="en-US" altLang="zh-CN" sz="1800" dirty="0">
              <a:solidFill>
                <a:schemeClr val="tx1"/>
              </a:solidFill>
            </a:endParaRPr>
          </a:p>
          <a:p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    </a:t>
            </a:r>
            <a:r>
              <a:rPr lang="zh-CN" altLang="en-US" sz="2200" u="sng" dirty="0">
                <a:solidFill>
                  <a:srgbClr val="990099"/>
                </a:solidFill>
              </a:rPr>
              <a:t>串行</a:t>
            </a:r>
            <a:r>
              <a:rPr lang="zh-CN" altLang="en-US" sz="2200" dirty="0">
                <a:solidFill>
                  <a:schemeClr val="tx1"/>
                </a:solidFill>
              </a:rPr>
              <a:t>形成</a:t>
            </a:r>
            <a:r>
              <a:rPr lang="en-US" altLang="zh-CN" sz="2200" dirty="0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→</a:t>
            </a:r>
            <a:r>
              <a:rPr lang="en-US" altLang="zh-CN" sz="2200" dirty="0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  <a:highlight>
                  <a:srgbClr val="FFFF00"/>
                </a:highlight>
              </a:rPr>
              <a:t>i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err="1">
                <a:solidFill>
                  <a:schemeClr val="tx1"/>
                </a:solidFill>
              </a:rPr>
              <a:t>A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sz="2200" dirty="0" err="1">
                <a:solidFill>
                  <a:schemeClr val="tx1"/>
                </a:solidFill>
              </a:rPr>
              <a:t>B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sz="2200" dirty="0">
                <a:solidFill>
                  <a:schemeClr val="tx1"/>
                </a:solidFill>
              </a:rPr>
              <a:t>＋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 err="1">
                <a:solidFill>
                  <a:schemeClr val="tx1"/>
                </a:solidFill>
              </a:rPr>
              <a:t>A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sz="2200" b="0" dirty="0" err="1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dirty="0" err="1">
                <a:solidFill>
                  <a:schemeClr val="tx1"/>
                </a:solidFill>
              </a:rPr>
              <a:t>B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  <a:highlight>
                  <a:srgbClr val="FFFF00"/>
                </a:highlight>
              </a:rPr>
              <a:t>i-1</a:t>
            </a:r>
            <a:endParaRPr lang="en-US" altLang="zh-CN" sz="2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进位电路简单，运算速度慢</a:t>
            </a:r>
            <a:r>
              <a:rPr lang="en-US" altLang="zh-CN" sz="1800" dirty="0">
                <a:solidFill>
                  <a:schemeClr val="tx1"/>
                </a:solidFill>
              </a:rPr>
              <a:t>(T</a:t>
            </a:r>
            <a:r>
              <a:rPr lang="zh-CN" altLang="en-US" sz="1800" baseline="-18000" dirty="0">
                <a:solidFill>
                  <a:schemeClr val="tx1"/>
                </a:solidFill>
              </a:rPr>
              <a:t>加法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·</a:t>
            </a:r>
            <a:r>
              <a:rPr lang="en-US" altLang="zh-CN" sz="1800" b="0" dirty="0">
                <a:solidFill>
                  <a:schemeClr val="tx1"/>
                </a:solidFill>
              </a:rPr>
              <a:t>∆</a:t>
            </a:r>
            <a:r>
              <a:rPr lang="en-US" altLang="zh-CN" sz="1800" dirty="0">
                <a:solidFill>
                  <a:schemeClr val="tx1"/>
                </a:solidFill>
              </a:rPr>
              <a:t>t)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117" name="AutoShape 437">
            <a:hlinkClick r:id="rId64" action="ppaction://hlinksldjump" highlightClick="1"/>
            <a:extLst>
              <a:ext uri="{FF2B5EF4-FFF2-40B4-BE49-F238E27FC236}">
                <a16:creationId xmlns:a16="http://schemas.microsoft.com/office/drawing/2014/main" id="{D16CE7EB-645F-4A0F-830A-3085C1466BC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2915816" y="651926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BFAD30F5-35F2-4859-9614-8E67FDB0C226}"/>
              </a:ext>
            </a:extLst>
          </p:cNvPr>
          <p:cNvGrpSpPr/>
          <p:nvPr/>
        </p:nvGrpSpPr>
        <p:grpSpPr>
          <a:xfrm>
            <a:off x="1476000" y="4320019"/>
            <a:ext cx="3816000" cy="1124585"/>
            <a:chOff x="1476000" y="4392027"/>
            <a:chExt cx="3816000" cy="1124585"/>
          </a:xfrm>
        </p:grpSpPr>
        <p:sp>
          <p:nvSpPr>
            <p:cNvPr id="119" name="Text Box 36">
              <a:extLst>
                <a:ext uri="{FF2B5EF4-FFF2-40B4-BE49-F238E27FC236}">
                  <a16:creationId xmlns:a16="http://schemas.microsoft.com/office/drawing/2014/main" id="{47F8058F-419B-465B-A9A4-F1E91B5B1FC6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908000" y="4716000"/>
              <a:ext cx="2916000" cy="50419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0" name="Text Box 191">
              <a:extLst>
                <a:ext uri="{FF2B5EF4-FFF2-40B4-BE49-F238E27FC236}">
                  <a16:creationId xmlns:a16="http://schemas.microsoft.com/office/drawing/2014/main" id="{13E22D96-9412-4C99-BB15-1D6AEC2B8B67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700000" y="4868912"/>
              <a:ext cx="216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5A8E7F5D-C425-42EA-BBB7-5E4C0528CCF1}"/>
                </a:ext>
              </a:extLst>
            </p:cNvPr>
            <p:cNvGrpSpPr/>
            <p:nvPr/>
          </p:nvGrpSpPr>
          <p:grpSpPr>
            <a:xfrm>
              <a:off x="3852000" y="4392027"/>
              <a:ext cx="1007745" cy="1115060"/>
              <a:chOff x="7313" y="7186"/>
              <a:chExt cx="1587" cy="1756"/>
            </a:xfrm>
          </p:grpSpPr>
          <p:cxnSp>
            <p:nvCxnSpPr>
              <p:cNvPr id="143" name="直接箭头连接符 142">
                <a:extLst>
                  <a:ext uri="{FF2B5EF4-FFF2-40B4-BE49-F238E27FC236}">
                    <a16:creationId xmlns:a16="http://schemas.microsoft.com/office/drawing/2014/main" id="{2C59855B-53B6-4AFF-A98A-3A9FFED13498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8220" y="752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44" name="Text Box 36">
                <a:extLst>
                  <a:ext uri="{FF2B5EF4-FFF2-40B4-BE49-F238E27FC236}">
                    <a16:creationId xmlns:a16="http://schemas.microsoft.com/office/drawing/2014/main" id="{AF5CA88D-43DE-4526-8785-921A9866938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7880" y="7809"/>
                <a:ext cx="794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∑</a:t>
                </a:r>
              </a:p>
            </p:txBody>
          </p: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4A8D2C10-84EB-4F43-BFBA-873BB74790F8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7313" y="8092"/>
                <a:ext cx="56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46" name="Text Box 191">
                <a:extLst>
                  <a:ext uri="{FF2B5EF4-FFF2-40B4-BE49-F238E27FC236}">
                    <a16:creationId xmlns:a16="http://schemas.microsoft.com/office/drawing/2014/main" id="{BED131BE-826A-4C1A-8FCC-F9ADA4FB1B7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7487" y="769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  <a:r>
                  <a:rPr lang="en-US" altLang="zh-CN" sz="16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cxnSp>
            <p:nvCxnSpPr>
              <p:cNvPr id="147" name="直接箭头连接符 146">
                <a:extLst>
                  <a:ext uri="{FF2B5EF4-FFF2-40B4-BE49-F238E27FC236}">
                    <a16:creationId xmlns:a16="http://schemas.microsoft.com/office/drawing/2014/main" id="{779035E7-A8A7-419E-A8BA-2FF589004BB9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auto">
              <a:xfrm>
                <a:off x="7993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48" name="Text Box 191">
                <a:extLst>
                  <a:ext uri="{FF2B5EF4-FFF2-40B4-BE49-F238E27FC236}">
                    <a16:creationId xmlns:a16="http://schemas.microsoft.com/office/drawing/2014/main" id="{0E4CBCE3-35A8-4258-A369-1576E82164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7880" y="8602"/>
                <a:ext cx="102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 B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73820F17-6FB7-4887-AD1B-3ECD067485E3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auto">
              <a:xfrm>
                <a:off x="8560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50" name="Text Box 191">
                <a:extLst>
                  <a:ext uri="{FF2B5EF4-FFF2-40B4-BE49-F238E27FC236}">
                    <a16:creationId xmlns:a16="http://schemas.microsoft.com/office/drawing/2014/main" id="{26339D36-2140-4015-95F8-B6FD008180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8107" y="718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F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F7FAF842-2DE4-4299-97A3-BA2A846D1289}"/>
                </a:ext>
              </a:extLst>
            </p:cNvPr>
            <p:cNvGrpSpPr/>
            <p:nvPr/>
          </p:nvGrpSpPr>
          <p:grpSpPr>
            <a:xfrm>
              <a:off x="2987462" y="4392027"/>
              <a:ext cx="1008380" cy="1115060"/>
              <a:chOff x="6066" y="7186"/>
              <a:chExt cx="1588" cy="1756"/>
            </a:xfrm>
          </p:grpSpPr>
          <p:sp>
            <p:nvSpPr>
              <p:cNvPr id="135" name="Text Box 36">
                <a:extLst>
                  <a:ext uri="{FF2B5EF4-FFF2-40B4-BE49-F238E27FC236}">
                    <a16:creationId xmlns:a16="http://schemas.microsoft.com/office/drawing/2014/main" id="{D59CA579-D72F-41C9-B645-840AB8ABD88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6633" y="7809"/>
                <a:ext cx="794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∑</a:t>
                </a:r>
              </a:p>
            </p:txBody>
          </p:sp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42B0A207-EEE0-442C-9DCA-A10E7E095AE5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V="1">
                <a:off x="6066" y="8092"/>
                <a:ext cx="56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7" name="Text Box 191">
                <a:extLst>
                  <a:ext uri="{FF2B5EF4-FFF2-40B4-BE49-F238E27FC236}">
                    <a16:creationId xmlns:a16="http://schemas.microsoft.com/office/drawing/2014/main" id="{64F0E7FF-B02E-4276-8715-95EDD0C3AF6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6240" y="7696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  <a:r>
                  <a:rPr lang="en-US" altLang="zh-CN" sz="16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38" name="直接箭头连接符 137">
                <a:extLst>
                  <a:ext uri="{FF2B5EF4-FFF2-40B4-BE49-F238E27FC236}">
                    <a16:creationId xmlns:a16="http://schemas.microsoft.com/office/drawing/2014/main" id="{7B86E1A6-76E7-4D7F-82D0-8FD847BC42B0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>
                <a:off x="6746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9" name="Text Box 191">
                <a:extLst>
                  <a:ext uri="{FF2B5EF4-FFF2-40B4-BE49-F238E27FC236}">
                    <a16:creationId xmlns:a16="http://schemas.microsoft.com/office/drawing/2014/main" id="{BCC1A04B-2A64-452D-84E0-DA890353B37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6634" y="8602"/>
                <a:ext cx="102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 B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46DE8E2E-18D3-424E-B82C-0E4DDB5ABEFF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>
                <a:off x="7314" y="8376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874EB98E-4841-4064-9203-6D57724C841B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auto">
              <a:xfrm flipV="1">
                <a:off x="7030" y="752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42" name="Text Box 191">
                <a:extLst>
                  <a:ext uri="{FF2B5EF4-FFF2-40B4-BE49-F238E27FC236}">
                    <a16:creationId xmlns:a16="http://schemas.microsoft.com/office/drawing/2014/main" id="{F3D7FDEC-6692-4D4C-8A30-B6885880766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6917" y="7186"/>
                <a:ext cx="4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F</a:t>
                </a:r>
                <a:r>
                  <a:rPr lang="en-US" altLang="zh-CN" sz="1800" baseline="-180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8198407E-1355-4893-94AC-E00C4F2B900A}"/>
                </a:ext>
              </a:extLst>
            </p:cNvPr>
            <p:cNvGrpSpPr/>
            <p:nvPr/>
          </p:nvGrpSpPr>
          <p:grpSpPr>
            <a:xfrm>
              <a:off x="1476000" y="4392027"/>
              <a:ext cx="1260475" cy="1124585"/>
              <a:chOff x="3912" y="7186"/>
              <a:chExt cx="1985" cy="1771"/>
            </a:xfrm>
          </p:grpSpPr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AD8EA8F1-6903-48DC-93BA-5D3683B7D6CB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 bwMode="auto">
              <a:xfrm flipV="1">
                <a:off x="5500" y="8093"/>
                <a:ext cx="22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27" name="Text Box 36">
                <a:extLst>
                  <a:ext uri="{FF2B5EF4-FFF2-40B4-BE49-F238E27FC236}">
                    <a16:creationId xmlns:a16="http://schemas.microsoft.com/office/drawing/2014/main" id="{D287182D-F342-456B-82C5-C9C9731EC69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705" y="7810"/>
                <a:ext cx="794" cy="56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∑</a:t>
                </a:r>
              </a:p>
            </p:txBody>
          </p:sp>
          <p:cxnSp>
            <p:nvCxnSpPr>
              <p:cNvPr id="128" name="直接箭头连接符 127">
                <a:extLst>
                  <a:ext uri="{FF2B5EF4-FFF2-40B4-BE49-F238E27FC236}">
                    <a16:creationId xmlns:a16="http://schemas.microsoft.com/office/drawing/2014/main" id="{F2857C4E-80BD-40F4-9C59-8071E019ABBA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 bwMode="auto">
              <a:xfrm flipV="1">
                <a:off x="4422" y="8093"/>
                <a:ext cx="283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triangle" w="med" len="sm"/>
                <a:tailEnd type="none"/>
              </a:ln>
              <a:effectLst/>
            </p:spPr>
          </p:cxnSp>
          <p:sp>
            <p:nvSpPr>
              <p:cNvPr id="129" name="Text Box 191">
                <a:extLst>
                  <a:ext uri="{FF2B5EF4-FFF2-40B4-BE49-F238E27FC236}">
                    <a16:creationId xmlns:a16="http://schemas.microsoft.com/office/drawing/2014/main" id="{B6E66EC5-E28E-45B6-9672-537470AF108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3912" y="7923"/>
                <a:ext cx="624" cy="39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n-1</a:t>
                </a:r>
              </a:p>
            </p:txBody>
          </p:sp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F781ECF9-1DB7-4FC9-9C5D-E4E0C199F707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 bwMode="auto">
              <a:xfrm>
                <a:off x="4763" y="83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1" name="Text Box 191">
                <a:extLst>
                  <a:ext uri="{FF2B5EF4-FFF2-40B4-BE49-F238E27FC236}">
                    <a16:creationId xmlns:a16="http://schemas.microsoft.com/office/drawing/2014/main" id="{FE3E7E0F-717A-41A8-8601-037FD4D7CE1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593" y="8617"/>
                <a:ext cx="130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n-1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B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n-1</a:t>
                </a:r>
              </a:p>
            </p:txBody>
          </p: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95C68047-9592-42E6-904A-D976BC07A15B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 bwMode="auto">
              <a:xfrm>
                <a:off x="5387" y="8377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33" name="直接箭头连接符 132">
                <a:extLst>
                  <a:ext uri="{FF2B5EF4-FFF2-40B4-BE49-F238E27FC236}">
                    <a16:creationId xmlns:a16="http://schemas.microsoft.com/office/drawing/2014/main" id="{DB472F51-FAAB-45BF-9F68-259FB8E1A05A}"/>
                  </a:ext>
                </a:extLst>
              </p:cNvPr>
              <p:cNvCxnSpPr/>
              <p:nvPr>
                <p:custDataLst>
                  <p:tags r:id="rId13"/>
                </p:custDataLst>
              </p:nvPr>
            </p:nvCxnSpPr>
            <p:spPr bwMode="auto">
              <a:xfrm flipV="1">
                <a:off x="5046" y="7526"/>
                <a:ext cx="0" cy="28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34" name="Text Box 191">
                <a:extLst>
                  <a:ext uri="{FF2B5EF4-FFF2-40B4-BE49-F238E27FC236}">
                    <a16:creationId xmlns:a16="http://schemas.microsoft.com/office/drawing/2014/main" id="{D057B520-FD61-493C-B479-86D3F75185C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932" y="7186"/>
                <a:ext cx="68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F</a:t>
                </a:r>
                <a:r>
                  <a:rPr lang="en-US" altLang="zh-CN" sz="1800" b="1" baseline="-180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n-1</a:t>
                </a:r>
              </a:p>
            </p:txBody>
          </p:sp>
        </p:grp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7BBE8C38-336D-423E-9727-66019B0D5108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4716000" y="4968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none"/>
            </a:ln>
            <a:effectLst/>
          </p:spPr>
        </p:cxnSp>
        <p:sp>
          <p:nvSpPr>
            <p:cNvPr id="125" name="Text Box 191">
              <a:extLst>
                <a:ext uri="{FF2B5EF4-FFF2-40B4-BE49-F238E27FC236}">
                  <a16:creationId xmlns:a16="http://schemas.microsoft.com/office/drawing/2014/main" id="{3F653C49-95A0-4E38-86B6-A47398F64EAA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932000" y="4860000"/>
              <a:ext cx="360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-1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A8AE67-F567-47FB-A4AB-C08955E3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70</a:t>
            </a:fld>
            <a:endParaRPr lang="en-US" altLang="zh-CN"/>
          </a:p>
        </p:txBody>
      </p:sp>
      <p:sp>
        <p:nvSpPr>
          <p:cNvPr id="3" name="Text Box 74">
            <a:extLst>
              <a:ext uri="{FF2B5EF4-FFF2-40B4-BE49-F238E27FC236}">
                <a16:creationId xmlns:a16="http://schemas.microsoft.com/office/drawing/2014/main" id="{C568BDEF-A459-4E67-85E6-0ED107C11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2656"/>
            <a:ext cx="5256087" cy="53392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先行进位加法器</a:t>
            </a:r>
            <a:endParaRPr lang="en-US" altLang="zh-CN" sz="2200" dirty="0">
              <a:solidFill>
                <a:srgbClr val="FF3399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组成：</a:t>
            </a:r>
            <a:endParaRPr lang="en-US" altLang="zh-CN" sz="2200" dirty="0">
              <a:solidFill>
                <a:schemeClr val="tx1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100"/>
              </a:spcBef>
            </a:pPr>
            <a:endParaRPr lang="en-US" altLang="zh-CN" sz="20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先行进位电路：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800" dirty="0">
              <a:solidFill>
                <a:schemeClr val="accent2"/>
              </a:solidFill>
            </a:endParaRPr>
          </a:p>
          <a:p>
            <a:r>
              <a:rPr lang="zh-CN" altLang="en-US" sz="2200" dirty="0">
                <a:solidFill>
                  <a:schemeClr val="accent2"/>
                </a:solidFill>
              </a:rPr>
              <a:t>    先行进位逻辑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accent2"/>
                </a:solidFill>
              </a:rPr>
              <a:t> </a:t>
            </a:r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2200" dirty="0">
              <a:solidFill>
                <a:schemeClr val="accent2"/>
              </a:solidFill>
            </a:endParaRPr>
          </a:p>
          <a:p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先行进位电路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4" name="Text Box 471">
            <a:extLst>
              <a:ext uri="{FF2B5EF4-FFF2-40B4-BE49-F238E27FC236}">
                <a16:creationId xmlns:a16="http://schemas.microsoft.com/office/drawing/2014/main" id="{93E45DD8-07D1-4431-A6E7-543059365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2852936"/>
            <a:ext cx="7416823" cy="22452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      </a:t>
            </a:r>
            <a:r>
              <a:rPr lang="zh-CN" altLang="en-US" sz="2200" u="sng" dirty="0">
                <a:solidFill>
                  <a:srgbClr val="990099"/>
                </a:solidFill>
              </a:rPr>
              <a:t>同时</a:t>
            </a:r>
            <a:r>
              <a:rPr lang="zh-CN" altLang="en-US" sz="2200" dirty="0">
                <a:solidFill>
                  <a:schemeClr val="tx1"/>
                </a:solidFill>
              </a:rPr>
              <a:t>形成</a:t>
            </a:r>
            <a:r>
              <a:rPr lang="en-US" altLang="zh-CN" sz="2200" dirty="0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</a:rPr>
              <a:t>←理论上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</a:rPr>
              <a:t>i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err="1">
                <a:solidFill>
                  <a:schemeClr val="tx1"/>
                </a:solidFill>
              </a:rPr>
              <a:t>A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sz="1800" dirty="0" err="1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i</a:t>
            </a:r>
            <a:r>
              <a:rPr lang="zh-CN" altLang="en-US" sz="1800" dirty="0">
                <a:solidFill>
                  <a:schemeClr val="tx1"/>
                </a:solidFill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</a:rPr>
              <a:t>A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sz="1800" b="0" dirty="0" err="1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1800" dirty="0" err="1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sz="1800" dirty="0">
                <a:solidFill>
                  <a:schemeClr val="tx1"/>
                </a:solidFill>
              </a:rPr>
              <a:t>)C</a:t>
            </a:r>
            <a:r>
              <a:rPr lang="en-US" altLang="zh-CN" sz="1800" baseline="-18000" dirty="0">
                <a:solidFill>
                  <a:schemeClr val="tx1"/>
                </a:solidFill>
              </a:rPr>
              <a:t>i-1</a:t>
            </a:r>
            <a:endParaRPr lang="en-US" altLang="zh-CN" sz="2200" dirty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 </a:t>
            </a:r>
            <a:r>
              <a:rPr lang="en-US" altLang="zh-CN" sz="1800" b="0" dirty="0">
                <a:solidFill>
                  <a:schemeClr val="tx1"/>
                </a:solidFill>
              </a:rPr>
              <a:t>└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u="sng" dirty="0">
                <a:solidFill>
                  <a:schemeClr val="tx1"/>
                </a:solidFill>
              </a:rPr>
              <a:t>消除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</a:rPr>
              <a:t>i</a:t>
            </a:r>
            <a:r>
              <a:rPr lang="zh-CN" altLang="en-US" sz="1800" dirty="0">
                <a:solidFill>
                  <a:schemeClr val="tx1"/>
                </a:solidFill>
              </a:rPr>
              <a:t>与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</a:rPr>
              <a:t>i-1</a:t>
            </a:r>
            <a:r>
              <a:rPr lang="zh-CN" altLang="en-US" sz="1800" dirty="0">
                <a:solidFill>
                  <a:schemeClr val="tx1"/>
                </a:solidFill>
              </a:rPr>
              <a:t>的</a:t>
            </a:r>
            <a:r>
              <a:rPr lang="zh-CN" altLang="en-US" sz="1800" u="sng" dirty="0">
                <a:solidFill>
                  <a:schemeClr val="tx1"/>
                </a:solidFill>
              </a:rPr>
              <a:t>依赖关系</a:t>
            </a:r>
            <a:r>
              <a:rPr lang="zh-CN" altLang="en-US" sz="1800" dirty="0">
                <a:solidFill>
                  <a:schemeClr val="tx1"/>
                </a:solidFill>
              </a:rPr>
              <a:t>，代入法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       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FF00"/>
                </a:highlight>
              </a:rPr>
              <a:t>-1</a:t>
            </a:r>
            <a:r>
              <a:rPr lang="en-US" altLang="zh-CN" sz="2200" dirty="0">
                <a:solidFill>
                  <a:schemeClr val="tx1"/>
                </a:solidFill>
              </a:rPr>
              <a:t>  </a:t>
            </a:r>
            <a:r>
              <a:rPr lang="en-US" altLang="zh-CN" sz="1800" dirty="0">
                <a:solidFill>
                  <a:schemeClr val="tx1"/>
                </a:solidFill>
              </a:rPr>
              <a:t>←</a:t>
            </a:r>
            <a:r>
              <a:rPr lang="zh-CN" altLang="en-US" sz="1800" dirty="0">
                <a:solidFill>
                  <a:schemeClr val="tx1"/>
                </a:solidFill>
              </a:rPr>
              <a:t>产生函数</a:t>
            </a:r>
            <a:r>
              <a:rPr lang="en-US" altLang="zh-CN" sz="1800" dirty="0">
                <a:solidFill>
                  <a:schemeClr val="tx1"/>
                </a:solidFill>
              </a:rPr>
              <a:t>G</a:t>
            </a:r>
            <a:r>
              <a:rPr lang="en-US" altLang="zh-CN" sz="1800" baseline="-20000" dirty="0">
                <a:solidFill>
                  <a:schemeClr val="tx1"/>
                </a:solidFill>
              </a:rPr>
              <a:t>i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err="1">
                <a:solidFill>
                  <a:schemeClr val="tx1"/>
                </a:solidFill>
              </a:rPr>
              <a:t>A</a:t>
            </a:r>
            <a:r>
              <a:rPr lang="en-US" altLang="zh-CN" sz="1800" baseline="-20000" dirty="0" err="1">
                <a:solidFill>
                  <a:schemeClr val="tx1"/>
                </a:solidFill>
              </a:rPr>
              <a:t>i</a:t>
            </a:r>
            <a:r>
              <a:rPr lang="en-US" altLang="zh-CN" sz="1800" dirty="0" err="1">
                <a:solidFill>
                  <a:schemeClr val="tx1"/>
                </a:solidFill>
              </a:rPr>
              <a:t>B</a:t>
            </a:r>
            <a:r>
              <a:rPr lang="en-US" altLang="zh-CN" sz="1800" baseline="-20000" dirty="0" err="1">
                <a:solidFill>
                  <a:schemeClr val="tx1"/>
                </a:solidFill>
              </a:rPr>
              <a:t>i</a:t>
            </a:r>
            <a:r>
              <a:rPr lang="zh-CN" altLang="en-US" sz="1800" dirty="0">
                <a:solidFill>
                  <a:schemeClr val="tx1"/>
                </a:solidFill>
              </a:rPr>
              <a:t>，传递函数</a:t>
            </a:r>
            <a:r>
              <a:rPr lang="en-US" altLang="zh-CN" sz="1800" dirty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>
                <a:solidFill>
                  <a:schemeClr val="tx1"/>
                </a:solidFill>
              </a:rPr>
              <a:t>i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 err="1">
                <a:solidFill>
                  <a:schemeClr val="tx1"/>
                </a:solidFill>
              </a:rPr>
              <a:t>A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i</a:t>
            </a:r>
            <a:r>
              <a:rPr lang="en-US" altLang="zh-CN" sz="1800" b="0" dirty="0" err="1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1800" dirty="0" err="1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i</a:t>
            </a:r>
            <a:endParaRPr lang="en-US" altLang="zh-CN" sz="2000" baseline="-20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 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FF00"/>
                </a:highlight>
              </a:rPr>
              <a:t>-1</a:t>
            </a:r>
            <a:endParaRPr lang="en-US" altLang="zh-CN" sz="2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 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CCFF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CCCCFF"/>
                </a:highlight>
              </a:rPr>
              <a:t>2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FF00"/>
                </a:highlight>
              </a:rPr>
              <a:t>-1</a:t>
            </a:r>
          </a:p>
          <a:p>
            <a:pPr>
              <a:lnSpc>
                <a:spcPct val="10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 C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CCFF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CCCCFF"/>
                </a:highlight>
              </a:rPr>
              <a:t>2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CCFF"/>
                </a:highlight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CCCCFF"/>
                </a:highlight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CCFF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CCCCFF"/>
                </a:highlight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CCFF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CCCCFF"/>
                </a:highlight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G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+P</a:t>
            </a:r>
            <a:r>
              <a:rPr lang="en-US" altLang="zh-CN" sz="2200" baseline="-20000" dirty="0">
                <a:solidFill>
                  <a:schemeClr val="tx1"/>
                </a:solidFill>
              </a:rPr>
              <a:t>3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CCCCFF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CCCCFF"/>
                </a:highlight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CC99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CC99"/>
                </a:highlight>
              </a:rPr>
              <a:t>1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99CCFF"/>
                </a:highlight>
              </a:rPr>
              <a:t>P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99CCFF"/>
                </a:highlight>
              </a:rPr>
              <a:t>0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2200" baseline="-20000" dirty="0">
                <a:solidFill>
                  <a:schemeClr val="tx1"/>
                </a:solidFill>
                <a:highlight>
                  <a:srgbClr val="FFFF00"/>
                </a:highlight>
              </a:rPr>
              <a:t>-1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4DEAF8F-2B36-4A48-9910-B28A719F900B}"/>
              </a:ext>
            </a:extLst>
          </p:cNvPr>
          <p:cNvGrpSpPr/>
          <p:nvPr/>
        </p:nvGrpSpPr>
        <p:grpSpPr>
          <a:xfrm>
            <a:off x="1259632" y="1196752"/>
            <a:ext cx="4032000" cy="1680365"/>
            <a:chOff x="3240000" y="3312000"/>
            <a:chExt cx="4032000" cy="1680365"/>
          </a:xfrm>
        </p:grpSpPr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443F3AB7-E109-4C37-8185-868075AFAA77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744000" y="3636000"/>
              <a:ext cx="3096000" cy="1044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191">
              <a:extLst>
                <a:ext uri="{FF2B5EF4-FFF2-40B4-BE49-F238E27FC236}">
                  <a16:creationId xmlns:a16="http://schemas.microsoft.com/office/drawing/2014/main" id="{3895DD5D-24F6-4EAB-8720-0574FD3DB80F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752000" y="431809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41" name="Text Box 191">
              <a:extLst>
                <a:ext uri="{FF2B5EF4-FFF2-40B4-BE49-F238E27FC236}">
                  <a16:creationId xmlns:a16="http://schemas.microsoft.com/office/drawing/2014/main" id="{FA9C9EA3-A989-4189-81D9-FD6EEFD4AF03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948000" y="4284000"/>
              <a:ext cx="324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-1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020F84E-DBA6-4A51-96BA-6733CC5A7DC8}"/>
                </a:ext>
              </a:extLst>
            </p:cNvPr>
            <p:cNvGrpSpPr/>
            <p:nvPr/>
          </p:nvGrpSpPr>
          <p:grpSpPr>
            <a:xfrm>
              <a:off x="6084290" y="3564000"/>
              <a:ext cx="827878" cy="1188145"/>
              <a:chOff x="6084290" y="3564000"/>
              <a:chExt cx="827878" cy="1188145"/>
            </a:xfrm>
          </p:grpSpPr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3A3C6E35-C875-4B46-A739-008FE2467763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6228440" y="3564000"/>
                <a:ext cx="0" cy="68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77" name="Text Box 36">
                <a:extLst>
                  <a:ext uri="{FF2B5EF4-FFF2-40B4-BE49-F238E27FC236}">
                    <a16:creationId xmlns:a16="http://schemas.microsoft.com/office/drawing/2014/main" id="{C65697DF-E66C-48F4-94D1-E317889DACB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6084290" y="4248000"/>
                <a:ext cx="576000" cy="360045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∑</a:t>
                </a:r>
              </a:p>
            </p:txBody>
          </p: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2660380C-DC28-41AB-902C-DFBABDF1C7BA}"/>
                  </a:ext>
                </a:extLst>
              </p:cNvPr>
              <p:cNvCxnSpPr>
                <a:cxnSpLocks/>
              </p:cNvCxnSpPr>
              <p:nvPr>
                <p:custDataLst>
                  <p:tags r:id="rId36"/>
                </p:custDataLst>
              </p:nvPr>
            </p:nvCxnSpPr>
            <p:spPr bwMode="auto">
              <a:xfrm flipH="1">
                <a:off x="6660168" y="4428000"/>
                <a:ext cx="252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ACAD4AC2-63E6-4C14-AE20-E6B30C1AF397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6192168" y="4608000"/>
                <a:ext cx="0" cy="144145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2A601811-C437-4E7A-A413-D22F9B648FDE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>
                <a:off x="6552168" y="4608000"/>
                <a:ext cx="0" cy="144145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3FB67C6B-532B-4E01-9553-0B36869F6317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 flipV="1">
                <a:off x="6444464" y="39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067A4258-3F39-4C2B-BD66-B2376A698FC0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6552168" y="39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4B77620-4A11-4CFB-8E8E-F710DB8B12BA}"/>
                </a:ext>
              </a:extLst>
            </p:cNvPr>
            <p:cNvGrpSpPr/>
            <p:nvPr/>
          </p:nvGrpSpPr>
          <p:grpSpPr>
            <a:xfrm>
              <a:off x="5148122" y="3564000"/>
              <a:ext cx="719878" cy="1188145"/>
              <a:chOff x="6084290" y="3564000"/>
              <a:chExt cx="719878" cy="1188145"/>
            </a:xfrm>
          </p:grpSpPr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23FF3569-930B-40A0-8D46-C37747DA257E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6228440" y="3564000"/>
                <a:ext cx="0" cy="68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70" name="Text Box 36">
                <a:extLst>
                  <a:ext uri="{FF2B5EF4-FFF2-40B4-BE49-F238E27FC236}">
                    <a16:creationId xmlns:a16="http://schemas.microsoft.com/office/drawing/2014/main" id="{9917C1FC-E346-4537-B2F2-EF077EA68A9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6084290" y="4248000"/>
                <a:ext cx="576000" cy="360045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∑</a:t>
                </a:r>
              </a:p>
            </p:txBody>
          </p:sp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37C8EDEE-8636-4F6A-8C25-94452F3A0D1B}"/>
                  </a:ext>
                </a:extLst>
              </p:cNvPr>
              <p:cNvCxnSpPr>
                <a:cxnSpLocks/>
              </p:cNvCxnSpPr>
              <p:nvPr>
                <p:custDataLst>
                  <p:tags r:id="rId29"/>
                </p:custDataLst>
              </p:nvPr>
            </p:nvCxnSpPr>
            <p:spPr bwMode="auto">
              <a:xfrm flipH="1">
                <a:off x="6660168" y="4428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3A02F15F-2E96-4C11-B1CC-D5D7170C5742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6192168" y="4608000"/>
                <a:ext cx="0" cy="144145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793A3F2F-A36F-4FF4-B2CA-1EE71B80A310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auto">
              <a:xfrm>
                <a:off x="6552168" y="4608000"/>
                <a:ext cx="0" cy="144145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688EB5CA-C8E4-4E0D-84E7-01D3CB807EA2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auto">
              <a:xfrm flipV="1">
                <a:off x="6444464" y="39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5" name="直接箭头连接符 74">
                <a:extLst>
                  <a:ext uri="{FF2B5EF4-FFF2-40B4-BE49-F238E27FC236}">
                    <a16:creationId xmlns:a16="http://schemas.microsoft.com/office/drawing/2014/main" id="{341C439F-81C7-4C30-8DE7-7DE9286D85C0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6552168" y="39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11CCF380-2F56-4AF9-AF36-E25219F5C2AC}"/>
                </a:ext>
              </a:extLst>
            </p:cNvPr>
            <p:cNvGrpSpPr/>
            <p:nvPr/>
          </p:nvGrpSpPr>
          <p:grpSpPr>
            <a:xfrm>
              <a:off x="3924000" y="3564000"/>
              <a:ext cx="719878" cy="1188145"/>
              <a:chOff x="6084290" y="3564000"/>
              <a:chExt cx="719878" cy="1188145"/>
            </a:xfrm>
          </p:grpSpPr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ACA29394-1E51-4EDC-B241-AA5E6700DC11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6228440" y="3564000"/>
                <a:ext cx="0" cy="68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63" name="Text Box 36">
                <a:extLst>
                  <a:ext uri="{FF2B5EF4-FFF2-40B4-BE49-F238E27FC236}">
                    <a16:creationId xmlns:a16="http://schemas.microsoft.com/office/drawing/2014/main" id="{25B1186D-A557-4B5D-A459-429D8938994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6084290" y="4248000"/>
                <a:ext cx="576000" cy="360045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∑</a:t>
                </a:r>
              </a:p>
            </p:txBody>
          </p: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8584833F-0354-4DCB-A882-1CC269C04F78}"/>
                  </a:ext>
                </a:extLst>
              </p:cNvPr>
              <p:cNvCxnSpPr>
                <a:cxnSpLocks/>
              </p:cNvCxnSpPr>
              <p:nvPr>
                <p:custDataLst>
                  <p:tags r:id="rId22"/>
                </p:custDataLst>
              </p:nvPr>
            </p:nvCxnSpPr>
            <p:spPr bwMode="auto">
              <a:xfrm flipH="1">
                <a:off x="6660168" y="4428000"/>
                <a:ext cx="144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1F9FA1E5-4B58-4FEF-B78B-2F97773F2E1A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6192168" y="4608000"/>
                <a:ext cx="0" cy="144145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E502CAB0-3202-4B65-8675-F9189E463290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6552168" y="4608000"/>
                <a:ext cx="0" cy="144145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71D49471-F37C-4774-8D08-FD83B581A6FD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6444464" y="39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6D85EBDD-E9A2-443E-97AD-2C203593574F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6552168" y="3960000"/>
                <a:ext cx="0" cy="288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sp>
          <p:nvSpPr>
            <p:cNvPr id="45" name="Text Box 151">
              <a:extLst>
                <a:ext uri="{FF2B5EF4-FFF2-40B4-BE49-F238E27FC236}">
                  <a16:creationId xmlns:a16="http://schemas.microsoft.com/office/drawing/2014/main" id="{391B8B44-7F95-4441-AA05-595F66341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000" y="3708000"/>
              <a:ext cx="2664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n</a:t>
              </a:r>
              <a:r>
                <a:rPr lang="zh-CN" altLang="en-US" sz="1800" dirty="0">
                  <a:solidFill>
                    <a:schemeClr val="tx1"/>
                  </a:solidFill>
                </a:rPr>
                <a:t>位先行进位</a:t>
              </a:r>
              <a:r>
                <a:rPr lang="zh-CN" altLang="en-US" sz="1600" dirty="0">
                  <a:solidFill>
                    <a:schemeClr val="tx1"/>
                  </a:solidFill>
                </a:rPr>
                <a:t>逻辑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EB07746E-42C7-42F2-BA7D-F61EEC6B3EFA}"/>
                </a:ext>
              </a:extLst>
            </p:cNvPr>
            <p:cNvCxnSpPr>
              <a:cxnSpLocks/>
            </p:cNvCxnSpPr>
            <p:nvPr>
              <p:custDataLst>
                <p:tags r:id="rId4"/>
              </p:custDataLst>
            </p:nvPr>
          </p:nvCxnSpPr>
          <p:spPr bwMode="auto">
            <a:xfrm flipH="1">
              <a:off x="5868000" y="3959980"/>
              <a:ext cx="0" cy="468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7" name="Text Box 191">
              <a:extLst>
                <a:ext uri="{FF2B5EF4-FFF2-40B4-BE49-F238E27FC236}">
                  <a16:creationId xmlns:a16="http://schemas.microsoft.com/office/drawing/2014/main" id="{FDCB99BF-7AA8-4CBC-8664-46EF4EC0E2D4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04000" y="3960000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5F0E38A1-8C28-4DBD-BFC9-332ADA24DB94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644000" y="3960000"/>
              <a:ext cx="0" cy="468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9" name="Text Box 191">
              <a:extLst>
                <a:ext uri="{FF2B5EF4-FFF2-40B4-BE49-F238E27FC236}">
                  <a16:creationId xmlns:a16="http://schemas.microsoft.com/office/drawing/2014/main" id="{285943CD-52C9-4C8C-AB38-6357F7F6AF3E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80000" y="3960000"/>
              <a:ext cx="360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n-2</a:t>
              </a: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CCC6F94-56C0-494B-85A7-0FBC32B8AB34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6624000" y="3861048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DDF982AE-9985-43D2-94E9-0DFCF41050DD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6768000" y="3852000"/>
              <a:ext cx="0" cy="576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85958906-381F-40DC-A4AE-7A860907BAF3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3816000" y="3852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829C49FB-044E-45A2-940E-F51B4C9DC2FA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3816000" y="3852000"/>
              <a:ext cx="0" cy="576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2898BFE-04F6-4151-A18D-47A151E2FA0A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3600000" y="4428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5" name="Text Box 191">
              <a:extLst>
                <a:ext uri="{FF2B5EF4-FFF2-40B4-BE49-F238E27FC236}">
                  <a16:creationId xmlns:a16="http://schemas.microsoft.com/office/drawing/2014/main" id="{01813B03-9841-447D-9C8A-7E90C8A0A0B3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084168" y="4740365"/>
              <a:ext cx="648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 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56" name="Text Box 191">
              <a:extLst>
                <a:ext uri="{FF2B5EF4-FFF2-40B4-BE49-F238E27FC236}">
                  <a16:creationId xmlns:a16="http://schemas.microsoft.com/office/drawing/2014/main" id="{79C5AAE5-7CC9-4A4A-BE54-5EE3D2687FB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148000" y="4740365"/>
              <a:ext cx="648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 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57" name="Text Box 191">
              <a:extLst>
                <a:ext uri="{FF2B5EF4-FFF2-40B4-BE49-F238E27FC236}">
                  <a16:creationId xmlns:a16="http://schemas.microsoft.com/office/drawing/2014/main" id="{74C0B44A-343E-4079-A7D0-DD13C943DDAA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220000" y="3312000"/>
              <a:ext cx="28829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58" name="Text Box 191">
              <a:extLst>
                <a:ext uri="{FF2B5EF4-FFF2-40B4-BE49-F238E27FC236}">
                  <a16:creationId xmlns:a16="http://schemas.microsoft.com/office/drawing/2014/main" id="{7103093A-82C4-4FE8-819C-F2FD0E9EF28C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156000" y="3312000"/>
              <a:ext cx="28829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59" name="Text Box 191">
              <a:extLst>
                <a:ext uri="{FF2B5EF4-FFF2-40B4-BE49-F238E27FC236}">
                  <a16:creationId xmlns:a16="http://schemas.microsoft.com/office/drawing/2014/main" id="{974297B9-FFB1-4E13-93D5-061B58EECEA9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996000" y="3312000"/>
              <a:ext cx="396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n-1</a:t>
              </a:r>
            </a:p>
          </p:txBody>
        </p:sp>
        <p:sp>
          <p:nvSpPr>
            <p:cNvPr id="60" name="Text Box 191">
              <a:extLst>
                <a:ext uri="{FF2B5EF4-FFF2-40B4-BE49-F238E27FC236}">
                  <a16:creationId xmlns:a16="http://schemas.microsoft.com/office/drawing/2014/main" id="{64C6127C-834D-4986-BF25-039510526EDE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941974" y="4740365"/>
              <a:ext cx="864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n-1 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n-1</a:t>
              </a:r>
            </a:p>
          </p:txBody>
        </p:sp>
        <p:sp>
          <p:nvSpPr>
            <p:cNvPr id="61" name="Text Box 191">
              <a:extLst>
                <a:ext uri="{FF2B5EF4-FFF2-40B4-BE49-F238E27FC236}">
                  <a16:creationId xmlns:a16="http://schemas.microsoft.com/office/drawing/2014/main" id="{D9CD7548-9040-464D-A83C-9F27DA8EAB5E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240000" y="4320000"/>
              <a:ext cx="396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800" b="1" baseline="-18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n-1</a:t>
              </a:r>
            </a:p>
          </p:txBody>
        </p: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1B18DF4F-8E17-4169-BD78-15A9BE1013BD}"/>
              </a:ext>
            </a:extLst>
          </p:cNvPr>
          <p:cNvGrpSpPr/>
          <p:nvPr/>
        </p:nvGrpSpPr>
        <p:grpSpPr>
          <a:xfrm>
            <a:off x="2915816" y="5085184"/>
            <a:ext cx="4932000" cy="1548000"/>
            <a:chOff x="3492000" y="3204000"/>
            <a:chExt cx="4932000" cy="1548000"/>
          </a:xfrm>
        </p:grpSpPr>
        <p:sp>
          <p:nvSpPr>
            <p:cNvPr id="227" name="Rectangle 272">
              <a:extLst>
                <a:ext uri="{FF2B5EF4-FFF2-40B4-BE49-F238E27FC236}">
                  <a16:creationId xmlns:a16="http://schemas.microsoft.com/office/drawing/2014/main" id="{0955C901-F490-4059-8580-1FC0B1DDF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000" y="3456000"/>
              <a:ext cx="4536000" cy="1080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8" name="Text Box 273">
              <a:extLst>
                <a:ext uri="{FF2B5EF4-FFF2-40B4-BE49-F238E27FC236}">
                  <a16:creationId xmlns:a16="http://schemas.microsoft.com/office/drawing/2014/main" id="{E99FE7DD-F6AF-4AB4-B922-CADCAC86B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0000" y="3492000"/>
              <a:ext cx="39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≥1</a:t>
              </a:r>
            </a:p>
          </p:txBody>
        </p:sp>
        <p:sp>
          <p:nvSpPr>
            <p:cNvPr id="229" name="Line 274">
              <a:extLst>
                <a:ext uri="{FF2B5EF4-FFF2-40B4-BE49-F238E27FC236}">
                  <a16:creationId xmlns:a16="http://schemas.microsoft.com/office/drawing/2014/main" id="{816FCC8A-1F0E-4B75-BF94-431ED1A10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2000" y="3960000"/>
              <a:ext cx="2808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Text Box 275">
              <a:extLst>
                <a:ext uri="{FF2B5EF4-FFF2-40B4-BE49-F238E27FC236}">
                  <a16:creationId xmlns:a16="http://schemas.microsoft.com/office/drawing/2014/main" id="{08D1C1FB-8AD8-4A79-BDE4-B317A344E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6000" y="3852000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C</a:t>
              </a:r>
              <a:r>
                <a:rPr lang="en-US" altLang="zh-CN" sz="1600" baseline="-18000" dirty="0">
                  <a:solidFill>
                    <a:srgbClr val="990099"/>
                  </a:solidFill>
                </a:rPr>
                <a:t>-1</a:t>
              </a:r>
            </a:p>
          </p:txBody>
        </p:sp>
        <p:sp>
          <p:nvSpPr>
            <p:cNvPr id="231" name="Text Box 278">
              <a:extLst>
                <a:ext uri="{FF2B5EF4-FFF2-40B4-BE49-F238E27FC236}">
                  <a16:creationId xmlns:a16="http://schemas.microsoft.com/office/drawing/2014/main" id="{FC07105E-034B-4916-A640-425972D61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000" y="3492000"/>
              <a:ext cx="75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≥1</a:t>
              </a:r>
            </a:p>
          </p:txBody>
        </p:sp>
        <p:sp>
          <p:nvSpPr>
            <p:cNvPr id="232" name="Text Box 282">
              <a:extLst>
                <a:ext uri="{FF2B5EF4-FFF2-40B4-BE49-F238E27FC236}">
                  <a16:creationId xmlns:a16="http://schemas.microsoft.com/office/drawing/2014/main" id="{D37D4F80-834D-4422-AFD8-8778E7495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000" y="3492000"/>
              <a:ext cx="1224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>
                  <a:solidFill>
                    <a:schemeClr val="tx1"/>
                  </a:solidFill>
                </a:rPr>
                <a:t>≥1</a:t>
              </a:r>
            </a:p>
          </p:txBody>
        </p:sp>
        <p:sp>
          <p:nvSpPr>
            <p:cNvPr id="233" name="Line 293">
              <a:extLst>
                <a:ext uri="{FF2B5EF4-FFF2-40B4-BE49-F238E27FC236}">
                  <a16:creationId xmlns:a16="http://schemas.microsoft.com/office/drawing/2014/main" id="{9FCF3195-0195-4922-8AB0-C68B94F10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000" y="4032000"/>
              <a:ext cx="270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94">
              <a:extLst>
                <a:ext uri="{FF2B5EF4-FFF2-40B4-BE49-F238E27FC236}">
                  <a16:creationId xmlns:a16="http://schemas.microsoft.com/office/drawing/2014/main" id="{75411CB6-AD9E-4CDB-ABFD-B13220B34D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6176" y="4104000"/>
              <a:ext cx="29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95">
              <a:extLst>
                <a:ext uri="{FF2B5EF4-FFF2-40B4-BE49-F238E27FC236}">
                  <a16:creationId xmlns:a16="http://schemas.microsoft.com/office/drawing/2014/main" id="{F30B6F91-8F58-4C11-A455-3A9D045B7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000" y="4176000"/>
              <a:ext cx="259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96">
              <a:extLst>
                <a:ext uri="{FF2B5EF4-FFF2-40B4-BE49-F238E27FC236}">
                  <a16:creationId xmlns:a16="http://schemas.microsoft.com/office/drawing/2014/main" id="{A94966CF-E945-458A-943D-7DD01239B7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8000" y="4248000"/>
              <a:ext cx="255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97">
              <a:extLst>
                <a:ext uri="{FF2B5EF4-FFF2-40B4-BE49-F238E27FC236}">
                  <a16:creationId xmlns:a16="http://schemas.microsoft.com/office/drawing/2014/main" id="{A9302BBA-A993-4E64-B1F7-8773A75BC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76000" y="3852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298">
              <a:extLst>
                <a:ext uri="{FF2B5EF4-FFF2-40B4-BE49-F238E27FC236}">
                  <a16:creationId xmlns:a16="http://schemas.microsoft.com/office/drawing/2014/main" id="{0CEB3052-C09C-4F41-98FF-04A0A11A3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84000" y="3852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299">
              <a:extLst>
                <a:ext uri="{FF2B5EF4-FFF2-40B4-BE49-F238E27FC236}">
                  <a16:creationId xmlns:a16="http://schemas.microsoft.com/office/drawing/2014/main" id="{0E8EF777-A21B-4CC6-8568-B3172437A8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32000" y="3672000"/>
              <a:ext cx="0" cy="90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300">
              <a:extLst>
                <a:ext uri="{FF2B5EF4-FFF2-40B4-BE49-F238E27FC236}">
                  <a16:creationId xmlns:a16="http://schemas.microsoft.com/office/drawing/2014/main" id="{D559B24C-0EEE-43FD-9129-21E26CE3F8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4000" y="3672000"/>
              <a:ext cx="0" cy="90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301">
              <a:extLst>
                <a:ext uri="{FF2B5EF4-FFF2-40B4-BE49-F238E27FC236}">
                  <a16:creationId xmlns:a16="http://schemas.microsoft.com/office/drawing/2014/main" id="{80CB6955-E17C-4D32-8EA3-066C20F79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000" y="3852000"/>
              <a:ext cx="0" cy="3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302">
              <a:extLst>
                <a:ext uri="{FF2B5EF4-FFF2-40B4-BE49-F238E27FC236}">
                  <a16:creationId xmlns:a16="http://schemas.microsoft.com/office/drawing/2014/main" id="{293ED2A7-7F59-405D-AA80-087F0704F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6000" y="3852000"/>
              <a:ext cx="0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303">
              <a:extLst>
                <a:ext uri="{FF2B5EF4-FFF2-40B4-BE49-F238E27FC236}">
                  <a16:creationId xmlns:a16="http://schemas.microsoft.com/office/drawing/2014/main" id="{E15F3010-19A8-4B7E-A3FB-4DBCBDE7B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16000" y="3852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304">
              <a:extLst>
                <a:ext uri="{FF2B5EF4-FFF2-40B4-BE49-F238E27FC236}">
                  <a16:creationId xmlns:a16="http://schemas.microsoft.com/office/drawing/2014/main" id="{13543C5D-2F3A-420B-96A6-8071809DF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304" y="3852000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305">
              <a:extLst>
                <a:ext uri="{FF2B5EF4-FFF2-40B4-BE49-F238E27FC236}">
                  <a16:creationId xmlns:a16="http://schemas.microsoft.com/office/drawing/2014/main" id="{A1AEB089-6B9B-4C47-B234-9AF555DEA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0000" y="3852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306">
              <a:extLst>
                <a:ext uri="{FF2B5EF4-FFF2-40B4-BE49-F238E27FC236}">
                  <a16:creationId xmlns:a16="http://schemas.microsoft.com/office/drawing/2014/main" id="{8E922D70-BE2A-49FB-9459-CB623A8C6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000" y="4320000"/>
              <a:ext cx="21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307">
              <a:extLst>
                <a:ext uri="{FF2B5EF4-FFF2-40B4-BE49-F238E27FC236}">
                  <a16:creationId xmlns:a16="http://schemas.microsoft.com/office/drawing/2014/main" id="{9BA048B1-A090-4DCD-AFC8-E522EEE5F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000" y="4392000"/>
              <a:ext cx="16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308">
              <a:extLst>
                <a:ext uri="{FF2B5EF4-FFF2-40B4-BE49-F238E27FC236}">
                  <a16:creationId xmlns:a16="http://schemas.microsoft.com/office/drawing/2014/main" id="{65A6DEF1-8970-4F7B-B8E5-032D06CE3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0000" y="4464000"/>
              <a:ext cx="10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Text Box 310">
              <a:extLst>
                <a:ext uri="{FF2B5EF4-FFF2-40B4-BE49-F238E27FC236}">
                  <a16:creationId xmlns:a16="http://schemas.microsoft.com/office/drawing/2014/main" id="{8B867FCD-65AE-4A6D-AF51-23192C748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6000" y="4572000"/>
              <a:ext cx="50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G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 </a:t>
              </a:r>
              <a:r>
                <a:rPr lang="en-US" altLang="zh-CN" sz="1600" dirty="0">
                  <a:solidFill>
                    <a:schemeClr val="tx1"/>
                  </a:solidFill>
                </a:rPr>
                <a:t>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0" name="Line 311">
              <a:extLst>
                <a:ext uri="{FF2B5EF4-FFF2-40B4-BE49-F238E27FC236}">
                  <a16:creationId xmlns:a16="http://schemas.microsoft.com/office/drawing/2014/main" id="{0E22B45B-CE34-42CC-A38C-E0DBE376B5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64000" y="3851392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312">
              <a:extLst>
                <a:ext uri="{FF2B5EF4-FFF2-40B4-BE49-F238E27FC236}">
                  <a16:creationId xmlns:a16="http://schemas.microsoft.com/office/drawing/2014/main" id="{3C114A19-037C-49EB-B7D8-C9B13CA22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2000" y="3851392"/>
              <a:ext cx="1587" cy="3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313">
              <a:extLst>
                <a:ext uri="{FF2B5EF4-FFF2-40B4-BE49-F238E27FC236}">
                  <a16:creationId xmlns:a16="http://schemas.microsoft.com/office/drawing/2014/main" id="{03E8CC9F-A366-4E81-B88C-E1A292A65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8000" y="3852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314">
              <a:extLst>
                <a:ext uri="{FF2B5EF4-FFF2-40B4-BE49-F238E27FC236}">
                  <a16:creationId xmlns:a16="http://schemas.microsoft.com/office/drawing/2014/main" id="{F59EC61A-8B91-44FA-8366-DADA56C0F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000" y="3852000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315">
              <a:extLst>
                <a:ext uri="{FF2B5EF4-FFF2-40B4-BE49-F238E27FC236}">
                  <a16:creationId xmlns:a16="http://schemas.microsoft.com/office/drawing/2014/main" id="{F48DEF92-83B5-4965-A858-237A366BF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4000" y="3852000"/>
              <a:ext cx="1587" cy="46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316">
              <a:extLst>
                <a:ext uri="{FF2B5EF4-FFF2-40B4-BE49-F238E27FC236}">
                  <a16:creationId xmlns:a16="http://schemas.microsoft.com/office/drawing/2014/main" id="{1D7F06C7-B903-4988-8447-5ADB15F27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2000" y="3851392"/>
              <a:ext cx="1587" cy="3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317">
              <a:extLst>
                <a:ext uri="{FF2B5EF4-FFF2-40B4-BE49-F238E27FC236}">
                  <a16:creationId xmlns:a16="http://schemas.microsoft.com/office/drawing/2014/main" id="{AEF591F2-C4C2-4EC8-97F9-3EC2CA749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0000" y="3851392"/>
              <a:ext cx="1587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318">
              <a:extLst>
                <a:ext uri="{FF2B5EF4-FFF2-40B4-BE49-F238E27FC236}">
                  <a16:creationId xmlns:a16="http://schemas.microsoft.com/office/drawing/2014/main" id="{B02088A1-EB65-46C2-AFC3-702E64373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08000" y="3672000"/>
              <a:ext cx="0" cy="90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319">
              <a:extLst>
                <a:ext uri="{FF2B5EF4-FFF2-40B4-BE49-F238E27FC236}">
                  <a16:creationId xmlns:a16="http://schemas.microsoft.com/office/drawing/2014/main" id="{8FD8E32C-B196-4B5A-88E2-E79824945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2000" y="3852000"/>
              <a:ext cx="1587" cy="46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320">
              <a:extLst>
                <a:ext uri="{FF2B5EF4-FFF2-40B4-BE49-F238E27FC236}">
                  <a16:creationId xmlns:a16="http://schemas.microsoft.com/office/drawing/2014/main" id="{4BCEEB90-B942-4521-A3D7-530976B8B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0000" y="3852000"/>
              <a:ext cx="1587" cy="39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321">
              <a:extLst>
                <a:ext uri="{FF2B5EF4-FFF2-40B4-BE49-F238E27FC236}">
                  <a16:creationId xmlns:a16="http://schemas.microsoft.com/office/drawing/2014/main" id="{D48BFB20-E422-41F7-A426-94201BC5B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8000" y="3852000"/>
              <a:ext cx="1587" cy="46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322">
              <a:extLst>
                <a:ext uri="{FF2B5EF4-FFF2-40B4-BE49-F238E27FC236}">
                  <a16:creationId xmlns:a16="http://schemas.microsoft.com/office/drawing/2014/main" id="{97DEC452-3715-413F-8F7C-4BDEBD396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6000" y="3852000"/>
              <a:ext cx="1587" cy="3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323">
              <a:extLst>
                <a:ext uri="{FF2B5EF4-FFF2-40B4-BE49-F238E27FC236}">
                  <a16:creationId xmlns:a16="http://schemas.microsoft.com/office/drawing/2014/main" id="{9C392C8E-CBDF-4641-BB52-4DC31BEB32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2000" y="3852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324">
              <a:extLst>
                <a:ext uri="{FF2B5EF4-FFF2-40B4-BE49-F238E27FC236}">
                  <a16:creationId xmlns:a16="http://schemas.microsoft.com/office/drawing/2014/main" id="{3281928D-65BA-4811-8B1B-4B25AE460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000" y="3852000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325">
              <a:extLst>
                <a:ext uri="{FF2B5EF4-FFF2-40B4-BE49-F238E27FC236}">
                  <a16:creationId xmlns:a16="http://schemas.microsoft.com/office/drawing/2014/main" id="{ED61ED16-F6E0-4992-AD1D-A615F21469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0000" y="3852000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326">
              <a:extLst>
                <a:ext uri="{FF2B5EF4-FFF2-40B4-BE49-F238E27FC236}">
                  <a16:creationId xmlns:a16="http://schemas.microsoft.com/office/drawing/2014/main" id="{569C96FA-4FF8-43B0-AC53-CB4321402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0000" y="3852000"/>
              <a:ext cx="1587" cy="46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327">
              <a:extLst>
                <a:ext uri="{FF2B5EF4-FFF2-40B4-BE49-F238E27FC236}">
                  <a16:creationId xmlns:a16="http://schemas.microsoft.com/office/drawing/2014/main" id="{F7A26A86-E5B4-4AFB-A411-51BD47CF9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8000" y="3852000"/>
              <a:ext cx="1587" cy="3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328">
              <a:extLst>
                <a:ext uri="{FF2B5EF4-FFF2-40B4-BE49-F238E27FC236}">
                  <a16:creationId xmlns:a16="http://schemas.microsoft.com/office/drawing/2014/main" id="{B268B475-E857-46FF-A42C-DFD6BC0E07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6000" y="3852000"/>
              <a:ext cx="0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329">
              <a:extLst>
                <a:ext uri="{FF2B5EF4-FFF2-40B4-BE49-F238E27FC236}">
                  <a16:creationId xmlns:a16="http://schemas.microsoft.com/office/drawing/2014/main" id="{EF9E7F29-027E-4BC6-8F66-6F769EDC0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2000" y="3852000"/>
              <a:ext cx="0" cy="61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330">
              <a:extLst>
                <a:ext uri="{FF2B5EF4-FFF2-40B4-BE49-F238E27FC236}">
                  <a16:creationId xmlns:a16="http://schemas.microsoft.com/office/drawing/2014/main" id="{885B7747-A23E-43A8-8867-070168C2D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000" y="3852451"/>
              <a:ext cx="0" cy="46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331">
              <a:extLst>
                <a:ext uri="{FF2B5EF4-FFF2-40B4-BE49-F238E27FC236}">
                  <a16:creationId xmlns:a16="http://schemas.microsoft.com/office/drawing/2014/main" id="{A0E2701C-72FE-49DA-B56C-8C306967BC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48000" y="3852452"/>
              <a:ext cx="0" cy="39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332">
              <a:extLst>
                <a:ext uri="{FF2B5EF4-FFF2-40B4-BE49-F238E27FC236}">
                  <a16:creationId xmlns:a16="http://schemas.microsoft.com/office/drawing/2014/main" id="{1AF8CD0D-FECB-4188-A8E4-06449567D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000" y="3852452"/>
              <a:ext cx="1587" cy="61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333">
              <a:extLst>
                <a:ext uri="{FF2B5EF4-FFF2-40B4-BE49-F238E27FC236}">
                  <a16:creationId xmlns:a16="http://schemas.microsoft.com/office/drawing/2014/main" id="{29F7BED8-BB9B-4C0B-92A7-9E007DBF93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88000" y="3852000"/>
              <a:ext cx="0" cy="54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334">
              <a:extLst>
                <a:ext uri="{FF2B5EF4-FFF2-40B4-BE49-F238E27FC236}">
                  <a16:creationId xmlns:a16="http://schemas.microsoft.com/office/drawing/2014/main" id="{6020076A-B0FF-4296-A9A7-AE721D5488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000" y="3852000"/>
              <a:ext cx="0" cy="61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335">
              <a:extLst>
                <a:ext uri="{FF2B5EF4-FFF2-40B4-BE49-F238E27FC236}">
                  <a16:creationId xmlns:a16="http://schemas.microsoft.com/office/drawing/2014/main" id="{B4BA3E06-6657-45A3-AE1F-31EF02B70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5896" y="3672000"/>
              <a:ext cx="0" cy="90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342">
              <a:extLst>
                <a:ext uri="{FF2B5EF4-FFF2-40B4-BE49-F238E27FC236}">
                  <a16:creationId xmlns:a16="http://schemas.microsoft.com/office/drawing/2014/main" id="{F942BB8D-377B-47A7-ABD5-8DA2FC398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6000" y="3384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Text Box 343">
              <a:extLst>
                <a:ext uri="{FF2B5EF4-FFF2-40B4-BE49-F238E27FC236}">
                  <a16:creationId xmlns:a16="http://schemas.microsoft.com/office/drawing/2014/main" id="{903EB25C-207C-44DE-A257-75BF6A26F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8000" y="3204000"/>
              <a:ext cx="287337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C</a:t>
              </a:r>
              <a:r>
                <a:rPr lang="en-US" altLang="zh-CN" sz="1600" baseline="-18000" dirty="0">
                  <a:solidFill>
                    <a:srgbClr val="990099"/>
                  </a:solidFill>
                </a:rPr>
                <a:t>0</a:t>
              </a:r>
            </a:p>
          </p:txBody>
        </p:sp>
        <p:sp>
          <p:nvSpPr>
            <p:cNvPr id="277" name="Text Box 344">
              <a:extLst>
                <a:ext uri="{FF2B5EF4-FFF2-40B4-BE49-F238E27FC236}">
                  <a16:creationId xmlns:a16="http://schemas.microsoft.com/office/drawing/2014/main" id="{23748BC6-7F89-43C8-B95D-6EFD6C04C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0000" y="3204000"/>
              <a:ext cx="287337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C</a:t>
              </a:r>
              <a:r>
                <a:rPr lang="en-US" altLang="zh-CN" sz="1600" baseline="-18000" dirty="0">
                  <a:solidFill>
                    <a:srgbClr val="990099"/>
                  </a:solidFill>
                </a:rPr>
                <a:t>1</a:t>
              </a:r>
            </a:p>
          </p:txBody>
        </p:sp>
        <p:sp>
          <p:nvSpPr>
            <p:cNvPr id="278" name="Text Box 345">
              <a:extLst>
                <a:ext uri="{FF2B5EF4-FFF2-40B4-BE49-F238E27FC236}">
                  <a16:creationId xmlns:a16="http://schemas.microsoft.com/office/drawing/2014/main" id="{88AB5EF0-1F94-4003-9241-8A93DA8E5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000" y="3204000"/>
              <a:ext cx="287337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C</a:t>
              </a:r>
              <a:r>
                <a:rPr lang="en-US" altLang="zh-CN" sz="1600" baseline="-18000" dirty="0">
                  <a:solidFill>
                    <a:srgbClr val="990099"/>
                  </a:solidFill>
                </a:rPr>
                <a:t>2</a:t>
              </a:r>
            </a:p>
          </p:txBody>
        </p:sp>
        <p:sp>
          <p:nvSpPr>
            <p:cNvPr id="279" name="Text Box 346">
              <a:extLst>
                <a:ext uri="{FF2B5EF4-FFF2-40B4-BE49-F238E27FC236}">
                  <a16:creationId xmlns:a16="http://schemas.microsoft.com/office/drawing/2014/main" id="{55801982-FA40-4149-ADA5-19DC4A348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3204000"/>
              <a:ext cx="287337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rgbClr val="990099"/>
                  </a:solidFill>
                </a:rPr>
                <a:t>C</a:t>
              </a:r>
              <a:r>
                <a:rPr lang="en-US" altLang="zh-CN" sz="1600" baseline="-18000" dirty="0">
                  <a:solidFill>
                    <a:srgbClr val="990099"/>
                  </a:solidFill>
                </a:rPr>
                <a:t>3</a:t>
              </a:r>
            </a:p>
          </p:txBody>
        </p:sp>
        <p:sp>
          <p:nvSpPr>
            <p:cNvPr id="280" name="Line 347">
              <a:extLst>
                <a:ext uri="{FF2B5EF4-FFF2-40B4-BE49-F238E27FC236}">
                  <a16:creationId xmlns:a16="http://schemas.microsoft.com/office/drawing/2014/main" id="{73516C36-A54E-4A66-9958-26DA74F4A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8000" y="3384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348">
              <a:extLst>
                <a:ext uri="{FF2B5EF4-FFF2-40B4-BE49-F238E27FC236}">
                  <a16:creationId xmlns:a16="http://schemas.microsoft.com/office/drawing/2014/main" id="{B012FC17-CDBC-4E6A-A512-EB14ECFDCC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45619" y="3384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349">
              <a:extLst>
                <a:ext uri="{FF2B5EF4-FFF2-40B4-BE49-F238E27FC236}">
                  <a16:creationId xmlns:a16="http://schemas.microsoft.com/office/drawing/2014/main" id="{E642A6EA-4994-466B-BEAC-AC32BFD92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6000" y="3384000"/>
              <a:ext cx="0" cy="10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Rectangle 277">
              <a:extLst>
                <a:ext uri="{FF2B5EF4-FFF2-40B4-BE49-F238E27FC236}">
                  <a16:creationId xmlns:a16="http://schemas.microsoft.com/office/drawing/2014/main" id="{1A367C19-364E-4E58-9A33-69B8046F4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4000" y="3672000"/>
              <a:ext cx="25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4" name="Rectangle 280">
              <a:extLst>
                <a:ext uri="{FF2B5EF4-FFF2-40B4-BE49-F238E27FC236}">
                  <a16:creationId xmlns:a16="http://schemas.microsoft.com/office/drawing/2014/main" id="{BDA81829-9119-4C15-8DD0-D66676FE2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6256" y="3672000"/>
              <a:ext cx="25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5" name="Rectangle 281">
              <a:extLst>
                <a:ext uri="{FF2B5EF4-FFF2-40B4-BE49-F238E27FC236}">
                  <a16:creationId xmlns:a16="http://schemas.microsoft.com/office/drawing/2014/main" id="{F2A0BEF6-6783-4249-80C9-20639F813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000" y="3672000"/>
              <a:ext cx="36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6" name="Rectangle 284">
              <a:extLst>
                <a:ext uri="{FF2B5EF4-FFF2-40B4-BE49-F238E27FC236}">
                  <a16:creationId xmlns:a16="http://schemas.microsoft.com/office/drawing/2014/main" id="{364ED9CE-94C6-4336-B0E5-93D858C5E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000" y="3672000"/>
              <a:ext cx="25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7" name="Rectangle 285">
              <a:extLst>
                <a:ext uri="{FF2B5EF4-FFF2-40B4-BE49-F238E27FC236}">
                  <a16:creationId xmlns:a16="http://schemas.microsoft.com/office/drawing/2014/main" id="{30807D5D-629C-43EC-92AF-2F3167361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2000" y="3672000"/>
              <a:ext cx="36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angle 286">
              <a:extLst>
                <a:ext uri="{FF2B5EF4-FFF2-40B4-BE49-F238E27FC236}">
                  <a16:creationId xmlns:a16="http://schemas.microsoft.com/office/drawing/2014/main" id="{DDB85E8E-7A93-482A-921E-72170AA0B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000" y="3672000"/>
              <a:ext cx="468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9" name="Text Box 282">
              <a:extLst>
                <a:ext uri="{FF2B5EF4-FFF2-40B4-BE49-F238E27FC236}">
                  <a16:creationId xmlns:a16="http://schemas.microsoft.com/office/drawing/2014/main" id="{65869589-2734-4660-9ABF-5B2D6A6D1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000" y="3492000"/>
              <a:ext cx="180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≥1</a:t>
              </a:r>
            </a:p>
          </p:txBody>
        </p:sp>
        <p:sp>
          <p:nvSpPr>
            <p:cNvPr id="290" name="Rectangle 284">
              <a:extLst>
                <a:ext uri="{FF2B5EF4-FFF2-40B4-BE49-F238E27FC236}">
                  <a16:creationId xmlns:a16="http://schemas.microsoft.com/office/drawing/2014/main" id="{D3F6C377-B9D9-4738-9011-354241171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000" y="3672000"/>
              <a:ext cx="25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1" name="Rectangle 285">
              <a:extLst>
                <a:ext uri="{FF2B5EF4-FFF2-40B4-BE49-F238E27FC236}">
                  <a16:creationId xmlns:a16="http://schemas.microsoft.com/office/drawing/2014/main" id="{751B34F3-5351-497D-BBFC-EC46225D2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000" y="3672000"/>
              <a:ext cx="36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2" name="Rectangle 286">
              <a:extLst>
                <a:ext uri="{FF2B5EF4-FFF2-40B4-BE49-F238E27FC236}">
                  <a16:creationId xmlns:a16="http://schemas.microsoft.com/office/drawing/2014/main" id="{28D61DBC-E67A-40DA-88BA-D8BFF1D3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000" y="3672000"/>
              <a:ext cx="468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3" name="Rectangle 286">
              <a:extLst>
                <a:ext uri="{FF2B5EF4-FFF2-40B4-BE49-F238E27FC236}">
                  <a16:creationId xmlns:a16="http://schemas.microsoft.com/office/drawing/2014/main" id="{CD7E9C26-3A05-4988-8B2B-5B2A867E4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000" y="3672000"/>
              <a:ext cx="57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4" name="Text Box 310">
              <a:extLst>
                <a:ext uri="{FF2B5EF4-FFF2-40B4-BE49-F238E27FC236}">
                  <a16:creationId xmlns:a16="http://schemas.microsoft.com/office/drawing/2014/main" id="{E85B3D14-15F3-43A3-8897-C618CC6CC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9999" y="4572000"/>
              <a:ext cx="64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G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  </a:t>
              </a:r>
              <a:r>
                <a:rPr lang="en-US" altLang="zh-CN" sz="1600" dirty="0">
                  <a:solidFill>
                    <a:schemeClr val="tx1"/>
                  </a:solidFill>
                </a:rPr>
                <a:t> 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5" name="Text Box 310">
              <a:extLst>
                <a:ext uri="{FF2B5EF4-FFF2-40B4-BE49-F238E27FC236}">
                  <a16:creationId xmlns:a16="http://schemas.microsoft.com/office/drawing/2014/main" id="{907ADDC2-A906-4020-8F38-382C1263F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4000" y="4572000"/>
              <a:ext cx="104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G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2 </a:t>
              </a:r>
              <a:r>
                <a:rPr lang="en-US" altLang="zh-CN" sz="1600" dirty="0">
                  <a:solidFill>
                    <a:schemeClr val="tx1"/>
                  </a:solidFill>
                </a:rPr>
                <a:t>     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6" name="Text Box 310">
              <a:extLst>
                <a:ext uri="{FF2B5EF4-FFF2-40B4-BE49-F238E27FC236}">
                  <a16:creationId xmlns:a16="http://schemas.microsoft.com/office/drawing/2014/main" id="{D30203E2-F25F-4617-B1FE-A81629B45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999" y="4572000"/>
              <a:ext cx="1491649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G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3  </a:t>
              </a:r>
              <a:r>
                <a:rPr lang="en-US" altLang="zh-CN" sz="1600" dirty="0">
                  <a:solidFill>
                    <a:schemeClr val="tx1"/>
                  </a:solidFill>
                </a:rPr>
                <a:t>         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98" name="文本框 297">
            <a:extLst>
              <a:ext uri="{FF2B5EF4-FFF2-40B4-BE49-F238E27FC236}">
                <a16:creationId xmlns:a16="http://schemas.microsoft.com/office/drawing/2014/main" id="{DB1485AB-B29E-4942-824D-A130C6F23D26}"/>
              </a:ext>
            </a:extLst>
          </p:cNvPr>
          <p:cNvSpPr txBox="1"/>
          <p:nvPr/>
        </p:nvSpPr>
        <p:spPr>
          <a:xfrm>
            <a:off x="1331640" y="764704"/>
            <a:ext cx="3924936" cy="45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chemeClr val="tx1"/>
                </a:solidFill>
              </a:rPr>
              <a:t>n</a:t>
            </a:r>
            <a:r>
              <a:rPr lang="zh-CN" altLang="en-US" sz="2200" dirty="0">
                <a:solidFill>
                  <a:schemeClr val="tx1"/>
                </a:solidFill>
              </a:rPr>
              <a:t>个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位半加器＋先行进位逻辑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299" name="Text Box 200">
            <a:extLst>
              <a:ext uri="{FF2B5EF4-FFF2-40B4-BE49-F238E27FC236}">
                <a16:creationId xmlns:a16="http://schemas.microsoft.com/office/drawing/2014/main" id="{7A075604-6AD6-4BBE-8B30-A183818B6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135" y="1448840"/>
            <a:ext cx="3672000" cy="540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8000" rIns="18000" bIns="10800" anchor="t" anchorCtr="0">
            <a:noAutofit/>
          </a:bodyPr>
          <a:lstStyle/>
          <a:p>
            <a:pPr marL="714375" indent="-714375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先行</a:t>
            </a:r>
            <a:r>
              <a:rPr lang="zh-CN" altLang="en-US" sz="1800" dirty="0">
                <a:solidFill>
                  <a:schemeClr val="tx1"/>
                </a:solidFill>
              </a:rPr>
              <a:t>进位电路复杂度随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1800" dirty="0">
                <a:solidFill>
                  <a:schemeClr val="tx1"/>
                </a:solidFill>
              </a:rPr>
              <a:t>呈</a:t>
            </a:r>
            <a:r>
              <a:rPr lang="zh-CN" altLang="en-US" sz="1800" u="sng" dirty="0">
                <a:solidFill>
                  <a:srgbClr val="0070C0"/>
                </a:solidFill>
              </a:rPr>
              <a:t>几何级</a:t>
            </a:r>
            <a:r>
              <a:rPr lang="zh-CN" altLang="en-US" sz="1800" dirty="0">
                <a:solidFill>
                  <a:schemeClr val="tx1"/>
                </a:solidFill>
              </a:rPr>
              <a:t>增长，如何降低成本？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300" name="Text Box 200">
            <a:extLst>
              <a:ext uri="{FF2B5EF4-FFF2-40B4-BE49-F238E27FC236}">
                <a16:creationId xmlns:a16="http://schemas.microsoft.com/office/drawing/2014/main" id="{F01B8726-ADD8-4264-8065-3C56FA9CC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2060848"/>
            <a:ext cx="3384500" cy="68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r>
              <a:rPr lang="zh-CN" altLang="en-US" sz="1800" dirty="0">
                <a:solidFill>
                  <a:schemeClr val="tx1"/>
                </a:solidFill>
              </a:rPr>
              <a:t>①加法器</a:t>
            </a:r>
            <a:r>
              <a:rPr lang="zh-CN" altLang="en-US" sz="1800" u="sng" dirty="0">
                <a:solidFill>
                  <a:schemeClr val="tx1"/>
                </a:solidFill>
              </a:rPr>
              <a:t>分组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组内</a:t>
            </a:r>
            <a:r>
              <a:rPr lang="zh-CN" altLang="en-US" sz="1800" dirty="0">
                <a:solidFill>
                  <a:srgbClr val="0070C0"/>
                </a:solidFill>
              </a:rPr>
              <a:t>先行进位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②</a:t>
            </a:r>
            <a:r>
              <a:rPr lang="zh-CN" altLang="en-US" sz="1800" u="sng" dirty="0">
                <a:solidFill>
                  <a:schemeClr val="tx1"/>
                </a:solidFill>
              </a:rPr>
              <a:t>每组</a:t>
            </a:r>
            <a:r>
              <a:rPr lang="zh-CN" altLang="en-US" sz="1800" dirty="0">
                <a:solidFill>
                  <a:srgbClr val="0070C0"/>
                </a:solidFill>
              </a:rPr>
              <a:t>串行进位</a:t>
            </a:r>
            <a:r>
              <a:rPr lang="zh-CN" altLang="en-US" sz="1800" dirty="0">
                <a:solidFill>
                  <a:schemeClr val="tx1"/>
                </a:solidFill>
              </a:rPr>
              <a:t>或</a:t>
            </a:r>
            <a:r>
              <a:rPr lang="zh-CN" altLang="en-US" sz="1800" dirty="0">
                <a:solidFill>
                  <a:srgbClr val="0070C0"/>
                </a:solidFill>
              </a:rPr>
              <a:t>先行进位</a:t>
            </a:r>
            <a:endParaRPr lang="en-US" altLang="zh-CN" sz="1800" dirty="0">
              <a:solidFill>
                <a:srgbClr val="0070C0"/>
              </a:solidFill>
            </a:endParaRPr>
          </a:p>
        </p:txBody>
      </p:sp>
      <p:sp>
        <p:nvSpPr>
          <p:cNvPr id="301" name="Text Box 478">
            <a:hlinkClick r:id="rId42" action="ppaction://hlinksldjump"/>
            <a:extLst>
              <a:ext uri="{FF2B5EF4-FFF2-40B4-BE49-F238E27FC236}">
                <a16:creationId xmlns:a16="http://schemas.microsoft.com/office/drawing/2014/main" id="{EF2E7964-CD1C-4DB9-81EE-F98FA0AA3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4496" y="6093296"/>
            <a:ext cx="1152000" cy="288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/>
          <a:lstStyle/>
          <a:p>
            <a:pPr algn="ctr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回定点运算</a:t>
            </a:r>
          </a:p>
        </p:txBody>
      </p:sp>
    </p:spTree>
    <p:extLst>
      <p:ext uri="{BB962C8B-B14F-4D97-AF65-F5344CB8AC3E}">
        <p14:creationId xmlns:p14="http://schemas.microsoft.com/office/powerpoint/2010/main" val="182698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/>
      <p:bldP spid="299" grpId="0" animBg="1"/>
      <p:bldP spid="30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9513" y="332656"/>
            <a:ext cx="3600399" cy="60871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FF3399"/>
                </a:solidFill>
                <a:latin typeface="+mn-ea"/>
              </a:rPr>
              <a:t>2</a:t>
            </a:r>
            <a:r>
              <a:rPr lang="zh-CN" altLang="en-US" dirty="0">
                <a:solidFill>
                  <a:srgbClr val="FF3399"/>
                </a:solidFill>
                <a:latin typeface="+mn-ea"/>
              </a:rPr>
              <a:t>、运算器的组成</a:t>
            </a: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FF3399"/>
                </a:solidFill>
              </a:rPr>
              <a:t>(1)</a:t>
            </a:r>
            <a:r>
              <a:rPr lang="zh-CN" altLang="en-US" sz="2200" dirty="0">
                <a:solidFill>
                  <a:srgbClr val="FF3399"/>
                </a:solidFill>
              </a:rPr>
              <a:t>运算器的功能与组成</a:t>
            </a:r>
            <a:endParaRPr lang="en-US" altLang="zh-CN" sz="2200" dirty="0">
              <a:solidFill>
                <a:srgbClr val="FF3399"/>
              </a:solidFill>
            </a:endParaRPr>
          </a:p>
          <a:p>
            <a:pPr>
              <a:spcBef>
                <a:spcPts val="2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运算器的功能：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2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指令功能例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指令功能实现过程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指令功能特征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*</a:t>
            </a:r>
            <a:r>
              <a:rPr lang="zh-CN" altLang="en-US" sz="2200" dirty="0">
                <a:solidFill>
                  <a:srgbClr val="C00000"/>
                </a:solidFill>
              </a:rPr>
              <a:t>运算器的组成：</a:t>
            </a:r>
            <a:endParaRPr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20" name="Text Box 199"/>
          <p:cNvSpPr txBox="1">
            <a:spLocks noChangeArrowheads="1"/>
          </p:cNvSpPr>
          <p:nvPr/>
        </p:nvSpPr>
        <p:spPr bwMode="auto">
          <a:xfrm>
            <a:off x="2483768" y="4221088"/>
            <a:ext cx="6552727" cy="2175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      包括</a:t>
            </a:r>
            <a:r>
              <a:rPr lang="zh-CN" altLang="en-US" sz="2200" u="sng" dirty="0">
                <a:solidFill>
                  <a:schemeClr val="tx1"/>
                </a:solidFill>
              </a:rPr>
              <a:t>取操作数</a:t>
            </a:r>
            <a:r>
              <a:rPr lang="en-US" altLang="zh-CN" sz="1800" dirty="0">
                <a:solidFill>
                  <a:schemeClr val="tx1"/>
                </a:solidFill>
              </a:rPr>
              <a:t>(OPD)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u="sng" dirty="0">
                <a:solidFill>
                  <a:schemeClr val="tx1"/>
                </a:solidFill>
              </a:rPr>
              <a:t>运算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u="sng" dirty="0">
                <a:solidFill>
                  <a:schemeClr val="tx1"/>
                </a:solidFill>
              </a:rPr>
              <a:t>写结果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含标志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sz="2200" dirty="0">
                <a:solidFill>
                  <a:schemeClr val="tx1"/>
                </a:solidFill>
              </a:rPr>
              <a:t>  OPD</a:t>
            </a:r>
            <a:r>
              <a:rPr lang="zh-CN" altLang="en-US" sz="2200" dirty="0">
                <a:solidFill>
                  <a:srgbClr val="FF3399"/>
                </a:solidFill>
              </a:rPr>
              <a:t>可</a:t>
            </a:r>
            <a:r>
              <a:rPr lang="zh-CN" altLang="en-US" sz="2200" dirty="0">
                <a:solidFill>
                  <a:schemeClr val="tx1"/>
                </a:solidFill>
              </a:rPr>
              <a:t>放在</a:t>
            </a:r>
            <a:r>
              <a:rPr lang="en-US" altLang="zh-CN" sz="2200" u="sng" dirty="0">
                <a:solidFill>
                  <a:srgbClr val="990099"/>
                </a:solidFill>
              </a:rPr>
              <a:t>REG</a:t>
            </a:r>
            <a:r>
              <a:rPr lang="zh-CN" altLang="en-US" sz="2200" u="sng" dirty="0">
                <a:solidFill>
                  <a:srgbClr val="990099"/>
                </a:solidFill>
              </a:rPr>
              <a:t>、</a:t>
            </a:r>
            <a:r>
              <a:rPr lang="en-US" altLang="zh-CN" sz="2200" u="sng" dirty="0">
                <a:solidFill>
                  <a:srgbClr val="990099"/>
                </a:solidFill>
              </a:rPr>
              <a:t>MEM</a:t>
            </a:r>
            <a:r>
              <a:rPr lang="zh-CN" altLang="en-US" sz="2200" u="sng" dirty="0">
                <a:solidFill>
                  <a:srgbClr val="990099"/>
                </a:solidFill>
              </a:rPr>
              <a:t>、指令字</a:t>
            </a:r>
            <a:r>
              <a:rPr lang="zh-CN" altLang="en-US" sz="2200" dirty="0">
                <a:solidFill>
                  <a:schemeClr val="tx1"/>
                </a:solidFill>
              </a:rPr>
              <a:t>中；</a:t>
            </a:r>
            <a:r>
              <a:rPr lang="zh-CN" altLang="en-US" sz="1800" dirty="0">
                <a:solidFill>
                  <a:schemeClr val="tx1"/>
                </a:solidFill>
              </a:rPr>
              <a:t>←寄存器有</a:t>
            </a:r>
            <a:r>
              <a:rPr lang="zh-CN" altLang="en-US" sz="1800" u="sng" dirty="0">
                <a:solidFill>
                  <a:srgbClr val="0070C0"/>
                </a:solidFill>
              </a:rPr>
              <a:t>多个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每条指令</a:t>
            </a:r>
            <a:r>
              <a:rPr lang="zh-CN" altLang="en-US" sz="2200" dirty="0">
                <a:solidFill>
                  <a:srgbClr val="FF3399"/>
                </a:solidFill>
              </a:rPr>
              <a:t>仅</a:t>
            </a:r>
            <a:r>
              <a:rPr lang="zh-CN" altLang="en-US" sz="2200" dirty="0">
                <a:solidFill>
                  <a:schemeClr val="tx1"/>
                </a:solidFill>
              </a:rPr>
              <a:t>含</a:t>
            </a:r>
            <a:r>
              <a:rPr lang="zh-CN" altLang="en-US" sz="2200" u="sng" dirty="0">
                <a:solidFill>
                  <a:srgbClr val="990099"/>
                </a:solidFill>
              </a:rPr>
              <a:t>个别运算</a:t>
            </a:r>
            <a:r>
              <a:rPr lang="zh-CN" altLang="en-US" sz="2200" dirty="0">
                <a:solidFill>
                  <a:schemeClr val="tx1"/>
                </a:solidFill>
              </a:rPr>
              <a:t>功能；   </a:t>
            </a:r>
            <a:r>
              <a:rPr lang="zh-CN" altLang="en-US" sz="1800" dirty="0">
                <a:solidFill>
                  <a:schemeClr val="tx1"/>
                </a:solidFill>
              </a:rPr>
              <a:t>←部件可</a:t>
            </a:r>
            <a:r>
              <a:rPr lang="zh-CN" altLang="en-US" sz="1800" u="sng" dirty="0">
                <a:solidFill>
                  <a:srgbClr val="0070C0"/>
                </a:solidFill>
              </a:rPr>
              <a:t>复用</a:t>
            </a:r>
            <a:r>
              <a:rPr lang="zh-CN" altLang="en-US" sz="1800" dirty="0">
                <a:solidFill>
                  <a:schemeClr val="tx1"/>
                </a:solidFill>
              </a:rPr>
              <a:t>器件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  <a:sym typeface="+mn-ea"/>
              </a:rPr>
              <a:t>  标志</a:t>
            </a:r>
            <a:r>
              <a:rPr lang="zh-CN" altLang="en-US" sz="2200" dirty="0">
                <a:solidFill>
                  <a:srgbClr val="FF3399"/>
                </a:solidFill>
              </a:rPr>
              <a:t>应</a:t>
            </a:r>
            <a:r>
              <a:rPr lang="zh-CN" altLang="en-US" sz="2200" dirty="0">
                <a:solidFill>
                  <a:schemeClr val="tx1"/>
                </a:solidFill>
              </a:rPr>
              <a:t>放在</a:t>
            </a:r>
            <a:r>
              <a:rPr lang="en-US" altLang="zh-CN" sz="2200" u="sng" dirty="0">
                <a:solidFill>
                  <a:srgbClr val="990099"/>
                </a:solidFill>
              </a:rPr>
              <a:t>REG</a:t>
            </a:r>
            <a:r>
              <a:rPr lang="zh-CN" altLang="en-US" sz="2200" dirty="0">
                <a:solidFill>
                  <a:schemeClr val="tx1"/>
                </a:solidFill>
              </a:rPr>
              <a:t>中</a:t>
            </a:r>
            <a:r>
              <a:rPr lang="zh-CN" altLang="en-US" sz="1800" dirty="0">
                <a:solidFill>
                  <a:schemeClr val="tx1"/>
                </a:solidFill>
              </a:rPr>
              <a:t>                 ←用于</a:t>
            </a:r>
            <a:r>
              <a:rPr lang="zh-CN" altLang="en-US" sz="1800" u="sng" dirty="0">
                <a:solidFill>
                  <a:srgbClr val="0070C0"/>
                </a:solidFill>
              </a:rPr>
              <a:t>后续指令</a:t>
            </a:r>
            <a:endParaRPr lang="en-US" altLang="zh-CN" sz="1800" u="sng" dirty="0">
              <a:solidFill>
                <a:srgbClr val="0070C0"/>
              </a:solidFill>
            </a:endParaRPr>
          </a:p>
          <a:p>
            <a:pPr>
              <a:spcBef>
                <a:spcPts val="1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功能部件</a:t>
            </a:r>
            <a:r>
              <a:rPr lang="en-US" altLang="zh-CN" sz="2200" dirty="0">
                <a:solidFill>
                  <a:schemeClr val="tx1"/>
                </a:solidFill>
              </a:rPr>
              <a:t>+</a:t>
            </a:r>
            <a:r>
              <a:rPr lang="zh-CN" altLang="en-US" sz="2200" dirty="0">
                <a:solidFill>
                  <a:schemeClr val="tx1"/>
                </a:solidFill>
              </a:rPr>
              <a:t>部件互连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下页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71</a:t>
            </a:fld>
            <a:endParaRPr lang="en-US" altLang="zh-CN"/>
          </a:p>
        </p:txBody>
      </p:sp>
      <p:sp>
        <p:nvSpPr>
          <p:cNvPr id="5" name="Text Box 199"/>
          <p:cNvSpPr txBox="1">
            <a:spLocks noChangeArrowheads="1"/>
          </p:cNvSpPr>
          <p:nvPr/>
        </p:nvSpPr>
        <p:spPr bwMode="auto">
          <a:xfrm>
            <a:off x="2411761" y="1268760"/>
            <a:ext cx="6552727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实现</a:t>
            </a:r>
            <a:r>
              <a:rPr lang="en-US" altLang="zh-CN" sz="2200" u="sng" dirty="0">
                <a:solidFill>
                  <a:srgbClr val="0070C0"/>
                </a:solidFill>
              </a:rPr>
              <a:t>ISA</a:t>
            </a:r>
            <a:r>
              <a:rPr lang="zh-CN" altLang="en-US" sz="2200" u="sng" dirty="0">
                <a:solidFill>
                  <a:srgbClr val="0070C0"/>
                </a:solidFill>
              </a:rPr>
              <a:t>中所有指令</a:t>
            </a:r>
            <a:r>
              <a:rPr lang="zh-CN" altLang="en-US" sz="2200" dirty="0">
                <a:solidFill>
                  <a:schemeClr val="tx1"/>
                </a:solidFill>
              </a:rPr>
              <a:t>的约定功能    </a:t>
            </a:r>
            <a:r>
              <a:rPr lang="zh-CN" altLang="en-US" sz="1800" dirty="0">
                <a:solidFill>
                  <a:schemeClr val="tx1"/>
                </a:solidFill>
              </a:rPr>
              <a:t>←组成是逻辑实现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8" name="AutoShape 29"/>
          <p:cNvSpPr/>
          <p:nvPr/>
        </p:nvSpPr>
        <p:spPr bwMode="auto">
          <a:xfrm>
            <a:off x="467760" y="2579872"/>
            <a:ext cx="1799984" cy="1353184"/>
          </a:xfrm>
          <a:prstGeom prst="borderCallout2">
            <a:avLst>
              <a:gd name="adj1" fmla="val -1511"/>
              <a:gd name="adj2" fmla="val 13209"/>
              <a:gd name="adj3" fmla="val -17695"/>
              <a:gd name="adj4" fmla="val 13687"/>
              <a:gd name="adj5" fmla="val -32775"/>
              <a:gd name="adj6" fmla="val 3840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t" anchorCtr="0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数组累加求和例：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I1: </a:t>
            </a:r>
            <a:r>
              <a:rPr lang="en-US" altLang="zh-CN" sz="1600" b="1" dirty="0">
                <a:solidFill>
                  <a:schemeClr val="tx1"/>
                </a:solidFill>
              </a:rPr>
              <a:t>R1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M[R0] 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I2: </a:t>
            </a:r>
            <a:r>
              <a:rPr lang="en-US" altLang="zh-CN" sz="1600" b="1" dirty="0">
                <a:solidFill>
                  <a:schemeClr val="tx1"/>
                </a:solidFill>
              </a:rPr>
              <a:t>R2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R2</a:t>
            </a:r>
            <a:r>
              <a:rPr lang="zh-CN" altLang="en-US" sz="1600" dirty="0">
                <a:solidFill>
                  <a:schemeClr val="tx1"/>
                </a:solidFill>
              </a:rPr>
              <a:t>＋</a:t>
            </a:r>
            <a:r>
              <a:rPr lang="en-US" altLang="zh-CN" sz="1600" dirty="0">
                <a:solidFill>
                  <a:schemeClr val="tx1"/>
                </a:solidFill>
              </a:rPr>
              <a:t>R1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I3: R0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R0</a:t>
            </a:r>
            <a:r>
              <a:rPr lang="zh-CN" altLang="en-US" sz="1600" dirty="0">
                <a:solidFill>
                  <a:schemeClr val="tx1"/>
                </a:solidFill>
              </a:rPr>
              <a:t>－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</a:rPr>
              <a:t>  I4: JNZ I1</a:t>
            </a: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I5: M[R3]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R2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43EAAFD-87B5-4E4D-994D-5D849AA24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105117"/>
              </p:ext>
            </p:extLst>
          </p:nvPr>
        </p:nvGraphicFramePr>
        <p:xfrm>
          <a:off x="2699792" y="1842016"/>
          <a:ext cx="6264696" cy="2307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30711983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170490303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指令名</a:t>
                      </a: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</a:t>
                      </a: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M[Rs]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M[Rs]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，不保存标志</a:t>
                      </a: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PC+1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63913"/>
                  </a:ext>
                </a:extLst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ADD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    保存标志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来自运算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Rd⊕M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[Rs]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 保存标志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(CF/OF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0,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其余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SHL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Rd&lt;&lt;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Imm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   保存标志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来自运算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MUL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Rs,Rd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，保存标志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(OF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来自运算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7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JNZ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不保存标志</a:t>
                      </a: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ZF=0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时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、否则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PC+1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7">
                <a:tc gridSpan="4">
                  <a:txBody>
                    <a:bodyPr/>
                    <a:lstStyle/>
                    <a:p>
                      <a:pPr marL="0" indent="0">
                        <a:lnSpc>
                          <a:spcPct val="114000"/>
                        </a:lnSpc>
                        <a:buFont typeface="+mj-lt"/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注：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为寄存器号，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M[a]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表示存储单元，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Imm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为立即数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50598"/>
                  </a:ext>
                </a:extLst>
              </a:tr>
            </a:tbl>
          </a:graphicData>
        </a:graphic>
      </p:graphicFrame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529D350-5C72-4FA4-ACA8-1A4E3BB1F63E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>
            <a:off x="4754041" y="3284984"/>
            <a:ext cx="1116000" cy="1476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72</a:t>
            </a:fld>
            <a:endParaRPr lang="en-US" altLang="zh-CN"/>
          </a:p>
        </p:txBody>
      </p:sp>
      <p:graphicFrame>
        <p:nvGraphicFramePr>
          <p:cNvPr id="3" name="Group 9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373887"/>
              </p:ext>
            </p:extLst>
          </p:nvPr>
        </p:nvGraphicFramePr>
        <p:xfrm>
          <a:off x="7236296" y="1268760"/>
          <a:ext cx="1440160" cy="2007648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、移位器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7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乘除法器等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FPU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＋门电路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5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MMX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SSE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199"/>
          <p:cNvSpPr txBox="1">
            <a:spLocks noChangeArrowheads="1"/>
          </p:cNvSpPr>
          <p:nvPr/>
        </p:nvSpPr>
        <p:spPr bwMode="auto">
          <a:xfrm>
            <a:off x="179513" y="332656"/>
            <a:ext cx="5976664" cy="61417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rgbClr val="C00000"/>
                </a:solidFill>
              </a:rPr>
              <a:t> *运算器的部件组织：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基于</a:t>
            </a:r>
            <a:r>
              <a:rPr lang="en-US" altLang="zh-CN" sz="1800" dirty="0">
                <a:solidFill>
                  <a:schemeClr val="tx1"/>
                </a:solidFill>
              </a:rPr>
              <a:t>ISA</a:t>
            </a:r>
            <a:r>
              <a:rPr lang="zh-CN" altLang="en-US" sz="1800" dirty="0">
                <a:solidFill>
                  <a:schemeClr val="tx1"/>
                </a:solidFill>
              </a:rPr>
              <a:t>需求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运算部件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存放部件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*运算器的部件互连：  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基于</a:t>
            </a:r>
            <a:r>
              <a:rPr lang="en-US" altLang="zh-CN" sz="1800" dirty="0">
                <a:solidFill>
                  <a:schemeClr val="tx1"/>
                </a:solidFill>
              </a:rPr>
              <a:t>ISA</a:t>
            </a:r>
            <a:r>
              <a:rPr lang="zh-CN" altLang="en-US" sz="1800" dirty="0">
                <a:solidFill>
                  <a:schemeClr val="tx1"/>
                </a:solidFill>
              </a:rPr>
              <a:t>需求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互连结构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tx1"/>
                </a:solidFill>
              </a:rPr>
              <a:t>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←指数据引脚连接方式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其余引脚连接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tx1"/>
                </a:solidFill>
              </a:rPr>
              <a:t>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←如</a:t>
            </a:r>
            <a:r>
              <a:rPr lang="en-US" altLang="zh-CN" sz="1800" dirty="0">
                <a:solidFill>
                  <a:schemeClr val="tx1"/>
                </a:solidFill>
              </a:rPr>
              <a:t>ALU</a:t>
            </a:r>
            <a:r>
              <a:rPr lang="zh-CN" altLang="en-US" sz="1800" dirty="0">
                <a:solidFill>
                  <a:schemeClr val="tx1"/>
                </a:solidFill>
              </a:rPr>
              <a:t>的</a:t>
            </a:r>
            <a:r>
              <a:rPr lang="en-US" altLang="zh-CN" sz="1800" dirty="0" err="1">
                <a:solidFill>
                  <a:schemeClr val="tx1"/>
                </a:solidFill>
              </a:rPr>
              <a:t>Cin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PSR</a:t>
            </a:r>
            <a:r>
              <a:rPr lang="zh-CN" altLang="en-US" sz="1800" dirty="0">
                <a:solidFill>
                  <a:schemeClr val="tx1"/>
                </a:solidFill>
              </a:rPr>
              <a:t>的入端</a:t>
            </a:r>
            <a:endParaRPr lang="en-US" altLang="zh-CN" sz="1800" dirty="0">
              <a:solidFill>
                <a:schemeClr val="accent2"/>
              </a:solidFill>
            </a:endParaRPr>
          </a:p>
        </p:txBody>
      </p:sp>
      <p:graphicFrame>
        <p:nvGraphicFramePr>
          <p:cNvPr id="6" name="Group 9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783590"/>
              </p:ext>
            </p:extLst>
          </p:nvPr>
        </p:nvGraphicFramePr>
        <p:xfrm>
          <a:off x="1374656" y="1291048"/>
          <a:ext cx="7301800" cy="1980216"/>
        </p:xfrm>
        <a:graphic>
          <a:graphicData uri="http://schemas.openxmlformats.org/drawingml/2006/table">
            <a:tbl>
              <a:tblPr/>
              <a:tblGrid>
                <a:gridCol w="605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表示格式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运算功能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需求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运算方法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运算部件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数值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整数</a:t>
                      </a:r>
                      <a:endParaRPr kumimoji="1" lang="zh-CN" altLang="en-US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加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减、移位，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乘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除等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乘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除等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实数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浮点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加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乘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除等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浮点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88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非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数值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数据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逻辑数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位向量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与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非等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按位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字符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≤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≠等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减法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1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其他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定点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向量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饱和加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减等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算术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饱和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Box 199"/>
          <p:cNvSpPr txBox="1">
            <a:spLocks noChangeArrowheads="1"/>
          </p:cNvSpPr>
          <p:nvPr/>
        </p:nvSpPr>
        <p:spPr bwMode="auto">
          <a:xfrm>
            <a:off x="2195736" y="739383"/>
            <a:ext cx="655272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有</a:t>
            </a:r>
            <a:r>
              <a:rPr lang="zh-CN" altLang="en-US" sz="2200" u="sng" dirty="0">
                <a:solidFill>
                  <a:schemeClr val="tx1"/>
                </a:solidFill>
              </a:rPr>
              <a:t>多种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基于运算方法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，每种含</a:t>
            </a:r>
            <a:r>
              <a:rPr lang="zh-CN" altLang="en-US" sz="2200" u="sng" dirty="0">
                <a:solidFill>
                  <a:schemeClr val="tx1"/>
                </a:solidFill>
              </a:rPr>
              <a:t>多个</a:t>
            </a:r>
            <a:r>
              <a:rPr lang="zh-CN" altLang="en-US" sz="2200" dirty="0">
                <a:solidFill>
                  <a:schemeClr val="tx1"/>
                </a:solidFill>
              </a:rPr>
              <a:t>功能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复用器件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8" name="Text Box 199"/>
          <p:cNvSpPr txBox="1">
            <a:spLocks noChangeArrowheads="1"/>
          </p:cNvSpPr>
          <p:nvPr/>
        </p:nvSpPr>
        <p:spPr bwMode="auto">
          <a:xfrm>
            <a:off x="2195736" y="3645024"/>
            <a:ext cx="6768750" cy="23471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u="sng" dirty="0">
                <a:solidFill>
                  <a:schemeClr val="tx1"/>
                </a:solidFill>
              </a:rPr>
              <a:t>寄存器组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存放数据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地址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u="sng" dirty="0">
                <a:solidFill>
                  <a:schemeClr val="tx1"/>
                </a:solidFill>
              </a:rPr>
              <a:t>状态寄存器</a:t>
            </a:r>
            <a:r>
              <a:rPr lang="en-US" altLang="zh-CN" sz="2200" u="sng" dirty="0">
                <a:solidFill>
                  <a:schemeClr val="tx1"/>
                </a:solidFill>
              </a:rPr>
              <a:t>PSR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存放标志等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←按地址读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写            </a:t>
            </a:r>
            <a:r>
              <a:rPr lang="zh-CN" altLang="en-US" sz="1800" b="0" dirty="0">
                <a:solidFill>
                  <a:schemeClr val="tx1"/>
                </a:solidFill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</a:rPr>
              <a:t>←写入值逻辑～指令类型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有总线结构、专用结构          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稍后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chemeClr val="tx1"/>
                </a:solidFill>
              </a:rPr>
              <a:t>    增设连接电路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逻辑＝需求的汇总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稍后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AutoShape 29"/>
          <p:cNvSpPr/>
          <p:nvPr>
            <p:custDataLst>
              <p:tags r:id="rId1"/>
            </p:custDataLst>
          </p:nvPr>
        </p:nvSpPr>
        <p:spPr bwMode="auto">
          <a:xfrm>
            <a:off x="3996008" y="3356982"/>
            <a:ext cx="2952000" cy="288000"/>
          </a:xfrm>
          <a:prstGeom prst="borderCallout2">
            <a:avLst>
              <a:gd name="adj1" fmla="val 50362"/>
              <a:gd name="adj2" fmla="val 100417"/>
              <a:gd name="adj3" fmla="val 50362"/>
              <a:gd name="adj4" fmla="val 110420"/>
              <a:gd name="adj5" fmla="val -243402"/>
              <a:gd name="adj6" fmla="val 11874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sz="1800" b="1" dirty="0">
                <a:solidFill>
                  <a:schemeClr val="tx1"/>
                </a:solidFill>
              </a:rPr>
              <a:t>算术运算基于逻辑运算实现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9B7AC6-621D-49DA-8AB6-14A3B206102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048456" y="4437112"/>
            <a:ext cx="2628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0800" rIns="36195" bIns="180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PSR—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  <a:sym typeface="+mn-ea"/>
              </a:rPr>
              <a:t>Program Status Register</a:t>
            </a:r>
            <a:endParaRPr lang="en-US" altLang="zh-CN" sz="1600" b="0" dirty="0">
              <a:solidFill>
                <a:schemeClr val="tx1"/>
              </a:solidFill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3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fld id="{14ACA591-8AB8-422E-B769-DC3EBB4193A6}" type="slidenum">
              <a:rPr lang="en-US" altLang="zh-CN" smtClean="0"/>
              <a:t>73</a:t>
            </a:fld>
            <a:endParaRPr lang="en-US" altLang="zh-CN"/>
          </a:p>
        </p:txBody>
      </p:sp>
      <p:sp>
        <p:nvSpPr>
          <p:cNvPr id="301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47</a:t>
            </a:r>
          </a:p>
        </p:txBody>
      </p:sp>
      <p:sp>
        <p:nvSpPr>
          <p:cNvPr id="61" name="Text Box 199"/>
          <p:cNvSpPr txBox="1">
            <a:spLocks noChangeArrowheads="1"/>
          </p:cNvSpPr>
          <p:nvPr/>
        </p:nvSpPr>
        <p:spPr bwMode="auto">
          <a:xfrm>
            <a:off x="179512" y="332656"/>
            <a:ext cx="4392488" cy="4258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FF3399"/>
                </a:solidFill>
              </a:rPr>
              <a:t>(2)</a:t>
            </a:r>
            <a:r>
              <a:rPr lang="zh-CN" altLang="en-US" sz="2200" dirty="0">
                <a:solidFill>
                  <a:srgbClr val="FF3399"/>
                </a:solidFill>
              </a:rPr>
              <a:t>运算器的部件设计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1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*设计步骤：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</a:t>
            </a:r>
            <a:r>
              <a:rPr lang="en-US" altLang="zh-CN" sz="2200" dirty="0">
                <a:solidFill>
                  <a:srgbClr val="C00000"/>
                </a:solidFill>
              </a:rPr>
              <a:t>ALU</a:t>
            </a:r>
            <a:r>
              <a:rPr lang="zh-CN" altLang="en-US" sz="2200" dirty="0">
                <a:solidFill>
                  <a:srgbClr val="C00000"/>
                </a:solidFill>
              </a:rPr>
              <a:t>设计示例：</a:t>
            </a:r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chemeClr val="accent2"/>
                </a:solidFill>
              </a:rPr>
              <a:t>      </a:t>
            </a:r>
            <a:r>
              <a:rPr lang="zh-CN" altLang="en-US" sz="2000" dirty="0">
                <a:solidFill>
                  <a:schemeClr val="accent2"/>
                </a:solidFill>
              </a:rPr>
              <a:t>功能表</a:t>
            </a:r>
            <a:r>
              <a:rPr lang="en-US" altLang="zh-CN" sz="20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accent2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CN" sz="2000" dirty="0">
                <a:solidFill>
                  <a:schemeClr val="accent2"/>
                </a:solidFill>
              </a:rPr>
              <a:t>      </a:t>
            </a:r>
            <a:r>
              <a:rPr lang="zh-CN" altLang="en-US" sz="2000" dirty="0">
                <a:solidFill>
                  <a:schemeClr val="accent2"/>
                </a:solidFill>
              </a:rPr>
              <a:t>内部逻辑</a:t>
            </a:r>
            <a:r>
              <a:rPr lang="en-US" altLang="zh-CN" sz="20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62" name="Text Box 222"/>
          <p:cNvSpPr txBox="1">
            <a:spLocks noChangeArrowheads="1"/>
          </p:cNvSpPr>
          <p:nvPr/>
        </p:nvSpPr>
        <p:spPr bwMode="auto">
          <a:xfrm>
            <a:off x="1872208" y="764704"/>
            <a:ext cx="716428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r>
              <a:rPr lang="zh-CN" altLang="en-US" sz="2200" u="sng" dirty="0">
                <a:solidFill>
                  <a:schemeClr val="tx1"/>
                </a:solidFill>
              </a:rPr>
              <a:t>汇总</a:t>
            </a:r>
            <a:r>
              <a:rPr lang="zh-CN" altLang="en-US" sz="2200" dirty="0">
                <a:solidFill>
                  <a:schemeClr val="tx1"/>
                </a:solidFill>
              </a:rPr>
              <a:t>所有指令的运算</a:t>
            </a:r>
            <a:r>
              <a:rPr lang="en-US" altLang="zh-CN" sz="2200" dirty="0">
                <a:solidFill>
                  <a:schemeClr val="tx1"/>
                </a:solidFill>
              </a:rPr>
              <a:t>&amp;</a:t>
            </a:r>
            <a:r>
              <a:rPr lang="zh-CN" altLang="en-US" sz="2200" dirty="0">
                <a:solidFill>
                  <a:schemeClr val="tx1"/>
                </a:solidFill>
              </a:rPr>
              <a:t>操作需求、存放需求，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u="sng" dirty="0">
                <a:solidFill>
                  <a:schemeClr val="tx1"/>
                </a:solidFill>
              </a:rPr>
              <a:t>组织</a:t>
            </a:r>
            <a:r>
              <a:rPr lang="zh-CN" altLang="en-US" sz="2200" dirty="0">
                <a:solidFill>
                  <a:schemeClr val="tx1"/>
                </a:solidFill>
              </a:rPr>
              <a:t>各部件功能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尽量复用器件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u="sng" dirty="0">
                <a:solidFill>
                  <a:schemeClr val="tx1"/>
                </a:solidFill>
              </a:rPr>
              <a:t>设计</a:t>
            </a:r>
            <a:r>
              <a:rPr lang="zh-CN" altLang="en-US" sz="2200" dirty="0">
                <a:solidFill>
                  <a:schemeClr val="tx1"/>
                </a:solidFill>
              </a:rPr>
              <a:t>各部件电路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64" name="Text Box 1015"/>
          <p:cNvSpPr txBox="1">
            <a:spLocks noChangeArrowheads="1"/>
          </p:cNvSpPr>
          <p:nvPr/>
        </p:nvSpPr>
        <p:spPr bwMode="auto">
          <a:xfrm>
            <a:off x="5292080" y="4653136"/>
            <a:ext cx="3744416" cy="133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标志形成逻辑：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ZF=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1800" baseline="-180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?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~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7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+…+F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:</a:t>
            </a: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</a:rPr>
              <a:t>~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15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+…+F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OF=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1800" baseline="-180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?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7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6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: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15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14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 SF=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op</a:t>
            </a:r>
            <a:r>
              <a:rPr lang="en-US" altLang="zh-CN" sz="1800" baseline="-180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?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7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  <a:sym typeface="Symbol" panose="05050102010706020507"/>
              </a:rPr>
              <a:t>: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F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15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5" name="Text Box 199"/>
          <p:cNvSpPr txBox="1">
            <a:spLocks noChangeArrowheads="1"/>
          </p:cNvSpPr>
          <p:nvPr/>
        </p:nvSpPr>
        <p:spPr bwMode="auto">
          <a:xfrm>
            <a:off x="755576" y="2420888"/>
            <a:ext cx="8208912" cy="21553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</a:rPr>
              <a:t>1</a:t>
            </a:r>
            <a:r>
              <a:rPr lang="zh-CN" altLang="en-US" sz="2000" dirty="0">
                <a:solidFill>
                  <a:srgbClr val="990099"/>
                </a:solidFill>
              </a:rPr>
              <a:t>：</a:t>
            </a:r>
            <a:r>
              <a:rPr lang="zh-CN" altLang="zh-CN" sz="2000" dirty="0">
                <a:solidFill>
                  <a:schemeClr val="tx1"/>
                </a:solidFill>
              </a:rPr>
              <a:t>设计</a:t>
            </a:r>
            <a:r>
              <a:rPr lang="zh-CN" altLang="en-US" sz="2000" dirty="0">
                <a:solidFill>
                  <a:schemeClr val="tx1"/>
                </a:solidFill>
              </a:rPr>
              <a:t>支持</a:t>
            </a:r>
            <a:r>
              <a:rPr lang="en-US" altLang="zh-CN" sz="2000" u="sng" dirty="0">
                <a:solidFill>
                  <a:schemeClr val="tx1"/>
                </a:solidFill>
              </a:rPr>
              <a:t>8</a:t>
            </a:r>
            <a:r>
              <a:rPr lang="zh-CN" altLang="en-US" sz="2000" u="sng" dirty="0">
                <a:solidFill>
                  <a:schemeClr val="tx1"/>
                </a:solidFill>
              </a:rPr>
              <a:t>位及</a:t>
            </a:r>
            <a:r>
              <a:rPr lang="en-US" altLang="zh-CN" sz="2000" u="sng" dirty="0">
                <a:solidFill>
                  <a:schemeClr val="tx1"/>
                </a:solidFill>
              </a:rPr>
              <a:t>16</a:t>
            </a:r>
            <a:r>
              <a:rPr lang="zh-CN" altLang="en-US" sz="2000" u="sng" dirty="0">
                <a:solidFill>
                  <a:schemeClr val="tx1"/>
                </a:solidFill>
              </a:rPr>
              <a:t>位</a:t>
            </a:r>
            <a:r>
              <a:rPr lang="zh-CN" alt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sz="2000" u="sng" dirty="0">
                <a:solidFill>
                  <a:schemeClr val="tx1"/>
                </a:solidFill>
              </a:rPr>
              <a:t>加法及减法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ALU</a:t>
            </a:r>
            <a:r>
              <a:rPr lang="zh-CN" altLang="en-US" sz="2000" dirty="0">
                <a:solidFill>
                  <a:schemeClr val="tx1"/>
                </a:solidFill>
              </a:rPr>
              <a:t>，产生</a:t>
            </a:r>
            <a:r>
              <a:rPr lang="en-US" altLang="zh-CN" sz="2000" dirty="0" err="1">
                <a:solidFill>
                  <a:schemeClr val="tx1"/>
                </a:solidFill>
              </a:rPr>
              <a:t>C</a:t>
            </a:r>
            <a:r>
              <a:rPr lang="en-US" altLang="zh-CN" sz="2000" baseline="-18000" dirty="0" err="1">
                <a:solidFill>
                  <a:schemeClr val="tx1"/>
                </a:solidFill>
              </a:rPr>
              <a:t>out</a:t>
            </a:r>
            <a:r>
              <a:rPr lang="zh-CN" altLang="en-US" sz="2000" dirty="0">
                <a:solidFill>
                  <a:schemeClr val="tx1"/>
                </a:solidFill>
              </a:rPr>
              <a:t>及</a:t>
            </a:r>
            <a:r>
              <a:rPr lang="en-US" altLang="zh-CN" sz="2000" dirty="0">
                <a:solidFill>
                  <a:schemeClr val="tx1"/>
                </a:solidFill>
              </a:rPr>
              <a:t>ZF/OF/SF</a:t>
            </a: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15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            2</a:t>
            </a:r>
            <a:r>
              <a:rPr lang="zh-CN" altLang="en-US" sz="2000" dirty="0">
                <a:solidFill>
                  <a:schemeClr val="tx1"/>
                </a:solidFill>
              </a:rPr>
              <a:t>个</a:t>
            </a:r>
            <a:r>
              <a:rPr lang="en-US" altLang="zh-CN" sz="2000" dirty="0">
                <a:solidFill>
                  <a:schemeClr val="tx1"/>
                </a:solidFill>
              </a:rPr>
              <a:t>8</a:t>
            </a:r>
            <a:r>
              <a:rPr lang="zh-CN" altLang="en-US" sz="2000" dirty="0">
                <a:solidFill>
                  <a:schemeClr val="tx1"/>
                </a:solidFill>
              </a:rPr>
              <a:t>位加减法器</a:t>
            </a:r>
            <a:r>
              <a:rPr lang="zh-CN" altLang="en-US" sz="2000" u="sng" dirty="0">
                <a:solidFill>
                  <a:srgbClr val="990099"/>
                </a:solidFill>
              </a:rPr>
              <a:t>级联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种</a:t>
            </a:r>
            <a:r>
              <a:rPr lang="en-US" altLang="zh-CN" sz="2000" dirty="0" err="1">
                <a:solidFill>
                  <a:schemeClr val="tx1"/>
                </a:solidFill>
              </a:rPr>
              <a:t>C</a:t>
            </a:r>
            <a:r>
              <a:rPr lang="en-US" altLang="zh-CN" sz="2000" baseline="-18000" dirty="0" err="1">
                <a:solidFill>
                  <a:schemeClr val="tx1"/>
                </a:solidFill>
              </a:rPr>
              <a:t>out</a:t>
            </a:r>
            <a:r>
              <a:rPr lang="zh-CN" altLang="en-US" sz="2000" dirty="0">
                <a:solidFill>
                  <a:schemeClr val="tx1"/>
                </a:solidFill>
              </a:rPr>
              <a:t>及标志</a:t>
            </a:r>
            <a:r>
              <a:rPr lang="zh-CN" altLang="en-US" sz="2000" u="sng" dirty="0">
                <a:solidFill>
                  <a:srgbClr val="990099"/>
                </a:solidFill>
              </a:rPr>
              <a:t>用</a:t>
            </a:r>
            <a:r>
              <a:rPr lang="en-US" altLang="zh-CN" sz="2000" u="sng" dirty="0">
                <a:solidFill>
                  <a:srgbClr val="990099"/>
                </a:solidFill>
              </a:rPr>
              <a:t>op</a:t>
            </a:r>
            <a:r>
              <a:rPr lang="en-US" altLang="zh-CN" sz="2000" u="sng" baseline="-18000" dirty="0">
                <a:solidFill>
                  <a:srgbClr val="990099"/>
                </a:solidFill>
              </a:rPr>
              <a:t>1</a:t>
            </a:r>
            <a:r>
              <a:rPr lang="zh-CN" altLang="en-US" sz="2000" u="sng" dirty="0">
                <a:solidFill>
                  <a:srgbClr val="990099"/>
                </a:solidFill>
              </a:rPr>
              <a:t>控制</a:t>
            </a:r>
            <a:r>
              <a:rPr lang="zh-CN" altLang="en-US" sz="2000" dirty="0">
                <a:solidFill>
                  <a:schemeClr val="tx1"/>
                </a:solidFill>
              </a:rPr>
              <a:t>形成</a:t>
            </a:r>
            <a:endParaRPr lang="zh-CN" altLang="en-US" sz="2000" u="sng" dirty="0">
              <a:solidFill>
                <a:srgbClr val="990099"/>
              </a:solidFill>
            </a:endParaRPr>
          </a:p>
        </p:txBody>
      </p:sp>
      <p:sp>
        <p:nvSpPr>
          <p:cNvPr id="66" name="Text Box 1015"/>
          <p:cNvSpPr txBox="1">
            <a:spLocks noChangeArrowheads="1"/>
          </p:cNvSpPr>
          <p:nvPr/>
        </p:nvSpPr>
        <p:spPr bwMode="auto">
          <a:xfrm>
            <a:off x="900000" y="1700840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思考：</a:t>
            </a:r>
            <a:r>
              <a:rPr lang="zh-CN" altLang="en-US" sz="1800" dirty="0">
                <a:solidFill>
                  <a:srgbClr val="0070C0"/>
                </a:solidFill>
              </a:rPr>
              <a:t>组合逻辑</a:t>
            </a:r>
            <a:r>
              <a:rPr lang="zh-CN" altLang="en-US" sz="1800" dirty="0">
                <a:solidFill>
                  <a:schemeClr val="tx1"/>
                </a:solidFill>
              </a:rPr>
              <a:t>电路设计步骤？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67" name="Text Box 1015"/>
          <p:cNvSpPr txBox="1">
            <a:spLocks noChangeArrowheads="1"/>
          </p:cNvSpPr>
          <p:nvPr/>
        </p:nvSpPr>
        <p:spPr bwMode="auto">
          <a:xfrm>
            <a:off x="4284000" y="1703506"/>
            <a:ext cx="478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①</a:t>
            </a:r>
            <a:r>
              <a:rPr lang="zh-CN" sz="1600" dirty="0">
                <a:solidFill>
                  <a:schemeClr val="tx1"/>
                </a:solidFill>
              </a:rPr>
              <a:t>逻辑抽象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真值表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②逻辑化简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表达式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1600" dirty="0">
                <a:solidFill>
                  <a:schemeClr val="tx1"/>
                </a:solidFill>
              </a:rPr>
              <a:t>③电路设计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graphicFrame>
        <p:nvGraphicFramePr>
          <p:cNvPr id="68" name="表格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13026"/>
              </p:ext>
            </p:extLst>
          </p:nvPr>
        </p:nvGraphicFramePr>
        <p:xfrm>
          <a:off x="2195736" y="2924944"/>
          <a:ext cx="6120680" cy="1187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86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0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</a:t>
                      </a:r>
                      <a:endParaRPr lang="zh-CN" altLang="en-US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6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out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ZF/OF/SF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位结果形成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位结果形成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9" name="组合 68"/>
          <p:cNvGrpSpPr/>
          <p:nvPr/>
        </p:nvGrpSpPr>
        <p:grpSpPr>
          <a:xfrm>
            <a:off x="561364" y="4581128"/>
            <a:ext cx="4658708" cy="1728192"/>
            <a:chOff x="417348" y="2420888"/>
            <a:chExt cx="4658708" cy="1728192"/>
          </a:xfrm>
        </p:grpSpPr>
        <p:sp>
          <p:nvSpPr>
            <p:cNvPr id="70" name="Rectangle 403"/>
            <p:cNvSpPr>
              <a:spLocks noChangeArrowheads="1"/>
            </p:cNvSpPr>
            <p:nvPr/>
          </p:nvSpPr>
          <p:spPr bwMode="auto">
            <a:xfrm>
              <a:off x="899216" y="2709072"/>
              <a:ext cx="3672000" cy="11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191"/>
            <p:cNvSpPr>
              <a:spLocks noChangeShapeType="1"/>
            </p:cNvSpPr>
            <p:nvPr/>
          </p:nvSpPr>
          <p:spPr bwMode="auto">
            <a:xfrm flipH="1">
              <a:off x="755664" y="3429000"/>
              <a:ext cx="215936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408"/>
            <p:cNvSpPr txBox="1">
              <a:spLocks noChangeArrowheads="1"/>
            </p:cNvSpPr>
            <p:nvPr/>
          </p:nvSpPr>
          <p:spPr bwMode="auto">
            <a:xfrm>
              <a:off x="467576" y="3357016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ZF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OF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SF</a:t>
              </a:r>
            </a:p>
          </p:txBody>
        </p:sp>
        <p:sp>
          <p:nvSpPr>
            <p:cNvPr id="73" name="Text Box 408"/>
            <p:cNvSpPr txBox="1">
              <a:spLocks noChangeArrowheads="1"/>
            </p:cNvSpPr>
            <p:nvPr/>
          </p:nvSpPr>
          <p:spPr bwMode="auto">
            <a:xfrm>
              <a:off x="4716056" y="263691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4" name="Line 430"/>
            <p:cNvSpPr>
              <a:spLocks noChangeShapeType="1"/>
            </p:cNvSpPr>
            <p:nvPr/>
          </p:nvSpPr>
          <p:spPr bwMode="auto">
            <a:xfrm flipH="1" flipV="1">
              <a:off x="4572040" y="2780904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75" name="Text Box 408"/>
            <p:cNvSpPr txBox="1">
              <a:spLocks noChangeArrowheads="1"/>
            </p:cNvSpPr>
            <p:nvPr/>
          </p:nvSpPr>
          <p:spPr bwMode="auto">
            <a:xfrm>
              <a:off x="4716056" y="357304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6" name="Line 191"/>
            <p:cNvSpPr>
              <a:spLocks noChangeShapeType="1"/>
            </p:cNvSpPr>
            <p:nvPr/>
          </p:nvSpPr>
          <p:spPr bwMode="auto">
            <a:xfrm flipH="1">
              <a:off x="755664" y="3212976"/>
              <a:ext cx="79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99"/>
            <p:cNvSpPr>
              <a:spLocks noChangeShapeType="1"/>
            </p:cNvSpPr>
            <p:nvPr/>
          </p:nvSpPr>
          <p:spPr bwMode="auto">
            <a:xfrm>
              <a:off x="3779984" y="3573104"/>
              <a:ext cx="0" cy="36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99"/>
            <p:cNvSpPr>
              <a:spLocks noChangeShapeType="1"/>
            </p:cNvSpPr>
            <p:nvPr/>
          </p:nvSpPr>
          <p:spPr bwMode="auto">
            <a:xfrm>
              <a:off x="3419872" y="2636984"/>
              <a:ext cx="0" cy="64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99"/>
            <p:cNvSpPr>
              <a:spLocks noChangeShapeType="1"/>
            </p:cNvSpPr>
            <p:nvPr/>
          </p:nvSpPr>
          <p:spPr bwMode="auto">
            <a:xfrm>
              <a:off x="3779952" y="2636944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99"/>
            <p:cNvSpPr>
              <a:spLocks noChangeShapeType="1"/>
            </p:cNvSpPr>
            <p:nvPr/>
          </p:nvSpPr>
          <p:spPr bwMode="auto">
            <a:xfrm>
              <a:off x="2411816" y="2636944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99"/>
            <p:cNvSpPr>
              <a:spLocks noChangeShapeType="1"/>
            </p:cNvSpPr>
            <p:nvPr/>
          </p:nvSpPr>
          <p:spPr bwMode="auto">
            <a:xfrm>
              <a:off x="2051776" y="2636984"/>
              <a:ext cx="0" cy="64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408"/>
            <p:cNvSpPr txBox="1">
              <a:spLocks noChangeArrowheads="1"/>
            </p:cNvSpPr>
            <p:nvPr/>
          </p:nvSpPr>
          <p:spPr bwMode="auto">
            <a:xfrm>
              <a:off x="3455984" y="3933080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7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3" name="Line 199"/>
            <p:cNvSpPr>
              <a:spLocks noChangeShapeType="1"/>
            </p:cNvSpPr>
            <p:nvPr/>
          </p:nvSpPr>
          <p:spPr bwMode="auto">
            <a:xfrm>
              <a:off x="2411760" y="3573016"/>
              <a:ext cx="0" cy="36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91"/>
            <p:cNvSpPr>
              <a:spLocks noChangeShapeType="1"/>
            </p:cNvSpPr>
            <p:nvPr/>
          </p:nvSpPr>
          <p:spPr bwMode="auto">
            <a:xfrm flipH="1">
              <a:off x="755664" y="3573016"/>
              <a:ext cx="215936" cy="88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191"/>
            <p:cNvSpPr>
              <a:spLocks noChangeShapeType="1"/>
            </p:cNvSpPr>
            <p:nvPr/>
          </p:nvSpPr>
          <p:spPr bwMode="auto">
            <a:xfrm flipH="1" flipV="1">
              <a:off x="755664" y="3717032"/>
              <a:ext cx="215936" cy="8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Box 408"/>
            <p:cNvSpPr txBox="1">
              <a:spLocks noChangeArrowheads="1"/>
            </p:cNvSpPr>
            <p:nvPr/>
          </p:nvSpPr>
          <p:spPr bwMode="auto">
            <a:xfrm>
              <a:off x="1619744" y="2420912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15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8" name="Text Box 408"/>
            <p:cNvSpPr txBox="1">
              <a:spLocks noChangeArrowheads="1"/>
            </p:cNvSpPr>
            <p:nvPr/>
          </p:nvSpPr>
          <p:spPr bwMode="auto">
            <a:xfrm>
              <a:off x="2267816" y="2420888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15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9" name="Text Box 408"/>
            <p:cNvSpPr txBox="1">
              <a:spLocks noChangeArrowheads="1"/>
            </p:cNvSpPr>
            <p:nvPr/>
          </p:nvSpPr>
          <p:spPr bwMode="auto">
            <a:xfrm>
              <a:off x="417348" y="3108334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90" name="Line 430"/>
            <p:cNvSpPr>
              <a:spLocks noChangeShapeType="1"/>
            </p:cNvSpPr>
            <p:nvPr/>
          </p:nvSpPr>
          <p:spPr bwMode="auto">
            <a:xfrm flipH="1" flipV="1">
              <a:off x="4572040" y="3717032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91" name="Text Box 408"/>
            <p:cNvSpPr txBox="1">
              <a:spLocks noChangeArrowheads="1"/>
            </p:cNvSpPr>
            <p:nvPr/>
          </p:nvSpPr>
          <p:spPr bwMode="auto">
            <a:xfrm>
              <a:off x="2987896" y="2420912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7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2" name="Text Box 408"/>
            <p:cNvSpPr txBox="1">
              <a:spLocks noChangeArrowheads="1"/>
            </p:cNvSpPr>
            <p:nvPr/>
          </p:nvSpPr>
          <p:spPr bwMode="auto">
            <a:xfrm>
              <a:off x="3563960" y="2420888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7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3" name="Text Box 408"/>
            <p:cNvSpPr txBox="1">
              <a:spLocks noChangeArrowheads="1"/>
            </p:cNvSpPr>
            <p:nvPr/>
          </p:nvSpPr>
          <p:spPr bwMode="auto">
            <a:xfrm>
              <a:off x="2123728" y="3933056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15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835720" y="4941144"/>
            <a:ext cx="2880376" cy="792112"/>
            <a:chOff x="1691704" y="2780904"/>
            <a:chExt cx="2880376" cy="792112"/>
          </a:xfrm>
        </p:grpSpPr>
        <p:sp>
          <p:nvSpPr>
            <p:cNvPr id="96" name="Text Box 184"/>
            <p:cNvSpPr txBox="1">
              <a:spLocks noChangeArrowheads="1"/>
            </p:cNvSpPr>
            <p:nvPr/>
          </p:nvSpPr>
          <p:spPr bwMode="auto">
            <a:xfrm>
              <a:off x="1907824" y="3285016"/>
              <a:ext cx="1080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位加法器</a:t>
              </a:r>
            </a:p>
          </p:txBody>
        </p:sp>
        <p:sp>
          <p:nvSpPr>
            <p:cNvPr id="97" name="Line 191"/>
            <p:cNvSpPr>
              <a:spLocks noChangeShapeType="1"/>
            </p:cNvSpPr>
            <p:nvPr/>
          </p:nvSpPr>
          <p:spPr bwMode="auto">
            <a:xfrm flipH="1">
              <a:off x="2987856" y="3429000"/>
              <a:ext cx="288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191"/>
            <p:cNvSpPr>
              <a:spLocks noChangeShapeType="1"/>
            </p:cNvSpPr>
            <p:nvPr/>
          </p:nvSpPr>
          <p:spPr bwMode="auto">
            <a:xfrm flipH="1">
              <a:off x="1691704" y="3429000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184"/>
            <p:cNvSpPr txBox="1">
              <a:spLocks noChangeArrowheads="1"/>
            </p:cNvSpPr>
            <p:nvPr/>
          </p:nvSpPr>
          <p:spPr bwMode="auto">
            <a:xfrm>
              <a:off x="3275976" y="3285016"/>
              <a:ext cx="1080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位加法器</a:t>
              </a:r>
            </a:p>
          </p:txBody>
        </p:sp>
        <p:sp>
          <p:nvSpPr>
            <p:cNvPr id="100" name="Line 191"/>
            <p:cNvSpPr>
              <a:spLocks noChangeShapeType="1"/>
            </p:cNvSpPr>
            <p:nvPr/>
          </p:nvSpPr>
          <p:spPr bwMode="auto">
            <a:xfrm flipH="1">
              <a:off x="4355976" y="3429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99"/>
            <p:cNvSpPr>
              <a:spLocks noChangeShapeType="1"/>
            </p:cNvSpPr>
            <p:nvPr/>
          </p:nvSpPr>
          <p:spPr bwMode="auto">
            <a:xfrm>
              <a:off x="2843864" y="2780944"/>
              <a:ext cx="0" cy="144000"/>
            </a:xfrm>
            <a:prstGeom prst="line">
              <a:avLst/>
            </a:prstGeom>
            <a:noFill/>
            <a:ln w="1270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01"/>
            <p:cNvSpPr>
              <a:spLocks noChangeShapeType="1"/>
            </p:cNvSpPr>
            <p:nvPr/>
          </p:nvSpPr>
          <p:spPr bwMode="auto">
            <a:xfrm flipH="1" flipV="1">
              <a:off x="2844080" y="2780904"/>
              <a:ext cx="1728000" cy="4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01"/>
            <p:cNvSpPr>
              <a:spLocks noChangeShapeType="1"/>
            </p:cNvSpPr>
            <p:nvPr/>
          </p:nvSpPr>
          <p:spPr bwMode="auto">
            <a:xfrm flipH="1">
              <a:off x="4499992" y="2780944"/>
              <a:ext cx="24" cy="648056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 Box 184"/>
            <p:cNvSpPr txBox="1">
              <a:spLocks noChangeArrowheads="1"/>
            </p:cNvSpPr>
            <p:nvPr/>
          </p:nvSpPr>
          <p:spPr bwMode="auto">
            <a:xfrm>
              <a:off x="2267800" y="2924968"/>
              <a:ext cx="72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异或门</a:t>
              </a:r>
            </a:p>
          </p:txBody>
        </p:sp>
        <p:sp>
          <p:nvSpPr>
            <p:cNvPr id="110" name="Line 199"/>
            <p:cNvSpPr>
              <a:spLocks noChangeShapeType="1"/>
            </p:cNvSpPr>
            <p:nvPr/>
          </p:nvSpPr>
          <p:spPr bwMode="auto">
            <a:xfrm>
              <a:off x="2699848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99"/>
            <p:cNvSpPr>
              <a:spLocks noChangeShapeType="1"/>
            </p:cNvSpPr>
            <p:nvPr/>
          </p:nvSpPr>
          <p:spPr bwMode="auto">
            <a:xfrm>
              <a:off x="4211672" y="2780920"/>
              <a:ext cx="0" cy="144000"/>
            </a:xfrm>
            <a:prstGeom prst="line">
              <a:avLst/>
            </a:prstGeom>
            <a:noFill/>
            <a:ln w="12700" cmpd="sng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Text Box 184"/>
            <p:cNvSpPr txBox="1">
              <a:spLocks noChangeArrowheads="1"/>
            </p:cNvSpPr>
            <p:nvPr/>
          </p:nvSpPr>
          <p:spPr bwMode="auto">
            <a:xfrm>
              <a:off x="3635608" y="2924944"/>
              <a:ext cx="72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异或门</a:t>
              </a:r>
            </a:p>
          </p:txBody>
        </p:sp>
        <p:sp>
          <p:nvSpPr>
            <p:cNvPr id="113" name="Line 199"/>
            <p:cNvSpPr>
              <a:spLocks noChangeShapeType="1"/>
            </p:cNvSpPr>
            <p:nvPr/>
          </p:nvSpPr>
          <p:spPr bwMode="auto">
            <a:xfrm>
              <a:off x="3995648" y="3140960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15672" y="5157304"/>
            <a:ext cx="3600344" cy="791976"/>
            <a:chOff x="1115672" y="5301272"/>
            <a:chExt cx="3600344" cy="791976"/>
          </a:xfrm>
        </p:grpSpPr>
        <p:sp>
          <p:nvSpPr>
            <p:cNvPr id="56" name="Text Box 193"/>
            <p:cNvSpPr txBox="1">
              <a:spLocks noChangeArrowheads="1"/>
            </p:cNvSpPr>
            <p:nvPr/>
          </p:nvSpPr>
          <p:spPr bwMode="auto">
            <a:xfrm>
              <a:off x="1115672" y="5661248"/>
              <a:ext cx="504000" cy="432000"/>
            </a:xfrm>
            <a:prstGeom prst="rect">
              <a:avLst/>
            </a:prstGeom>
            <a:solidFill>
              <a:srgbClr val="CC99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标志形成</a:t>
              </a:r>
            </a:p>
          </p:txBody>
        </p:sp>
        <p:sp>
          <p:nvSpPr>
            <p:cNvPr id="57" name="流程图: 手动操作 56"/>
            <p:cNvSpPr/>
            <p:nvPr/>
          </p:nvSpPr>
          <p:spPr bwMode="auto">
            <a:xfrm rot="5400000">
              <a:off x="1475696" y="5517272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chemeClr val="tx1"/>
                  </a:solidFill>
                </a:rPr>
                <a:t>1</a:t>
              </a: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en-US" altLang="zh-CN" sz="1200" dirty="0">
                  <a:solidFill>
                    <a:schemeClr val="tx1"/>
                  </a:solidFill>
                </a:rPr>
                <a:t>0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Line 191"/>
            <p:cNvSpPr>
              <a:spLocks noChangeShapeType="1"/>
            </p:cNvSpPr>
            <p:nvPr/>
          </p:nvSpPr>
          <p:spPr bwMode="auto">
            <a:xfrm flipH="1">
              <a:off x="1835856" y="5481280"/>
              <a:ext cx="144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191"/>
            <p:cNvSpPr>
              <a:spLocks noChangeShapeType="1"/>
            </p:cNvSpPr>
            <p:nvPr/>
          </p:nvSpPr>
          <p:spPr bwMode="auto">
            <a:xfrm flipV="1">
              <a:off x="3275856" y="5481256"/>
              <a:ext cx="72" cy="25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430"/>
            <p:cNvSpPr>
              <a:spLocks noChangeShapeType="1"/>
            </p:cNvSpPr>
            <p:nvPr/>
          </p:nvSpPr>
          <p:spPr bwMode="auto">
            <a:xfrm flipV="1">
              <a:off x="1763408" y="5805280"/>
              <a:ext cx="0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86" name="Line 201"/>
            <p:cNvSpPr>
              <a:spLocks noChangeShapeType="1"/>
            </p:cNvSpPr>
            <p:nvPr/>
          </p:nvSpPr>
          <p:spPr bwMode="auto">
            <a:xfrm flipH="1">
              <a:off x="1620016" y="6021288"/>
              <a:ext cx="309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6" grpId="0" bldLvl="0" animBg="1"/>
      <p:bldP spid="67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179512" y="1124744"/>
            <a:ext cx="3564680" cy="2809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chemeClr val="accent2"/>
                </a:solidFill>
              </a:rPr>
              <a:t>    </a:t>
            </a:r>
            <a:r>
              <a:rPr lang="zh-CN" altLang="en-US" sz="2000" dirty="0">
                <a:solidFill>
                  <a:schemeClr val="accent2"/>
                </a:solidFill>
              </a:rPr>
              <a:t>①加法器输出函数</a:t>
            </a:r>
            <a:r>
              <a:rPr lang="en-US" altLang="zh-CN" sz="2000" dirty="0">
                <a:solidFill>
                  <a:schemeClr val="accent2"/>
                </a:solidFill>
              </a:rPr>
              <a:t>—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chemeClr val="accent2"/>
                </a:solidFill>
              </a:rPr>
              <a:t>      </a:t>
            </a:r>
            <a:r>
              <a:rPr lang="zh-CN" altLang="en-US" sz="2000" dirty="0">
                <a:solidFill>
                  <a:schemeClr val="accent2"/>
                </a:solidFill>
              </a:rPr>
              <a:t>加法器内部逻辑</a:t>
            </a:r>
            <a:r>
              <a:rPr lang="en-US" altLang="zh-CN" sz="20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accent2"/>
                </a:solidFill>
              </a:rPr>
              <a:t>    </a:t>
            </a:r>
            <a:r>
              <a:rPr lang="zh-CN" altLang="en-US" sz="2000" dirty="0">
                <a:solidFill>
                  <a:schemeClr val="accent2"/>
                </a:solidFill>
              </a:rPr>
              <a:t>②</a:t>
            </a:r>
            <a:r>
              <a:rPr lang="en-US" altLang="zh-CN" sz="2000" dirty="0">
                <a:solidFill>
                  <a:schemeClr val="accent2"/>
                </a:solidFill>
              </a:rPr>
              <a:t>ALU</a:t>
            </a:r>
            <a:r>
              <a:rPr lang="zh-CN" altLang="en-US" sz="2000" dirty="0">
                <a:solidFill>
                  <a:schemeClr val="accent2"/>
                </a:solidFill>
              </a:rPr>
              <a:t>输出函数</a:t>
            </a:r>
            <a:r>
              <a:rPr lang="en-US" altLang="zh-CN" sz="20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accent2"/>
                </a:solidFill>
              </a:rPr>
              <a:t>      ALU</a:t>
            </a:r>
            <a:r>
              <a:rPr lang="zh-CN" altLang="en-US" sz="2000" dirty="0">
                <a:solidFill>
                  <a:schemeClr val="accent2"/>
                </a:solidFill>
              </a:rPr>
              <a:t>内部逻辑</a:t>
            </a:r>
            <a:r>
              <a:rPr lang="en-US" altLang="zh-CN" sz="20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34" name="Text Box 1015"/>
          <p:cNvSpPr txBox="1">
            <a:spLocks noChangeArrowheads="1"/>
          </p:cNvSpPr>
          <p:nvPr/>
        </p:nvSpPr>
        <p:spPr bwMode="auto">
          <a:xfrm>
            <a:off x="2664296" y="1772816"/>
            <a:ext cx="6372200" cy="21553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zh-CN" altLang="en-US" sz="2000" u="sng" dirty="0">
                <a:solidFill>
                  <a:srgbClr val="990099"/>
                </a:solidFill>
              </a:rPr>
              <a:t>加法运算</a:t>
            </a:r>
            <a:r>
              <a:rPr lang="zh-CN" altLang="en-US" sz="2000" dirty="0">
                <a:solidFill>
                  <a:schemeClr val="tx1"/>
                </a:solidFill>
              </a:rPr>
              <a:t>如下，</a:t>
            </a:r>
            <a:r>
              <a:rPr lang="zh-CN" altLang="en-US" sz="2000" u="sng" dirty="0">
                <a:solidFill>
                  <a:srgbClr val="990099"/>
                </a:solidFill>
              </a:rPr>
              <a:t>逻辑运算</a:t>
            </a:r>
            <a:r>
              <a:rPr lang="zh-CN" altLang="en-US" sz="2000" dirty="0">
                <a:solidFill>
                  <a:schemeClr val="tx1"/>
                </a:solidFill>
              </a:rPr>
              <a:t>复用</a:t>
            </a:r>
            <a:r>
              <a:rPr lang="zh-CN" altLang="en-US" sz="2000" u="sng" dirty="0">
                <a:solidFill>
                  <a:schemeClr val="tx1"/>
                </a:solidFill>
              </a:rPr>
              <a:t>加法元件</a:t>
            </a:r>
            <a:r>
              <a:rPr lang="zh-CN" altLang="en-US" sz="2000" dirty="0">
                <a:solidFill>
                  <a:schemeClr val="tx1"/>
                </a:solidFill>
              </a:rPr>
              <a:t>，用</a:t>
            </a:r>
            <a:r>
              <a:rPr lang="en-US" altLang="zh-CN" sz="2000" dirty="0">
                <a:solidFill>
                  <a:schemeClr val="tx1"/>
                </a:solidFill>
              </a:rPr>
              <a:t>op</a:t>
            </a:r>
            <a:r>
              <a:rPr lang="en-US" altLang="zh-CN" sz="2000" baseline="-18000" dirty="0">
                <a:solidFill>
                  <a:schemeClr val="tx1"/>
                </a:solidFill>
              </a:rPr>
              <a:t>1</a:t>
            </a:r>
            <a:r>
              <a:rPr lang="zh-CN" altLang="en-US" sz="2000" u="sng" dirty="0">
                <a:solidFill>
                  <a:srgbClr val="0070C0"/>
                </a:solidFill>
              </a:rPr>
              <a:t>选择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spcBef>
                <a:spcPts val="1500"/>
              </a:spcBef>
              <a:spcAft>
                <a:spcPts val="0"/>
              </a:spcAft>
            </a:pPr>
            <a:r>
              <a:rPr lang="zh-CN" altLang="en-US" sz="2000" u="sng" spc="-50" dirty="0">
                <a:solidFill>
                  <a:srgbClr val="990099"/>
                </a:solidFill>
                <a:sym typeface="+mn-ea"/>
              </a:rPr>
              <a:t>逻辑运算</a:t>
            </a:r>
            <a:r>
              <a:rPr lang="zh-CN" altLang="en-US" sz="2000" spc="-50" dirty="0">
                <a:solidFill>
                  <a:schemeClr val="tx1"/>
                </a:solidFill>
                <a:sym typeface="+mn-ea"/>
              </a:rPr>
              <a:t>使用加法器，</a:t>
            </a:r>
            <a:r>
              <a:rPr lang="zh-CN" altLang="en-US" sz="2000" u="sng" spc="-50" dirty="0">
                <a:solidFill>
                  <a:srgbClr val="990099"/>
                </a:solidFill>
                <a:sym typeface="+mn-ea"/>
              </a:rPr>
              <a:t>加减</a:t>
            </a:r>
            <a:r>
              <a:rPr lang="zh-CN" altLang="en-US" sz="2000" u="sng" spc="-50" dirty="0">
                <a:solidFill>
                  <a:srgbClr val="990099"/>
                </a:solidFill>
              </a:rPr>
              <a:t>运算</a:t>
            </a:r>
            <a:r>
              <a:rPr lang="zh-CN" altLang="en-US" sz="2000" spc="-50" dirty="0">
                <a:solidFill>
                  <a:schemeClr val="tx1"/>
                </a:solidFill>
              </a:rPr>
              <a:t>需增加数据源</a:t>
            </a:r>
            <a:r>
              <a:rPr lang="en-US" altLang="zh-CN" sz="1800" spc="-50" dirty="0">
                <a:solidFill>
                  <a:schemeClr val="tx1"/>
                </a:solidFill>
              </a:rPr>
              <a:t>(B</a:t>
            </a:r>
            <a:r>
              <a:rPr lang="zh-CN" altLang="en-US" sz="1800" spc="-50" dirty="0">
                <a:solidFill>
                  <a:schemeClr val="tx1"/>
                </a:solidFill>
              </a:rPr>
              <a:t>或</a:t>
            </a:r>
            <a:r>
              <a:rPr lang="en-US" altLang="zh-CN" sz="1800" spc="-50" dirty="0">
                <a:solidFill>
                  <a:schemeClr val="tx1"/>
                </a:solidFill>
              </a:rPr>
              <a:t>1)</a:t>
            </a:r>
            <a:endParaRPr lang="zh-CN" altLang="en-US" sz="2000" spc="-50" dirty="0">
              <a:solidFill>
                <a:schemeClr val="tx1"/>
              </a:solidFill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324287" y="4005064"/>
            <a:ext cx="3960704" cy="2232232"/>
            <a:chOff x="683608" y="3501008"/>
            <a:chExt cx="3960704" cy="2232232"/>
          </a:xfrm>
        </p:grpSpPr>
        <p:sp>
          <p:nvSpPr>
            <p:cNvPr id="189" name="Rectangle 403"/>
            <p:cNvSpPr>
              <a:spLocks noChangeArrowheads="1"/>
            </p:cNvSpPr>
            <p:nvPr/>
          </p:nvSpPr>
          <p:spPr bwMode="auto">
            <a:xfrm>
              <a:off x="1187936" y="3861024"/>
              <a:ext cx="2952328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Rectangle 403"/>
            <p:cNvSpPr>
              <a:spLocks noChangeArrowheads="1"/>
            </p:cNvSpPr>
            <p:nvPr/>
          </p:nvSpPr>
          <p:spPr bwMode="auto">
            <a:xfrm>
              <a:off x="1259944" y="3933032"/>
              <a:ext cx="1224000" cy="13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420"/>
            <p:cNvSpPr>
              <a:spLocks noChangeShapeType="1"/>
            </p:cNvSpPr>
            <p:nvPr/>
          </p:nvSpPr>
          <p:spPr bwMode="auto">
            <a:xfrm flipV="1">
              <a:off x="2052032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420"/>
            <p:cNvSpPr>
              <a:spLocks noChangeShapeType="1"/>
            </p:cNvSpPr>
            <p:nvPr/>
          </p:nvSpPr>
          <p:spPr bwMode="auto">
            <a:xfrm flipV="1">
              <a:off x="2268056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430"/>
            <p:cNvSpPr>
              <a:spLocks noChangeShapeType="1"/>
            </p:cNvSpPr>
            <p:nvPr/>
          </p:nvSpPr>
          <p:spPr bwMode="auto">
            <a:xfrm flipH="1" flipV="1">
              <a:off x="1187936" y="4437088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94" name="Line 420"/>
            <p:cNvSpPr>
              <a:spLocks noChangeShapeType="1"/>
            </p:cNvSpPr>
            <p:nvPr/>
          </p:nvSpPr>
          <p:spPr bwMode="auto">
            <a:xfrm flipV="1">
              <a:off x="1979752" y="5229200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Rectangle 403"/>
            <p:cNvSpPr>
              <a:spLocks noChangeArrowheads="1"/>
            </p:cNvSpPr>
            <p:nvPr/>
          </p:nvSpPr>
          <p:spPr bwMode="auto">
            <a:xfrm>
              <a:off x="2844120" y="3933032"/>
              <a:ext cx="1224000" cy="13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Line 420"/>
            <p:cNvSpPr>
              <a:spLocks noChangeShapeType="1"/>
            </p:cNvSpPr>
            <p:nvPr/>
          </p:nvSpPr>
          <p:spPr bwMode="auto">
            <a:xfrm flipV="1">
              <a:off x="3636272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426"/>
            <p:cNvSpPr>
              <a:spLocks noChangeShapeType="1"/>
            </p:cNvSpPr>
            <p:nvPr/>
          </p:nvSpPr>
          <p:spPr bwMode="auto">
            <a:xfrm flipH="1" flipV="1">
              <a:off x="3420248" y="4437088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420"/>
            <p:cNvSpPr>
              <a:spLocks noChangeShapeType="1"/>
            </p:cNvSpPr>
            <p:nvPr/>
          </p:nvSpPr>
          <p:spPr bwMode="auto">
            <a:xfrm flipV="1">
              <a:off x="3852296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420"/>
            <p:cNvSpPr>
              <a:spLocks noChangeShapeType="1"/>
            </p:cNvSpPr>
            <p:nvPr/>
          </p:nvSpPr>
          <p:spPr bwMode="auto">
            <a:xfrm flipV="1">
              <a:off x="3563888" y="522916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430"/>
            <p:cNvSpPr>
              <a:spLocks noChangeShapeType="1"/>
            </p:cNvSpPr>
            <p:nvPr/>
          </p:nvSpPr>
          <p:spPr bwMode="auto">
            <a:xfrm flipH="1" flipV="1">
              <a:off x="2484080" y="443708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1" name="Line 430"/>
            <p:cNvSpPr>
              <a:spLocks noChangeShapeType="1"/>
            </p:cNvSpPr>
            <p:nvPr/>
          </p:nvSpPr>
          <p:spPr bwMode="auto">
            <a:xfrm flipH="1" flipV="1">
              <a:off x="2772112" y="443708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2" name="Text Box 408"/>
            <p:cNvSpPr txBox="1">
              <a:spLocks noChangeArrowheads="1"/>
            </p:cNvSpPr>
            <p:nvPr/>
          </p:nvSpPr>
          <p:spPr bwMode="auto">
            <a:xfrm>
              <a:off x="2556112" y="429307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03" name="Line 430"/>
            <p:cNvSpPr>
              <a:spLocks noChangeShapeType="1"/>
            </p:cNvSpPr>
            <p:nvPr/>
          </p:nvSpPr>
          <p:spPr bwMode="auto">
            <a:xfrm flipH="1" flipV="1">
              <a:off x="4140280" y="4437112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4" name="Line 430"/>
            <p:cNvSpPr>
              <a:spLocks noChangeShapeType="1"/>
            </p:cNvSpPr>
            <p:nvPr/>
          </p:nvSpPr>
          <p:spPr bwMode="auto">
            <a:xfrm flipH="1" flipV="1">
              <a:off x="1043920" y="4437112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5" name="Line 420"/>
            <p:cNvSpPr>
              <a:spLocks noChangeShapeType="1"/>
            </p:cNvSpPr>
            <p:nvPr/>
          </p:nvSpPr>
          <p:spPr bwMode="auto">
            <a:xfrm>
              <a:off x="2052032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420"/>
            <p:cNvSpPr>
              <a:spLocks noChangeShapeType="1"/>
            </p:cNvSpPr>
            <p:nvPr/>
          </p:nvSpPr>
          <p:spPr bwMode="auto">
            <a:xfrm>
              <a:off x="2268056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420"/>
            <p:cNvSpPr>
              <a:spLocks noChangeShapeType="1"/>
            </p:cNvSpPr>
            <p:nvPr/>
          </p:nvSpPr>
          <p:spPr bwMode="auto">
            <a:xfrm>
              <a:off x="3636208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420"/>
            <p:cNvSpPr>
              <a:spLocks noChangeShapeType="1"/>
            </p:cNvSpPr>
            <p:nvPr/>
          </p:nvSpPr>
          <p:spPr bwMode="auto">
            <a:xfrm>
              <a:off x="3852232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420"/>
            <p:cNvSpPr>
              <a:spLocks noChangeShapeType="1"/>
            </p:cNvSpPr>
            <p:nvPr/>
          </p:nvSpPr>
          <p:spPr bwMode="auto">
            <a:xfrm>
              <a:off x="1979776" y="5373216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420"/>
            <p:cNvSpPr>
              <a:spLocks noChangeShapeType="1"/>
            </p:cNvSpPr>
            <p:nvPr/>
          </p:nvSpPr>
          <p:spPr bwMode="auto">
            <a:xfrm>
              <a:off x="3563888" y="537319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430"/>
            <p:cNvSpPr>
              <a:spLocks noChangeShapeType="1"/>
            </p:cNvSpPr>
            <p:nvPr/>
          </p:nvSpPr>
          <p:spPr bwMode="auto">
            <a:xfrm flipH="1" flipV="1">
              <a:off x="4140280" y="4941168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12" name="Text Box 408"/>
            <p:cNvSpPr txBox="1">
              <a:spLocks noChangeArrowheads="1"/>
            </p:cNvSpPr>
            <p:nvPr/>
          </p:nvSpPr>
          <p:spPr bwMode="auto">
            <a:xfrm>
              <a:off x="4284280" y="429850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3" name="Text Box 408"/>
            <p:cNvSpPr txBox="1">
              <a:spLocks noChangeArrowheads="1"/>
            </p:cNvSpPr>
            <p:nvPr/>
          </p:nvSpPr>
          <p:spPr bwMode="auto">
            <a:xfrm>
              <a:off x="683608" y="429850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4" name="Text Box 408"/>
            <p:cNvSpPr txBox="1">
              <a:spLocks noChangeArrowheads="1"/>
            </p:cNvSpPr>
            <p:nvPr/>
          </p:nvSpPr>
          <p:spPr bwMode="auto">
            <a:xfrm>
              <a:off x="3492192" y="3501008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 </a:t>
              </a: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5" name="Text Box 408"/>
            <p:cNvSpPr txBox="1">
              <a:spLocks noChangeArrowheads="1"/>
            </p:cNvSpPr>
            <p:nvPr/>
          </p:nvSpPr>
          <p:spPr bwMode="auto">
            <a:xfrm>
              <a:off x="1908016" y="3501008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7 </a:t>
              </a: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16" name="Text Box 408"/>
            <p:cNvSpPr txBox="1">
              <a:spLocks noChangeArrowheads="1"/>
            </p:cNvSpPr>
            <p:nvPr/>
          </p:nvSpPr>
          <p:spPr bwMode="auto">
            <a:xfrm>
              <a:off x="1907768" y="551724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Z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17" name="Text Box 408"/>
            <p:cNvSpPr txBox="1">
              <a:spLocks noChangeArrowheads="1"/>
            </p:cNvSpPr>
            <p:nvPr/>
          </p:nvSpPr>
          <p:spPr bwMode="auto">
            <a:xfrm>
              <a:off x="3491904" y="551723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Z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8" name="Text Box 408"/>
            <p:cNvSpPr txBox="1">
              <a:spLocks noChangeArrowheads="1"/>
            </p:cNvSpPr>
            <p:nvPr/>
          </p:nvSpPr>
          <p:spPr bwMode="auto">
            <a:xfrm>
              <a:off x="4284312" y="479715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9" name="Text Box 408"/>
            <p:cNvSpPr txBox="1">
              <a:spLocks noChangeArrowheads="1"/>
            </p:cNvSpPr>
            <p:nvPr/>
          </p:nvSpPr>
          <p:spPr bwMode="auto">
            <a:xfrm>
              <a:off x="2555816" y="3573016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20" name="Text Box 408"/>
            <p:cNvSpPr txBox="1">
              <a:spLocks noChangeArrowheads="1"/>
            </p:cNvSpPr>
            <p:nvPr/>
          </p:nvSpPr>
          <p:spPr bwMode="auto">
            <a:xfrm>
              <a:off x="2555840" y="5373216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21" name="Text Box 408"/>
            <p:cNvSpPr txBox="1">
              <a:spLocks noChangeArrowheads="1"/>
            </p:cNvSpPr>
            <p:nvPr/>
          </p:nvSpPr>
          <p:spPr bwMode="auto">
            <a:xfrm>
              <a:off x="4284008" y="501315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2" name="Line 430"/>
            <p:cNvSpPr>
              <a:spLocks noChangeShapeType="1"/>
            </p:cNvSpPr>
            <p:nvPr/>
          </p:nvSpPr>
          <p:spPr bwMode="auto">
            <a:xfrm flipH="1" flipV="1">
              <a:off x="4139992" y="5157168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74</a:t>
            </a:fld>
            <a:endParaRPr lang="en-US" altLang="zh-CN"/>
          </a:p>
        </p:txBody>
      </p:sp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9512" y="324000"/>
            <a:ext cx="8784975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152000" indent="-1152000">
              <a:spcBef>
                <a:spcPts val="0"/>
              </a:spcBef>
            </a:pPr>
            <a:r>
              <a:rPr lang="zh-CN" altLang="en-US" sz="2000" dirty="0">
                <a:solidFill>
                  <a:srgbClr val="990099"/>
                </a:solidFill>
              </a:rPr>
              <a:t>    例</a:t>
            </a:r>
            <a:r>
              <a:rPr lang="en-US" altLang="zh-CN" sz="2000" dirty="0">
                <a:solidFill>
                  <a:srgbClr val="990099"/>
                </a:solidFill>
              </a:rPr>
              <a:t>2</a:t>
            </a:r>
            <a:r>
              <a:rPr lang="zh-CN" altLang="en-US" sz="2000" dirty="0">
                <a:solidFill>
                  <a:srgbClr val="990099"/>
                </a:solidFill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</a:rPr>
              <a:t>①</a:t>
            </a:r>
            <a:r>
              <a:rPr lang="zh-CN" altLang="zh-CN" sz="2000" dirty="0">
                <a:solidFill>
                  <a:schemeClr val="tx1"/>
                </a:solidFill>
              </a:rPr>
              <a:t>设计支持</a:t>
            </a:r>
            <a:r>
              <a:rPr lang="en-US" altLang="zh-CN" sz="2000" dirty="0">
                <a:solidFill>
                  <a:schemeClr val="tx1"/>
                </a:solidFill>
              </a:rPr>
              <a:t>A&amp;B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zh-CN" sz="2000" dirty="0">
                <a:solidFill>
                  <a:schemeClr val="tx1"/>
                </a:solidFill>
              </a:rPr>
              <a:t>⊕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zh-CN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8</a:t>
            </a:r>
            <a:r>
              <a:rPr lang="zh-CN" altLang="en-US" sz="2000" dirty="0">
                <a:solidFill>
                  <a:schemeClr val="tx1"/>
                </a:solidFill>
              </a:rPr>
              <a:t>位加法器；②</a:t>
            </a:r>
            <a:r>
              <a:rPr lang="zh-CN" altLang="zh-CN" sz="2000" dirty="0">
                <a:solidFill>
                  <a:schemeClr val="tx1"/>
                </a:solidFill>
              </a:rPr>
              <a:t>基于</a:t>
            </a:r>
            <a:r>
              <a:rPr lang="zh-CN" altLang="en-US" sz="2000" dirty="0">
                <a:solidFill>
                  <a:schemeClr val="tx1"/>
                </a:solidFill>
              </a:rPr>
              <a:t>①的结果</a:t>
            </a:r>
            <a:r>
              <a:rPr lang="zh-CN" altLang="zh-CN" sz="2000" dirty="0">
                <a:solidFill>
                  <a:schemeClr val="tx1"/>
                </a:solidFill>
              </a:rPr>
              <a:t>，设计</a:t>
            </a:r>
            <a:r>
              <a:rPr lang="zh-CN" altLang="en-US" sz="2000" dirty="0">
                <a:solidFill>
                  <a:schemeClr val="tx1"/>
                </a:solidFill>
              </a:rPr>
              <a:t>支持</a:t>
            </a:r>
            <a:r>
              <a:rPr lang="en-US" altLang="zh-CN" sz="2000" dirty="0">
                <a:solidFill>
                  <a:schemeClr val="tx1"/>
                </a:solidFill>
              </a:rPr>
              <a:t>A±B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A±1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A&amp;B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zh-CN" sz="2000" dirty="0">
                <a:solidFill>
                  <a:schemeClr val="tx1"/>
                </a:solidFill>
              </a:rPr>
              <a:t>⊕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zh-CN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8</a:t>
            </a:r>
            <a:r>
              <a:rPr lang="zh-CN" altLang="en-US" sz="2000" dirty="0">
                <a:solidFill>
                  <a:schemeClr val="tx1"/>
                </a:solidFill>
              </a:rPr>
              <a:t>位</a:t>
            </a:r>
            <a:r>
              <a:rPr lang="en-US" altLang="zh-CN" sz="2000" dirty="0">
                <a:solidFill>
                  <a:schemeClr val="tx1"/>
                </a:solidFill>
              </a:rPr>
              <a:t>ALU</a:t>
            </a:r>
            <a:r>
              <a:rPr lang="zh-CN" altLang="en-US" sz="2000" dirty="0">
                <a:solidFill>
                  <a:schemeClr val="tx1"/>
                </a:solidFill>
              </a:rPr>
              <a:t>，产生</a:t>
            </a:r>
            <a:r>
              <a:rPr lang="en-US" altLang="zh-CN" sz="2000" dirty="0" err="1">
                <a:solidFill>
                  <a:schemeClr val="tx1"/>
                </a:solidFill>
              </a:rPr>
              <a:t>C</a:t>
            </a:r>
            <a:r>
              <a:rPr lang="en-US" altLang="zh-CN" sz="2000" baseline="-18000" dirty="0" err="1">
                <a:solidFill>
                  <a:schemeClr val="tx1"/>
                </a:solidFill>
              </a:rPr>
              <a:t>out</a:t>
            </a:r>
            <a:r>
              <a:rPr lang="zh-CN" altLang="en-US" sz="2000" dirty="0">
                <a:solidFill>
                  <a:schemeClr val="tx1"/>
                </a:solidFill>
              </a:rPr>
              <a:t>及</a:t>
            </a:r>
            <a:r>
              <a:rPr lang="en-US" altLang="zh-CN" sz="2000" dirty="0">
                <a:solidFill>
                  <a:schemeClr val="tx1"/>
                </a:solidFill>
              </a:rPr>
              <a:t>ZF/OF/SF</a:t>
            </a:r>
          </a:p>
        </p:txBody>
      </p:sp>
      <p:sp>
        <p:nvSpPr>
          <p:cNvPr id="35" name="Text Box 1015"/>
          <p:cNvSpPr txBox="1">
            <a:spLocks noChangeArrowheads="1"/>
          </p:cNvSpPr>
          <p:nvPr/>
        </p:nvSpPr>
        <p:spPr bwMode="auto">
          <a:xfrm>
            <a:off x="6444000" y="5913056"/>
            <a:ext cx="2196000" cy="46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dirty="0" err="1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 err="1">
                <a:solidFill>
                  <a:schemeClr val="tx1"/>
                </a:solidFill>
              </a:rPr>
              <a:t>out</a:t>
            </a:r>
            <a:r>
              <a:rPr lang="en-US" altLang="zh-CN" sz="1600" dirty="0">
                <a:solidFill>
                  <a:schemeClr val="tx1"/>
                </a:solidFill>
              </a:rPr>
              <a:t>=C7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OF=(</a:t>
            </a:r>
            <a:r>
              <a:rPr lang="en-US" altLang="zh-CN" sz="1600" dirty="0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>
                <a:solidFill>
                  <a:schemeClr val="tx1"/>
                </a:solidFill>
              </a:rPr>
              <a:t>7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1600" dirty="0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>
                <a:solidFill>
                  <a:schemeClr val="tx1"/>
                </a:solidFill>
              </a:rPr>
              <a:t>6</a:t>
            </a: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sym typeface="Symbol" panose="05050102010706020507"/>
              </a:rPr>
              <a:t>，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sym typeface="Symbol" panose="05050102010706020507"/>
              </a:rPr>
              <a:t>SF=F</a:t>
            </a:r>
            <a:r>
              <a:rPr lang="en-US" altLang="zh-CN" sz="1600" baseline="-18000" dirty="0">
                <a:solidFill>
                  <a:schemeClr val="tx1"/>
                </a:solidFill>
                <a:sym typeface="Symbol" panose="05050102010706020507"/>
              </a:rPr>
              <a:t>7</a:t>
            </a:r>
            <a:r>
              <a:rPr lang="zh-CN" altLang="en-US" sz="1600" dirty="0">
                <a:solidFill>
                  <a:schemeClr val="tx1"/>
                </a:solidFill>
                <a:sym typeface="Symbol" panose="05050102010706020507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ZF=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600" dirty="0">
                <a:solidFill>
                  <a:schemeClr val="tx1"/>
                </a:solidFill>
              </a:rPr>
              <a:t>(F</a:t>
            </a:r>
            <a:r>
              <a:rPr lang="en-US" altLang="zh-CN" sz="1600" baseline="-18000" dirty="0">
                <a:solidFill>
                  <a:schemeClr val="tx1"/>
                </a:solidFill>
              </a:rPr>
              <a:t>7</a:t>
            </a:r>
            <a:r>
              <a:rPr lang="en-US" altLang="zh-CN" sz="1600" dirty="0">
                <a:solidFill>
                  <a:schemeClr val="tx1"/>
                </a:solidFill>
              </a:rPr>
              <a:t>+…+F</a:t>
            </a:r>
            <a:r>
              <a:rPr lang="en-US" altLang="zh-CN" sz="1600" baseline="-18000" dirty="0">
                <a:solidFill>
                  <a:schemeClr val="tx1"/>
                </a:solidFill>
              </a:rPr>
              <a:t>0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223" name="表格 2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990570"/>
              </p:ext>
            </p:extLst>
          </p:nvPr>
        </p:nvGraphicFramePr>
        <p:xfrm>
          <a:off x="2771800" y="2348880"/>
          <a:ext cx="4536504" cy="1131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1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A+B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A-B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A+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A-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B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1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out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加法器最高位进位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44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ZF/OF/SF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按运算结果形成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116902" y="4653064"/>
            <a:ext cx="2663681" cy="864128"/>
            <a:chOff x="1476223" y="4221032"/>
            <a:chExt cx="2663681" cy="864128"/>
          </a:xfrm>
        </p:grpSpPr>
        <p:sp>
          <p:nvSpPr>
            <p:cNvPr id="138" name="Line 420"/>
            <p:cNvSpPr>
              <a:spLocks noChangeShapeType="1"/>
            </p:cNvSpPr>
            <p:nvPr/>
          </p:nvSpPr>
          <p:spPr bwMode="auto">
            <a:xfrm>
              <a:off x="1619984" y="4221032"/>
              <a:ext cx="57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420"/>
            <p:cNvSpPr>
              <a:spLocks noChangeShapeType="1"/>
            </p:cNvSpPr>
            <p:nvPr/>
          </p:nvSpPr>
          <p:spPr bwMode="auto">
            <a:xfrm>
              <a:off x="1908016" y="4581184"/>
              <a:ext cx="57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420"/>
            <p:cNvSpPr>
              <a:spLocks noChangeShapeType="1"/>
            </p:cNvSpPr>
            <p:nvPr/>
          </p:nvSpPr>
          <p:spPr bwMode="auto">
            <a:xfrm>
              <a:off x="3204224" y="4221032"/>
              <a:ext cx="57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420"/>
            <p:cNvSpPr>
              <a:spLocks noChangeShapeType="1"/>
            </p:cNvSpPr>
            <p:nvPr/>
          </p:nvSpPr>
          <p:spPr bwMode="auto">
            <a:xfrm>
              <a:off x="3492256" y="4581184"/>
              <a:ext cx="57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430"/>
            <p:cNvSpPr>
              <a:spLocks noChangeShapeType="1"/>
            </p:cNvSpPr>
            <p:nvPr/>
          </p:nvSpPr>
          <p:spPr bwMode="auto">
            <a:xfrm flipH="1" flipV="1">
              <a:off x="1979752" y="5013152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60" name="流程图: 手动操作 259"/>
            <p:cNvSpPr/>
            <p:nvPr/>
          </p:nvSpPr>
          <p:spPr bwMode="auto">
            <a:xfrm>
              <a:off x="1476223" y="4941160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4" name="Line 430"/>
            <p:cNvSpPr>
              <a:spLocks noChangeShapeType="1"/>
            </p:cNvSpPr>
            <p:nvPr/>
          </p:nvSpPr>
          <p:spPr bwMode="auto">
            <a:xfrm flipH="1" flipV="1">
              <a:off x="3563904" y="5013128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68" name="流程图: 手动操作 267"/>
            <p:cNvSpPr/>
            <p:nvPr/>
          </p:nvSpPr>
          <p:spPr bwMode="auto">
            <a:xfrm>
              <a:off x="3060375" y="4941136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72755" y="4509064"/>
            <a:ext cx="2807916" cy="1224120"/>
            <a:chOff x="1332076" y="4365080"/>
            <a:chExt cx="2807916" cy="1224120"/>
          </a:xfrm>
        </p:grpSpPr>
        <p:sp>
          <p:nvSpPr>
            <p:cNvPr id="145" name="Line 426"/>
            <p:cNvSpPr>
              <a:spLocks noChangeShapeType="1"/>
            </p:cNvSpPr>
            <p:nvPr/>
          </p:nvSpPr>
          <p:spPr bwMode="auto">
            <a:xfrm flipH="1" flipV="1">
              <a:off x="1836008" y="4797128"/>
              <a:ext cx="6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Text Box 427"/>
            <p:cNvSpPr txBox="1">
              <a:spLocks noChangeArrowheads="1"/>
            </p:cNvSpPr>
            <p:nvPr/>
          </p:nvSpPr>
          <p:spPr bwMode="auto">
            <a:xfrm>
              <a:off x="1980024" y="4578934"/>
              <a:ext cx="360000" cy="1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=1</a:t>
              </a:r>
            </a:p>
          </p:txBody>
        </p:sp>
        <p:sp>
          <p:nvSpPr>
            <p:cNvPr id="147" name="Line 420"/>
            <p:cNvSpPr>
              <a:spLocks noChangeShapeType="1"/>
            </p:cNvSpPr>
            <p:nvPr/>
          </p:nvSpPr>
          <p:spPr bwMode="auto">
            <a:xfrm flipV="1">
              <a:off x="2124040" y="472512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420"/>
            <p:cNvSpPr>
              <a:spLocks noChangeShapeType="1"/>
            </p:cNvSpPr>
            <p:nvPr/>
          </p:nvSpPr>
          <p:spPr bwMode="auto">
            <a:xfrm>
              <a:off x="2340064" y="479710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427"/>
            <p:cNvSpPr txBox="1">
              <a:spLocks noChangeArrowheads="1"/>
            </p:cNvSpPr>
            <p:nvPr/>
          </p:nvSpPr>
          <p:spPr bwMode="auto">
            <a:xfrm>
              <a:off x="2052032" y="4941144"/>
              <a:ext cx="360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=1</a:t>
              </a:r>
            </a:p>
          </p:txBody>
        </p:sp>
        <p:sp>
          <p:nvSpPr>
            <p:cNvPr id="150" name="Text Box 418"/>
            <p:cNvSpPr txBox="1">
              <a:spLocks noChangeArrowheads="1"/>
            </p:cNvSpPr>
            <p:nvPr/>
          </p:nvSpPr>
          <p:spPr bwMode="auto">
            <a:xfrm>
              <a:off x="1332076" y="4437144"/>
              <a:ext cx="2159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</a:rPr>
                <a:t>≥1</a:t>
              </a:r>
            </a:p>
          </p:txBody>
        </p:sp>
        <p:sp>
          <p:nvSpPr>
            <p:cNvPr id="151" name="Text Box 421"/>
            <p:cNvSpPr txBox="1">
              <a:spLocks noChangeArrowheads="1"/>
            </p:cNvSpPr>
            <p:nvPr/>
          </p:nvSpPr>
          <p:spPr bwMode="auto">
            <a:xfrm>
              <a:off x="1691545" y="4725120"/>
              <a:ext cx="144463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152" name="Line 430"/>
            <p:cNvSpPr>
              <a:spLocks noChangeShapeType="1"/>
            </p:cNvSpPr>
            <p:nvPr/>
          </p:nvSpPr>
          <p:spPr bwMode="auto">
            <a:xfrm flipH="1" flipV="1">
              <a:off x="1549117" y="450909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3" name="Text Box 434"/>
            <p:cNvSpPr txBox="1">
              <a:spLocks noChangeArrowheads="1"/>
            </p:cNvSpPr>
            <p:nvPr/>
          </p:nvSpPr>
          <p:spPr bwMode="auto">
            <a:xfrm>
              <a:off x="1691992" y="4365080"/>
              <a:ext cx="144463" cy="2159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154" name="Line 435"/>
            <p:cNvSpPr>
              <a:spLocks noChangeShapeType="1"/>
            </p:cNvSpPr>
            <p:nvPr/>
          </p:nvSpPr>
          <p:spPr bwMode="auto">
            <a:xfrm flipH="1" flipV="1">
              <a:off x="1836008" y="4437088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5" name="Line 435"/>
            <p:cNvSpPr>
              <a:spLocks noChangeShapeType="1"/>
            </p:cNvSpPr>
            <p:nvPr/>
          </p:nvSpPr>
          <p:spPr bwMode="auto">
            <a:xfrm flipH="1" flipV="1">
              <a:off x="1836008" y="450909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6" name="Line 435"/>
            <p:cNvSpPr>
              <a:spLocks noChangeShapeType="1"/>
            </p:cNvSpPr>
            <p:nvPr/>
          </p:nvSpPr>
          <p:spPr bwMode="auto">
            <a:xfrm flipH="1" flipV="1">
              <a:off x="1836008" y="4869136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7" name="Line 430"/>
            <p:cNvSpPr>
              <a:spLocks noChangeShapeType="1"/>
            </p:cNvSpPr>
            <p:nvPr/>
          </p:nvSpPr>
          <p:spPr bwMode="auto">
            <a:xfrm flipH="1" flipV="1">
              <a:off x="1547976" y="486913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8" name="Line 420"/>
            <p:cNvSpPr>
              <a:spLocks noChangeShapeType="1"/>
            </p:cNvSpPr>
            <p:nvPr/>
          </p:nvSpPr>
          <p:spPr bwMode="auto">
            <a:xfrm flipV="1">
              <a:off x="2196048" y="508518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Text Box 427"/>
            <p:cNvSpPr txBox="1">
              <a:spLocks noChangeArrowheads="1"/>
            </p:cNvSpPr>
            <p:nvPr/>
          </p:nvSpPr>
          <p:spPr bwMode="auto">
            <a:xfrm>
              <a:off x="3564264" y="4578934"/>
              <a:ext cx="360000" cy="1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=1</a:t>
              </a:r>
            </a:p>
          </p:txBody>
        </p:sp>
        <p:sp>
          <p:nvSpPr>
            <p:cNvPr id="162" name="Line 420"/>
            <p:cNvSpPr>
              <a:spLocks noChangeShapeType="1"/>
            </p:cNvSpPr>
            <p:nvPr/>
          </p:nvSpPr>
          <p:spPr bwMode="auto">
            <a:xfrm flipV="1">
              <a:off x="3708280" y="472512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420"/>
            <p:cNvSpPr>
              <a:spLocks noChangeShapeType="1"/>
            </p:cNvSpPr>
            <p:nvPr/>
          </p:nvSpPr>
          <p:spPr bwMode="auto">
            <a:xfrm>
              <a:off x="3924304" y="479710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Text Box 427"/>
            <p:cNvSpPr txBox="1">
              <a:spLocks noChangeArrowheads="1"/>
            </p:cNvSpPr>
            <p:nvPr/>
          </p:nvSpPr>
          <p:spPr bwMode="auto">
            <a:xfrm>
              <a:off x="3636272" y="4941144"/>
              <a:ext cx="360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=1</a:t>
              </a:r>
            </a:p>
          </p:txBody>
        </p:sp>
        <p:sp>
          <p:nvSpPr>
            <p:cNvPr id="165" name="Text Box 418"/>
            <p:cNvSpPr txBox="1">
              <a:spLocks noChangeArrowheads="1"/>
            </p:cNvSpPr>
            <p:nvPr/>
          </p:nvSpPr>
          <p:spPr bwMode="auto">
            <a:xfrm>
              <a:off x="2916316" y="4437144"/>
              <a:ext cx="2159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</a:rPr>
                <a:t>≥1</a:t>
              </a:r>
            </a:p>
          </p:txBody>
        </p:sp>
        <p:sp>
          <p:nvSpPr>
            <p:cNvPr id="166" name="Text Box 421"/>
            <p:cNvSpPr txBox="1">
              <a:spLocks noChangeArrowheads="1"/>
            </p:cNvSpPr>
            <p:nvPr/>
          </p:nvSpPr>
          <p:spPr bwMode="auto">
            <a:xfrm>
              <a:off x="3275785" y="4725120"/>
              <a:ext cx="144463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167" name="Line 430"/>
            <p:cNvSpPr>
              <a:spLocks noChangeShapeType="1"/>
            </p:cNvSpPr>
            <p:nvPr/>
          </p:nvSpPr>
          <p:spPr bwMode="auto">
            <a:xfrm flipH="1" flipV="1">
              <a:off x="3133357" y="450909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68" name="Text Box 434"/>
            <p:cNvSpPr txBox="1">
              <a:spLocks noChangeArrowheads="1"/>
            </p:cNvSpPr>
            <p:nvPr/>
          </p:nvSpPr>
          <p:spPr bwMode="auto">
            <a:xfrm>
              <a:off x="3276232" y="4365080"/>
              <a:ext cx="144463" cy="2159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169" name="Line 435"/>
            <p:cNvSpPr>
              <a:spLocks noChangeShapeType="1"/>
            </p:cNvSpPr>
            <p:nvPr/>
          </p:nvSpPr>
          <p:spPr bwMode="auto">
            <a:xfrm flipH="1" flipV="1">
              <a:off x="3420248" y="4437088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0" name="Line 435"/>
            <p:cNvSpPr>
              <a:spLocks noChangeShapeType="1"/>
            </p:cNvSpPr>
            <p:nvPr/>
          </p:nvSpPr>
          <p:spPr bwMode="auto">
            <a:xfrm flipH="1" flipV="1">
              <a:off x="3420248" y="450909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1" name="Line 435"/>
            <p:cNvSpPr>
              <a:spLocks noChangeShapeType="1"/>
            </p:cNvSpPr>
            <p:nvPr/>
          </p:nvSpPr>
          <p:spPr bwMode="auto">
            <a:xfrm flipH="1" flipV="1">
              <a:off x="3420248" y="4869136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2" name="Line 430"/>
            <p:cNvSpPr>
              <a:spLocks noChangeShapeType="1"/>
            </p:cNvSpPr>
            <p:nvPr/>
          </p:nvSpPr>
          <p:spPr bwMode="auto">
            <a:xfrm flipH="1" flipV="1">
              <a:off x="3132216" y="486913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3" name="Line 430"/>
            <p:cNvSpPr>
              <a:spLocks noChangeShapeType="1"/>
            </p:cNvSpPr>
            <p:nvPr/>
          </p:nvSpPr>
          <p:spPr bwMode="auto">
            <a:xfrm flipH="1" flipV="1">
              <a:off x="2844192" y="479712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4" name="Line 420"/>
            <p:cNvSpPr>
              <a:spLocks noChangeShapeType="1"/>
            </p:cNvSpPr>
            <p:nvPr/>
          </p:nvSpPr>
          <p:spPr bwMode="auto">
            <a:xfrm flipV="1">
              <a:off x="3780288" y="5085184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420"/>
            <p:cNvSpPr>
              <a:spLocks noChangeShapeType="1"/>
            </p:cNvSpPr>
            <p:nvPr/>
          </p:nvSpPr>
          <p:spPr bwMode="auto">
            <a:xfrm flipV="1">
              <a:off x="3780200" y="5085160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流程图: 手动操作 158"/>
            <p:cNvSpPr/>
            <p:nvPr/>
          </p:nvSpPr>
          <p:spPr bwMode="auto">
            <a:xfrm>
              <a:off x="1691792" y="5445200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0" name="Line 420"/>
            <p:cNvSpPr>
              <a:spLocks noChangeShapeType="1"/>
            </p:cNvSpPr>
            <p:nvPr/>
          </p:nvSpPr>
          <p:spPr bwMode="auto">
            <a:xfrm flipV="1">
              <a:off x="1763728" y="5373184"/>
              <a:ext cx="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430"/>
            <p:cNvSpPr>
              <a:spLocks noChangeShapeType="1"/>
            </p:cNvSpPr>
            <p:nvPr/>
          </p:nvSpPr>
          <p:spPr bwMode="auto">
            <a:xfrm flipH="1" flipV="1">
              <a:off x="2195840" y="551720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6" name="流程图: 手动操作 175"/>
            <p:cNvSpPr/>
            <p:nvPr/>
          </p:nvSpPr>
          <p:spPr bwMode="auto">
            <a:xfrm>
              <a:off x="3275944" y="5445176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7" name="Line 420"/>
            <p:cNvSpPr>
              <a:spLocks noChangeShapeType="1"/>
            </p:cNvSpPr>
            <p:nvPr/>
          </p:nvSpPr>
          <p:spPr bwMode="auto">
            <a:xfrm flipV="1">
              <a:off x="3347880" y="5373160"/>
              <a:ext cx="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430"/>
            <p:cNvSpPr>
              <a:spLocks noChangeShapeType="1"/>
            </p:cNvSpPr>
            <p:nvPr/>
          </p:nvSpPr>
          <p:spPr bwMode="auto">
            <a:xfrm flipH="1" flipV="1">
              <a:off x="3779992" y="5517184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4500751" y="3933056"/>
            <a:ext cx="3672368" cy="2232248"/>
            <a:chOff x="4644008" y="2924968"/>
            <a:chExt cx="3672368" cy="2232248"/>
          </a:xfrm>
        </p:grpSpPr>
        <p:sp>
          <p:nvSpPr>
            <p:cNvPr id="179" name="Rectangle 403"/>
            <p:cNvSpPr>
              <a:spLocks noChangeArrowheads="1"/>
            </p:cNvSpPr>
            <p:nvPr/>
          </p:nvSpPr>
          <p:spPr bwMode="auto">
            <a:xfrm>
              <a:off x="5148328" y="3284984"/>
              <a:ext cx="2664000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Line 191"/>
            <p:cNvSpPr>
              <a:spLocks noChangeShapeType="1"/>
            </p:cNvSpPr>
            <p:nvPr/>
          </p:nvSpPr>
          <p:spPr bwMode="auto">
            <a:xfrm flipH="1">
              <a:off x="5004072" y="3573040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91"/>
            <p:cNvSpPr>
              <a:spLocks noChangeShapeType="1"/>
            </p:cNvSpPr>
            <p:nvPr/>
          </p:nvSpPr>
          <p:spPr bwMode="auto">
            <a:xfrm flipH="1">
              <a:off x="5004072" y="4509096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99"/>
            <p:cNvSpPr>
              <a:spLocks noChangeShapeType="1"/>
            </p:cNvSpPr>
            <p:nvPr/>
          </p:nvSpPr>
          <p:spPr bwMode="auto">
            <a:xfrm>
              <a:off x="6300192" y="4725192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99"/>
            <p:cNvSpPr>
              <a:spLocks noChangeShapeType="1"/>
            </p:cNvSpPr>
            <p:nvPr/>
          </p:nvSpPr>
          <p:spPr bwMode="auto">
            <a:xfrm>
              <a:off x="6300192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99"/>
            <p:cNvSpPr>
              <a:spLocks noChangeShapeType="1"/>
            </p:cNvSpPr>
            <p:nvPr/>
          </p:nvSpPr>
          <p:spPr bwMode="auto">
            <a:xfrm>
              <a:off x="5940152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91"/>
            <p:cNvSpPr>
              <a:spLocks noChangeShapeType="1"/>
            </p:cNvSpPr>
            <p:nvPr/>
          </p:nvSpPr>
          <p:spPr bwMode="auto">
            <a:xfrm flipH="1">
              <a:off x="5004072" y="4005088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191"/>
            <p:cNvSpPr>
              <a:spLocks noChangeShapeType="1"/>
            </p:cNvSpPr>
            <p:nvPr/>
          </p:nvSpPr>
          <p:spPr bwMode="auto">
            <a:xfrm flipH="1">
              <a:off x="5004072" y="4221112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Text Box 408"/>
            <p:cNvSpPr txBox="1">
              <a:spLocks noChangeArrowheads="1"/>
            </p:cNvSpPr>
            <p:nvPr/>
          </p:nvSpPr>
          <p:spPr bwMode="auto">
            <a:xfrm>
              <a:off x="4716048" y="3429024"/>
              <a:ext cx="288000" cy="86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ZF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OF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SF</a:t>
              </a:r>
            </a:p>
          </p:txBody>
        </p:sp>
        <p:sp>
          <p:nvSpPr>
            <p:cNvPr id="262" name="Text Box 408"/>
            <p:cNvSpPr txBox="1">
              <a:spLocks noChangeArrowheads="1"/>
            </p:cNvSpPr>
            <p:nvPr/>
          </p:nvSpPr>
          <p:spPr bwMode="auto">
            <a:xfrm>
              <a:off x="4644008" y="436508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63" name="Text Box 408"/>
            <p:cNvSpPr txBox="1">
              <a:spLocks noChangeArrowheads="1"/>
            </p:cNvSpPr>
            <p:nvPr/>
          </p:nvSpPr>
          <p:spPr bwMode="auto">
            <a:xfrm>
              <a:off x="5868232" y="2924968"/>
              <a:ext cx="575944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A </a:t>
              </a:r>
              <a:r>
                <a:rPr lang="en-US" altLang="zh-CN" sz="14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65" name="Text Box 408"/>
            <p:cNvSpPr txBox="1">
              <a:spLocks noChangeArrowheads="1"/>
            </p:cNvSpPr>
            <p:nvPr/>
          </p:nvSpPr>
          <p:spPr bwMode="auto">
            <a:xfrm>
              <a:off x="6156208" y="4941216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266" name="Text Box 408"/>
            <p:cNvSpPr txBox="1">
              <a:spLocks noChangeArrowheads="1"/>
            </p:cNvSpPr>
            <p:nvPr/>
          </p:nvSpPr>
          <p:spPr bwMode="auto">
            <a:xfrm>
              <a:off x="7956336" y="3861024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7" name="Line 430"/>
            <p:cNvSpPr>
              <a:spLocks noChangeShapeType="1"/>
            </p:cNvSpPr>
            <p:nvPr/>
          </p:nvSpPr>
          <p:spPr bwMode="auto">
            <a:xfrm flipH="1" flipV="1">
              <a:off x="7812320" y="400504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70" name="Text Box 408"/>
            <p:cNvSpPr txBox="1">
              <a:spLocks noChangeArrowheads="1"/>
            </p:cNvSpPr>
            <p:nvPr/>
          </p:nvSpPr>
          <p:spPr bwMode="auto">
            <a:xfrm>
              <a:off x="7956376" y="3429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1" name="Line 430"/>
            <p:cNvSpPr>
              <a:spLocks noChangeShapeType="1"/>
            </p:cNvSpPr>
            <p:nvPr/>
          </p:nvSpPr>
          <p:spPr bwMode="auto">
            <a:xfrm flipH="1" flipV="1">
              <a:off x="7812360" y="3573016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72" name="Text Box 408"/>
            <p:cNvSpPr txBox="1">
              <a:spLocks noChangeArrowheads="1"/>
            </p:cNvSpPr>
            <p:nvPr/>
          </p:nvSpPr>
          <p:spPr bwMode="auto">
            <a:xfrm>
              <a:off x="7956376" y="450916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3" name="Line 430"/>
            <p:cNvSpPr>
              <a:spLocks noChangeShapeType="1"/>
            </p:cNvSpPr>
            <p:nvPr/>
          </p:nvSpPr>
          <p:spPr bwMode="auto">
            <a:xfrm flipH="1" flipV="1">
              <a:off x="7812360" y="465316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6012919" y="4293056"/>
            <a:ext cx="1481082" cy="360000"/>
            <a:chOff x="6187230" y="3285008"/>
            <a:chExt cx="1481082" cy="360000"/>
          </a:xfrm>
        </p:grpSpPr>
        <p:sp>
          <p:nvSpPr>
            <p:cNvPr id="279" name="Line 199"/>
            <p:cNvSpPr>
              <a:spLocks noChangeShapeType="1"/>
            </p:cNvSpPr>
            <p:nvPr/>
          </p:nvSpPr>
          <p:spPr bwMode="auto">
            <a:xfrm>
              <a:off x="6331246" y="328501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流程图: 手动操作 279"/>
            <p:cNvSpPr/>
            <p:nvPr/>
          </p:nvSpPr>
          <p:spPr bwMode="auto">
            <a:xfrm>
              <a:off x="6187230" y="3501008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1" name="Line 199"/>
            <p:cNvSpPr>
              <a:spLocks noChangeShapeType="1"/>
            </p:cNvSpPr>
            <p:nvPr/>
          </p:nvSpPr>
          <p:spPr bwMode="auto">
            <a:xfrm>
              <a:off x="6588224" y="3357008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Text Box 408"/>
            <p:cNvSpPr txBox="1">
              <a:spLocks noChangeArrowheads="1"/>
            </p:cNvSpPr>
            <p:nvPr/>
          </p:nvSpPr>
          <p:spPr bwMode="auto">
            <a:xfrm>
              <a:off x="6876256" y="3285008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3" name="Line 199"/>
            <p:cNvSpPr>
              <a:spLocks noChangeShapeType="1"/>
            </p:cNvSpPr>
            <p:nvPr/>
          </p:nvSpPr>
          <p:spPr bwMode="auto">
            <a:xfrm flipH="1" flipV="1">
              <a:off x="6588224" y="3356968"/>
              <a:ext cx="288032" cy="2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430"/>
            <p:cNvSpPr>
              <a:spLocks noChangeShapeType="1"/>
            </p:cNvSpPr>
            <p:nvPr/>
          </p:nvSpPr>
          <p:spPr bwMode="auto">
            <a:xfrm flipH="1" flipV="1">
              <a:off x="6696312" y="3573016"/>
              <a:ext cx="9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6124365" y="4653056"/>
            <a:ext cx="1040682" cy="719960"/>
            <a:chOff x="6555654" y="4509176"/>
            <a:chExt cx="1040682" cy="719960"/>
          </a:xfrm>
        </p:grpSpPr>
        <p:sp>
          <p:nvSpPr>
            <p:cNvPr id="286" name="流程图: 手动操作 285"/>
            <p:cNvSpPr/>
            <p:nvPr/>
          </p:nvSpPr>
          <p:spPr bwMode="auto">
            <a:xfrm>
              <a:off x="6555654" y="4797144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7" name="Line 199"/>
            <p:cNvSpPr>
              <a:spLocks noChangeShapeType="1"/>
            </p:cNvSpPr>
            <p:nvPr/>
          </p:nvSpPr>
          <p:spPr bwMode="auto">
            <a:xfrm>
              <a:off x="6732240" y="4509176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椭圆 287"/>
            <p:cNvSpPr/>
            <p:nvPr/>
          </p:nvSpPr>
          <p:spPr bwMode="auto">
            <a:xfrm>
              <a:off x="6948264" y="472515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Line 199"/>
            <p:cNvSpPr>
              <a:spLocks noChangeShapeType="1"/>
            </p:cNvSpPr>
            <p:nvPr/>
          </p:nvSpPr>
          <p:spPr bwMode="auto">
            <a:xfrm>
              <a:off x="6984339" y="458114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420"/>
            <p:cNvSpPr>
              <a:spLocks noChangeShapeType="1"/>
            </p:cNvSpPr>
            <p:nvPr/>
          </p:nvSpPr>
          <p:spPr bwMode="auto">
            <a:xfrm flipV="1">
              <a:off x="6732239" y="4581128"/>
              <a:ext cx="25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430"/>
            <p:cNvSpPr>
              <a:spLocks noChangeShapeType="1"/>
            </p:cNvSpPr>
            <p:nvPr/>
          </p:nvSpPr>
          <p:spPr bwMode="auto">
            <a:xfrm flipH="1" flipV="1">
              <a:off x="7056336" y="4869136"/>
              <a:ext cx="54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92" name="Line 191"/>
            <p:cNvSpPr>
              <a:spLocks noChangeShapeType="1"/>
            </p:cNvSpPr>
            <p:nvPr/>
          </p:nvSpPr>
          <p:spPr bwMode="auto">
            <a:xfrm flipH="1">
              <a:off x="7236296" y="4869136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9" name="组合 298"/>
          <p:cNvGrpSpPr/>
          <p:nvPr/>
        </p:nvGrpSpPr>
        <p:grpSpPr>
          <a:xfrm>
            <a:off x="5148815" y="4301830"/>
            <a:ext cx="2520296" cy="1468970"/>
            <a:chOff x="5580104" y="4221264"/>
            <a:chExt cx="2520296" cy="1468970"/>
          </a:xfrm>
        </p:grpSpPr>
        <p:sp>
          <p:nvSpPr>
            <p:cNvPr id="300" name="Text Box 184"/>
            <p:cNvSpPr txBox="1">
              <a:spLocks noChangeArrowheads="1"/>
            </p:cNvSpPr>
            <p:nvPr/>
          </p:nvSpPr>
          <p:spPr bwMode="auto">
            <a:xfrm>
              <a:off x="6012160" y="5229128"/>
              <a:ext cx="1008000" cy="43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>
                  <a:solidFill>
                    <a:schemeClr val="tx1"/>
                  </a:solidFill>
                </a:rPr>
                <a:t>位加法器</a:t>
              </a:r>
            </a:p>
          </p:txBody>
        </p:sp>
        <p:sp>
          <p:nvSpPr>
            <p:cNvPr id="301" name="Text Box 193"/>
            <p:cNvSpPr txBox="1">
              <a:spLocks noChangeArrowheads="1"/>
            </p:cNvSpPr>
            <p:nvPr/>
          </p:nvSpPr>
          <p:spPr bwMode="auto">
            <a:xfrm>
              <a:off x="5580104" y="4293152"/>
              <a:ext cx="288000" cy="936000"/>
            </a:xfrm>
            <a:prstGeom prst="rect">
              <a:avLst/>
            </a:prstGeom>
            <a:solidFill>
              <a:srgbClr val="CC99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标志形成</a:t>
              </a:r>
            </a:p>
          </p:txBody>
        </p:sp>
        <p:sp>
          <p:nvSpPr>
            <p:cNvPr id="302" name="Line 191"/>
            <p:cNvSpPr>
              <a:spLocks noChangeShapeType="1"/>
            </p:cNvSpPr>
            <p:nvPr/>
          </p:nvSpPr>
          <p:spPr bwMode="auto">
            <a:xfrm flipH="1">
              <a:off x="7020272" y="5301136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199"/>
            <p:cNvSpPr>
              <a:spLocks noChangeShapeType="1"/>
            </p:cNvSpPr>
            <p:nvPr/>
          </p:nvSpPr>
          <p:spPr bwMode="auto">
            <a:xfrm>
              <a:off x="6876256" y="501316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199"/>
            <p:cNvSpPr>
              <a:spLocks noChangeShapeType="1"/>
            </p:cNvSpPr>
            <p:nvPr/>
          </p:nvSpPr>
          <p:spPr bwMode="auto">
            <a:xfrm>
              <a:off x="6228184" y="4221264"/>
              <a:ext cx="0" cy="10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201"/>
            <p:cNvSpPr>
              <a:spLocks noChangeShapeType="1"/>
            </p:cNvSpPr>
            <p:nvPr/>
          </p:nvSpPr>
          <p:spPr bwMode="auto">
            <a:xfrm flipH="1">
              <a:off x="7952215" y="5582234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Text Box 434"/>
            <p:cNvSpPr txBox="1">
              <a:spLocks noChangeArrowheads="1"/>
            </p:cNvSpPr>
            <p:nvPr/>
          </p:nvSpPr>
          <p:spPr bwMode="auto">
            <a:xfrm>
              <a:off x="7307289" y="4358234"/>
              <a:ext cx="756000" cy="133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620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solidFill>
                    <a:schemeClr val="tx1"/>
                  </a:solidFill>
                </a:rPr>
                <a:t>    控制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400" dirty="0">
                  <a:solidFill>
                    <a:schemeClr val="tx1"/>
                  </a:solidFill>
                </a:rPr>
                <a:t>    逻辑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307" name="Line 201"/>
            <p:cNvSpPr>
              <a:spLocks noChangeShapeType="1"/>
            </p:cNvSpPr>
            <p:nvPr/>
          </p:nvSpPr>
          <p:spPr bwMode="auto">
            <a:xfrm flipH="1">
              <a:off x="7884368" y="4502234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201"/>
            <p:cNvSpPr>
              <a:spLocks noChangeShapeType="1"/>
            </p:cNvSpPr>
            <p:nvPr/>
          </p:nvSpPr>
          <p:spPr bwMode="auto">
            <a:xfrm flipH="1">
              <a:off x="7596400" y="4934234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201"/>
            <p:cNvSpPr>
              <a:spLocks noChangeShapeType="1"/>
            </p:cNvSpPr>
            <p:nvPr/>
          </p:nvSpPr>
          <p:spPr bwMode="auto">
            <a:xfrm flipH="1">
              <a:off x="7020272" y="5582234"/>
              <a:ext cx="25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201"/>
            <p:cNvSpPr>
              <a:spLocks noChangeShapeType="1"/>
            </p:cNvSpPr>
            <p:nvPr/>
          </p:nvSpPr>
          <p:spPr bwMode="auto">
            <a:xfrm flipH="1">
              <a:off x="7020272" y="5438234"/>
              <a:ext cx="25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AutoShape 62">
            <a:hlinkClick r:id="rId5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63209409"/>
              </p:ext>
            </p:extLst>
          </p:nvPr>
        </p:nvGraphicFramePr>
        <p:xfrm>
          <a:off x="3131840" y="1196752"/>
          <a:ext cx="2427962" cy="56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74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0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r>
                        <a:rPr lang="en-US" altLang="zh-CN" sz="18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en-US" altLang="zh-CN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r>
                        <a:rPr lang="en-US" altLang="zh-CN" sz="1800" b="1" kern="12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sym typeface="Symbol" panose="05050102010706020507"/>
                        </a:rPr>
                        <a:t>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" name="AutoShape 29"/>
          <p:cNvSpPr/>
          <p:nvPr/>
        </p:nvSpPr>
        <p:spPr bwMode="auto">
          <a:xfrm>
            <a:off x="3816000" y="6164863"/>
            <a:ext cx="2340000" cy="252000"/>
          </a:xfrm>
          <a:prstGeom prst="borderCallout2">
            <a:avLst>
              <a:gd name="adj1" fmla="val 52017"/>
              <a:gd name="adj2" fmla="val 100026"/>
              <a:gd name="adj3" fmla="val 52631"/>
              <a:gd name="adj4" fmla="val 108903"/>
              <a:gd name="adj5" fmla="val -443968"/>
              <a:gd name="adj6" fmla="val 133411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7780" rIns="18000" bIns="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990099"/>
                </a:solidFill>
              </a:rPr>
              <a:t>思考：</a:t>
            </a:r>
            <a:r>
              <a:rPr lang="zh-CN" sz="1600" b="1" dirty="0">
                <a:solidFill>
                  <a:schemeClr val="tx1"/>
                </a:solidFill>
              </a:rPr>
              <a:t>如何避免</a:t>
            </a:r>
            <a:r>
              <a:rPr lang="en-US" altLang="zh-CN" sz="1600" b="1" dirty="0">
                <a:solidFill>
                  <a:schemeClr val="tx1"/>
                </a:solidFill>
              </a:rPr>
              <a:t>A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1600" b="1" dirty="0">
                <a:solidFill>
                  <a:schemeClr val="tx1"/>
                </a:solidFill>
              </a:rPr>
              <a:t>B</a:t>
            </a:r>
            <a:r>
              <a:rPr lang="zh-CN" altLang="en-US" sz="1600" b="1" dirty="0">
                <a:solidFill>
                  <a:schemeClr val="tx1"/>
                </a:solidFill>
              </a:rPr>
              <a:t>等？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7AD9B0F-5ECE-4548-AC13-44BF5AD2E440}"/>
              </a:ext>
            </a:extLst>
          </p:cNvPr>
          <p:cNvGrpSpPr/>
          <p:nvPr/>
        </p:nvGrpSpPr>
        <p:grpSpPr>
          <a:xfrm>
            <a:off x="6805087" y="5012960"/>
            <a:ext cx="720000" cy="720096"/>
            <a:chOff x="6805087" y="5012960"/>
            <a:chExt cx="720000" cy="720096"/>
          </a:xfrm>
        </p:grpSpPr>
        <p:sp>
          <p:nvSpPr>
            <p:cNvPr id="275" name="Line 201"/>
            <p:cNvSpPr>
              <a:spLocks noChangeShapeType="1"/>
            </p:cNvSpPr>
            <p:nvPr/>
          </p:nvSpPr>
          <p:spPr bwMode="auto">
            <a:xfrm flipH="1">
              <a:off x="6805087" y="5661048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Text Box 434"/>
            <p:cNvSpPr txBox="1">
              <a:spLocks noChangeArrowheads="1"/>
            </p:cNvSpPr>
            <p:nvPr/>
          </p:nvSpPr>
          <p:spPr bwMode="auto">
            <a:xfrm>
              <a:off x="7381087" y="5589056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77" name="椭圆 276"/>
            <p:cNvSpPr/>
            <p:nvPr/>
          </p:nvSpPr>
          <p:spPr bwMode="auto">
            <a:xfrm>
              <a:off x="7309063" y="5619486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Line 201">
              <a:extLst>
                <a:ext uri="{FF2B5EF4-FFF2-40B4-BE49-F238E27FC236}">
                  <a16:creationId xmlns:a16="http://schemas.microsoft.com/office/drawing/2014/main" id="{A0CBB9C9-50A8-4087-90AD-0756D8817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5103" y="5517120"/>
              <a:ext cx="64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191">
              <a:extLst>
                <a:ext uri="{FF2B5EF4-FFF2-40B4-BE49-F238E27FC236}">
                  <a16:creationId xmlns:a16="http://schemas.microsoft.com/office/drawing/2014/main" id="{4768BB3C-BD08-4C98-8207-3D0866478A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53079" y="5012960"/>
              <a:ext cx="0" cy="50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61425B9-F35B-4B83-B364-1AD62E296AEA}"/>
              </a:ext>
            </a:extLst>
          </p:cNvPr>
          <p:cNvGrpSpPr/>
          <p:nvPr/>
        </p:nvGrpSpPr>
        <p:grpSpPr>
          <a:xfrm>
            <a:off x="6948000" y="4509120"/>
            <a:ext cx="216008" cy="1153680"/>
            <a:chOff x="7020272" y="4509120"/>
            <a:chExt cx="216008" cy="1153680"/>
          </a:xfrm>
        </p:grpSpPr>
        <p:sp>
          <p:nvSpPr>
            <p:cNvPr id="294" name="Text Box 434"/>
            <p:cNvSpPr txBox="1">
              <a:spLocks noChangeArrowheads="1"/>
            </p:cNvSpPr>
            <p:nvPr/>
          </p:nvSpPr>
          <p:spPr bwMode="auto">
            <a:xfrm>
              <a:off x="7020272" y="4941032"/>
              <a:ext cx="14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295" name="Line 191"/>
            <p:cNvSpPr>
              <a:spLocks noChangeShapeType="1"/>
            </p:cNvSpPr>
            <p:nvPr/>
          </p:nvSpPr>
          <p:spPr bwMode="auto">
            <a:xfrm flipH="1">
              <a:off x="7236280" y="4654800"/>
              <a:ext cx="0" cy="10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01"/>
            <p:cNvSpPr>
              <a:spLocks noChangeShapeType="1"/>
            </p:cNvSpPr>
            <p:nvPr/>
          </p:nvSpPr>
          <p:spPr bwMode="auto">
            <a:xfrm flipH="1">
              <a:off x="7164280" y="5085048"/>
              <a:ext cx="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Text Box 434">
              <a:extLst>
                <a:ext uri="{FF2B5EF4-FFF2-40B4-BE49-F238E27FC236}">
                  <a16:creationId xmlns:a16="http://schemas.microsoft.com/office/drawing/2014/main" id="{813BE331-B602-4B3C-80C2-4326A47CC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0272" y="4509120"/>
              <a:ext cx="14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</a:p>
          </p:txBody>
        </p:sp>
        <p:sp>
          <p:nvSpPr>
            <p:cNvPr id="227" name="Line 201">
              <a:extLst>
                <a:ext uri="{FF2B5EF4-FFF2-40B4-BE49-F238E27FC236}">
                  <a16:creationId xmlns:a16="http://schemas.microsoft.com/office/drawing/2014/main" id="{018B25BB-EB3C-4104-A6F7-EBA778716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64280" y="4653136"/>
              <a:ext cx="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122" grpId="0" bldLvl="0" animBg="1"/>
      <p:bldP spid="122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>
            <a:extLst>
              <a:ext uri="{FF2B5EF4-FFF2-40B4-BE49-F238E27FC236}">
                <a16:creationId xmlns:a16="http://schemas.microsoft.com/office/drawing/2014/main" id="{BA2BC203-1163-4FB9-B7E9-2ABACB8411A2}"/>
              </a:ext>
            </a:extLst>
          </p:cNvPr>
          <p:cNvGrpSpPr/>
          <p:nvPr/>
        </p:nvGrpSpPr>
        <p:grpSpPr>
          <a:xfrm>
            <a:off x="468496" y="1988840"/>
            <a:ext cx="8568000" cy="1116000"/>
            <a:chOff x="468496" y="1988840"/>
            <a:chExt cx="8568000" cy="1116000"/>
          </a:xfrm>
        </p:grpSpPr>
        <p:sp>
          <p:nvSpPr>
            <p:cNvPr id="87" name="Text Box 286">
              <a:extLst>
                <a:ext uri="{FF2B5EF4-FFF2-40B4-BE49-F238E27FC236}">
                  <a16:creationId xmlns:a16="http://schemas.microsoft.com/office/drawing/2014/main" id="{B2BBE870-6F44-4A68-91D5-FC4834409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6496" y="2024840"/>
              <a:ext cx="1800000" cy="1044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1000"/>
                </a:lnSpc>
              </a:pPr>
              <a:r>
                <a:rPr lang="en-US" altLang="zh-CN" sz="1600" dirty="0" err="1">
                  <a:solidFill>
                    <a:srgbClr val="FF3399"/>
                  </a:solidFill>
                  <a:latin typeface="+mn-ea"/>
                  <a:ea typeface="+mn-ea"/>
                </a:rPr>
                <a:t>opA</a:t>
              </a:r>
              <a:r>
                <a:rPr lang="en-US" altLang="zh-CN" sz="1600" dirty="0">
                  <a:solidFill>
                    <a:srgbClr val="FF3399"/>
                  </a:solidFill>
                  <a:latin typeface="+mn-ea"/>
                  <a:ea typeface="+mn-ea"/>
                </a:rPr>
                <a:t>—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00/01/10/11</a:t>
              </a:r>
            </a:p>
            <a:p>
              <a:pPr>
                <a:lnSpc>
                  <a:spcPct val="101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为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+/-/&amp;/⊕</a:t>
              </a:r>
            </a:p>
            <a:p>
              <a:pPr>
                <a:lnSpc>
                  <a:spcPct val="101000"/>
                </a:lnSpc>
              </a:pPr>
              <a:r>
                <a:rPr lang="en-US" altLang="zh-CN" sz="1600" dirty="0" err="1">
                  <a:solidFill>
                    <a:srgbClr val="FF3399"/>
                  </a:solidFill>
                  <a:latin typeface="+mn-ea"/>
                  <a:ea typeface="+mn-ea"/>
                </a:rPr>
                <a:t>opS</a:t>
              </a:r>
              <a:r>
                <a:rPr lang="en-US" altLang="zh-CN" sz="1600" dirty="0">
                  <a:solidFill>
                    <a:srgbClr val="FF3399"/>
                  </a:solidFill>
                  <a:latin typeface="+mn-ea"/>
                  <a:ea typeface="+mn-ea"/>
                </a:rPr>
                <a:t>—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00/10/11</a:t>
              </a:r>
            </a:p>
            <a:p>
              <a:pPr>
                <a:lnSpc>
                  <a:spcPct val="10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     </a:t>
              </a: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为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&lt;&lt;/&gt;&gt;</a:t>
              </a:r>
              <a:r>
                <a:rPr lang="en-US" altLang="zh-CN" sz="16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L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/&gt;&gt;</a:t>
              </a:r>
              <a:r>
                <a:rPr lang="en-US" altLang="zh-CN" sz="1600" baseline="-18000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EF2432C5-4EA1-411C-8260-9A6C7648221A}"/>
                </a:ext>
              </a:extLst>
            </p:cNvPr>
            <p:cNvCxnSpPr/>
            <p:nvPr/>
          </p:nvCxnSpPr>
          <p:spPr bwMode="auto">
            <a:xfrm>
              <a:off x="468496" y="1988840"/>
              <a:ext cx="666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98FC01D6-B3BA-4316-8B84-599F75F15628}"/>
                </a:ext>
              </a:extLst>
            </p:cNvPr>
            <p:cNvGrpSpPr/>
            <p:nvPr/>
          </p:nvGrpSpPr>
          <p:grpSpPr>
            <a:xfrm>
              <a:off x="468496" y="2456840"/>
              <a:ext cx="612000" cy="288000"/>
              <a:chOff x="180000" y="2772000"/>
              <a:chExt cx="612000" cy="288000"/>
            </a:xfrm>
          </p:grpSpPr>
          <p:sp>
            <p:nvSpPr>
              <p:cNvPr id="204" name="Text Box 255">
                <a:extLst>
                  <a:ext uri="{FF2B5EF4-FFF2-40B4-BE49-F238E27FC236}">
                    <a16:creationId xmlns:a16="http://schemas.microsoft.com/office/drawing/2014/main" id="{24F00F33-8B01-4BCE-9ED5-72C6C32B8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0000" y="2772000"/>
                <a:ext cx="432000" cy="288000"/>
              </a:xfrm>
              <a:prstGeom prst="rect">
                <a:avLst/>
              </a:prstGeom>
              <a:solidFill>
                <a:srgbClr val="FFCC99">
                  <a:alpha val="90000"/>
                </a:srgbClr>
              </a:solidFill>
              <a:ln w="1587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PSR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C4DA0464-360B-46C1-800A-B3141D4808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12000" y="2808000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06" name="Text Box 286">
                <a:extLst>
                  <a:ext uri="{FF2B5EF4-FFF2-40B4-BE49-F238E27FC236}">
                    <a16:creationId xmlns:a16="http://schemas.microsoft.com/office/drawing/2014/main" id="{A7494D90-24AB-422C-823A-7DD14B071B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8000" y="2808000"/>
                <a:ext cx="14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…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7" name="直接箭头连接符 206">
                <a:extLst>
                  <a:ext uri="{FF2B5EF4-FFF2-40B4-BE49-F238E27FC236}">
                    <a16:creationId xmlns:a16="http://schemas.microsoft.com/office/drawing/2014/main" id="{4798BAA6-C315-47F3-96C4-A71977B4429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12000" y="3024000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sp>
          <p:nvSpPr>
            <p:cNvPr id="90" name="Text Box 255">
              <a:extLst>
                <a:ext uri="{FF2B5EF4-FFF2-40B4-BE49-F238E27FC236}">
                  <a16:creationId xmlns:a16="http://schemas.microsoft.com/office/drawing/2014/main" id="{5BD71C4F-DB3C-4C06-81CE-79C2CFBD7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496" y="2456912"/>
              <a:ext cx="792000" cy="28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移位器</a:t>
              </a: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A3EBF05C-BAED-4373-8245-5BA207121863}"/>
                </a:ext>
              </a:extLst>
            </p:cNvPr>
            <p:cNvCxnSpPr/>
            <p:nvPr/>
          </p:nvCxnSpPr>
          <p:spPr bwMode="auto">
            <a:xfrm flipH="1">
              <a:off x="3816496" y="198884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9081DF19-30E5-4F65-8376-0B564E0C444D}"/>
                </a:ext>
              </a:extLst>
            </p:cNvPr>
            <p:cNvCxnSpPr/>
            <p:nvPr/>
          </p:nvCxnSpPr>
          <p:spPr bwMode="auto">
            <a:xfrm>
              <a:off x="4248448" y="198884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76661D82-9431-4FD5-AE97-02C8D5352358}"/>
                </a:ext>
              </a:extLst>
            </p:cNvPr>
            <p:cNvCxnSpPr/>
            <p:nvPr/>
          </p:nvCxnSpPr>
          <p:spPr bwMode="auto">
            <a:xfrm flipV="1">
              <a:off x="3924496" y="2744944"/>
              <a:ext cx="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4" name="Text Box 286">
              <a:extLst>
                <a:ext uri="{FF2B5EF4-FFF2-40B4-BE49-F238E27FC236}">
                  <a16:creationId xmlns:a16="http://schemas.microsoft.com/office/drawing/2014/main" id="{52A496C3-1AA0-42F1-910C-F3EF25243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496" y="292484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opS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AE470601-C0D0-41FE-A861-8F3AAF88C73D}"/>
                </a:ext>
              </a:extLst>
            </p:cNvPr>
            <p:cNvCxnSpPr/>
            <p:nvPr/>
          </p:nvCxnSpPr>
          <p:spPr bwMode="auto">
            <a:xfrm flipV="1">
              <a:off x="4932504" y="1988840"/>
              <a:ext cx="0" cy="86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6B5BC7F5-2A8E-4DFF-ADF6-5A2B25EAD547}"/>
                </a:ext>
              </a:extLst>
            </p:cNvPr>
            <p:cNvCxnSpPr/>
            <p:nvPr/>
          </p:nvCxnSpPr>
          <p:spPr bwMode="auto">
            <a:xfrm>
              <a:off x="4068496" y="2852840"/>
              <a:ext cx="86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D1ACA6E6-A8F7-4B54-8933-5AA8736E7C5B}"/>
                </a:ext>
              </a:extLst>
            </p:cNvPr>
            <p:cNvCxnSpPr/>
            <p:nvPr/>
          </p:nvCxnSpPr>
          <p:spPr bwMode="auto">
            <a:xfrm flipH="1">
              <a:off x="4068496" y="274484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74" name="AutoShape 266">
              <a:extLst>
                <a:ext uri="{FF2B5EF4-FFF2-40B4-BE49-F238E27FC236}">
                  <a16:creationId xmlns:a16="http://schemas.microsoft.com/office/drawing/2014/main" id="{98E67485-F303-432B-967C-A6C9D3A95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496" y="2456912"/>
              <a:ext cx="1080000" cy="252000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lIns="36000" tIns="18000" rIns="36000" bIns="180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ALU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75" name="直接箭头连接符 12">
              <a:extLst>
                <a:ext uri="{FF2B5EF4-FFF2-40B4-BE49-F238E27FC236}">
                  <a16:creationId xmlns:a16="http://schemas.microsoft.com/office/drawing/2014/main" id="{F0ACFCDA-B42F-47EF-BCBD-BDBB9140D4CF}"/>
                </a:ext>
              </a:extLst>
            </p:cNvPr>
            <p:cNvCxnSpPr/>
            <p:nvPr/>
          </p:nvCxnSpPr>
          <p:spPr bwMode="auto">
            <a:xfrm>
              <a:off x="2160570" y="2816840"/>
              <a:ext cx="93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9B539910-2D49-44D7-B327-07ABAD4F3A26}"/>
                </a:ext>
              </a:extLst>
            </p:cNvPr>
            <p:cNvCxnSpPr/>
            <p:nvPr/>
          </p:nvCxnSpPr>
          <p:spPr bwMode="auto">
            <a:xfrm>
              <a:off x="1800496" y="198884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9208E9F6-0E78-4FDF-B4E7-76812F84C1B2}"/>
                </a:ext>
              </a:extLst>
            </p:cNvPr>
            <p:cNvCxnSpPr/>
            <p:nvPr/>
          </p:nvCxnSpPr>
          <p:spPr bwMode="auto">
            <a:xfrm>
              <a:off x="2591920" y="198884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6139BC89-8B6F-4D33-8B62-5736A32D3E55}"/>
                </a:ext>
              </a:extLst>
            </p:cNvPr>
            <p:cNvCxnSpPr/>
            <p:nvPr/>
          </p:nvCxnSpPr>
          <p:spPr bwMode="auto">
            <a:xfrm flipV="1">
              <a:off x="1620496" y="263684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185A3795-A117-432B-BB1B-9968F6F7B950}"/>
                </a:ext>
              </a:extLst>
            </p:cNvPr>
            <p:cNvCxnSpPr/>
            <p:nvPr/>
          </p:nvCxnSpPr>
          <p:spPr bwMode="auto">
            <a:xfrm flipV="1">
              <a:off x="1620496" y="2636840"/>
              <a:ext cx="0" cy="32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0" name="Text Box 286">
              <a:extLst>
                <a:ext uri="{FF2B5EF4-FFF2-40B4-BE49-F238E27FC236}">
                  <a16:creationId xmlns:a16="http://schemas.microsoft.com/office/drawing/2014/main" id="{CDD0D36C-BE89-4BE0-9FDE-163C5F741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6496" y="292484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opA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20CD25A4-273B-415C-8E80-C37B62A15FD2}"/>
                </a:ext>
              </a:extLst>
            </p:cNvPr>
            <p:cNvCxnSpPr/>
            <p:nvPr/>
          </p:nvCxnSpPr>
          <p:spPr bwMode="auto">
            <a:xfrm flipV="1">
              <a:off x="3096496" y="1988840"/>
              <a:ext cx="0" cy="82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C36514E7-32D6-43B7-A5F8-0F6524F70C5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610496" y="256484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4B7054FA-4BB8-4823-8141-1A17A7E5CFA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548496" y="2564840"/>
              <a:ext cx="16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88A6A8FA-9C0C-4FCE-9011-2555D7B2D348}"/>
                </a:ext>
              </a:extLst>
            </p:cNvPr>
            <p:cNvCxnSpPr/>
            <p:nvPr/>
          </p:nvCxnSpPr>
          <p:spPr bwMode="auto">
            <a:xfrm flipH="1">
              <a:off x="2160496" y="270884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85" name="Text Box 286">
              <a:extLst>
                <a:ext uri="{FF2B5EF4-FFF2-40B4-BE49-F238E27FC236}">
                  <a16:creationId xmlns:a16="http://schemas.microsoft.com/office/drawing/2014/main" id="{399B6276-59AD-4B66-8484-D84BC0E43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496" y="245684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>
                  <a:solidFill>
                    <a:schemeClr val="tx1"/>
                  </a:solidFill>
                </a:rPr>
                <a:t>Cout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6" name="Text Box 286">
              <a:extLst>
                <a:ext uri="{FF2B5EF4-FFF2-40B4-BE49-F238E27FC236}">
                  <a16:creationId xmlns:a16="http://schemas.microsoft.com/office/drawing/2014/main" id="{21EDFADC-9461-44E0-A8DE-A6B56C46E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496" y="2474840"/>
              <a:ext cx="32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>
                  <a:solidFill>
                    <a:schemeClr val="tx1"/>
                  </a:solidFill>
                </a:rPr>
                <a:t>Cin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Text Box 255">
              <a:extLst>
                <a:ext uri="{FF2B5EF4-FFF2-40B4-BE49-F238E27FC236}">
                  <a16:creationId xmlns:a16="http://schemas.microsoft.com/office/drawing/2014/main" id="{80335FED-760B-41C1-8A32-942EC5597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704" y="2132840"/>
              <a:ext cx="576000" cy="576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寄存</a:t>
              </a:r>
              <a:endParaRPr lang="en-US" altLang="zh-CN" sz="1800" dirty="0">
                <a:solidFill>
                  <a:schemeClr val="tx1"/>
                </a:solidFill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器组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6E70EAC3-10F6-4F51-9BB1-78A79A1C176F}"/>
                </a:ext>
              </a:extLst>
            </p:cNvPr>
            <p:cNvCxnSpPr/>
            <p:nvPr/>
          </p:nvCxnSpPr>
          <p:spPr bwMode="auto">
            <a:xfrm flipH="1">
              <a:off x="6336768" y="1988840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9C1FD09C-E58C-49BA-80CF-F0D3227C4F53}"/>
                </a:ext>
              </a:extLst>
            </p:cNvPr>
            <p:cNvCxnSpPr/>
            <p:nvPr/>
          </p:nvCxnSpPr>
          <p:spPr bwMode="auto">
            <a:xfrm>
              <a:off x="5904640" y="2456849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DEC4D040-0387-48C8-9A70-49445B9745CD}"/>
                </a:ext>
              </a:extLst>
            </p:cNvPr>
            <p:cNvCxnSpPr/>
            <p:nvPr/>
          </p:nvCxnSpPr>
          <p:spPr bwMode="auto">
            <a:xfrm>
              <a:off x="5616744" y="2204840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F4C59316-4285-4A2B-857E-1A8C94B5B4B8}"/>
                </a:ext>
              </a:extLst>
            </p:cNvPr>
            <p:cNvCxnSpPr/>
            <p:nvPr/>
          </p:nvCxnSpPr>
          <p:spPr bwMode="auto">
            <a:xfrm flipV="1">
              <a:off x="6804576" y="1988840"/>
              <a:ext cx="0" cy="82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ADAE2231-2864-4C0E-906A-DF36386E0489}"/>
                </a:ext>
              </a:extLst>
            </p:cNvPr>
            <p:cNvCxnSpPr/>
            <p:nvPr/>
          </p:nvCxnSpPr>
          <p:spPr bwMode="auto">
            <a:xfrm flipV="1">
              <a:off x="6264496" y="2708840"/>
              <a:ext cx="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3" name="Text Box 286">
              <a:extLst>
                <a:ext uri="{FF2B5EF4-FFF2-40B4-BE49-F238E27FC236}">
                  <a16:creationId xmlns:a16="http://schemas.microsoft.com/office/drawing/2014/main" id="{F8BAC444-FE1C-42C4-8AAF-B884826B7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496" y="292484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RWr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C9DEF442-D271-4B86-B71F-8AE26758496C}"/>
                </a:ext>
              </a:extLst>
            </p:cNvPr>
            <p:cNvCxnSpPr/>
            <p:nvPr/>
          </p:nvCxnSpPr>
          <p:spPr bwMode="auto">
            <a:xfrm>
              <a:off x="5616696" y="236684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3D4F3E39-ADE6-4656-9192-C15F828C72EF}"/>
                </a:ext>
              </a:extLst>
            </p:cNvPr>
            <p:cNvCxnSpPr/>
            <p:nvPr/>
          </p:nvCxnSpPr>
          <p:spPr bwMode="auto">
            <a:xfrm>
              <a:off x="5616696" y="252884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5FB0699C-3884-44CC-99A8-DCA09DEAE06D}"/>
                </a:ext>
              </a:extLst>
            </p:cNvPr>
            <p:cNvCxnSpPr/>
            <p:nvPr/>
          </p:nvCxnSpPr>
          <p:spPr bwMode="auto">
            <a:xfrm flipV="1">
              <a:off x="5832704" y="2600840"/>
              <a:ext cx="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7" name="Text Box 286">
              <a:extLst>
                <a:ext uri="{FF2B5EF4-FFF2-40B4-BE49-F238E27FC236}">
                  <a16:creationId xmlns:a16="http://schemas.microsoft.com/office/drawing/2014/main" id="{ABBB1A58-DA05-4587-A362-5B6B5CD64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6496" y="2924840"/>
              <a:ext cx="46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Rsel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C5513611-4769-40B6-9A2A-8499A4FEFA76}"/>
                </a:ext>
              </a:extLst>
            </p:cNvPr>
            <p:cNvGrpSpPr/>
            <p:nvPr/>
          </p:nvGrpSpPr>
          <p:grpSpPr>
            <a:xfrm>
              <a:off x="5760847" y="2248180"/>
              <a:ext cx="144000" cy="396000"/>
              <a:chOff x="7074000" y="3924000"/>
              <a:chExt cx="144000" cy="396000"/>
            </a:xfrm>
          </p:grpSpPr>
          <p:sp>
            <p:nvSpPr>
              <p:cNvPr id="202" name="流程图: 手动操作 201">
                <a:extLst>
                  <a:ext uri="{FF2B5EF4-FFF2-40B4-BE49-F238E27FC236}">
                    <a16:creationId xmlns:a16="http://schemas.microsoft.com/office/drawing/2014/main" id="{7AB6BB77-49F9-4AF7-8092-566CDBC18EAC}"/>
                  </a:ext>
                </a:extLst>
              </p:cNvPr>
              <p:cNvSpPr/>
              <p:nvPr/>
            </p:nvSpPr>
            <p:spPr bwMode="auto">
              <a:xfrm rot="16200000">
                <a:off x="6948000" y="4050000"/>
                <a:ext cx="396000" cy="144000"/>
              </a:xfrm>
              <a:prstGeom prst="flowChartManualOperation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3" name="Text Box 235">
                <a:extLst>
                  <a:ext uri="{FF2B5EF4-FFF2-40B4-BE49-F238E27FC236}">
                    <a16:creationId xmlns:a16="http://schemas.microsoft.com/office/drawing/2014/main" id="{997E855D-2AF5-4CA2-86F5-60BD7D85F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6984000" y="4050000"/>
                <a:ext cx="324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dirty="0">
                    <a:solidFill>
                      <a:schemeClr val="tx1"/>
                    </a:solidFill>
                    <a:latin typeface="+mn-ea"/>
                    <a:ea typeface="+mn-ea"/>
                  </a:rPr>
                  <a:t>0 1</a:t>
                </a:r>
                <a:endParaRPr lang="en-US" altLang="zh-CN" sz="12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99" name="直接箭头连接符 12">
              <a:extLst>
                <a:ext uri="{FF2B5EF4-FFF2-40B4-BE49-F238E27FC236}">
                  <a16:creationId xmlns:a16="http://schemas.microsoft.com/office/drawing/2014/main" id="{87213582-1D6C-4FB4-9921-46029B1C61AC}"/>
                </a:ext>
              </a:extLst>
            </p:cNvPr>
            <p:cNvCxnSpPr/>
            <p:nvPr/>
          </p:nvCxnSpPr>
          <p:spPr bwMode="auto">
            <a:xfrm>
              <a:off x="6336872" y="2816840"/>
              <a:ext cx="46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8ED82F57-1186-4D44-9517-7E8556D7397A}"/>
                </a:ext>
              </a:extLst>
            </p:cNvPr>
            <p:cNvCxnSpPr/>
            <p:nvPr/>
          </p:nvCxnSpPr>
          <p:spPr bwMode="auto">
            <a:xfrm flipH="1">
              <a:off x="6336872" y="270884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01" name="Text Box 286">
              <a:extLst>
                <a:ext uri="{FF2B5EF4-FFF2-40B4-BE49-F238E27FC236}">
                  <a16:creationId xmlns:a16="http://schemas.microsoft.com/office/drawing/2014/main" id="{6ED3F653-223E-4EBD-A687-B0A9FA326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0554" y="2096840"/>
              <a:ext cx="252000" cy="5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chemeClr val="tx1"/>
                  </a:solidFill>
                </a:rPr>
                <a:t>Rd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chemeClr val="tx1"/>
                  </a:solidFill>
                </a:rPr>
                <a:t>Rt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chemeClr val="tx1"/>
                  </a:solidFill>
                </a:rPr>
                <a:t>Rs</a:t>
              </a:r>
              <a:endParaRPr lang="zh-CN" altLang="en-US" sz="1600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D355D2-6A00-4745-B72D-F33F627E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75</a:t>
            </a:fld>
            <a:endParaRPr lang="en-US" altLang="zh-CN"/>
          </a:p>
        </p:txBody>
      </p:sp>
      <p:sp>
        <p:nvSpPr>
          <p:cNvPr id="10" name="Text Box 199">
            <a:extLst>
              <a:ext uri="{FF2B5EF4-FFF2-40B4-BE49-F238E27FC236}">
                <a16:creationId xmlns:a16="http://schemas.microsoft.com/office/drawing/2014/main" id="{A4048787-0A65-417B-99A6-73E2BE771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1" y="331200"/>
            <a:ext cx="8784975" cy="1765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rgbClr val="FF3399"/>
                </a:solidFill>
              </a:rPr>
              <a:t>(3)</a:t>
            </a:r>
            <a:r>
              <a:rPr lang="zh-CN" altLang="en-US" sz="2200" dirty="0">
                <a:solidFill>
                  <a:srgbClr val="FF3399"/>
                </a:solidFill>
              </a:rPr>
              <a:t>运算器的部件互连</a:t>
            </a:r>
            <a:endParaRPr lang="en-US" altLang="zh-CN" sz="2200" dirty="0">
              <a:solidFill>
                <a:srgbClr val="FF3399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</a:rPr>
              <a:t> </a:t>
            </a:r>
            <a:r>
              <a:rPr lang="zh-CN" altLang="en-US" sz="2200" dirty="0">
                <a:solidFill>
                  <a:srgbClr val="C00000"/>
                </a:solidFill>
              </a:rPr>
              <a:t>*部件的互连结构：</a:t>
            </a:r>
            <a:r>
              <a:rPr lang="zh-CN" altLang="en-US" sz="2200" dirty="0">
                <a:solidFill>
                  <a:schemeClr val="tx1"/>
                </a:solidFill>
              </a:rPr>
              <a:t>有</a:t>
            </a:r>
            <a:r>
              <a:rPr lang="zh-CN" altLang="en-US" sz="2200" u="sng" dirty="0">
                <a:solidFill>
                  <a:schemeClr val="tx1"/>
                </a:solidFill>
              </a:rPr>
              <a:t>总线结构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u="sng" dirty="0">
                <a:solidFill>
                  <a:schemeClr val="tx1"/>
                </a:solidFill>
              </a:rPr>
              <a:t>专用结构</a:t>
            </a:r>
            <a:r>
              <a:rPr lang="zh-CN" altLang="en-US" sz="2200" dirty="0">
                <a:solidFill>
                  <a:schemeClr val="tx1"/>
                </a:solidFill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</a:rPr>
              <a:t>←指</a:t>
            </a:r>
            <a:r>
              <a:rPr lang="zh-CN" altLang="en-US" sz="1800" dirty="0">
                <a:solidFill>
                  <a:schemeClr val="tx1"/>
                </a:solidFill>
                <a:highlight>
                  <a:srgbClr val="CCFFFF"/>
                </a:highlight>
              </a:rPr>
              <a:t>数据引脚</a:t>
            </a:r>
            <a:endParaRPr lang="en-US" altLang="zh-CN" dirty="0">
              <a:solidFill>
                <a:schemeClr val="tx1"/>
              </a:solidFill>
              <a:highlight>
                <a:srgbClr val="CCFFFF"/>
              </a:highlight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总线结构互连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</p:txBody>
      </p:sp>
      <p:sp>
        <p:nvSpPr>
          <p:cNvPr id="13" name="Text Box 200">
            <a:extLst>
              <a:ext uri="{FF2B5EF4-FFF2-40B4-BE49-F238E27FC236}">
                <a16:creationId xmlns:a16="http://schemas.microsoft.com/office/drawing/2014/main" id="{AC9F395B-BF68-4488-B113-228586016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1196752"/>
            <a:ext cx="6264696" cy="764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部件</a:t>
            </a:r>
            <a:r>
              <a:rPr lang="zh-CN" altLang="en-US" sz="2200" u="sng" dirty="0">
                <a:solidFill>
                  <a:schemeClr val="tx1"/>
                </a:solidFill>
              </a:rPr>
              <a:t>出端</a:t>
            </a:r>
            <a:r>
              <a:rPr lang="zh-CN" altLang="en-US" sz="2200" dirty="0">
                <a:solidFill>
                  <a:schemeClr val="tx1"/>
                </a:solidFill>
              </a:rPr>
              <a:t>设置</a:t>
            </a:r>
            <a:r>
              <a:rPr lang="zh-CN" altLang="en-US" sz="2200" u="sng" dirty="0">
                <a:solidFill>
                  <a:srgbClr val="990099"/>
                </a:solidFill>
              </a:rPr>
              <a:t>三态门</a:t>
            </a:r>
            <a:r>
              <a:rPr lang="zh-CN" altLang="en-US" sz="2200" dirty="0">
                <a:solidFill>
                  <a:schemeClr val="tx1"/>
                </a:solidFill>
              </a:rPr>
              <a:t>，部件</a:t>
            </a:r>
            <a:r>
              <a:rPr lang="zh-CN" altLang="en-US" sz="2200" u="sng" dirty="0">
                <a:solidFill>
                  <a:schemeClr val="tx1"/>
                </a:solidFill>
              </a:rPr>
              <a:t>入</a:t>
            </a:r>
            <a:r>
              <a:rPr lang="en-US" altLang="zh-CN" sz="2200" u="sng" dirty="0">
                <a:solidFill>
                  <a:schemeClr val="tx1"/>
                </a:solidFill>
              </a:rPr>
              <a:t>/</a:t>
            </a:r>
            <a:r>
              <a:rPr lang="zh-CN" altLang="en-US" sz="2200" u="sng" dirty="0">
                <a:solidFill>
                  <a:schemeClr val="tx1"/>
                </a:solidFill>
              </a:rPr>
              <a:t>出端</a:t>
            </a:r>
            <a:r>
              <a:rPr lang="zh-CN" altLang="en-US" sz="2200" dirty="0">
                <a:solidFill>
                  <a:schemeClr val="tx1"/>
                </a:solidFill>
              </a:rPr>
              <a:t>设置</a:t>
            </a:r>
            <a:r>
              <a:rPr lang="zh-CN" altLang="en-US" sz="2200" u="sng" dirty="0">
                <a:solidFill>
                  <a:srgbClr val="990099"/>
                </a:solidFill>
              </a:rPr>
              <a:t>暂存器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     (</a:t>
            </a:r>
            <a:r>
              <a:rPr lang="zh-CN" altLang="en-US" sz="1600" dirty="0">
                <a:solidFill>
                  <a:schemeClr val="tx1"/>
                </a:solidFill>
              </a:rPr>
              <a:t>避免总线上</a:t>
            </a:r>
            <a:r>
              <a:rPr lang="zh-CN" altLang="en-US" sz="1600" u="sng" dirty="0">
                <a:solidFill>
                  <a:srgbClr val="0070C0"/>
                </a:solidFill>
              </a:rPr>
              <a:t>信号冲突</a:t>
            </a:r>
            <a:r>
              <a:rPr lang="en-US" altLang="zh-CN" sz="1600" dirty="0">
                <a:solidFill>
                  <a:schemeClr val="tx1"/>
                </a:solidFill>
              </a:rPr>
              <a:t>)           (</a:t>
            </a:r>
            <a:r>
              <a:rPr lang="zh-CN" altLang="en-US" sz="1600" dirty="0">
                <a:solidFill>
                  <a:schemeClr val="tx1"/>
                </a:solidFill>
              </a:rPr>
              <a:t>避免端口间</a:t>
            </a:r>
            <a:r>
              <a:rPr lang="zh-CN" altLang="en-US" sz="1600" u="sng" dirty="0">
                <a:solidFill>
                  <a:srgbClr val="0070C0"/>
                </a:solidFill>
              </a:rPr>
              <a:t>信号干扰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Text Box 1015">
            <a:extLst>
              <a:ext uri="{FF2B5EF4-FFF2-40B4-BE49-F238E27FC236}">
                <a16:creationId xmlns:a16="http://schemas.microsoft.com/office/drawing/2014/main" id="{8586FEB1-1290-4A65-88FF-85C00C491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212976"/>
            <a:ext cx="48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思考①：</a:t>
            </a:r>
            <a:r>
              <a:rPr lang="zh-CN" altLang="en-US" sz="1800" dirty="0">
                <a:solidFill>
                  <a:schemeClr val="tx1"/>
                </a:solidFill>
              </a:rPr>
              <a:t>组合逻辑的端口信号最多几个不暂存？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5" name="Text Box 1015">
            <a:extLst>
              <a:ext uri="{FF2B5EF4-FFF2-40B4-BE49-F238E27FC236}">
                <a16:creationId xmlns:a16="http://schemas.microsoft.com/office/drawing/2014/main" id="{A6674448-061E-4B9D-93BC-AA8969570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3214800"/>
            <a:ext cx="2555336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个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u="sng" dirty="0">
                <a:solidFill>
                  <a:srgbClr val="FF3399"/>
                </a:solidFill>
              </a:rPr>
              <a:t>不考虑</a:t>
            </a:r>
            <a:r>
              <a:rPr lang="zh-CN" altLang="en-US" sz="1600" dirty="0">
                <a:solidFill>
                  <a:schemeClr val="tx1"/>
                </a:solidFill>
              </a:rPr>
              <a:t>时序逻辑信号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" name="AutoShape 29">
            <a:extLst>
              <a:ext uri="{FF2B5EF4-FFF2-40B4-BE49-F238E27FC236}">
                <a16:creationId xmlns:a16="http://schemas.microsoft.com/office/drawing/2014/main" id="{8A81DAA4-34C2-4D02-BBE5-619CBCB8CB28}"/>
              </a:ext>
            </a:extLst>
          </p:cNvPr>
          <p:cNvSpPr/>
          <p:nvPr/>
        </p:nvSpPr>
        <p:spPr bwMode="auto">
          <a:xfrm>
            <a:off x="7956376" y="908720"/>
            <a:ext cx="1116000" cy="252000"/>
          </a:xfrm>
          <a:prstGeom prst="borderCallout2">
            <a:avLst>
              <a:gd name="adj1" fmla="val 53440"/>
              <a:gd name="adj2" fmla="val 924"/>
              <a:gd name="adj3" fmla="val 53095"/>
              <a:gd name="adj4" fmla="val -9877"/>
              <a:gd name="adj5" fmla="val 163845"/>
              <a:gd name="adj6" fmla="val -814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常为触发器</a:t>
            </a:r>
          </a:p>
        </p:txBody>
      </p:sp>
      <p:sp>
        <p:nvSpPr>
          <p:cNvPr id="17" name="Text Box 1015">
            <a:extLst>
              <a:ext uri="{FF2B5EF4-FFF2-40B4-BE49-F238E27FC236}">
                <a16:creationId xmlns:a16="http://schemas.microsoft.com/office/drawing/2014/main" id="{503EB511-490A-42F8-99A1-D1F20E9A7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610800"/>
            <a:ext cx="385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思考②：</a:t>
            </a:r>
            <a:r>
              <a:rPr lang="en-US" altLang="zh-CN" sz="1800" dirty="0">
                <a:solidFill>
                  <a:schemeClr val="tx1"/>
                </a:solidFill>
              </a:rPr>
              <a:t>REG</a:t>
            </a:r>
            <a:r>
              <a:rPr lang="zh-CN" altLang="en-US" sz="1800" dirty="0">
                <a:solidFill>
                  <a:schemeClr val="tx1"/>
                </a:solidFill>
              </a:rPr>
              <a:t>组的入端为何都不暂存？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8" name="Text Box 1015">
            <a:extLst>
              <a:ext uri="{FF2B5EF4-FFF2-40B4-BE49-F238E27FC236}">
                <a16:creationId xmlns:a16="http://schemas.microsoft.com/office/drawing/2014/main" id="{C36B4AF9-CD41-4043-9DDC-90D6DDB8E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512" y="3610800"/>
            <a:ext cx="363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>
              <a:lnSpc>
                <a:spcPct val="9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入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出端用于不同操作，地址非公用信号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A924FFF3-A557-47DD-B72C-58D24089A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82614"/>
              </p:ext>
            </p:extLst>
          </p:nvPr>
        </p:nvGraphicFramePr>
        <p:xfrm>
          <a:off x="467544" y="4410360"/>
          <a:ext cx="8496944" cy="189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</a:t>
                      </a: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实现步骤</a:t>
                      </a:r>
                    </a:p>
                  </a:txBody>
                  <a:tcPr marL="36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L2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Aout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L3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opS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L4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Sout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Rsel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RegWr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Rout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36">
                <a:tc rowSpan="3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⊕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4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4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168"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Rs&gt;&gt;</a:t>
                      </a:r>
                      <a:r>
                        <a:rPr lang="en-US" altLang="zh-CN" b="1" baseline="-18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16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16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8" name="Text Box 286">
            <a:extLst>
              <a:ext uri="{FF2B5EF4-FFF2-40B4-BE49-F238E27FC236}">
                <a16:creationId xmlns:a16="http://schemas.microsoft.com/office/drawing/2014/main" id="{5789E32D-6D53-4E81-B5D9-3DC90B43E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4698392"/>
            <a:ext cx="7056784" cy="1584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36000" tIns="10800" rIns="18000" bIns="10800" anchor="t" anchorCtr="0"/>
          <a:lstStyle/>
          <a:p>
            <a:pPr>
              <a:lnSpc>
                <a:spcPct val="97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⑴取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Rs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L1     </a:t>
            </a:r>
            <a:r>
              <a:rPr lang="zh-CN" altLang="en-US" sz="1800" spc="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*   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0 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</a:p>
          <a:p>
            <a:pPr>
              <a:lnSpc>
                <a:spcPct val="97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⑵取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L2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spc="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 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*   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0 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</a:p>
          <a:p>
            <a:pPr>
              <a:lnSpc>
                <a:spcPct val="97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⑶</a:t>
            </a:r>
            <a:r>
              <a:rPr lang="en-US" altLang="zh-CN" sz="1800" dirty="0">
                <a:solidFill>
                  <a:schemeClr val="tx1"/>
                </a:solidFill>
              </a:rPr>
              <a:t>⊕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Rd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rPr>
              <a:t>     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0  0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11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*   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</a:p>
          <a:p>
            <a:pPr>
              <a:lnSpc>
                <a:spcPct val="97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⑴取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Rs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L3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spc="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 *   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0 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</a:p>
          <a:p>
            <a:pPr>
              <a:lnSpc>
                <a:spcPct val="97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⑵取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Rt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&gt;&gt;</a:t>
            </a:r>
            <a:r>
              <a:rPr lang="en-US" altLang="zh-CN" sz="1800" baseline="-18000" dirty="0">
                <a:solidFill>
                  <a:schemeClr val="tx1"/>
                </a:solidFill>
                <a:latin typeface="+mn-ea"/>
              </a:rPr>
              <a:t>L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sym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+mn-ea"/>
              </a:rPr>
              <a:t>L4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800" spc="-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0 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</a:p>
          <a:p>
            <a:pPr>
              <a:lnSpc>
                <a:spcPct val="97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⑶结果→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Rd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spc="3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*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*    </a:t>
            </a:r>
            <a:r>
              <a:rPr lang="en-US" altLang="zh-CN" sz="1800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endParaRPr lang="zh-CN" altLang="en-US" sz="1800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99" name="Text Box 200">
            <a:extLst>
              <a:ext uri="{FF2B5EF4-FFF2-40B4-BE49-F238E27FC236}">
                <a16:creationId xmlns:a16="http://schemas.microsoft.com/office/drawing/2014/main" id="{D3EF8E0B-7F34-48A8-9E7A-04395BBE6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3933056"/>
            <a:ext cx="8785099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990099"/>
                </a:solidFill>
              </a:rPr>
              <a:t>       例</a:t>
            </a:r>
            <a:r>
              <a:rPr lang="en-US" altLang="zh-CN" sz="2000" dirty="0">
                <a:solidFill>
                  <a:srgbClr val="990099"/>
                </a:solidFill>
              </a:rPr>
              <a:t>5</a:t>
            </a:r>
            <a:r>
              <a:rPr lang="zh-CN" altLang="en-US" sz="2000" dirty="0">
                <a:solidFill>
                  <a:srgbClr val="990099"/>
                </a:solidFill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</a:rPr>
              <a:t>基于上述互连通路，给出实现下列指令功能的控制信号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00" name="AutoShape 29">
            <a:extLst>
              <a:ext uri="{FF2B5EF4-FFF2-40B4-BE49-F238E27FC236}">
                <a16:creationId xmlns:a16="http://schemas.microsoft.com/office/drawing/2014/main" id="{BAA99726-4DD8-4ADE-8603-7480560AF424}"/>
              </a:ext>
            </a:extLst>
          </p:cNvPr>
          <p:cNvSpPr/>
          <p:nvPr/>
        </p:nvSpPr>
        <p:spPr bwMode="auto">
          <a:xfrm>
            <a:off x="1259632" y="6381328"/>
            <a:ext cx="1944000" cy="252000"/>
          </a:xfrm>
          <a:prstGeom prst="borderCallout2">
            <a:avLst>
              <a:gd name="adj1" fmla="val 57299"/>
              <a:gd name="adj2" fmla="val 100172"/>
              <a:gd name="adj3" fmla="val 57201"/>
              <a:gd name="adj4" fmla="val 107412"/>
              <a:gd name="adj5" fmla="val -25127"/>
              <a:gd name="adj6" fmla="val 10941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结果均存到时序部件</a:t>
            </a:r>
          </a:p>
        </p:txBody>
      </p: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9946478F-6970-4AA7-8DCF-5483ADA69ACC}"/>
              </a:ext>
            </a:extLst>
          </p:cNvPr>
          <p:cNvGrpSpPr/>
          <p:nvPr/>
        </p:nvGrpSpPr>
        <p:grpSpPr>
          <a:xfrm>
            <a:off x="1188496" y="2132840"/>
            <a:ext cx="5976000" cy="981000"/>
            <a:chOff x="900000" y="2448000"/>
            <a:chExt cx="5976000" cy="981000"/>
          </a:xfrm>
        </p:grpSpPr>
        <p:sp>
          <p:nvSpPr>
            <p:cNvPr id="147" name="Text Box 256">
              <a:extLst>
                <a:ext uri="{FF2B5EF4-FFF2-40B4-BE49-F238E27FC236}">
                  <a16:creationId xmlns:a16="http://schemas.microsoft.com/office/drawing/2014/main" id="{4BB15ACE-089E-4D9E-978C-0199377B5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000" y="244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EC76C61E-43F1-4BFB-842E-2DA53725C830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276000" y="2664000"/>
              <a:ext cx="152" cy="57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49" name="Text Box 286">
              <a:extLst>
                <a:ext uri="{FF2B5EF4-FFF2-40B4-BE49-F238E27FC236}">
                  <a16:creationId xmlns:a16="http://schemas.microsoft.com/office/drawing/2014/main" id="{6839C47D-86BC-4BE5-B45F-E2978E401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000" y="3249000"/>
              <a:ext cx="288000" cy="180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L3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150" name="等腰三角形 149">
              <a:extLst>
                <a:ext uri="{FF2B5EF4-FFF2-40B4-BE49-F238E27FC236}">
                  <a16:creationId xmlns:a16="http://schemas.microsoft.com/office/drawing/2014/main" id="{F10EBF8A-57B3-42DE-90D7-607BABCF84DD}"/>
                </a:ext>
              </a:extLst>
            </p:cNvPr>
            <p:cNvSpPr/>
            <p:nvPr/>
          </p:nvSpPr>
          <p:spPr bwMode="auto">
            <a:xfrm>
              <a:off x="4572000" y="2448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C31FEAF0-03DB-4895-9A1F-E28AC24EEAC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427968" y="298800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0A480195-FA2B-468F-9165-2DA44C2F5B41}"/>
                </a:ext>
              </a:extLst>
            </p:cNvPr>
            <p:cNvCxnSpPr/>
            <p:nvPr/>
          </p:nvCxnSpPr>
          <p:spPr bwMode="auto">
            <a:xfrm flipH="1" flipV="1">
              <a:off x="4680000" y="2520000"/>
              <a:ext cx="39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F03047BA-8E90-45E9-B504-FDB12B4564F3}"/>
                </a:ext>
              </a:extLst>
            </p:cNvPr>
            <p:cNvCxnSpPr/>
            <p:nvPr/>
          </p:nvCxnSpPr>
          <p:spPr bwMode="auto">
            <a:xfrm flipV="1">
              <a:off x="5076040" y="2520000"/>
              <a:ext cx="0" cy="72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4" name="Text Box 286">
              <a:extLst>
                <a:ext uri="{FF2B5EF4-FFF2-40B4-BE49-F238E27FC236}">
                  <a16:creationId xmlns:a16="http://schemas.microsoft.com/office/drawing/2014/main" id="{E0919FA9-BE4C-417E-A262-3107FD226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0" y="3240000"/>
              <a:ext cx="504000" cy="180000"/>
            </a:xfrm>
            <a:prstGeom prst="rect">
              <a:avLst/>
            </a:prstGeom>
            <a:solidFill>
              <a:srgbClr val="FFFF00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Sout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155" name="Text Box 286">
              <a:extLst>
                <a:ext uri="{FF2B5EF4-FFF2-40B4-BE49-F238E27FC236}">
                  <a16:creationId xmlns:a16="http://schemas.microsoft.com/office/drawing/2014/main" id="{52888BEB-2B32-4F9E-909F-779A150CA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984" y="3240000"/>
              <a:ext cx="288000" cy="180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L4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156" name="Text Box 256">
              <a:extLst>
                <a:ext uri="{FF2B5EF4-FFF2-40B4-BE49-F238E27FC236}">
                  <a16:creationId xmlns:a16="http://schemas.microsoft.com/office/drawing/2014/main" id="{8F9936B3-5C1F-4B3E-808F-AEA217B88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952" y="2772072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157" name="等腰三角形 156">
              <a:extLst>
                <a:ext uri="{FF2B5EF4-FFF2-40B4-BE49-F238E27FC236}">
                  <a16:creationId xmlns:a16="http://schemas.microsoft.com/office/drawing/2014/main" id="{0A249410-E915-4926-AD80-11BA8D21CEB6}"/>
                </a:ext>
              </a:extLst>
            </p:cNvPr>
            <p:cNvSpPr/>
            <p:nvPr/>
          </p:nvSpPr>
          <p:spPr bwMode="auto">
            <a:xfrm>
              <a:off x="6444080" y="2448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2CF42C0B-F764-440C-92E8-8BF24CC8C988}"/>
                </a:ext>
              </a:extLst>
            </p:cNvPr>
            <p:cNvCxnSpPr/>
            <p:nvPr/>
          </p:nvCxnSpPr>
          <p:spPr bwMode="auto">
            <a:xfrm flipH="1" flipV="1">
              <a:off x="6552080" y="252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83FB519C-8D23-44AB-A354-B56D6E6430E1}"/>
                </a:ext>
              </a:extLst>
            </p:cNvPr>
            <p:cNvCxnSpPr/>
            <p:nvPr/>
          </p:nvCxnSpPr>
          <p:spPr bwMode="auto">
            <a:xfrm flipV="1">
              <a:off x="6696080" y="2520000"/>
              <a:ext cx="0" cy="72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0" name="Text Box 286">
              <a:extLst>
                <a:ext uri="{FF2B5EF4-FFF2-40B4-BE49-F238E27FC236}">
                  <a16:creationId xmlns:a16="http://schemas.microsoft.com/office/drawing/2014/main" id="{3F19D806-814C-4D80-A25B-4903F51F5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2000" y="3240000"/>
              <a:ext cx="504000" cy="180000"/>
            </a:xfrm>
            <a:prstGeom prst="rect">
              <a:avLst/>
            </a:prstGeom>
            <a:solidFill>
              <a:srgbClr val="FFFF00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Rout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668BE717-81C5-4D62-8E96-1A60525195A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43608" y="2664000"/>
              <a:ext cx="252000" cy="57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74A96EBD-C20E-40E1-8616-B67DC8F9D93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48000" y="2664000"/>
              <a:ext cx="0" cy="57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63" name="等腰三角形 162">
              <a:extLst>
                <a:ext uri="{FF2B5EF4-FFF2-40B4-BE49-F238E27FC236}">
                  <a16:creationId xmlns:a16="http://schemas.microsoft.com/office/drawing/2014/main" id="{13387088-2134-487F-878C-1A6F875D34FA}"/>
                </a:ext>
              </a:extLst>
            </p:cNvPr>
            <p:cNvSpPr/>
            <p:nvPr/>
          </p:nvSpPr>
          <p:spPr bwMode="auto">
            <a:xfrm>
              <a:off x="2736000" y="2484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3465B92B-B59F-4BC7-BBA1-69A1958B7183}"/>
                </a:ext>
              </a:extLst>
            </p:cNvPr>
            <p:cNvCxnSpPr/>
            <p:nvPr/>
          </p:nvCxnSpPr>
          <p:spPr bwMode="auto">
            <a:xfrm flipH="1" flipV="1">
              <a:off x="2844000" y="2556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721C4E98-B821-47E3-A4BA-6C7B9B3B0A2D}"/>
                </a:ext>
              </a:extLst>
            </p:cNvPr>
            <p:cNvCxnSpPr/>
            <p:nvPr/>
          </p:nvCxnSpPr>
          <p:spPr bwMode="auto">
            <a:xfrm flipV="1">
              <a:off x="2988000" y="2556000"/>
              <a:ext cx="0" cy="68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6" name="Text Box 286">
              <a:extLst>
                <a:ext uri="{FF2B5EF4-FFF2-40B4-BE49-F238E27FC236}">
                  <a16:creationId xmlns:a16="http://schemas.microsoft.com/office/drawing/2014/main" id="{241F5EAE-B4D9-4EB0-95DD-4377B736E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000" y="3240000"/>
              <a:ext cx="504000" cy="180000"/>
            </a:xfrm>
            <a:prstGeom prst="rect">
              <a:avLst/>
            </a:prstGeom>
            <a:solidFill>
              <a:srgbClr val="FFFF00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Aout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167" name="Text Box 286">
              <a:extLst>
                <a:ext uri="{FF2B5EF4-FFF2-40B4-BE49-F238E27FC236}">
                  <a16:creationId xmlns:a16="http://schemas.microsoft.com/office/drawing/2014/main" id="{147B3922-D675-444D-89B5-ADE7406D3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00" y="3240000"/>
              <a:ext cx="288000" cy="180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L1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168" name="Text Box 286">
              <a:extLst>
                <a:ext uri="{FF2B5EF4-FFF2-40B4-BE49-F238E27FC236}">
                  <a16:creationId xmlns:a16="http://schemas.microsoft.com/office/drawing/2014/main" id="{D56C9D83-4491-4D93-A2C2-FA4C273F3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000" y="3240000"/>
              <a:ext cx="288000" cy="180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L2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169" name="Text Box 256">
              <a:extLst>
                <a:ext uri="{FF2B5EF4-FFF2-40B4-BE49-F238E27FC236}">
                  <a16:creationId xmlns:a16="http://schemas.microsoft.com/office/drawing/2014/main" id="{CB06EDAA-BBB0-4C59-875A-D72BF361D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8000" y="244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170" name="Text Box 256">
              <a:extLst>
                <a:ext uri="{FF2B5EF4-FFF2-40B4-BE49-F238E27FC236}">
                  <a16:creationId xmlns:a16="http://schemas.microsoft.com/office/drawing/2014/main" id="{12724243-C80A-4578-914F-31111F517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632" y="244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</p:grpSp>
      <p:sp>
        <p:nvSpPr>
          <p:cNvPr id="171" name="AutoShape 40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F239969-570E-4E11-A30A-E93BB7EDADA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67945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AutoShape 62">
            <a:hlinkClick r:id="rId2" action="ppaction://hlinkpres?slideindex=18&amp;slidetitle=PowerPoint 演示文稿"/>
            <a:extLst>
              <a:ext uri="{FF2B5EF4-FFF2-40B4-BE49-F238E27FC236}">
                <a16:creationId xmlns:a16="http://schemas.microsoft.com/office/drawing/2014/main" id="{1554F6A2-20FA-4143-9199-9A9D21A8373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19459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</a:t>
            </a:r>
          </a:p>
        </p:txBody>
      </p:sp>
    </p:spTree>
    <p:extLst>
      <p:ext uri="{BB962C8B-B14F-4D97-AF65-F5344CB8AC3E}">
        <p14:creationId xmlns:p14="http://schemas.microsoft.com/office/powerpoint/2010/main" val="8743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75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75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75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75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750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750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ldLvl="0" animBg="1"/>
      <p:bldP spid="15" grpId="0" bldLvl="0"/>
      <p:bldP spid="16" grpId="0" animBg="1"/>
      <p:bldP spid="17" grpId="0" animBg="1"/>
      <p:bldP spid="18" grpId="0"/>
      <p:bldP spid="99" grpId="0"/>
      <p:bldP spid="10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FA3242-57EC-43F7-BB90-4DFFE8A6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76</a:t>
            </a:fld>
            <a:endParaRPr lang="en-US" altLang="zh-CN"/>
          </a:p>
        </p:txBody>
      </p:sp>
      <p:sp>
        <p:nvSpPr>
          <p:cNvPr id="3" name="Text Box 200">
            <a:extLst>
              <a:ext uri="{FF2B5EF4-FFF2-40B4-BE49-F238E27FC236}">
                <a16:creationId xmlns:a16="http://schemas.microsoft.com/office/drawing/2014/main" id="{2228003E-B79D-44E2-9B46-A57D7BA68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2656"/>
            <a:ext cx="2877532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accent2"/>
                </a:solidFill>
              </a:rPr>
              <a:t>    专用结构互连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sp>
        <p:nvSpPr>
          <p:cNvPr id="37" name="Text Box 200">
            <a:extLst>
              <a:ext uri="{FF2B5EF4-FFF2-40B4-BE49-F238E27FC236}">
                <a16:creationId xmlns:a16="http://schemas.microsoft.com/office/drawing/2014/main" id="{413E82D3-6279-4534-B133-68EE4A776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304" y="332656"/>
            <a:ext cx="615617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tx1"/>
                </a:solidFill>
              </a:rPr>
              <a:t>部件</a:t>
            </a:r>
            <a:r>
              <a:rPr lang="zh-CN" altLang="en-US" sz="2200" u="sng" dirty="0">
                <a:solidFill>
                  <a:schemeClr val="tx1"/>
                </a:solidFill>
              </a:rPr>
              <a:t>入端</a:t>
            </a:r>
            <a:r>
              <a:rPr lang="zh-CN" altLang="en-US" sz="2200" dirty="0">
                <a:solidFill>
                  <a:schemeClr val="tx1"/>
                </a:solidFill>
              </a:rPr>
              <a:t>设置</a:t>
            </a:r>
            <a:r>
              <a:rPr lang="zh-CN" altLang="en-US" sz="2200" u="sng" dirty="0">
                <a:solidFill>
                  <a:srgbClr val="990099"/>
                </a:solidFill>
              </a:rPr>
              <a:t>选择器</a:t>
            </a:r>
            <a:r>
              <a:rPr lang="zh-CN" altLang="en-US" sz="2200" dirty="0">
                <a:solidFill>
                  <a:schemeClr val="tx1"/>
                </a:solidFill>
              </a:rPr>
              <a:t>        </a:t>
            </a:r>
            <a:r>
              <a:rPr lang="zh-CN" altLang="en-US" sz="1800" dirty="0">
                <a:solidFill>
                  <a:schemeClr val="tx1"/>
                </a:solidFill>
              </a:rPr>
              <a:t>←性能好、线路复杂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38" name="Text Box 200">
            <a:extLst>
              <a:ext uri="{FF2B5EF4-FFF2-40B4-BE49-F238E27FC236}">
                <a16:creationId xmlns:a16="http://schemas.microsoft.com/office/drawing/2014/main" id="{140CD8FD-36C5-4641-BDEB-201F31E65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2132856"/>
            <a:ext cx="8785099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990099"/>
                </a:solidFill>
              </a:rPr>
              <a:t>       例</a:t>
            </a:r>
            <a:r>
              <a:rPr lang="en-US" altLang="zh-CN" sz="2000" dirty="0">
                <a:solidFill>
                  <a:srgbClr val="990099"/>
                </a:solidFill>
              </a:rPr>
              <a:t>6</a:t>
            </a:r>
            <a:r>
              <a:rPr lang="zh-CN" altLang="en-US" sz="2000" dirty="0">
                <a:solidFill>
                  <a:srgbClr val="990099"/>
                </a:solidFill>
              </a:rPr>
              <a:t>：</a:t>
            </a:r>
            <a:r>
              <a:rPr lang="zh-CN" altLang="en-US" sz="2000" dirty="0">
                <a:solidFill>
                  <a:schemeClr val="tx1"/>
                </a:solidFill>
              </a:rPr>
              <a:t>基于上述互连通路，给出实现表中指令功能</a:t>
            </a:r>
            <a:r>
              <a:rPr lang="en-US" altLang="zh-CN" sz="1600" dirty="0">
                <a:solidFill>
                  <a:schemeClr val="tx1"/>
                </a:solidFill>
              </a:rPr>
              <a:t>(1</a:t>
            </a:r>
            <a:r>
              <a:rPr lang="zh-CN" altLang="en-US" sz="1600" dirty="0">
                <a:solidFill>
                  <a:schemeClr val="tx1"/>
                </a:solidFill>
              </a:rPr>
              <a:t>步即可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的控制信号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0201B6E2-E650-4D10-8EAA-2D38B0C74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182831"/>
              </p:ext>
            </p:extLst>
          </p:nvPr>
        </p:nvGraphicFramePr>
        <p:xfrm>
          <a:off x="1907704" y="2590616"/>
          <a:ext cx="3600400" cy="13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89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</a:t>
                      </a: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DSel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RWr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opS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91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Rs+Rt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⊕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Rs&lt;&lt;Rt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Rs&gt;&gt;</a:t>
                      </a:r>
                      <a:r>
                        <a:rPr lang="en-US" altLang="zh-CN" b="1" baseline="-18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 Box 286">
            <a:extLst>
              <a:ext uri="{FF2B5EF4-FFF2-40B4-BE49-F238E27FC236}">
                <a16:creationId xmlns:a16="http://schemas.microsoft.com/office/drawing/2014/main" id="{13B43CE2-681A-4948-B63C-D64CACA35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888" y="2846072"/>
            <a:ext cx="1944216" cy="108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pPr>
              <a:lnSpc>
                <a:spcPct val="9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1    1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00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800" spc="4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**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1    1   11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800" spc="4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**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0    1   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**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800" spc="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00</a:t>
            </a:r>
          </a:p>
          <a:p>
            <a:pPr>
              <a:lnSpc>
                <a:spcPct val="95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0    1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   ** </a:t>
            </a:r>
            <a:r>
              <a:rPr lang="zh-CN" altLang="en-US" sz="1800" spc="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10</a:t>
            </a:r>
          </a:p>
        </p:txBody>
      </p:sp>
      <p:sp>
        <p:nvSpPr>
          <p:cNvPr id="42" name="Text Box 200">
            <a:extLst>
              <a:ext uri="{FF2B5EF4-FFF2-40B4-BE49-F238E27FC236}">
                <a16:creationId xmlns:a16="http://schemas.microsoft.com/office/drawing/2014/main" id="{FB2CB088-FDEC-47FD-AC61-6AF47908D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005064"/>
            <a:ext cx="8712968" cy="1195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>
                <a:solidFill>
                  <a:schemeClr val="accent2"/>
                </a:solidFill>
              </a:rPr>
              <a:t>    影响指令性能的因素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r>
              <a:rPr lang="en-US" altLang="zh-CN" sz="2200" dirty="0">
                <a:solidFill>
                  <a:schemeClr val="accent2"/>
                </a:solidFill>
              </a:rPr>
              <a:t>      </a:t>
            </a:r>
            <a:r>
              <a:rPr lang="zh-CN" altLang="en-US" sz="2200" dirty="0">
                <a:solidFill>
                  <a:schemeClr val="tx1"/>
                </a:solidFill>
              </a:rPr>
              <a:t>部件的组织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影响步骤时长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，互连结构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影响步骤个数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       (</a:t>
            </a:r>
            <a:r>
              <a:rPr lang="zh-CN" altLang="en-US" sz="1800" dirty="0">
                <a:solidFill>
                  <a:schemeClr val="tx1"/>
                </a:solidFill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r>
              <a:rPr lang="zh-CN" altLang="en-US" sz="1800" dirty="0">
                <a:solidFill>
                  <a:schemeClr val="tx1"/>
                </a:solidFill>
              </a:rPr>
              <a:t>位乘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快速乘</a:t>
            </a:r>
            <a:r>
              <a:rPr lang="en-US" altLang="zh-CN" sz="1800" dirty="0">
                <a:solidFill>
                  <a:schemeClr val="tx1"/>
                </a:solidFill>
              </a:rPr>
              <a:t>)            (</a:t>
            </a:r>
            <a:r>
              <a:rPr lang="zh-CN" altLang="en-US" sz="1800" dirty="0">
                <a:solidFill>
                  <a:schemeClr val="tx1"/>
                </a:solidFill>
              </a:rPr>
              <a:t>总线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专用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3" name="AutoShape 26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97B796E-63AF-4D53-A803-CD725E9E14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AutoShape 62">
            <a:hlinkClick r:id="rId2" action="ppaction://hlinksldjump"/>
            <a:extLst>
              <a:ext uri="{FF2B5EF4-FFF2-40B4-BE49-F238E27FC236}">
                <a16:creationId xmlns:a16="http://schemas.microsoft.com/office/drawing/2014/main" id="{D4D94376-41F2-4420-9ADA-B9043FEDD2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FF57D0B-3C86-43ED-88DA-B0DBD06B64D6}"/>
              </a:ext>
            </a:extLst>
          </p:cNvPr>
          <p:cNvGrpSpPr/>
          <p:nvPr/>
        </p:nvGrpSpPr>
        <p:grpSpPr>
          <a:xfrm>
            <a:off x="1403648" y="838800"/>
            <a:ext cx="6657416" cy="1224000"/>
            <a:chOff x="1403648" y="828000"/>
            <a:chExt cx="6657416" cy="1224000"/>
          </a:xfrm>
        </p:grpSpPr>
        <p:sp>
          <p:nvSpPr>
            <p:cNvPr id="71" name="Text Box 286">
              <a:extLst>
                <a:ext uri="{FF2B5EF4-FFF2-40B4-BE49-F238E27FC236}">
                  <a16:creationId xmlns:a16="http://schemas.microsoft.com/office/drawing/2014/main" id="{6E6613E7-C88D-4D05-B8BB-1990B8BC4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704" y="1584000"/>
              <a:ext cx="1152128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0" dirty="0">
                  <a:solidFill>
                    <a:schemeClr val="tx1"/>
                  </a:solidFill>
                </a:rPr>
                <a:t>Rd    Rt/Rs</a:t>
              </a:r>
              <a:endParaRPr lang="zh-CN" altLang="en-US" sz="1600" b="0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ABD18AA0-771D-4BDE-9CA0-705F1CD00A66}"/>
                </a:ext>
              </a:extLst>
            </p:cNvPr>
            <p:cNvCxnSpPr/>
            <p:nvPr/>
          </p:nvCxnSpPr>
          <p:spPr bwMode="auto">
            <a:xfrm flipV="1">
              <a:off x="3527704" y="1224000"/>
              <a:ext cx="144000" cy="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6" name="Text Box 255">
              <a:extLst>
                <a:ext uri="{FF2B5EF4-FFF2-40B4-BE49-F238E27FC236}">
                  <a16:creationId xmlns:a16="http://schemas.microsoft.com/office/drawing/2014/main" id="{33EBF2B7-A373-4509-942D-DC417B9E6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704" y="1008000"/>
              <a:ext cx="1008000" cy="432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寄存器组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92" name="Text Box 255">
              <a:extLst>
                <a:ext uri="{FF2B5EF4-FFF2-40B4-BE49-F238E27FC236}">
                  <a16:creationId xmlns:a16="http://schemas.microsoft.com/office/drawing/2014/main" id="{BE0BD5DD-A2E4-423C-8791-9946B0C70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9704" y="1080000"/>
              <a:ext cx="792000" cy="28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dirty="0">
                  <a:solidFill>
                    <a:schemeClr val="tx1"/>
                  </a:solidFill>
                </a:rPr>
                <a:t>移位器</a:t>
              </a: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10E5EC2B-AB8C-4254-BD70-D5140B5D3408}"/>
                </a:ext>
              </a:extLst>
            </p:cNvPr>
            <p:cNvCxnSpPr/>
            <p:nvPr/>
          </p:nvCxnSpPr>
          <p:spPr bwMode="auto">
            <a:xfrm>
              <a:off x="2915704" y="1080000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95" name="Text Box 286">
              <a:extLst>
                <a:ext uri="{FF2B5EF4-FFF2-40B4-BE49-F238E27FC236}">
                  <a16:creationId xmlns:a16="http://schemas.microsoft.com/office/drawing/2014/main" id="{41F699FC-1E32-498D-8C7C-27F0F26BD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704" y="1872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opA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96" name="Text Box 286">
              <a:extLst>
                <a:ext uri="{FF2B5EF4-FFF2-40B4-BE49-F238E27FC236}">
                  <a16:creationId xmlns:a16="http://schemas.microsoft.com/office/drawing/2014/main" id="{22B02D5F-9F46-4511-83BA-7CF88A264E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1704" y="1872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opS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sp>
          <p:nvSpPr>
            <p:cNvPr id="97" name="Text Box 286">
              <a:extLst>
                <a:ext uri="{FF2B5EF4-FFF2-40B4-BE49-F238E27FC236}">
                  <a16:creationId xmlns:a16="http://schemas.microsoft.com/office/drawing/2014/main" id="{BB32D82D-C968-4F28-A305-01FE97E9B7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704" y="1872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RWr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8F9558E9-DE5D-4F9D-863E-B05FF3872C35}"/>
                </a:ext>
              </a:extLst>
            </p:cNvPr>
            <p:cNvCxnSpPr/>
            <p:nvPr/>
          </p:nvCxnSpPr>
          <p:spPr bwMode="auto">
            <a:xfrm flipV="1">
              <a:off x="2015704" y="144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8D4461AB-3ADA-4C3D-B7CC-FD7804B670DA}"/>
                </a:ext>
              </a:extLst>
            </p:cNvPr>
            <p:cNvCxnSpPr/>
            <p:nvPr/>
          </p:nvCxnSpPr>
          <p:spPr bwMode="auto">
            <a:xfrm>
              <a:off x="2915704" y="1368000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8CA3EE2C-9C67-4A66-9F01-E369F2814D09}"/>
                </a:ext>
              </a:extLst>
            </p:cNvPr>
            <p:cNvCxnSpPr/>
            <p:nvPr/>
          </p:nvCxnSpPr>
          <p:spPr bwMode="auto">
            <a:xfrm flipH="1" flipV="1">
              <a:off x="3419704" y="1422000"/>
              <a:ext cx="188" cy="46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3B144371-3F06-4CCC-8AA2-57EE3BD62DE3}"/>
                </a:ext>
              </a:extLst>
            </p:cNvPr>
            <p:cNvCxnSpPr/>
            <p:nvPr/>
          </p:nvCxnSpPr>
          <p:spPr bwMode="auto">
            <a:xfrm flipV="1">
              <a:off x="2339704" y="1440000"/>
              <a:ext cx="190" cy="43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63CD291A-8332-41BF-970D-C861BD488C9A}"/>
                </a:ext>
              </a:extLst>
            </p:cNvPr>
            <p:cNvCxnSpPr/>
            <p:nvPr/>
          </p:nvCxnSpPr>
          <p:spPr bwMode="auto">
            <a:xfrm flipV="1">
              <a:off x="2735704" y="144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95E4DCE2-D3EF-42B7-B7D7-D1BBFF38D807}"/>
                </a:ext>
              </a:extLst>
            </p:cNvPr>
            <p:cNvCxnSpPr/>
            <p:nvPr/>
          </p:nvCxnSpPr>
          <p:spPr bwMode="auto">
            <a:xfrm flipV="1">
              <a:off x="2843704" y="144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FFF30F2B-E34B-4D6B-8765-9E9347ADD868}"/>
                </a:ext>
              </a:extLst>
            </p:cNvPr>
            <p:cNvCxnSpPr/>
            <p:nvPr/>
          </p:nvCxnSpPr>
          <p:spPr bwMode="auto">
            <a:xfrm>
              <a:off x="1729236" y="1260000"/>
              <a:ext cx="18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5218AB70-6A5C-4CD8-98A1-2824AEEF2335}"/>
                </a:ext>
              </a:extLst>
            </p:cNvPr>
            <p:cNvCxnSpPr/>
            <p:nvPr/>
          </p:nvCxnSpPr>
          <p:spPr bwMode="auto">
            <a:xfrm>
              <a:off x="3096000" y="1368000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0595E953-7C5B-46C3-A38B-3BE635ECF5C1}"/>
                </a:ext>
              </a:extLst>
            </p:cNvPr>
            <p:cNvCxnSpPr/>
            <p:nvPr/>
          </p:nvCxnSpPr>
          <p:spPr bwMode="auto">
            <a:xfrm flipV="1">
              <a:off x="3096000" y="1548000"/>
              <a:ext cx="75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15593232-A687-41F0-BE1D-1C45C3334C83}"/>
                </a:ext>
              </a:extLst>
            </p:cNvPr>
            <p:cNvCxnSpPr/>
            <p:nvPr/>
          </p:nvCxnSpPr>
          <p:spPr bwMode="auto">
            <a:xfrm flipH="1" flipV="1">
              <a:off x="4571704" y="1368000"/>
              <a:ext cx="188" cy="52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3B233BB5-80CB-4A8E-A13A-FF592AAC6270}"/>
                </a:ext>
              </a:extLst>
            </p:cNvPr>
            <p:cNvCxnSpPr/>
            <p:nvPr/>
          </p:nvCxnSpPr>
          <p:spPr bwMode="auto">
            <a:xfrm>
              <a:off x="4931704" y="1224000"/>
              <a:ext cx="144000" cy="29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F023A43C-4A27-42F6-95E7-F4504576AC42}"/>
                </a:ext>
              </a:extLst>
            </p:cNvPr>
            <p:cNvCxnSpPr/>
            <p:nvPr/>
          </p:nvCxnSpPr>
          <p:spPr bwMode="auto">
            <a:xfrm>
              <a:off x="5075704" y="1224000"/>
              <a:ext cx="154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707F2EAC-B48E-46C8-B5CD-1DC3908DB1EE}"/>
                </a:ext>
              </a:extLst>
            </p:cNvPr>
            <p:cNvCxnSpPr/>
            <p:nvPr/>
          </p:nvCxnSpPr>
          <p:spPr bwMode="auto">
            <a:xfrm>
              <a:off x="1403704" y="1800000"/>
              <a:ext cx="367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646060F7-269B-4C9F-BE1C-906AAAB9BF20}"/>
                </a:ext>
              </a:extLst>
            </p:cNvPr>
            <p:cNvCxnSpPr/>
            <p:nvPr/>
          </p:nvCxnSpPr>
          <p:spPr bwMode="auto">
            <a:xfrm flipV="1">
              <a:off x="3096000" y="900000"/>
              <a:ext cx="208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BC6450F2-F246-4A52-B7BA-031E23F70DDA}"/>
                </a:ext>
              </a:extLst>
            </p:cNvPr>
            <p:cNvCxnSpPr/>
            <p:nvPr/>
          </p:nvCxnSpPr>
          <p:spPr bwMode="auto">
            <a:xfrm flipV="1">
              <a:off x="1403704" y="828000"/>
              <a:ext cx="226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3" name="Text Box 286">
              <a:extLst>
                <a:ext uri="{FF2B5EF4-FFF2-40B4-BE49-F238E27FC236}">
                  <a16:creationId xmlns:a16="http://schemas.microsoft.com/office/drawing/2014/main" id="{7BBCF36B-7BBD-4BCB-890F-5EAF77F23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4" y="936000"/>
              <a:ext cx="2841360" cy="576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105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opA</a:t>
              </a:r>
              <a:r>
                <a:rPr lang="en-US" altLang="zh-CN" sz="1600" dirty="0">
                  <a:solidFill>
                    <a:schemeClr val="tx1"/>
                  </a:solidFill>
                </a:rPr>
                <a:t>—00/01/10/11</a:t>
              </a:r>
              <a:r>
                <a:rPr lang="zh-CN" altLang="en-US" sz="1600" dirty="0">
                  <a:solidFill>
                    <a:schemeClr val="tx1"/>
                  </a:solidFill>
                </a:rPr>
                <a:t>为</a:t>
              </a:r>
              <a:r>
                <a:rPr lang="en-US" altLang="zh-CN" sz="1600" dirty="0">
                  <a:solidFill>
                    <a:schemeClr val="tx1"/>
                  </a:solidFill>
                </a:rPr>
                <a:t>+/-/&amp;/</a:t>
              </a: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⊕</a:t>
              </a:r>
              <a:endParaRPr lang="en-US" altLang="zh-CN" sz="16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opS</a:t>
              </a:r>
              <a:r>
                <a:rPr lang="en-US" altLang="zh-CN" sz="1600" dirty="0">
                  <a:solidFill>
                    <a:schemeClr val="tx1"/>
                  </a:solidFill>
                </a:rPr>
                <a:t>—00/10/11</a:t>
              </a:r>
              <a:r>
                <a:rPr lang="zh-CN" altLang="en-US" sz="1600" dirty="0">
                  <a:solidFill>
                    <a:schemeClr val="tx1"/>
                  </a:solidFill>
                </a:rPr>
                <a:t>为</a:t>
              </a:r>
              <a:r>
                <a:rPr lang="en-US" altLang="zh-CN" sz="1600" dirty="0">
                  <a:solidFill>
                    <a:schemeClr val="tx1"/>
                  </a:solidFill>
                </a:rPr>
                <a:t>&lt;&lt;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/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&gt;&gt;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L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/</a:t>
              </a:r>
              <a:r>
                <a:rPr lang="en-US" altLang="zh-CN" sz="16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&gt;&gt;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A</a:t>
              </a:r>
            </a:p>
          </p:txBody>
        </p: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01B393D2-9C08-4A65-A40E-E3C2F4D0D550}"/>
                </a:ext>
              </a:extLst>
            </p:cNvPr>
            <p:cNvGrpSpPr/>
            <p:nvPr/>
          </p:nvGrpSpPr>
          <p:grpSpPr>
            <a:xfrm>
              <a:off x="3275704" y="972000"/>
              <a:ext cx="252000" cy="504000"/>
              <a:chOff x="1085296" y="1118063"/>
              <a:chExt cx="252000" cy="504000"/>
            </a:xfrm>
          </p:grpSpPr>
          <p:sp>
            <p:nvSpPr>
              <p:cNvPr id="125" name="流程图: 手动操作 124">
                <a:extLst>
                  <a:ext uri="{FF2B5EF4-FFF2-40B4-BE49-F238E27FC236}">
                    <a16:creationId xmlns:a16="http://schemas.microsoft.com/office/drawing/2014/main" id="{C23D2955-781F-42D0-BA02-F7F73991B4DA}"/>
                  </a:ext>
                </a:extLst>
              </p:cNvPr>
              <p:cNvSpPr/>
              <p:nvPr/>
            </p:nvSpPr>
            <p:spPr bwMode="auto">
              <a:xfrm rot="16200000">
                <a:off x="959296" y="1244063"/>
                <a:ext cx="504000" cy="252000"/>
              </a:xfrm>
              <a:prstGeom prst="flowChartManualOperation">
                <a:avLst/>
              </a:prstGeom>
              <a:solidFill>
                <a:srgbClr val="FFCCFF">
                  <a:alpha val="80000"/>
                </a:srgbClr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Text Box 235">
                <a:extLst>
                  <a:ext uri="{FF2B5EF4-FFF2-40B4-BE49-F238E27FC236}">
                    <a16:creationId xmlns:a16="http://schemas.microsoft.com/office/drawing/2014/main" id="{BE08CDC7-7481-4AF1-8CAA-6FC50CE22C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977296" y="1264368"/>
                <a:ext cx="468000" cy="216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+mn-ea"/>
                    <a:ea typeface="+mn-ea"/>
                  </a:rPr>
                  <a:t>ALU</a:t>
                </a:r>
                <a:endParaRPr lang="en-US" altLang="zh-CN" sz="18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B403BD64-79EA-4445-B795-3C5E7781091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671704" y="828000"/>
              <a:ext cx="0" cy="39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4314B2FD-C042-4200-A035-758CDE61B2D9}"/>
                </a:ext>
              </a:extLst>
            </p:cNvPr>
            <p:cNvCxnSpPr/>
            <p:nvPr/>
          </p:nvCxnSpPr>
          <p:spPr bwMode="auto">
            <a:xfrm flipV="1">
              <a:off x="3096000" y="900000"/>
              <a:ext cx="75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0194592F-AEB8-4486-84E8-D8DADA58800F}"/>
                </a:ext>
              </a:extLst>
            </p:cNvPr>
            <p:cNvCxnSpPr/>
            <p:nvPr/>
          </p:nvCxnSpPr>
          <p:spPr bwMode="auto">
            <a:xfrm>
              <a:off x="1403704" y="1116000"/>
              <a:ext cx="14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079E672D-ECE7-4D18-8AC1-8CE036E08B4E}"/>
                </a:ext>
              </a:extLst>
            </p:cNvPr>
            <p:cNvCxnSpPr/>
            <p:nvPr/>
          </p:nvCxnSpPr>
          <p:spPr bwMode="auto">
            <a:xfrm>
              <a:off x="1403704" y="1332000"/>
              <a:ext cx="14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55C68630-31E2-4E7D-8647-C669064BFB2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03648" y="828000"/>
              <a:ext cx="0" cy="2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2C47F4C4-C442-4539-978E-175202065CF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03704" y="1332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540A0714-B368-47A1-B48F-7EF09265F13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851704" y="900000"/>
              <a:ext cx="0" cy="25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6BF7D3A5-C4E3-4A7E-A8E1-DBAB68644DF4}"/>
                </a:ext>
              </a:extLst>
            </p:cNvPr>
            <p:cNvCxnSpPr/>
            <p:nvPr/>
          </p:nvCxnSpPr>
          <p:spPr bwMode="auto">
            <a:xfrm>
              <a:off x="3851296" y="1152000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F78213A4-A20B-43E0-ABB4-9729CF53212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851704" y="1296000"/>
              <a:ext cx="0" cy="25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E1DA6F48-5F19-48F3-92F7-EF841AC71221}"/>
                </a:ext>
              </a:extLst>
            </p:cNvPr>
            <p:cNvCxnSpPr/>
            <p:nvPr/>
          </p:nvCxnSpPr>
          <p:spPr bwMode="auto">
            <a:xfrm>
              <a:off x="3851704" y="1296000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B09ABD19-C4AF-47C4-86D7-A6C63232CAB5}"/>
              </a:ext>
            </a:extLst>
          </p:cNvPr>
          <p:cNvGrpSpPr/>
          <p:nvPr/>
        </p:nvGrpSpPr>
        <p:grpSpPr>
          <a:xfrm>
            <a:off x="1439704" y="1018800"/>
            <a:ext cx="468000" cy="1044000"/>
            <a:chOff x="1439704" y="1018800"/>
            <a:chExt cx="468000" cy="1044000"/>
          </a:xfrm>
        </p:grpSpPr>
        <p:sp>
          <p:nvSpPr>
            <p:cNvPr id="128" name="流程图: 手动操作 127">
              <a:extLst>
                <a:ext uri="{FF2B5EF4-FFF2-40B4-BE49-F238E27FC236}">
                  <a16:creationId xmlns:a16="http://schemas.microsoft.com/office/drawing/2014/main" id="{A4FC09A9-F8BB-44A3-9CB0-2BD32A7F3C76}"/>
                </a:ext>
              </a:extLst>
            </p:cNvPr>
            <p:cNvSpPr/>
            <p:nvPr/>
          </p:nvSpPr>
          <p:spPr bwMode="auto">
            <a:xfrm rot="16200000">
              <a:off x="1403704" y="1162800"/>
              <a:ext cx="468000" cy="180000"/>
            </a:xfrm>
            <a:prstGeom prst="flowChartManualOperation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9" name="Text Box 235">
              <a:extLst>
                <a:ext uri="{FF2B5EF4-FFF2-40B4-BE49-F238E27FC236}">
                  <a16:creationId xmlns:a16="http://schemas.microsoft.com/office/drawing/2014/main" id="{6D5C485B-33CB-42A1-B62E-9485519BD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21704" y="1180800"/>
              <a:ext cx="396000" cy="144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  <a:latin typeface="+mn-ea"/>
                  <a:ea typeface="+mn-ea"/>
                </a:rPr>
                <a:t>0  1</a:t>
              </a:r>
              <a:endParaRPr lang="en-US" altLang="zh-CN" sz="12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8C0E4B7D-84AE-4D92-8463-47F515937A6B}"/>
                </a:ext>
              </a:extLst>
            </p:cNvPr>
            <p:cNvCxnSpPr/>
            <p:nvPr/>
          </p:nvCxnSpPr>
          <p:spPr bwMode="auto">
            <a:xfrm flipV="1">
              <a:off x="1655704" y="1432800"/>
              <a:ext cx="0" cy="45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1" name="Text Box 286">
              <a:extLst>
                <a:ext uri="{FF2B5EF4-FFF2-40B4-BE49-F238E27FC236}">
                  <a16:creationId xmlns:a16="http://schemas.microsoft.com/office/drawing/2014/main" id="{6B893FD5-23DC-4129-8141-C4C573E1D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9704" y="1882800"/>
              <a:ext cx="46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</a:rPr>
                <a:t>DSel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427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7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75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75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75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表格 208">
            <a:extLst>
              <a:ext uri="{FF2B5EF4-FFF2-40B4-BE49-F238E27FC236}">
                <a16:creationId xmlns:a16="http://schemas.microsoft.com/office/drawing/2014/main" id="{CAC317EE-6CE2-408C-8D8E-1EB29D5F7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039165"/>
              </p:ext>
            </p:extLst>
          </p:nvPr>
        </p:nvGraphicFramePr>
        <p:xfrm>
          <a:off x="5724128" y="1882760"/>
          <a:ext cx="2586402" cy="153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9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61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+…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Cout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Cout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Cout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CF#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Cout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562407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CFFDDD-C9F1-4BD5-9725-6D26FA93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  <a:t>77</a:t>
            </a:fld>
            <a:endParaRPr lang="en-US" altLang="zh-CN"/>
          </a:p>
        </p:txBody>
      </p:sp>
      <p:sp>
        <p:nvSpPr>
          <p:cNvPr id="48" name="Text Box 199">
            <a:extLst>
              <a:ext uri="{FF2B5EF4-FFF2-40B4-BE49-F238E27FC236}">
                <a16:creationId xmlns:a16="http://schemas.microsoft.com/office/drawing/2014/main" id="{C7322F7D-A9BD-436D-B360-ACEC19A2E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0" y="331200"/>
            <a:ext cx="5868449" cy="36397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rgbClr val="C00000"/>
                </a:solidFill>
              </a:rPr>
              <a:t> *部件的其余引脚连接：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tx1"/>
                </a:solidFill>
              </a:rPr>
              <a:t>             </a:t>
            </a:r>
            <a:r>
              <a:rPr lang="en-US" altLang="zh-CN" sz="1600" b="0" dirty="0">
                <a:solidFill>
                  <a:schemeClr val="tx1"/>
                </a:solidFill>
              </a:rPr>
              <a:t>└</a:t>
            </a:r>
            <a:r>
              <a:rPr lang="en-US" altLang="zh-CN" sz="1600" dirty="0">
                <a:solidFill>
                  <a:schemeClr val="tx1"/>
                </a:solidFill>
              </a:rPr>
              <a:t>←</a:t>
            </a:r>
            <a:r>
              <a:rPr lang="zh-CN" altLang="en-US" sz="1600" dirty="0">
                <a:solidFill>
                  <a:schemeClr val="tx1"/>
                </a:solidFill>
              </a:rPr>
              <a:t>如</a:t>
            </a:r>
            <a:r>
              <a:rPr lang="en-US" altLang="zh-CN" sz="1600" dirty="0" err="1">
                <a:solidFill>
                  <a:schemeClr val="tx1"/>
                </a:solidFill>
              </a:rPr>
              <a:t>Cin</a:t>
            </a:r>
            <a:r>
              <a:rPr lang="zh-CN" altLang="en-US" sz="1600" dirty="0">
                <a:solidFill>
                  <a:schemeClr val="tx1"/>
                </a:solidFill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</a:rPr>
              <a:t>PSR</a:t>
            </a:r>
            <a:r>
              <a:rPr lang="zh-CN" altLang="en-US" sz="1600" dirty="0">
                <a:solidFill>
                  <a:schemeClr val="tx1"/>
                </a:solidFill>
              </a:rPr>
              <a:t>的入端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spcBef>
                <a:spcPts val="90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   </a:t>
            </a:r>
            <a:r>
              <a:rPr lang="zh-CN" altLang="en-US" sz="2200" dirty="0">
                <a:solidFill>
                  <a:schemeClr val="accent2"/>
                </a:solidFill>
              </a:rPr>
              <a:t>连接需求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accent2"/>
              </a:solidFill>
            </a:endParaRPr>
          </a:p>
          <a:p>
            <a:pPr>
              <a:spcBef>
                <a:spcPts val="21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  连接电路</a:t>
            </a:r>
            <a:r>
              <a:rPr lang="en-US" altLang="zh-CN" sz="2200" dirty="0">
                <a:solidFill>
                  <a:schemeClr val="accent2"/>
                </a:solidFill>
              </a:rPr>
              <a:t>—</a:t>
            </a:r>
          </a:p>
        </p:txBody>
      </p:sp>
      <p:graphicFrame>
        <p:nvGraphicFramePr>
          <p:cNvPr id="206" name="表格 205">
            <a:extLst>
              <a:ext uri="{FF2B5EF4-FFF2-40B4-BE49-F238E27FC236}">
                <a16:creationId xmlns:a16="http://schemas.microsoft.com/office/drawing/2014/main" id="{AB3C2CCA-AFB9-461B-AF5B-8EC2ECB4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927525"/>
              </p:ext>
            </p:extLst>
          </p:nvPr>
        </p:nvGraphicFramePr>
        <p:xfrm>
          <a:off x="1547664" y="1628800"/>
          <a:ext cx="4176464" cy="1788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指令功能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标志的形成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保存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ADD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运算产生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ADC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SBB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XOR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Rd⊕Rs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CF/OF=0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，其余产生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M[Rs]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不保存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113860"/>
                  </a:ext>
                </a:extLst>
              </a:tr>
            </a:tbl>
          </a:graphicData>
        </a:graphic>
      </p:graphicFrame>
      <p:graphicFrame>
        <p:nvGraphicFramePr>
          <p:cNvPr id="208" name="表格 207">
            <a:extLst>
              <a:ext uri="{FF2B5EF4-FFF2-40B4-BE49-F238E27FC236}">
                <a16:creationId xmlns:a16="http://schemas.microsoft.com/office/drawing/2014/main" id="{8249FB6D-9D1C-4AA4-B070-F64D774C6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50992"/>
              </p:ext>
            </p:extLst>
          </p:nvPr>
        </p:nvGraphicFramePr>
        <p:xfrm>
          <a:off x="5724128" y="1628800"/>
          <a:ext cx="2592288" cy="1788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Cin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245375"/>
                  </a:ext>
                </a:extLst>
              </a:tr>
            </a:tbl>
          </a:graphicData>
        </a:graphic>
      </p:graphicFrame>
      <p:sp>
        <p:nvSpPr>
          <p:cNvPr id="210" name="Text Box 1015">
            <a:extLst>
              <a:ext uri="{FF2B5EF4-FFF2-40B4-BE49-F238E27FC236}">
                <a16:creationId xmlns:a16="http://schemas.microsoft.com/office/drawing/2014/main" id="{5BD4177F-5786-4C1F-9A52-B9C7A5340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1124744"/>
            <a:ext cx="6695872" cy="2842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基于指令功能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21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基于</a:t>
            </a:r>
            <a:r>
              <a:rPr lang="zh-CN" altLang="en-US" sz="2200" u="sng" dirty="0">
                <a:solidFill>
                  <a:schemeClr val="tx1"/>
                </a:solidFill>
              </a:rPr>
              <a:t>连接需求</a:t>
            </a:r>
            <a:r>
              <a:rPr lang="zh-CN" altLang="en-US" sz="2200" dirty="0">
                <a:solidFill>
                  <a:schemeClr val="tx1"/>
                </a:solidFill>
              </a:rPr>
              <a:t>的组合逻辑电路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功能表→输出函数→电路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aphicFrame>
        <p:nvGraphicFramePr>
          <p:cNvPr id="211" name="表格 210">
            <a:extLst>
              <a:ext uri="{FF2B5EF4-FFF2-40B4-BE49-F238E27FC236}">
                <a16:creationId xmlns:a16="http://schemas.microsoft.com/office/drawing/2014/main" id="{C4B2384E-4AD0-48A9-A22C-E114CC55F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390114"/>
              </p:ext>
            </p:extLst>
          </p:nvPr>
        </p:nvGraphicFramePr>
        <p:xfrm>
          <a:off x="6048000" y="4006808"/>
          <a:ext cx="1008112" cy="12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Cin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CF#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2" name="表格 211">
            <a:extLst>
              <a:ext uri="{FF2B5EF4-FFF2-40B4-BE49-F238E27FC236}">
                <a16:creationId xmlns:a16="http://schemas.microsoft.com/office/drawing/2014/main" id="{E6F4C2D5-CC9B-4739-9AE2-776E182E5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780717"/>
              </p:ext>
            </p:extLst>
          </p:nvPr>
        </p:nvGraphicFramePr>
        <p:xfrm>
          <a:off x="539552" y="4006808"/>
          <a:ext cx="2376264" cy="12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ZF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OF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+…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Cout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Cout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890675"/>
                  </a:ext>
                </a:extLst>
              </a:tr>
            </a:tbl>
          </a:graphicData>
        </a:graphic>
      </p:graphicFrame>
      <p:sp>
        <p:nvSpPr>
          <p:cNvPr id="215" name="AutoShape 29">
            <a:extLst>
              <a:ext uri="{FF2B5EF4-FFF2-40B4-BE49-F238E27FC236}">
                <a16:creationId xmlns:a16="http://schemas.microsoft.com/office/drawing/2014/main" id="{B5279378-2C3A-45FA-B510-9DAF1EA94492}"/>
              </a:ext>
            </a:extLst>
          </p:cNvPr>
          <p:cNvSpPr/>
          <p:nvPr/>
        </p:nvSpPr>
        <p:spPr bwMode="auto">
          <a:xfrm>
            <a:off x="134576" y="2456920"/>
            <a:ext cx="1116000" cy="252000"/>
          </a:xfrm>
          <a:prstGeom prst="borderCallout2">
            <a:avLst>
              <a:gd name="adj1" fmla="val 55002"/>
              <a:gd name="adj2" fmla="val 99131"/>
              <a:gd name="adj3" fmla="val 53355"/>
              <a:gd name="adj4" fmla="val 110243"/>
              <a:gd name="adj5" fmla="val 128742"/>
              <a:gd name="adj6" fmla="val 142841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</a:rPr>
              <a:t>带借位减法</a:t>
            </a:r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6643BCC9-4069-4ED0-A436-DEB04036CBAF}"/>
              </a:ext>
            </a:extLst>
          </p:cNvPr>
          <p:cNvGrpSpPr/>
          <p:nvPr/>
        </p:nvGrpSpPr>
        <p:grpSpPr>
          <a:xfrm>
            <a:off x="7200000" y="4149080"/>
            <a:ext cx="1637998" cy="1116000"/>
            <a:chOff x="2736000" y="2484000"/>
            <a:chExt cx="1637998" cy="1116000"/>
          </a:xfrm>
        </p:grpSpPr>
        <p:sp>
          <p:nvSpPr>
            <p:cNvPr id="217" name="Text Box 255">
              <a:extLst>
                <a:ext uri="{FF2B5EF4-FFF2-40B4-BE49-F238E27FC236}">
                  <a16:creationId xmlns:a16="http://schemas.microsoft.com/office/drawing/2014/main" id="{66E068A6-7512-4E30-A3F0-D4D46889C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0000" y="2484000"/>
              <a:ext cx="864000" cy="864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8" name="流程图: 手动操作 217">
              <a:extLst>
                <a:ext uri="{FF2B5EF4-FFF2-40B4-BE49-F238E27FC236}">
                  <a16:creationId xmlns:a16="http://schemas.microsoft.com/office/drawing/2014/main" id="{697D407D-610B-4098-A61A-2ED3B27844D7}"/>
                </a:ext>
              </a:extLst>
            </p:cNvPr>
            <p:cNvSpPr/>
            <p:nvPr/>
          </p:nvSpPr>
          <p:spPr bwMode="auto">
            <a:xfrm rot="16200000">
              <a:off x="3348000" y="2808000"/>
              <a:ext cx="792000" cy="216000"/>
            </a:xfrm>
            <a:prstGeom prst="flowChartManualOperation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9" name="Text Box 235">
              <a:extLst>
                <a:ext uri="{FF2B5EF4-FFF2-40B4-BE49-F238E27FC236}">
                  <a16:creationId xmlns:a16="http://schemas.microsoft.com/office/drawing/2014/main" id="{ED42D006-3F89-4F9E-8F9D-2E9A2D89A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02000" y="2862000"/>
              <a:ext cx="612000" cy="144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  <a:latin typeface="+mn-ea"/>
                  <a:ea typeface="+mn-ea"/>
                </a:rPr>
                <a:t>0 1 2 3</a:t>
              </a:r>
              <a:endParaRPr lang="en-US" altLang="zh-CN" sz="12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E300CDDD-7328-448D-8B6C-A7354F966011}"/>
                </a:ext>
              </a:extLst>
            </p:cNvPr>
            <p:cNvCxnSpPr/>
            <p:nvPr/>
          </p:nvCxnSpPr>
          <p:spPr bwMode="auto">
            <a:xfrm flipV="1">
              <a:off x="3744000" y="324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21" name="Text Box 286">
              <a:extLst>
                <a:ext uri="{FF2B5EF4-FFF2-40B4-BE49-F238E27FC236}">
                  <a16:creationId xmlns:a16="http://schemas.microsoft.com/office/drawing/2014/main" id="{1A012724-10E1-499E-AE9F-3B8373F55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00" y="3420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SCI</a:t>
              </a:r>
              <a:endParaRPr lang="zh-CN" altLang="en-US" sz="1600" b="0" dirty="0">
                <a:solidFill>
                  <a:srgbClr val="FF3399"/>
                </a:solidFill>
              </a:endParaRPr>
            </a:p>
          </p:txBody>
        </p: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3EF4E4DB-727C-4787-9CF7-837EE38FD49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88000" y="2844000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23" name="Line 201">
              <a:extLst>
                <a:ext uri="{FF2B5EF4-FFF2-40B4-BE49-F238E27FC236}">
                  <a16:creationId xmlns:a16="http://schemas.microsoft.com/office/drawing/2014/main" id="{AC4C0229-D161-4BA5-8215-A47A44546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840" y="2700000"/>
              <a:ext cx="144000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Text Box 434">
              <a:extLst>
                <a:ext uri="{FF2B5EF4-FFF2-40B4-BE49-F238E27FC236}">
                  <a16:creationId xmlns:a16="http://schemas.microsoft.com/office/drawing/2014/main" id="{95996520-3049-4871-968F-8FD36F760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856" y="2628000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A92DF35E-7FF2-4457-BCE9-E4ABD050DD60}"/>
                </a:ext>
              </a:extLst>
            </p:cNvPr>
            <p:cNvSpPr/>
            <p:nvPr/>
          </p:nvSpPr>
          <p:spPr bwMode="auto">
            <a:xfrm>
              <a:off x="3419840" y="2664000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A671DB97-EEBB-4867-91CC-9F7F300593F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132000" y="2700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92CB3728-7EEC-4F4B-8F7F-037F4611E50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32000" y="270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28" name="Text Box 286">
              <a:extLst>
                <a:ext uri="{FF2B5EF4-FFF2-40B4-BE49-F238E27FC236}">
                  <a16:creationId xmlns:a16="http://schemas.microsoft.com/office/drawing/2014/main" id="{11B7ECAF-A624-4A21-8352-C12BE34FC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000" y="2736000"/>
              <a:ext cx="2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CF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9" name="Text Box 286">
              <a:extLst>
                <a:ext uri="{FF2B5EF4-FFF2-40B4-BE49-F238E27FC236}">
                  <a16:creationId xmlns:a16="http://schemas.microsoft.com/office/drawing/2014/main" id="{57C2D957-DDC9-4D97-8AF7-ABDF1943D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0000" y="2924944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VCC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F070839D-F1EB-4EC1-9FC4-11D9B8FF19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20000" y="3024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31" name="Text Box 286">
              <a:extLst>
                <a:ext uri="{FF2B5EF4-FFF2-40B4-BE49-F238E27FC236}">
                  <a16:creationId xmlns:a16="http://schemas.microsoft.com/office/drawing/2014/main" id="{B3C4FCDE-0D1F-426D-8146-F8F65D74F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0000" y="3077344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GND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DDF4862F-1902-4BC6-98B4-E5E28D43C2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20000" y="3168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928C0303-E4CA-4A3C-B22D-0E7DBE2F912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52000" y="2916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34" name="Text Box 286">
              <a:extLst>
                <a:ext uri="{FF2B5EF4-FFF2-40B4-BE49-F238E27FC236}">
                  <a16:creationId xmlns:a16="http://schemas.microsoft.com/office/drawing/2014/main" id="{E593EBAA-4141-4255-B3C4-061308CBE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3998" y="2834944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>
                  <a:solidFill>
                    <a:schemeClr val="tx1"/>
                  </a:solidFill>
                </a:rPr>
                <a:t>Cin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F87D5DC4-27EA-400D-B5E5-50C9DEDA522F}"/>
              </a:ext>
            </a:extLst>
          </p:cNvPr>
          <p:cNvGrpSpPr/>
          <p:nvPr/>
        </p:nvGrpSpPr>
        <p:grpSpPr>
          <a:xfrm>
            <a:off x="2988000" y="4005064"/>
            <a:ext cx="2628200" cy="1620000"/>
            <a:chOff x="3744000" y="2484000"/>
            <a:chExt cx="2628200" cy="1620000"/>
          </a:xfrm>
        </p:grpSpPr>
        <p:sp>
          <p:nvSpPr>
            <p:cNvPr id="276" name="Text Box 255">
              <a:extLst>
                <a:ext uri="{FF2B5EF4-FFF2-40B4-BE49-F238E27FC236}">
                  <a16:creationId xmlns:a16="http://schemas.microsoft.com/office/drawing/2014/main" id="{47AFA7D2-A76B-43B4-B6B1-5670A62D0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000" y="2484000"/>
              <a:ext cx="1656000" cy="1404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031FAF69-260A-45DD-93A1-748025A3A887}"/>
                </a:ext>
              </a:extLst>
            </p:cNvPr>
            <p:cNvGrpSpPr/>
            <p:nvPr/>
          </p:nvGrpSpPr>
          <p:grpSpPr>
            <a:xfrm>
              <a:off x="5724000" y="3312000"/>
              <a:ext cx="180000" cy="396000"/>
              <a:chOff x="4733381" y="3203999"/>
              <a:chExt cx="180000" cy="396000"/>
            </a:xfrm>
          </p:grpSpPr>
          <p:sp>
            <p:nvSpPr>
              <p:cNvPr id="315" name="流程图: 手动操作 314">
                <a:extLst>
                  <a:ext uri="{FF2B5EF4-FFF2-40B4-BE49-F238E27FC236}">
                    <a16:creationId xmlns:a16="http://schemas.microsoft.com/office/drawing/2014/main" id="{47795C49-67BB-4A13-85F2-841E2261DB20}"/>
                  </a:ext>
                </a:extLst>
              </p:cNvPr>
              <p:cNvSpPr/>
              <p:nvPr/>
            </p:nvSpPr>
            <p:spPr bwMode="auto">
              <a:xfrm rot="16200000">
                <a:off x="4625381" y="3311999"/>
                <a:ext cx="396000" cy="180000"/>
              </a:xfrm>
              <a:prstGeom prst="flowChartManualOperation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6" name="Text Box 235">
                <a:extLst>
                  <a:ext uri="{FF2B5EF4-FFF2-40B4-BE49-F238E27FC236}">
                    <a16:creationId xmlns:a16="http://schemas.microsoft.com/office/drawing/2014/main" id="{43F1492C-22F6-4A91-8E33-636E8D107A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43381" y="3329999"/>
                <a:ext cx="324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dirty="0">
                    <a:solidFill>
                      <a:schemeClr val="tx1"/>
                    </a:solidFill>
                    <a:latin typeface="+mn-ea"/>
                    <a:ea typeface="+mn-ea"/>
                  </a:rPr>
                  <a:t>0 1</a:t>
                </a:r>
                <a:endParaRPr lang="en-US" altLang="zh-CN" sz="12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A8ABF498-4D3B-42CD-85B0-56BE82EC84B2}"/>
                </a:ext>
              </a:extLst>
            </p:cNvPr>
            <p:cNvCxnSpPr/>
            <p:nvPr/>
          </p:nvCxnSpPr>
          <p:spPr bwMode="auto">
            <a:xfrm flipV="1">
              <a:off x="5004000" y="3456000"/>
              <a:ext cx="0" cy="46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79" name="Text Box 286">
              <a:extLst>
                <a:ext uri="{FF2B5EF4-FFF2-40B4-BE49-F238E27FC236}">
                  <a16:creationId xmlns:a16="http://schemas.microsoft.com/office/drawing/2014/main" id="{1321FA20-C6AA-45F5-A3D4-2B0CEB2FA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000" y="3924000"/>
              <a:ext cx="57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SFS</a:t>
              </a:r>
              <a:r>
                <a:rPr lang="en-US" altLang="zh-CN" sz="1600" b="0" baseline="-18000" dirty="0">
                  <a:solidFill>
                    <a:srgbClr val="FF3399"/>
                  </a:solidFill>
                </a:rPr>
                <a:t>1-0</a:t>
              </a:r>
              <a:endParaRPr lang="zh-CN" altLang="en-US" sz="1600" b="0" baseline="-18000" dirty="0">
                <a:solidFill>
                  <a:srgbClr val="FF3399"/>
                </a:solidFill>
              </a:endParaRPr>
            </a:p>
          </p:txBody>
        </p:sp>
        <p:sp>
          <p:nvSpPr>
            <p:cNvPr id="280" name="Text Box 434">
              <a:extLst>
                <a:ext uri="{FF2B5EF4-FFF2-40B4-BE49-F238E27FC236}">
                  <a16:creationId xmlns:a16="http://schemas.microsoft.com/office/drawing/2014/main" id="{CC9A1DDB-EE5F-4755-ABF2-9802C5E77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080" y="2627999"/>
              <a:ext cx="180000" cy="32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AAFB23AA-B7B2-4E50-9B13-178983406271}"/>
                </a:ext>
              </a:extLst>
            </p:cNvPr>
            <p:cNvSpPr/>
            <p:nvPr/>
          </p:nvSpPr>
          <p:spPr bwMode="auto">
            <a:xfrm>
              <a:off x="5364080" y="2772000"/>
              <a:ext cx="72000" cy="7200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751A5019-C50B-48B8-B93E-2ED0DBC248B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6080" y="2808000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83" name="Text Box 286">
              <a:extLst>
                <a:ext uri="{FF2B5EF4-FFF2-40B4-BE49-F238E27FC236}">
                  <a16:creationId xmlns:a16="http://schemas.microsoft.com/office/drawing/2014/main" id="{5899DB40-448D-45ED-BB9F-A703AA000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200" y="270000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ZF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E38DC16B-7FA3-424A-B437-72915C0AA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48000" y="2664000"/>
              <a:ext cx="93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25F1AF0E-F2AB-4F0C-AA6D-503A04FCF96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48000" y="2916000"/>
              <a:ext cx="93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86" name="Text Box 286">
              <a:extLst>
                <a:ext uri="{FF2B5EF4-FFF2-40B4-BE49-F238E27FC236}">
                  <a16:creationId xmlns:a16="http://schemas.microsoft.com/office/drawing/2014/main" id="{C839E248-4260-42CE-8768-4775CFA39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080" y="2664000"/>
              <a:ext cx="144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A22CF689-3624-454F-881E-61F8C5D8EB4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52000" y="2556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B36D0C5F-63AD-45FA-B4EF-DC91BEE5D8C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52000" y="2556000"/>
              <a:ext cx="133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89" name="Text Box 286">
              <a:extLst>
                <a:ext uri="{FF2B5EF4-FFF2-40B4-BE49-F238E27FC236}">
                  <a16:creationId xmlns:a16="http://schemas.microsoft.com/office/drawing/2014/main" id="{AC88C0ED-5CFB-4103-B6B2-C4A89C029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080" y="2484000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SF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0" name="Text Box 286">
              <a:extLst>
                <a:ext uri="{FF2B5EF4-FFF2-40B4-BE49-F238E27FC236}">
                  <a16:creationId xmlns:a16="http://schemas.microsoft.com/office/drawing/2014/main" id="{349B71B6-9674-48F5-B665-80BA826B0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000" y="252000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n-1</a:t>
              </a:r>
              <a:endParaRPr lang="zh-CN" altLang="en-US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91" name="Text Box 286">
              <a:extLst>
                <a:ext uri="{FF2B5EF4-FFF2-40B4-BE49-F238E27FC236}">
                  <a16:creationId xmlns:a16="http://schemas.microsoft.com/office/drawing/2014/main" id="{1E91FA26-E101-413C-AB85-BD9EB93E9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000" y="277200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F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  <a:endParaRPr lang="zh-CN" altLang="en-US" sz="1600" baseline="-18000" dirty="0">
                <a:solidFill>
                  <a:schemeClr val="tx1"/>
                </a:solidFill>
              </a:endParaRPr>
            </a:p>
          </p:txBody>
        </p:sp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CE8F4D61-E584-44B9-9668-D864DA58209D}"/>
                </a:ext>
              </a:extLst>
            </p:cNvPr>
            <p:cNvGrpSpPr/>
            <p:nvPr/>
          </p:nvGrpSpPr>
          <p:grpSpPr>
            <a:xfrm>
              <a:off x="4895800" y="2988000"/>
              <a:ext cx="180000" cy="540000"/>
              <a:chOff x="4733381" y="3059999"/>
              <a:chExt cx="180000" cy="540000"/>
            </a:xfrm>
          </p:grpSpPr>
          <p:sp>
            <p:nvSpPr>
              <p:cNvPr id="313" name="流程图: 手动操作 312">
                <a:extLst>
                  <a:ext uri="{FF2B5EF4-FFF2-40B4-BE49-F238E27FC236}">
                    <a16:creationId xmlns:a16="http://schemas.microsoft.com/office/drawing/2014/main" id="{890C8D0C-420C-4805-B0FB-9208E7BC6C03}"/>
                  </a:ext>
                </a:extLst>
              </p:cNvPr>
              <p:cNvSpPr/>
              <p:nvPr/>
            </p:nvSpPr>
            <p:spPr bwMode="auto">
              <a:xfrm rot="16200000">
                <a:off x="4553381" y="3239999"/>
                <a:ext cx="540000" cy="180000"/>
              </a:xfrm>
              <a:prstGeom prst="flowChartManualOperation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4" name="Text Box 235">
                <a:extLst>
                  <a:ext uri="{FF2B5EF4-FFF2-40B4-BE49-F238E27FC236}">
                    <a16:creationId xmlns:a16="http://schemas.microsoft.com/office/drawing/2014/main" id="{C31CC24A-8EE9-441A-96BF-75A0E1B41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589381" y="3265199"/>
                <a:ext cx="432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dirty="0">
                    <a:solidFill>
                      <a:schemeClr val="tx1"/>
                    </a:solidFill>
                    <a:latin typeface="+mn-ea"/>
                    <a:ea typeface="+mn-ea"/>
                  </a:rPr>
                  <a:t>2 1 0</a:t>
                </a:r>
                <a:endParaRPr lang="en-US" altLang="zh-CN" sz="12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765950E3-704D-440F-A98A-38D77EE2400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48000" y="3096000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94" name="Line 201">
              <a:extLst>
                <a:ext uri="{FF2B5EF4-FFF2-40B4-BE49-F238E27FC236}">
                  <a16:creationId xmlns:a16="http://schemas.microsoft.com/office/drawing/2014/main" id="{7184CC51-DB3B-49F8-8361-70CE04E71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1840" y="3240000"/>
              <a:ext cx="144000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Text Box 434">
              <a:extLst>
                <a:ext uri="{FF2B5EF4-FFF2-40B4-BE49-F238E27FC236}">
                  <a16:creationId xmlns:a16="http://schemas.microsoft.com/office/drawing/2014/main" id="{3F59F5F8-C951-47CC-AFC1-BFA4A29F4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5856" y="3168000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96" name="椭圆 295">
              <a:extLst>
                <a:ext uri="{FF2B5EF4-FFF2-40B4-BE49-F238E27FC236}">
                  <a16:creationId xmlns:a16="http://schemas.microsoft.com/office/drawing/2014/main" id="{6B3D452B-0C34-4DEA-B6C7-F1549EEA389C}"/>
                </a:ext>
              </a:extLst>
            </p:cNvPr>
            <p:cNvSpPr/>
            <p:nvPr/>
          </p:nvSpPr>
          <p:spPr bwMode="auto">
            <a:xfrm>
              <a:off x="4679840" y="3204000"/>
              <a:ext cx="72000" cy="7200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36FAEEFE-4F05-43EE-BBC2-276236C5B6A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92000" y="3096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0A34B73B-6714-4871-9E58-FBFF23BA2C6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92000" y="324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99" name="Text Box 286">
              <a:extLst>
                <a:ext uri="{FF2B5EF4-FFF2-40B4-BE49-F238E27FC236}">
                  <a16:creationId xmlns:a16="http://schemas.microsoft.com/office/drawing/2014/main" id="{6E6E357F-9187-4656-AFA4-89173F076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000" y="3312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VCC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00" name="直接箭头连接符 299">
              <a:extLst>
                <a:ext uri="{FF2B5EF4-FFF2-40B4-BE49-F238E27FC236}">
                  <a16:creationId xmlns:a16="http://schemas.microsoft.com/office/drawing/2014/main" id="{6D0163F5-7FA3-41FA-B16F-02CB8A94B20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0000" y="3420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01" name="Text Box 286">
              <a:extLst>
                <a:ext uri="{FF2B5EF4-FFF2-40B4-BE49-F238E27FC236}">
                  <a16:creationId xmlns:a16="http://schemas.microsoft.com/office/drawing/2014/main" id="{05A0F94A-38E9-459B-AEC6-717A3F38E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128" y="3312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GND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1CFE65EF-865E-4BC3-A582-85BD247500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08128" y="3420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855204E3-9CE6-47E4-940B-687A3454438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48000" y="3600000"/>
              <a:ext cx="147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4" name="直接箭头连接符 303">
              <a:extLst>
                <a:ext uri="{FF2B5EF4-FFF2-40B4-BE49-F238E27FC236}">
                  <a16:creationId xmlns:a16="http://schemas.microsoft.com/office/drawing/2014/main" id="{87FE8EDD-67B8-495B-8F43-F9838C8A6EDD}"/>
                </a:ext>
              </a:extLst>
            </p:cNvPr>
            <p:cNvCxnSpPr/>
            <p:nvPr/>
          </p:nvCxnSpPr>
          <p:spPr bwMode="auto">
            <a:xfrm flipV="1">
              <a:off x="5832000" y="3654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9FA161F8-0D84-4152-9DA8-A4B4859CFF2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76000" y="3248992"/>
              <a:ext cx="1008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06" name="Text Box 286">
              <a:extLst>
                <a:ext uri="{FF2B5EF4-FFF2-40B4-BE49-F238E27FC236}">
                  <a16:creationId xmlns:a16="http://schemas.microsoft.com/office/drawing/2014/main" id="{E282747C-73EF-4177-85A9-58AE4A63A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200" y="3140992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CF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1F3A43FC-A204-4E3F-B461-C00588AE888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04000" y="3492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08" name="Text Box 286">
              <a:extLst>
                <a:ext uri="{FF2B5EF4-FFF2-40B4-BE49-F238E27FC236}">
                  <a16:creationId xmlns:a16="http://schemas.microsoft.com/office/drawing/2014/main" id="{FF3EE2D8-2785-44DE-90B4-406242010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000" y="338400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OF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09" name="Text Box 286">
              <a:extLst>
                <a:ext uri="{FF2B5EF4-FFF2-40B4-BE49-F238E27FC236}">
                  <a16:creationId xmlns:a16="http://schemas.microsoft.com/office/drawing/2014/main" id="{7373CDB8-97E2-48E5-992D-5B817591B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000" y="2988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00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</a:rPr>
                <a:t>Cout</a:t>
              </a:r>
              <a:endParaRPr lang="zh-CN" altLang="en-US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310" name="Text Box 286">
              <a:extLst>
                <a:ext uri="{FF2B5EF4-FFF2-40B4-BE49-F238E27FC236}">
                  <a16:creationId xmlns:a16="http://schemas.microsoft.com/office/drawing/2014/main" id="{44BBC17B-2D79-492C-B44D-EF6C78390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000" y="3492000"/>
              <a:ext cx="1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00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A8A300EE-94D4-4C17-9817-8DDDE88BB23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04128" y="3834000"/>
              <a:ext cx="82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sp>
          <p:nvSpPr>
            <p:cNvPr id="312" name="Text Box 286">
              <a:extLst>
                <a:ext uri="{FF2B5EF4-FFF2-40B4-BE49-F238E27FC236}">
                  <a16:creationId xmlns:a16="http://schemas.microsoft.com/office/drawing/2014/main" id="{A313B9F4-7C33-44D2-AAFE-FDF60C895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112" y="36000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>
                  <a:solidFill>
                    <a:srgbClr val="FF3399"/>
                  </a:solidFill>
                </a:rPr>
                <a:t>SFS</a:t>
              </a:r>
              <a:r>
                <a:rPr lang="en-US" altLang="zh-CN" sz="1600" b="0" baseline="-18000" dirty="0">
                  <a:solidFill>
                    <a:srgbClr val="FF3399"/>
                  </a:solidFill>
                </a:rPr>
                <a:t>1</a:t>
              </a:r>
              <a:endParaRPr lang="zh-CN" altLang="en-US" sz="1600" b="0" baseline="-18000" dirty="0">
                <a:solidFill>
                  <a:srgbClr val="FF3399"/>
                </a:solidFill>
              </a:endParaRPr>
            </a:p>
          </p:txBody>
        </p:sp>
      </p:grpSp>
      <p:grpSp>
        <p:nvGrpSpPr>
          <p:cNvPr id="320" name="组合 319">
            <a:extLst>
              <a:ext uri="{FF2B5EF4-FFF2-40B4-BE49-F238E27FC236}">
                <a16:creationId xmlns:a16="http://schemas.microsoft.com/office/drawing/2014/main" id="{FED1E7EC-F00D-4975-95FF-768E4D6867B2}"/>
              </a:ext>
            </a:extLst>
          </p:cNvPr>
          <p:cNvGrpSpPr/>
          <p:nvPr/>
        </p:nvGrpSpPr>
        <p:grpSpPr>
          <a:xfrm>
            <a:off x="4247616" y="476672"/>
            <a:ext cx="4716872" cy="1044000"/>
            <a:chOff x="4175608" y="404664"/>
            <a:chExt cx="4716872" cy="1044000"/>
          </a:xfrm>
        </p:grpSpPr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45537077-F78D-4D19-83F6-4D31FC01F33F}"/>
                </a:ext>
              </a:extLst>
            </p:cNvPr>
            <p:cNvGrpSpPr/>
            <p:nvPr/>
          </p:nvGrpSpPr>
          <p:grpSpPr>
            <a:xfrm>
              <a:off x="4787736" y="656664"/>
              <a:ext cx="4104744" cy="792000"/>
              <a:chOff x="3887984" y="4068000"/>
              <a:chExt cx="4104744" cy="792000"/>
            </a:xfrm>
          </p:grpSpPr>
          <p:sp>
            <p:nvSpPr>
              <p:cNvPr id="263" name="Text Box 255">
                <a:extLst>
                  <a:ext uri="{FF2B5EF4-FFF2-40B4-BE49-F238E27FC236}">
                    <a16:creationId xmlns:a16="http://schemas.microsoft.com/office/drawing/2014/main" id="{5C223852-2756-4E8D-A673-3EBF90F5A6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28000" y="4068000"/>
                <a:ext cx="684000" cy="468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587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dirty="0" err="1">
                    <a:solidFill>
                      <a:schemeClr val="tx1"/>
                    </a:solidFill>
                  </a:rPr>
                  <a:t>Cin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连接电路</a:t>
                </a:r>
              </a:p>
            </p:txBody>
          </p:sp>
          <p:cxnSp>
            <p:nvCxnSpPr>
              <p:cNvPr id="264" name="直接箭头连接符 263">
                <a:extLst>
                  <a:ext uri="{FF2B5EF4-FFF2-40B4-BE49-F238E27FC236}">
                    <a16:creationId xmlns:a16="http://schemas.microsoft.com/office/drawing/2014/main" id="{DDB63331-E7A4-451B-94DE-E5B2F4119E8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812360" y="4176000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5" name="Text Box 286">
                <a:extLst>
                  <a:ext uri="{FF2B5EF4-FFF2-40B4-BE49-F238E27FC236}">
                    <a16:creationId xmlns:a16="http://schemas.microsoft.com/office/drawing/2014/main" id="{EAA3F2F2-3F47-48BC-879E-A203BFFD41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48728" y="4176000"/>
                <a:ext cx="14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…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66" name="直接箭头连接符 265">
                <a:extLst>
                  <a:ext uri="{FF2B5EF4-FFF2-40B4-BE49-F238E27FC236}">
                    <a16:creationId xmlns:a16="http://schemas.microsoft.com/office/drawing/2014/main" id="{33F59115-D80F-44DF-B1AB-FBD29CE6DC6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812360" y="4392000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7" name="Text Box 255">
                <a:extLst>
                  <a:ext uri="{FF2B5EF4-FFF2-40B4-BE49-F238E27FC236}">
                    <a16:creationId xmlns:a16="http://schemas.microsoft.com/office/drawing/2014/main" id="{A1B27857-F743-49C5-B6F1-C1C05C1A50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7984" y="4068000"/>
                <a:ext cx="684000" cy="468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587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PSR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连接电路</a:t>
                </a:r>
              </a:p>
            </p:txBody>
          </p:sp>
          <p:cxnSp>
            <p:nvCxnSpPr>
              <p:cNvPr id="268" name="直接箭头连接符 267">
                <a:extLst>
                  <a:ext uri="{FF2B5EF4-FFF2-40B4-BE49-F238E27FC236}">
                    <a16:creationId xmlns:a16="http://schemas.microsoft.com/office/drawing/2014/main" id="{76EF1FC8-C819-4A95-833F-D95D607CDA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571984" y="4176000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9" name="Text Box 286">
                <a:extLst>
                  <a:ext uri="{FF2B5EF4-FFF2-40B4-BE49-F238E27FC236}">
                    <a16:creationId xmlns:a16="http://schemas.microsoft.com/office/drawing/2014/main" id="{D1866C9B-0EBC-4C18-9046-450041887F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7984" y="4166920"/>
                <a:ext cx="14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…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70" name="直接箭头连接符 269">
                <a:extLst>
                  <a:ext uri="{FF2B5EF4-FFF2-40B4-BE49-F238E27FC236}">
                    <a16:creationId xmlns:a16="http://schemas.microsoft.com/office/drawing/2014/main" id="{27C16593-3728-4225-9F9F-4F5C093AC38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571984" y="4382920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71" name="直接箭头连接符 270">
                <a:extLst>
                  <a:ext uri="{FF2B5EF4-FFF2-40B4-BE49-F238E27FC236}">
                    <a16:creationId xmlns:a16="http://schemas.microsoft.com/office/drawing/2014/main" id="{1C457755-E669-4EB3-9DBD-0A718E36C5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248000" y="4536000"/>
                <a:ext cx="0" cy="144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272" name="Text Box 286">
                <a:extLst>
                  <a:ext uri="{FF2B5EF4-FFF2-40B4-BE49-F238E27FC236}">
                    <a16:creationId xmlns:a16="http://schemas.microsoft.com/office/drawing/2014/main" id="{67B1AEB0-E2FE-4CE5-99D6-CB9D72B324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000" y="4680000"/>
                <a:ext cx="431936" cy="180000"/>
              </a:xfrm>
              <a:prstGeom prst="rect">
                <a:avLst/>
              </a:prstGeom>
              <a:solidFill>
                <a:srgbClr val="CCFFFF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dirty="0">
                    <a:solidFill>
                      <a:srgbClr val="FF3399"/>
                    </a:solidFill>
                  </a:rPr>
                  <a:t>SFS</a:t>
                </a:r>
                <a:endParaRPr lang="zh-CN" altLang="en-US" sz="1600" dirty="0">
                  <a:solidFill>
                    <a:srgbClr val="FF3399"/>
                  </a:solidFill>
                </a:endParaRPr>
              </a:p>
            </p:txBody>
          </p:sp>
          <p:sp>
            <p:nvSpPr>
              <p:cNvPr id="273" name="Text Box 286">
                <a:extLst>
                  <a:ext uri="{FF2B5EF4-FFF2-40B4-BE49-F238E27FC236}">
                    <a16:creationId xmlns:a16="http://schemas.microsoft.com/office/drawing/2014/main" id="{47682055-D0A9-456A-BED1-C94311870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2000" y="4680000"/>
                <a:ext cx="431936" cy="180000"/>
              </a:xfrm>
              <a:prstGeom prst="rect">
                <a:avLst/>
              </a:prstGeom>
              <a:solidFill>
                <a:srgbClr val="CCFFFF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dirty="0">
                    <a:solidFill>
                      <a:srgbClr val="FF3399"/>
                    </a:solidFill>
                  </a:rPr>
                  <a:t>SCI</a:t>
                </a:r>
                <a:endParaRPr lang="zh-CN" altLang="en-US" sz="1600" dirty="0">
                  <a:solidFill>
                    <a:srgbClr val="FF3399"/>
                  </a:solidFill>
                </a:endParaRPr>
              </a:p>
            </p:txBody>
          </p:sp>
          <p:cxnSp>
            <p:nvCxnSpPr>
              <p:cNvPr id="274" name="直接箭头连接符 273">
                <a:extLst>
                  <a:ext uri="{FF2B5EF4-FFF2-40B4-BE49-F238E27FC236}">
                    <a16:creationId xmlns:a16="http://schemas.microsoft.com/office/drawing/2014/main" id="{69E7821B-D0A8-49A8-B6F9-5AAECA0EFFC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88000" y="4536000"/>
                <a:ext cx="0" cy="144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</p:grpSp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DBDFE81A-3C83-4DCF-8D7A-81F634EE4756}"/>
                </a:ext>
              </a:extLst>
            </p:cNvPr>
            <p:cNvGrpSpPr/>
            <p:nvPr/>
          </p:nvGrpSpPr>
          <p:grpSpPr>
            <a:xfrm>
              <a:off x="4175608" y="404664"/>
              <a:ext cx="4716000" cy="1042536"/>
              <a:chOff x="4175608" y="404664"/>
              <a:chExt cx="4716000" cy="1042536"/>
            </a:xfrm>
          </p:grpSpPr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205958EE-20F4-4D12-8631-4775C39B1121}"/>
                  </a:ext>
                </a:extLst>
              </p:cNvPr>
              <p:cNvCxnSpPr/>
              <p:nvPr/>
            </p:nvCxnSpPr>
            <p:spPr bwMode="auto">
              <a:xfrm>
                <a:off x="4175608" y="404664"/>
                <a:ext cx="471600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5" name="AutoShape 266">
                <a:extLst>
                  <a:ext uri="{FF2B5EF4-FFF2-40B4-BE49-F238E27FC236}">
                    <a16:creationId xmlns:a16="http://schemas.microsoft.com/office/drawing/2014/main" id="{A19E51CC-3791-4618-A056-5940B075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3712" y="872736"/>
                <a:ext cx="1080000" cy="324000"/>
              </a:xfrm>
              <a:custGeom>
                <a:avLst/>
                <a:gdLst>
                  <a:gd name="G0" fmla="+- 4232 0 0"/>
                  <a:gd name="G1" fmla="+- 21600 0 4232"/>
                  <a:gd name="G2" fmla="*/ 4232 1 2"/>
                  <a:gd name="G3" fmla="+- 21600 0 G2"/>
                  <a:gd name="G4" fmla="+/ 4232 21600 2"/>
                  <a:gd name="G5" fmla="+/ G1 0 2"/>
                  <a:gd name="G6" fmla="*/ 21600 21600 4232"/>
                  <a:gd name="G7" fmla="*/ G6 1 2"/>
                  <a:gd name="G8" fmla="+- 21600 0 G7"/>
                  <a:gd name="G9" fmla="*/ 21600 1 2"/>
                  <a:gd name="G10" fmla="+- 4232 0 G9"/>
                  <a:gd name="G11" fmla="?: G10 G8 0"/>
                  <a:gd name="G12" fmla="?: G10 G7 21600"/>
                  <a:gd name="T0" fmla="*/ 19484 w 21600"/>
                  <a:gd name="T1" fmla="*/ 10800 h 21600"/>
                  <a:gd name="T2" fmla="*/ 10800 w 21600"/>
                  <a:gd name="T3" fmla="*/ 21600 h 21600"/>
                  <a:gd name="T4" fmla="*/ 2116 w 21600"/>
                  <a:gd name="T5" fmla="*/ 10800 h 21600"/>
                  <a:gd name="T6" fmla="*/ 10800 w 21600"/>
                  <a:gd name="T7" fmla="*/ 0 h 21600"/>
                  <a:gd name="T8" fmla="*/ 3916 w 21600"/>
                  <a:gd name="T9" fmla="*/ 3916 h 21600"/>
                  <a:gd name="T10" fmla="*/ 17684 w 21600"/>
                  <a:gd name="T11" fmla="*/ 1768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232" y="21600"/>
                    </a:lnTo>
                    <a:lnTo>
                      <a:pt x="17368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CCFF"/>
              </a:solidFill>
              <a:ln w="158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36000" tIns="18000" rIns="36000" bIns="1800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ALU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6" name="直接箭头连接符 12">
                <a:extLst>
                  <a:ext uri="{FF2B5EF4-FFF2-40B4-BE49-F238E27FC236}">
                    <a16:creationId xmlns:a16="http://schemas.microsoft.com/office/drawing/2014/main" id="{60FF71BF-FA38-44E8-B419-6CBC947A40B3}"/>
                  </a:ext>
                </a:extLst>
              </p:cNvPr>
              <p:cNvCxnSpPr/>
              <p:nvPr/>
            </p:nvCxnSpPr>
            <p:spPr bwMode="auto">
              <a:xfrm>
                <a:off x="6803786" y="1304664"/>
                <a:ext cx="93600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7" name="直接箭头连接符 246">
                <a:extLst>
                  <a:ext uri="{FF2B5EF4-FFF2-40B4-BE49-F238E27FC236}">
                    <a16:creationId xmlns:a16="http://schemas.microsoft.com/office/drawing/2014/main" id="{6337644B-F02F-4BB4-82A3-7B550B7E7A0F}"/>
                  </a:ext>
                </a:extLst>
              </p:cNvPr>
              <p:cNvCxnSpPr/>
              <p:nvPr/>
            </p:nvCxnSpPr>
            <p:spPr bwMode="auto">
              <a:xfrm>
                <a:off x="6443712" y="404664"/>
                <a:ext cx="0" cy="46800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48" name="直接箭头连接符 247">
                <a:extLst>
                  <a:ext uri="{FF2B5EF4-FFF2-40B4-BE49-F238E27FC236}">
                    <a16:creationId xmlns:a16="http://schemas.microsoft.com/office/drawing/2014/main" id="{1048BD87-605B-4F35-A07A-E3D2F633B895}"/>
                  </a:ext>
                </a:extLst>
              </p:cNvPr>
              <p:cNvCxnSpPr/>
              <p:nvPr/>
            </p:nvCxnSpPr>
            <p:spPr bwMode="auto">
              <a:xfrm>
                <a:off x="7235136" y="404664"/>
                <a:ext cx="0" cy="46800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49" name="直接箭头连接符 248">
                <a:extLst>
                  <a:ext uri="{FF2B5EF4-FFF2-40B4-BE49-F238E27FC236}">
                    <a16:creationId xmlns:a16="http://schemas.microsoft.com/office/drawing/2014/main" id="{32E5C186-AF30-4E8E-87EA-EA4F88D81FF6}"/>
                  </a:ext>
                </a:extLst>
              </p:cNvPr>
              <p:cNvCxnSpPr/>
              <p:nvPr/>
            </p:nvCxnSpPr>
            <p:spPr bwMode="auto">
              <a:xfrm flipV="1">
                <a:off x="7739712" y="404664"/>
                <a:ext cx="0" cy="90000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8D5FBC4F-D565-4D70-A7B9-8BE4C00969B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253712" y="980664"/>
                <a:ext cx="774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8978C5D9-BD8E-44B5-B416-D9BCDA5FE5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155664" y="980664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52" name="直接箭头连接符 251">
                <a:extLst>
                  <a:ext uri="{FF2B5EF4-FFF2-40B4-BE49-F238E27FC236}">
                    <a16:creationId xmlns:a16="http://schemas.microsoft.com/office/drawing/2014/main" id="{69F5D7EE-9E8C-4654-B8F4-FB2EF1489C0D}"/>
                  </a:ext>
                </a:extLst>
              </p:cNvPr>
              <p:cNvCxnSpPr/>
              <p:nvPr/>
            </p:nvCxnSpPr>
            <p:spPr bwMode="auto">
              <a:xfrm flipH="1">
                <a:off x="6803712" y="1196664"/>
                <a:ext cx="0" cy="10800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253" name="Text Box 286">
                <a:extLst>
                  <a:ext uri="{FF2B5EF4-FFF2-40B4-BE49-F238E27FC236}">
                    <a16:creationId xmlns:a16="http://schemas.microsoft.com/office/drawing/2014/main" id="{D8DC7D9B-89C4-4FE1-B3B7-549EE8937B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59664" y="872664"/>
                <a:ext cx="432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 err="1">
                    <a:solidFill>
                      <a:schemeClr val="tx1"/>
                    </a:solidFill>
                  </a:rPr>
                  <a:t>Cout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Text Box 286">
                <a:extLst>
                  <a:ext uri="{FF2B5EF4-FFF2-40B4-BE49-F238E27FC236}">
                    <a16:creationId xmlns:a16="http://schemas.microsoft.com/office/drawing/2014/main" id="{EEEB36FB-F044-470D-AE56-671BC2FBB4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15752" y="800664"/>
                <a:ext cx="324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dirty="0" err="1">
                    <a:solidFill>
                      <a:schemeClr val="tx1"/>
                    </a:solidFill>
                  </a:rPr>
                  <a:t>Cin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等腰三角形 254">
                <a:extLst>
                  <a:ext uri="{FF2B5EF4-FFF2-40B4-BE49-F238E27FC236}">
                    <a16:creationId xmlns:a16="http://schemas.microsoft.com/office/drawing/2014/main" id="{0C8C9AA4-6109-4525-9C28-0A51D8DAABA4}"/>
                  </a:ext>
                </a:extLst>
              </p:cNvPr>
              <p:cNvSpPr/>
              <p:nvPr/>
            </p:nvSpPr>
            <p:spPr bwMode="auto">
              <a:xfrm>
                <a:off x="7667712" y="584664"/>
                <a:ext cx="144000" cy="144000"/>
              </a:xfrm>
              <a:prstGeom prst="triangle">
                <a:avLst/>
              </a:prstGeom>
              <a:solidFill>
                <a:srgbClr val="FFFF00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6" name="Text Box 256">
                <a:extLst>
                  <a:ext uri="{FF2B5EF4-FFF2-40B4-BE49-F238E27FC236}">
                    <a16:creationId xmlns:a16="http://schemas.microsoft.com/office/drawing/2014/main" id="{2426C440-2F20-44E5-B0A7-77D800F7D2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9712" y="548664"/>
                <a:ext cx="68400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1080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暂存器</a:t>
                </a:r>
              </a:p>
            </p:txBody>
          </p:sp>
          <p:sp>
            <p:nvSpPr>
              <p:cNvPr id="257" name="Text Box 256">
                <a:extLst>
                  <a:ext uri="{FF2B5EF4-FFF2-40B4-BE49-F238E27FC236}">
                    <a16:creationId xmlns:a16="http://schemas.microsoft.com/office/drawing/2014/main" id="{F4C3608C-0851-4E86-821A-752D86A76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5344" y="548664"/>
                <a:ext cx="68400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1080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暂存器</a:t>
                </a:r>
              </a:p>
            </p:txBody>
          </p:sp>
          <p:sp>
            <p:nvSpPr>
              <p:cNvPr id="258" name="Text Box 255">
                <a:extLst>
                  <a:ext uri="{FF2B5EF4-FFF2-40B4-BE49-F238E27FC236}">
                    <a16:creationId xmlns:a16="http://schemas.microsoft.com/office/drawing/2014/main" id="{A017CB72-A470-455C-A6B1-4BB65A24A2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5608" y="791584"/>
                <a:ext cx="432000" cy="288000"/>
              </a:xfrm>
              <a:prstGeom prst="rect">
                <a:avLst/>
              </a:prstGeom>
              <a:solidFill>
                <a:srgbClr val="FFCC99">
                  <a:alpha val="90000"/>
                </a:srgbClr>
              </a:solidFill>
              <a:ln w="1587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PSR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9" name="直接箭头连接符 258">
                <a:extLst>
                  <a:ext uri="{FF2B5EF4-FFF2-40B4-BE49-F238E27FC236}">
                    <a16:creationId xmlns:a16="http://schemas.microsoft.com/office/drawing/2014/main" id="{568C6EE6-139B-4CF5-9F2F-A1E6CA68BAF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607608" y="827584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0" name="Text Box 286">
                <a:extLst>
                  <a:ext uri="{FF2B5EF4-FFF2-40B4-BE49-F238E27FC236}">
                    <a16:creationId xmlns:a16="http://schemas.microsoft.com/office/drawing/2014/main" id="{F8A36932-0EEC-49CA-865C-78172D24F9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3608" y="827584"/>
                <a:ext cx="14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rgbClr val="C00000"/>
                    </a:solidFill>
                  </a:rPr>
                  <a:t>…</a:t>
                </a:r>
                <a:endParaRPr lang="zh-CN" altLang="en-US" sz="1400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261" name="直接箭头连接符 260">
                <a:extLst>
                  <a:ext uri="{FF2B5EF4-FFF2-40B4-BE49-F238E27FC236}">
                    <a16:creationId xmlns:a16="http://schemas.microsoft.com/office/drawing/2014/main" id="{410CCD75-2216-44C1-8B56-C812880852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607608" y="1043584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2" name="Text Box 286">
                <a:extLst>
                  <a:ext uri="{FF2B5EF4-FFF2-40B4-BE49-F238E27FC236}">
                    <a16:creationId xmlns:a16="http://schemas.microsoft.com/office/drawing/2014/main" id="{D90461E0-6B51-4EEC-A2E4-E6859A3AC8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3928" y="1232664"/>
                <a:ext cx="180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F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2" name="直接箭头连接符 241">
                <a:extLst>
                  <a:ext uri="{FF2B5EF4-FFF2-40B4-BE49-F238E27FC236}">
                    <a16:creationId xmlns:a16="http://schemas.microsoft.com/office/drawing/2014/main" id="{21700FA2-9AA0-487E-AD7D-4FBDAE7FF04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6155664" y="1124664"/>
                <a:ext cx="27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43" name="Text Box 286">
                <a:extLst>
                  <a:ext uri="{FF2B5EF4-FFF2-40B4-BE49-F238E27FC236}">
                    <a16:creationId xmlns:a16="http://schemas.microsoft.com/office/drawing/2014/main" id="{155FAA60-94E3-4A9E-9F84-175C49319A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75664" y="1025064"/>
                <a:ext cx="216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V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17" name="直接箭头连接符 316">
                <a:extLst>
                  <a:ext uri="{FF2B5EF4-FFF2-40B4-BE49-F238E27FC236}">
                    <a16:creationId xmlns:a16="http://schemas.microsoft.com/office/drawing/2014/main" id="{63857791-533F-40B7-816A-28533B19E62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27984" y="1087200"/>
                <a:ext cx="0" cy="180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318" name="Text Box 286">
                <a:extLst>
                  <a:ext uri="{FF2B5EF4-FFF2-40B4-BE49-F238E27FC236}">
                    <a16:creationId xmlns:a16="http://schemas.microsoft.com/office/drawing/2014/main" id="{2195099B-39C8-4F5B-ACF1-BDAA2371BE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2000" y="1267200"/>
                <a:ext cx="468000" cy="180000"/>
              </a:xfrm>
              <a:prstGeom prst="rect">
                <a:avLst/>
              </a:prstGeom>
              <a:solidFill>
                <a:srgbClr val="CCFFFF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dirty="0">
                    <a:solidFill>
                      <a:srgbClr val="FF3399"/>
                    </a:solidFill>
                  </a:rPr>
                  <a:t>PSRW</a:t>
                </a:r>
                <a:endParaRPr lang="zh-CN" altLang="en-US" sz="1600" dirty="0">
                  <a:solidFill>
                    <a:srgbClr val="FF3399"/>
                  </a:solidFill>
                </a:endParaRPr>
              </a:p>
            </p:txBody>
          </p:sp>
        </p:grpSp>
      </p:grpSp>
      <p:sp>
        <p:nvSpPr>
          <p:cNvPr id="321" name="AutoShape 62">
            <a:hlinkClick r:id="rId2" action="ppaction://hlinksldjump"/>
            <a:extLst>
              <a:ext uri="{FF2B5EF4-FFF2-40B4-BE49-F238E27FC236}">
                <a16:creationId xmlns:a16="http://schemas.microsoft.com/office/drawing/2014/main" id="{053DAA75-3F32-4EF9-AC9C-7EE08AA436A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112" name="Text Box 343">
            <a:extLst>
              <a:ext uri="{FF2B5EF4-FFF2-40B4-BE49-F238E27FC236}">
                <a16:creationId xmlns:a16="http://schemas.microsoft.com/office/drawing/2014/main" id="{C08E1109-0875-4D22-B579-92D56949E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213" y="5877272"/>
            <a:ext cx="5256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作业</a:t>
            </a:r>
            <a:r>
              <a:rPr lang="en-US" altLang="zh-CN" sz="2000" dirty="0"/>
              <a:t>2-5</a:t>
            </a:r>
            <a:r>
              <a:rPr lang="zh-CN" altLang="en-US" sz="2000" dirty="0"/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P87</a:t>
            </a:r>
            <a:r>
              <a:rPr lang="zh-CN" altLang="en-US" sz="2000" dirty="0">
                <a:solidFill>
                  <a:schemeClr val="tx1"/>
                </a:solidFill>
              </a:rPr>
              <a:t>起</a:t>
            </a:r>
            <a:r>
              <a:rPr lang="en-US" altLang="zh-CN" sz="2000">
                <a:solidFill>
                  <a:schemeClr val="tx1"/>
                </a:solidFill>
              </a:rPr>
              <a:t>—34(1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61294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/>
      <p:bldP spid="112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6.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2*78"/>
  <p:tag name="TABLE_ENDDRAG_RECT" val="76*342*612*7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.5|-1.4|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7cfe4d2-ce33-4670-b76d-2dd50b2e8b0e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chemeClr val="tx1"/>
          </a:solidFill>
          <a:round/>
        </a:ln>
      </a:spPr>
      <a:bodyPr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12884</TotalTime>
  <Words>20106</Words>
  <Application>Microsoft Office PowerPoint</Application>
  <PresentationFormat>全屏显示(4:3)</PresentationFormat>
  <Paragraphs>3213</Paragraphs>
  <Slides>77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83" baseType="lpstr">
      <vt:lpstr>MS Gothic</vt:lpstr>
      <vt:lpstr>黑体</vt:lpstr>
      <vt:lpstr>宋体</vt:lpstr>
      <vt:lpstr>Cambria Math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RGL</dc:creator>
  <cp:lastModifiedBy>guolin</cp:lastModifiedBy>
  <cp:revision>3076</cp:revision>
  <dcterms:created xsi:type="dcterms:W3CDTF">2002-02-16T03:40:00Z</dcterms:created>
  <dcterms:modified xsi:type="dcterms:W3CDTF">2025-10-20T07:02:06Z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AFEE6BCFE2E0429693020070FA3D4438_12</vt:lpwstr>
  </property>
  <property fmtid="{D5CDD505-2E9C-101B-9397-08002B2CF9AE}" pid="3" name="KSOProductBuildVer">
    <vt:lpwstr>2052-12.1.0.16250</vt:lpwstr>
  </property>
</Properties>
</file>