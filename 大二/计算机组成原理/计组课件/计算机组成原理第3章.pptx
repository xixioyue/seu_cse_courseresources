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notesSlides/notesSlide9.xml" ContentType="application/vnd.openxmlformats-officedocument.presentationml.notesSlide+xml"/>
  <Override PartName="/ppt/tags/tag22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3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34.xml" ContentType="application/vnd.openxmlformats-officedocument.presentationml.tags+xml"/>
  <Override PartName="/ppt/notesSlides/notesSlide21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notesSlides/notesSlide33.xml" ContentType="application/vnd.openxmlformats-officedocument.presentationml.notesSlide+xml"/>
  <Override PartName="/ppt/tags/tag358.xml" ContentType="application/vnd.openxmlformats-officedocument.presentationml.tags+xml"/>
  <Override PartName="/ppt/notesSlides/notesSlide34.xml" ContentType="application/vnd.openxmlformats-officedocument.presentationml.notesSlide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notesSlides/notesSlide35.xml" ContentType="application/vnd.openxmlformats-officedocument.presentationml.notesSlide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notesSlides/notesSlide36.xml" ContentType="application/vnd.openxmlformats-officedocument.presentationml.notesSlide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notesSlides/notesSlide37.xml" ContentType="application/vnd.openxmlformats-officedocument.presentationml.notesSlide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notesSlides/notesSlide38.xml" ContentType="application/vnd.openxmlformats-officedocument.presentationml.notesSlide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notesSlides/notesSlide39.xml" ContentType="application/vnd.openxmlformats-officedocument.presentationml.notesSlide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notesSlides/notesSlide40.xml" ContentType="application/vnd.openxmlformats-officedocument.presentationml.notesSlide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notesSlides/notesSlide41.xml" ContentType="application/vnd.openxmlformats-officedocument.presentationml.notesSlide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notesSlides/notesSlide42.xml" ContentType="application/vnd.openxmlformats-officedocument.presentationml.notesSlide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notesSlides/notesSlide43.xml" ContentType="application/vnd.openxmlformats-officedocument.presentationml.notesSlide+xml"/>
  <Override PartName="/ppt/tags/tag1464.xml" ContentType="application/vnd.openxmlformats-officedocument.presentationml.tags+xml"/>
  <Override PartName="/ppt/notesSlides/notesSlide44.xml" ContentType="application/vnd.openxmlformats-officedocument.presentationml.notesSlide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notesSlides/notesSlide45.xml" ContentType="application/vnd.openxmlformats-officedocument.presentationml.notesSlide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1630.xml" ContentType="application/vnd.openxmlformats-officedocument.presentationml.tags+xml"/>
  <Override PartName="/ppt/notesSlides/notesSlide48.xml" ContentType="application/vnd.openxmlformats-officedocument.presentationml.notesSlide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notesSlides/notesSlide49.xml" ContentType="application/vnd.openxmlformats-officedocument.presentationml.notesSlide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notesSlides/notesSlide50.xml" ContentType="application/vnd.openxmlformats-officedocument.presentationml.notesSlide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notesSlides/notesSlide51.xml" ContentType="application/vnd.openxmlformats-officedocument.presentationml.notesSlide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notesSlides/notesSlide52.xml" ContentType="application/vnd.openxmlformats-officedocument.presentationml.notesSlide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notesSlides/notesSlide53.xml" ContentType="application/vnd.openxmlformats-officedocument.presentationml.notesSlide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notesSlides/notesSlide54.xml" ContentType="application/vnd.openxmlformats-officedocument.presentationml.notesSlide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notesSlides/notesSlide55.xml" ContentType="application/vnd.openxmlformats-officedocument.presentationml.notesSlide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notesSlides/notesSlide56.xml" ContentType="application/vnd.openxmlformats-officedocument.presentationml.notesSlide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notesSlides/notesSlide57.xml" ContentType="application/vnd.openxmlformats-officedocument.presentationml.notesSlide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notesSlides/notesSlide58.xml" ContentType="application/vnd.openxmlformats-officedocument.presentationml.notesSlide+xml"/>
  <Override PartName="/ppt/tags/tag2139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notesSlides/notesSlide59.xml" ContentType="application/vnd.openxmlformats-officedocument.presentationml.notesSlide+xml"/>
  <Override PartName="/ppt/tags/tag2239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notesSlides/notesSlide60.xml" ContentType="application/vnd.openxmlformats-officedocument.presentationml.notesSlide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notesSlides/notesSlide61.xml" ContentType="application/vnd.openxmlformats-officedocument.presentationml.notesSlide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notesSlides/notesSlide62.xml" ContentType="application/vnd.openxmlformats-officedocument.presentationml.notesSlide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notesSlides/notesSlide63.xml" ContentType="application/vnd.openxmlformats-officedocument.presentationml.notesSlide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256" r:id="rId2"/>
    <p:sldId id="798" r:id="rId3"/>
    <p:sldId id="603" r:id="rId4"/>
    <p:sldId id="257" r:id="rId5"/>
    <p:sldId id="259" r:id="rId6"/>
    <p:sldId id="325" r:id="rId7"/>
    <p:sldId id="454" r:id="rId8"/>
    <p:sldId id="653" r:id="rId9"/>
    <p:sldId id="457" r:id="rId10"/>
    <p:sldId id="307" r:id="rId11"/>
    <p:sldId id="443" r:id="rId12"/>
    <p:sldId id="311" r:id="rId13"/>
    <p:sldId id="464" r:id="rId14"/>
    <p:sldId id="604" r:id="rId15"/>
    <p:sldId id="605" r:id="rId16"/>
    <p:sldId id="651" r:id="rId17"/>
    <p:sldId id="264" r:id="rId18"/>
    <p:sldId id="606" r:id="rId19"/>
    <p:sldId id="466" r:id="rId20"/>
    <p:sldId id="599" r:id="rId21"/>
    <p:sldId id="607" r:id="rId22"/>
    <p:sldId id="608" r:id="rId23"/>
    <p:sldId id="654" r:id="rId24"/>
    <p:sldId id="610" r:id="rId25"/>
    <p:sldId id="542" r:id="rId26"/>
    <p:sldId id="650" r:id="rId27"/>
    <p:sldId id="545" r:id="rId28"/>
    <p:sldId id="547" r:id="rId29"/>
    <p:sldId id="548" r:id="rId30"/>
    <p:sldId id="329" r:id="rId31"/>
    <p:sldId id="549" r:id="rId32"/>
    <p:sldId id="551" r:id="rId33"/>
    <p:sldId id="480" r:id="rId34"/>
    <p:sldId id="479" r:id="rId35"/>
    <p:sldId id="552" r:id="rId36"/>
    <p:sldId id="490" r:id="rId37"/>
    <p:sldId id="553" r:id="rId38"/>
    <p:sldId id="555" r:id="rId39"/>
    <p:sldId id="556" r:id="rId40"/>
    <p:sldId id="648" r:id="rId41"/>
    <p:sldId id="615" r:id="rId42"/>
    <p:sldId id="616" r:id="rId43"/>
    <p:sldId id="612" r:id="rId44"/>
    <p:sldId id="617" r:id="rId45"/>
    <p:sldId id="759" r:id="rId46"/>
    <p:sldId id="384" r:id="rId47"/>
    <p:sldId id="760" r:id="rId48"/>
    <p:sldId id="761" r:id="rId49"/>
    <p:sldId id="763" r:id="rId50"/>
    <p:sldId id="764" r:id="rId51"/>
    <p:sldId id="563" r:id="rId52"/>
    <p:sldId id="765" r:id="rId53"/>
    <p:sldId id="619" r:id="rId54"/>
    <p:sldId id="356" r:id="rId55"/>
    <p:sldId id="565" r:id="rId56"/>
    <p:sldId id="589" r:id="rId57"/>
    <p:sldId id="513" r:id="rId58"/>
    <p:sldId id="591" r:id="rId59"/>
    <p:sldId id="512" r:id="rId60"/>
    <p:sldId id="402" r:id="rId61"/>
    <p:sldId id="645" r:id="rId62"/>
    <p:sldId id="768" r:id="rId63"/>
    <p:sldId id="769" r:id="rId64"/>
    <p:sldId id="770" r:id="rId65"/>
    <p:sldId id="771" r:id="rId66"/>
    <p:sldId id="627" r:id="rId67"/>
    <p:sldId id="578" r:id="rId68"/>
    <p:sldId id="655" r:id="rId69"/>
    <p:sldId id="628" r:id="rId70"/>
    <p:sldId id="773" r:id="rId71"/>
    <p:sldId id="631" r:id="rId72"/>
    <p:sldId id="523" r:id="rId73"/>
    <p:sldId id="522" r:id="rId74"/>
    <p:sldId id="632" r:id="rId75"/>
    <p:sldId id="633" r:id="rId76"/>
    <p:sldId id="634" r:id="rId77"/>
    <p:sldId id="635" r:id="rId78"/>
    <p:sldId id="636" r:id="rId79"/>
    <p:sldId id="637" r:id="rId80"/>
    <p:sldId id="638" r:id="rId81"/>
    <p:sldId id="642" r:id="rId82"/>
    <p:sldId id="774" r:id="rId83"/>
    <p:sldId id="775" r:id="rId84"/>
  </p:sldIdLst>
  <p:sldSz cx="9144000" cy="6858000" type="screen4x3"/>
  <p:notesSz cx="6858000" cy="9144000"/>
  <p:custDataLst>
    <p:tags r:id="rId8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lin" initials="g" lastIdx="1" clrIdx="0">
    <p:extLst>
      <p:ext uri="{19B8F6BF-5375-455C-9EA6-DF929625EA0E}">
        <p15:presenceInfo xmlns:p15="http://schemas.microsoft.com/office/powerpoint/2012/main" userId="4f578e8ad608ee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CCCCFF"/>
    <a:srgbClr val="FF3399"/>
    <a:srgbClr val="990099"/>
    <a:srgbClr val="CC99FF"/>
    <a:srgbClr val="CCFFFF"/>
    <a:srgbClr val="FFCC99"/>
    <a:srgbClr val="99CCFF"/>
    <a:srgbClr val="FFC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78" autoAdjust="0"/>
    <p:restoredTop sz="95124" autoAdjust="0"/>
  </p:normalViewPr>
  <p:slideViewPr>
    <p:cSldViewPr showGuides="1">
      <p:cViewPr varScale="1">
        <p:scale>
          <a:sx n="90" d="100"/>
          <a:sy n="90" d="100"/>
        </p:scale>
        <p:origin x="1832" y="44"/>
      </p:cViewPr>
      <p:guideLst>
        <p:guide orient="horz" pos="219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gs" Target="tags/tag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u="none"/>
            </a:lvl1pPr>
          </a:lstStyle>
          <a:p>
            <a:endParaRPr lang="en-US" altLang="zh-CN"/>
          </a:p>
        </p:txBody>
      </p:sp>
      <p:sp>
        <p:nvSpPr>
          <p:cNvPr id="270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270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u="none"/>
            </a:lvl1pPr>
          </a:lstStyle>
          <a:p>
            <a:fld id="{58A3C207-0F0C-4AEF-9AE8-D10CB4FF5C8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u="none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u="none"/>
            </a:lvl1pPr>
          </a:lstStyle>
          <a:p>
            <a:fld id="{6DB63DE6-9781-4737-8BEC-0D66A11158C1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学时（层次结构），</a:t>
            </a:r>
            <a:r>
              <a:rPr lang="en-US" altLang="zh-CN" dirty="0"/>
              <a:t>3</a:t>
            </a:r>
            <a:r>
              <a:rPr lang="zh-CN" altLang="en-US" dirty="0"/>
              <a:t>学时（</a:t>
            </a:r>
            <a:r>
              <a:rPr lang="en-US" altLang="zh-CN" dirty="0"/>
              <a:t>RAM&amp;</a:t>
            </a:r>
            <a:r>
              <a:rPr lang="zh-CN" altLang="en-US" dirty="0"/>
              <a:t>主存</a:t>
            </a:r>
            <a:r>
              <a:rPr lang="zh-CN" dirty="0"/>
              <a:t>设计）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学时（主存连接</a:t>
            </a:r>
            <a:r>
              <a:rPr lang="en-US" altLang="zh-CN" dirty="0"/>
              <a:t>-</a:t>
            </a:r>
            <a:r>
              <a:rPr lang="zh-CN" altLang="en-US" dirty="0"/>
              <a:t>优化），</a:t>
            </a:r>
            <a:r>
              <a:rPr lang="en-US" altLang="zh-CN" dirty="0"/>
              <a:t>3</a:t>
            </a:r>
            <a:r>
              <a:rPr lang="zh-CN" altLang="en-US" dirty="0"/>
              <a:t>学时（</a:t>
            </a:r>
            <a:r>
              <a:rPr lang="en-US" altLang="zh-CN" dirty="0"/>
              <a:t>Cache</a:t>
            </a:r>
            <a:r>
              <a:rPr lang="zh-CN" dirty="0"/>
              <a:t>）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学时（虚存</a:t>
            </a:r>
            <a:r>
              <a:rPr lang="zh-CN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8D55E0B-BF1B-41A7-8AB9-C61D7E92EAFD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思考：寻址时间较长，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个存储字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次的效率太低</a:t>
            </a:r>
            <a:r>
              <a:rPr lang="en-US" altLang="zh-CN" dirty="0">
                <a:sym typeface="+mn-ea"/>
              </a:rPr>
              <a:t>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6997C67-28B3-489C-B100-03A18CEFEE48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40D89BF-6764-403C-ACA2-CF6E227807A3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前方：靠近</a:t>
            </a:r>
            <a:r>
              <a:rPr lang="en-US" altLang="zh-CN" dirty="0"/>
              <a:t>CPU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思考：触发器、电容。             </a:t>
            </a:r>
            <a:r>
              <a:rPr lang="en-US" altLang="zh-CN" dirty="0"/>
              <a:t>MOS</a:t>
            </a:r>
            <a:r>
              <a:rPr lang="zh-CN" altLang="en-US" dirty="0"/>
              <a:t>管不带垫底电极时，</a:t>
            </a:r>
            <a:r>
              <a:rPr lang="en-US" altLang="zh-CN" dirty="0"/>
              <a:t>D-S</a:t>
            </a:r>
            <a:r>
              <a:rPr lang="zh-CN" altLang="en-US" dirty="0"/>
              <a:t>间用一条线表示；带垫底电极时，用三段线表示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24E6DF1-88EF-4720-8ED6-783FF6199A10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注：</a:t>
            </a:r>
            <a:r>
              <a:rPr lang="en-US" altLang="zh-CN" dirty="0"/>
              <a:t>W</a:t>
            </a:r>
            <a:r>
              <a:rPr lang="zh-CN" altLang="en-US" dirty="0"/>
              <a:t>的高</a:t>
            </a:r>
            <a:r>
              <a:rPr lang="en-US" altLang="zh-CN" dirty="0"/>
              <a:t>=3.6V</a:t>
            </a:r>
            <a:r>
              <a:rPr lang="zh-CN" altLang="en-US" dirty="0"/>
              <a:t>、低</a:t>
            </a:r>
            <a:r>
              <a:rPr lang="en-US" altLang="zh-CN" dirty="0"/>
              <a:t>=0.4V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的高电位</a:t>
            </a:r>
            <a:r>
              <a:rPr lang="en-US" altLang="zh-CN" dirty="0"/>
              <a:t>=4.2V</a:t>
            </a:r>
            <a:r>
              <a:rPr lang="zh-CN" altLang="en-US" dirty="0"/>
              <a:t>、中间电位</a:t>
            </a:r>
            <a:r>
              <a:rPr lang="en-US" altLang="zh-CN" dirty="0"/>
              <a:t>=1.4V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3EB9AE3-ACA4-40D6-8CA9-BEE0175F83F1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085E65F-D318-465D-A7AF-C4E2367D811F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看控制引脚（→响应操作的标志）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看都周期信号时序要求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P13-</a:t>
            </a:r>
            <a:r>
              <a:rPr lang="zh-CN" altLang="en-US" dirty="0"/>
              <a:t>看芯片的内部组成，上页</a:t>
            </a:r>
            <a:r>
              <a:rPr lang="en-US" altLang="zh-CN" dirty="0"/>
              <a:t>-</a:t>
            </a:r>
            <a:r>
              <a:rPr lang="zh-CN" altLang="en-US" dirty="0"/>
              <a:t>看信号时序要求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451651B-D61F-49CD-BAC1-086898E421B5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P10-</a:t>
            </a:r>
            <a:r>
              <a:rPr lang="zh-CN" altLang="en-US" dirty="0"/>
              <a:t>看静态存储元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读出再生放大电路</a:t>
            </a:r>
            <a:r>
              <a:rPr lang="en-US" altLang="zh-CN" dirty="0">
                <a:latin typeface="+mn-ea"/>
                <a:ea typeface="+mn-ea"/>
              </a:rPr>
              <a:t>—</a:t>
            </a:r>
            <a:r>
              <a:rPr lang="zh-CN" altLang="en-US" dirty="0">
                <a:latin typeface="+mn-ea"/>
                <a:ea typeface="+mn-ea"/>
              </a:rPr>
              <a:t>先给其中的</a:t>
            </a:r>
            <a:r>
              <a:rPr lang="en-US" altLang="zh-CN" dirty="0">
                <a:latin typeface="+mn-ea"/>
                <a:ea typeface="+mn-ea"/>
              </a:rPr>
              <a:t>C</a:t>
            </a:r>
            <a:r>
              <a:rPr lang="en-US" altLang="zh-CN" baseline="-25000" dirty="0">
                <a:latin typeface="+mn-ea"/>
                <a:ea typeface="+mn-ea"/>
              </a:rPr>
              <a:t>D</a:t>
            </a:r>
            <a:r>
              <a:rPr lang="zh-CN" altLang="en-US" dirty="0">
                <a:latin typeface="+mn-ea"/>
                <a:ea typeface="+mn-ea"/>
              </a:rPr>
              <a:t>充电，</a:t>
            </a:r>
            <a:r>
              <a:rPr lang="en-US" altLang="zh-CN" dirty="0">
                <a:latin typeface="+mn-ea"/>
                <a:ea typeface="+mn-ea"/>
              </a:rPr>
              <a:t>D</a:t>
            </a:r>
            <a:r>
              <a:rPr lang="zh-CN" altLang="en-US" dirty="0">
                <a:latin typeface="+mn-ea"/>
                <a:ea typeface="+mn-ea"/>
              </a:rPr>
              <a:t>线→差分放大器┬→</a:t>
            </a:r>
            <a:r>
              <a:rPr lang="en-US" altLang="zh-CN" dirty="0">
                <a:latin typeface="+mn-ea"/>
                <a:ea typeface="+mn-ea"/>
              </a:rPr>
              <a:t>IO</a:t>
            </a:r>
            <a:r>
              <a:rPr lang="zh-CN" altLang="en-US" dirty="0">
                <a:latin typeface="+mn-ea"/>
                <a:ea typeface="+mn-ea"/>
              </a:rPr>
              <a:t>电路→读完成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baseline="0" dirty="0">
                <a:latin typeface="+mn-ea"/>
                <a:ea typeface="+mn-ea"/>
              </a:rPr>
              <a:t>                                                                                        </a:t>
            </a:r>
            <a:r>
              <a:rPr lang="zh-CN" altLang="en-US" baseline="0" dirty="0">
                <a:latin typeface="+mn-ea"/>
                <a:ea typeface="+mn-ea"/>
              </a:rPr>
              <a:t>└→</a:t>
            </a:r>
            <a:r>
              <a:rPr lang="en-US" altLang="zh-CN" dirty="0">
                <a:latin typeface="+mn-ea"/>
                <a:ea typeface="+mn-ea"/>
              </a:rPr>
              <a:t>C</a:t>
            </a:r>
            <a:r>
              <a:rPr lang="en-US" altLang="zh-CN" baseline="-25000" dirty="0">
                <a:latin typeface="+mn-ea"/>
                <a:ea typeface="+mn-ea"/>
              </a:rPr>
              <a:t>D</a:t>
            </a:r>
            <a:r>
              <a:rPr lang="zh-CN" altLang="en-US" dirty="0">
                <a:latin typeface="+mn-ea"/>
                <a:ea typeface="+mn-ea"/>
              </a:rPr>
              <a:t>充电</a:t>
            </a:r>
            <a:r>
              <a:rPr lang="zh-CN" altLang="en-US" baseline="0" dirty="0">
                <a:latin typeface="+mn-ea"/>
                <a:ea typeface="+mn-ea"/>
              </a:rPr>
              <a:t>→再生</a:t>
            </a:r>
            <a:r>
              <a:rPr lang="zh-CN" altLang="en-US" dirty="0">
                <a:latin typeface="+mn-ea"/>
                <a:ea typeface="+mn-ea"/>
              </a:rPr>
              <a:t>完成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看读写时序差别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P19-</a:t>
            </a:r>
            <a:r>
              <a:rPr lang="zh-CN" altLang="en-US" dirty="0"/>
              <a:t>列译码器无效</a:t>
            </a:r>
            <a:endParaRPr lang="zh-CN" altLang="en-US" u="non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1C</a:t>
            </a:r>
            <a:r>
              <a:rPr lang="zh-CN" altLang="en-US" dirty="0"/>
              <a:t>，</a:t>
            </a:r>
            <a:r>
              <a:rPr lang="en-US" altLang="zh-CN" dirty="0"/>
              <a:t>2B</a:t>
            </a:r>
            <a:r>
              <a:rPr lang="zh-CN" altLang="en-US" dirty="0"/>
              <a:t>，</a:t>
            </a:r>
            <a:r>
              <a:rPr lang="en-US" altLang="zh-CN" dirty="0"/>
              <a:t>3D</a:t>
            </a:r>
            <a:r>
              <a:rPr lang="zh-CN" altLang="en-US" dirty="0"/>
              <a:t>，</a:t>
            </a:r>
            <a:r>
              <a:rPr lang="en-US" altLang="zh-CN" dirty="0"/>
              <a:t>4①WE#</a:t>
            </a:r>
            <a:r>
              <a:rPr lang="zh-CN" altLang="en-US" dirty="0"/>
              <a:t>滞后无效，破坏当前单元数据 </a:t>
            </a:r>
            <a:r>
              <a:rPr lang="en-US" altLang="zh-CN" dirty="0"/>
              <a:t>②CS#</a:t>
            </a:r>
            <a:r>
              <a:rPr lang="zh-CN" altLang="en-US" dirty="0"/>
              <a:t>提前无效，来不及传输数据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D9652AC-BC39-4CC6-A538-9C39A06C7D26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地址空间</a:t>
            </a:r>
            <a:r>
              <a:rPr lang="en-US" altLang="zh-CN" dirty="0"/>
              <a:t>—</a:t>
            </a:r>
            <a:r>
              <a:rPr lang="zh-CN" altLang="en-US" dirty="0"/>
              <a:t>是一个非负整数地址的有序集合；线性地址空间</a:t>
            </a:r>
            <a:r>
              <a:rPr lang="en-US" altLang="zh-CN" dirty="0"/>
              <a:t>—</a:t>
            </a:r>
            <a:r>
              <a:rPr lang="zh-CN" altLang="en-US" dirty="0"/>
              <a:t>整数是连续的地址空间；地址空间大小</a:t>
            </a:r>
            <a:r>
              <a:rPr lang="en-US" altLang="zh-CN" dirty="0"/>
              <a:t>—</a:t>
            </a:r>
            <a:r>
              <a:rPr lang="zh-CN" altLang="en-US" dirty="0"/>
              <a:t>表示最大地址所需的位数，或地址的个数。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思考：每次访问涉及的芯片不同，导致数据线、控制线的连接不同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练习</a:t>
            </a:r>
            <a:r>
              <a:rPr lang="en-US" altLang="zh-CN" dirty="0"/>
              <a:t>1</a:t>
            </a:r>
            <a:r>
              <a:rPr lang="zh-CN" altLang="en-US" dirty="0"/>
              <a:t>：用</a:t>
            </a:r>
            <a:r>
              <a:rPr lang="en-US" altLang="zh-CN" dirty="0"/>
              <a:t>4</a:t>
            </a:r>
            <a:r>
              <a:rPr lang="zh-CN" altLang="en-US" dirty="0"/>
              <a:t>片</a:t>
            </a:r>
            <a:r>
              <a:rPr lang="en-US" altLang="zh-CN" dirty="0"/>
              <a:t>SRAM</a:t>
            </a:r>
            <a:r>
              <a:rPr lang="zh-CN" altLang="en-US" dirty="0"/>
              <a:t>字扩展，用</a:t>
            </a:r>
            <a:r>
              <a:rPr lang="en-US" altLang="zh-CN" dirty="0"/>
              <a:t>2:4</a:t>
            </a:r>
            <a:r>
              <a:rPr lang="zh-CN" altLang="en-US" dirty="0"/>
              <a:t>译码器实现片选信号连接。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练习：用</a:t>
            </a:r>
            <a:r>
              <a:rPr lang="en-US" altLang="zh-CN" dirty="0"/>
              <a:t>4</a:t>
            </a:r>
            <a:r>
              <a:rPr lang="zh-CN" altLang="en-US" dirty="0"/>
              <a:t>片</a:t>
            </a:r>
            <a:r>
              <a:rPr lang="en-US" altLang="zh-CN" dirty="0"/>
              <a:t>SRAM</a:t>
            </a:r>
            <a:r>
              <a:rPr lang="zh-CN" altLang="en-US" dirty="0"/>
              <a:t>字位扩展，使用</a:t>
            </a:r>
            <a:r>
              <a:rPr lang="en-US" altLang="zh-CN" dirty="0"/>
              <a:t>2-4</a:t>
            </a:r>
            <a:r>
              <a:rPr lang="zh-CN" altLang="en-US" dirty="0"/>
              <a:t>译码器连接各芯片片选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P31-</a:t>
            </a:r>
            <a:r>
              <a:rPr lang="zh-CN" altLang="en-US" dirty="0"/>
              <a:t>看</a:t>
            </a:r>
            <a:r>
              <a:rPr lang="en-US" altLang="zh-CN" dirty="0"/>
              <a:t>DRAM</a:t>
            </a:r>
            <a:r>
              <a:rPr lang="zh-CN" altLang="en-US" dirty="0"/>
              <a:t>字扩展方法</a:t>
            </a:r>
            <a:r>
              <a:rPr lang="en-US" altLang="zh-CN" dirty="0"/>
              <a:t>   P24-</a:t>
            </a:r>
            <a:r>
              <a:rPr lang="zh-CN" altLang="en-US" dirty="0"/>
              <a:t>看</a:t>
            </a:r>
            <a:r>
              <a:rPr lang="en-US" altLang="zh-CN" dirty="0"/>
              <a:t>DRAMC</a:t>
            </a:r>
            <a:r>
              <a:rPr lang="zh-CN" altLang="en-US" dirty="0"/>
              <a:t>的外部引脚。两个</a:t>
            </a:r>
            <a:r>
              <a:rPr lang="en-US" altLang="zh-CN" dirty="0"/>
              <a:t>CAS#</a:t>
            </a:r>
            <a:r>
              <a:rPr lang="zh-CN" altLang="en-US" dirty="0"/>
              <a:t>的好处时可以部分隐藏刷新时间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P33-</a:t>
            </a:r>
            <a:r>
              <a:rPr lang="zh-CN" altLang="en-US" dirty="0"/>
              <a:t>看</a:t>
            </a:r>
            <a:r>
              <a:rPr lang="en-US" altLang="zh-CN" dirty="0"/>
              <a:t>8088 CPU</a:t>
            </a:r>
            <a:r>
              <a:rPr lang="zh-CN" altLang="en-US" dirty="0"/>
              <a:t>的存储器接口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思考①：不可以，</a:t>
            </a:r>
            <a:r>
              <a:rPr lang="en-US" altLang="zh-CN" dirty="0"/>
              <a:t>ROM</a:t>
            </a:r>
            <a:r>
              <a:rPr lang="zh-CN" altLang="en-US" dirty="0"/>
              <a:t>可能都无效，右图二选一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思考：没什么差别，均基于主设备的</a:t>
            </a:r>
            <a:r>
              <a:rPr lang="en-US" altLang="zh-CN" dirty="0"/>
              <a:t>MEM</a:t>
            </a:r>
            <a:r>
              <a:rPr lang="zh-CN" altLang="en-US" dirty="0"/>
              <a:t>接口。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P19-</a:t>
            </a:r>
            <a:r>
              <a:rPr lang="zh-CN" altLang="en-US" dirty="0"/>
              <a:t>看</a:t>
            </a:r>
            <a:r>
              <a:rPr lang="en-US" altLang="zh-CN" dirty="0"/>
              <a:t>DRAM</a:t>
            </a:r>
            <a:r>
              <a:rPr lang="zh-CN" altLang="en-US" dirty="0"/>
              <a:t>存储阵列（同一行共用行选信号）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P5-</a:t>
            </a:r>
            <a:r>
              <a:rPr lang="zh-CN" altLang="en-US" dirty="0"/>
              <a:t>看带宽概念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思考：存储矩阵</a:t>
            </a:r>
            <a:r>
              <a:rPr lang="en-US" altLang="zh-CN">
                <a:sym typeface="+mn-ea"/>
              </a:rPr>
              <a:t>=2^(n-3)*8w</a:t>
            </a:r>
            <a:r>
              <a:rPr lang="zh-CN" altLang="en-US">
                <a:sym typeface="+mn-ea"/>
              </a:rPr>
              <a:t>，工作频率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核心频率</a:t>
            </a:r>
            <a:r>
              <a:rPr lang="en-US" altLang="zh-CN">
                <a:sym typeface="+mn-ea"/>
              </a:rPr>
              <a:t>*4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思考：地址低位连接片选线       </a:t>
            </a:r>
            <a:r>
              <a:rPr lang="en-US" altLang="zh-CN" dirty="0"/>
              <a:t>P39-</a:t>
            </a:r>
            <a:r>
              <a:rPr lang="zh-CN" altLang="en-US" dirty="0"/>
              <a:t>看优化方法</a:t>
            </a:r>
            <a:r>
              <a:rPr lang="en-US" altLang="zh-CN" dirty="0"/>
              <a:t>2</a:t>
            </a:r>
            <a:r>
              <a:rPr lang="zh-CN" altLang="en-US" dirty="0"/>
              <a:t>   </a:t>
            </a:r>
            <a:r>
              <a:rPr lang="en-US" altLang="zh-CN" dirty="0"/>
              <a:t>P30-</a:t>
            </a:r>
            <a:r>
              <a:rPr lang="zh-CN" altLang="en-US" dirty="0"/>
              <a:t>看顺序编址的实现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思考：同</a:t>
            </a:r>
            <a:r>
              <a:rPr lang="en-US" altLang="zh-CN">
                <a:sym typeface="+mn-ea"/>
              </a:rPr>
              <a:t>SDRAM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思考：同时操作，无需体号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P41-</a:t>
            </a:r>
            <a:r>
              <a:rPr lang="zh-CN" altLang="en-US" dirty="0"/>
              <a:t>看优化方法的类型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48000" indent="-3048000"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思考②：相邻信息可分散到不同候选区域，避免访问局部性导致的块冲突。  </a:t>
            </a:r>
            <a:r>
              <a:rPr lang="en-US" altLang="zh-CN" dirty="0"/>
              <a:t>P51-</a:t>
            </a:r>
            <a:r>
              <a:rPr lang="zh-CN" altLang="en-US" dirty="0"/>
              <a:t>看映射含查找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看地址划分的目的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思考：候选行仅</a:t>
            </a:r>
            <a:r>
              <a:rPr lang="en-US" altLang="zh-CN" dirty="0"/>
              <a:t>1</a:t>
            </a:r>
            <a:r>
              <a:rPr lang="zh-CN" altLang="en-US" dirty="0"/>
              <a:t>行，增加候选行个数。             上页</a:t>
            </a:r>
            <a:r>
              <a:rPr lang="en-US" altLang="zh-CN" dirty="0"/>
              <a:t>-</a:t>
            </a:r>
            <a:r>
              <a:rPr lang="zh-CN" altLang="en-US" dirty="0"/>
              <a:t>看标志组成（区号）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思考①：不可能，命中是不会再调入。思考②：某行</a:t>
            </a:r>
            <a:r>
              <a:rPr lang="en-US" altLang="zh-CN" dirty="0"/>
              <a:t>V=0</a:t>
            </a:r>
            <a:r>
              <a:rPr lang="zh-CN" altLang="en-US" dirty="0"/>
              <a:t>。    上页</a:t>
            </a:r>
            <a:r>
              <a:rPr lang="en-US" altLang="zh-CN" dirty="0"/>
              <a:t>-</a:t>
            </a:r>
            <a:r>
              <a:rPr lang="zh-CN" altLang="en-US" dirty="0"/>
              <a:t>看直接映射的查找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</a:t>
            </a:r>
            <a:r>
              <a:rPr lang="en-US" altLang="zh-CN" dirty="0"/>
              <a:t>log</a:t>
            </a:r>
            <a:r>
              <a:rPr lang="en-US" altLang="zh-CN" baseline="-18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看标志的组成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思考：层次结构，级联传递信息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=</a:t>
            </a:r>
            <a:r>
              <a:rPr lang="zh-CN" altLang="en-US" dirty="0"/>
              <a:t>相联度          </a:t>
            </a:r>
            <a:r>
              <a:rPr lang="en-US" altLang="zh-CN" dirty="0"/>
              <a:t>P54</a:t>
            </a:r>
            <a:r>
              <a:rPr lang="zh-CN" altLang="en-US" dirty="0"/>
              <a:t>、</a:t>
            </a:r>
            <a:r>
              <a:rPr lang="en-US" altLang="zh-CN" dirty="0"/>
              <a:t>56</a:t>
            </a:r>
            <a:r>
              <a:rPr lang="zh-CN" altLang="en-US" dirty="0"/>
              <a:t>、</a:t>
            </a:r>
            <a:r>
              <a:rPr lang="en-US" altLang="zh-CN" dirty="0"/>
              <a:t>58-</a:t>
            </a:r>
            <a:r>
              <a:rPr lang="zh-CN" altLang="en-US" dirty="0"/>
              <a:t>看三种映射方式图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LRU</a:t>
            </a:r>
            <a:r>
              <a:rPr lang="zh-CN" altLang="en-US" dirty="0"/>
              <a:t>算法的各行</a:t>
            </a:r>
            <a:r>
              <a:rPr lang="en-US" altLang="zh-CN" dirty="0"/>
              <a:t>CNT</a:t>
            </a:r>
            <a:r>
              <a:rPr lang="zh-CN" altLang="en-US" dirty="0"/>
              <a:t>构成构成一个栈，相联度越大，栈溢出的概率越低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71446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P53-</a:t>
            </a:r>
            <a:r>
              <a:rPr lang="zh-CN" altLang="en-US" dirty="0">
                <a:sym typeface="+mn-ea"/>
              </a:rPr>
              <a:t>看写策略的任务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进程：可并发执行的程序在一个数据集合上的运行过程</a:t>
            </a:r>
            <a:r>
              <a:rPr lang="en-US" altLang="zh-CN" dirty="0">
                <a:sym typeface="+mn-ea"/>
              </a:rPr>
              <a:t>     </a:t>
            </a:r>
            <a:r>
              <a:rPr lang="zh-CN" altLang="en-US" dirty="0"/>
              <a:t>思考</a:t>
            </a:r>
            <a:r>
              <a:rPr lang="zh-CN" altLang="en-US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：操作系统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看程序全部装入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思考①：硬件速度快</a:t>
            </a:r>
            <a:r>
              <a:rPr lang="zh-CN" altLang="en-US" baseline="0" dirty="0"/>
              <a:t>   思考</a:t>
            </a:r>
            <a:r>
              <a:rPr lang="zh-CN" altLang="en-US" dirty="0"/>
              <a:t>②：从文件区装入后再处理    </a:t>
            </a:r>
            <a:r>
              <a:rPr lang="en-US" altLang="zh-CN" dirty="0"/>
              <a:t>P8-</a:t>
            </a:r>
            <a:r>
              <a:rPr lang="zh-CN" altLang="en-US" dirty="0"/>
              <a:t>看</a:t>
            </a:r>
            <a:r>
              <a:rPr lang="en-US" altLang="zh-CN" dirty="0"/>
              <a:t>MMU</a:t>
            </a:r>
            <a:r>
              <a:rPr lang="zh-CN" altLang="en-US" dirty="0"/>
              <a:t>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32MB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看段表的字段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看页表存放、索引问题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P75-</a:t>
            </a:r>
            <a:r>
              <a:rPr lang="zh-CN" altLang="en-US" dirty="0"/>
              <a:t>看</a:t>
            </a:r>
            <a:r>
              <a:rPr lang="en-US" altLang="zh-CN" dirty="0"/>
              <a:t>VM</a:t>
            </a:r>
            <a:r>
              <a:rPr lang="zh-CN" altLang="en-US" dirty="0"/>
              <a:t>相关空间</a:t>
            </a:r>
          </a:p>
          <a:p>
            <a:r>
              <a:rPr lang="en-US" altLang="zh-CN" dirty="0"/>
              <a:t>Exe</a:t>
            </a:r>
            <a:r>
              <a:rPr lang="zh-CN" altLang="en-US" dirty="0"/>
              <a:t>文件中程序头表为结构数组，结构体中包含段类型</a:t>
            </a:r>
            <a:r>
              <a:rPr lang="en-US" altLang="zh-CN" dirty="0"/>
              <a:t>(</a:t>
            </a:r>
            <a:r>
              <a:rPr lang="en-US" altLang="zh-CN" dirty="0" err="1"/>
              <a:t>p_type</a:t>
            </a:r>
            <a:r>
              <a:rPr lang="en-US" altLang="zh-CN" dirty="0"/>
              <a:t>)</a:t>
            </a:r>
            <a:r>
              <a:rPr lang="zh-CN" altLang="en-US" dirty="0"/>
              <a:t>、段首在文件中偏移地址</a:t>
            </a:r>
            <a:r>
              <a:rPr lang="en-US" altLang="zh-CN" dirty="0"/>
              <a:t>(</a:t>
            </a:r>
            <a:r>
              <a:rPr lang="en-US" altLang="zh-CN" dirty="0" err="1"/>
              <a:t>p_offset</a:t>
            </a:r>
            <a:r>
              <a:rPr lang="en-US" altLang="zh-CN" dirty="0"/>
              <a:t>)</a:t>
            </a:r>
            <a:r>
              <a:rPr lang="zh-CN" altLang="en-US" dirty="0"/>
              <a:t>、段首的虚拟地址</a:t>
            </a:r>
            <a:r>
              <a:rPr lang="en-US" altLang="zh-CN" dirty="0"/>
              <a:t>(</a:t>
            </a:r>
            <a:r>
              <a:rPr lang="en-US" altLang="zh-CN" dirty="0" err="1"/>
              <a:t>p_vaddr</a:t>
            </a:r>
            <a:r>
              <a:rPr lang="en-US" altLang="zh-CN" dirty="0"/>
              <a:t>)</a:t>
            </a:r>
            <a:r>
              <a:rPr lang="zh-CN" altLang="en-US" dirty="0"/>
              <a:t>、段在文件中长度</a:t>
            </a:r>
            <a:r>
              <a:rPr lang="en-US" altLang="zh-CN" dirty="0"/>
              <a:t>(</a:t>
            </a:r>
            <a:r>
              <a:rPr lang="en-US" altLang="zh-CN" dirty="0" err="1"/>
              <a:t>p_filesz</a:t>
            </a:r>
            <a:r>
              <a:rPr lang="en-US" altLang="zh-CN" dirty="0"/>
              <a:t>)</a:t>
            </a:r>
            <a:r>
              <a:rPr lang="zh-CN" altLang="en-US" dirty="0"/>
              <a:t>、段在</a:t>
            </a:r>
            <a:r>
              <a:rPr lang="en-US" altLang="zh-CN" dirty="0"/>
              <a:t>MEM</a:t>
            </a:r>
            <a:r>
              <a:rPr lang="zh-CN" altLang="en-US" dirty="0"/>
              <a:t>中长度</a:t>
            </a:r>
            <a:r>
              <a:rPr lang="en-US" altLang="zh-CN" dirty="0"/>
              <a:t>(</a:t>
            </a:r>
            <a:r>
              <a:rPr lang="en-US" altLang="zh-CN" dirty="0" err="1"/>
              <a:t>p_memsz</a:t>
            </a:r>
            <a:r>
              <a:rPr lang="en-US" altLang="zh-CN" dirty="0"/>
              <a:t>)</a:t>
            </a:r>
            <a:r>
              <a:rPr lang="zh-CN" altLang="en-US" dirty="0"/>
              <a:t>等；</a:t>
            </a:r>
            <a:endParaRPr lang="en-US" altLang="zh-CN" dirty="0"/>
          </a:p>
          <a:p>
            <a:r>
              <a:rPr lang="zh-CN" altLang="en-US" dirty="0"/>
              <a:t>文件分配表</a:t>
            </a:r>
            <a:r>
              <a:rPr lang="en-US" altLang="zh-CN" dirty="0"/>
              <a:t>(FAT)</a:t>
            </a:r>
            <a:r>
              <a:rPr lang="zh-CN" altLang="en-US" dirty="0"/>
              <a:t> 管理所有文件，每个文件占一个目录项；文件内容、设备空间按物理块</a:t>
            </a:r>
            <a:r>
              <a:rPr lang="en-US" altLang="zh-CN" dirty="0"/>
              <a:t>(</a:t>
            </a:r>
            <a:r>
              <a:rPr lang="zh-CN" altLang="en-US" dirty="0"/>
              <a:t>如扇区</a:t>
            </a:r>
            <a:r>
              <a:rPr lang="en-US" altLang="zh-CN" dirty="0"/>
              <a:t>)</a:t>
            </a:r>
            <a:r>
              <a:rPr lang="zh-CN" altLang="en-US" dirty="0"/>
              <a:t>进行管理，内容索引表实现文件内容到设备的映射管理。目录项中包含文件名称、类型、存取权限、内容索引表</a:t>
            </a:r>
            <a:r>
              <a:rPr lang="en-US" altLang="zh-CN" dirty="0"/>
              <a:t>(</a:t>
            </a:r>
            <a:r>
              <a:rPr lang="zh-CN" altLang="en-US" dirty="0"/>
              <a:t>占≥</a:t>
            </a:r>
            <a:r>
              <a:rPr lang="en-US" altLang="zh-CN" dirty="0"/>
              <a:t>1</a:t>
            </a:r>
            <a:r>
              <a:rPr lang="zh-CN" altLang="en-US" dirty="0"/>
              <a:t>个物理块</a:t>
            </a:r>
            <a:r>
              <a:rPr lang="en-US" altLang="zh-CN" dirty="0"/>
              <a:t>)</a:t>
            </a: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个物理块的设备地址</a:t>
            </a:r>
            <a:r>
              <a:rPr lang="en-US" altLang="zh-CN" dirty="0"/>
              <a:t>(</a:t>
            </a:r>
            <a:r>
              <a:rPr lang="zh-CN" altLang="en-US" dirty="0"/>
              <a:t>磁盘地址</a:t>
            </a:r>
            <a:r>
              <a:rPr lang="en-US" altLang="zh-CN" dirty="0"/>
              <a:t>)</a:t>
            </a:r>
            <a:r>
              <a:rPr lang="zh-CN" altLang="en-US" dirty="0"/>
              <a:t>、创建时间等。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思考：装入位</a:t>
            </a:r>
            <a:r>
              <a:rPr lang="en-US" altLang="zh-CN" dirty="0"/>
              <a:t>=1</a:t>
            </a:r>
            <a:r>
              <a:rPr lang="zh-CN" altLang="en-US" dirty="0"/>
              <a:t>时成功。     </a:t>
            </a:r>
            <a:r>
              <a:rPr lang="en-US" altLang="zh-CN" dirty="0"/>
              <a:t>P76-</a:t>
            </a:r>
            <a:r>
              <a:rPr lang="zh-CN" altLang="en-US" dirty="0"/>
              <a:t>看地址变换内容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sym typeface="+mn-ea"/>
              </a:rPr>
              <a:t>思考：虚页号</a:t>
            </a:r>
            <a:r>
              <a:rPr lang="en-US" altLang="zh-CN" dirty="0">
                <a:latin typeface="+mn-ea"/>
                <a:ea typeface="+mn-ea"/>
                <a:sym typeface="+mn-ea"/>
              </a:rPr>
              <a:t>=48-log2(4KB/1B)=36</a:t>
            </a:r>
            <a:r>
              <a:rPr lang="zh-CN" altLang="en-US" dirty="0">
                <a:latin typeface="+mn-ea"/>
                <a:ea typeface="+mn-ea"/>
                <a:sym typeface="+mn-ea"/>
              </a:rPr>
              <a:t>位，</a:t>
            </a:r>
            <a:r>
              <a:rPr lang="en-US" altLang="zh-CN" dirty="0">
                <a:latin typeface="+mn-ea"/>
                <a:ea typeface="+mn-ea"/>
                <a:sym typeface="+mn-ea"/>
              </a:rPr>
              <a:t>TLB</a:t>
            </a:r>
            <a:r>
              <a:rPr lang="zh-CN" altLang="en-US" dirty="0">
                <a:latin typeface="+mn-ea"/>
                <a:ea typeface="+mn-ea"/>
                <a:sym typeface="+mn-ea"/>
              </a:rPr>
              <a:t>组号</a:t>
            </a:r>
            <a:r>
              <a:rPr lang="en-US" altLang="zh-CN" dirty="0">
                <a:latin typeface="+mn-ea"/>
                <a:ea typeface="+mn-ea"/>
                <a:sym typeface="+mn-ea"/>
              </a:rPr>
              <a:t>=log2(64/4)=4</a:t>
            </a:r>
            <a:r>
              <a:rPr lang="zh-CN" altLang="en-US" dirty="0">
                <a:latin typeface="+mn-ea"/>
                <a:ea typeface="+mn-ea"/>
                <a:sym typeface="+mn-ea"/>
              </a:rPr>
              <a:t>位，</a:t>
            </a:r>
            <a:r>
              <a:rPr lang="en-US" altLang="zh-CN" dirty="0">
                <a:latin typeface="+mn-ea"/>
                <a:ea typeface="+mn-ea"/>
                <a:sym typeface="+mn-ea"/>
              </a:rPr>
              <a:t>Tag=36-4=32</a:t>
            </a:r>
            <a:r>
              <a:rPr lang="zh-CN" altLang="en-US" dirty="0">
                <a:latin typeface="+mn-ea"/>
                <a:ea typeface="+mn-ea"/>
                <a:sym typeface="+mn-ea"/>
              </a:rPr>
              <a:t>位</a:t>
            </a:r>
            <a:endParaRPr lang="zh-CN" altLang="en-US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TLB</a:t>
            </a:r>
            <a:r>
              <a:rPr lang="zh-CN" altLang="en-US" dirty="0">
                <a:latin typeface="+mn-ea"/>
                <a:ea typeface="+mn-ea"/>
              </a:rPr>
              <a:t>注：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、段页式管理时，标记取自段号</a:t>
            </a:r>
            <a:r>
              <a:rPr lang="en-US" altLang="zh-CN" dirty="0">
                <a:latin typeface="+mn-ea"/>
                <a:ea typeface="+mn-ea"/>
              </a:rPr>
              <a:t>+</a:t>
            </a:r>
            <a:r>
              <a:rPr lang="zh-CN" altLang="en-US" dirty="0">
                <a:latin typeface="+mn-ea"/>
                <a:ea typeface="+mn-ea"/>
              </a:rPr>
              <a:t>虚页号，不存在段表项条目；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           2</a:t>
            </a:r>
            <a:r>
              <a:rPr lang="zh-CN" altLang="en-US" dirty="0">
                <a:latin typeface="+mn-ea"/>
                <a:ea typeface="+mn-ea"/>
              </a:rPr>
              <a:t>、修改位、引用位需与页表保持一致性（首次修改时更新页表项）；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/>
              <a:t>       3</a:t>
            </a:r>
            <a:r>
              <a:rPr lang="zh-CN" altLang="en-US" dirty="0"/>
              <a:t>、应包含</a:t>
            </a:r>
            <a:r>
              <a:rPr lang="en-US" altLang="zh-CN" dirty="0"/>
              <a:t>PID</a:t>
            </a:r>
            <a:r>
              <a:rPr lang="zh-CN" altLang="en-US" dirty="0"/>
              <a:t>字段（多个进程共用</a:t>
            </a:r>
            <a:r>
              <a:rPr lang="en-US" altLang="zh-CN" dirty="0"/>
              <a:t>TLB</a:t>
            </a:r>
            <a:r>
              <a:rPr lang="zh-CN" altLang="en-US" dirty="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①：需页号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=48b-log</a:t>
            </a:r>
            <a:r>
              <a:rPr lang="en-US" altLang="zh-CN" baseline="-250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(4KB/1B)=36b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ITLB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组号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=log</a:t>
            </a:r>
            <a:r>
              <a:rPr lang="en-US" altLang="zh-CN" baseline="-250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(128/4)=5b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，标记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=36-5=31b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；主存块号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=52b-log</a:t>
            </a:r>
            <a:r>
              <a:rPr lang="en-US" altLang="zh-CN" baseline="-250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(64B/1B)=46b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L2$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组号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=log</a:t>
            </a:r>
            <a:r>
              <a:rPr lang="en-US" altLang="zh-CN" baseline="-250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(256KB/64B/8)=9b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，标记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=46-9=37b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6768F-A6D7-4A0D-9879-1EDC05C58D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C9574-2E69-4938-937D-7BE7A9013EB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D9B4D-86FB-4ECF-AAA3-684F5B00CB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CF8-72BB-4143-AE17-43DB8ED7CA0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C3756-239D-42F7-BABE-9930AF0A5F2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15FBB-FD6D-4679-8578-780354EAD0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AD0B46FB-961D-45CD-932A-737035D922E0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u="none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BB5E4-C697-43A7-8135-FB31C4E5B16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99711-8ADF-4444-BB2B-AD4FE42A7A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596AA-ADD8-495C-9502-1995ED2D2CD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E5B36-082F-466F-A27F-FD170CA41E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u="none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u="none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u="none"/>
            </a:lvl1pPr>
          </a:lstStyle>
          <a:p>
            <a:fld id="{56743B6A-F0BE-4ECC-820C-5678D61F99D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6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8.xml"/><Relationship Id="rId5" Type="http://schemas.openxmlformats.org/officeDocument/2006/relationships/slide" Target="slide27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slide" Target="slide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9" Type="http://schemas.openxmlformats.org/officeDocument/2006/relationships/tags" Target="../tags/tag76.xml"/><Relationship Id="rId21" Type="http://schemas.openxmlformats.org/officeDocument/2006/relationships/tags" Target="../tags/tag58.xml"/><Relationship Id="rId34" Type="http://schemas.openxmlformats.org/officeDocument/2006/relationships/tags" Target="../tags/tag71.xml"/><Relationship Id="rId42" Type="http://schemas.openxmlformats.org/officeDocument/2006/relationships/tags" Target="../tags/tag79.xml"/><Relationship Id="rId47" Type="http://schemas.openxmlformats.org/officeDocument/2006/relationships/tags" Target="../tags/tag84.xml"/><Relationship Id="rId50" Type="http://schemas.openxmlformats.org/officeDocument/2006/relationships/tags" Target="../tags/tag87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9" Type="http://schemas.openxmlformats.org/officeDocument/2006/relationships/tags" Target="../tags/tag66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32" Type="http://schemas.openxmlformats.org/officeDocument/2006/relationships/tags" Target="../tags/tag69.xml"/><Relationship Id="rId37" Type="http://schemas.openxmlformats.org/officeDocument/2006/relationships/tags" Target="../tags/tag74.xml"/><Relationship Id="rId40" Type="http://schemas.openxmlformats.org/officeDocument/2006/relationships/tags" Target="../tags/tag77.xml"/><Relationship Id="rId45" Type="http://schemas.openxmlformats.org/officeDocument/2006/relationships/tags" Target="../tags/tag82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tags" Target="../tags/tag65.xml"/><Relationship Id="rId36" Type="http://schemas.openxmlformats.org/officeDocument/2006/relationships/tags" Target="../tags/tag73.xml"/><Relationship Id="rId49" Type="http://schemas.openxmlformats.org/officeDocument/2006/relationships/tags" Target="../tags/tag86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31" Type="http://schemas.openxmlformats.org/officeDocument/2006/relationships/tags" Target="../tags/tag68.xml"/><Relationship Id="rId44" Type="http://schemas.openxmlformats.org/officeDocument/2006/relationships/tags" Target="../tags/tag81.xml"/><Relationship Id="rId52" Type="http://schemas.openxmlformats.org/officeDocument/2006/relationships/slide" Target="slide3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tags" Target="../tags/tag64.xml"/><Relationship Id="rId30" Type="http://schemas.openxmlformats.org/officeDocument/2006/relationships/tags" Target="../tags/tag67.xml"/><Relationship Id="rId35" Type="http://schemas.openxmlformats.org/officeDocument/2006/relationships/tags" Target="../tags/tag72.xml"/><Relationship Id="rId43" Type="http://schemas.openxmlformats.org/officeDocument/2006/relationships/tags" Target="../tags/tag80.xml"/><Relationship Id="rId48" Type="http://schemas.openxmlformats.org/officeDocument/2006/relationships/tags" Target="../tags/tag85.xml"/><Relationship Id="rId8" Type="http://schemas.openxmlformats.org/officeDocument/2006/relationships/tags" Target="../tags/tag45.xml"/><Relationship Id="rId51" Type="http://schemas.openxmlformats.org/officeDocument/2006/relationships/slideLayout" Target="../slideLayouts/slideLayout7.xml"/><Relationship Id="rId3" Type="http://schemas.openxmlformats.org/officeDocument/2006/relationships/tags" Target="../tags/tag40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33" Type="http://schemas.openxmlformats.org/officeDocument/2006/relationships/tags" Target="../tags/tag70.xml"/><Relationship Id="rId38" Type="http://schemas.openxmlformats.org/officeDocument/2006/relationships/tags" Target="../tags/tag75.xml"/><Relationship Id="rId46" Type="http://schemas.openxmlformats.org/officeDocument/2006/relationships/tags" Target="../tags/tag83.xml"/><Relationship Id="rId20" Type="http://schemas.openxmlformats.org/officeDocument/2006/relationships/tags" Target="../tags/tag57.xml"/><Relationship Id="rId41" Type="http://schemas.openxmlformats.org/officeDocument/2006/relationships/tags" Target="../tags/tag78.xml"/><Relationship Id="rId1" Type="http://schemas.openxmlformats.org/officeDocument/2006/relationships/tags" Target="../tags/tag38.xml"/><Relationship Id="rId6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tags" Target="../tags/tag205.xml"/><Relationship Id="rId21" Type="http://schemas.openxmlformats.org/officeDocument/2006/relationships/tags" Target="../tags/tag109.xml"/><Relationship Id="rId42" Type="http://schemas.openxmlformats.org/officeDocument/2006/relationships/tags" Target="../tags/tag130.xml"/><Relationship Id="rId63" Type="http://schemas.openxmlformats.org/officeDocument/2006/relationships/tags" Target="../tags/tag151.xml"/><Relationship Id="rId84" Type="http://schemas.openxmlformats.org/officeDocument/2006/relationships/tags" Target="../tags/tag172.xml"/><Relationship Id="rId138" Type="http://schemas.openxmlformats.org/officeDocument/2006/relationships/slideLayout" Target="../slideLayouts/slideLayout7.xml"/><Relationship Id="rId16" Type="http://schemas.openxmlformats.org/officeDocument/2006/relationships/tags" Target="../tags/tag104.xml"/><Relationship Id="rId107" Type="http://schemas.openxmlformats.org/officeDocument/2006/relationships/tags" Target="../tags/tag195.xml"/><Relationship Id="rId11" Type="http://schemas.openxmlformats.org/officeDocument/2006/relationships/tags" Target="../tags/tag99.xml"/><Relationship Id="rId32" Type="http://schemas.openxmlformats.org/officeDocument/2006/relationships/tags" Target="../tags/tag120.xml"/><Relationship Id="rId37" Type="http://schemas.openxmlformats.org/officeDocument/2006/relationships/tags" Target="../tags/tag125.xml"/><Relationship Id="rId53" Type="http://schemas.openxmlformats.org/officeDocument/2006/relationships/tags" Target="../tags/tag141.xml"/><Relationship Id="rId58" Type="http://schemas.openxmlformats.org/officeDocument/2006/relationships/tags" Target="../tags/tag146.xml"/><Relationship Id="rId74" Type="http://schemas.openxmlformats.org/officeDocument/2006/relationships/tags" Target="../tags/tag162.xml"/><Relationship Id="rId79" Type="http://schemas.openxmlformats.org/officeDocument/2006/relationships/tags" Target="../tags/tag167.xml"/><Relationship Id="rId102" Type="http://schemas.openxmlformats.org/officeDocument/2006/relationships/tags" Target="../tags/tag190.xml"/><Relationship Id="rId123" Type="http://schemas.openxmlformats.org/officeDocument/2006/relationships/tags" Target="../tags/tag211.xml"/><Relationship Id="rId128" Type="http://schemas.openxmlformats.org/officeDocument/2006/relationships/tags" Target="../tags/tag216.xml"/><Relationship Id="rId5" Type="http://schemas.openxmlformats.org/officeDocument/2006/relationships/tags" Target="../tags/tag93.xml"/><Relationship Id="rId90" Type="http://schemas.openxmlformats.org/officeDocument/2006/relationships/tags" Target="../tags/tag178.xml"/><Relationship Id="rId95" Type="http://schemas.openxmlformats.org/officeDocument/2006/relationships/tags" Target="../tags/tag183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43" Type="http://schemas.openxmlformats.org/officeDocument/2006/relationships/tags" Target="../tags/tag131.xml"/><Relationship Id="rId48" Type="http://schemas.openxmlformats.org/officeDocument/2006/relationships/tags" Target="../tags/tag136.xml"/><Relationship Id="rId64" Type="http://schemas.openxmlformats.org/officeDocument/2006/relationships/tags" Target="../tags/tag152.xml"/><Relationship Id="rId69" Type="http://schemas.openxmlformats.org/officeDocument/2006/relationships/tags" Target="../tags/tag157.xml"/><Relationship Id="rId113" Type="http://schemas.openxmlformats.org/officeDocument/2006/relationships/tags" Target="../tags/tag201.xml"/><Relationship Id="rId118" Type="http://schemas.openxmlformats.org/officeDocument/2006/relationships/tags" Target="../tags/tag206.xml"/><Relationship Id="rId134" Type="http://schemas.openxmlformats.org/officeDocument/2006/relationships/tags" Target="../tags/tag222.xml"/><Relationship Id="rId139" Type="http://schemas.openxmlformats.org/officeDocument/2006/relationships/notesSlide" Target="../notesSlides/notesSlide9.xml"/><Relationship Id="rId80" Type="http://schemas.openxmlformats.org/officeDocument/2006/relationships/tags" Target="../tags/tag168.xml"/><Relationship Id="rId85" Type="http://schemas.openxmlformats.org/officeDocument/2006/relationships/tags" Target="../tags/tag173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33" Type="http://schemas.openxmlformats.org/officeDocument/2006/relationships/tags" Target="../tags/tag121.xml"/><Relationship Id="rId38" Type="http://schemas.openxmlformats.org/officeDocument/2006/relationships/tags" Target="../tags/tag126.xml"/><Relationship Id="rId59" Type="http://schemas.openxmlformats.org/officeDocument/2006/relationships/tags" Target="../tags/tag147.xml"/><Relationship Id="rId103" Type="http://schemas.openxmlformats.org/officeDocument/2006/relationships/tags" Target="../tags/tag191.xml"/><Relationship Id="rId108" Type="http://schemas.openxmlformats.org/officeDocument/2006/relationships/tags" Target="../tags/tag196.xml"/><Relationship Id="rId124" Type="http://schemas.openxmlformats.org/officeDocument/2006/relationships/tags" Target="../tags/tag212.xml"/><Relationship Id="rId129" Type="http://schemas.openxmlformats.org/officeDocument/2006/relationships/tags" Target="../tags/tag217.xml"/><Relationship Id="rId54" Type="http://schemas.openxmlformats.org/officeDocument/2006/relationships/tags" Target="../tags/tag142.xml"/><Relationship Id="rId70" Type="http://schemas.openxmlformats.org/officeDocument/2006/relationships/tags" Target="../tags/tag158.xml"/><Relationship Id="rId75" Type="http://schemas.openxmlformats.org/officeDocument/2006/relationships/tags" Target="../tags/tag163.xml"/><Relationship Id="rId91" Type="http://schemas.openxmlformats.org/officeDocument/2006/relationships/tags" Target="../tags/tag179.xml"/><Relationship Id="rId96" Type="http://schemas.openxmlformats.org/officeDocument/2006/relationships/tags" Target="../tags/tag184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49" Type="http://schemas.openxmlformats.org/officeDocument/2006/relationships/tags" Target="../tags/tag137.xml"/><Relationship Id="rId114" Type="http://schemas.openxmlformats.org/officeDocument/2006/relationships/tags" Target="../tags/tag202.xml"/><Relationship Id="rId119" Type="http://schemas.openxmlformats.org/officeDocument/2006/relationships/tags" Target="../tags/tag207.xml"/><Relationship Id="rId44" Type="http://schemas.openxmlformats.org/officeDocument/2006/relationships/tags" Target="../tags/tag132.xml"/><Relationship Id="rId60" Type="http://schemas.openxmlformats.org/officeDocument/2006/relationships/tags" Target="../tags/tag148.xml"/><Relationship Id="rId65" Type="http://schemas.openxmlformats.org/officeDocument/2006/relationships/tags" Target="../tags/tag153.xml"/><Relationship Id="rId81" Type="http://schemas.openxmlformats.org/officeDocument/2006/relationships/tags" Target="../tags/tag169.xml"/><Relationship Id="rId86" Type="http://schemas.openxmlformats.org/officeDocument/2006/relationships/tags" Target="../tags/tag174.xml"/><Relationship Id="rId130" Type="http://schemas.openxmlformats.org/officeDocument/2006/relationships/tags" Target="../tags/tag218.xml"/><Relationship Id="rId135" Type="http://schemas.openxmlformats.org/officeDocument/2006/relationships/tags" Target="../tags/tag223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39" Type="http://schemas.openxmlformats.org/officeDocument/2006/relationships/tags" Target="../tags/tag127.xml"/><Relationship Id="rId109" Type="http://schemas.openxmlformats.org/officeDocument/2006/relationships/tags" Target="../tags/tag197.xml"/><Relationship Id="rId34" Type="http://schemas.openxmlformats.org/officeDocument/2006/relationships/tags" Target="../tags/tag122.xml"/><Relationship Id="rId50" Type="http://schemas.openxmlformats.org/officeDocument/2006/relationships/tags" Target="../tags/tag138.xml"/><Relationship Id="rId55" Type="http://schemas.openxmlformats.org/officeDocument/2006/relationships/tags" Target="../tags/tag143.xml"/><Relationship Id="rId76" Type="http://schemas.openxmlformats.org/officeDocument/2006/relationships/tags" Target="../tags/tag164.xml"/><Relationship Id="rId97" Type="http://schemas.openxmlformats.org/officeDocument/2006/relationships/tags" Target="../tags/tag185.xml"/><Relationship Id="rId104" Type="http://schemas.openxmlformats.org/officeDocument/2006/relationships/tags" Target="../tags/tag192.xml"/><Relationship Id="rId120" Type="http://schemas.openxmlformats.org/officeDocument/2006/relationships/tags" Target="../tags/tag208.xml"/><Relationship Id="rId125" Type="http://schemas.openxmlformats.org/officeDocument/2006/relationships/tags" Target="../tags/tag213.xml"/><Relationship Id="rId7" Type="http://schemas.openxmlformats.org/officeDocument/2006/relationships/tags" Target="../tags/tag95.xml"/><Relationship Id="rId71" Type="http://schemas.openxmlformats.org/officeDocument/2006/relationships/tags" Target="../tags/tag159.xml"/><Relationship Id="rId92" Type="http://schemas.openxmlformats.org/officeDocument/2006/relationships/tags" Target="../tags/tag180.xml"/><Relationship Id="rId2" Type="http://schemas.openxmlformats.org/officeDocument/2006/relationships/tags" Target="../tags/tag90.xml"/><Relationship Id="rId29" Type="http://schemas.openxmlformats.org/officeDocument/2006/relationships/tags" Target="../tags/tag117.xml"/><Relationship Id="rId24" Type="http://schemas.openxmlformats.org/officeDocument/2006/relationships/tags" Target="../tags/tag112.xml"/><Relationship Id="rId40" Type="http://schemas.openxmlformats.org/officeDocument/2006/relationships/tags" Target="../tags/tag128.xml"/><Relationship Id="rId45" Type="http://schemas.openxmlformats.org/officeDocument/2006/relationships/tags" Target="../tags/tag133.xml"/><Relationship Id="rId66" Type="http://schemas.openxmlformats.org/officeDocument/2006/relationships/tags" Target="../tags/tag154.xml"/><Relationship Id="rId87" Type="http://schemas.openxmlformats.org/officeDocument/2006/relationships/tags" Target="../tags/tag175.xml"/><Relationship Id="rId110" Type="http://schemas.openxmlformats.org/officeDocument/2006/relationships/tags" Target="../tags/tag198.xml"/><Relationship Id="rId115" Type="http://schemas.openxmlformats.org/officeDocument/2006/relationships/tags" Target="../tags/tag203.xml"/><Relationship Id="rId131" Type="http://schemas.openxmlformats.org/officeDocument/2006/relationships/tags" Target="../tags/tag219.xml"/><Relationship Id="rId136" Type="http://schemas.openxmlformats.org/officeDocument/2006/relationships/tags" Target="../tags/tag224.xml"/><Relationship Id="rId61" Type="http://schemas.openxmlformats.org/officeDocument/2006/relationships/tags" Target="../tags/tag149.xml"/><Relationship Id="rId82" Type="http://schemas.openxmlformats.org/officeDocument/2006/relationships/tags" Target="../tags/tag170.xml"/><Relationship Id="rId19" Type="http://schemas.openxmlformats.org/officeDocument/2006/relationships/tags" Target="../tags/tag107.xml"/><Relationship Id="rId14" Type="http://schemas.openxmlformats.org/officeDocument/2006/relationships/tags" Target="../tags/tag102.xml"/><Relationship Id="rId30" Type="http://schemas.openxmlformats.org/officeDocument/2006/relationships/tags" Target="../tags/tag118.xml"/><Relationship Id="rId35" Type="http://schemas.openxmlformats.org/officeDocument/2006/relationships/tags" Target="../tags/tag123.xml"/><Relationship Id="rId56" Type="http://schemas.openxmlformats.org/officeDocument/2006/relationships/tags" Target="../tags/tag144.xml"/><Relationship Id="rId77" Type="http://schemas.openxmlformats.org/officeDocument/2006/relationships/tags" Target="../tags/tag165.xml"/><Relationship Id="rId100" Type="http://schemas.openxmlformats.org/officeDocument/2006/relationships/tags" Target="../tags/tag188.xml"/><Relationship Id="rId105" Type="http://schemas.openxmlformats.org/officeDocument/2006/relationships/tags" Target="../tags/tag193.xml"/><Relationship Id="rId126" Type="http://schemas.openxmlformats.org/officeDocument/2006/relationships/tags" Target="../tags/tag214.xml"/><Relationship Id="rId8" Type="http://schemas.openxmlformats.org/officeDocument/2006/relationships/tags" Target="../tags/tag96.xml"/><Relationship Id="rId51" Type="http://schemas.openxmlformats.org/officeDocument/2006/relationships/tags" Target="../tags/tag139.xml"/><Relationship Id="rId72" Type="http://schemas.openxmlformats.org/officeDocument/2006/relationships/tags" Target="../tags/tag160.xml"/><Relationship Id="rId93" Type="http://schemas.openxmlformats.org/officeDocument/2006/relationships/tags" Target="../tags/tag181.xml"/><Relationship Id="rId98" Type="http://schemas.openxmlformats.org/officeDocument/2006/relationships/tags" Target="../tags/tag186.xml"/><Relationship Id="rId121" Type="http://schemas.openxmlformats.org/officeDocument/2006/relationships/tags" Target="../tags/tag209.xml"/><Relationship Id="rId3" Type="http://schemas.openxmlformats.org/officeDocument/2006/relationships/tags" Target="../tags/tag91.xml"/><Relationship Id="rId25" Type="http://schemas.openxmlformats.org/officeDocument/2006/relationships/tags" Target="../tags/tag113.xml"/><Relationship Id="rId46" Type="http://schemas.openxmlformats.org/officeDocument/2006/relationships/tags" Target="../tags/tag134.xml"/><Relationship Id="rId67" Type="http://schemas.openxmlformats.org/officeDocument/2006/relationships/tags" Target="../tags/tag155.xml"/><Relationship Id="rId116" Type="http://schemas.openxmlformats.org/officeDocument/2006/relationships/tags" Target="../tags/tag204.xml"/><Relationship Id="rId137" Type="http://schemas.openxmlformats.org/officeDocument/2006/relationships/tags" Target="../tags/tag225.xml"/><Relationship Id="rId20" Type="http://schemas.openxmlformats.org/officeDocument/2006/relationships/tags" Target="../tags/tag108.xml"/><Relationship Id="rId41" Type="http://schemas.openxmlformats.org/officeDocument/2006/relationships/tags" Target="../tags/tag129.xml"/><Relationship Id="rId62" Type="http://schemas.openxmlformats.org/officeDocument/2006/relationships/tags" Target="../tags/tag150.xml"/><Relationship Id="rId83" Type="http://schemas.openxmlformats.org/officeDocument/2006/relationships/tags" Target="../tags/tag171.xml"/><Relationship Id="rId88" Type="http://schemas.openxmlformats.org/officeDocument/2006/relationships/tags" Target="../tags/tag176.xml"/><Relationship Id="rId111" Type="http://schemas.openxmlformats.org/officeDocument/2006/relationships/tags" Target="../tags/tag199.xml"/><Relationship Id="rId132" Type="http://schemas.openxmlformats.org/officeDocument/2006/relationships/tags" Target="../tags/tag220.xml"/><Relationship Id="rId15" Type="http://schemas.openxmlformats.org/officeDocument/2006/relationships/tags" Target="../tags/tag103.xml"/><Relationship Id="rId36" Type="http://schemas.openxmlformats.org/officeDocument/2006/relationships/tags" Target="../tags/tag124.xml"/><Relationship Id="rId57" Type="http://schemas.openxmlformats.org/officeDocument/2006/relationships/tags" Target="../tags/tag145.xml"/><Relationship Id="rId106" Type="http://schemas.openxmlformats.org/officeDocument/2006/relationships/tags" Target="../tags/tag194.xml"/><Relationship Id="rId127" Type="http://schemas.openxmlformats.org/officeDocument/2006/relationships/tags" Target="../tags/tag215.xml"/><Relationship Id="rId10" Type="http://schemas.openxmlformats.org/officeDocument/2006/relationships/tags" Target="../tags/tag98.xml"/><Relationship Id="rId31" Type="http://schemas.openxmlformats.org/officeDocument/2006/relationships/tags" Target="../tags/tag119.xml"/><Relationship Id="rId52" Type="http://schemas.openxmlformats.org/officeDocument/2006/relationships/tags" Target="../tags/tag140.xml"/><Relationship Id="rId73" Type="http://schemas.openxmlformats.org/officeDocument/2006/relationships/tags" Target="../tags/tag161.xml"/><Relationship Id="rId78" Type="http://schemas.openxmlformats.org/officeDocument/2006/relationships/tags" Target="../tags/tag166.xml"/><Relationship Id="rId94" Type="http://schemas.openxmlformats.org/officeDocument/2006/relationships/tags" Target="../tags/tag182.xml"/><Relationship Id="rId99" Type="http://schemas.openxmlformats.org/officeDocument/2006/relationships/tags" Target="../tags/tag187.xml"/><Relationship Id="rId101" Type="http://schemas.openxmlformats.org/officeDocument/2006/relationships/tags" Target="../tags/tag189.xml"/><Relationship Id="rId122" Type="http://schemas.openxmlformats.org/officeDocument/2006/relationships/tags" Target="../tags/tag210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26" Type="http://schemas.openxmlformats.org/officeDocument/2006/relationships/tags" Target="../tags/tag114.xml"/><Relationship Id="rId47" Type="http://schemas.openxmlformats.org/officeDocument/2006/relationships/tags" Target="../tags/tag135.xml"/><Relationship Id="rId68" Type="http://schemas.openxmlformats.org/officeDocument/2006/relationships/tags" Target="../tags/tag156.xml"/><Relationship Id="rId89" Type="http://schemas.openxmlformats.org/officeDocument/2006/relationships/tags" Target="../tags/tag177.xml"/><Relationship Id="rId112" Type="http://schemas.openxmlformats.org/officeDocument/2006/relationships/tags" Target="../tags/tag200.xml"/><Relationship Id="rId133" Type="http://schemas.openxmlformats.org/officeDocument/2006/relationships/tags" Target="../tags/tag2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4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26" Type="http://schemas.openxmlformats.org/officeDocument/2006/relationships/notesSlide" Target="../notesSlides/notesSlide22.xml"/><Relationship Id="rId3" Type="http://schemas.openxmlformats.org/officeDocument/2006/relationships/tags" Target="../tags/tag237.xml"/><Relationship Id="rId21" Type="http://schemas.openxmlformats.org/officeDocument/2006/relationships/tags" Target="../tags/tag255.xml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0" Type="http://schemas.openxmlformats.org/officeDocument/2006/relationships/tags" Target="../tags/tag254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24" Type="http://schemas.openxmlformats.org/officeDocument/2006/relationships/tags" Target="../tags/tag258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23" Type="http://schemas.openxmlformats.org/officeDocument/2006/relationships/tags" Target="../tags/tag257.xml"/><Relationship Id="rId10" Type="http://schemas.openxmlformats.org/officeDocument/2006/relationships/tags" Target="../tags/tag244.xml"/><Relationship Id="rId19" Type="http://schemas.openxmlformats.org/officeDocument/2006/relationships/tags" Target="../tags/tag253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Relationship Id="rId22" Type="http://schemas.openxmlformats.org/officeDocument/2006/relationships/tags" Target="../tags/tag2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tags" Target="../tags/tag284.xml"/><Relationship Id="rId21" Type="http://schemas.openxmlformats.org/officeDocument/2006/relationships/tags" Target="../tags/tag279.xml"/><Relationship Id="rId34" Type="http://schemas.openxmlformats.org/officeDocument/2006/relationships/tags" Target="../tags/tag292.xml"/><Relationship Id="rId42" Type="http://schemas.openxmlformats.org/officeDocument/2006/relationships/tags" Target="../tags/tag300.xml"/><Relationship Id="rId47" Type="http://schemas.openxmlformats.org/officeDocument/2006/relationships/tags" Target="../tags/tag305.xml"/><Relationship Id="rId50" Type="http://schemas.openxmlformats.org/officeDocument/2006/relationships/tags" Target="../tags/tag308.xml"/><Relationship Id="rId55" Type="http://schemas.openxmlformats.org/officeDocument/2006/relationships/tags" Target="../tags/tag313.xml"/><Relationship Id="rId63" Type="http://schemas.openxmlformats.org/officeDocument/2006/relationships/notesSlide" Target="../notesSlides/notesSlide31.xml"/><Relationship Id="rId7" Type="http://schemas.openxmlformats.org/officeDocument/2006/relationships/tags" Target="../tags/tag26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29" Type="http://schemas.openxmlformats.org/officeDocument/2006/relationships/tags" Target="../tags/tag287.xml"/><Relationship Id="rId11" Type="http://schemas.openxmlformats.org/officeDocument/2006/relationships/tags" Target="../tags/tag269.xml"/><Relationship Id="rId24" Type="http://schemas.openxmlformats.org/officeDocument/2006/relationships/tags" Target="../tags/tag282.xml"/><Relationship Id="rId32" Type="http://schemas.openxmlformats.org/officeDocument/2006/relationships/tags" Target="../tags/tag290.xml"/><Relationship Id="rId37" Type="http://schemas.openxmlformats.org/officeDocument/2006/relationships/tags" Target="../tags/tag295.xml"/><Relationship Id="rId40" Type="http://schemas.openxmlformats.org/officeDocument/2006/relationships/tags" Target="../tags/tag298.xml"/><Relationship Id="rId45" Type="http://schemas.openxmlformats.org/officeDocument/2006/relationships/tags" Target="../tags/tag303.xml"/><Relationship Id="rId53" Type="http://schemas.openxmlformats.org/officeDocument/2006/relationships/tags" Target="../tags/tag311.xml"/><Relationship Id="rId58" Type="http://schemas.openxmlformats.org/officeDocument/2006/relationships/tags" Target="../tags/tag316.xml"/><Relationship Id="rId66" Type="http://schemas.openxmlformats.org/officeDocument/2006/relationships/slide" Target="slide19.xml"/><Relationship Id="rId5" Type="http://schemas.openxmlformats.org/officeDocument/2006/relationships/tags" Target="../tags/tag263.xml"/><Relationship Id="rId61" Type="http://schemas.openxmlformats.org/officeDocument/2006/relationships/tags" Target="../tags/tag319.xml"/><Relationship Id="rId19" Type="http://schemas.openxmlformats.org/officeDocument/2006/relationships/tags" Target="../tags/tag277.xml"/><Relationship Id="rId14" Type="http://schemas.openxmlformats.org/officeDocument/2006/relationships/tags" Target="../tags/tag272.xml"/><Relationship Id="rId22" Type="http://schemas.openxmlformats.org/officeDocument/2006/relationships/tags" Target="../tags/tag280.xml"/><Relationship Id="rId27" Type="http://schemas.openxmlformats.org/officeDocument/2006/relationships/tags" Target="../tags/tag285.xml"/><Relationship Id="rId30" Type="http://schemas.openxmlformats.org/officeDocument/2006/relationships/tags" Target="../tags/tag288.xml"/><Relationship Id="rId35" Type="http://schemas.openxmlformats.org/officeDocument/2006/relationships/tags" Target="../tags/tag293.xml"/><Relationship Id="rId43" Type="http://schemas.openxmlformats.org/officeDocument/2006/relationships/tags" Target="../tags/tag301.xml"/><Relationship Id="rId48" Type="http://schemas.openxmlformats.org/officeDocument/2006/relationships/tags" Target="../tags/tag306.xml"/><Relationship Id="rId56" Type="http://schemas.openxmlformats.org/officeDocument/2006/relationships/tags" Target="../tags/tag314.xml"/><Relationship Id="rId64" Type="http://schemas.openxmlformats.org/officeDocument/2006/relationships/slide" Target="slide43.xml"/><Relationship Id="rId8" Type="http://schemas.openxmlformats.org/officeDocument/2006/relationships/tags" Target="../tags/tag266.xml"/><Relationship Id="rId51" Type="http://schemas.openxmlformats.org/officeDocument/2006/relationships/tags" Target="../tags/tag309.xml"/><Relationship Id="rId3" Type="http://schemas.openxmlformats.org/officeDocument/2006/relationships/tags" Target="../tags/tag261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5" Type="http://schemas.openxmlformats.org/officeDocument/2006/relationships/tags" Target="../tags/tag283.xml"/><Relationship Id="rId33" Type="http://schemas.openxmlformats.org/officeDocument/2006/relationships/tags" Target="../tags/tag291.xml"/><Relationship Id="rId38" Type="http://schemas.openxmlformats.org/officeDocument/2006/relationships/tags" Target="../tags/tag296.xml"/><Relationship Id="rId46" Type="http://schemas.openxmlformats.org/officeDocument/2006/relationships/tags" Target="../tags/tag304.xml"/><Relationship Id="rId59" Type="http://schemas.openxmlformats.org/officeDocument/2006/relationships/tags" Target="../tags/tag317.xml"/><Relationship Id="rId20" Type="http://schemas.openxmlformats.org/officeDocument/2006/relationships/tags" Target="../tags/tag278.xml"/><Relationship Id="rId41" Type="http://schemas.openxmlformats.org/officeDocument/2006/relationships/tags" Target="../tags/tag299.xml"/><Relationship Id="rId54" Type="http://schemas.openxmlformats.org/officeDocument/2006/relationships/tags" Target="../tags/tag312.xml"/><Relationship Id="rId62" Type="http://schemas.openxmlformats.org/officeDocument/2006/relationships/slideLayout" Target="../slideLayouts/slideLayout7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5" Type="http://schemas.openxmlformats.org/officeDocument/2006/relationships/tags" Target="../tags/tag273.xml"/><Relationship Id="rId23" Type="http://schemas.openxmlformats.org/officeDocument/2006/relationships/tags" Target="../tags/tag281.xml"/><Relationship Id="rId28" Type="http://schemas.openxmlformats.org/officeDocument/2006/relationships/tags" Target="../tags/tag286.xml"/><Relationship Id="rId36" Type="http://schemas.openxmlformats.org/officeDocument/2006/relationships/tags" Target="../tags/tag294.xml"/><Relationship Id="rId49" Type="http://schemas.openxmlformats.org/officeDocument/2006/relationships/tags" Target="../tags/tag307.xml"/><Relationship Id="rId57" Type="http://schemas.openxmlformats.org/officeDocument/2006/relationships/tags" Target="../tags/tag315.xml"/><Relationship Id="rId10" Type="http://schemas.openxmlformats.org/officeDocument/2006/relationships/tags" Target="../tags/tag268.xml"/><Relationship Id="rId31" Type="http://schemas.openxmlformats.org/officeDocument/2006/relationships/tags" Target="../tags/tag289.xml"/><Relationship Id="rId44" Type="http://schemas.openxmlformats.org/officeDocument/2006/relationships/tags" Target="../tags/tag302.xml"/><Relationship Id="rId52" Type="http://schemas.openxmlformats.org/officeDocument/2006/relationships/tags" Target="../tags/tag310.xml"/><Relationship Id="rId60" Type="http://schemas.openxmlformats.org/officeDocument/2006/relationships/tags" Target="../tags/tag318.xml"/><Relationship Id="rId65" Type="http://schemas.openxmlformats.org/officeDocument/2006/relationships/slide" Target="slide46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9" Type="http://schemas.openxmlformats.org/officeDocument/2006/relationships/tags" Target="../tags/tag29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tags" Target="../tags/tag332.xml"/><Relationship Id="rId18" Type="http://schemas.openxmlformats.org/officeDocument/2006/relationships/tags" Target="../tags/tag337.xml"/><Relationship Id="rId26" Type="http://schemas.openxmlformats.org/officeDocument/2006/relationships/tags" Target="../tags/tag345.xml"/><Relationship Id="rId39" Type="http://schemas.openxmlformats.org/officeDocument/2006/relationships/slideLayout" Target="../slideLayouts/slideLayout7.xml"/><Relationship Id="rId21" Type="http://schemas.openxmlformats.org/officeDocument/2006/relationships/tags" Target="../tags/tag340.xml"/><Relationship Id="rId34" Type="http://schemas.openxmlformats.org/officeDocument/2006/relationships/tags" Target="../tags/tag353.xml"/><Relationship Id="rId7" Type="http://schemas.openxmlformats.org/officeDocument/2006/relationships/tags" Target="../tags/tag326.xml"/><Relationship Id="rId12" Type="http://schemas.openxmlformats.org/officeDocument/2006/relationships/tags" Target="../tags/tag331.xml"/><Relationship Id="rId17" Type="http://schemas.openxmlformats.org/officeDocument/2006/relationships/tags" Target="../tags/tag336.xml"/><Relationship Id="rId25" Type="http://schemas.openxmlformats.org/officeDocument/2006/relationships/tags" Target="../tags/tag344.xml"/><Relationship Id="rId33" Type="http://schemas.openxmlformats.org/officeDocument/2006/relationships/tags" Target="../tags/tag352.xml"/><Relationship Id="rId38" Type="http://schemas.openxmlformats.org/officeDocument/2006/relationships/tags" Target="../tags/tag357.xml"/><Relationship Id="rId2" Type="http://schemas.openxmlformats.org/officeDocument/2006/relationships/tags" Target="../tags/tag321.xml"/><Relationship Id="rId16" Type="http://schemas.openxmlformats.org/officeDocument/2006/relationships/tags" Target="../tags/tag335.xml"/><Relationship Id="rId20" Type="http://schemas.openxmlformats.org/officeDocument/2006/relationships/tags" Target="../tags/tag339.xml"/><Relationship Id="rId29" Type="http://schemas.openxmlformats.org/officeDocument/2006/relationships/tags" Target="../tags/tag348.xml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tags" Target="../tags/tag330.xml"/><Relationship Id="rId24" Type="http://schemas.openxmlformats.org/officeDocument/2006/relationships/tags" Target="../tags/tag343.xml"/><Relationship Id="rId32" Type="http://schemas.openxmlformats.org/officeDocument/2006/relationships/tags" Target="../tags/tag351.xml"/><Relationship Id="rId37" Type="http://schemas.openxmlformats.org/officeDocument/2006/relationships/tags" Target="../tags/tag356.xml"/><Relationship Id="rId40" Type="http://schemas.openxmlformats.org/officeDocument/2006/relationships/notesSlide" Target="../notesSlides/notesSlide33.xml"/><Relationship Id="rId5" Type="http://schemas.openxmlformats.org/officeDocument/2006/relationships/tags" Target="../tags/tag324.xml"/><Relationship Id="rId15" Type="http://schemas.openxmlformats.org/officeDocument/2006/relationships/tags" Target="../tags/tag334.xml"/><Relationship Id="rId23" Type="http://schemas.openxmlformats.org/officeDocument/2006/relationships/tags" Target="../tags/tag342.xml"/><Relationship Id="rId28" Type="http://schemas.openxmlformats.org/officeDocument/2006/relationships/tags" Target="../tags/tag347.xml"/><Relationship Id="rId36" Type="http://schemas.openxmlformats.org/officeDocument/2006/relationships/tags" Target="../tags/tag355.xml"/><Relationship Id="rId10" Type="http://schemas.openxmlformats.org/officeDocument/2006/relationships/tags" Target="../tags/tag329.xml"/><Relationship Id="rId19" Type="http://schemas.openxmlformats.org/officeDocument/2006/relationships/tags" Target="../tags/tag338.xml"/><Relationship Id="rId31" Type="http://schemas.openxmlformats.org/officeDocument/2006/relationships/tags" Target="../tags/tag350.xml"/><Relationship Id="rId4" Type="http://schemas.openxmlformats.org/officeDocument/2006/relationships/tags" Target="../tags/tag323.xml"/><Relationship Id="rId9" Type="http://schemas.openxmlformats.org/officeDocument/2006/relationships/tags" Target="../tags/tag328.xml"/><Relationship Id="rId14" Type="http://schemas.openxmlformats.org/officeDocument/2006/relationships/tags" Target="../tags/tag333.xml"/><Relationship Id="rId22" Type="http://schemas.openxmlformats.org/officeDocument/2006/relationships/tags" Target="../tags/tag341.xml"/><Relationship Id="rId27" Type="http://schemas.openxmlformats.org/officeDocument/2006/relationships/tags" Target="../tags/tag346.xml"/><Relationship Id="rId30" Type="http://schemas.openxmlformats.org/officeDocument/2006/relationships/tags" Target="../tags/tag349.xml"/><Relationship Id="rId35" Type="http://schemas.openxmlformats.org/officeDocument/2006/relationships/tags" Target="../tags/tag354.xml"/><Relationship Id="rId8" Type="http://schemas.openxmlformats.org/officeDocument/2006/relationships/tags" Target="../tags/tag327.xml"/><Relationship Id="rId3" Type="http://schemas.openxmlformats.org/officeDocument/2006/relationships/tags" Target="../tags/tag3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8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tags" Target="../tags/tag371.xml"/><Relationship Id="rId18" Type="http://schemas.openxmlformats.org/officeDocument/2006/relationships/tags" Target="../tags/tag376.xml"/><Relationship Id="rId26" Type="http://schemas.openxmlformats.org/officeDocument/2006/relationships/tags" Target="../tags/tag384.xml"/><Relationship Id="rId39" Type="http://schemas.openxmlformats.org/officeDocument/2006/relationships/tags" Target="../tags/tag397.xml"/><Relationship Id="rId21" Type="http://schemas.openxmlformats.org/officeDocument/2006/relationships/tags" Target="../tags/tag379.xml"/><Relationship Id="rId34" Type="http://schemas.openxmlformats.org/officeDocument/2006/relationships/tags" Target="../tags/tag392.xml"/><Relationship Id="rId42" Type="http://schemas.openxmlformats.org/officeDocument/2006/relationships/tags" Target="../tags/tag400.xml"/><Relationship Id="rId47" Type="http://schemas.openxmlformats.org/officeDocument/2006/relationships/tags" Target="../tags/tag405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365.xml"/><Relationship Id="rId2" Type="http://schemas.openxmlformats.org/officeDocument/2006/relationships/tags" Target="../tags/tag360.xml"/><Relationship Id="rId16" Type="http://schemas.openxmlformats.org/officeDocument/2006/relationships/tags" Target="../tags/tag374.xml"/><Relationship Id="rId29" Type="http://schemas.openxmlformats.org/officeDocument/2006/relationships/tags" Target="../tags/tag387.xml"/><Relationship Id="rId11" Type="http://schemas.openxmlformats.org/officeDocument/2006/relationships/tags" Target="../tags/tag369.xml"/><Relationship Id="rId24" Type="http://schemas.openxmlformats.org/officeDocument/2006/relationships/tags" Target="../tags/tag382.xml"/><Relationship Id="rId32" Type="http://schemas.openxmlformats.org/officeDocument/2006/relationships/tags" Target="../tags/tag390.xml"/><Relationship Id="rId37" Type="http://schemas.openxmlformats.org/officeDocument/2006/relationships/tags" Target="../tags/tag395.xml"/><Relationship Id="rId40" Type="http://schemas.openxmlformats.org/officeDocument/2006/relationships/tags" Target="../tags/tag398.xml"/><Relationship Id="rId45" Type="http://schemas.openxmlformats.org/officeDocument/2006/relationships/tags" Target="../tags/tag403.xml"/><Relationship Id="rId53" Type="http://schemas.openxmlformats.org/officeDocument/2006/relationships/slide" Target="slide39.xml"/><Relationship Id="rId5" Type="http://schemas.openxmlformats.org/officeDocument/2006/relationships/tags" Target="../tags/tag363.xml"/><Relationship Id="rId10" Type="http://schemas.openxmlformats.org/officeDocument/2006/relationships/tags" Target="../tags/tag368.xml"/><Relationship Id="rId19" Type="http://schemas.openxmlformats.org/officeDocument/2006/relationships/tags" Target="../tags/tag377.xml"/><Relationship Id="rId31" Type="http://schemas.openxmlformats.org/officeDocument/2006/relationships/tags" Target="../tags/tag389.xml"/><Relationship Id="rId44" Type="http://schemas.openxmlformats.org/officeDocument/2006/relationships/tags" Target="../tags/tag402.xml"/><Relationship Id="rId52" Type="http://schemas.openxmlformats.org/officeDocument/2006/relationships/slide" Target="slide30.xml"/><Relationship Id="rId4" Type="http://schemas.openxmlformats.org/officeDocument/2006/relationships/tags" Target="../tags/tag362.xml"/><Relationship Id="rId9" Type="http://schemas.openxmlformats.org/officeDocument/2006/relationships/tags" Target="../tags/tag367.xml"/><Relationship Id="rId14" Type="http://schemas.openxmlformats.org/officeDocument/2006/relationships/tags" Target="../tags/tag372.xml"/><Relationship Id="rId22" Type="http://schemas.openxmlformats.org/officeDocument/2006/relationships/tags" Target="../tags/tag380.xml"/><Relationship Id="rId27" Type="http://schemas.openxmlformats.org/officeDocument/2006/relationships/tags" Target="../tags/tag385.xml"/><Relationship Id="rId30" Type="http://schemas.openxmlformats.org/officeDocument/2006/relationships/tags" Target="../tags/tag388.xml"/><Relationship Id="rId35" Type="http://schemas.openxmlformats.org/officeDocument/2006/relationships/tags" Target="../tags/tag393.xml"/><Relationship Id="rId43" Type="http://schemas.openxmlformats.org/officeDocument/2006/relationships/tags" Target="../tags/tag401.xml"/><Relationship Id="rId48" Type="http://schemas.openxmlformats.org/officeDocument/2006/relationships/tags" Target="../tags/tag406.xml"/><Relationship Id="rId8" Type="http://schemas.openxmlformats.org/officeDocument/2006/relationships/tags" Target="../tags/tag366.xml"/><Relationship Id="rId51" Type="http://schemas.openxmlformats.org/officeDocument/2006/relationships/notesSlide" Target="../notesSlides/notesSlide35.xml"/><Relationship Id="rId3" Type="http://schemas.openxmlformats.org/officeDocument/2006/relationships/tags" Target="../tags/tag361.xml"/><Relationship Id="rId12" Type="http://schemas.openxmlformats.org/officeDocument/2006/relationships/tags" Target="../tags/tag370.xml"/><Relationship Id="rId17" Type="http://schemas.openxmlformats.org/officeDocument/2006/relationships/tags" Target="../tags/tag375.xml"/><Relationship Id="rId25" Type="http://schemas.openxmlformats.org/officeDocument/2006/relationships/tags" Target="../tags/tag383.xml"/><Relationship Id="rId33" Type="http://schemas.openxmlformats.org/officeDocument/2006/relationships/tags" Target="../tags/tag391.xml"/><Relationship Id="rId38" Type="http://schemas.openxmlformats.org/officeDocument/2006/relationships/tags" Target="../tags/tag396.xml"/><Relationship Id="rId46" Type="http://schemas.openxmlformats.org/officeDocument/2006/relationships/tags" Target="../tags/tag404.xml"/><Relationship Id="rId20" Type="http://schemas.openxmlformats.org/officeDocument/2006/relationships/tags" Target="../tags/tag378.xml"/><Relationship Id="rId41" Type="http://schemas.openxmlformats.org/officeDocument/2006/relationships/tags" Target="../tags/tag399.xml"/><Relationship Id="rId1" Type="http://schemas.openxmlformats.org/officeDocument/2006/relationships/tags" Target="../tags/tag359.xml"/><Relationship Id="rId6" Type="http://schemas.openxmlformats.org/officeDocument/2006/relationships/tags" Target="../tags/tag364.xml"/><Relationship Id="rId15" Type="http://schemas.openxmlformats.org/officeDocument/2006/relationships/tags" Target="../tags/tag373.xml"/><Relationship Id="rId23" Type="http://schemas.openxmlformats.org/officeDocument/2006/relationships/tags" Target="../tags/tag381.xml"/><Relationship Id="rId28" Type="http://schemas.openxmlformats.org/officeDocument/2006/relationships/tags" Target="../tags/tag386.xml"/><Relationship Id="rId36" Type="http://schemas.openxmlformats.org/officeDocument/2006/relationships/tags" Target="../tags/tag394.xml"/><Relationship Id="rId49" Type="http://schemas.openxmlformats.org/officeDocument/2006/relationships/tags" Target="../tags/tag407.xml"/></Relationships>
</file>

<file path=ppt/slides/_rels/slide44.xml.rels><?xml version="1.0" encoding="UTF-8" standalone="yes"?>
<Relationships xmlns="http://schemas.openxmlformats.org/package/2006/relationships"><Relationship Id="rId117" Type="http://schemas.openxmlformats.org/officeDocument/2006/relationships/tags" Target="../tags/tag524.xml"/><Relationship Id="rId21" Type="http://schemas.openxmlformats.org/officeDocument/2006/relationships/tags" Target="../tags/tag428.xml"/><Relationship Id="rId42" Type="http://schemas.openxmlformats.org/officeDocument/2006/relationships/tags" Target="../tags/tag449.xml"/><Relationship Id="rId63" Type="http://schemas.openxmlformats.org/officeDocument/2006/relationships/tags" Target="../tags/tag470.xml"/><Relationship Id="rId84" Type="http://schemas.openxmlformats.org/officeDocument/2006/relationships/tags" Target="../tags/tag491.xml"/><Relationship Id="rId138" Type="http://schemas.openxmlformats.org/officeDocument/2006/relationships/tags" Target="../tags/tag545.xml"/><Relationship Id="rId159" Type="http://schemas.openxmlformats.org/officeDocument/2006/relationships/tags" Target="../tags/tag566.xml"/><Relationship Id="rId170" Type="http://schemas.openxmlformats.org/officeDocument/2006/relationships/tags" Target="../tags/tag577.xml"/><Relationship Id="rId107" Type="http://schemas.openxmlformats.org/officeDocument/2006/relationships/tags" Target="../tags/tag514.xml"/><Relationship Id="rId11" Type="http://schemas.openxmlformats.org/officeDocument/2006/relationships/tags" Target="../tags/tag418.xml"/><Relationship Id="rId32" Type="http://schemas.openxmlformats.org/officeDocument/2006/relationships/tags" Target="../tags/tag439.xml"/><Relationship Id="rId53" Type="http://schemas.openxmlformats.org/officeDocument/2006/relationships/tags" Target="../tags/tag460.xml"/><Relationship Id="rId74" Type="http://schemas.openxmlformats.org/officeDocument/2006/relationships/tags" Target="../tags/tag481.xml"/><Relationship Id="rId128" Type="http://schemas.openxmlformats.org/officeDocument/2006/relationships/tags" Target="../tags/tag535.xml"/><Relationship Id="rId149" Type="http://schemas.openxmlformats.org/officeDocument/2006/relationships/tags" Target="../tags/tag556.xml"/><Relationship Id="rId5" Type="http://schemas.openxmlformats.org/officeDocument/2006/relationships/tags" Target="../tags/tag412.xml"/><Relationship Id="rId95" Type="http://schemas.openxmlformats.org/officeDocument/2006/relationships/tags" Target="../tags/tag502.xml"/><Relationship Id="rId160" Type="http://schemas.openxmlformats.org/officeDocument/2006/relationships/tags" Target="../tags/tag567.xml"/><Relationship Id="rId22" Type="http://schemas.openxmlformats.org/officeDocument/2006/relationships/tags" Target="../tags/tag429.xml"/><Relationship Id="rId43" Type="http://schemas.openxmlformats.org/officeDocument/2006/relationships/tags" Target="../tags/tag450.xml"/><Relationship Id="rId64" Type="http://schemas.openxmlformats.org/officeDocument/2006/relationships/tags" Target="../tags/tag471.xml"/><Relationship Id="rId118" Type="http://schemas.openxmlformats.org/officeDocument/2006/relationships/tags" Target="../tags/tag525.xml"/><Relationship Id="rId139" Type="http://schemas.openxmlformats.org/officeDocument/2006/relationships/tags" Target="../tags/tag546.xml"/><Relationship Id="rId85" Type="http://schemas.openxmlformats.org/officeDocument/2006/relationships/tags" Target="../tags/tag492.xml"/><Relationship Id="rId150" Type="http://schemas.openxmlformats.org/officeDocument/2006/relationships/tags" Target="../tags/tag557.xml"/><Relationship Id="rId171" Type="http://schemas.openxmlformats.org/officeDocument/2006/relationships/tags" Target="../tags/tag578.xml"/><Relationship Id="rId12" Type="http://schemas.openxmlformats.org/officeDocument/2006/relationships/tags" Target="../tags/tag419.xml"/><Relationship Id="rId33" Type="http://schemas.openxmlformats.org/officeDocument/2006/relationships/tags" Target="../tags/tag440.xml"/><Relationship Id="rId108" Type="http://schemas.openxmlformats.org/officeDocument/2006/relationships/tags" Target="../tags/tag515.xml"/><Relationship Id="rId129" Type="http://schemas.openxmlformats.org/officeDocument/2006/relationships/tags" Target="../tags/tag536.xml"/><Relationship Id="rId54" Type="http://schemas.openxmlformats.org/officeDocument/2006/relationships/tags" Target="../tags/tag461.xml"/><Relationship Id="rId75" Type="http://schemas.openxmlformats.org/officeDocument/2006/relationships/tags" Target="../tags/tag482.xml"/><Relationship Id="rId96" Type="http://schemas.openxmlformats.org/officeDocument/2006/relationships/tags" Target="../tags/tag503.xml"/><Relationship Id="rId140" Type="http://schemas.openxmlformats.org/officeDocument/2006/relationships/tags" Target="../tags/tag547.xml"/><Relationship Id="rId161" Type="http://schemas.openxmlformats.org/officeDocument/2006/relationships/tags" Target="../tags/tag568.xml"/><Relationship Id="rId6" Type="http://schemas.openxmlformats.org/officeDocument/2006/relationships/tags" Target="../tags/tag413.xml"/><Relationship Id="rId23" Type="http://schemas.openxmlformats.org/officeDocument/2006/relationships/tags" Target="../tags/tag430.xml"/><Relationship Id="rId28" Type="http://schemas.openxmlformats.org/officeDocument/2006/relationships/tags" Target="../tags/tag435.xml"/><Relationship Id="rId49" Type="http://schemas.openxmlformats.org/officeDocument/2006/relationships/tags" Target="../tags/tag456.xml"/><Relationship Id="rId114" Type="http://schemas.openxmlformats.org/officeDocument/2006/relationships/tags" Target="../tags/tag521.xml"/><Relationship Id="rId119" Type="http://schemas.openxmlformats.org/officeDocument/2006/relationships/tags" Target="../tags/tag526.xml"/><Relationship Id="rId44" Type="http://schemas.openxmlformats.org/officeDocument/2006/relationships/tags" Target="../tags/tag451.xml"/><Relationship Id="rId60" Type="http://schemas.openxmlformats.org/officeDocument/2006/relationships/tags" Target="../tags/tag467.xml"/><Relationship Id="rId65" Type="http://schemas.openxmlformats.org/officeDocument/2006/relationships/tags" Target="../tags/tag472.xml"/><Relationship Id="rId81" Type="http://schemas.openxmlformats.org/officeDocument/2006/relationships/tags" Target="../tags/tag488.xml"/><Relationship Id="rId86" Type="http://schemas.openxmlformats.org/officeDocument/2006/relationships/tags" Target="../tags/tag493.xml"/><Relationship Id="rId130" Type="http://schemas.openxmlformats.org/officeDocument/2006/relationships/tags" Target="../tags/tag537.xml"/><Relationship Id="rId135" Type="http://schemas.openxmlformats.org/officeDocument/2006/relationships/tags" Target="../tags/tag542.xml"/><Relationship Id="rId151" Type="http://schemas.openxmlformats.org/officeDocument/2006/relationships/tags" Target="../tags/tag558.xml"/><Relationship Id="rId156" Type="http://schemas.openxmlformats.org/officeDocument/2006/relationships/tags" Target="../tags/tag563.xml"/><Relationship Id="rId177" Type="http://schemas.openxmlformats.org/officeDocument/2006/relationships/slideLayout" Target="../slideLayouts/slideLayout7.xml"/><Relationship Id="rId172" Type="http://schemas.openxmlformats.org/officeDocument/2006/relationships/tags" Target="../tags/tag579.xml"/><Relationship Id="rId13" Type="http://schemas.openxmlformats.org/officeDocument/2006/relationships/tags" Target="../tags/tag420.xml"/><Relationship Id="rId18" Type="http://schemas.openxmlformats.org/officeDocument/2006/relationships/tags" Target="../tags/tag425.xml"/><Relationship Id="rId39" Type="http://schemas.openxmlformats.org/officeDocument/2006/relationships/tags" Target="../tags/tag446.xml"/><Relationship Id="rId109" Type="http://schemas.openxmlformats.org/officeDocument/2006/relationships/tags" Target="../tags/tag516.xml"/><Relationship Id="rId34" Type="http://schemas.openxmlformats.org/officeDocument/2006/relationships/tags" Target="../tags/tag441.xml"/><Relationship Id="rId50" Type="http://schemas.openxmlformats.org/officeDocument/2006/relationships/tags" Target="../tags/tag457.xml"/><Relationship Id="rId55" Type="http://schemas.openxmlformats.org/officeDocument/2006/relationships/tags" Target="../tags/tag462.xml"/><Relationship Id="rId76" Type="http://schemas.openxmlformats.org/officeDocument/2006/relationships/tags" Target="../tags/tag483.xml"/><Relationship Id="rId97" Type="http://schemas.openxmlformats.org/officeDocument/2006/relationships/tags" Target="../tags/tag504.xml"/><Relationship Id="rId104" Type="http://schemas.openxmlformats.org/officeDocument/2006/relationships/tags" Target="../tags/tag511.xml"/><Relationship Id="rId120" Type="http://schemas.openxmlformats.org/officeDocument/2006/relationships/tags" Target="../tags/tag527.xml"/><Relationship Id="rId125" Type="http://schemas.openxmlformats.org/officeDocument/2006/relationships/tags" Target="../tags/tag532.xml"/><Relationship Id="rId141" Type="http://schemas.openxmlformats.org/officeDocument/2006/relationships/tags" Target="../tags/tag548.xml"/><Relationship Id="rId146" Type="http://schemas.openxmlformats.org/officeDocument/2006/relationships/tags" Target="../tags/tag553.xml"/><Relationship Id="rId167" Type="http://schemas.openxmlformats.org/officeDocument/2006/relationships/tags" Target="../tags/tag574.xml"/><Relationship Id="rId7" Type="http://schemas.openxmlformats.org/officeDocument/2006/relationships/tags" Target="../tags/tag414.xml"/><Relationship Id="rId71" Type="http://schemas.openxmlformats.org/officeDocument/2006/relationships/tags" Target="../tags/tag478.xml"/><Relationship Id="rId92" Type="http://schemas.openxmlformats.org/officeDocument/2006/relationships/tags" Target="../tags/tag499.xml"/><Relationship Id="rId162" Type="http://schemas.openxmlformats.org/officeDocument/2006/relationships/tags" Target="../tags/tag569.xml"/><Relationship Id="rId2" Type="http://schemas.openxmlformats.org/officeDocument/2006/relationships/tags" Target="../tags/tag409.xml"/><Relationship Id="rId29" Type="http://schemas.openxmlformats.org/officeDocument/2006/relationships/tags" Target="../tags/tag436.xml"/><Relationship Id="rId24" Type="http://schemas.openxmlformats.org/officeDocument/2006/relationships/tags" Target="../tags/tag431.xml"/><Relationship Id="rId40" Type="http://schemas.openxmlformats.org/officeDocument/2006/relationships/tags" Target="../tags/tag447.xml"/><Relationship Id="rId45" Type="http://schemas.openxmlformats.org/officeDocument/2006/relationships/tags" Target="../tags/tag452.xml"/><Relationship Id="rId66" Type="http://schemas.openxmlformats.org/officeDocument/2006/relationships/tags" Target="../tags/tag473.xml"/><Relationship Id="rId87" Type="http://schemas.openxmlformats.org/officeDocument/2006/relationships/tags" Target="../tags/tag494.xml"/><Relationship Id="rId110" Type="http://schemas.openxmlformats.org/officeDocument/2006/relationships/tags" Target="../tags/tag517.xml"/><Relationship Id="rId115" Type="http://schemas.openxmlformats.org/officeDocument/2006/relationships/tags" Target="../tags/tag522.xml"/><Relationship Id="rId131" Type="http://schemas.openxmlformats.org/officeDocument/2006/relationships/tags" Target="../tags/tag538.xml"/><Relationship Id="rId136" Type="http://schemas.openxmlformats.org/officeDocument/2006/relationships/tags" Target="../tags/tag543.xml"/><Relationship Id="rId157" Type="http://schemas.openxmlformats.org/officeDocument/2006/relationships/tags" Target="../tags/tag564.xml"/><Relationship Id="rId178" Type="http://schemas.openxmlformats.org/officeDocument/2006/relationships/notesSlide" Target="../notesSlides/notesSlide36.xml"/><Relationship Id="rId61" Type="http://schemas.openxmlformats.org/officeDocument/2006/relationships/tags" Target="../tags/tag468.xml"/><Relationship Id="rId82" Type="http://schemas.openxmlformats.org/officeDocument/2006/relationships/tags" Target="../tags/tag489.xml"/><Relationship Id="rId152" Type="http://schemas.openxmlformats.org/officeDocument/2006/relationships/tags" Target="../tags/tag559.xml"/><Relationship Id="rId173" Type="http://schemas.openxmlformats.org/officeDocument/2006/relationships/tags" Target="../tags/tag580.xml"/><Relationship Id="rId19" Type="http://schemas.openxmlformats.org/officeDocument/2006/relationships/tags" Target="../tags/tag426.xml"/><Relationship Id="rId14" Type="http://schemas.openxmlformats.org/officeDocument/2006/relationships/tags" Target="../tags/tag421.xml"/><Relationship Id="rId30" Type="http://schemas.openxmlformats.org/officeDocument/2006/relationships/tags" Target="../tags/tag437.xml"/><Relationship Id="rId35" Type="http://schemas.openxmlformats.org/officeDocument/2006/relationships/tags" Target="../tags/tag442.xml"/><Relationship Id="rId56" Type="http://schemas.openxmlformats.org/officeDocument/2006/relationships/tags" Target="../tags/tag463.xml"/><Relationship Id="rId77" Type="http://schemas.openxmlformats.org/officeDocument/2006/relationships/tags" Target="../tags/tag484.xml"/><Relationship Id="rId100" Type="http://schemas.openxmlformats.org/officeDocument/2006/relationships/tags" Target="../tags/tag507.xml"/><Relationship Id="rId105" Type="http://schemas.openxmlformats.org/officeDocument/2006/relationships/tags" Target="../tags/tag512.xml"/><Relationship Id="rId126" Type="http://schemas.openxmlformats.org/officeDocument/2006/relationships/tags" Target="../tags/tag533.xml"/><Relationship Id="rId147" Type="http://schemas.openxmlformats.org/officeDocument/2006/relationships/tags" Target="../tags/tag554.xml"/><Relationship Id="rId168" Type="http://schemas.openxmlformats.org/officeDocument/2006/relationships/tags" Target="../tags/tag575.xml"/><Relationship Id="rId8" Type="http://schemas.openxmlformats.org/officeDocument/2006/relationships/tags" Target="../tags/tag415.xml"/><Relationship Id="rId51" Type="http://schemas.openxmlformats.org/officeDocument/2006/relationships/tags" Target="../tags/tag458.xml"/><Relationship Id="rId72" Type="http://schemas.openxmlformats.org/officeDocument/2006/relationships/tags" Target="../tags/tag479.xml"/><Relationship Id="rId93" Type="http://schemas.openxmlformats.org/officeDocument/2006/relationships/tags" Target="../tags/tag500.xml"/><Relationship Id="rId98" Type="http://schemas.openxmlformats.org/officeDocument/2006/relationships/tags" Target="../tags/tag505.xml"/><Relationship Id="rId121" Type="http://schemas.openxmlformats.org/officeDocument/2006/relationships/tags" Target="../tags/tag528.xml"/><Relationship Id="rId142" Type="http://schemas.openxmlformats.org/officeDocument/2006/relationships/tags" Target="../tags/tag549.xml"/><Relationship Id="rId163" Type="http://schemas.openxmlformats.org/officeDocument/2006/relationships/tags" Target="../tags/tag570.xml"/><Relationship Id="rId3" Type="http://schemas.openxmlformats.org/officeDocument/2006/relationships/tags" Target="../tags/tag410.xml"/><Relationship Id="rId25" Type="http://schemas.openxmlformats.org/officeDocument/2006/relationships/tags" Target="../tags/tag432.xml"/><Relationship Id="rId46" Type="http://schemas.openxmlformats.org/officeDocument/2006/relationships/tags" Target="../tags/tag453.xml"/><Relationship Id="rId67" Type="http://schemas.openxmlformats.org/officeDocument/2006/relationships/tags" Target="../tags/tag474.xml"/><Relationship Id="rId116" Type="http://schemas.openxmlformats.org/officeDocument/2006/relationships/tags" Target="../tags/tag523.xml"/><Relationship Id="rId137" Type="http://schemas.openxmlformats.org/officeDocument/2006/relationships/tags" Target="../tags/tag544.xml"/><Relationship Id="rId158" Type="http://schemas.openxmlformats.org/officeDocument/2006/relationships/tags" Target="../tags/tag565.xml"/><Relationship Id="rId20" Type="http://schemas.openxmlformats.org/officeDocument/2006/relationships/tags" Target="../tags/tag427.xml"/><Relationship Id="rId41" Type="http://schemas.openxmlformats.org/officeDocument/2006/relationships/tags" Target="../tags/tag448.xml"/><Relationship Id="rId62" Type="http://schemas.openxmlformats.org/officeDocument/2006/relationships/tags" Target="../tags/tag469.xml"/><Relationship Id="rId83" Type="http://schemas.openxmlformats.org/officeDocument/2006/relationships/tags" Target="../tags/tag490.xml"/><Relationship Id="rId88" Type="http://schemas.openxmlformats.org/officeDocument/2006/relationships/tags" Target="../tags/tag495.xml"/><Relationship Id="rId111" Type="http://schemas.openxmlformats.org/officeDocument/2006/relationships/tags" Target="../tags/tag518.xml"/><Relationship Id="rId132" Type="http://schemas.openxmlformats.org/officeDocument/2006/relationships/tags" Target="../tags/tag539.xml"/><Relationship Id="rId153" Type="http://schemas.openxmlformats.org/officeDocument/2006/relationships/tags" Target="../tags/tag560.xml"/><Relationship Id="rId174" Type="http://schemas.openxmlformats.org/officeDocument/2006/relationships/tags" Target="../tags/tag581.xml"/><Relationship Id="rId15" Type="http://schemas.openxmlformats.org/officeDocument/2006/relationships/tags" Target="../tags/tag422.xml"/><Relationship Id="rId36" Type="http://schemas.openxmlformats.org/officeDocument/2006/relationships/tags" Target="../tags/tag443.xml"/><Relationship Id="rId57" Type="http://schemas.openxmlformats.org/officeDocument/2006/relationships/tags" Target="../tags/tag464.xml"/><Relationship Id="rId106" Type="http://schemas.openxmlformats.org/officeDocument/2006/relationships/tags" Target="../tags/tag513.xml"/><Relationship Id="rId127" Type="http://schemas.openxmlformats.org/officeDocument/2006/relationships/tags" Target="../tags/tag534.xml"/><Relationship Id="rId10" Type="http://schemas.openxmlformats.org/officeDocument/2006/relationships/tags" Target="../tags/tag417.xml"/><Relationship Id="rId31" Type="http://schemas.openxmlformats.org/officeDocument/2006/relationships/tags" Target="../tags/tag438.xml"/><Relationship Id="rId52" Type="http://schemas.openxmlformats.org/officeDocument/2006/relationships/tags" Target="../tags/tag459.xml"/><Relationship Id="rId73" Type="http://schemas.openxmlformats.org/officeDocument/2006/relationships/tags" Target="../tags/tag480.xml"/><Relationship Id="rId78" Type="http://schemas.openxmlformats.org/officeDocument/2006/relationships/tags" Target="../tags/tag485.xml"/><Relationship Id="rId94" Type="http://schemas.openxmlformats.org/officeDocument/2006/relationships/tags" Target="../tags/tag501.xml"/><Relationship Id="rId99" Type="http://schemas.openxmlformats.org/officeDocument/2006/relationships/tags" Target="../tags/tag506.xml"/><Relationship Id="rId101" Type="http://schemas.openxmlformats.org/officeDocument/2006/relationships/tags" Target="../tags/tag508.xml"/><Relationship Id="rId122" Type="http://schemas.openxmlformats.org/officeDocument/2006/relationships/tags" Target="../tags/tag529.xml"/><Relationship Id="rId143" Type="http://schemas.openxmlformats.org/officeDocument/2006/relationships/tags" Target="../tags/tag550.xml"/><Relationship Id="rId148" Type="http://schemas.openxmlformats.org/officeDocument/2006/relationships/tags" Target="../tags/tag555.xml"/><Relationship Id="rId164" Type="http://schemas.openxmlformats.org/officeDocument/2006/relationships/tags" Target="../tags/tag571.xml"/><Relationship Id="rId169" Type="http://schemas.openxmlformats.org/officeDocument/2006/relationships/tags" Target="../tags/tag576.xml"/><Relationship Id="rId4" Type="http://schemas.openxmlformats.org/officeDocument/2006/relationships/tags" Target="../tags/tag411.xml"/><Relationship Id="rId9" Type="http://schemas.openxmlformats.org/officeDocument/2006/relationships/tags" Target="../tags/tag416.xml"/><Relationship Id="rId26" Type="http://schemas.openxmlformats.org/officeDocument/2006/relationships/tags" Target="../tags/tag433.xml"/><Relationship Id="rId47" Type="http://schemas.openxmlformats.org/officeDocument/2006/relationships/tags" Target="../tags/tag454.xml"/><Relationship Id="rId68" Type="http://schemas.openxmlformats.org/officeDocument/2006/relationships/tags" Target="../tags/tag475.xml"/><Relationship Id="rId89" Type="http://schemas.openxmlformats.org/officeDocument/2006/relationships/tags" Target="../tags/tag496.xml"/><Relationship Id="rId112" Type="http://schemas.openxmlformats.org/officeDocument/2006/relationships/tags" Target="../tags/tag519.xml"/><Relationship Id="rId133" Type="http://schemas.openxmlformats.org/officeDocument/2006/relationships/tags" Target="../tags/tag540.xml"/><Relationship Id="rId154" Type="http://schemas.openxmlformats.org/officeDocument/2006/relationships/tags" Target="../tags/tag561.xml"/><Relationship Id="rId175" Type="http://schemas.openxmlformats.org/officeDocument/2006/relationships/tags" Target="../tags/tag582.xml"/><Relationship Id="rId16" Type="http://schemas.openxmlformats.org/officeDocument/2006/relationships/tags" Target="../tags/tag423.xml"/><Relationship Id="rId37" Type="http://schemas.openxmlformats.org/officeDocument/2006/relationships/tags" Target="../tags/tag444.xml"/><Relationship Id="rId58" Type="http://schemas.openxmlformats.org/officeDocument/2006/relationships/tags" Target="../tags/tag465.xml"/><Relationship Id="rId79" Type="http://schemas.openxmlformats.org/officeDocument/2006/relationships/tags" Target="../tags/tag486.xml"/><Relationship Id="rId102" Type="http://schemas.openxmlformats.org/officeDocument/2006/relationships/tags" Target="../tags/tag509.xml"/><Relationship Id="rId123" Type="http://schemas.openxmlformats.org/officeDocument/2006/relationships/tags" Target="../tags/tag530.xml"/><Relationship Id="rId144" Type="http://schemas.openxmlformats.org/officeDocument/2006/relationships/tags" Target="../tags/tag551.xml"/><Relationship Id="rId90" Type="http://schemas.openxmlformats.org/officeDocument/2006/relationships/tags" Target="../tags/tag497.xml"/><Relationship Id="rId165" Type="http://schemas.openxmlformats.org/officeDocument/2006/relationships/tags" Target="../tags/tag572.xml"/><Relationship Id="rId27" Type="http://schemas.openxmlformats.org/officeDocument/2006/relationships/tags" Target="../tags/tag434.xml"/><Relationship Id="rId48" Type="http://schemas.openxmlformats.org/officeDocument/2006/relationships/tags" Target="../tags/tag455.xml"/><Relationship Id="rId69" Type="http://schemas.openxmlformats.org/officeDocument/2006/relationships/tags" Target="../tags/tag476.xml"/><Relationship Id="rId113" Type="http://schemas.openxmlformats.org/officeDocument/2006/relationships/tags" Target="../tags/tag520.xml"/><Relationship Id="rId134" Type="http://schemas.openxmlformats.org/officeDocument/2006/relationships/tags" Target="../tags/tag541.xml"/><Relationship Id="rId80" Type="http://schemas.openxmlformats.org/officeDocument/2006/relationships/tags" Target="../tags/tag487.xml"/><Relationship Id="rId155" Type="http://schemas.openxmlformats.org/officeDocument/2006/relationships/tags" Target="../tags/tag562.xml"/><Relationship Id="rId176" Type="http://schemas.openxmlformats.org/officeDocument/2006/relationships/tags" Target="../tags/tag583.xml"/><Relationship Id="rId17" Type="http://schemas.openxmlformats.org/officeDocument/2006/relationships/tags" Target="../tags/tag424.xml"/><Relationship Id="rId38" Type="http://schemas.openxmlformats.org/officeDocument/2006/relationships/tags" Target="../tags/tag445.xml"/><Relationship Id="rId59" Type="http://schemas.openxmlformats.org/officeDocument/2006/relationships/tags" Target="../tags/tag466.xml"/><Relationship Id="rId103" Type="http://schemas.openxmlformats.org/officeDocument/2006/relationships/tags" Target="../tags/tag510.xml"/><Relationship Id="rId124" Type="http://schemas.openxmlformats.org/officeDocument/2006/relationships/tags" Target="../tags/tag531.xml"/><Relationship Id="rId70" Type="http://schemas.openxmlformats.org/officeDocument/2006/relationships/tags" Target="../tags/tag477.xml"/><Relationship Id="rId91" Type="http://schemas.openxmlformats.org/officeDocument/2006/relationships/tags" Target="../tags/tag498.xml"/><Relationship Id="rId145" Type="http://schemas.openxmlformats.org/officeDocument/2006/relationships/tags" Target="../tags/tag552.xml"/><Relationship Id="rId166" Type="http://schemas.openxmlformats.org/officeDocument/2006/relationships/tags" Target="../tags/tag573.xml"/><Relationship Id="rId1" Type="http://schemas.openxmlformats.org/officeDocument/2006/relationships/tags" Target="../tags/tag408.xml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tags" Target="../tags/tag700.xml"/><Relationship Id="rId21" Type="http://schemas.openxmlformats.org/officeDocument/2006/relationships/tags" Target="../tags/tag604.xml"/><Relationship Id="rId42" Type="http://schemas.openxmlformats.org/officeDocument/2006/relationships/tags" Target="../tags/tag625.xml"/><Relationship Id="rId63" Type="http://schemas.openxmlformats.org/officeDocument/2006/relationships/tags" Target="../tags/tag646.xml"/><Relationship Id="rId84" Type="http://schemas.openxmlformats.org/officeDocument/2006/relationships/tags" Target="../tags/tag667.xml"/><Relationship Id="rId138" Type="http://schemas.openxmlformats.org/officeDocument/2006/relationships/tags" Target="../tags/tag721.xml"/><Relationship Id="rId107" Type="http://schemas.openxmlformats.org/officeDocument/2006/relationships/tags" Target="../tags/tag690.xml"/><Relationship Id="rId11" Type="http://schemas.openxmlformats.org/officeDocument/2006/relationships/tags" Target="../tags/tag594.xml"/><Relationship Id="rId32" Type="http://schemas.openxmlformats.org/officeDocument/2006/relationships/tags" Target="../tags/tag615.xml"/><Relationship Id="rId37" Type="http://schemas.openxmlformats.org/officeDocument/2006/relationships/tags" Target="../tags/tag620.xml"/><Relationship Id="rId53" Type="http://schemas.openxmlformats.org/officeDocument/2006/relationships/tags" Target="../tags/tag636.xml"/><Relationship Id="rId58" Type="http://schemas.openxmlformats.org/officeDocument/2006/relationships/tags" Target="../tags/tag641.xml"/><Relationship Id="rId74" Type="http://schemas.openxmlformats.org/officeDocument/2006/relationships/tags" Target="../tags/tag657.xml"/><Relationship Id="rId79" Type="http://schemas.openxmlformats.org/officeDocument/2006/relationships/tags" Target="../tags/tag662.xml"/><Relationship Id="rId102" Type="http://schemas.openxmlformats.org/officeDocument/2006/relationships/tags" Target="../tags/tag685.xml"/><Relationship Id="rId123" Type="http://schemas.openxmlformats.org/officeDocument/2006/relationships/tags" Target="../tags/tag706.xml"/><Relationship Id="rId128" Type="http://schemas.openxmlformats.org/officeDocument/2006/relationships/tags" Target="../tags/tag711.xml"/><Relationship Id="rId144" Type="http://schemas.openxmlformats.org/officeDocument/2006/relationships/notesSlide" Target="../notesSlides/notesSlide37.xml"/><Relationship Id="rId5" Type="http://schemas.openxmlformats.org/officeDocument/2006/relationships/tags" Target="../tags/tag588.xml"/><Relationship Id="rId90" Type="http://schemas.openxmlformats.org/officeDocument/2006/relationships/tags" Target="../tags/tag673.xml"/><Relationship Id="rId95" Type="http://schemas.openxmlformats.org/officeDocument/2006/relationships/tags" Target="../tags/tag678.xml"/><Relationship Id="rId22" Type="http://schemas.openxmlformats.org/officeDocument/2006/relationships/tags" Target="../tags/tag605.xml"/><Relationship Id="rId27" Type="http://schemas.openxmlformats.org/officeDocument/2006/relationships/tags" Target="../tags/tag610.xml"/><Relationship Id="rId43" Type="http://schemas.openxmlformats.org/officeDocument/2006/relationships/tags" Target="../tags/tag626.xml"/><Relationship Id="rId48" Type="http://schemas.openxmlformats.org/officeDocument/2006/relationships/tags" Target="../tags/tag631.xml"/><Relationship Id="rId64" Type="http://schemas.openxmlformats.org/officeDocument/2006/relationships/tags" Target="../tags/tag647.xml"/><Relationship Id="rId69" Type="http://schemas.openxmlformats.org/officeDocument/2006/relationships/tags" Target="../tags/tag652.xml"/><Relationship Id="rId113" Type="http://schemas.openxmlformats.org/officeDocument/2006/relationships/tags" Target="../tags/tag696.xml"/><Relationship Id="rId118" Type="http://schemas.openxmlformats.org/officeDocument/2006/relationships/tags" Target="../tags/tag701.xml"/><Relationship Id="rId134" Type="http://schemas.openxmlformats.org/officeDocument/2006/relationships/tags" Target="../tags/tag717.xml"/><Relationship Id="rId139" Type="http://schemas.openxmlformats.org/officeDocument/2006/relationships/tags" Target="../tags/tag722.xml"/><Relationship Id="rId80" Type="http://schemas.openxmlformats.org/officeDocument/2006/relationships/tags" Target="../tags/tag663.xml"/><Relationship Id="rId85" Type="http://schemas.openxmlformats.org/officeDocument/2006/relationships/tags" Target="../tags/tag668.xml"/><Relationship Id="rId12" Type="http://schemas.openxmlformats.org/officeDocument/2006/relationships/tags" Target="../tags/tag595.xml"/><Relationship Id="rId17" Type="http://schemas.openxmlformats.org/officeDocument/2006/relationships/tags" Target="../tags/tag600.xml"/><Relationship Id="rId33" Type="http://schemas.openxmlformats.org/officeDocument/2006/relationships/tags" Target="../tags/tag616.xml"/><Relationship Id="rId38" Type="http://schemas.openxmlformats.org/officeDocument/2006/relationships/tags" Target="../tags/tag621.xml"/><Relationship Id="rId59" Type="http://schemas.openxmlformats.org/officeDocument/2006/relationships/tags" Target="../tags/tag642.xml"/><Relationship Id="rId103" Type="http://schemas.openxmlformats.org/officeDocument/2006/relationships/tags" Target="../tags/tag686.xml"/><Relationship Id="rId108" Type="http://schemas.openxmlformats.org/officeDocument/2006/relationships/tags" Target="../tags/tag691.xml"/><Relationship Id="rId124" Type="http://schemas.openxmlformats.org/officeDocument/2006/relationships/tags" Target="../tags/tag707.xml"/><Relationship Id="rId129" Type="http://schemas.openxmlformats.org/officeDocument/2006/relationships/tags" Target="../tags/tag712.xml"/><Relationship Id="rId54" Type="http://schemas.openxmlformats.org/officeDocument/2006/relationships/tags" Target="../tags/tag637.xml"/><Relationship Id="rId70" Type="http://schemas.openxmlformats.org/officeDocument/2006/relationships/tags" Target="../tags/tag653.xml"/><Relationship Id="rId75" Type="http://schemas.openxmlformats.org/officeDocument/2006/relationships/tags" Target="../tags/tag658.xml"/><Relationship Id="rId91" Type="http://schemas.openxmlformats.org/officeDocument/2006/relationships/tags" Target="../tags/tag674.xml"/><Relationship Id="rId96" Type="http://schemas.openxmlformats.org/officeDocument/2006/relationships/tags" Target="../tags/tag679.xml"/><Relationship Id="rId140" Type="http://schemas.openxmlformats.org/officeDocument/2006/relationships/tags" Target="../tags/tag723.xml"/><Relationship Id="rId1" Type="http://schemas.openxmlformats.org/officeDocument/2006/relationships/tags" Target="../tags/tag584.xml"/><Relationship Id="rId6" Type="http://schemas.openxmlformats.org/officeDocument/2006/relationships/tags" Target="../tags/tag589.xml"/><Relationship Id="rId23" Type="http://schemas.openxmlformats.org/officeDocument/2006/relationships/tags" Target="../tags/tag606.xml"/><Relationship Id="rId28" Type="http://schemas.openxmlformats.org/officeDocument/2006/relationships/tags" Target="../tags/tag611.xml"/><Relationship Id="rId49" Type="http://schemas.openxmlformats.org/officeDocument/2006/relationships/tags" Target="../tags/tag632.xml"/><Relationship Id="rId114" Type="http://schemas.openxmlformats.org/officeDocument/2006/relationships/tags" Target="../tags/tag697.xml"/><Relationship Id="rId119" Type="http://schemas.openxmlformats.org/officeDocument/2006/relationships/tags" Target="../tags/tag702.xml"/><Relationship Id="rId44" Type="http://schemas.openxmlformats.org/officeDocument/2006/relationships/tags" Target="../tags/tag627.xml"/><Relationship Id="rId60" Type="http://schemas.openxmlformats.org/officeDocument/2006/relationships/tags" Target="../tags/tag643.xml"/><Relationship Id="rId65" Type="http://schemas.openxmlformats.org/officeDocument/2006/relationships/tags" Target="../tags/tag648.xml"/><Relationship Id="rId81" Type="http://schemas.openxmlformats.org/officeDocument/2006/relationships/tags" Target="../tags/tag664.xml"/><Relationship Id="rId86" Type="http://schemas.openxmlformats.org/officeDocument/2006/relationships/tags" Target="../tags/tag669.xml"/><Relationship Id="rId130" Type="http://schemas.openxmlformats.org/officeDocument/2006/relationships/tags" Target="../tags/tag713.xml"/><Relationship Id="rId135" Type="http://schemas.openxmlformats.org/officeDocument/2006/relationships/tags" Target="../tags/tag718.xml"/><Relationship Id="rId13" Type="http://schemas.openxmlformats.org/officeDocument/2006/relationships/tags" Target="../tags/tag596.xml"/><Relationship Id="rId18" Type="http://schemas.openxmlformats.org/officeDocument/2006/relationships/tags" Target="../tags/tag601.xml"/><Relationship Id="rId39" Type="http://schemas.openxmlformats.org/officeDocument/2006/relationships/tags" Target="../tags/tag622.xml"/><Relationship Id="rId109" Type="http://schemas.openxmlformats.org/officeDocument/2006/relationships/tags" Target="../tags/tag692.xml"/><Relationship Id="rId34" Type="http://schemas.openxmlformats.org/officeDocument/2006/relationships/tags" Target="../tags/tag617.xml"/><Relationship Id="rId50" Type="http://schemas.openxmlformats.org/officeDocument/2006/relationships/tags" Target="../tags/tag633.xml"/><Relationship Id="rId55" Type="http://schemas.openxmlformats.org/officeDocument/2006/relationships/tags" Target="../tags/tag638.xml"/><Relationship Id="rId76" Type="http://schemas.openxmlformats.org/officeDocument/2006/relationships/tags" Target="../tags/tag659.xml"/><Relationship Id="rId97" Type="http://schemas.openxmlformats.org/officeDocument/2006/relationships/tags" Target="../tags/tag680.xml"/><Relationship Id="rId104" Type="http://schemas.openxmlformats.org/officeDocument/2006/relationships/tags" Target="../tags/tag687.xml"/><Relationship Id="rId120" Type="http://schemas.openxmlformats.org/officeDocument/2006/relationships/tags" Target="../tags/tag703.xml"/><Relationship Id="rId125" Type="http://schemas.openxmlformats.org/officeDocument/2006/relationships/tags" Target="../tags/tag708.xml"/><Relationship Id="rId141" Type="http://schemas.openxmlformats.org/officeDocument/2006/relationships/tags" Target="../tags/tag724.xml"/><Relationship Id="rId7" Type="http://schemas.openxmlformats.org/officeDocument/2006/relationships/tags" Target="../tags/tag590.xml"/><Relationship Id="rId71" Type="http://schemas.openxmlformats.org/officeDocument/2006/relationships/tags" Target="../tags/tag654.xml"/><Relationship Id="rId92" Type="http://schemas.openxmlformats.org/officeDocument/2006/relationships/tags" Target="../tags/tag675.xml"/><Relationship Id="rId2" Type="http://schemas.openxmlformats.org/officeDocument/2006/relationships/tags" Target="../tags/tag585.xml"/><Relationship Id="rId29" Type="http://schemas.openxmlformats.org/officeDocument/2006/relationships/tags" Target="../tags/tag612.xml"/><Relationship Id="rId24" Type="http://schemas.openxmlformats.org/officeDocument/2006/relationships/tags" Target="../tags/tag607.xml"/><Relationship Id="rId40" Type="http://schemas.openxmlformats.org/officeDocument/2006/relationships/tags" Target="../tags/tag623.xml"/><Relationship Id="rId45" Type="http://schemas.openxmlformats.org/officeDocument/2006/relationships/tags" Target="../tags/tag628.xml"/><Relationship Id="rId66" Type="http://schemas.openxmlformats.org/officeDocument/2006/relationships/tags" Target="../tags/tag649.xml"/><Relationship Id="rId87" Type="http://schemas.openxmlformats.org/officeDocument/2006/relationships/tags" Target="../tags/tag670.xml"/><Relationship Id="rId110" Type="http://schemas.openxmlformats.org/officeDocument/2006/relationships/tags" Target="../tags/tag693.xml"/><Relationship Id="rId115" Type="http://schemas.openxmlformats.org/officeDocument/2006/relationships/tags" Target="../tags/tag698.xml"/><Relationship Id="rId131" Type="http://schemas.openxmlformats.org/officeDocument/2006/relationships/tags" Target="../tags/tag714.xml"/><Relationship Id="rId136" Type="http://schemas.openxmlformats.org/officeDocument/2006/relationships/tags" Target="../tags/tag719.xml"/><Relationship Id="rId61" Type="http://schemas.openxmlformats.org/officeDocument/2006/relationships/tags" Target="../tags/tag644.xml"/><Relationship Id="rId82" Type="http://schemas.openxmlformats.org/officeDocument/2006/relationships/tags" Target="../tags/tag665.xml"/><Relationship Id="rId19" Type="http://schemas.openxmlformats.org/officeDocument/2006/relationships/tags" Target="../tags/tag602.xml"/><Relationship Id="rId14" Type="http://schemas.openxmlformats.org/officeDocument/2006/relationships/tags" Target="../tags/tag597.xml"/><Relationship Id="rId30" Type="http://schemas.openxmlformats.org/officeDocument/2006/relationships/tags" Target="../tags/tag613.xml"/><Relationship Id="rId35" Type="http://schemas.openxmlformats.org/officeDocument/2006/relationships/tags" Target="../tags/tag618.xml"/><Relationship Id="rId56" Type="http://schemas.openxmlformats.org/officeDocument/2006/relationships/tags" Target="../tags/tag639.xml"/><Relationship Id="rId77" Type="http://schemas.openxmlformats.org/officeDocument/2006/relationships/tags" Target="../tags/tag660.xml"/><Relationship Id="rId100" Type="http://schemas.openxmlformats.org/officeDocument/2006/relationships/tags" Target="../tags/tag683.xml"/><Relationship Id="rId105" Type="http://schemas.openxmlformats.org/officeDocument/2006/relationships/tags" Target="../tags/tag688.xml"/><Relationship Id="rId126" Type="http://schemas.openxmlformats.org/officeDocument/2006/relationships/tags" Target="../tags/tag709.xml"/><Relationship Id="rId8" Type="http://schemas.openxmlformats.org/officeDocument/2006/relationships/tags" Target="../tags/tag591.xml"/><Relationship Id="rId51" Type="http://schemas.openxmlformats.org/officeDocument/2006/relationships/tags" Target="../tags/tag634.xml"/><Relationship Id="rId72" Type="http://schemas.openxmlformats.org/officeDocument/2006/relationships/tags" Target="../tags/tag655.xml"/><Relationship Id="rId93" Type="http://schemas.openxmlformats.org/officeDocument/2006/relationships/tags" Target="../tags/tag676.xml"/><Relationship Id="rId98" Type="http://schemas.openxmlformats.org/officeDocument/2006/relationships/tags" Target="../tags/tag681.xml"/><Relationship Id="rId121" Type="http://schemas.openxmlformats.org/officeDocument/2006/relationships/tags" Target="../tags/tag704.xml"/><Relationship Id="rId142" Type="http://schemas.openxmlformats.org/officeDocument/2006/relationships/tags" Target="../tags/tag725.xml"/><Relationship Id="rId3" Type="http://schemas.openxmlformats.org/officeDocument/2006/relationships/tags" Target="../tags/tag586.xml"/><Relationship Id="rId25" Type="http://schemas.openxmlformats.org/officeDocument/2006/relationships/tags" Target="../tags/tag608.xml"/><Relationship Id="rId46" Type="http://schemas.openxmlformats.org/officeDocument/2006/relationships/tags" Target="../tags/tag629.xml"/><Relationship Id="rId67" Type="http://schemas.openxmlformats.org/officeDocument/2006/relationships/tags" Target="../tags/tag650.xml"/><Relationship Id="rId116" Type="http://schemas.openxmlformats.org/officeDocument/2006/relationships/tags" Target="../tags/tag699.xml"/><Relationship Id="rId137" Type="http://schemas.openxmlformats.org/officeDocument/2006/relationships/tags" Target="../tags/tag720.xml"/><Relationship Id="rId20" Type="http://schemas.openxmlformats.org/officeDocument/2006/relationships/tags" Target="../tags/tag603.xml"/><Relationship Id="rId41" Type="http://schemas.openxmlformats.org/officeDocument/2006/relationships/tags" Target="../tags/tag624.xml"/><Relationship Id="rId62" Type="http://schemas.openxmlformats.org/officeDocument/2006/relationships/tags" Target="../tags/tag645.xml"/><Relationship Id="rId83" Type="http://schemas.openxmlformats.org/officeDocument/2006/relationships/tags" Target="../tags/tag666.xml"/><Relationship Id="rId88" Type="http://schemas.openxmlformats.org/officeDocument/2006/relationships/tags" Target="../tags/tag671.xml"/><Relationship Id="rId111" Type="http://schemas.openxmlformats.org/officeDocument/2006/relationships/tags" Target="../tags/tag694.xml"/><Relationship Id="rId132" Type="http://schemas.openxmlformats.org/officeDocument/2006/relationships/tags" Target="../tags/tag715.xml"/><Relationship Id="rId15" Type="http://schemas.openxmlformats.org/officeDocument/2006/relationships/tags" Target="../tags/tag598.xml"/><Relationship Id="rId36" Type="http://schemas.openxmlformats.org/officeDocument/2006/relationships/tags" Target="../tags/tag619.xml"/><Relationship Id="rId57" Type="http://schemas.openxmlformats.org/officeDocument/2006/relationships/tags" Target="../tags/tag640.xml"/><Relationship Id="rId106" Type="http://schemas.openxmlformats.org/officeDocument/2006/relationships/tags" Target="../tags/tag689.xml"/><Relationship Id="rId127" Type="http://schemas.openxmlformats.org/officeDocument/2006/relationships/tags" Target="../tags/tag710.xml"/><Relationship Id="rId10" Type="http://schemas.openxmlformats.org/officeDocument/2006/relationships/tags" Target="../tags/tag593.xml"/><Relationship Id="rId31" Type="http://schemas.openxmlformats.org/officeDocument/2006/relationships/tags" Target="../tags/tag614.xml"/><Relationship Id="rId52" Type="http://schemas.openxmlformats.org/officeDocument/2006/relationships/tags" Target="../tags/tag635.xml"/><Relationship Id="rId73" Type="http://schemas.openxmlformats.org/officeDocument/2006/relationships/tags" Target="../tags/tag656.xml"/><Relationship Id="rId78" Type="http://schemas.openxmlformats.org/officeDocument/2006/relationships/tags" Target="../tags/tag661.xml"/><Relationship Id="rId94" Type="http://schemas.openxmlformats.org/officeDocument/2006/relationships/tags" Target="../tags/tag677.xml"/><Relationship Id="rId99" Type="http://schemas.openxmlformats.org/officeDocument/2006/relationships/tags" Target="../tags/tag682.xml"/><Relationship Id="rId101" Type="http://schemas.openxmlformats.org/officeDocument/2006/relationships/tags" Target="../tags/tag684.xml"/><Relationship Id="rId122" Type="http://schemas.openxmlformats.org/officeDocument/2006/relationships/tags" Target="../tags/tag705.xml"/><Relationship Id="rId143" Type="http://schemas.openxmlformats.org/officeDocument/2006/relationships/slideLayout" Target="../slideLayouts/slideLayout7.xml"/><Relationship Id="rId4" Type="http://schemas.openxmlformats.org/officeDocument/2006/relationships/tags" Target="../tags/tag587.xml"/><Relationship Id="rId9" Type="http://schemas.openxmlformats.org/officeDocument/2006/relationships/tags" Target="../tags/tag592.xml"/><Relationship Id="rId26" Type="http://schemas.openxmlformats.org/officeDocument/2006/relationships/tags" Target="../tags/tag609.xml"/><Relationship Id="rId47" Type="http://schemas.openxmlformats.org/officeDocument/2006/relationships/tags" Target="../tags/tag630.xml"/><Relationship Id="rId68" Type="http://schemas.openxmlformats.org/officeDocument/2006/relationships/tags" Target="../tags/tag651.xml"/><Relationship Id="rId89" Type="http://schemas.openxmlformats.org/officeDocument/2006/relationships/tags" Target="../tags/tag672.xml"/><Relationship Id="rId112" Type="http://schemas.openxmlformats.org/officeDocument/2006/relationships/tags" Target="../tags/tag695.xml"/><Relationship Id="rId133" Type="http://schemas.openxmlformats.org/officeDocument/2006/relationships/tags" Target="../tags/tag716.xml"/><Relationship Id="rId16" Type="http://schemas.openxmlformats.org/officeDocument/2006/relationships/tags" Target="../tags/tag599.xml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tags" Target="../tags/tag751.xml"/><Relationship Id="rId21" Type="http://schemas.openxmlformats.org/officeDocument/2006/relationships/tags" Target="../tags/tag746.xml"/><Relationship Id="rId42" Type="http://schemas.openxmlformats.org/officeDocument/2006/relationships/tags" Target="../tags/tag767.xml"/><Relationship Id="rId47" Type="http://schemas.openxmlformats.org/officeDocument/2006/relationships/tags" Target="../tags/tag772.xml"/><Relationship Id="rId63" Type="http://schemas.openxmlformats.org/officeDocument/2006/relationships/tags" Target="../tags/tag788.xml"/><Relationship Id="rId68" Type="http://schemas.openxmlformats.org/officeDocument/2006/relationships/tags" Target="../tags/tag793.xml"/><Relationship Id="rId16" Type="http://schemas.openxmlformats.org/officeDocument/2006/relationships/tags" Target="../tags/tag741.xml"/><Relationship Id="rId11" Type="http://schemas.openxmlformats.org/officeDocument/2006/relationships/tags" Target="../tags/tag736.xml"/><Relationship Id="rId32" Type="http://schemas.openxmlformats.org/officeDocument/2006/relationships/tags" Target="../tags/tag757.xml"/><Relationship Id="rId37" Type="http://schemas.openxmlformats.org/officeDocument/2006/relationships/tags" Target="../tags/tag762.xml"/><Relationship Id="rId53" Type="http://schemas.openxmlformats.org/officeDocument/2006/relationships/tags" Target="../tags/tag778.xml"/><Relationship Id="rId58" Type="http://schemas.openxmlformats.org/officeDocument/2006/relationships/tags" Target="../tags/tag783.xml"/><Relationship Id="rId74" Type="http://schemas.openxmlformats.org/officeDocument/2006/relationships/tags" Target="../tags/tag799.xml"/><Relationship Id="rId79" Type="http://schemas.openxmlformats.org/officeDocument/2006/relationships/tags" Target="../tags/tag804.xml"/><Relationship Id="rId5" Type="http://schemas.openxmlformats.org/officeDocument/2006/relationships/tags" Target="../tags/tag730.xml"/><Relationship Id="rId61" Type="http://schemas.openxmlformats.org/officeDocument/2006/relationships/tags" Target="../tags/tag786.xml"/><Relationship Id="rId82" Type="http://schemas.openxmlformats.org/officeDocument/2006/relationships/slide" Target="slide39.xml"/><Relationship Id="rId19" Type="http://schemas.openxmlformats.org/officeDocument/2006/relationships/tags" Target="../tags/tag744.xml"/><Relationship Id="rId14" Type="http://schemas.openxmlformats.org/officeDocument/2006/relationships/tags" Target="../tags/tag739.xml"/><Relationship Id="rId22" Type="http://schemas.openxmlformats.org/officeDocument/2006/relationships/tags" Target="../tags/tag747.xml"/><Relationship Id="rId27" Type="http://schemas.openxmlformats.org/officeDocument/2006/relationships/tags" Target="../tags/tag752.xml"/><Relationship Id="rId30" Type="http://schemas.openxmlformats.org/officeDocument/2006/relationships/tags" Target="../tags/tag755.xml"/><Relationship Id="rId35" Type="http://schemas.openxmlformats.org/officeDocument/2006/relationships/tags" Target="../tags/tag760.xml"/><Relationship Id="rId43" Type="http://schemas.openxmlformats.org/officeDocument/2006/relationships/tags" Target="../tags/tag768.xml"/><Relationship Id="rId48" Type="http://schemas.openxmlformats.org/officeDocument/2006/relationships/tags" Target="../tags/tag773.xml"/><Relationship Id="rId56" Type="http://schemas.openxmlformats.org/officeDocument/2006/relationships/tags" Target="../tags/tag781.xml"/><Relationship Id="rId64" Type="http://schemas.openxmlformats.org/officeDocument/2006/relationships/tags" Target="../tags/tag789.xml"/><Relationship Id="rId69" Type="http://schemas.openxmlformats.org/officeDocument/2006/relationships/tags" Target="../tags/tag794.xml"/><Relationship Id="rId77" Type="http://schemas.openxmlformats.org/officeDocument/2006/relationships/tags" Target="../tags/tag802.xml"/><Relationship Id="rId8" Type="http://schemas.openxmlformats.org/officeDocument/2006/relationships/tags" Target="../tags/tag733.xml"/><Relationship Id="rId51" Type="http://schemas.openxmlformats.org/officeDocument/2006/relationships/tags" Target="../tags/tag776.xml"/><Relationship Id="rId72" Type="http://schemas.openxmlformats.org/officeDocument/2006/relationships/tags" Target="../tags/tag797.xml"/><Relationship Id="rId80" Type="http://schemas.openxmlformats.org/officeDocument/2006/relationships/slideLayout" Target="../slideLayouts/slideLayout7.xml"/><Relationship Id="rId3" Type="http://schemas.openxmlformats.org/officeDocument/2006/relationships/tags" Target="../tags/tag728.xml"/><Relationship Id="rId12" Type="http://schemas.openxmlformats.org/officeDocument/2006/relationships/tags" Target="../tags/tag737.xml"/><Relationship Id="rId17" Type="http://schemas.openxmlformats.org/officeDocument/2006/relationships/tags" Target="../tags/tag742.xml"/><Relationship Id="rId25" Type="http://schemas.openxmlformats.org/officeDocument/2006/relationships/tags" Target="../tags/tag750.xml"/><Relationship Id="rId33" Type="http://schemas.openxmlformats.org/officeDocument/2006/relationships/tags" Target="../tags/tag758.xml"/><Relationship Id="rId38" Type="http://schemas.openxmlformats.org/officeDocument/2006/relationships/tags" Target="../tags/tag763.xml"/><Relationship Id="rId46" Type="http://schemas.openxmlformats.org/officeDocument/2006/relationships/tags" Target="../tags/tag771.xml"/><Relationship Id="rId59" Type="http://schemas.openxmlformats.org/officeDocument/2006/relationships/tags" Target="../tags/tag784.xml"/><Relationship Id="rId67" Type="http://schemas.openxmlformats.org/officeDocument/2006/relationships/tags" Target="../tags/tag792.xml"/><Relationship Id="rId20" Type="http://schemas.openxmlformats.org/officeDocument/2006/relationships/tags" Target="../tags/tag745.xml"/><Relationship Id="rId41" Type="http://schemas.openxmlformats.org/officeDocument/2006/relationships/tags" Target="../tags/tag766.xml"/><Relationship Id="rId54" Type="http://schemas.openxmlformats.org/officeDocument/2006/relationships/tags" Target="../tags/tag779.xml"/><Relationship Id="rId62" Type="http://schemas.openxmlformats.org/officeDocument/2006/relationships/tags" Target="../tags/tag787.xml"/><Relationship Id="rId70" Type="http://schemas.openxmlformats.org/officeDocument/2006/relationships/tags" Target="../tags/tag795.xml"/><Relationship Id="rId75" Type="http://schemas.openxmlformats.org/officeDocument/2006/relationships/tags" Target="../tags/tag800.xml"/><Relationship Id="rId83" Type="http://schemas.openxmlformats.org/officeDocument/2006/relationships/slide" Target="slide3.xml"/><Relationship Id="rId1" Type="http://schemas.openxmlformats.org/officeDocument/2006/relationships/tags" Target="../tags/tag726.xml"/><Relationship Id="rId6" Type="http://schemas.openxmlformats.org/officeDocument/2006/relationships/tags" Target="../tags/tag731.xml"/><Relationship Id="rId15" Type="http://schemas.openxmlformats.org/officeDocument/2006/relationships/tags" Target="../tags/tag740.xml"/><Relationship Id="rId23" Type="http://schemas.openxmlformats.org/officeDocument/2006/relationships/tags" Target="../tags/tag748.xml"/><Relationship Id="rId28" Type="http://schemas.openxmlformats.org/officeDocument/2006/relationships/tags" Target="../tags/tag753.xml"/><Relationship Id="rId36" Type="http://schemas.openxmlformats.org/officeDocument/2006/relationships/tags" Target="../tags/tag761.xml"/><Relationship Id="rId49" Type="http://schemas.openxmlformats.org/officeDocument/2006/relationships/tags" Target="../tags/tag774.xml"/><Relationship Id="rId57" Type="http://schemas.openxmlformats.org/officeDocument/2006/relationships/tags" Target="../tags/tag782.xml"/><Relationship Id="rId10" Type="http://schemas.openxmlformats.org/officeDocument/2006/relationships/tags" Target="../tags/tag735.xml"/><Relationship Id="rId31" Type="http://schemas.openxmlformats.org/officeDocument/2006/relationships/tags" Target="../tags/tag756.xml"/><Relationship Id="rId44" Type="http://schemas.openxmlformats.org/officeDocument/2006/relationships/tags" Target="../tags/tag769.xml"/><Relationship Id="rId52" Type="http://schemas.openxmlformats.org/officeDocument/2006/relationships/tags" Target="../tags/tag777.xml"/><Relationship Id="rId60" Type="http://schemas.openxmlformats.org/officeDocument/2006/relationships/tags" Target="../tags/tag785.xml"/><Relationship Id="rId65" Type="http://schemas.openxmlformats.org/officeDocument/2006/relationships/tags" Target="../tags/tag790.xml"/><Relationship Id="rId73" Type="http://schemas.openxmlformats.org/officeDocument/2006/relationships/tags" Target="../tags/tag798.xml"/><Relationship Id="rId78" Type="http://schemas.openxmlformats.org/officeDocument/2006/relationships/tags" Target="../tags/tag803.xml"/><Relationship Id="rId81" Type="http://schemas.openxmlformats.org/officeDocument/2006/relationships/notesSlide" Target="../notesSlides/notesSlide38.xml"/><Relationship Id="rId4" Type="http://schemas.openxmlformats.org/officeDocument/2006/relationships/tags" Target="../tags/tag729.xml"/><Relationship Id="rId9" Type="http://schemas.openxmlformats.org/officeDocument/2006/relationships/tags" Target="../tags/tag734.xml"/><Relationship Id="rId13" Type="http://schemas.openxmlformats.org/officeDocument/2006/relationships/tags" Target="../tags/tag738.xml"/><Relationship Id="rId18" Type="http://schemas.openxmlformats.org/officeDocument/2006/relationships/tags" Target="../tags/tag743.xml"/><Relationship Id="rId39" Type="http://schemas.openxmlformats.org/officeDocument/2006/relationships/tags" Target="../tags/tag764.xml"/><Relationship Id="rId34" Type="http://schemas.openxmlformats.org/officeDocument/2006/relationships/tags" Target="../tags/tag759.xml"/><Relationship Id="rId50" Type="http://schemas.openxmlformats.org/officeDocument/2006/relationships/tags" Target="../tags/tag775.xml"/><Relationship Id="rId55" Type="http://schemas.openxmlformats.org/officeDocument/2006/relationships/tags" Target="../tags/tag780.xml"/><Relationship Id="rId76" Type="http://schemas.openxmlformats.org/officeDocument/2006/relationships/tags" Target="../tags/tag801.xml"/><Relationship Id="rId7" Type="http://schemas.openxmlformats.org/officeDocument/2006/relationships/tags" Target="../tags/tag732.xml"/><Relationship Id="rId71" Type="http://schemas.openxmlformats.org/officeDocument/2006/relationships/tags" Target="../tags/tag796.xml"/><Relationship Id="rId2" Type="http://schemas.openxmlformats.org/officeDocument/2006/relationships/tags" Target="../tags/tag727.xml"/><Relationship Id="rId29" Type="http://schemas.openxmlformats.org/officeDocument/2006/relationships/tags" Target="../tags/tag754.xml"/><Relationship Id="rId24" Type="http://schemas.openxmlformats.org/officeDocument/2006/relationships/tags" Target="../tags/tag749.xml"/><Relationship Id="rId40" Type="http://schemas.openxmlformats.org/officeDocument/2006/relationships/tags" Target="../tags/tag765.xml"/><Relationship Id="rId45" Type="http://schemas.openxmlformats.org/officeDocument/2006/relationships/tags" Target="../tags/tag770.xml"/><Relationship Id="rId66" Type="http://schemas.openxmlformats.org/officeDocument/2006/relationships/tags" Target="../tags/tag791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830.xml"/><Relationship Id="rId21" Type="http://schemas.openxmlformats.org/officeDocument/2006/relationships/tags" Target="../tags/tag825.xml"/><Relationship Id="rId42" Type="http://schemas.openxmlformats.org/officeDocument/2006/relationships/tags" Target="../tags/tag846.xml"/><Relationship Id="rId47" Type="http://schemas.openxmlformats.org/officeDocument/2006/relationships/tags" Target="../tags/tag851.xml"/><Relationship Id="rId63" Type="http://schemas.openxmlformats.org/officeDocument/2006/relationships/tags" Target="../tags/tag867.xml"/><Relationship Id="rId68" Type="http://schemas.openxmlformats.org/officeDocument/2006/relationships/tags" Target="../tags/tag872.xml"/><Relationship Id="rId16" Type="http://schemas.openxmlformats.org/officeDocument/2006/relationships/tags" Target="../tags/tag820.xml"/><Relationship Id="rId11" Type="http://schemas.openxmlformats.org/officeDocument/2006/relationships/tags" Target="../tags/tag815.xml"/><Relationship Id="rId24" Type="http://schemas.openxmlformats.org/officeDocument/2006/relationships/tags" Target="../tags/tag828.xml"/><Relationship Id="rId32" Type="http://schemas.openxmlformats.org/officeDocument/2006/relationships/tags" Target="../tags/tag836.xml"/><Relationship Id="rId37" Type="http://schemas.openxmlformats.org/officeDocument/2006/relationships/tags" Target="../tags/tag841.xml"/><Relationship Id="rId40" Type="http://schemas.openxmlformats.org/officeDocument/2006/relationships/tags" Target="../tags/tag844.xml"/><Relationship Id="rId45" Type="http://schemas.openxmlformats.org/officeDocument/2006/relationships/tags" Target="../tags/tag849.xml"/><Relationship Id="rId53" Type="http://schemas.openxmlformats.org/officeDocument/2006/relationships/tags" Target="../tags/tag857.xml"/><Relationship Id="rId58" Type="http://schemas.openxmlformats.org/officeDocument/2006/relationships/tags" Target="../tags/tag862.xml"/><Relationship Id="rId66" Type="http://schemas.openxmlformats.org/officeDocument/2006/relationships/tags" Target="../tags/tag870.xml"/><Relationship Id="rId74" Type="http://schemas.openxmlformats.org/officeDocument/2006/relationships/tags" Target="../tags/tag878.xml"/><Relationship Id="rId79" Type="http://schemas.openxmlformats.org/officeDocument/2006/relationships/image" Target="../media/image3.jpeg"/><Relationship Id="rId5" Type="http://schemas.openxmlformats.org/officeDocument/2006/relationships/tags" Target="../tags/tag809.xml"/><Relationship Id="rId61" Type="http://schemas.openxmlformats.org/officeDocument/2006/relationships/tags" Target="../tags/tag865.xml"/><Relationship Id="rId19" Type="http://schemas.openxmlformats.org/officeDocument/2006/relationships/tags" Target="../tags/tag823.xml"/><Relationship Id="rId14" Type="http://schemas.openxmlformats.org/officeDocument/2006/relationships/tags" Target="../tags/tag818.xml"/><Relationship Id="rId22" Type="http://schemas.openxmlformats.org/officeDocument/2006/relationships/tags" Target="../tags/tag826.xml"/><Relationship Id="rId27" Type="http://schemas.openxmlformats.org/officeDocument/2006/relationships/tags" Target="../tags/tag831.xml"/><Relationship Id="rId30" Type="http://schemas.openxmlformats.org/officeDocument/2006/relationships/tags" Target="../tags/tag834.xml"/><Relationship Id="rId35" Type="http://schemas.openxmlformats.org/officeDocument/2006/relationships/tags" Target="../tags/tag839.xml"/><Relationship Id="rId43" Type="http://schemas.openxmlformats.org/officeDocument/2006/relationships/tags" Target="../tags/tag847.xml"/><Relationship Id="rId48" Type="http://schemas.openxmlformats.org/officeDocument/2006/relationships/tags" Target="../tags/tag852.xml"/><Relationship Id="rId56" Type="http://schemas.openxmlformats.org/officeDocument/2006/relationships/tags" Target="../tags/tag860.xml"/><Relationship Id="rId64" Type="http://schemas.openxmlformats.org/officeDocument/2006/relationships/tags" Target="../tags/tag868.xml"/><Relationship Id="rId69" Type="http://schemas.openxmlformats.org/officeDocument/2006/relationships/tags" Target="../tags/tag873.xml"/><Relationship Id="rId77" Type="http://schemas.openxmlformats.org/officeDocument/2006/relationships/slideLayout" Target="../slideLayouts/slideLayout7.xml"/><Relationship Id="rId8" Type="http://schemas.openxmlformats.org/officeDocument/2006/relationships/tags" Target="../tags/tag812.xml"/><Relationship Id="rId51" Type="http://schemas.openxmlformats.org/officeDocument/2006/relationships/tags" Target="../tags/tag855.xml"/><Relationship Id="rId72" Type="http://schemas.openxmlformats.org/officeDocument/2006/relationships/tags" Target="../tags/tag876.xml"/><Relationship Id="rId3" Type="http://schemas.openxmlformats.org/officeDocument/2006/relationships/tags" Target="../tags/tag807.xml"/><Relationship Id="rId12" Type="http://schemas.openxmlformats.org/officeDocument/2006/relationships/tags" Target="../tags/tag816.xml"/><Relationship Id="rId17" Type="http://schemas.openxmlformats.org/officeDocument/2006/relationships/tags" Target="../tags/tag821.xml"/><Relationship Id="rId25" Type="http://schemas.openxmlformats.org/officeDocument/2006/relationships/tags" Target="../tags/tag829.xml"/><Relationship Id="rId33" Type="http://schemas.openxmlformats.org/officeDocument/2006/relationships/tags" Target="../tags/tag837.xml"/><Relationship Id="rId38" Type="http://schemas.openxmlformats.org/officeDocument/2006/relationships/tags" Target="../tags/tag842.xml"/><Relationship Id="rId46" Type="http://schemas.openxmlformats.org/officeDocument/2006/relationships/tags" Target="../tags/tag850.xml"/><Relationship Id="rId59" Type="http://schemas.openxmlformats.org/officeDocument/2006/relationships/tags" Target="../tags/tag863.xml"/><Relationship Id="rId67" Type="http://schemas.openxmlformats.org/officeDocument/2006/relationships/tags" Target="../tags/tag871.xml"/><Relationship Id="rId20" Type="http://schemas.openxmlformats.org/officeDocument/2006/relationships/tags" Target="../tags/tag824.xml"/><Relationship Id="rId41" Type="http://schemas.openxmlformats.org/officeDocument/2006/relationships/tags" Target="../tags/tag845.xml"/><Relationship Id="rId54" Type="http://schemas.openxmlformats.org/officeDocument/2006/relationships/tags" Target="../tags/tag858.xml"/><Relationship Id="rId62" Type="http://schemas.openxmlformats.org/officeDocument/2006/relationships/tags" Target="../tags/tag866.xml"/><Relationship Id="rId70" Type="http://schemas.openxmlformats.org/officeDocument/2006/relationships/tags" Target="../tags/tag874.xml"/><Relationship Id="rId75" Type="http://schemas.openxmlformats.org/officeDocument/2006/relationships/tags" Target="../tags/tag879.xml"/><Relationship Id="rId1" Type="http://schemas.openxmlformats.org/officeDocument/2006/relationships/tags" Target="../tags/tag805.xml"/><Relationship Id="rId6" Type="http://schemas.openxmlformats.org/officeDocument/2006/relationships/tags" Target="../tags/tag810.xml"/><Relationship Id="rId15" Type="http://schemas.openxmlformats.org/officeDocument/2006/relationships/tags" Target="../tags/tag819.xml"/><Relationship Id="rId23" Type="http://schemas.openxmlformats.org/officeDocument/2006/relationships/tags" Target="../tags/tag827.xml"/><Relationship Id="rId28" Type="http://schemas.openxmlformats.org/officeDocument/2006/relationships/tags" Target="../tags/tag832.xml"/><Relationship Id="rId36" Type="http://schemas.openxmlformats.org/officeDocument/2006/relationships/tags" Target="../tags/tag840.xml"/><Relationship Id="rId49" Type="http://schemas.openxmlformats.org/officeDocument/2006/relationships/tags" Target="../tags/tag853.xml"/><Relationship Id="rId57" Type="http://schemas.openxmlformats.org/officeDocument/2006/relationships/tags" Target="../tags/tag861.xml"/><Relationship Id="rId10" Type="http://schemas.openxmlformats.org/officeDocument/2006/relationships/tags" Target="../tags/tag814.xml"/><Relationship Id="rId31" Type="http://schemas.openxmlformats.org/officeDocument/2006/relationships/tags" Target="../tags/tag835.xml"/><Relationship Id="rId44" Type="http://schemas.openxmlformats.org/officeDocument/2006/relationships/tags" Target="../tags/tag848.xml"/><Relationship Id="rId52" Type="http://schemas.openxmlformats.org/officeDocument/2006/relationships/tags" Target="../tags/tag856.xml"/><Relationship Id="rId60" Type="http://schemas.openxmlformats.org/officeDocument/2006/relationships/tags" Target="../tags/tag864.xml"/><Relationship Id="rId65" Type="http://schemas.openxmlformats.org/officeDocument/2006/relationships/tags" Target="../tags/tag869.xml"/><Relationship Id="rId73" Type="http://schemas.openxmlformats.org/officeDocument/2006/relationships/tags" Target="../tags/tag877.xml"/><Relationship Id="rId78" Type="http://schemas.openxmlformats.org/officeDocument/2006/relationships/image" Target="../media/image2.jpeg"/><Relationship Id="rId4" Type="http://schemas.openxmlformats.org/officeDocument/2006/relationships/tags" Target="../tags/tag808.xml"/><Relationship Id="rId9" Type="http://schemas.openxmlformats.org/officeDocument/2006/relationships/tags" Target="../tags/tag813.xml"/><Relationship Id="rId13" Type="http://schemas.openxmlformats.org/officeDocument/2006/relationships/tags" Target="../tags/tag817.xml"/><Relationship Id="rId18" Type="http://schemas.openxmlformats.org/officeDocument/2006/relationships/tags" Target="../tags/tag822.xml"/><Relationship Id="rId39" Type="http://schemas.openxmlformats.org/officeDocument/2006/relationships/tags" Target="../tags/tag843.xml"/><Relationship Id="rId34" Type="http://schemas.openxmlformats.org/officeDocument/2006/relationships/tags" Target="../tags/tag838.xml"/><Relationship Id="rId50" Type="http://schemas.openxmlformats.org/officeDocument/2006/relationships/tags" Target="../tags/tag854.xml"/><Relationship Id="rId55" Type="http://schemas.openxmlformats.org/officeDocument/2006/relationships/tags" Target="../tags/tag859.xml"/><Relationship Id="rId76" Type="http://schemas.openxmlformats.org/officeDocument/2006/relationships/tags" Target="../tags/tag880.xml"/><Relationship Id="rId7" Type="http://schemas.openxmlformats.org/officeDocument/2006/relationships/tags" Target="../tags/tag811.xml"/><Relationship Id="rId71" Type="http://schemas.openxmlformats.org/officeDocument/2006/relationships/tags" Target="../tags/tag875.xml"/><Relationship Id="rId2" Type="http://schemas.openxmlformats.org/officeDocument/2006/relationships/tags" Target="../tags/tag806.xml"/><Relationship Id="rId29" Type="http://schemas.openxmlformats.org/officeDocument/2006/relationships/tags" Target="../tags/tag833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tags" Target="../tags/tag893.xml"/><Relationship Id="rId18" Type="http://schemas.openxmlformats.org/officeDocument/2006/relationships/tags" Target="../tags/tag898.xml"/><Relationship Id="rId26" Type="http://schemas.openxmlformats.org/officeDocument/2006/relationships/tags" Target="../tags/tag906.xml"/><Relationship Id="rId3" Type="http://schemas.openxmlformats.org/officeDocument/2006/relationships/tags" Target="../tags/tag883.xml"/><Relationship Id="rId21" Type="http://schemas.openxmlformats.org/officeDocument/2006/relationships/tags" Target="../tags/tag901.xml"/><Relationship Id="rId7" Type="http://schemas.openxmlformats.org/officeDocument/2006/relationships/tags" Target="../tags/tag887.xml"/><Relationship Id="rId12" Type="http://schemas.openxmlformats.org/officeDocument/2006/relationships/tags" Target="../tags/tag892.xml"/><Relationship Id="rId17" Type="http://schemas.openxmlformats.org/officeDocument/2006/relationships/tags" Target="../tags/tag897.xml"/><Relationship Id="rId25" Type="http://schemas.openxmlformats.org/officeDocument/2006/relationships/tags" Target="../tags/tag905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882.xml"/><Relationship Id="rId16" Type="http://schemas.openxmlformats.org/officeDocument/2006/relationships/tags" Target="../tags/tag896.xml"/><Relationship Id="rId20" Type="http://schemas.openxmlformats.org/officeDocument/2006/relationships/tags" Target="../tags/tag900.xml"/><Relationship Id="rId29" Type="http://schemas.openxmlformats.org/officeDocument/2006/relationships/tags" Target="../tags/tag909.xml"/><Relationship Id="rId1" Type="http://schemas.openxmlformats.org/officeDocument/2006/relationships/tags" Target="../tags/tag881.xml"/><Relationship Id="rId6" Type="http://schemas.openxmlformats.org/officeDocument/2006/relationships/tags" Target="../tags/tag886.xml"/><Relationship Id="rId11" Type="http://schemas.openxmlformats.org/officeDocument/2006/relationships/tags" Target="../tags/tag891.xml"/><Relationship Id="rId24" Type="http://schemas.openxmlformats.org/officeDocument/2006/relationships/tags" Target="../tags/tag904.xml"/><Relationship Id="rId32" Type="http://schemas.openxmlformats.org/officeDocument/2006/relationships/tags" Target="../tags/tag912.xml"/><Relationship Id="rId5" Type="http://schemas.openxmlformats.org/officeDocument/2006/relationships/tags" Target="../tags/tag885.xml"/><Relationship Id="rId15" Type="http://schemas.openxmlformats.org/officeDocument/2006/relationships/tags" Target="../tags/tag895.xml"/><Relationship Id="rId23" Type="http://schemas.openxmlformats.org/officeDocument/2006/relationships/tags" Target="../tags/tag903.xml"/><Relationship Id="rId28" Type="http://schemas.openxmlformats.org/officeDocument/2006/relationships/tags" Target="../tags/tag908.xml"/><Relationship Id="rId10" Type="http://schemas.openxmlformats.org/officeDocument/2006/relationships/tags" Target="../tags/tag890.xml"/><Relationship Id="rId19" Type="http://schemas.openxmlformats.org/officeDocument/2006/relationships/tags" Target="../tags/tag899.xml"/><Relationship Id="rId31" Type="http://schemas.openxmlformats.org/officeDocument/2006/relationships/tags" Target="../tags/tag911.xml"/><Relationship Id="rId4" Type="http://schemas.openxmlformats.org/officeDocument/2006/relationships/tags" Target="../tags/tag884.xml"/><Relationship Id="rId9" Type="http://schemas.openxmlformats.org/officeDocument/2006/relationships/tags" Target="../tags/tag889.xml"/><Relationship Id="rId14" Type="http://schemas.openxmlformats.org/officeDocument/2006/relationships/tags" Target="../tags/tag894.xml"/><Relationship Id="rId22" Type="http://schemas.openxmlformats.org/officeDocument/2006/relationships/tags" Target="../tags/tag902.xml"/><Relationship Id="rId27" Type="http://schemas.openxmlformats.org/officeDocument/2006/relationships/tags" Target="../tags/tag907.xml"/><Relationship Id="rId30" Type="http://schemas.openxmlformats.org/officeDocument/2006/relationships/tags" Target="../tags/tag910.xml"/><Relationship Id="rId8" Type="http://schemas.openxmlformats.org/officeDocument/2006/relationships/tags" Target="../tags/tag888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938.xml"/><Relationship Id="rId21" Type="http://schemas.openxmlformats.org/officeDocument/2006/relationships/tags" Target="../tags/tag933.xml"/><Relationship Id="rId34" Type="http://schemas.openxmlformats.org/officeDocument/2006/relationships/tags" Target="../tags/tag946.xml"/><Relationship Id="rId42" Type="http://schemas.openxmlformats.org/officeDocument/2006/relationships/tags" Target="../tags/tag954.xml"/><Relationship Id="rId47" Type="http://schemas.openxmlformats.org/officeDocument/2006/relationships/tags" Target="../tags/tag959.xml"/><Relationship Id="rId50" Type="http://schemas.openxmlformats.org/officeDocument/2006/relationships/tags" Target="../tags/tag962.xml"/><Relationship Id="rId55" Type="http://schemas.openxmlformats.org/officeDocument/2006/relationships/tags" Target="../tags/tag967.xml"/><Relationship Id="rId63" Type="http://schemas.openxmlformats.org/officeDocument/2006/relationships/tags" Target="../tags/tag975.xml"/><Relationship Id="rId7" Type="http://schemas.openxmlformats.org/officeDocument/2006/relationships/tags" Target="../tags/tag919.xml"/><Relationship Id="rId2" Type="http://schemas.openxmlformats.org/officeDocument/2006/relationships/tags" Target="../tags/tag914.xml"/><Relationship Id="rId16" Type="http://schemas.openxmlformats.org/officeDocument/2006/relationships/tags" Target="../tags/tag928.xml"/><Relationship Id="rId29" Type="http://schemas.openxmlformats.org/officeDocument/2006/relationships/tags" Target="../tags/tag941.xml"/><Relationship Id="rId11" Type="http://schemas.openxmlformats.org/officeDocument/2006/relationships/tags" Target="../tags/tag923.xml"/><Relationship Id="rId24" Type="http://schemas.openxmlformats.org/officeDocument/2006/relationships/tags" Target="../tags/tag936.xml"/><Relationship Id="rId32" Type="http://schemas.openxmlformats.org/officeDocument/2006/relationships/tags" Target="../tags/tag944.xml"/><Relationship Id="rId37" Type="http://schemas.openxmlformats.org/officeDocument/2006/relationships/tags" Target="../tags/tag949.xml"/><Relationship Id="rId40" Type="http://schemas.openxmlformats.org/officeDocument/2006/relationships/tags" Target="../tags/tag952.xml"/><Relationship Id="rId45" Type="http://schemas.openxmlformats.org/officeDocument/2006/relationships/tags" Target="../tags/tag957.xml"/><Relationship Id="rId53" Type="http://schemas.openxmlformats.org/officeDocument/2006/relationships/tags" Target="../tags/tag965.xml"/><Relationship Id="rId58" Type="http://schemas.openxmlformats.org/officeDocument/2006/relationships/tags" Target="../tags/tag970.xml"/><Relationship Id="rId66" Type="http://schemas.openxmlformats.org/officeDocument/2006/relationships/slideLayout" Target="../slideLayouts/slideLayout7.xml"/><Relationship Id="rId5" Type="http://schemas.openxmlformats.org/officeDocument/2006/relationships/tags" Target="../tags/tag917.xml"/><Relationship Id="rId61" Type="http://schemas.openxmlformats.org/officeDocument/2006/relationships/tags" Target="../tags/tag973.xml"/><Relationship Id="rId19" Type="http://schemas.openxmlformats.org/officeDocument/2006/relationships/tags" Target="../tags/tag931.xml"/><Relationship Id="rId14" Type="http://schemas.openxmlformats.org/officeDocument/2006/relationships/tags" Target="../tags/tag926.xml"/><Relationship Id="rId22" Type="http://schemas.openxmlformats.org/officeDocument/2006/relationships/tags" Target="../tags/tag934.xml"/><Relationship Id="rId27" Type="http://schemas.openxmlformats.org/officeDocument/2006/relationships/tags" Target="../tags/tag939.xml"/><Relationship Id="rId30" Type="http://schemas.openxmlformats.org/officeDocument/2006/relationships/tags" Target="../tags/tag942.xml"/><Relationship Id="rId35" Type="http://schemas.openxmlformats.org/officeDocument/2006/relationships/tags" Target="../tags/tag947.xml"/><Relationship Id="rId43" Type="http://schemas.openxmlformats.org/officeDocument/2006/relationships/tags" Target="../tags/tag955.xml"/><Relationship Id="rId48" Type="http://schemas.openxmlformats.org/officeDocument/2006/relationships/tags" Target="../tags/tag960.xml"/><Relationship Id="rId56" Type="http://schemas.openxmlformats.org/officeDocument/2006/relationships/tags" Target="../tags/tag968.xml"/><Relationship Id="rId64" Type="http://schemas.openxmlformats.org/officeDocument/2006/relationships/tags" Target="../tags/tag976.xml"/><Relationship Id="rId8" Type="http://schemas.openxmlformats.org/officeDocument/2006/relationships/tags" Target="../tags/tag920.xml"/><Relationship Id="rId51" Type="http://schemas.openxmlformats.org/officeDocument/2006/relationships/tags" Target="../tags/tag963.xml"/><Relationship Id="rId3" Type="http://schemas.openxmlformats.org/officeDocument/2006/relationships/tags" Target="../tags/tag915.xml"/><Relationship Id="rId12" Type="http://schemas.openxmlformats.org/officeDocument/2006/relationships/tags" Target="../tags/tag924.xml"/><Relationship Id="rId17" Type="http://schemas.openxmlformats.org/officeDocument/2006/relationships/tags" Target="../tags/tag929.xml"/><Relationship Id="rId25" Type="http://schemas.openxmlformats.org/officeDocument/2006/relationships/tags" Target="../tags/tag937.xml"/><Relationship Id="rId33" Type="http://schemas.openxmlformats.org/officeDocument/2006/relationships/tags" Target="../tags/tag945.xml"/><Relationship Id="rId38" Type="http://schemas.openxmlformats.org/officeDocument/2006/relationships/tags" Target="../tags/tag950.xml"/><Relationship Id="rId46" Type="http://schemas.openxmlformats.org/officeDocument/2006/relationships/tags" Target="../tags/tag958.xml"/><Relationship Id="rId59" Type="http://schemas.openxmlformats.org/officeDocument/2006/relationships/tags" Target="../tags/tag971.xml"/><Relationship Id="rId20" Type="http://schemas.openxmlformats.org/officeDocument/2006/relationships/tags" Target="../tags/tag932.xml"/><Relationship Id="rId41" Type="http://schemas.openxmlformats.org/officeDocument/2006/relationships/tags" Target="../tags/tag953.xml"/><Relationship Id="rId54" Type="http://schemas.openxmlformats.org/officeDocument/2006/relationships/tags" Target="../tags/tag966.xml"/><Relationship Id="rId62" Type="http://schemas.openxmlformats.org/officeDocument/2006/relationships/tags" Target="../tags/tag974.xml"/><Relationship Id="rId1" Type="http://schemas.openxmlformats.org/officeDocument/2006/relationships/tags" Target="../tags/tag913.xml"/><Relationship Id="rId6" Type="http://schemas.openxmlformats.org/officeDocument/2006/relationships/tags" Target="../tags/tag918.xml"/><Relationship Id="rId15" Type="http://schemas.openxmlformats.org/officeDocument/2006/relationships/tags" Target="../tags/tag927.xml"/><Relationship Id="rId23" Type="http://schemas.openxmlformats.org/officeDocument/2006/relationships/tags" Target="../tags/tag935.xml"/><Relationship Id="rId28" Type="http://schemas.openxmlformats.org/officeDocument/2006/relationships/tags" Target="../tags/tag940.xml"/><Relationship Id="rId36" Type="http://schemas.openxmlformats.org/officeDocument/2006/relationships/tags" Target="../tags/tag948.xml"/><Relationship Id="rId49" Type="http://schemas.openxmlformats.org/officeDocument/2006/relationships/tags" Target="../tags/tag961.xml"/><Relationship Id="rId57" Type="http://schemas.openxmlformats.org/officeDocument/2006/relationships/tags" Target="../tags/tag969.xml"/><Relationship Id="rId10" Type="http://schemas.openxmlformats.org/officeDocument/2006/relationships/tags" Target="../tags/tag922.xml"/><Relationship Id="rId31" Type="http://schemas.openxmlformats.org/officeDocument/2006/relationships/tags" Target="../tags/tag943.xml"/><Relationship Id="rId44" Type="http://schemas.openxmlformats.org/officeDocument/2006/relationships/tags" Target="../tags/tag956.xml"/><Relationship Id="rId52" Type="http://schemas.openxmlformats.org/officeDocument/2006/relationships/tags" Target="../tags/tag964.xml"/><Relationship Id="rId60" Type="http://schemas.openxmlformats.org/officeDocument/2006/relationships/tags" Target="../tags/tag972.xml"/><Relationship Id="rId65" Type="http://schemas.openxmlformats.org/officeDocument/2006/relationships/tags" Target="../tags/tag977.xml"/><Relationship Id="rId4" Type="http://schemas.openxmlformats.org/officeDocument/2006/relationships/tags" Target="../tags/tag916.xml"/><Relationship Id="rId9" Type="http://schemas.openxmlformats.org/officeDocument/2006/relationships/tags" Target="../tags/tag921.xml"/><Relationship Id="rId13" Type="http://schemas.openxmlformats.org/officeDocument/2006/relationships/tags" Target="../tags/tag925.xml"/><Relationship Id="rId18" Type="http://schemas.openxmlformats.org/officeDocument/2006/relationships/tags" Target="../tags/tag930.xml"/><Relationship Id="rId39" Type="http://schemas.openxmlformats.org/officeDocument/2006/relationships/tags" Target="../tags/tag95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985.xml"/><Relationship Id="rId13" Type="http://schemas.openxmlformats.org/officeDocument/2006/relationships/tags" Target="../tags/tag990.xml"/><Relationship Id="rId18" Type="http://schemas.openxmlformats.org/officeDocument/2006/relationships/tags" Target="../tags/tag995.xml"/><Relationship Id="rId26" Type="http://schemas.openxmlformats.org/officeDocument/2006/relationships/tags" Target="../tags/tag1003.xml"/><Relationship Id="rId3" Type="http://schemas.openxmlformats.org/officeDocument/2006/relationships/tags" Target="../tags/tag980.xml"/><Relationship Id="rId21" Type="http://schemas.openxmlformats.org/officeDocument/2006/relationships/tags" Target="../tags/tag998.xml"/><Relationship Id="rId7" Type="http://schemas.openxmlformats.org/officeDocument/2006/relationships/tags" Target="../tags/tag984.xml"/><Relationship Id="rId12" Type="http://schemas.openxmlformats.org/officeDocument/2006/relationships/tags" Target="../tags/tag989.xml"/><Relationship Id="rId17" Type="http://schemas.openxmlformats.org/officeDocument/2006/relationships/tags" Target="../tags/tag994.xml"/><Relationship Id="rId25" Type="http://schemas.openxmlformats.org/officeDocument/2006/relationships/tags" Target="../tags/tag1002.xml"/><Relationship Id="rId2" Type="http://schemas.openxmlformats.org/officeDocument/2006/relationships/tags" Target="../tags/tag979.xml"/><Relationship Id="rId16" Type="http://schemas.openxmlformats.org/officeDocument/2006/relationships/tags" Target="../tags/tag993.xml"/><Relationship Id="rId20" Type="http://schemas.openxmlformats.org/officeDocument/2006/relationships/tags" Target="../tags/tag997.xml"/><Relationship Id="rId29" Type="http://schemas.openxmlformats.org/officeDocument/2006/relationships/tags" Target="../tags/tag1006.xml"/><Relationship Id="rId1" Type="http://schemas.openxmlformats.org/officeDocument/2006/relationships/tags" Target="../tags/tag978.xml"/><Relationship Id="rId6" Type="http://schemas.openxmlformats.org/officeDocument/2006/relationships/tags" Target="../tags/tag983.xml"/><Relationship Id="rId11" Type="http://schemas.openxmlformats.org/officeDocument/2006/relationships/tags" Target="../tags/tag988.xml"/><Relationship Id="rId24" Type="http://schemas.openxmlformats.org/officeDocument/2006/relationships/tags" Target="../tags/tag1001.xml"/><Relationship Id="rId5" Type="http://schemas.openxmlformats.org/officeDocument/2006/relationships/tags" Target="../tags/tag982.xml"/><Relationship Id="rId15" Type="http://schemas.openxmlformats.org/officeDocument/2006/relationships/tags" Target="../tags/tag992.xml"/><Relationship Id="rId23" Type="http://schemas.openxmlformats.org/officeDocument/2006/relationships/tags" Target="../tags/tag1000.xml"/><Relationship Id="rId28" Type="http://schemas.openxmlformats.org/officeDocument/2006/relationships/tags" Target="../tags/tag1005.xml"/><Relationship Id="rId10" Type="http://schemas.openxmlformats.org/officeDocument/2006/relationships/tags" Target="../tags/tag987.xml"/><Relationship Id="rId19" Type="http://schemas.openxmlformats.org/officeDocument/2006/relationships/tags" Target="../tags/tag996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981.xml"/><Relationship Id="rId9" Type="http://schemas.openxmlformats.org/officeDocument/2006/relationships/tags" Target="../tags/tag986.xml"/><Relationship Id="rId14" Type="http://schemas.openxmlformats.org/officeDocument/2006/relationships/tags" Target="../tags/tag991.xml"/><Relationship Id="rId22" Type="http://schemas.openxmlformats.org/officeDocument/2006/relationships/tags" Target="../tags/tag999.xml"/><Relationship Id="rId27" Type="http://schemas.openxmlformats.org/officeDocument/2006/relationships/tags" Target="../tags/tag1004.xml"/><Relationship Id="rId30" Type="http://schemas.openxmlformats.org/officeDocument/2006/relationships/tags" Target="../tags/tag1007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tags" Target="../tags/tag1033.xml"/><Relationship Id="rId21" Type="http://schemas.openxmlformats.org/officeDocument/2006/relationships/tags" Target="../tags/tag1028.xml"/><Relationship Id="rId42" Type="http://schemas.openxmlformats.org/officeDocument/2006/relationships/tags" Target="../tags/tag1049.xml"/><Relationship Id="rId47" Type="http://schemas.openxmlformats.org/officeDocument/2006/relationships/tags" Target="../tags/tag1054.xml"/><Relationship Id="rId63" Type="http://schemas.openxmlformats.org/officeDocument/2006/relationships/tags" Target="../tags/tag1070.xml"/><Relationship Id="rId68" Type="http://schemas.openxmlformats.org/officeDocument/2006/relationships/tags" Target="../tags/tag1075.xml"/><Relationship Id="rId16" Type="http://schemas.openxmlformats.org/officeDocument/2006/relationships/tags" Target="../tags/tag1023.xml"/><Relationship Id="rId11" Type="http://schemas.openxmlformats.org/officeDocument/2006/relationships/tags" Target="../tags/tag1018.xml"/><Relationship Id="rId24" Type="http://schemas.openxmlformats.org/officeDocument/2006/relationships/tags" Target="../tags/tag1031.xml"/><Relationship Id="rId32" Type="http://schemas.openxmlformats.org/officeDocument/2006/relationships/tags" Target="../tags/tag1039.xml"/><Relationship Id="rId37" Type="http://schemas.openxmlformats.org/officeDocument/2006/relationships/tags" Target="../tags/tag1044.xml"/><Relationship Id="rId40" Type="http://schemas.openxmlformats.org/officeDocument/2006/relationships/tags" Target="../tags/tag1047.xml"/><Relationship Id="rId45" Type="http://schemas.openxmlformats.org/officeDocument/2006/relationships/tags" Target="../tags/tag1052.xml"/><Relationship Id="rId53" Type="http://schemas.openxmlformats.org/officeDocument/2006/relationships/tags" Target="../tags/tag1060.xml"/><Relationship Id="rId58" Type="http://schemas.openxmlformats.org/officeDocument/2006/relationships/tags" Target="../tags/tag1065.xml"/><Relationship Id="rId66" Type="http://schemas.openxmlformats.org/officeDocument/2006/relationships/tags" Target="../tags/tag1073.xml"/><Relationship Id="rId74" Type="http://schemas.openxmlformats.org/officeDocument/2006/relationships/tags" Target="../tags/tag1081.xml"/><Relationship Id="rId79" Type="http://schemas.openxmlformats.org/officeDocument/2006/relationships/slide" Target="slide53.xml"/><Relationship Id="rId5" Type="http://schemas.openxmlformats.org/officeDocument/2006/relationships/tags" Target="../tags/tag1012.xml"/><Relationship Id="rId61" Type="http://schemas.openxmlformats.org/officeDocument/2006/relationships/tags" Target="../tags/tag1068.xml"/><Relationship Id="rId19" Type="http://schemas.openxmlformats.org/officeDocument/2006/relationships/tags" Target="../tags/tag1026.xml"/><Relationship Id="rId14" Type="http://schemas.openxmlformats.org/officeDocument/2006/relationships/tags" Target="../tags/tag1021.xml"/><Relationship Id="rId22" Type="http://schemas.openxmlformats.org/officeDocument/2006/relationships/tags" Target="../tags/tag1029.xml"/><Relationship Id="rId27" Type="http://schemas.openxmlformats.org/officeDocument/2006/relationships/tags" Target="../tags/tag1034.xml"/><Relationship Id="rId30" Type="http://schemas.openxmlformats.org/officeDocument/2006/relationships/tags" Target="../tags/tag1037.xml"/><Relationship Id="rId35" Type="http://schemas.openxmlformats.org/officeDocument/2006/relationships/tags" Target="../tags/tag1042.xml"/><Relationship Id="rId43" Type="http://schemas.openxmlformats.org/officeDocument/2006/relationships/tags" Target="../tags/tag1050.xml"/><Relationship Id="rId48" Type="http://schemas.openxmlformats.org/officeDocument/2006/relationships/tags" Target="../tags/tag1055.xml"/><Relationship Id="rId56" Type="http://schemas.openxmlformats.org/officeDocument/2006/relationships/tags" Target="../tags/tag1063.xml"/><Relationship Id="rId64" Type="http://schemas.openxmlformats.org/officeDocument/2006/relationships/tags" Target="../tags/tag1071.xml"/><Relationship Id="rId69" Type="http://schemas.openxmlformats.org/officeDocument/2006/relationships/tags" Target="../tags/tag1076.xml"/><Relationship Id="rId77" Type="http://schemas.openxmlformats.org/officeDocument/2006/relationships/notesSlide" Target="../notesSlides/notesSlide39.xml"/><Relationship Id="rId8" Type="http://schemas.openxmlformats.org/officeDocument/2006/relationships/tags" Target="../tags/tag1015.xml"/><Relationship Id="rId51" Type="http://schemas.openxmlformats.org/officeDocument/2006/relationships/tags" Target="../tags/tag1058.xml"/><Relationship Id="rId72" Type="http://schemas.openxmlformats.org/officeDocument/2006/relationships/tags" Target="../tags/tag1079.xml"/><Relationship Id="rId3" Type="http://schemas.openxmlformats.org/officeDocument/2006/relationships/tags" Target="../tags/tag1010.xml"/><Relationship Id="rId12" Type="http://schemas.openxmlformats.org/officeDocument/2006/relationships/tags" Target="../tags/tag1019.xml"/><Relationship Id="rId17" Type="http://schemas.openxmlformats.org/officeDocument/2006/relationships/tags" Target="../tags/tag1024.xml"/><Relationship Id="rId25" Type="http://schemas.openxmlformats.org/officeDocument/2006/relationships/tags" Target="../tags/tag1032.xml"/><Relationship Id="rId33" Type="http://schemas.openxmlformats.org/officeDocument/2006/relationships/tags" Target="../tags/tag1040.xml"/><Relationship Id="rId38" Type="http://schemas.openxmlformats.org/officeDocument/2006/relationships/tags" Target="../tags/tag1045.xml"/><Relationship Id="rId46" Type="http://schemas.openxmlformats.org/officeDocument/2006/relationships/tags" Target="../tags/tag1053.xml"/><Relationship Id="rId59" Type="http://schemas.openxmlformats.org/officeDocument/2006/relationships/tags" Target="../tags/tag1066.xml"/><Relationship Id="rId67" Type="http://schemas.openxmlformats.org/officeDocument/2006/relationships/tags" Target="../tags/tag1074.xml"/><Relationship Id="rId20" Type="http://schemas.openxmlformats.org/officeDocument/2006/relationships/tags" Target="../tags/tag1027.xml"/><Relationship Id="rId41" Type="http://schemas.openxmlformats.org/officeDocument/2006/relationships/tags" Target="../tags/tag1048.xml"/><Relationship Id="rId54" Type="http://schemas.openxmlformats.org/officeDocument/2006/relationships/tags" Target="../tags/tag1061.xml"/><Relationship Id="rId62" Type="http://schemas.openxmlformats.org/officeDocument/2006/relationships/tags" Target="../tags/tag1069.xml"/><Relationship Id="rId70" Type="http://schemas.openxmlformats.org/officeDocument/2006/relationships/tags" Target="../tags/tag1077.xml"/><Relationship Id="rId75" Type="http://schemas.openxmlformats.org/officeDocument/2006/relationships/tags" Target="../tags/tag1082.xml"/><Relationship Id="rId1" Type="http://schemas.openxmlformats.org/officeDocument/2006/relationships/tags" Target="../tags/tag1008.xml"/><Relationship Id="rId6" Type="http://schemas.openxmlformats.org/officeDocument/2006/relationships/tags" Target="../tags/tag1013.xml"/><Relationship Id="rId15" Type="http://schemas.openxmlformats.org/officeDocument/2006/relationships/tags" Target="../tags/tag1022.xml"/><Relationship Id="rId23" Type="http://schemas.openxmlformats.org/officeDocument/2006/relationships/tags" Target="../tags/tag1030.xml"/><Relationship Id="rId28" Type="http://schemas.openxmlformats.org/officeDocument/2006/relationships/tags" Target="../tags/tag1035.xml"/><Relationship Id="rId36" Type="http://schemas.openxmlformats.org/officeDocument/2006/relationships/tags" Target="../tags/tag1043.xml"/><Relationship Id="rId49" Type="http://schemas.openxmlformats.org/officeDocument/2006/relationships/tags" Target="../tags/tag1056.xml"/><Relationship Id="rId57" Type="http://schemas.openxmlformats.org/officeDocument/2006/relationships/tags" Target="../tags/tag1064.xml"/><Relationship Id="rId10" Type="http://schemas.openxmlformats.org/officeDocument/2006/relationships/tags" Target="../tags/tag1017.xml"/><Relationship Id="rId31" Type="http://schemas.openxmlformats.org/officeDocument/2006/relationships/tags" Target="../tags/tag1038.xml"/><Relationship Id="rId44" Type="http://schemas.openxmlformats.org/officeDocument/2006/relationships/tags" Target="../tags/tag1051.xml"/><Relationship Id="rId52" Type="http://schemas.openxmlformats.org/officeDocument/2006/relationships/tags" Target="../tags/tag1059.xml"/><Relationship Id="rId60" Type="http://schemas.openxmlformats.org/officeDocument/2006/relationships/tags" Target="../tags/tag1067.xml"/><Relationship Id="rId65" Type="http://schemas.openxmlformats.org/officeDocument/2006/relationships/tags" Target="../tags/tag1072.xml"/><Relationship Id="rId73" Type="http://schemas.openxmlformats.org/officeDocument/2006/relationships/tags" Target="../tags/tag1080.xml"/><Relationship Id="rId78" Type="http://schemas.openxmlformats.org/officeDocument/2006/relationships/slide" Target="slide64.xml"/><Relationship Id="rId4" Type="http://schemas.openxmlformats.org/officeDocument/2006/relationships/tags" Target="../tags/tag1011.xml"/><Relationship Id="rId9" Type="http://schemas.openxmlformats.org/officeDocument/2006/relationships/tags" Target="../tags/tag1016.xml"/><Relationship Id="rId13" Type="http://schemas.openxmlformats.org/officeDocument/2006/relationships/tags" Target="../tags/tag1020.xml"/><Relationship Id="rId18" Type="http://schemas.openxmlformats.org/officeDocument/2006/relationships/tags" Target="../tags/tag1025.xml"/><Relationship Id="rId39" Type="http://schemas.openxmlformats.org/officeDocument/2006/relationships/tags" Target="../tags/tag1046.xml"/><Relationship Id="rId34" Type="http://schemas.openxmlformats.org/officeDocument/2006/relationships/tags" Target="../tags/tag1041.xml"/><Relationship Id="rId50" Type="http://schemas.openxmlformats.org/officeDocument/2006/relationships/tags" Target="../tags/tag1057.xml"/><Relationship Id="rId55" Type="http://schemas.openxmlformats.org/officeDocument/2006/relationships/tags" Target="../tags/tag1062.xml"/><Relationship Id="rId76" Type="http://schemas.openxmlformats.org/officeDocument/2006/relationships/slideLayout" Target="../slideLayouts/slideLayout7.xml"/><Relationship Id="rId7" Type="http://schemas.openxmlformats.org/officeDocument/2006/relationships/tags" Target="../tags/tag1014.xml"/><Relationship Id="rId71" Type="http://schemas.openxmlformats.org/officeDocument/2006/relationships/tags" Target="../tags/tag1078.xml"/><Relationship Id="rId2" Type="http://schemas.openxmlformats.org/officeDocument/2006/relationships/tags" Target="../tags/tag1009.xml"/><Relationship Id="rId29" Type="http://schemas.openxmlformats.org/officeDocument/2006/relationships/tags" Target="../tags/tag1036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tags" Target="../tags/tag1095.xml"/><Relationship Id="rId18" Type="http://schemas.openxmlformats.org/officeDocument/2006/relationships/tags" Target="../tags/tag1100.xml"/><Relationship Id="rId26" Type="http://schemas.openxmlformats.org/officeDocument/2006/relationships/tags" Target="../tags/tag1108.xml"/><Relationship Id="rId39" Type="http://schemas.openxmlformats.org/officeDocument/2006/relationships/tags" Target="../tags/tag1121.xml"/><Relationship Id="rId21" Type="http://schemas.openxmlformats.org/officeDocument/2006/relationships/tags" Target="../tags/tag1103.xml"/><Relationship Id="rId34" Type="http://schemas.openxmlformats.org/officeDocument/2006/relationships/tags" Target="../tags/tag1116.xml"/><Relationship Id="rId42" Type="http://schemas.openxmlformats.org/officeDocument/2006/relationships/tags" Target="../tags/tag1124.xml"/><Relationship Id="rId47" Type="http://schemas.openxmlformats.org/officeDocument/2006/relationships/tags" Target="../tags/tag1129.xml"/><Relationship Id="rId50" Type="http://schemas.openxmlformats.org/officeDocument/2006/relationships/tags" Target="../tags/tag1132.xml"/><Relationship Id="rId55" Type="http://schemas.openxmlformats.org/officeDocument/2006/relationships/tags" Target="../tags/tag1137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1089.xml"/><Relationship Id="rId2" Type="http://schemas.openxmlformats.org/officeDocument/2006/relationships/tags" Target="../tags/tag1084.xml"/><Relationship Id="rId16" Type="http://schemas.openxmlformats.org/officeDocument/2006/relationships/tags" Target="../tags/tag1098.xml"/><Relationship Id="rId29" Type="http://schemas.openxmlformats.org/officeDocument/2006/relationships/tags" Target="../tags/tag1111.xml"/><Relationship Id="rId11" Type="http://schemas.openxmlformats.org/officeDocument/2006/relationships/tags" Target="../tags/tag1093.xml"/><Relationship Id="rId24" Type="http://schemas.openxmlformats.org/officeDocument/2006/relationships/tags" Target="../tags/tag1106.xml"/><Relationship Id="rId32" Type="http://schemas.openxmlformats.org/officeDocument/2006/relationships/tags" Target="../tags/tag1114.xml"/><Relationship Id="rId37" Type="http://schemas.openxmlformats.org/officeDocument/2006/relationships/tags" Target="../tags/tag1119.xml"/><Relationship Id="rId40" Type="http://schemas.openxmlformats.org/officeDocument/2006/relationships/tags" Target="../tags/tag1122.xml"/><Relationship Id="rId45" Type="http://schemas.openxmlformats.org/officeDocument/2006/relationships/tags" Target="../tags/tag1127.xml"/><Relationship Id="rId53" Type="http://schemas.openxmlformats.org/officeDocument/2006/relationships/tags" Target="../tags/tag1135.xml"/><Relationship Id="rId58" Type="http://schemas.openxmlformats.org/officeDocument/2006/relationships/tags" Target="../tags/tag1140.xml"/><Relationship Id="rId5" Type="http://schemas.openxmlformats.org/officeDocument/2006/relationships/tags" Target="../tags/tag1087.xml"/><Relationship Id="rId61" Type="http://schemas.openxmlformats.org/officeDocument/2006/relationships/tags" Target="../tags/tag1143.xml"/><Relationship Id="rId19" Type="http://schemas.openxmlformats.org/officeDocument/2006/relationships/tags" Target="../tags/tag1101.xml"/><Relationship Id="rId14" Type="http://schemas.openxmlformats.org/officeDocument/2006/relationships/tags" Target="../tags/tag1096.xml"/><Relationship Id="rId22" Type="http://schemas.openxmlformats.org/officeDocument/2006/relationships/tags" Target="../tags/tag1104.xml"/><Relationship Id="rId27" Type="http://schemas.openxmlformats.org/officeDocument/2006/relationships/tags" Target="../tags/tag1109.xml"/><Relationship Id="rId30" Type="http://schemas.openxmlformats.org/officeDocument/2006/relationships/tags" Target="../tags/tag1112.xml"/><Relationship Id="rId35" Type="http://schemas.openxmlformats.org/officeDocument/2006/relationships/tags" Target="../tags/tag1117.xml"/><Relationship Id="rId43" Type="http://schemas.openxmlformats.org/officeDocument/2006/relationships/tags" Target="../tags/tag1125.xml"/><Relationship Id="rId48" Type="http://schemas.openxmlformats.org/officeDocument/2006/relationships/tags" Target="../tags/tag1130.xml"/><Relationship Id="rId56" Type="http://schemas.openxmlformats.org/officeDocument/2006/relationships/tags" Target="../tags/tag1138.xml"/><Relationship Id="rId8" Type="http://schemas.openxmlformats.org/officeDocument/2006/relationships/tags" Target="../tags/tag1090.xml"/><Relationship Id="rId51" Type="http://schemas.openxmlformats.org/officeDocument/2006/relationships/tags" Target="../tags/tag1133.xml"/><Relationship Id="rId3" Type="http://schemas.openxmlformats.org/officeDocument/2006/relationships/tags" Target="../tags/tag1085.xml"/><Relationship Id="rId12" Type="http://schemas.openxmlformats.org/officeDocument/2006/relationships/tags" Target="../tags/tag1094.xml"/><Relationship Id="rId17" Type="http://schemas.openxmlformats.org/officeDocument/2006/relationships/tags" Target="../tags/tag1099.xml"/><Relationship Id="rId25" Type="http://schemas.openxmlformats.org/officeDocument/2006/relationships/tags" Target="../tags/tag1107.xml"/><Relationship Id="rId33" Type="http://schemas.openxmlformats.org/officeDocument/2006/relationships/tags" Target="../tags/tag1115.xml"/><Relationship Id="rId38" Type="http://schemas.openxmlformats.org/officeDocument/2006/relationships/tags" Target="../tags/tag1120.xml"/><Relationship Id="rId46" Type="http://schemas.openxmlformats.org/officeDocument/2006/relationships/tags" Target="../tags/tag1128.xml"/><Relationship Id="rId59" Type="http://schemas.openxmlformats.org/officeDocument/2006/relationships/tags" Target="../tags/tag1141.xml"/><Relationship Id="rId20" Type="http://schemas.openxmlformats.org/officeDocument/2006/relationships/tags" Target="../tags/tag1102.xml"/><Relationship Id="rId41" Type="http://schemas.openxmlformats.org/officeDocument/2006/relationships/tags" Target="../tags/tag1123.xml"/><Relationship Id="rId54" Type="http://schemas.openxmlformats.org/officeDocument/2006/relationships/tags" Target="../tags/tag1136.xml"/><Relationship Id="rId62" Type="http://schemas.openxmlformats.org/officeDocument/2006/relationships/tags" Target="../tags/tag1144.xml"/><Relationship Id="rId1" Type="http://schemas.openxmlformats.org/officeDocument/2006/relationships/tags" Target="../tags/tag1083.xml"/><Relationship Id="rId6" Type="http://schemas.openxmlformats.org/officeDocument/2006/relationships/tags" Target="../tags/tag1088.xml"/><Relationship Id="rId15" Type="http://schemas.openxmlformats.org/officeDocument/2006/relationships/tags" Target="../tags/tag1097.xml"/><Relationship Id="rId23" Type="http://schemas.openxmlformats.org/officeDocument/2006/relationships/tags" Target="../tags/tag1105.xml"/><Relationship Id="rId28" Type="http://schemas.openxmlformats.org/officeDocument/2006/relationships/tags" Target="../tags/tag1110.xml"/><Relationship Id="rId36" Type="http://schemas.openxmlformats.org/officeDocument/2006/relationships/tags" Target="../tags/tag1118.xml"/><Relationship Id="rId49" Type="http://schemas.openxmlformats.org/officeDocument/2006/relationships/tags" Target="../tags/tag1131.xml"/><Relationship Id="rId57" Type="http://schemas.openxmlformats.org/officeDocument/2006/relationships/tags" Target="../tags/tag1139.xml"/><Relationship Id="rId10" Type="http://schemas.openxmlformats.org/officeDocument/2006/relationships/tags" Target="../tags/tag1092.xml"/><Relationship Id="rId31" Type="http://schemas.openxmlformats.org/officeDocument/2006/relationships/tags" Target="../tags/tag1113.xml"/><Relationship Id="rId44" Type="http://schemas.openxmlformats.org/officeDocument/2006/relationships/tags" Target="../tags/tag1126.xml"/><Relationship Id="rId52" Type="http://schemas.openxmlformats.org/officeDocument/2006/relationships/tags" Target="../tags/tag1134.xml"/><Relationship Id="rId60" Type="http://schemas.openxmlformats.org/officeDocument/2006/relationships/tags" Target="../tags/tag1142.xml"/><Relationship Id="rId4" Type="http://schemas.openxmlformats.org/officeDocument/2006/relationships/tags" Target="../tags/tag1086.xml"/><Relationship Id="rId9" Type="http://schemas.openxmlformats.org/officeDocument/2006/relationships/tags" Target="../tags/tag1091.xml"/></Relationships>
</file>

<file path=ppt/slides/_rels/slide53.xml.rels><?xml version="1.0" encoding="UTF-8" standalone="yes"?>
<Relationships xmlns="http://schemas.openxmlformats.org/package/2006/relationships"><Relationship Id="rId26" Type="http://schemas.openxmlformats.org/officeDocument/2006/relationships/tags" Target="../tags/tag1170.xml"/><Relationship Id="rId21" Type="http://schemas.openxmlformats.org/officeDocument/2006/relationships/tags" Target="../tags/tag1165.xml"/><Relationship Id="rId42" Type="http://schemas.openxmlformats.org/officeDocument/2006/relationships/tags" Target="../tags/tag1186.xml"/><Relationship Id="rId47" Type="http://schemas.openxmlformats.org/officeDocument/2006/relationships/tags" Target="../tags/tag1191.xml"/><Relationship Id="rId63" Type="http://schemas.openxmlformats.org/officeDocument/2006/relationships/tags" Target="../tags/tag1207.xml"/><Relationship Id="rId68" Type="http://schemas.openxmlformats.org/officeDocument/2006/relationships/tags" Target="../tags/tag1212.xml"/><Relationship Id="rId84" Type="http://schemas.openxmlformats.org/officeDocument/2006/relationships/tags" Target="../tags/tag1228.xml"/><Relationship Id="rId89" Type="http://schemas.openxmlformats.org/officeDocument/2006/relationships/tags" Target="../tags/tag1233.xml"/><Relationship Id="rId16" Type="http://schemas.openxmlformats.org/officeDocument/2006/relationships/tags" Target="../tags/tag1160.xml"/><Relationship Id="rId11" Type="http://schemas.openxmlformats.org/officeDocument/2006/relationships/tags" Target="../tags/tag1155.xml"/><Relationship Id="rId32" Type="http://schemas.openxmlformats.org/officeDocument/2006/relationships/tags" Target="../tags/tag1176.xml"/><Relationship Id="rId37" Type="http://schemas.openxmlformats.org/officeDocument/2006/relationships/tags" Target="../tags/tag1181.xml"/><Relationship Id="rId53" Type="http://schemas.openxmlformats.org/officeDocument/2006/relationships/tags" Target="../tags/tag1197.xml"/><Relationship Id="rId58" Type="http://schemas.openxmlformats.org/officeDocument/2006/relationships/tags" Target="../tags/tag1202.xml"/><Relationship Id="rId74" Type="http://schemas.openxmlformats.org/officeDocument/2006/relationships/tags" Target="../tags/tag1218.xml"/><Relationship Id="rId79" Type="http://schemas.openxmlformats.org/officeDocument/2006/relationships/tags" Target="../tags/tag1223.xml"/><Relationship Id="rId5" Type="http://schemas.openxmlformats.org/officeDocument/2006/relationships/tags" Target="../tags/tag1149.xml"/><Relationship Id="rId90" Type="http://schemas.openxmlformats.org/officeDocument/2006/relationships/tags" Target="../tags/tag1234.xml"/><Relationship Id="rId95" Type="http://schemas.openxmlformats.org/officeDocument/2006/relationships/tags" Target="../tags/tag1239.xml"/><Relationship Id="rId22" Type="http://schemas.openxmlformats.org/officeDocument/2006/relationships/tags" Target="../tags/tag1166.xml"/><Relationship Id="rId27" Type="http://schemas.openxmlformats.org/officeDocument/2006/relationships/tags" Target="../tags/tag1171.xml"/><Relationship Id="rId43" Type="http://schemas.openxmlformats.org/officeDocument/2006/relationships/tags" Target="../tags/tag1187.xml"/><Relationship Id="rId48" Type="http://schemas.openxmlformats.org/officeDocument/2006/relationships/tags" Target="../tags/tag1192.xml"/><Relationship Id="rId64" Type="http://schemas.openxmlformats.org/officeDocument/2006/relationships/tags" Target="../tags/tag1208.xml"/><Relationship Id="rId69" Type="http://schemas.openxmlformats.org/officeDocument/2006/relationships/tags" Target="../tags/tag1213.xml"/><Relationship Id="rId80" Type="http://schemas.openxmlformats.org/officeDocument/2006/relationships/tags" Target="../tags/tag1224.xml"/><Relationship Id="rId85" Type="http://schemas.openxmlformats.org/officeDocument/2006/relationships/tags" Target="../tags/tag1229.xml"/><Relationship Id="rId12" Type="http://schemas.openxmlformats.org/officeDocument/2006/relationships/tags" Target="../tags/tag1156.xml"/><Relationship Id="rId17" Type="http://schemas.openxmlformats.org/officeDocument/2006/relationships/tags" Target="../tags/tag1161.xml"/><Relationship Id="rId25" Type="http://schemas.openxmlformats.org/officeDocument/2006/relationships/tags" Target="../tags/tag1169.xml"/><Relationship Id="rId33" Type="http://schemas.openxmlformats.org/officeDocument/2006/relationships/tags" Target="../tags/tag1177.xml"/><Relationship Id="rId38" Type="http://schemas.openxmlformats.org/officeDocument/2006/relationships/tags" Target="../tags/tag1182.xml"/><Relationship Id="rId46" Type="http://schemas.openxmlformats.org/officeDocument/2006/relationships/tags" Target="../tags/tag1190.xml"/><Relationship Id="rId59" Type="http://schemas.openxmlformats.org/officeDocument/2006/relationships/tags" Target="../tags/tag1203.xml"/><Relationship Id="rId67" Type="http://schemas.openxmlformats.org/officeDocument/2006/relationships/tags" Target="../tags/tag1211.xml"/><Relationship Id="rId20" Type="http://schemas.openxmlformats.org/officeDocument/2006/relationships/tags" Target="../tags/tag1164.xml"/><Relationship Id="rId41" Type="http://schemas.openxmlformats.org/officeDocument/2006/relationships/tags" Target="../tags/tag1185.xml"/><Relationship Id="rId54" Type="http://schemas.openxmlformats.org/officeDocument/2006/relationships/tags" Target="../tags/tag1198.xml"/><Relationship Id="rId62" Type="http://schemas.openxmlformats.org/officeDocument/2006/relationships/tags" Target="../tags/tag1206.xml"/><Relationship Id="rId70" Type="http://schemas.openxmlformats.org/officeDocument/2006/relationships/tags" Target="../tags/tag1214.xml"/><Relationship Id="rId75" Type="http://schemas.openxmlformats.org/officeDocument/2006/relationships/tags" Target="../tags/tag1219.xml"/><Relationship Id="rId83" Type="http://schemas.openxmlformats.org/officeDocument/2006/relationships/tags" Target="../tags/tag1227.xml"/><Relationship Id="rId88" Type="http://schemas.openxmlformats.org/officeDocument/2006/relationships/tags" Target="../tags/tag1232.xml"/><Relationship Id="rId91" Type="http://schemas.openxmlformats.org/officeDocument/2006/relationships/tags" Target="../tags/tag1235.xml"/><Relationship Id="rId96" Type="http://schemas.openxmlformats.org/officeDocument/2006/relationships/tags" Target="../tags/tag1240.xml"/><Relationship Id="rId1" Type="http://schemas.openxmlformats.org/officeDocument/2006/relationships/tags" Target="../tags/tag1145.xml"/><Relationship Id="rId6" Type="http://schemas.openxmlformats.org/officeDocument/2006/relationships/tags" Target="../tags/tag1150.xml"/><Relationship Id="rId15" Type="http://schemas.openxmlformats.org/officeDocument/2006/relationships/tags" Target="../tags/tag1159.xml"/><Relationship Id="rId23" Type="http://schemas.openxmlformats.org/officeDocument/2006/relationships/tags" Target="../tags/tag1167.xml"/><Relationship Id="rId28" Type="http://schemas.openxmlformats.org/officeDocument/2006/relationships/tags" Target="../tags/tag1172.xml"/><Relationship Id="rId36" Type="http://schemas.openxmlformats.org/officeDocument/2006/relationships/tags" Target="../tags/tag1180.xml"/><Relationship Id="rId49" Type="http://schemas.openxmlformats.org/officeDocument/2006/relationships/tags" Target="../tags/tag1193.xml"/><Relationship Id="rId57" Type="http://schemas.openxmlformats.org/officeDocument/2006/relationships/tags" Target="../tags/tag1201.xml"/><Relationship Id="rId10" Type="http://schemas.openxmlformats.org/officeDocument/2006/relationships/tags" Target="../tags/tag1154.xml"/><Relationship Id="rId31" Type="http://schemas.openxmlformats.org/officeDocument/2006/relationships/tags" Target="../tags/tag1175.xml"/><Relationship Id="rId44" Type="http://schemas.openxmlformats.org/officeDocument/2006/relationships/tags" Target="../tags/tag1188.xml"/><Relationship Id="rId52" Type="http://schemas.openxmlformats.org/officeDocument/2006/relationships/tags" Target="../tags/tag1196.xml"/><Relationship Id="rId60" Type="http://schemas.openxmlformats.org/officeDocument/2006/relationships/tags" Target="../tags/tag1204.xml"/><Relationship Id="rId65" Type="http://schemas.openxmlformats.org/officeDocument/2006/relationships/tags" Target="../tags/tag1209.xml"/><Relationship Id="rId73" Type="http://schemas.openxmlformats.org/officeDocument/2006/relationships/tags" Target="../tags/tag1217.xml"/><Relationship Id="rId78" Type="http://schemas.openxmlformats.org/officeDocument/2006/relationships/tags" Target="../tags/tag1222.xml"/><Relationship Id="rId81" Type="http://schemas.openxmlformats.org/officeDocument/2006/relationships/tags" Target="../tags/tag1225.xml"/><Relationship Id="rId86" Type="http://schemas.openxmlformats.org/officeDocument/2006/relationships/tags" Target="../tags/tag1230.xml"/><Relationship Id="rId94" Type="http://schemas.openxmlformats.org/officeDocument/2006/relationships/tags" Target="../tags/tag1238.xml"/><Relationship Id="rId99" Type="http://schemas.openxmlformats.org/officeDocument/2006/relationships/slideLayout" Target="../slideLayouts/slideLayout7.xml"/><Relationship Id="rId101" Type="http://schemas.openxmlformats.org/officeDocument/2006/relationships/slide" Target="slide51.xml"/><Relationship Id="rId4" Type="http://schemas.openxmlformats.org/officeDocument/2006/relationships/tags" Target="../tags/tag1148.xml"/><Relationship Id="rId9" Type="http://schemas.openxmlformats.org/officeDocument/2006/relationships/tags" Target="../tags/tag1153.xml"/><Relationship Id="rId13" Type="http://schemas.openxmlformats.org/officeDocument/2006/relationships/tags" Target="../tags/tag1157.xml"/><Relationship Id="rId18" Type="http://schemas.openxmlformats.org/officeDocument/2006/relationships/tags" Target="../tags/tag1162.xml"/><Relationship Id="rId39" Type="http://schemas.openxmlformats.org/officeDocument/2006/relationships/tags" Target="../tags/tag1183.xml"/><Relationship Id="rId34" Type="http://schemas.openxmlformats.org/officeDocument/2006/relationships/tags" Target="../tags/tag1178.xml"/><Relationship Id="rId50" Type="http://schemas.openxmlformats.org/officeDocument/2006/relationships/tags" Target="../tags/tag1194.xml"/><Relationship Id="rId55" Type="http://schemas.openxmlformats.org/officeDocument/2006/relationships/tags" Target="../tags/tag1199.xml"/><Relationship Id="rId76" Type="http://schemas.openxmlformats.org/officeDocument/2006/relationships/tags" Target="../tags/tag1220.xml"/><Relationship Id="rId97" Type="http://schemas.openxmlformats.org/officeDocument/2006/relationships/tags" Target="../tags/tag1241.xml"/><Relationship Id="rId7" Type="http://schemas.openxmlformats.org/officeDocument/2006/relationships/tags" Target="../tags/tag1151.xml"/><Relationship Id="rId71" Type="http://schemas.openxmlformats.org/officeDocument/2006/relationships/tags" Target="../tags/tag1215.xml"/><Relationship Id="rId92" Type="http://schemas.openxmlformats.org/officeDocument/2006/relationships/tags" Target="../tags/tag1236.xml"/><Relationship Id="rId2" Type="http://schemas.openxmlformats.org/officeDocument/2006/relationships/tags" Target="../tags/tag1146.xml"/><Relationship Id="rId29" Type="http://schemas.openxmlformats.org/officeDocument/2006/relationships/tags" Target="../tags/tag1173.xml"/><Relationship Id="rId24" Type="http://schemas.openxmlformats.org/officeDocument/2006/relationships/tags" Target="../tags/tag1168.xml"/><Relationship Id="rId40" Type="http://schemas.openxmlformats.org/officeDocument/2006/relationships/tags" Target="../tags/tag1184.xml"/><Relationship Id="rId45" Type="http://schemas.openxmlformats.org/officeDocument/2006/relationships/tags" Target="../tags/tag1189.xml"/><Relationship Id="rId66" Type="http://schemas.openxmlformats.org/officeDocument/2006/relationships/tags" Target="../tags/tag1210.xml"/><Relationship Id="rId87" Type="http://schemas.openxmlformats.org/officeDocument/2006/relationships/tags" Target="../tags/tag1231.xml"/><Relationship Id="rId61" Type="http://schemas.openxmlformats.org/officeDocument/2006/relationships/tags" Target="../tags/tag1205.xml"/><Relationship Id="rId82" Type="http://schemas.openxmlformats.org/officeDocument/2006/relationships/tags" Target="../tags/tag1226.xml"/><Relationship Id="rId19" Type="http://schemas.openxmlformats.org/officeDocument/2006/relationships/tags" Target="../tags/tag1163.xml"/><Relationship Id="rId14" Type="http://schemas.openxmlformats.org/officeDocument/2006/relationships/tags" Target="../tags/tag1158.xml"/><Relationship Id="rId30" Type="http://schemas.openxmlformats.org/officeDocument/2006/relationships/tags" Target="../tags/tag1174.xml"/><Relationship Id="rId35" Type="http://schemas.openxmlformats.org/officeDocument/2006/relationships/tags" Target="../tags/tag1179.xml"/><Relationship Id="rId56" Type="http://schemas.openxmlformats.org/officeDocument/2006/relationships/tags" Target="../tags/tag1200.xml"/><Relationship Id="rId77" Type="http://schemas.openxmlformats.org/officeDocument/2006/relationships/tags" Target="../tags/tag1221.xml"/><Relationship Id="rId100" Type="http://schemas.openxmlformats.org/officeDocument/2006/relationships/notesSlide" Target="../notesSlides/notesSlide40.xml"/><Relationship Id="rId8" Type="http://schemas.openxmlformats.org/officeDocument/2006/relationships/tags" Target="../tags/tag1152.xml"/><Relationship Id="rId51" Type="http://schemas.openxmlformats.org/officeDocument/2006/relationships/tags" Target="../tags/tag1195.xml"/><Relationship Id="rId72" Type="http://schemas.openxmlformats.org/officeDocument/2006/relationships/tags" Target="../tags/tag1216.xml"/><Relationship Id="rId93" Type="http://schemas.openxmlformats.org/officeDocument/2006/relationships/tags" Target="../tags/tag1237.xml"/><Relationship Id="rId98" Type="http://schemas.openxmlformats.org/officeDocument/2006/relationships/tags" Target="../tags/tag1242.xml"/><Relationship Id="rId3" Type="http://schemas.openxmlformats.org/officeDocument/2006/relationships/tags" Target="../tags/tag1147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1255.xml"/><Relationship Id="rId18" Type="http://schemas.openxmlformats.org/officeDocument/2006/relationships/tags" Target="../tags/tag1260.xml"/><Relationship Id="rId26" Type="http://schemas.openxmlformats.org/officeDocument/2006/relationships/tags" Target="../tags/tag1268.xml"/><Relationship Id="rId39" Type="http://schemas.openxmlformats.org/officeDocument/2006/relationships/tags" Target="../tags/tag1281.xml"/><Relationship Id="rId21" Type="http://schemas.openxmlformats.org/officeDocument/2006/relationships/tags" Target="../tags/tag1263.xml"/><Relationship Id="rId34" Type="http://schemas.openxmlformats.org/officeDocument/2006/relationships/tags" Target="../tags/tag1276.xml"/><Relationship Id="rId42" Type="http://schemas.openxmlformats.org/officeDocument/2006/relationships/tags" Target="../tags/tag1284.xml"/><Relationship Id="rId47" Type="http://schemas.openxmlformats.org/officeDocument/2006/relationships/slideLayout" Target="../slideLayouts/slideLayout7.xml"/><Relationship Id="rId7" Type="http://schemas.openxmlformats.org/officeDocument/2006/relationships/tags" Target="../tags/tag1249.xml"/><Relationship Id="rId2" Type="http://schemas.openxmlformats.org/officeDocument/2006/relationships/tags" Target="../tags/tag1244.xml"/><Relationship Id="rId16" Type="http://schemas.openxmlformats.org/officeDocument/2006/relationships/tags" Target="../tags/tag1258.xml"/><Relationship Id="rId29" Type="http://schemas.openxmlformats.org/officeDocument/2006/relationships/tags" Target="../tags/tag1271.xml"/><Relationship Id="rId11" Type="http://schemas.openxmlformats.org/officeDocument/2006/relationships/tags" Target="../tags/tag1253.xml"/><Relationship Id="rId24" Type="http://schemas.openxmlformats.org/officeDocument/2006/relationships/tags" Target="../tags/tag1266.xml"/><Relationship Id="rId32" Type="http://schemas.openxmlformats.org/officeDocument/2006/relationships/tags" Target="../tags/tag1274.xml"/><Relationship Id="rId37" Type="http://schemas.openxmlformats.org/officeDocument/2006/relationships/tags" Target="../tags/tag1279.xml"/><Relationship Id="rId40" Type="http://schemas.openxmlformats.org/officeDocument/2006/relationships/tags" Target="../tags/tag1282.xml"/><Relationship Id="rId45" Type="http://schemas.openxmlformats.org/officeDocument/2006/relationships/tags" Target="../tags/tag1287.xml"/><Relationship Id="rId5" Type="http://schemas.openxmlformats.org/officeDocument/2006/relationships/tags" Target="../tags/tag1247.xml"/><Relationship Id="rId15" Type="http://schemas.openxmlformats.org/officeDocument/2006/relationships/tags" Target="../tags/tag1257.xml"/><Relationship Id="rId23" Type="http://schemas.openxmlformats.org/officeDocument/2006/relationships/tags" Target="../tags/tag1265.xml"/><Relationship Id="rId28" Type="http://schemas.openxmlformats.org/officeDocument/2006/relationships/tags" Target="../tags/tag1270.xml"/><Relationship Id="rId36" Type="http://schemas.openxmlformats.org/officeDocument/2006/relationships/tags" Target="../tags/tag1278.xml"/><Relationship Id="rId49" Type="http://schemas.openxmlformats.org/officeDocument/2006/relationships/slide" Target="slide61.xml"/><Relationship Id="rId10" Type="http://schemas.openxmlformats.org/officeDocument/2006/relationships/tags" Target="../tags/tag1252.xml"/><Relationship Id="rId19" Type="http://schemas.openxmlformats.org/officeDocument/2006/relationships/tags" Target="../tags/tag1261.xml"/><Relationship Id="rId31" Type="http://schemas.openxmlformats.org/officeDocument/2006/relationships/tags" Target="../tags/tag1273.xml"/><Relationship Id="rId44" Type="http://schemas.openxmlformats.org/officeDocument/2006/relationships/tags" Target="../tags/tag1286.xml"/><Relationship Id="rId4" Type="http://schemas.openxmlformats.org/officeDocument/2006/relationships/tags" Target="../tags/tag1246.xml"/><Relationship Id="rId9" Type="http://schemas.openxmlformats.org/officeDocument/2006/relationships/tags" Target="../tags/tag1251.xml"/><Relationship Id="rId14" Type="http://schemas.openxmlformats.org/officeDocument/2006/relationships/tags" Target="../tags/tag1256.xml"/><Relationship Id="rId22" Type="http://schemas.openxmlformats.org/officeDocument/2006/relationships/tags" Target="../tags/tag1264.xml"/><Relationship Id="rId27" Type="http://schemas.openxmlformats.org/officeDocument/2006/relationships/tags" Target="../tags/tag1269.xml"/><Relationship Id="rId30" Type="http://schemas.openxmlformats.org/officeDocument/2006/relationships/tags" Target="../tags/tag1272.xml"/><Relationship Id="rId35" Type="http://schemas.openxmlformats.org/officeDocument/2006/relationships/tags" Target="../tags/tag1277.xml"/><Relationship Id="rId43" Type="http://schemas.openxmlformats.org/officeDocument/2006/relationships/tags" Target="../tags/tag1285.xml"/><Relationship Id="rId48" Type="http://schemas.openxmlformats.org/officeDocument/2006/relationships/notesSlide" Target="../notesSlides/notesSlide41.xml"/><Relationship Id="rId8" Type="http://schemas.openxmlformats.org/officeDocument/2006/relationships/tags" Target="../tags/tag1250.xml"/><Relationship Id="rId3" Type="http://schemas.openxmlformats.org/officeDocument/2006/relationships/tags" Target="../tags/tag1245.xml"/><Relationship Id="rId12" Type="http://schemas.openxmlformats.org/officeDocument/2006/relationships/tags" Target="../tags/tag1254.xml"/><Relationship Id="rId17" Type="http://schemas.openxmlformats.org/officeDocument/2006/relationships/tags" Target="../tags/tag1259.xml"/><Relationship Id="rId25" Type="http://schemas.openxmlformats.org/officeDocument/2006/relationships/tags" Target="../tags/tag1267.xml"/><Relationship Id="rId33" Type="http://schemas.openxmlformats.org/officeDocument/2006/relationships/tags" Target="../tags/tag1275.xml"/><Relationship Id="rId38" Type="http://schemas.openxmlformats.org/officeDocument/2006/relationships/tags" Target="../tags/tag1280.xml"/><Relationship Id="rId46" Type="http://schemas.openxmlformats.org/officeDocument/2006/relationships/tags" Target="../tags/tag1288.xml"/><Relationship Id="rId20" Type="http://schemas.openxmlformats.org/officeDocument/2006/relationships/tags" Target="../tags/tag1262.xml"/><Relationship Id="rId41" Type="http://schemas.openxmlformats.org/officeDocument/2006/relationships/tags" Target="../tags/tag1283.xml"/><Relationship Id="rId1" Type="http://schemas.openxmlformats.org/officeDocument/2006/relationships/tags" Target="../tags/tag1243.xml"/><Relationship Id="rId6" Type="http://schemas.openxmlformats.org/officeDocument/2006/relationships/tags" Target="../tags/tag1248.xml"/></Relationships>
</file>

<file path=ppt/slides/_rels/slide55.xml.rels><?xml version="1.0" encoding="UTF-8" standalone="yes"?>
<Relationships xmlns="http://schemas.openxmlformats.org/package/2006/relationships"><Relationship Id="rId26" Type="http://schemas.openxmlformats.org/officeDocument/2006/relationships/tags" Target="../tags/tag1314.xml"/><Relationship Id="rId21" Type="http://schemas.openxmlformats.org/officeDocument/2006/relationships/tags" Target="../tags/tag1309.xml"/><Relationship Id="rId42" Type="http://schemas.openxmlformats.org/officeDocument/2006/relationships/tags" Target="../tags/tag1330.xml"/><Relationship Id="rId47" Type="http://schemas.openxmlformats.org/officeDocument/2006/relationships/tags" Target="../tags/tag1335.xml"/><Relationship Id="rId63" Type="http://schemas.openxmlformats.org/officeDocument/2006/relationships/tags" Target="../tags/tag1351.xml"/><Relationship Id="rId68" Type="http://schemas.openxmlformats.org/officeDocument/2006/relationships/tags" Target="../tags/tag1356.xml"/><Relationship Id="rId7" Type="http://schemas.openxmlformats.org/officeDocument/2006/relationships/tags" Target="../tags/tag1295.xml"/><Relationship Id="rId2" Type="http://schemas.openxmlformats.org/officeDocument/2006/relationships/tags" Target="../tags/tag1290.xml"/><Relationship Id="rId16" Type="http://schemas.openxmlformats.org/officeDocument/2006/relationships/tags" Target="../tags/tag1304.xml"/><Relationship Id="rId29" Type="http://schemas.openxmlformats.org/officeDocument/2006/relationships/tags" Target="../tags/tag1317.xml"/><Relationship Id="rId11" Type="http://schemas.openxmlformats.org/officeDocument/2006/relationships/tags" Target="../tags/tag1299.xml"/><Relationship Id="rId24" Type="http://schemas.openxmlformats.org/officeDocument/2006/relationships/tags" Target="../tags/tag1312.xml"/><Relationship Id="rId32" Type="http://schemas.openxmlformats.org/officeDocument/2006/relationships/tags" Target="../tags/tag1320.xml"/><Relationship Id="rId37" Type="http://schemas.openxmlformats.org/officeDocument/2006/relationships/tags" Target="../tags/tag1325.xml"/><Relationship Id="rId40" Type="http://schemas.openxmlformats.org/officeDocument/2006/relationships/tags" Target="../tags/tag1328.xml"/><Relationship Id="rId45" Type="http://schemas.openxmlformats.org/officeDocument/2006/relationships/tags" Target="../tags/tag1333.xml"/><Relationship Id="rId53" Type="http://schemas.openxmlformats.org/officeDocument/2006/relationships/tags" Target="../tags/tag1341.xml"/><Relationship Id="rId58" Type="http://schemas.openxmlformats.org/officeDocument/2006/relationships/tags" Target="../tags/tag1346.xml"/><Relationship Id="rId66" Type="http://schemas.openxmlformats.org/officeDocument/2006/relationships/tags" Target="../tags/tag1354.xml"/><Relationship Id="rId5" Type="http://schemas.openxmlformats.org/officeDocument/2006/relationships/tags" Target="../tags/tag1293.xml"/><Relationship Id="rId61" Type="http://schemas.openxmlformats.org/officeDocument/2006/relationships/tags" Target="../tags/tag1349.xml"/><Relationship Id="rId19" Type="http://schemas.openxmlformats.org/officeDocument/2006/relationships/tags" Target="../tags/tag1307.xml"/><Relationship Id="rId14" Type="http://schemas.openxmlformats.org/officeDocument/2006/relationships/tags" Target="../tags/tag1302.xml"/><Relationship Id="rId22" Type="http://schemas.openxmlformats.org/officeDocument/2006/relationships/tags" Target="../tags/tag1310.xml"/><Relationship Id="rId27" Type="http://schemas.openxmlformats.org/officeDocument/2006/relationships/tags" Target="../tags/tag1315.xml"/><Relationship Id="rId30" Type="http://schemas.openxmlformats.org/officeDocument/2006/relationships/tags" Target="../tags/tag1318.xml"/><Relationship Id="rId35" Type="http://schemas.openxmlformats.org/officeDocument/2006/relationships/tags" Target="../tags/tag1323.xml"/><Relationship Id="rId43" Type="http://schemas.openxmlformats.org/officeDocument/2006/relationships/tags" Target="../tags/tag1331.xml"/><Relationship Id="rId48" Type="http://schemas.openxmlformats.org/officeDocument/2006/relationships/tags" Target="../tags/tag1336.xml"/><Relationship Id="rId56" Type="http://schemas.openxmlformats.org/officeDocument/2006/relationships/tags" Target="../tags/tag1344.xml"/><Relationship Id="rId64" Type="http://schemas.openxmlformats.org/officeDocument/2006/relationships/tags" Target="../tags/tag1352.xml"/><Relationship Id="rId69" Type="http://schemas.openxmlformats.org/officeDocument/2006/relationships/slideLayout" Target="../slideLayouts/slideLayout7.xml"/><Relationship Id="rId8" Type="http://schemas.openxmlformats.org/officeDocument/2006/relationships/tags" Target="../tags/tag1296.xml"/><Relationship Id="rId51" Type="http://schemas.openxmlformats.org/officeDocument/2006/relationships/tags" Target="../tags/tag1339.xml"/><Relationship Id="rId3" Type="http://schemas.openxmlformats.org/officeDocument/2006/relationships/tags" Target="../tags/tag1291.xml"/><Relationship Id="rId12" Type="http://schemas.openxmlformats.org/officeDocument/2006/relationships/tags" Target="../tags/tag1300.xml"/><Relationship Id="rId17" Type="http://schemas.openxmlformats.org/officeDocument/2006/relationships/tags" Target="../tags/tag1305.xml"/><Relationship Id="rId25" Type="http://schemas.openxmlformats.org/officeDocument/2006/relationships/tags" Target="../tags/tag1313.xml"/><Relationship Id="rId33" Type="http://schemas.openxmlformats.org/officeDocument/2006/relationships/tags" Target="../tags/tag1321.xml"/><Relationship Id="rId38" Type="http://schemas.openxmlformats.org/officeDocument/2006/relationships/tags" Target="../tags/tag1326.xml"/><Relationship Id="rId46" Type="http://schemas.openxmlformats.org/officeDocument/2006/relationships/tags" Target="../tags/tag1334.xml"/><Relationship Id="rId59" Type="http://schemas.openxmlformats.org/officeDocument/2006/relationships/tags" Target="../tags/tag1347.xml"/><Relationship Id="rId67" Type="http://schemas.openxmlformats.org/officeDocument/2006/relationships/tags" Target="../tags/tag1355.xml"/><Relationship Id="rId20" Type="http://schemas.openxmlformats.org/officeDocument/2006/relationships/tags" Target="../tags/tag1308.xml"/><Relationship Id="rId41" Type="http://schemas.openxmlformats.org/officeDocument/2006/relationships/tags" Target="../tags/tag1329.xml"/><Relationship Id="rId54" Type="http://schemas.openxmlformats.org/officeDocument/2006/relationships/tags" Target="../tags/tag1342.xml"/><Relationship Id="rId62" Type="http://schemas.openxmlformats.org/officeDocument/2006/relationships/tags" Target="../tags/tag1350.xml"/><Relationship Id="rId70" Type="http://schemas.openxmlformats.org/officeDocument/2006/relationships/notesSlide" Target="../notesSlides/notesSlide42.xml"/><Relationship Id="rId1" Type="http://schemas.openxmlformats.org/officeDocument/2006/relationships/tags" Target="../tags/tag1289.xml"/><Relationship Id="rId6" Type="http://schemas.openxmlformats.org/officeDocument/2006/relationships/tags" Target="../tags/tag1294.xml"/><Relationship Id="rId15" Type="http://schemas.openxmlformats.org/officeDocument/2006/relationships/tags" Target="../tags/tag1303.xml"/><Relationship Id="rId23" Type="http://schemas.openxmlformats.org/officeDocument/2006/relationships/tags" Target="../tags/tag1311.xml"/><Relationship Id="rId28" Type="http://schemas.openxmlformats.org/officeDocument/2006/relationships/tags" Target="../tags/tag1316.xml"/><Relationship Id="rId36" Type="http://schemas.openxmlformats.org/officeDocument/2006/relationships/tags" Target="../tags/tag1324.xml"/><Relationship Id="rId49" Type="http://schemas.openxmlformats.org/officeDocument/2006/relationships/tags" Target="../tags/tag1337.xml"/><Relationship Id="rId57" Type="http://schemas.openxmlformats.org/officeDocument/2006/relationships/tags" Target="../tags/tag1345.xml"/><Relationship Id="rId10" Type="http://schemas.openxmlformats.org/officeDocument/2006/relationships/tags" Target="../tags/tag1298.xml"/><Relationship Id="rId31" Type="http://schemas.openxmlformats.org/officeDocument/2006/relationships/tags" Target="../tags/tag1319.xml"/><Relationship Id="rId44" Type="http://schemas.openxmlformats.org/officeDocument/2006/relationships/tags" Target="../tags/tag1332.xml"/><Relationship Id="rId52" Type="http://schemas.openxmlformats.org/officeDocument/2006/relationships/tags" Target="../tags/tag1340.xml"/><Relationship Id="rId60" Type="http://schemas.openxmlformats.org/officeDocument/2006/relationships/tags" Target="../tags/tag1348.xml"/><Relationship Id="rId65" Type="http://schemas.openxmlformats.org/officeDocument/2006/relationships/tags" Target="../tags/tag1353.xml"/><Relationship Id="rId4" Type="http://schemas.openxmlformats.org/officeDocument/2006/relationships/tags" Target="../tags/tag1292.xml"/><Relationship Id="rId9" Type="http://schemas.openxmlformats.org/officeDocument/2006/relationships/tags" Target="../tags/tag1297.xml"/><Relationship Id="rId13" Type="http://schemas.openxmlformats.org/officeDocument/2006/relationships/tags" Target="../tags/tag1301.xml"/><Relationship Id="rId18" Type="http://schemas.openxmlformats.org/officeDocument/2006/relationships/tags" Target="../tags/tag1306.xml"/><Relationship Id="rId39" Type="http://schemas.openxmlformats.org/officeDocument/2006/relationships/tags" Target="../tags/tag1327.xml"/><Relationship Id="rId34" Type="http://schemas.openxmlformats.org/officeDocument/2006/relationships/tags" Target="../tags/tag1322.xml"/><Relationship Id="rId50" Type="http://schemas.openxmlformats.org/officeDocument/2006/relationships/tags" Target="../tags/tag1338.xml"/><Relationship Id="rId55" Type="http://schemas.openxmlformats.org/officeDocument/2006/relationships/tags" Target="../tags/tag1343.xml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tags" Target="../tags/tag1382.xml"/><Relationship Id="rId21" Type="http://schemas.openxmlformats.org/officeDocument/2006/relationships/tags" Target="../tags/tag1377.xml"/><Relationship Id="rId42" Type="http://schemas.openxmlformats.org/officeDocument/2006/relationships/tags" Target="../tags/tag1398.xml"/><Relationship Id="rId47" Type="http://schemas.openxmlformats.org/officeDocument/2006/relationships/tags" Target="../tags/tag1403.xml"/><Relationship Id="rId63" Type="http://schemas.openxmlformats.org/officeDocument/2006/relationships/tags" Target="../tags/tag1419.xml"/><Relationship Id="rId68" Type="http://schemas.openxmlformats.org/officeDocument/2006/relationships/tags" Target="../tags/tag1424.xml"/><Relationship Id="rId84" Type="http://schemas.openxmlformats.org/officeDocument/2006/relationships/tags" Target="../tags/tag1440.xml"/><Relationship Id="rId89" Type="http://schemas.openxmlformats.org/officeDocument/2006/relationships/tags" Target="../tags/tag1445.xml"/><Relationship Id="rId16" Type="http://schemas.openxmlformats.org/officeDocument/2006/relationships/tags" Target="../tags/tag1372.xml"/><Relationship Id="rId107" Type="http://schemas.openxmlformats.org/officeDocument/2006/relationships/tags" Target="../tags/tag1463.xml"/><Relationship Id="rId11" Type="http://schemas.openxmlformats.org/officeDocument/2006/relationships/tags" Target="../tags/tag1367.xml"/><Relationship Id="rId32" Type="http://schemas.openxmlformats.org/officeDocument/2006/relationships/tags" Target="../tags/tag1388.xml"/><Relationship Id="rId37" Type="http://schemas.openxmlformats.org/officeDocument/2006/relationships/tags" Target="../tags/tag1393.xml"/><Relationship Id="rId53" Type="http://schemas.openxmlformats.org/officeDocument/2006/relationships/tags" Target="../tags/tag1409.xml"/><Relationship Id="rId58" Type="http://schemas.openxmlformats.org/officeDocument/2006/relationships/tags" Target="../tags/tag1414.xml"/><Relationship Id="rId74" Type="http://schemas.openxmlformats.org/officeDocument/2006/relationships/tags" Target="../tags/tag1430.xml"/><Relationship Id="rId79" Type="http://schemas.openxmlformats.org/officeDocument/2006/relationships/tags" Target="../tags/tag1435.xml"/><Relationship Id="rId102" Type="http://schemas.openxmlformats.org/officeDocument/2006/relationships/tags" Target="../tags/tag1458.xml"/><Relationship Id="rId5" Type="http://schemas.openxmlformats.org/officeDocument/2006/relationships/tags" Target="../tags/tag1361.xml"/><Relationship Id="rId90" Type="http://schemas.openxmlformats.org/officeDocument/2006/relationships/tags" Target="../tags/tag1446.xml"/><Relationship Id="rId95" Type="http://schemas.openxmlformats.org/officeDocument/2006/relationships/tags" Target="../tags/tag1451.xml"/><Relationship Id="rId22" Type="http://schemas.openxmlformats.org/officeDocument/2006/relationships/tags" Target="../tags/tag1378.xml"/><Relationship Id="rId27" Type="http://schemas.openxmlformats.org/officeDocument/2006/relationships/tags" Target="../tags/tag1383.xml"/><Relationship Id="rId43" Type="http://schemas.openxmlformats.org/officeDocument/2006/relationships/tags" Target="../tags/tag1399.xml"/><Relationship Id="rId48" Type="http://schemas.openxmlformats.org/officeDocument/2006/relationships/tags" Target="../tags/tag1404.xml"/><Relationship Id="rId64" Type="http://schemas.openxmlformats.org/officeDocument/2006/relationships/tags" Target="../tags/tag1420.xml"/><Relationship Id="rId69" Type="http://schemas.openxmlformats.org/officeDocument/2006/relationships/tags" Target="../tags/tag1425.xml"/><Relationship Id="rId80" Type="http://schemas.openxmlformats.org/officeDocument/2006/relationships/tags" Target="../tags/tag1436.xml"/><Relationship Id="rId85" Type="http://schemas.openxmlformats.org/officeDocument/2006/relationships/tags" Target="../tags/tag1441.xml"/><Relationship Id="rId12" Type="http://schemas.openxmlformats.org/officeDocument/2006/relationships/tags" Target="../tags/tag1368.xml"/><Relationship Id="rId17" Type="http://schemas.openxmlformats.org/officeDocument/2006/relationships/tags" Target="../tags/tag1373.xml"/><Relationship Id="rId33" Type="http://schemas.openxmlformats.org/officeDocument/2006/relationships/tags" Target="../tags/tag1389.xml"/><Relationship Id="rId38" Type="http://schemas.openxmlformats.org/officeDocument/2006/relationships/tags" Target="../tags/tag1394.xml"/><Relationship Id="rId59" Type="http://schemas.openxmlformats.org/officeDocument/2006/relationships/tags" Target="../tags/tag1415.xml"/><Relationship Id="rId103" Type="http://schemas.openxmlformats.org/officeDocument/2006/relationships/tags" Target="../tags/tag1459.xml"/><Relationship Id="rId108" Type="http://schemas.openxmlformats.org/officeDocument/2006/relationships/slideLayout" Target="../slideLayouts/slideLayout7.xml"/><Relationship Id="rId54" Type="http://schemas.openxmlformats.org/officeDocument/2006/relationships/tags" Target="../tags/tag1410.xml"/><Relationship Id="rId70" Type="http://schemas.openxmlformats.org/officeDocument/2006/relationships/tags" Target="../tags/tag1426.xml"/><Relationship Id="rId75" Type="http://schemas.openxmlformats.org/officeDocument/2006/relationships/tags" Target="../tags/tag1431.xml"/><Relationship Id="rId91" Type="http://schemas.openxmlformats.org/officeDocument/2006/relationships/tags" Target="../tags/tag1447.xml"/><Relationship Id="rId96" Type="http://schemas.openxmlformats.org/officeDocument/2006/relationships/tags" Target="../tags/tag1452.xml"/><Relationship Id="rId1" Type="http://schemas.openxmlformats.org/officeDocument/2006/relationships/tags" Target="../tags/tag1357.xml"/><Relationship Id="rId6" Type="http://schemas.openxmlformats.org/officeDocument/2006/relationships/tags" Target="../tags/tag1362.xml"/><Relationship Id="rId15" Type="http://schemas.openxmlformats.org/officeDocument/2006/relationships/tags" Target="../tags/tag1371.xml"/><Relationship Id="rId23" Type="http://schemas.openxmlformats.org/officeDocument/2006/relationships/tags" Target="../tags/tag1379.xml"/><Relationship Id="rId28" Type="http://schemas.openxmlformats.org/officeDocument/2006/relationships/tags" Target="../tags/tag1384.xml"/><Relationship Id="rId36" Type="http://schemas.openxmlformats.org/officeDocument/2006/relationships/tags" Target="../tags/tag1392.xml"/><Relationship Id="rId49" Type="http://schemas.openxmlformats.org/officeDocument/2006/relationships/tags" Target="../tags/tag1405.xml"/><Relationship Id="rId57" Type="http://schemas.openxmlformats.org/officeDocument/2006/relationships/tags" Target="../tags/tag1413.xml"/><Relationship Id="rId106" Type="http://schemas.openxmlformats.org/officeDocument/2006/relationships/tags" Target="../tags/tag1462.xml"/><Relationship Id="rId10" Type="http://schemas.openxmlformats.org/officeDocument/2006/relationships/tags" Target="../tags/tag1366.xml"/><Relationship Id="rId31" Type="http://schemas.openxmlformats.org/officeDocument/2006/relationships/tags" Target="../tags/tag1387.xml"/><Relationship Id="rId44" Type="http://schemas.openxmlformats.org/officeDocument/2006/relationships/tags" Target="../tags/tag1400.xml"/><Relationship Id="rId52" Type="http://schemas.openxmlformats.org/officeDocument/2006/relationships/tags" Target="../tags/tag1408.xml"/><Relationship Id="rId60" Type="http://schemas.openxmlformats.org/officeDocument/2006/relationships/tags" Target="../tags/tag1416.xml"/><Relationship Id="rId65" Type="http://schemas.openxmlformats.org/officeDocument/2006/relationships/tags" Target="../tags/tag1421.xml"/><Relationship Id="rId73" Type="http://schemas.openxmlformats.org/officeDocument/2006/relationships/tags" Target="../tags/tag1429.xml"/><Relationship Id="rId78" Type="http://schemas.openxmlformats.org/officeDocument/2006/relationships/tags" Target="../tags/tag1434.xml"/><Relationship Id="rId81" Type="http://schemas.openxmlformats.org/officeDocument/2006/relationships/tags" Target="../tags/tag1437.xml"/><Relationship Id="rId86" Type="http://schemas.openxmlformats.org/officeDocument/2006/relationships/tags" Target="../tags/tag1442.xml"/><Relationship Id="rId94" Type="http://schemas.openxmlformats.org/officeDocument/2006/relationships/tags" Target="../tags/tag1450.xml"/><Relationship Id="rId99" Type="http://schemas.openxmlformats.org/officeDocument/2006/relationships/tags" Target="../tags/tag1455.xml"/><Relationship Id="rId101" Type="http://schemas.openxmlformats.org/officeDocument/2006/relationships/tags" Target="../tags/tag1457.xml"/><Relationship Id="rId4" Type="http://schemas.openxmlformats.org/officeDocument/2006/relationships/tags" Target="../tags/tag1360.xml"/><Relationship Id="rId9" Type="http://schemas.openxmlformats.org/officeDocument/2006/relationships/tags" Target="../tags/tag1365.xml"/><Relationship Id="rId13" Type="http://schemas.openxmlformats.org/officeDocument/2006/relationships/tags" Target="../tags/tag1369.xml"/><Relationship Id="rId18" Type="http://schemas.openxmlformats.org/officeDocument/2006/relationships/tags" Target="../tags/tag1374.xml"/><Relationship Id="rId39" Type="http://schemas.openxmlformats.org/officeDocument/2006/relationships/tags" Target="../tags/tag1395.xml"/><Relationship Id="rId109" Type="http://schemas.openxmlformats.org/officeDocument/2006/relationships/notesSlide" Target="../notesSlides/notesSlide43.xml"/><Relationship Id="rId34" Type="http://schemas.openxmlformats.org/officeDocument/2006/relationships/tags" Target="../tags/tag1390.xml"/><Relationship Id="rId50" Type="http://schemas.openxmlformats.org/officeDocument/2006/relationships/tags" Target="../tags/tag1406.xml"/><Relationship Id="rId55" Type="http://schemas.openxmlformats.org/officeDocument/2006/relationships/tags" Target="../tags/tag1411.xml"/><Relationship Id="rId76" Type="http://schemas.openxmlformats.org/officeDocument/2006/relationships/tags" Target="../tags/tag1432.xml"/><Relationship Id="rId97" Type="http://schemas.openxmlformats.org/officeDocument/2006/relationships/tags" Target="../tags/tag1453.xml"/><Relationship Id="rId104" Type="http://schemas.openxmlformats.org/officeDocument/2006/relationships/tags" Target="../tags/tag1460.xml"/><Relationship Id="rId7" Type="http://schemas.openxmlformats.org/officeDocument/2006/relationships/tags" Target="../tags/tag1363.xml"/><Relationship Id="rId71" Type="http://schemas.openxmlformats.org/officeDocument/2006/relationships/tags" Target="../tags/tag1427.xml"/><Relationship Id="rId92" Type="http://schemas.openxmlformats.org/officeDocument/2006/relationships/tags" Target="../tags/tag1448.xml"/><Relationship Id="rId2" Type="http://schemas.openxmlformats.org/officeDocument/2006/relationships/tags" Target="../tags/tag1358.xml"/><Relationship Id="rId29" Type="http://schemas.openxmlformats.org/officeDocument/2006/relationships/tags" Target="../tags/tag1385.xml"/><Relationship Id="rId24" Type="http://schemas.openxmlformats.org/officeDocument/2006/relationships/tags" Target="../tags/tag1380.xml"/><Relationship Id="rId40" Type="http://schemas.openxmlformats.org/officeDocument/2006/relationships/tags" Target="../tags/tag1396.xml"/><Relationship Id="rId45" Type="http://schemas.openxmlformats.org/officeDocument/2006/relationships/tags" Target="../tags/tag1401.xml"/><Relationship Id="rId66" Type="http://schemas.openxmlformats.org/officeDocument/2006/relationships/tags" Target="../tags/tag1422.xml"/><Relationship Id="rId87" Type="http://schemas.openxmlformats.org/officeDocument/2006/relationships/tags" Target="../tags/tag1443.xml"/><Relationship Id="rId110" Type="http://schemas.openxmlformats.org/officeDocument/2006/relationships/slide" Target="slide61.xml"/><Relationship Id="rId61" Type="http://schemas.openxmlformats.org/officeDocument/2006/relationships/tags" Target="../tags/tag1417.xml"/><Relationship Id="rId82" Type="http://schemas.openxmlformats.org/officeDocument/2006/relationships/tags" Target="../tags/tag1438.xml"/><Relationship Id="rId19" Type="http://schemas.openxmlformats.org/officeDocument/2006/relationships/tags" Target="../tags/tag1375.xml"/><Relationship Id="rId14" Type="http://schemas.openxmlformats.org/officeDocument/2006/relationships/tags" Target="../tags/tag1370.xml"/><Relationship Id="rId30" Type="http://schemas.openxmlformats.org/officeDocument/2006/relationships/tags" Target="../tags/tag1386.xml"/><Relationship Id="rId35" Type="http://schemas.openxmlformats.org/officeDocument/2006/relationships/tags" Target="../tags/tag1391.xml"/><Relationship Id="rId56" Type="http://schemas.openxmlformats.org/officeDocument/2006/relationships/tags" Target="../tags/tag1412.xml"/><Relationship Id="rId77" Type="http://schemas.openxmlformats.org/officeDocument/2006/relationships/tags" Target="../tags/tag1433.xml"/><Relationship Id="rId100" Type="http://schemas.openxmlformats.org/officeDocument/2006/relationships/tags" Target="../tags/tag1456.xml"/><Relationship Id="rId105" Type="http://schemas.openxmlformats.org/officeDocument/2006/relationships/tags" Target="../tags/tag1461.xml"/><Relationship Id="rId8" Type="http://schemas.openxmlformats.org/officeDocument/2006/relationships/tags" Target="../tags/tag1364.xml"/><Relationship Id="rId51" Type="http://schemas.openxmlformats.org/officeDocument/2006/relationships/tags" Target="../tags/tag1407.xml"/><Relationship Id="rId72" Type="http://schemas.openxmlformats.org/officeDocument/2006/relationships/tags" Target="../tags/tag1428.xml"/><Relationship Id="rId93" Type="http://schemas.openxmlformats.org/officeDocument/2006/relationships/tags" Target="../tags/tag1449.xml"/><Relationship Id="rId98" Type="http://schemas.openxmlformats.org/officeDocument/2006/relationships/tags" Target="../tags/tag1454.xml"/><Relationship Id="rId3" Type="http://schemas.openxmlformats.org/officeDocument/2006/relationships/tags" Target="../tags/tag1359.xml"/><Relationship Id="rId25" Type="http://schemas.openxmlformats.org/officeDocument/2006/relationships/tags" Target="../tags/tag1381.xml"/><Relationship Id="rId46" Type="http://schemas.openxmlformats.org/officeDocument/2006/relationships/tags" Target="../tags/tag1402.xml"/><Relationship Id="rId67" Type="http://schemas.openxmlformats.org/officeDocument/2006/relationships/tags" Target="../tags/tag1423.xml"/><Relationship Id="rId20" Type="http://schemas.openxmlformats.org/officeDocument/2006/relationships/tags" Target="../tags/tag1376.xml"/><Relationship Id="rId41" Type="http://schemas.openxmlformats.org/officeDocument/2006/relationships/tags" Target="../tags/tag1397.xml"/><Relationship Id="rId62" Type="http://schemas.openxmlformats.org/officeDocument/2006/relationships/tags" Target="../tags/tag1418.xml"/><Relationship Id="rId83" Type="http://schemas.openxmlformats.org/officeDocument/2006/relationships/tags" Target="../tags/tag1439.xml"/><Relationship Id="rId88" Type="http://schemas.openxmlformats.org/officeDocument/2006/relationships/tags" Target="../tags/tag144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64.xml"/></Relationships>
</file>

<file path=ppt/slides/_rels/slide58.xml.rels><?xml version="1.0" encoding="UTF-8" standalone="yes"?>
<Relationships xmlns="http://schemas.openxmlformats.org/package/2006/relationships"><Relationship Id="rId26" Type="http://schemas.openxmlformats.org/officeDocument/2006/relationships/tags" Target="../tags/tag1490.xml"/><Relationship Id="rId21" Type="http://schemas.openxmlformats.org/officeDocument/2006/relationships/tags" Target="../tags/tag1485.xml"/><Relationship Id="rId42" Type="http://schemas.openxmlformats.org/officeDocument/2006/relationships/tags" Target="../tags/tag1506.xml"/><Relationship Id="rId47" Type="http://schemas.openxmlformats.org/officeDocument/2006/relationships/tags" Target="../tags/tag1511.xml"/><Relationship Id="rId63" Type="http://schemas.openxmlformats.org/officeDocument/2006/relationships/tags" Target="../tags/tag1527.xml"/><Relationship Id="rId68" Type="http://schemas.openxmlformats.org/officeDocument/2006/relationships/tags" Target="../tags/tag1532.xml"/><Relationship Id="rId16" Type="http://schemas.openxmlformats.org/officeDocument/2006/relationships/tags" Target="../tags/tag1480.xml"/><Relationship Id="rId11" Type="http://schemas.openxmlformats.org/officeDocument/2006/relationships/tags" Target="../tags/tag1475.xml"/><Relationship Id="rId24" Type="http://schemas.openxmlformats.org/officeDocument/2006/relationships/tags" Target="../tags/tag1488.xml"/><Relationship Id="rId32" Type="http://schemas.openxmlformats.org/officeDocument/2006/relationships/tags" Target="../tags/tag1496.xml"/><Relationship Id="rId37" Type="http://schemas.openxmlformats.org/officeDocument/2006/relationships/tags" Target="../tags/tag1501.xml"/><Relationship Id="rId40" Type="http://schemas.openxmlformats.org/officeDocument/2006/relationships/tags" Target="../tags/tag1504.xml"/><Relationship Id="rId45" Type="http://schemas.openxmlformats.org/officeDocument/2006/relationships/tags" Target="../tags/tag1509.xml"/><Relationship Id="rId53" Type="http://schemas.openxmlformats.org/officeDocument/2006/relationships/tags" Target="../tags/tag1517.xml"/><Relationship Id="rId58" Type="http://schemas.openxmlformats.org/officeDocument/2006/relationships/tags" Target="../tags/tag1522.xml"/><Relationship Id="rId66" Type="http://schemas.openxmlformats.org/officeDocument/2006/relationships/tags" Target="../tags/tag1530.xml"/><Relationship Id="rId74" Type="http://schemas.openxmlformats.org/officeDocument/2006/relationships/tags" Target="../tags/tag1538.xml"/><Relationship Id="rId5" Type="http://schemas.openxmlformats.org/officeDocument/2006/relationships/tags" Target="../tags/tag1469.xml"/><Relationship Id="rId61" Type="http://schemas.openxmlformats.org/officeDocument/2006/relationships/tags" Target="../tags/tag1525.xml"/><Relationship Id="rId19" Type="http://schemas.openxmlformats.org/officeDocument/2006/relationships/tags" Target="../tags/tag1483.xml"/><Relationship Id="rId14" Type="http://schemas.openxmlformats.org/officeDocument/2006/relationships/tags" Target="../tags/tag1478.xml"/><Relationship Id="rId22" Type="http://schemas.openxmlformats.org/officeDocument/2006/relationships/tags" Target="../tags/tag1486.xml"/><Relationship Id="rId27" Type="http://schemas.openxmlformats.org/officeDocument/2006/relationships/tags" Target="../tags/tag1491.xml"/><Relationship Id="rId30" Type="http://schemas.openxmlformats.org/officeDocument/2006/relationships/tags" Target="../tags/tag1494.xml"/><Relationship Id="rId35" Type="http://schemas.openxmlformats.org/officeDocument/2006/relationships/tags" Target="../tags/tag1499.xml"/><Relationship Id="rId43" Type="http://schemas.openxmlformats.org/officeDocument/2006/relationships/tags" Target="../tags/tag1507.xml"/><Relationship Id="rId48" Type="http://schemas.openxmlformats.org/officeDocument/2006/relationships/tags" Target="../tags/tag1512.xml"/><Relationship Id="rId56" Type="http://schemas.openxmlformats.org/officeDocument/2006/relationships/tags" Target="../tags/tag1520.xml"/><Relationship Id="rId64" Type="http://schemas.openxmlformats.org/officeDocument/2006/relationships/tags" Target="../tags/tag1528.xml"/><Relationship Id="rId69" Type="http://schemas.openxmlformats.org/officeDocument/2006/relationships/tags" Target="../tags/tag1533.xml"/><Relationship Id="rId77" Type="http://schemas.openxmlformats.org/officeDocument/2006/relationships/slide" Target="slide61.xml"/><Relationship Id="rId8" Type="http://schemas.openxmlformats.org/officeDocument/2006/relationships/tags" Target="../tags/tag1472.xml"/><Relationship Id="rId51" Type="http://schemas.openxmlformats.org/officeDocument/2006/relationships/tags" Target="../tags/tag1515.xml"/><Relationship Id="rId72" Type="http://schemas.openxmlformats.org/officeDocument/2006/relationships/tags" Target="../tags/tag1536.xml"/><Relationship Id="rId3" Type="http://schemas.openxmlformats.org/officeDocument/2006/relationships/tags" Target="../tags/tag1467.xml"/><Relationship Id="rId12" Type="http://schemas.openxmlformats.org/officeDocument/2006/relationships/tags" Target="../tags/tag1476.xml"/><Relationship Id="rId17" Type="http://schemas.openxmlformats.org/officeDocument/2006/relationships/tags" Target="../tags/tag1481.xml"/><Relationship Id="rId25" Type="http://schemas.openxmlformats.org/officeDocument/2006/relationships/tags" Target="../tags/tag1489.xml"/><Relationship Id="rId33" Type="http://schemas.openxmlformats.org/officeDocument/2006/relationships/tags" Target="../tags/tag1497.xml"/><Relationship Id="rId38" Type="http://schemas.openxmlformats.org/officeDocument/2006/relationships/tags" Target="../tags/tag1502.xml"/><Relationship Id="rId46" Type="http://schemas.openxmlformats.org/officeDocument/2006/relationships/tags" Target="../tags/tag1510.xml"/><Relationship Id="rId59" Type="http://schemas.openxmlformats.org/officeDocument/2006/relationships/tags" Target="../tags/tag1523.xml"/><Relationship Id="rId67" Type="http://schemas.openxmlformats.org/officeDocument/2006/relationships/tags" Target="../tags/tag1531.xml"/><Relationship Id="rId20" Type="http://schemas.openxmlformats.org/officeDocument/2006/relationships/tags" Target="../tags/tag1484.xml"/><Relationship Id="rId41" Type="http://schemas.openxmlformats.org/officeDocument/2006/relationships/tags" Target="../tags/tag1505.xml"/><Relationship Id="rId54" Type="http://schemas.openxmlformats.org/officeDocument/2006/relationships/tags" Target="../tags/tag1518.xml"/><Relationship Id="rId62" Type="http://schemas.openxmlformats.org/officeDocument/2006/relationships/tags" Target="../tags/tag1526.xml"/><Relationship Id="rId70" Type="http://schemas.openxmlformats.org/officeDocument/2006/relationships/tags" Target="../tags/tag1534.xml"/><Relationship Id="rId75" Type="http://schemas.openxmlformats.org/officeDocument/2006/relationships/slideLayout" Target="../slideLayouts/slideLayout7.xml"/><Relationship Id="rId1" Type="http://schemas.openxmlformats.org/officeDocument/2006/relationships/tags" Target="../tags/tag1465.xml"/><Relationship Id="rId6" Type="http://schemas.openxmlformats.org/officeDocument/2006/relationships/tags" Target="../tags/tag1470.xml"/><Relationship Id="rId15" Type="http://schemas.openxmlformats.org/officeDocument/2006/relationships/tags" Target="../tags/tag1479.xml"/><Relationship Id="rId23" Type="http://schemas.openxmlformats.org/officeDocument/2006/relationships/tags" Target="../tags/tag1487.xml"/><Relationship Id="rId28" Type="http://schemas.openxmlformats.org/officeDocument/2006/relationships/tags" Target="../tags/tag1492.xml"/><Relationship Id="rId36" Type="http://schemas.openxmlformats.org/officeDocument/2006/relationships/tags" Target="../tags/tag1500.xml"/><Relationship Id="rId49" Type="http://schemas.openxmlformats.org/officeDocument/2006/relationships/tags" Target="../tags/tag1513.xml"/><Relationship Id="rId57" Type="http://schemas.openxmlformats.org/officeDocument/2006/relationships/tags" Target="../tags/tag1521.xml"/><Relationship Id="rId10" Type="http://schemas.openxmlformats.org/officeDocument/2006/relationships/tags" Target="../tags/tag1474.xml"/><Relationship Id="rId31" Type="http://schemas.openxmlformats.org/officeDocument/2006/relationships/tags" Target="../tags/tag1495.xml"/><Relationship Id="rId44" Type="http://schemas.openxmlformats.org/officeDocument/2006/relationships/tags" Target="../tags/tag1508.xml"/><Relationship Id="rId52" Type="http://schemas.openxmlformats.org/officeDocument/2006/relationships/tags" Target="../tags/tag1516.xml"/><Relationship Id="rId60" Type="http://schemas.openxmlformats.org/officeDocument/2006/relationships/tags" Target="../tags/tag1524.xml"/><Relationship Id="rId65" Type="http://schemas.openxmlformats.org/officeDocument/2006/relationships/tags" Target="../tags/tag1529.xml"/><Relationship Id="rId73" Type="http://schemas.openxmlformats.org/officeDocument/2006/relationships/tags" Target="../tags/tag1537.xml"/><Relationship Id="rId4" Type="http://schemas.openxmlformats.org/officeDocument/2006/relationships/tags" Target="../tags/tag1468.xml"/><Relationship Id="rId9" Type="http://schemas.openxmlformats.org/officeDocument/2006/relationships/tags" Target="../tags/tag1473.xml"/><Relationship Id="rId13" Type="http://schemas.openxmlformats.org/officeDocument/2006/relationships/tags" Target="../tags/tag1477.xml"/><Relationship Id="rId18" Type="http://schemas.openxmlformats.org/officeDocument/2006/relationships/tags" Target="../tags/tag1482.xml"/><Relationship Id="rId39" Type="http://schemas.openxmlformats.org/officeDocument/2006/relationships/tags" Target="../tags/tag1503.xml"/><Relationship Id="rId34" Type="http://schemas.openxmlformats.org/officeDocument/2006/relationships/tags" Target="../tags/tag1498.xml"/><Relationship Id="rId50" Type="http://schemas.openxmlformats.org/officeDocument/2006/relationships/tags" Target="../tags/tag1514.xml"/><Relationship Id="rId55" Type="http://schemas.openxmlformats.org/officeDocument/2006/relationships/tags" Target="../tags/tag1519.xml"/><Relationship Id="rId76" Type="http://schemas.openxmlformats.org/officeDocument/2006/relationships/notesSlide" Target="../notesSlides/notesSlide45.xml"/><Relationship Id="rId7" Type="http://schemas.openxmlformats.org/officeDocument/2006/relationships/tags" Target="../tags/tag1471.xml"/><Relationship Id="rId71" Type="http://schemas.openxmlformats.org/officeDocument/2006/relationships/tags" Target="../tags/tag1535.xml"/><Relationship Id="rId2" Type="http://schemas.openxmlformats.org/officeDocument/2006/relationships/tags" Target="../tags/tag1466.xml"/><Relationship Id="rId29" Type="http://schemas.openxmlformats.org/officeDocument/2006/relationships/tags" Target="../tags/tag1493.xml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tags" Target="../tags/tag1564.xml"/><Relationship Id="rId21" Type="http://schemas.openxmlformats.org/officeDocument/2006/relationships/tags" Target="../tags/tag1559.xml"/><Relationship Id="rId42" Type="http://schemas.openxmlformats.org/officeDocument/2006/relationships/tags" Target="../tags/tag1580.xml"/><Relationship Id="rId47" Type="http://schemas.openxmlformats.org/officeDocument/2006/relationships/tags" Target="../tags/tag1585.xml"/><Relationship Id="rId63" Type="http://schemas.openxmlformats.org/officeDocument/2006/relationships/tags" Target="../tags/tag1601.xml"/><Relationship Id="rId68" Type="http://schemas.openxmlformats.org/officeDocument/2006/relationships/tags" Target="../tags/tag1606.xml"/><Relationship Id="rId84" Type="http://schemas.openxmlformats.org/officeDocument/2006/relationships/tags" Target="../tags/tag1622.xml"/><Relationship Id="rId89" Type="http://schemas.openxmlformats.org/officeDocument/2006/relationships/tags" Target="../tags/tag1627.xml"/><Relationship Id="rId16" Type="http://schemas.openxmlformats.org/officeDocument/2006/relationships/tags" Target="../tags/tag1554.xml"/><Relationship Id="rId11" Type="http://schemas.openxmlformats.org/officeDocument/2006/relationships/tags" Target="../tags/tag1549.xml"/><Relationship Id="rId32" Type="http://schemas.openxmlformats.org/officeDocument/2006/relationships/tags" Target="../tags/tag1570.xml"/><Relationship Id="rId37" Type="http://schemas.openxmlformats.org/officeDocument/2006/relationships/tags" Target="../tags/tag1575.xml"/><Relationship Id="rId53" Type="http://schemas.openxmlformats.org/officeDocument/2006/relationships/tags" Target="../tags/tag1591.xml"/><Relationship Id="rId58" Type="http://schemas.openxmlformats.org/officeDocument/2006/relationships/tags" Target="../tags/tag1596.xml"/><Relationship Id="rId74" Type="http://schemas.openxmlformats.org/officeDocument/2006/relationships/tags" Target="../tags/tag1612.xml"/><Relationship Id="rId79" Type="http://schemas.openxmlformats.org/officeDocument/2006/relationships/tags" Target="../tags/tag1617.xml"/><Relationship Id="rId5" Type="http://schemas.openxmlformats.org/officeDocument/2006/relationships/tags" Target="../tags/tag1543.xml"/><Relationship Id="rId90" Type="http://schemas.openxmlformats.org/officeDocument/2006/relationships/tags" Target="../tags/tag1628.xml"/><Relationship Id="rId22" Type="http://schemas.openxmlformats.org/officeDocument/2006/relationships/tags" Target="../tags/tag1560.xml"/><Relationship Id="rId27" Type="http://schemas.openxmlformats.org/officeDocument/2006/relationships/tags" Target="../tags/tag1565.xml"/><Relationship Id="rId43" Type="http://schemas.openxmlformats.org/officeDocument/2006/relationships/tags" Target="../tags/tag1581.xml"/><Relationship Id="rId48" Type="http://schemas.openxmlformats.org/officeDocument/2006/relationships/tags" Target="../tags/tag1586.xml"/><Relationship Id="rId64" Type="http://schemas.openxmlformats.org/officeDocument/2006/relationships/tags" Target="../tags/tag1602.xml"/><Relationship Id="rId69" Type="http://schemas.openxmlformats.org/officeDocument/2006/relationships/tags" Target="../tags/tag1607.xml"/><Relationship Id="rId8" Type="http://schemas.openxmlformats.org/officeDocument/2006/relationships/tags" Target="../tags/tag1546.xml"/><Relationship Id="rId51" Type="http://schemas.openxmlformats.org/officeDocument/2006/relationships/tags" Target="../tags/tag1589.xml"/><Relationship Id="rId72" Type="http://schemas.openxmlformats.org/officeDocument/2006/relationships/tags" Target="../tags/tag1610.xml"/><Relationship Id="rId80" Type="http://schemas.openxmlformats.org/officeDocument/2006/relationships/tags" Target="../tags/tag1618.xml"/><Relationship Id="rId85" Type="http://schemas.openxmlformats.org/officeDocument/2006/relationships/tags" Target="../tags/tag1623.xml"/><Relationship Id="rId93" Type="http://schemas.openxmlformats.org/officeDocument/2006/relationships/notesSlide" Target="../notesSlides/notesSlide46.xml"/><Relationship Id="rId3" Type="http://schemas.openxmlformats.org/officeDocument/2006/relationships/tags" Target="../tags/tag1541.xml"/><Relationship Id="rId12" Type="http://schemas.openxmlformats.org/officeDocument/2006/relationships/tags" Target="../tags/tag1550.xml"/><Relationship Id="rId17" Type="http://schemas.openxmlformats.org/officeDocument/2006/relationships/tags" Target="../tags/tag1555.xml"/><Relationship Id="rId25" Type="http://schemas.openxmlformats.org/officeDocument/2006/relationships/tags" Target="../tags/tag1563.xml"/><Relationship Id="rId33" Type="http://schemas.openxmlformats.org/officeDocument/2006/relationships/tags" Target="../tags/tag1571.xml"/><Relationship Id="rId38" Type="http://schemas.openxmlformats.org/officeDocument/2006/relationships/tags" Target="../tags/tag1576.xml"/><Relationship Id="rId46" Type="http://schemas.openxmlformats.org/officeDocument/2006/relationships/tags" Target="../tags/tag1584.xml"/><Relationship Id="rId59" Type="http://schemas.openxmlformats.org/officeDocument/2006/relationships/tags" Target="../tags/tag1597.xml"/><Relationship Id="rId67" Type="http://schemas.openxmlformats.org/officeDocument/2006/relationships/tags" Target="../tags/tag1605.xml"/><Relationship Id="rId20" Type="http://schemas.openxmlformats.org/officeDocument/2006/relationships/tags" Target="../tags/tag1558.xml"/><Relationship Id="rId41" Type="http://schemas.openxmlformats.org/officeDocument/2006/relationships/tags" Target="../tags/tag1579.xml"/><Relationship Id="rId54" Type="http://schemas.openxmlformats.org/officeDocument/2006/relationships/tags" Target="../tags/tag1592.xml"/><Relationship Id="rId62" Type="http://schemas.openxmlformats.org/officeDocument/2006/relationships/tags" Target="../tags/tag1600.xml"/><Relationship Id="rId70" Type="http://schemas.openxmlformats.org/officeDocument/2006/relationships/tags" Target="../tags/tag1608.xml"/><Relationship Id="rId75" Type="http://schemas.openxmlformats.org/officeDocument/2006/relationships/tags" Target="../tags/tag1613.xml"/><Relationship Id="rId83" Type="http://schemas.openxmlformats.org/officeDocument/2006/relationships/tags" Target="../tags/tag1621.xml"/><Relationship Id="rId88" Type="http://schemas.openxmlformats.org/officeDocument/2006/relationships/tags" Target="../tags/tag1626.xml"/><Relationship Id="rId91" Type="http://schemas.openxmlformats.org/officeDocument/2006/relationships/tags" Target="../tags/tag1629.xml"/><Relationship Id="rId1" Type="http://schemas.openxmlformats.org/officeDocument/2006/relationships/tags" Target="../tags/tag1539.xml"/><Relationship Id="rId6" Type="http://schemas.openxmlformats.org/officeDocument/2006/relationships/tags" Target="../tags/tag1544.xml"/><Relationship Id="rId15" Type="http://schemas.openxmlformats.org/officeDocument/2006/relationships/tags" Target="../tags/tag1553.xml"/><Relationship Id="rId23" Type="http://schemas.openxmlformats.org/officeDocument/2006/relationships/tags" Target="../tags/tag1561.xml"/><Relationship Id="rId28" Type="http://schemas.openxmlformats.org/officeDocument/2006/relationships/tags" Target="../tags/tag1566.xml"/><Relationship Id="rId36" Type="http://schemas.openxmlformats.org/officeDocument/2006/relationships/tags" Target="../tags/tag1574.xml"/><Relationship Id="rId49" Type="http://schemas.openxmlformats.org/officeDocument/2006/relationships/tags" Target="../tags/tag1587.xml"/><Relationship Id="rId57" Type="http://schemas.openxmlformats.org/officeDocument/2006/relationships/tags" Target="../tags/tag1595.xml"/><Relationship Id="rId10" Type="http://schemas.openxmlformats.org/officeDocument/2006/relationships/tags" Target="../tags/tag1548.xml"/><Relationship Id="rId31" Type="http://schemas.openxmlformats.org/officeDocument/2006/relationships/tags" Target="../tags/tag1569.xml"/><Relationship Id="rId44" Type="http://schemas.openxmlformats.org/officeDocument/2006/relationships/tags" Target="../tags/tag1582.xml"/><Relationship Id="rId52" Type="http://schemas.openxmlformats.org/officeDocument/2006/relationships/tags" Target="../tags/tag1590.xml"/><Relationship Id="rId60" Type="http://schemas.openxmlformats.org/officeDocument/2006/relationships/tags" Target="../tags/tag1598.xml"/><Relationship Id="rId65" Type="http://schemas.openxmlformats.org/officeDocument/2006/relationships/tags" Target="../tags/tag1603.xml"/><Relationship Id="rId73" Type="http://schemas.openxmlformats.org/officeDocument/2006/relationships/tags" Target="../tags/tag1611.xml"/><Relationship Id="rId78" Type="http://schemas.openxmlformats.org/officeDocument/2006/relationships/tags" Target="../tags/tag1616.xml"/><Relationship Id="rId81" Type="http://schemas.openxmlformats.org/officeDocument/2006/relationships/tags" Target="../tags/tag1619.xml"/><Relationship Id="rId86" Type="http://schemas.openxmlformats.org/officeDocument/2006/relationships/tags" Target="../tags/tag1624.xml"/><Relationship Id="rId4" Type="http://schemas.openxmlformats.org/officeDocument/2006/relationships/tags" Target="../tags/tag1542.xml"/><Relationship Id="rId9" Type="http://schemas.openxmlformats.org/officeDocument/2006/relationships/tags" Target="../tags/tag1547.xml"/><Relationship Id="rId13" Type="http://schemas.openxmlformats.org/officeDocument/2006/relationships/tags" Target="../tags/tag1551.xml"/><Relationship Id="rId18" Type="http://schemas.openxmlformats.org/officeDocument/2006/relationships/tags" Target="../tags/tag1556.xml"/><Relationship Id="rId39" Type="http://schemas.openxmlformats.org/officeDocument/2006/relationships/tags" Target="../tags/tag1577.xml"/><Relationship Id="rId34" Type="http://schemas.openxmlformats.org/officeDocument/2006/relationships/tags" Target="../tags/tag1572.xml"/><Relationship Id="rId50" Type="http://schemas.openxmlformats.org/officeDocument/2006/relationships/tags" Target="../tags/tag1588.xml"/><Relationship Id="rId55" Type="http://schemas.openxmlformats.org/officeDocument/2006/relationships/tags" Target="../tags/tag1593.xml"/><Relationship Id="rId76" Type="http://schemas.openxmlformats.org/officeDocument/2006/relationships/tags" Target="../tags/tag1614.xml"/><Relationship Id="rId7" Type="http://schemas.openxmlformats.org/officeDocument/2006/relationships/tags" Target="../tags/tag1545.xml"/><Relationship Id="rId71" Type="http://schemas.openxmlformats.org/officeDocument/2006/relationships/tags" Target="../tags/tag1609.xml"/><Relationship Id="rId92" Type="http://schemas.openxmlformats.org/officeDocument/2006/relationships/slideLayout" Target="../slideLayouts/slideLayout7.xml"/><Relationship Id="rId2" Type="http://schemas.openxmlformats.org/officeDocument/2006/relationships/tags" Target="../tags/tag1540.xml"/><Relationship Id="rId29" Type="http://schemas.openxmlformats.org/officeDocument/2006/relationships/tags" Target="../tags/tag1567.xml"/><Relationship Id="rId24" Type="http://schemas.openxmlformats.org/officeDocument/2006/relationships/tags" Target="../tags/tag1562.xml"/><Relationship Id="rId40" Type="http://schemas.openxmlformats.org/officeDocument/2006/relationships/tags" Target="../tags/tag1578.xml"/><Relationship Id="rId45" Type="http://schemas.openxmlformats.org/officeDocument/2006/relationships/tags" Target="../tags/tag1583.xml"/><Relationship Id="rId66" Type="http://schemas.openxmlformats.org/officeDocument/2006/relationships/tags" Target="../tags/tag1604.xml"/><Relationship Id="rId87" Type="http://schemas.openxmlformats.org/officeDocument/2006/relationships/tags" Target="../tags/tag1625.xml"/><Relationship Id="rId61" Type="http://schemas.openxmlformats.org/officeDocument/2006/relationships/tags" Target="../tags/tag1599.xml"/><Relationship Id="rId82" Type="http://schemas.openxmlformats.org/officeDocument/2006/relationships/tags" Target="../tags/tag1620.xml"/><Relationship Id="rId19" Type="http://schemas.openxmlformats.org/officeDocument/2006/relationships/tags" Target="../tags/tag1557.xml"/><Relationship Id="rId14" Type="http://schemas.openxmlformats.org/officeDocument/2006/relationships/tags" Target="../tags/tag1552.xml"/><Relationship Id="rId30" Type="http://schemas.openxmlformats.org/officeDocument/2006/relationships/tags" Target="../tags/tag1568.xml"/><Relationship Id="rId35" Type="http://schemas.openxmlformats.org/officeDocument/2006/relationships/tags" Target="../tags/tag1573.xml"/><Relationship Id="rId56" Type="http://schemas.openxmlformats.org/officeDocument/2006/relationships/tags" Target="../tags/tag1594.xml"/><Relationship Id="rId77" Type="http://schemas.openxmlformats.org/officeDocument/2006/relationships/tags" Target="../tags/tag16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30.xml"/><Relationship Id="rId6" Type="http://schemas.openxmlformats.org/officeDocument/2006/relationships/slide" Target="slide58.xml"/><Relationship Id="rId5" Type="http://schemas.openxmlformats.org/officeDocument/2006/relationships/slide" Target="slide56.xml"/><Relationship Id="rId4" Type="http://schemas.openxmlformats.org/officeDocument/2006/relationships/slide" Target="slide5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1638.xml"/><Relationship Id="rId13" Type="http://schemas.openxmlformats.org/officeDocument/2006/relationships/tags" Target="../tags/tag164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33.xml"/><Relationship Id="rId7" Type="http://schemas.openxmlformats.org/officeDocument/2006/relationships/tags" Target="../tags/tag1637.xml"/><Relationship Id="rId12" Type="http://schemas.openxmlformats.org/officeDocument/2006/relationships/tags" Target="../tags/tag1642.xml"/><Relationship Id="rId17" Type="http://schemas.openxmlformats.org/officeDocument/2006/relationships/tags" Target="../tags/tag1647.xml"/><Relationship Id="rId2" Type="http://schemas.openxmlformats.org/officeDocument/2006/relationships/tags" Target="../tags/tag1632.xml"/><Relationship Id="rId16" Type="http://schemas.openxmlformats.org/officeDocument/2006/relationships/tags" Target="../tags/tag1646.xml"/><Relationship Id="rId1" Type="http://schemas.openxmlformats.org/officeDocument/2006/relationships/tags" Target="../tags/tag1631.xml"/><Relationship Id="rId6" Type="http://schemas.openxmlformats.org/officeDocument/2006/relationships/tags" Target="../tags/tag1636.xml"/><Relationship Id="rId11" Type="http://schemas.openxmlformats.org/officeDocument/2006/relationships/tags" Target="../tags/tag1641.xml"/><Relationship Id="rId5" Type="http://schemas.openxmlformats.org/officeDocument/2006/relationships/tags" Target="../tags/tag1635.xml"/><Relationship Id="rId15" Type="http://schemas.openxmlformats.org/officeDocument/2006/relationships/tags" Target="../tags/tag1645.xml"/><Relationship Id="rId10" Type="http://schemas.openxmlformats.org/officeDocument/2006/relationships/tags" Target="../tags/tag1640.xml"/><Relationship Id="rId4" Type="http://schemas.openxmlformats.org/officeDocument/2006/relationships/tags" Target="../tags/tag1634.xml"/><Relationship Id="rId9" Type="http://schemas.openxmlformats.org/officeDocument/2006/relationships/tags" Target="../tags/tag1639.xml"/><Relationship Id="rId14" Type="http://schemas.openxmlformats.org/officeDocument/2006/relationships/tags" Target="../tags/tag164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1655.xml"/><Relationship Id="rId13" Type="http://schemas.openxmlformats.org/officeDocument/2006/relationships/notesSlide" Target="../notesSlides/notesSlide49.xml"/><Relationship Id="rId3" Type="http://schemas.openxmlformats.org/officeDocument/2006/relationships/tags" Target="../tags/tag1650.xml"/><Relationship Id="rId7" Type="http://schemas.openxmlformats.org/officeDocument/2006/relationships/tags" Target="../tags/tag1654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649.xml"/><Relationship Id="rId1" Type="http://schemas.openxmlformats.org/officeDocument/2006/relationships/tags" Target="../tags/tag1648.xml"/><Relationship Id="rId6" Type="http://schemas.openxmlformats.org/officeDocument/2006/relationships/tags" Target="../tags/tag1653.xml"/><Relationship Id="rId11" Type="http://schemas.openxmlformats.org/officeDocument/2006/relationships/tags" Target="../tags/tag1658.xml"/><Relationship Id="rId5" Type="http://schemas.openxmlformats.org/officeDocument/2006/relationships/tags" Target="../tags/tag1652.xml"/><Relationship Id="rId10" Type="http://schemas.openxmlformats.org/officeDocument/2006/relationships/tags" Target="../tags/tag1657.xml"/><Relationship Id="rId4" Type="http://schemas.openxmlformats.org/officeDocument/2006/relationships/tags" Target="../tags/tag1651.xml"/><Relationship Id="rId9" Type="http://schemas.openxmlformats.org/officeDocument/2006/relationships/tags" Target="../tags/tag1656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666.xml"/><Relationship Id="rId13" Type="http://schemas.openxmlformats.org/officeDocument/2006/relationships/tags" Target="../tags/tag1671.xml"/><Relationship Id="rId18" Type="http://schemas.openxmlformats.org/officeDocument/2006/relationships/tags" Target="../tags/tag1676.xml"/><Relationship Id="rId26" Type="http://schemas.openxmlformats.org/officeDocument/2006/relationships/tags" Target="../tags/tag1684.xml"/><Relationship Id="rId3" Type="http://schemas.openxmlformats.org/officeDocument/2006/relationships/tags" Target="../tags/tag1661.xml"/><Relationship Id="rId21" Type="http://schemas.openxmlformats.org/officeDocument/2006/relationships/tags" Target="../tags/tag1679.xml"/><Relationship Id="rId7" Type="http://schemas.openxmlformats.org/officeDocument/2006/relationships/tags" Target="../tags/tag1665.xml"/><Relationship Id="rId12" Type="http://schemas.openxmlformats.org/officeDocument/2006/relationships/tags" Target="../tags/tag1670.xml"/><Relationship Id="rId17" Type="http://schemas.openxmlformats.org/officeDocument/2006/relationships/tags" Target="../tags/tag1675.xml"/><Relationship Id="rId25" Type="http://schemas.openxmlformats.org/officeDocument/2006/relationships/tags" Target="../tags/tag1683.xml"/><Relationship Id="rId2" Type="http://schemas.openxmlformats.org/officeDocument/2006/relationships/tags" Target="../tags/tag1660.xml"/><Relationship Id="rId16" Type="http://schemas.openxmlformats.org/officeDocument/2006/relationships/tags" Target="../tags/tag1674.xml"/><Relationship Id="rId20" Type="http://schemas.openxmlformats.org/officeDocument/2006/relationships/tags" Target="../tags/tag1678.xml"/><Relationship Id="rId29" Type="http://schemas.openxmlformats.org/officeDocument/2006/relationships/slide" Target="slide51.xml"/><Relationship Id="rId1" Type="http://schemas.openxmlformats.org/officeDocument/2006/relationships/tags" Target="../tags/tag1659.xml"/><Relationship Id="rId6" Type="http://schemas.openxmlformats.org/officeDocument/2006/relationships/tags" Target="../tags/tag1664.xml"/><Relationship Id="rId11" Type="http://schemas.openxmlformats.org/officeDocument/2006/relationships/tags" Target="../tags/tag1669.xml"/><Relationship Id="rId24" Type="http://schemas.openxmlformats.org/officeDocument/2006/relationships/tags" Target="../tags/tag1682.xml"/><Relationship Id="rId5" Type="http://schemas.openxmlformats.org/officeDocument/2006/relationships/tags" Target="../tags/tag1663.xml"/><Relationship Id="rId15" Type="http://schemas.openxmlformats.org/officeDocument/2006/relationships/tags" Target="../tags/tag1673.xml"/><Relationship Id="rId23" Type="http://schemas.openxmlformats.org/officeDocument/2006/relationships/tags" Target="../tags/tag1681.xml"/><Relationship Id="rId28" Type="http://schemas.openxmlformats.org/officeDocument/2006/relationships/notesSlide" Target="../notesSlides/notesSlide50.xml"/><Relationship Id="rId10" Type="http://schemas.openxmlformats.org/officeDocument/2006/relationships/tags" Target="../tags/tag1668.xml"/><Relationship Id="rId19" Type="http://schemas.openxmlformats.org/officeDocument/2006/relationships/tags" Target="../tags/tag1677.xml"/><Relationship Id="rId4" Type="http://schemas.openxmlformats.org/officeDocument/2006/relationships/tags" Target="../tags/tag1662.xml"/><Relationship Id="rId9" Type="http://schemas.openxmlformats.org/officeDocument/2006/relationships/tags" Target="../tags/tag1667.xml"/><Relationship Id="rId14" Type="http://schemas.openxmlformats.org/officeDocument/2006/relationships/tags" Target="../tags/tag1672.xml"/><Relationship Id="rId22" Type="http://schemas.openxmlformats.org/officeDocument/2006/relationships/tags" Target="../tags/tag1680.xml"/><Relationship Id="rId27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tags" Target="../tags/tag1710.xml"/><Relationship Id="rId21" Type="http://schemas.openxmlformats.org/officeDocument/2006/relationships/tags" Target="../tags/tag1705.xml"/><Relationship Id="rId42" Type="http://schemas.openxmlformats.org/officeDocument/2006/relationships/tags" Target="../tags/tag1726.xml"/><Relationship Id="rId47" Type="http://schemas.openxmlformats.org/officeDocument/2006/relationships/tags" Target="../tags/tag1731.xml"/><Relationship Id="rId63" Type="http://schemas.openxmlformats.org/officeDocument/2006/relationships/tags" Target="../tags/tag1747.xml"/><Relationship Id="rId68" Type="http://schemas.openxmlformats.org/officeDocument/2006/relationships/tags" Target="../tags/tag1752.xml"/><Relationship Id="rId84" Type="http://schemas.openxmlformats.org/officeDocument/2006/relationships/tags" Target="../tags/tag1768.xml"/><Relationship Id="rId89" Type="http://schemas.openxmlformats.org/officeDocument/2006/relationships/tags" Target="../tags/tag1773.xml"/><Relationship Id="rId16" Type="http://schemas.openxmlformats.org/officeDocument/2006/relationships/tags" Target="../tags/tag1700.xml"/><Relationship Id="rId11" Type="http://schemas.openxmlformats.org/officeDocument/2006/relationships/tags" Target="../tags/tag1695.xml"/><Relationship Id="rId32" Type="http://schemas.openxmlformats.org/officeDocument/2006/relationships/tags" Target="../tags/tag1716.xml"/><Relationship Id="rId37" Type="http://schemas.openxmlformats.org/officeDocument/2006/relationships/tags" Target="../tags/tag1721.xml"/><Relationship Id="rId53" Type="http://schemas.openxmlformats.org/officeDocument/2006/relationships/tags" Target="../tags/tag1737.xml"/><Relationship Id="rId58" Type="http://schemas.openxmlformats.org/officeDocument/2006/relationships/tags" Target="../tags/tag1742.xml"/><Relationship Id="rId74" Type="http://schemas.openxmlformats.org/officeDocument/2006/relationships/tags" Target="../tags/tag1758.xml"/><Relationship Id="rId79" Type="http://schemas.openxmlformats.org/officeDocument/2006/relationships/tags" Target="../tags/tag1763.xml"/><Relationship Id="rId5" Type="http://schemas.openxmlformats.org/officeDocument/2006/relationships/tags" Target="../tags/tag1689.xml"/><Relationship Id="rId90" Type="http://schemas.openxmlformats.org/officeDocument/2006/relationships/tags" Target="../tags/tag1774.xml"/><Relationship Id="rId22" Type="http://schemas.openxmlformats.org/officeDocument/2006/relationships/tags" Target="../tags/tag1706.xml"/><Relationship Id="rId27" Type="http://schemas.openxmlformats.org/officeDocument/2006/relationships/tags" Target="../tags/tag1711.xml"/><Relationship Id="rId43" Type="http://schemas.openxmlformats.org/officeDocument/2006/relationships/tags" Target="../tags/tag1727.xml"/><Relationship Id="rId48" Type="http://schemas.openxmlformats.org/officeDocument/2006/relationships/tags" Target="../tags/tag1732.xml"/><Relationship Id="rId64" Type="http://schemas.openxmlformats.org/officeDocument/2006/relationships/tags" Target="../tags/tag1748.xml"/><Relationship Id="rId69" Type="http://schemas.openxmlformats.org/officeDocument/2006/relationships/tags" Target="../tags/tag1753.xml"/><Relationship Id="rId8" Type="http://schemas.openxmlformats.org/officeDocument/2006/relationships/tags" Target="../tags/tag1692.xml"/><Relationship Id="rId51" Type="http://schemas.openxmlformats.org/officeDocument/2006/relationships/tags" Target="../tags/tag1735.xml"/><Relationship Id="rId72" Type="http://schemas.openxmlformats.org/officeDocument/2006/relationships/tags" Target="../tags/tag1756.xml"/><Relationship Id="rId80" Type="http://schemas.openxmlformats.org/officeDocument/2006/relationships/tags" Target="../tags/tag1764.xml"/><Relationship Id="rId85" Type="http://schemas.openxmlformats.org/officeDocument/2006/relationships/tags" Target="../tags/tag1769.xml"/><Relationship Id="rId93" Type="http://schemas.openxmlformats.org/officeDocument/2006/relationships/tags" Target="../tags/tag1777.xml"/><Relationship Id="rId3" Type="http://schemas.openxmlformats.org/officeDocument/2006/relationships/tags" Target="../tags/tag1687.xml"/><Relationship Id="rId12" Type="http://schemas.openxmlformats.org/officeDocument/2006/relationships/tags" Target="../tags/tag1696.xml"/><Relationship Id="rId17" Type="http://schemas.openxmlformats.org/officeDocument/2006/relationships/tags" Target="../tags/tag1701.xml"/><Relationship Id="rId25" Type="http://schemas.openxmlformats.org/officeDocument/2006/relationships/tags" Target="../tags/tag1709.xml"/><Relationship Id="rId33" Type="http://schemas.openxmlformats.org/officeDocument/2006/relationships/tags" Target="../tags/tag1717.xml"/><Relationship Id="rId38" Type="http://schemas.openxmlformats.org/officeDocument/2006/relationships/tags" Target="../tags/tag1722.xml"/><Relationship Id="rId46" Type="http://schemas.openxmlformats.org/officeDocument/2006/relationships/tags" Target="../tags/tag1730.xml"/><Relationship Id="rId59" Type="http://schemas.openxmlformats.org/officeDocument/2006/relationships/tags" Target="../tags/tag1743.xml"/><Relationship Id="rId67" Type="http://schemas.openxmlformats.org/officeDocument/2006/relationships/tags" Target="../tags/tag1751.xml"/><Relationship Id="rId20" Type="http://schemas.openxmlformats.org/officeDocument/2006/relationships/tags" Target="../tags/tag1704.xml"/><Relationship Id="rId41" Type="http://schemas.openxmlformats.org/officeDocument/2006/relationships/tags" Target="../tags/tag1725.xml"/><Relationship Id="rId54" Type="http://schemas.openxmlformats.org/officeDocument/2006/relationships/tags" Target="../tags/tag1738.xml"/><Relationship Id="rId62" Type="http://schemas.openxmlformats.org/officeDocument/2006/relationships/tags" Target="../tags/tag1746.xml"/><Relationship Id="rId70" Type="http://schemas.openxmlformats.org/officeDocument/2006/relationships/tags" Target="../tags/tag1754.xml"/><Relationship Id="rId75" Type="http://schemas.openxmlformats.org/officeDocument/2006/relationships/tags" Target="../tags/tag1759.xml"/><Relationship Id="rId83" Type="http://schemas.openxmlformats.org/officeDocument/2006/relationships/tags" Target="../tags/tag1767.xml"/><Relationship Id="rId88" Type="http://schemas.openxmlformats.org/officeDocument/2006/relationships/tags" Target="../tags/tag1772.xml"/><Relationship Id="rId91" Type="http://schemas.openxmlformats.org/officeDocument/2006/relationships/tags" Target="../tags/tag1775.xml"/><Relationship Id="rId1" Type="http://schemas.openxmlformats.org/officeDocument/2006/relationships/tags" Target="../tags/tag1685.xml"/><Relationship Id="rId6" Type="http://schemas.openxmlformats.org/officeDocument/2006/relationships/tags" Target="../tags/tag1690.xml"/><Relationship Id="rId15" Type="http://schemas.openxmlformats.org/officeDocument/2006/relationships/tags" Target="../tags/tag1699.xml"/><Relationship Id="rId23" Type="http://schemas.openxmlformats.org/officeDocument/2006/relationships/tags" Target="../tags/tag1707.xml"/><Relationship Id="rId28" Type="http://schemas.openxmlformats.org/officeDocument/2006/relationships/tags" Target="../tags/tag1712.xml"/><Relationship Id="rId36" Type="http://schemas.openxmlformats.org/officeDocument/2006/relationships/tags" Target="../tags/tag1720.xml"/><Relationship Id="rId49" Type="http://schemas.openxmlformats.org/officeDocument/2006/relationships/tags" Target="../tags/tag1733.xml"/><Relationship Id="rId57" Type="http://schemas.openxmlformats.org/officeDocument/2006/relationships/tags" Target="../tags/tag1741.xml"/><Relationship Id="rId10" Type="http://schemas.openxmlformats.org/officeDocument/2006/relationships/tags" Target="../tags/tag1694.xml"/><Relationship Id="rId31" Type="http://schemas.openxmlformats.org/officeDocument/2006/relationships/tags" Target="../tags/tag1715.xml"/><Relationship Id="rId44" Type="http://schemas.openxmlformats.org/officeDocument/2006/relationships/tags" Target="../tags/tag1728.xml"/><Relationship Id="rId52" Type="http://schemas.openxmlformats.org/officeDocument/2006/relationships/tags" Target="../tags/tag1736.xml"/><Relationship Id="rId60" Type="http://schemas.openxmlformats.org/officeDocument/2006/relationships/tags" Target="../tags/tag1744.xml"/><Relationship Id="rId65" Type="http://schemas.openxmlformats.org/officeDocument/2006/relationships/tags" Target="../tags/tag1749.xml"/><Relationship Id="rId73" Type="http://schemas.openxmlformats.org/officeDocument/2006/relationships/tags" Target="../tags/tag1757.xml"/><Relationship Id="rId78" Type="http://schemas.openxmlformats.org/officeDocument/2006/relationships/tags" Target="../tags/tag1762.xml"/><Relationship Id="rId81" Type="http://schemas.openxmlformats.org/officeDocument/2006/relationships/tags" Target="../tags/tag1765.xml"/><Relationship Id="rId86" Type="http://schemas.openxmlformats.org/officeDocument/2006/relationships/tags" Target="../tags/tag1770.xml"/><Relationship Id="rId94" Type="http://schemas.openxmlformats.org/officeDocument/2006/relationships/slideLayout" Target="../slideLayouts/slideLayout7.xml"/><Relationship Id="rId4" Type="http://schemas.openxmlformats.org/officeDocument/2006/relationships/tags" Target="../tags/tag1688.xml"/><Relationship Id="rId9" Type="http://schemas.openxmlformats.org/officeDocument/2006/relationships/tags" Target="../tags/tag1693.xml"/><Relationship Id="rId13" Type="http://schemas.openxmlformats.org/officeDocument/2006/relationships/tags" Target="../tags/tag1697.xml"/><Relationship Id="rId18" Type="http://schemas.openxmlformats.org/officeDocument/2006/relationships/tags" Target="../tags/tag1702.xml"/><Relationship Id="rId39" Type="http://schemas.openxmlformats.org/officeDocument/2006/relationships/tags" Target="../tags/tag1723.xml"/><Relationship Id="rId34" Type="http://schemas.openxmlformats.org/officeDocument/2006/relationships/tags" Target="../tags/tag1718.xml"/><Relationship Id="rId50" Type="http://schemas.openxmlformats.org/officeDocument/2006/relationships/tags" Target="../tags/tag1734.xml"/><Relationship Id="rId55" Type="http://schemas.openxmlformats.org/officeDocument/2006/relationships/tags" Target="../tags/tag1739.xml"/><Relationship Id="rId76" Type="http://schemas.openxmlformats.org/officeDocument/2006/relationships/tags" Target="../tags/tag1760.xml"/><Relationship Id="rId7" Type="http://schemas.openxmlformats.org/officeDocument/2006/relationships/tags" Target="../tags/tag1691.xml"/><Relationship Id="rId71" Type="http://schemas.openxmlformats.org/officeDocument/2006/relationships/tags" Target="../tags/tag1755.xml"/><Relationship Id="rId92" Type="http://schemas.openxmlformats.org/officeDocument/2006/relationships/tags" Target="../tags/tag1776.xml"/><Relationship Id="rId2" Type="http://schemas.openxmlformats.org/officeDocument/2006/relationships/tags" Target="../tags/tag1686.xml"/><Relationship Id="rId29" Type="http://schemas.openxmlformats.org/officeDocument/2006/relationships/tags" Target="../tags/tag1713.xml"/><Relationship Id="rId24" Type="http://schemas.openxmlformats.org/officeDocument/2006/relationships/tags" Target="../tags/tag1708.xml"/><Relationship Id="rId40" Type="http://schemas.openxmlformats.org/officeDocument/2006/relationships/tags" Target="../tags/tag1724.xml"/><Relationship Id="rId45" Type="http://schemas.openxmlformats.org/officeDocument/2006/relationships/tags" Target="../tags/tag1729.xml"/><Relationship Id="rId66" Type="http://schemas.openxmlformats.org/officeDocument/2006/relationships/tags" Target="../tags/tag1750.xml"/><Relationship Id="rId87" Type="http://schemas.openxmlformats.org/officeDocument/2006/relationships/tags" Target="../tags/tag1771.xml"/><Relationship Id="rId61" Type="http://schemas.openxmlformats.org/officeDocument/2006/relationships/tags" Target="../tags/tag1745.xml"/><Relationship Id="rId82" Type="http://schemas.openxmlformats.org/officeDocument/2006/relationships/tags" Target="../tags/tag1766.xml"/><Relationship Id="rId19" Type="http://schemas.openxmlformats.org/officeDocument/2006/relationships/tags" Target="../tags/tag1703.xml"/><Relationship Id="rId14" Type="http://schemas.openxmlformats.org/officeDocument/2006/relationships/tags" Target="../tags/tag1698.xml"/><Relationship Id="rId30" Type="http://schemas.openxmlformats.org/officeDocument/2006/relationships/tags" Target="../tags/tag1714.xml"/><Relationship Id="rId35" Type="http://schemas.openxmlformats.org/officeDocument/2006/relationships/tags" Target="../tags/tag1719.xml"/><Relationship Id="rId56" Type="http://schemas.openxmlformats.org/officeDocument/2006/relationships/tags" Target="../tags/tag1740.xml"/><Relationship Id="rId77" Type="http://schemas.openxmlformats.org/officeDocument/2006/relationships/tags" Target="../tags/tag1761.xml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tags" Target="../tags/tag1790.xml"/><Relationship Id="rId18" Type="http://schemas.openxmlformats.org/officeDocument/2006/relationships/tags" Target="../tags/tag1795.xml"/><Relationship Id="rId26" Type="http://schemas.openxmlformats.org/officeDocument/2006/relationships/tags" Target="../tags/tag1803.xml"/><Relationship Id="rId39" Type="http://schemas.openxmlformats.org/officeDocument/2006/relationships/tags" Target="../tags/tag1816.xml"/><Relationship Id="rId21" Type="http://schemas.openxmlformats.org/officeDocument/2006/relationships/tags" Target="../tags/tag1798.xml"/><Relationship Id="rId34" Type="http://schemas.openxmlformats.org/officeDocument/2006/relationships/tags" Target="../tags/tag1811.xml"/><Relationship Id="rId42" Type="http://schemas.openxmlformats.org/officeDocument/2006/relationships/tags" Target="../tags/tag1819.xml"/><Relationship Id="rId7" Type="http://schemas.openxmlformats.org/officeDocument/2006/relationships/tags" Target="../tags/tag1784.xml"/><Relationship Id="rId2" Type="http://schemas.openxmlformats.org/officeDocument/2006/relationships/tags" Target="../tags/tag1779.xml"/><Relationship Id="rId16" Type="http://schemas.openxmlformats.org/officeDocument/2006/relationships/tags" Target="../tags/tag1793.xml"/><Relationship Id="rId29" Type="http://schemas.openxmlformats.org/officeDocument/2006/relationships/tags" Target="../tags/tag1806.xml"/><Relationship Id="rId1" Type="http://schemas.openxmlformats.org/officeDocument/2006/relationships/tags" Target="../tags/tag1778.xml"/><Relationship Id="rId6" Type="http://schemas.openxmlformats.org/officeDocument/2006/relationships/tags" Target="../tags/tag1783.xml"/><Relationship Id="rId11" Type="http://schemas.openxmlformats.org/officeDocument/2006/relationships/tags" Target="../tags/tag1788.xml"/><Relationship Id="rId24" Type="http://schemas.openxmlformats.org/officeDocument/2006/relationships/tags" Target="../tags/tag1801.xml"/><Relationship Id="rId32" Type="http://schemas.openxmlformats.org/officeDocument/2006/relationships/tags" Target="../tags/tag1809.xml"/><Relationship Id="rId37" Type="http://schemas.openxmlformats.org/officeDocument/2006/relationships/tags" Target="../tags/tag1814.xml"/><Relationship Id="rId40" Type="http://schemas.openxmlformats.org/officeDocument/2006/relationships/tags" Target="../tags/tag1817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1782.xml"/><Relationship Id="rId15" Type="http://schemas.openxmlformats.org/officeDocument/2006/relationships/tags" Target="../tags/tag1792.xml"/><Relationship Id="rId23" Type="http://schemas.openxmlformats.org/officeDocument/2006/relationships/tags" Target="../tags/tag1800.xml"/><Relationship Id="rId28" Type="http://schemas.openxmlformats.org/officeDocument/2006/relationships/tags" Target="../tags/tag1805.xml"/><Relationship Id="rId36" Type="http://schemas.openxmlformats.org/officeDocument/2006/relationships/tags" Target="../tags/tag1813.xml"/><Relationship Id="rId10" Type="http://schemas.openxmlformats.org/officeDocument/2006/relationships/tags" Target="../tags/tag1787.xml"/><Relationship Id="rId19" Type="http://schemas.openxmlformats.org/officeDocument/2006/relationships/tags" Target="../tags/tag1796.xml"/><Relationship Id="rId31" Type="http://schemas.openxmlformats.org/officeDocument/2006/relationships/tags" Target="../tags/tag1808.xml"/><Relationship Id="rId44" Type="http://schemas.openxmlformats.org/officeDocument/2006/relationships/tags" Target="../tags/tag1821.xml"/><Relationship Id="rId4" Type="http://schemas.openxmlformats.org/officeDocument/2006/relationships/tags" Target="../tags/tag1781.xml"/><Relationship Id="rId9" Type="http://schemas.openxmlformats.org/officeDocument/2006/relationships/tags" Target="../tags/tag1786.xml"/><Relationship Id="rId14" Type="http://schemas.openxmlformats.org/officeDocument/2006/relationships/tags" Target="../tags/tag1791.xml"/><Relationship Id="rId22" Type="http://schemas.openxmlformats.org/officeDocument/2006/relationships/tags" Target="../tags/tag1799.xml"/><Relationship Id="rId27" Type="http://schemas.openxmlformats.org/officeDocument/2006/relationships/tags" Target="../tags/tag1804.xml"/><Relationship Id="rId30" Type="http://schemas.openxmlformats.org/officeDocument/2006/relationships/tags" Target="../tags/tag1807.xml"/><Relationship Id="rId35" Type="http://schemas.openxmlformats.org/officeDocument/2006/relationships/tags" Target="../tags/tag1812.xml"/><Relationship Id="rId43" Type="http://schemas.openxmlformats.org/officeDocument/2006/relationships/tags" Target="../tags/tag1820.xml"/><Relationship Id="rId8" Type="http://schemas.openxmlformats.org/officeDocument/2006/relationships/tags" Target="../tags/tag1785.xml"/><Relationship Id="rId3" Type="http://schemas.openxmlformats.org/officeDocument/2006/relationships/tags" Target="../tags/tag1780.xml"/><Relationship Id="rId12" Type="http://schemas.openxmlformats.org/officeDocument/2006/relationships/tags" Target="../tags/tag1789.xml"/><Relationship Id="rId17" Type="http://schemas.openxmlformats.org/officeDocument/2006/relationships/tags" Target="../tags/tag1794.xml"/><Relationship Id="rId25" Type="http://schemas.openxmlformats.org/officeDocument/2006/relationships/tags" Target="../tags/tag1802.xml"/><Relationship Id="rId33" Type="http://schemas.openxmlformats.org/officeDocument/2006/relationships/tags" Target="../tags/tag1810.xml"/><Relationship Id="rId38" Type="http://schemas.openxmlformats.org/officeDocument/2006/relationships/tags" Target="../tags/tag1815.xml"/><Relationship Id="rId20" Type="http://schemas.openxmlformats.org/officeDocument/2006/relationships/tags" Target="../tags/tag1797.xml"/><Relationship Id="rId41" Type="http://schemas.openxmlformats.org/officeDocument/2006/relationships/tags" Target="../tags/tag1818.xml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tags" Target="../tags/tag1834.xml"/><Relationship Id="rId18" Type="http://schemas.openxmlformats.org/officeDocument/2006/relationships/tags" Target="../tags/tag1839.xml"/><Relationship Id="rId26" Type="http://schemas.openxmlformats.org/officeDocument/2006/relationships/tags" Target="../tags/tag1847.xml"/><Relationship Id="rId21" Type="http://schemas.openxmlformats.org/officeDocument/2006/relationships/tags" Target="../tags/tag1842.xml"/><Relationship Id="rId34" Type="http://schemas.openxmlformats.org/officeDocument/2006/relationships/tags" Target="../tags/tag1855.xml"/><Relationship Id="rId7" Type="http://schemas.openxmlformats.org/officeDocument/2006/relationships/tags" Target="../tags/tag1828.xml"/><Relationship Id="rId12" Type="http://schemas.openxmlformats.org/officeDocument/2006/relationships/tags" Target="../tags/tag1833.xml"/><Relationship Id="rId17" Type="http://schemas.openxmlformats.org/officeDocument/2006/relationships/tags" Target="../tags/tag1838.xml"/><Relationship Id="rId25" Type="http://schemas.openxmlformats.org/officeDocument/2006/relationships/tags" Target="../tags/tag1846.xml"/><Relationship Id="rId33" Type="http://schemas.openxmlformats.org/officeDocument/2006/relationships/tags" Target="../tags/tag1854.xml"/><Relationship Id="rId38" Type="http://schemas.openxmlformats.org/officeDocument/2006/relationships/notesSlide" Target="../notesSlides/notesSlide51.xml"/><Relationship Id="rId2" Type="http://schemas.openxmlformats.org/officeDocument/2006/relationships/tags" Target="../tags/tag1823.xml"/><Relationship Id="rId16" Type="http://schemas.openxmlformats.org/officeDocument/2006/relationships/tags" Target="../tags/tag1837.xml"/><Relationship Id="rId20" Type="http://schemas.openxmlformats.org/officeDocument/2006/relationships/tags" Target="../tags/tag1841.xml"/><Relationship Id="rId29" Type="http://schemas.openxmlformats.org/officeDocument/2006/relationships/tags" Target="../tags/tag1850.xml"/><Relationship Id="rId1" Type="http://schemas.openxmlformats.org/officeDocument/2006/relationships/tags" Target="../tags/tag1822.xml"/><Relationship Id="rId6" Type="http://schemas.openxmlformats.org/officeDocument/2006/relationships/tags" Target="../tags/tag1827.xml"/><Relationship Id="rId11" Type="http://schemas.openxmlformats.org/officeDocument/2006/relationships/tags" Target="../tags/tag1832.xml"/><Relationship Id="rId24" Type="http://schemas.openxmlformats.org/officeDocument/2006/relationships/tags" Target="../tags/tag1845.xml"/><Relationship Id="rId32" Type="http://schemas.openxmlformats.org/officeDocument/2006/relationships/tags" Target="../tags/tag1853.xml"/><Relationship Id="rId37" Type="http://schemas.openxmlformats.org/officeDocument/2006/relationships/slideLayout" Target="../slideLayouts/slideLayout7.xml"/><Relationship Id="rId5" Type="http://schemas.openxmlformats.org/officeDocument/2006/relationships/tags" Target="../tags/tag1826.xml"/><Relationship Id="rId15" Type="http://schemas.openxmlformats.org/officeDocument/2006/relationships/tags" Target="../tags/tag1836.xml"/><Relationship Id="rId23" Type="http://schemas.openxmlformats.org/officeDocument/2006/relationships/tags" Target="../tags/tag1844.xml"/><Relationship Id="rId28" Type="http://schemas.openxmlformats.org/officeDocument/2006/relationships/tags" Target="../tags/tag1849.xml"/><Relationship Id="rId36" Type="http://schemas.openxmlformats.org/officeDocument/2006/relationships/tags" Target="../tags/tag1857.xml"/><Relationship Id="rId10" Type="http://schemas.openxmlformats.org/officeDocument/2006/relationships/tags" Target="../tags/tag1831.xml"/><Relationship Id="rId19" Type="http://schemas.openxmlformats.org/officeDocument/2006/relationships/tags" Target="../tags/tag1840.xml"/><Relationship Id="rId31" Type="http://schemas.openxmlformats.org/officeDocument/2006/relationships/tags" Target="../tags/tag1852.xml"/><Relationship Id="rId4" Type="http://schemas.openxmlformats.org/officeDocument/2006/relationships/tags" Target="../tags/tag1825.xml"/><Relationship Id="rId9" Type="http://schemas.openxmlformats.org/officeDocument/2006/relationships/tags" Target="../tags/tag1830.xml"/><Relationship Id="rId14" Type="http://schemas.openxmlformats.org/officeDocument/2006/relationships/tags" Target="../tags/tag1835.xml"/><Relationship Id="rId22" Type="http://schemas.openxmlformats.org/officeDocument/2006/relationships/tags" Target="../tags/tag1843.xml"/><Relationship Id="rId27" Type="http://schemas.openxmlformats.org/officeDocument/2006/relationships/tags" Target="../tags/tag1848.xml"/><Relationship Id="rId30" Type="http://schemas.openxmlformats.org/officeDocument/2006/relationships/tags" Target="../tags/tag1851.xml"/><Relationship Id="rId35" Type="http://schemas.openxmlformats.org/officeDocument/2006/relationships/tags" Target="../tags/tag1856.xml"/><Relationship Id="rId8" Type="http://schemas.openxmlformats.org/officeDocument/2006/relationships/tags" Target="../tags/tag1829.xml"/><Relationship Id="rId3" Type="http://schemas.openxmlformats.org/officeDocument/2006/relationships/tags" Target="../tags/tag18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58.xml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tags" Target="../tags/tag1871.xml"/><Relationship Id="rId18" Type="http://schemas.openxmlformats.org/officeDocument/2006/relationships/tags" Target="../tags/tag1876.xml"/><Relationship Id="rId26" Type="http://schemas.openxmlformats.org/officeDocument/2006/relationships/tags" Target="../tags/tag1884.xml"/><Relationship Id="rId3" Type="http://schemas.openxmlformats.org/officeDocument/2006/relationships/tags" Target="../tags/tag1861.xml"/><Relationship Id="rId21" Type="http://schemas.openxmlformats.org/officeDocument/2006/relationships/tags" Target="../tags/tag1879.xml"/><Relationship Id="rId34" Type="http://schemas.openxmlformats.org/officeDocument/2006/relationships/tags" Target="../tags/tag1892.xml"/><Relationship Id="rId7" Type="http://schemas.openxmlformats.org/officeDocument/2006/relationships/tags" Target="../tags/tag1865.xml"/><Relationship Id="rId12" Type="http://schemas.openxmlformats.org/officeDocument/2006/relationships/tags" Target="../tags/tag1870.xml"/><Relationship Id="rId17" Type="http://schemas.openxmlformats.org/officeDocument/2006/relationships/tags" Target="../tags/tag1875.xml"/><Relationship Id="rId25" Type="http://schemas.openxmlformats.org/officeDocument/2006/relationships/tags" Target="../tags/tag1883.xml"/><Relationship Id="rId33" Type="http://schemas.openxmlformats.org/officeDocument/2006/relationships/tags" Target="../tags/tag1891.xml"/><Relationship Id="rId2" Type="http://schemas.openxmlformats.org/officeDocument/2006/relationships/tags" Target="../tags/tag1860.xml"/><Relationship Id="rId16" Type="http://schemas.openxmlformats.org/officeDocument/2006/relationships/tags" Target="../tags/tag1874.xml"/><Relationship Id="rId20" Type="http://schemas.openxmlformats.org/officeDocument/2006/relationships/tags" Target="../tags/tag1878.xml"/><Relationship Id="rId29" Type="http://schemas.openxmlformats.org/officeDocument/2006/relationships/tags" Target="../tags/tag1887.xml"/><Relationship Id="rId1" Type="http://schemas.openxmlformats.org/officeDocument/2006/relationships/tags" Target="../tags/tag1859.xml"/><Relationship Id="rId6" Type="http://schemas.openxmlformats.org/officeDocument/2006/relationships/tags" Target="../tags/tag1864.xml"/><Relationship Id="rId11" Type="http://schemas.openxmlformats.org/officeDocument/2006/relationships/tags" Target="../tags/tag1869.xml"/><Relationship Id="rId24" Type="http://schemas.openxmlformats.org/officeDocument/2006/relationships/tags" Target="../tags/tag1882.xml"/><Relationship Id="rId32" Type="http://schemas.openxmlformats.org/officeDocument/2006/relationships/tags" Target="../tags/tag1890.xml"/><Relationship Id="rId5" Type="http://schemas.openxmlformats.org/officeDocument/2006/relationships/tags" Target="../tags/tag1863.xml"/><Relationship Id="rId15" Type="http://schemas.openxmlformats.org/officeDocument/2006/relationships/tags" Target="../tags/tag1873.xml"/><Relationship Id="rId23" Type="http://schemas.openxmlformats.org/officeDocument/2006/relationships/tags" Target="../tags/tag1881.xml"/><Relationship Id="rId28" Type="http://schemas.openxmlformats.org/officeDocument/2006/relationships/tags" Target="../tags/tag1886.xml"/><Relationship Id="rId10" Type="http://schemas.openxmlformats.org/officeDocument/2006/relationships/tags" Target="../tags/tag1868.xml"/><Relationship Id="rId19" Type="http://schemas.openxmlformats.org/officeDocument/2006/relationships/tags" Target="../tags/tag1877.xml"/><Relationship Id="rId31" Type="http://schemas.openxmlformats.org/officeDocument/2006/relationships/tags" Target="../tags/tag1889.xml"/><Relationship Id="rId4" Type="http://schemas.openxmlformats.org/officeDocument/2006/relationships/tags" Target="../tags/tag1862.xml"/><Relationship Id="rId9" Type="http://schemas.openxmlformats.org/officeDocument/2006/relationships/tags" Target="../tags/tag1867.xml"/><Relationship Id="rId14" Type="http://schemas.openxmlformats.org/officeDocument/2006/relationships/tags" Target="../tags/tag1872.xml"/><Relationship Id="rId22" Type="http://schemas.openxmlformats.org/officeDocument/2006/relationships/tags" Target="../tags/tag1880.xml"/><Relationship Id="rId27" Type="http://schemas.openxmlformats.org/officeDocument/2006/relationships/tags" Target="../tags/tag1885.xml"/><Relationship Id="rId30" Type="http://schemas.openxmlformats.org/officeDocument/2006/relationships/tags" Target="../tags/tag1888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866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1900.xml"/><Relationship Id="rId13" Type="http://schemas.openxmlformats.org/officeDocument/2006/relationships/tags" Target="../tags/tag1905.xml"/><Relationship Id="rId3" Type="http://schemas.openxmlformats.org/officeDocument/2006/relationships/tags" Target="../tags/tag1895.xml"/><Relationship Id="rId7" Type="http://schemas.openxmlformats.org/officeDocument/2006/relationships/tags" Target="../tags/tag1899.xml"/><Relationship Id="rId12" Type="http://schemas.openxmlformats.org/officeDocument/2006/relationships/tags" Target="../tags/tag1904.xml"/><Relationship Id="rId17" Type="http://schemas.openxmlformats.org/officeDocument/2006/relationships/notesSlide" Target="../notesSlides/notesSlide52.xml"/><Relationship Id="rId2" Type="http://schemas.openxmlformats.org/officeDocument/2006/relationships/tags" Target="../tags/tag1894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893.xml"/><Relationship Id="rId6" Type="http://schemas.openxmlformats.org/officeDocument/2006/relationships/tags" Target="../tags/tag1898.xml"/><Relationship Id="rId11" Type="http://schemas.openxmlformats.org/officeDocument/2006/relationships/tags" Target="../tags/tag1903.xml"/><Relationship Id="rId5" Type="http://schemas.openxmlformats.org/officeDocument/2006/relationships/tags" Target="../tags/tag1897.xml"/><Relationship Id="rId15" Type="http://schemas.openxmlformats.org/officeDocument/2006/relationships/tags" Target="../tags/tag1907.xml"/><Relationship Id="rId10" Type="http://schemas.openxmlformats.org/officeDocument/2006/relationships/tags" Target="../tags/tag1902.xml"/><Relationship Id="rId4" Type="http://schemas.openxmlformats.org/officeDocument/2006/relationships/tags" Target="../tags/tag1896.xml"/><Relationship Id="rId9" Type="http://schemas.openxmlformats.org/officeDocument/2006/relationships/tags" Target="../tags/tag1901.xml"/><Relationship Id="rId14" Type="http://schemas.openxmlformats.org/officeDocument/2006/relationships/tags" Target="../tags/tag190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09.xml"/><Relationship Id="rId1" Type="http://schemas.openxmlformats.org/officeDocument/2006/relationships/tags" Target="../tags/tag1908.xml"/><Relationship Id="rId4" Type="http://schemas.openxmlformats.org/officeDocument/2006/relationships/notesSlide" Target="../notesSlides/notesSlide53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1917.xml"/><Relationship Id="rId13" Type="http://schemas.openxmlformats.org/officeDocument/2006/relationships/tags" Target="../tags/tag1922.xml"/><Relationship Id="rId18" Type="http://schemas.openxmlformats.org/officeDocument/2006/relationships/tags" Target="../tags/tag1927.xml"/><Relationship Id="rId26" Type="http://schemas.openxmlformats.org/officeDocument/2006/relationships/notesSlide" Target="../notesSlides/notesSlide54.xml"/><Relationship Id="rId3" Type="http://schemas.openxmlformats.org/officeDocument/2006/relationships/tags" Target="../tags/tag1912.xml"/><Relationship Id="rId21" Type="http://schemas.openxmlformats.org/officeDocument/2006/relationships/tags" Target="../tags/tag1930.xml"/><Relationship Id="rId7" Type="http://schemas.openxmlformats.org/officeDocument/2006/relationships/tags" Target="../tags/tag1916.xml"/><Relationship Id="rId12" Type="http://schemas.openxmlformats.org/officeDocument/2006/relationships/tags" Target="../tags/tag1921.xml"/><Relationship Id="rId17" Type="http://schemas.openxmlformats.org/officeDocument/2006/relationships/tags" Target="../tags/tag1926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1911.xml"/><Relationship Id="rId16" Type="http://schemas.openxmlformats.org/officeDocument/2006/relationships/tags" Target="../tags/tag1925.xml"/><Relationship Id="rId20" Type="http://schemas.openxmlformats.org/officeDocument/2006/relationships/tags" Target="../tags/tag1929.xml"/><Relationship Id="rId1" Type="http://schemas.openxmlformats.org/officeDocument/2006/relationships/tags" Target="../tags/tag1910.xml"/><Relationship Id="rId6" Type="http://schemas.openxmlformats.org/officeDocument/2006/relationships/tags" Target="../tags/tag1915.xml"/><Relationship Id="rId11" Type="http://schemas.openxmlformats.org/officeDocument/2006/relationships/tags" Target="../tags/tag1920.xml"/><Relationship Id="rId24" Type="http://schemas.openxmlformats.org/officeDocument/2006/relationships/tags" Target="../tags/tag1933.xml"/><Relationship Id="rId5" Type="http://schemas.openxmlformats.org/officeDocument/2006/relationships/tags" Target="../tags/tag1914.xml"/><Relationship Id="rId15" Type="http://schemas.openxmlformats.org/officeDocument/2006/relationships/tags" Target="../tags/tag1924.xml"/><Relationship Id="rId23" Type="http://schemas.openxmlformats.org/officeDocument/2006/relationships/tags" Target="../tags/tag1932.xml"/><Relationship Id="rId10" Type="http://schemas.openxmlformats.org/officeDocument/2006/relationships/tags" Target="../tags/tag1919.xml"/><Relationship Id="rId19" Type="http://schemas.openxmlformats.org/officeDocument/2006/relationships/tags" Target="../tags/tag1928.xml"/><Relationship Id="rId4" Type="http://schemas.openxmlformats.org/officeDocument/2006/relationships/tags" Target="../tags/tag1913.xml"/><Relationship Id="rId9" Type="http://schemas.openxmlformats.org/officeDocument/2006/relationships/tags" Target="../tags/tag1918.xml"/><Relationship Id="rId14" Type="http://schemas.openxmlformats.org/officeDocument/2006/relationships/tags" Target="../tags/tag1923.xml"/><Relationship Id="rId22" Type="http://schemas.openxmlformats.org/officeDocument/2006/relationships/tags" Target="../tags/tag1931.xml"/></Relationships>
</file>

<file path=ppt/slides/_rels/slide73.xml.rels><?xml version="1.0" encoding="UTF-8" standalone="yes"?>
<Relationships xmlns="http://schemas.openxmlformats.org/package/2006/relationships"><Relationship Id="rId26" Type="http://schemas.openxmlformats.org/officeDocument/2006/relationships/tags" Target="../tags/tag1959.xml"/><Relationship Id="rId21" Type="http://schemas.openxmlformats.org/officeDocument/2006/relationships/tags" Target="../tags/tag1954.xml"/><Relationship Id="rId42" Type="http://schemas.openxmlformats.org/officeDocument/2006/relationships/tags" Target="../tags/tag1975.xml"/><Relationship Id="rId47" Type="http://schemas.openxmlformats.org/officeDocument/2006/relationships/tags" Target="../tags/tag1980.xml"/><Relationship Id="rId63" Type="http://schemas.openxmlformats.org/officeDocument/2006/relationships/tags" Target="../tags/tag1996.xml"/><Relationship Id="rId68" Type="http://schemas.openxmlformats.org/officeDocument/2006/relationships/tags" Target="../tags/tag2001.xml"/><Relationship Id="rId84" Type="http://schemas.openxmlformats.org/officeDocument/2006/relationships/tags" Target="../tags/tag2017.xml"/><Relationship Id="rId89" Type="http://schemas.openxmlformats.org/officeDocument/2006/relationships/tags" Target="../tags/tag2022.xml"/><Relationship Id="rId16" Type="http://schemas.openxmlformats.org/officeDocument/2006/relationships/tags" Target="../tags/tag1949.xml"/><Relationship Id="rId11" Type="http://schemas.openxmlformats.org/officeDocument/2006/relationships/tags" Target="../tags/tag1944.xml"/><Relationship Id="rId32" Type="http://schemas.openxmlformats.org/officeDocument/2006/relationships/tags" Target="../tags/tag1965.xml"/><Relationship Id="rId37" Type="http://schemas.openxmlformats.org/officeDocument/2006/relationships/tags" Target="../tags/tag1970.xml"/><Relationship Id="rId53" Type="http://schemas.openxmlformats.org/officeDocument/2006/relationships/tags" Target="../tags/tag1986.xml"/><Relationship Id="rId58" Type="http://schemas.openxmlformats.org/officeDocument/2006/relationships/tags" Target="../tags/tag1991.xml"/><Relationship Id="rId74" Type="http://schemas.openxmlformats.org/officeDocument/2006/relationships/tags" Target="../tags/tag2007.xml"/><Relationship Id="rId79" Type="http://schemas.openxmlformats.org/officeDocument/2006/relationships/tags" Target="../tags/tag2012.xml"/><Relationship Id="rId5" Type="http://schemas.openxmlformats.org/officeDocument/2006/relationships/tags" Target="../tags/tag1938.xml"/><Relationship Id="rId90" Type="http://schemas.openxmlformats.org/officeDocument/2006/relationships/tags" Target="../tags/tag2023.xml"/><Relationship Id="rId22" Type="http://schemas.openxmlformats.org/officeDocument/2006/relationships/tags" Target="../tags/tag1955.xml"/><Relationship Id="rId27" Type="http://schemas.openxmlformats.org/officeDocument/2006/relationships/tags" Target="../tags/tag1960.xml"/><Relationship Id="rId43" Type="http://schemas.openxmlformats.org/officeDocument/2006/relationships/tags" Target="../tags/tag1976.xml"/><Relationship Id="rId48" Type="http://schemas.openxmlformats.org/officeDocument/2006/relationships/tags" Target="../tags/tag1981.xml"/><Relationship Id="rId64" Type="http://schemas.openxmlformats.org/officeDocument/2006/relationships/tags" Target="../tags/tag1997.xml"/><Relationship Id="rId69" Type="http://schemas.openxmlformats.org/officeDocument/2006/relationships/tags" Target="../tags/tag2002.xml"/><Relationship Id="rId8" Type="http://schemas.openxmlformats.org/officeDocument/2006/relationships/tags" Target="../tags/tag1941.xml"/><Relationship Id="rId51" Type="http://schemas.openxmlformats.org/officeDocument/2006/relationships/tags" Target="../tags/tag1984.xml"/><Relationship Id="rId72" Type="http://schemas.openxmlformats.org/officeDocument/2006/relationships/tags" Target="../tags/tag2005.xml"/><Relationship Id="rId80" Type="http://schemas.openxmlformats.org/officeDocument/2006/relationships/tags" Target="../tags/tag2013.xml"/><Relationship Id="rId85" Type="http://schemas.openxmlformats.org/officeDocument/2006/relationships/tags" Target="../tags/tag2018.xml"/><Relationship Id="rId93" Type="http://schemas.openxmlformats.org/officeDocument/2006/relationships/slideLayout" Target="../slideLayouts/slideLayout7.xml"/><Relationship Id="rId3" Type="http://schemas.openxmlformats.org/officeDocument/2006/relationships/tags" Target="../tags/tag1936.xml"/><Relationship Id="rId12" Type="http://schemas.openxmlformats.org/officeDocument/2006/relationships/tags" Target="../tags/tag1945.xml"/><Relationship Id="rId17" Type="http://schemas.openxmlformats.org/officeDocument/2006/relationships/tags" Target="../tags/tag1950.xml"/><Relationship Id="rId25" Type="http://schemas.openxmlformats.org/officeDocument/2006/relationships/tags" Target="../tags/tag1958.xml"/><Relationship Id="rId33" Type="http://schemas.openxmlformats.org/officeDocument/2006/relationships/tags" Target="../tags/tag1966.xml"/><Relationship Id="rId38" Type="http://schemas.openxmlformats.org/officeDocument/2006/relationships/tags" Target="../tags/tag1971.xml"/><Relationship Id="rId46" Type="http://schemas.openxmlformats.org/officeDocument/2006/relationships/tags" Target="../tags/tag1979.xml"/><Relationship Id="rId59" Type="http://schemas.openxmlformats.org/officeDocument/2006/relationships/tags" Target="../tags/tag1992.xml"/><Relationship Id="rId67" Type="http://schemas.openxmlformats.org/officeDocument/2006/relationships/tags" Target="../tags/tag2000.xml"/><Relationship Id="rId20" Type="http://schemas.openxmlformats.org/officeDocument/2006/relationships/tags" Target="../tags/tag1953.xml"/><Relationship Id="rId41" Type="http://schemas.openxmlformats.org/officeDocument/2006/relationships/tags" Target="../tags/tag1974.xml"/><Relationship Id="rId54" Type="http://schemas.openxmlformats.org/officeDocument/2006/relationships/tags" Target="../tags/tag1987.xml"/><Relationship Id="rId62" Type="http://schemas.openxmlformats.org/officeDocument/2006/relationships/tags" Target="../tags/tag1995.xml"/><Relationship Id="rId70" Type="http://schemas.openxmlformats.org/officeDocument/2006/relationships/tags" Target="../tags/tag2003.xml"/><Relationship Id="rId75" Type="http://schemas.openxmlformats.org/officeDocument/2006/relationships/tags" Target="../tags/tag2008.xml"/><Relationship Id="rId83" Type="http://schemas.openxmlformats.org/officeDocument/2006/relationships/tags" Target="../tags/tag2016.xml"/><Relationship Id="rId88" Type="http://schemas.openxmlformats.org/officeDocument/2006/relationships/tags" Target="../tags/tag2021.xml"/><Relationship Id="rId91" Type="http://schemas.openxmlformats.org/officeDocument/2006/relationships/tags" Target="../tags/tag2024.xml"/><Relationship Id="rId1" Type="http://schemas.openxmlformats.org/officeDocument/2006/relationships/tags" Target="../tags/tag1934.xml"/><Relationship Id="rId6" Type="http://schemas.openxmlformats.org/officeDocument/2006/relationships/tags" Target="../tags/tag1939.xml"/><Relationship Id="rId15" Type="http://schemas.openxmlformats.org/officeDocument/2006/relationships/tags" Target="../tags/tag1948.xml"/><Relationship Id="rId23" Type="http://schemas.openxmlformats.org/officeDocument/2006/relationships/tags" Target="../tags/tag1956.xml"/><Relationship Id="rId28" Type="http://schemas.openxmlformats.org/officeDocument/2006/relationships/tags" Target="../tags/tag1961.xml"/><Relationship Id="rId36" Type="http://schemas.openxmlformats.org/officeDocument/2006/relationships/tags" Target="../tags/tag1969.xml"/><Relationship Id="rId49" Type="http://schemas.openxmlformats.org/officeDocument/2006/relationships/tags" Target="../tags/tag1982.xml"/><Relationship Id="rId57" Type="http://schemas.openxmlformats.org/officeDocument/2006/relationships/tags" Target="../tags/tag1990.xml"/><Relationship Id="rId10" Type="http://schemas.openxmlformats.org/officeDocument/2006/relationships/tags" Target="../tags/tag1943.xml"/><Relationship Id="rId31" Type="http://schemas.openxmlformats.org/officeDocument/2006/relationships/tags" Target="../tags/tag1964.xml"/><Relationship Id="rId44" Type="http://schemas.openxmlformats.org/officeDocument/2006/relationships/tags" Target="../tags/tag1977.xml"/><Relationship Id="rId52" Type="http://schemas.openxmlformats.org/officeDocument/2006/relationships/tags" Target="../tags/tag1985.xml"/><Relationship Id="rId60" Type="http://schemas.openxmlformats.org/officeDocument/2006/relationships/tags" Target="../tags/tag1993.xml"/><Relationship Id="rId65" Type="http://schemas.openxmlformats.org/officeDocument/2006/relationships/tags" Target="../tags/tag1998.xml"/><Relationship Id="rId73" Type="http://schemas.openxmlformats.org/officeDocument/2006/relationships/tags" Target="../tags/tag2006.xml"/><Relationship Id="rId78" Type="http://schemas.openxmlformats.org/officeDocument/2006/relationships/tags" Target="../tags/tag2011.xml"/><Relationship Id="rId81" Type="http://schemas.openxmlformats.org/officeDocument/2006/relationships/tags" Target="../tags/tag2014.xml"/><Relationship Id="rId86" Type="http://schemas.openxmlformats.org/officeDocument/2006/relationships/tags" Target="../tags/tag2019.xml"/><Relationship Id="rId94" Type="http://schemas.openxmlformats.org/officeDocument/2006/relationships/notesSlide" Target="../notesSlides/notesSlide55.xml"/><Relationship Id="rId4" Type="http://schemas.openxmlformats.org/officeDocument/2006/relationships/tags" Target="../tags/tag1937.xml"/><Relationship Id="rId9" Type="http://schemas.openxmlformats.org/officeDocument/2006/relationships/tags" Target="../tags/tag1942.xml"/><Relationship Id="rId13" Type="http://schemas.openxmlformats.org/officeDocument/2006/relationships/tags" Target="../tags/tag1946.xml"/><Relationship Id="rId18" Type="http://schemas.openxmlformats.org/officeDocument/2006/relationships/tags" Target="../tags/tag1951.xml"/><Relationship Id="rId39" Type="http://schemas.openxmlformats.org/officeDocument/2006/relationships/tags" Target="../tags/tag1972.xml"/><Relationship Id="rId34" Type="http://schemas.openxmlformats.org/officeDocument/2006/relationships/tags" Target="../tags/tag1967.xml"/><Relationship Id="rId50" Type="http://schemas.openxmlformats.org/officeDocument/2006/relationships/tags" Target="../tags/tag1983.xml"/><Relationship Id="rId55" Type="http://schemas.openxmlformats.org/officeDocument/2006/relationships/tags" Target="../tags/tag1988.xml"/><Relationship Id="rId76" Type="http://schemas.openxmlformats.org/officeDocument/2006/relationships/tags" Target="../tags/tag2009.xml"/><Relationship Id="rId7" Type="http://schemas.openxmlformats.org/officeDocument/2006/relationships/tags" Target="../tags/tag1940.xml"/><Relationship Id="rId71" Type="http://schemas.openxmlformats.org/officeDocument/2006/relationships/tags" Target="../tags/tag2004.xml"/><Relationship Id="rId92" Type="http://schemas.openxmlformats.org/officeDocument/2006/relationships/tags" Target="../tags/tag2025.xml"/><Relationship Id="rId2" Type="http://schemas.openxmlformats.org/officeDocument/2006/relationships/tags" Target="../tags/tag1935.xml"/><Relationship Id="rId29" Type="http://schemas.openxmlformats.org/officeDocument/2006/relationships/tags" Target="../tags/tag1962.xml"/><Relationship Id="rId24" Type="http://schemas.openxmlformats.org/officeDocument/2006/relationships/tags" Target="../tags/tag1957.xml"/><Relationship Id="rId40" Type="http://schemas.openxmlformats.org/officeDocument/2006/relationships/tags" Target="../tags/tag1973.xml"/><Relationship Id="rId45" Type="http://schemas.openxmlformats.org/officeDocument/2006/relationships/tags" Target="../tags/tag1978.xml"/><Relationship Id="rId66" Type="http://schemas.openxmlformats.org/officeDocument/2006/relationships/tags" Target="../tags/tag1999.xml"/><Relationship Id="rId87" Type="http://schemas.openxmlformats.org/officeDocument/2006/relationships/tags" Target="../tags/tag2020.xml"/><Relationship Id="rId61" Type="http://schemas.openxmlformats.org/officeDocument/2006/relationships/tags" Target="../tags/tag1994.xml"/><Relationship Id="rId82" Type="http://schemas.openxmlformats.org/officeDocument/2006/relationships/tags" Target="../tags/tag2015.xml"/><Relationship Id="rId19" Type="http://schemas.openxmlformats.org/officeDocument/2006/relationships/tags" Target="../tags/tag1952.xml"/><Relationship Id="rId14" Type="http://schemas.openxmlformats.org/officeDocument/2006/relationships/tags" Target="../tags/tag1947.xml"/><Relationship Id="rId30" Type="http://schemas.openxmlformats.org/officeDocument/2006/relationships/tags" Target="../tags/tag1963.xml"/><Relationship Id="rId35" Type="http://schemas.openxmlformats.org/officeDocument/2006/relationships/tags" Target="../tags/tag1968.xml"/><Relationship Id="rId56" Type="http://schemas.openxmlformats.org/officeDocument/2006/relationships/tags" Target="../tags/tag1989.xml"/><Relationship Id="rId77" Type="http://schemas.openxmlformats.org/officeDocument/2006/relationships/tags" Target="../tags/tag2010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2033.xml"/><Relationship Id="rId13" Type="http://schemas.openxmlformats.org/officeDocument/2006/relationships/tags" Target="../tags/tag2038.xml"/><Relationship Id="rId18" Type="http://schemas.openxmlformats.org/officeDocument/2006/relationships/tags" Target="../tags/tag2043.xml"/><Relationship Id="rId26" Type="http://schemas.openxmlformats.org/officeDocument/2006/relationships/tags" Target="../tags/tag2051.xml"/><Relationship Id="rId3" Type="http://schemas.openxmlformats.org/officeDocument/2006/relationships/tags" Target="../tags/tag2028.xml"/><Relationship Id="rId21" Type="http://schemas.openxmlformats.org/officeDocument/2006/relationships/tags" Target="../tags/tag2046.xml"/><Relationship Id="rId7" Type="http://schemas.openxmlformats.org/officeDocument/2006/relationships/tags" Target="../tags/tag2032.xml"/><Relationship Id="rId12" Type="http://schemas.openxmlformats.org/officeDocument/2006/relationships/tags" Target="../tags/tag2037.xml"/><Relationship Id="rId17" Type="http://schemas.openxmlformats.org/officeDocument/2006/relationships/tags" Target="../tags/tag2042.xml"/><Relationship Id="rId25" Type="http://schemas.openxmlformats.org/officeDocument/2006/relationships/tags" Target="../tags/tag2050.xml"/><Relationship Id="rId2" Type="http://schemas.openxmlformats.org/officeDocument/2006/relationships/tags" Target="../tags/tag2027.xml"/><Relationship Id="rId16" Type="http://schemas.openxmlformats.org/officeDocument/2006/relationships/tags" Target="../tags/tag2041.xml"/><Relationship Id="rId20" Type="http://schemas.openxmlformats.org/officeDocument/2006/relationships/tags" Target="../tags/tag2045.xml"/><Relationship Id="rId29" Type="http://schemas.openxmlformats.org/officeDocument/2006/relationships/notesSlide" Target="../notesSlides/notesSlide56.xml"/><Relationship Id="rId1" Type="http://schemas.openxmlformats.org/officeDocument/2006/relationships/tags" Target="../tags/tag2026.xml"/><Relationship Id="rId6" Type="http://schemas.openxmlformats.org/officeDocument/2006/relationships/tags" Target="../tags/tag2031.xml"/><Relationship Id="rId11" Type="http://schemas.openxmlformats.org/officeDocument/2006/relationships/tags" Target="../tags/tag2036.xml"/><Relationship Id="rId24" Type="http://schemas.openxmlformats.org/officeDocument/2006/relationships/tags" Target="../tags/tag2049.xml"/><Relationship Id="rId5" Type="http://schemas.openxmlformats.org/officeDocument/2006/relationships/tags" Target="../tags/tag2030.xml"/><Relationship Id="rId15" Type="http://schemas.openxmlformats.org/officeDocument/2006/relationships/tags" Target="../tags/tag2040.xml"/><Relationship Id="rId23" Type="http://schemas.openxmlformats.org/officeDocument/2006/relationships/tags" Target="../tags/tag2048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2035.xml"/><Relationship Id="rId19" Type="http://schemas.openxmlformats.org/officeDocument/2006/relationships/tags" Target="../tags/tag2044.xml"/><Relationship Id="rId4" Type="http://schemas.openxmlformats.org/officeDocument/2006/relationships/tags" Target="../tags/tag2029.xml"/><Relationship Id="rId9" Type="http://schemas.openxmlformats.org/officeDocument/2006/relationships/tags" Target="../tags/tag2034.xml"/><Relationship Id="rId14" Type="http://schemas.openxmlformats.org/officeDocument/2006/relationships/tags" Target="../tags/tag2039.xml"/><Relationship Id="rId22" Type="http://schemas.openxmlformats.org/officeDocument/2006/relationships/tags" Target="../tags/tag2047.xml"/><Relationship Id="rId27" Type="http://schemas.openxmlformats.org/officeDocument/2006/relationships/tags" Target="../tags/tag2052.xml"/></Relationships>
</file>

<file path=ppt/slides/_rels/slide75.xml.rels><?xml version="1.0" encoding="UTF-8" standalone="yes"?>
<Relationships xmlns="http://schemas.openxmlformats.org/package/2006/relationships"><Relationship Id="rId13" Type="http://schemas.openxmlformats.org/officeDocument/2006/relationships/tags" Target="../tags/tag2065.xml"/><Relationship Id="rId18" Type="http://schemas.openxmlformats.org/officeDocument/2006/relationships/tags" Target="../tags/tag2070.xml"/><Relationship Id="rId26" Type="http://schemas.openxmlformats.org/officeDocument/2006/relationships/tags" Target="../tags/tag2078.xml"/><Relationship Id="rId3" Type="http://schemas.openxmlformats.org/officeDocument/2006/relationships/tags" Target="../tags/tag2055.xml"/><Relationship Id="rId21" Type="http://schemas.openxmlformats.org/officeDocument/2006/relationships/tags" Target="../tags/tag2073.xml"/><Relationship Id="rId34" Type="http://schemas.openxmlformats.org/officeDocument/2006/relationships/slideLayout" Target="../slideLayouts/slideLayout7.xml"/><Relationship Id="rId7" Type="http://schemas.openxmlformats.org/officeDocument/2006/relationships/tags" Target="../tags/tag2059.xml"/><Relationship Id="rId12" Type="http://schemas.openxmlformats.org/officeDocument/2006/relationships/tags" Target="../tags/tag2064.xml"/><Relationship Id="rId17" Type="http://schemas.openxmlformats.org/officeDocument/2006/relationships/tags" Target="../tags/tag2069.xml"/><Relationship Id="rId25" Type="http://schemas.openxmlformats.org/officeDocument/2006/relationships/tags" Target="../tags/tag2077.xml"/><Relationship Id="rId33" Type="http://schemas.openxmlformats.org/officeDocument/2006/relationships/tags" Target="../tags/tag2085.xml"/><Relationship Id="rId2" Type="http://schemas.openxmlformats.org/officeDocument/2006/relationships/tags" Target="../tags/tag2054.xml"/><Relationship Id="rId16" Type="http://schemas.openxmlformats.org/officeDocument/2006/relationships/tags" Target="../tags/tag2068.xml"/><Relationship Id="rId20" Type="http://schemas.openxmlformats.org/officeDocument/2006/relationships/tags" Target="../tags/tag2072.xml"/><Relationship Id="rId29" Type="http://schemas.openxmlformats.org/officeDocument/2006/relationships/tags" Target="../tags/tag2081.xml"/><Relationship Id="rId1" Type="http://schemas.openxmlformats.org/officeDocument/2006/relationships/tags" Target="../tags/tag2053.xml"/><Relationship Id="rId6" Type="http://schemas.openxmlformats.org/officeDocument/2006/relationships/tags" Target="../tags/tag2058.xml"/><Relationship Id="rId11" Type="http://schemas.openxmlformats.org/officeDocument/2006/relationships/tags" Target="../tags/tag2063.xml"/><Relationship Id="rId24" Type="http://schemas.openxmlformats.org/officeDocument/2006/relationships/tags" Target="../tags/tag2076.xml"/><Relationship Id="rId32" Type="http://schemas.openxmlformats.org/officeDocument/2006/relationships/tags" Target="../tags/tag2084.xml"/><Relationship Id="rId5" Type="http://schemas.openxmlformats.org/officeDocument/2006/relationships/tags" Target="../tags/tag2057.xml"/><Relationship Id="rId15" Type="http://schemas.openxmlformats.org/officeDocument/2006/relationships/tags" Target="../tags/tag2067.xml"/><Relationship Id="rId23" Type="http://schemas.openxmlformats.org/officeDocument/2006/relationships/tags" Target="../tags/tag2075.xml"/><Relationship Id="rId28" Type="http://schemas.openxmlformats.org/officeDocument/2006/relationships/tags" Target="../tags/tag2080.xml"/><Relationship Id="rId10" Type="http://schemas.openxmlformats.org/officeDocument/2006/relationships/tags" Target="../tags/tag2062.xml"/><Relationship Id="rId19" Type="http://schemas.openxmlformats.org/officeDocument/2006/relationships/tags" Target="../tags/tag2071.xml"/><Relationship Id="rId31" Type="http://schemas.openxmlformats.org/officeDocument/2006/relationships/tags" Target="../tags/tag2083.xml"/><Relationship Id="rId4" Type="http://schemas.openxmlformats.org/officeDocument/2006/relationships/tags" Target="../tags/tag2056.xml"/><Relationship Id="rId9" Type="http://schemas.openxmlformats.org/officeDocument/2006/relationships/tags" Target="../tags/tag2061.xml"/><Relationship Id="rId14" Type="http://schemas.openxmlformats.org/officeDocument/2006/relationships/tags" Target="../tags/tag2066.xml"/><Relationship Id="rId22" Type="http://schemas.openxmlformats.org/officeDocument/2006/relationships/tags" Target="../tags/tag2074.xml"/><Relationship Id="rId27" Type="http://schemas.openxmlformats.org/officeDocument/2006/relationships/tags" Target="../tags/tag2079.xml"/><Relationship Id="rId30" Type="http://schemas.openxmlformats.org/officeDocument/2006/relationships/tags" Target="../tags/tag2082.xml"/><Relationship Id="rId35" Type="http://schemas.openxmlformats.org/officeDocument/2006/relationships/notesSlide" Target="../notesSlides/notesSlide57.xml"/><Relationship Id="rId8" Type="http://schemas.openxmlformats.org/officeDocument/2006/relationships/tags" Target="../tags/tag2060.xml"/></Relationships>
</file>

<file path=ppt/slides/_rels/slide76.xml.rels><?xml version="1.0" encoding="UTF-8" standalone="yes"?>
<Relationships xmlns="http://schemas.openxmlformats.org/package/2006/relationships"><Relationship Id="rId13" Type="http://schemas.openxmlformats.org/officeDocument/2006/relationships/tags" Target="../tags/tag2098.xml"/><Relationship Id="rId18" Type="http://schemas.openxmlformats.org/officeDocument/2006/relationships/tags" Target="../tags/tag2103.xml"/><Relationship Id="rId26" Type="http://schemas.openxmlformats.org/officeDocument/2006/relationships/tags" Target="../tags/tag2111.xml"/><Relationship Id="rId39" Type="http://schemas.openxmlformats.org/officeDocument/2006/relationships/tags" Target="../tags/tag2124.xml"/><Relationship Id="rId21" Type="http://schemas.openxmlformats.org/officeDocument/2006/relationships/tags" Target="../tags/tag2106.xml"/><Relationship Id="rId34" Type="http://schemas.openxmlformats.org/officeDocument/2006/relationships/tags" Target="../tags/tag2119.xml"/><Relationship Id="rId42" Type="http://schemas.openxmlformats.org/officeDocument/2006/relationships/tags" Target="../tags/tag2127.xml"/><Relationship Id="rId47" Type="http://schemas.openxmlformats.org/officeDocument/2006/relationships/tags" Target="../tags/tag2132.xml"/><Relationship Id="rId50" Type="http://schemas.openxmlformats.org/officeDocument/2006/relationships/tags" Target="../tags/tag2135.xml"/><Relationship Id="rId55" Type="http://schemas.openxmlformats.org/officeDocument/2006/relationships/notesSlide" Target="../notesSlides/notesSlide58.xml"/><Relationship Id="rId7" Type="http://schemas.openxmlformats.org/officeDocument/2006/relationships/tags" Target="../tags/tag2092.xml"/><Relationship Id="rId2" Type="http://schemas.openxmlformats.org/officeDocument/2006/relationships/tags" Target="../tags/tag2087.xml"/><Relationship Id="rId16" Type="http://schemas.openxmlformats.org/officeDocument/2006/relationships/tags" Target="../tags/tag2101.xml"/><Relationship Id="rId29" Type="http://schemas.openxmlformats.org/officeDocument/2006/relationships/tags" Target="../tags/tag2114.xml"/><Relationship Id="rId11" Type="http://schemas.openxmlformats.org/officeDocument/2006/relationships/tags" Target="../tags/tag2096.xml"/><Relationship Id="rId24" Type="http://schemas.openxmlformats.org/officeDocument/2006/relationships/tags" Target="../tags/tag2109.xml"/><Relationship Id="rId32" Type="http://schemas.openxmlformats.org/officeDocument/2006/relationships/tags" Target="../tags/tag2117.xml"/><Relationship Id="rId37" Type="http://schemas.openxmlformats.org/officeDocument/2006/relationships/tags" Target="../tags/tag2122.xml"/><Relationship Id="rId40" Type="http://schemas.openxmlformats.org/officeDocument/2006/relationships/tags" Target="../tags/tag2125.xml"/><Relationship Id="rId45" Type="http://schemas.openxmlformats.org/officeDocument/2006/relationships/tags" Target="../tags/tag2130.xml"/><Relationship Id="rId53" Type="http://schemas.openxmlformats.org/officeDocument/2006/relationships/tags" Target="../tags/tag2138.xml"/><Relationship Id="rId5" Type="http://schemas.openxmlformats.org/officeDocument/2006/relationships/tags" Target="../tags/tag2090.xml"/><Relationship Id="rId10" Type="http://schemas.openxmlformats.org/officeDocument/2006/relationships/tags" Target="../tags/tag2095.xml"/><Relationship Id="rId19" Type="http://schemas.openxmlformats.org/officeDocument/2006/relationships/tags" Target="../tags/tag2104.xml"/><Relationship Id="rId31" Type="http://schemas.openxmlformats.org/officeDocument/2006/relationships/tags" Target="../tags/tag2116.xml"/><Relationship Id="rId44" Type="http://schemas.openxmlformats.org/officeDocument/2006/relationships/tags" Target="../tags/tag2129.xml"/><Relationship Id="rId52" Type="http://schemas.openxmlformats.org/officeDocument/2006/relationships/tags" Target="../tags/tag2137.xml"/><Relationship Id="rId4" Type="http://schemas.openxmlformats.org/officeDocument/2006/relationships/tags" Target="../tags/tag2089.xml"/><Relationship Id="rId9" Type="http://schemas.openxmlformats.org/officeDocument/2006/relationships/tags" Target="../tags/tag2094.xml"/><Relationship Id="rId14" Type="http://schemas.openxmlformats.org/officeDocument/2006/relationships/tags" Target="../tags/tag2099.xml"/><Relationship Id="rId22" Type="http://schemas.openxmlformats.org/officeDocument/2006/relationships/tags" Target="../tags/tag2107.xml"/><Relationship Id="rId27" Type="http://schemas.openxmlformats.org/officeDocument/2006/relationships/tags" Target="../tags/tag2112.xml"/><Relationship Id="rId30" Type="http://schemas.openxmlformats.org/officeDocument/2006/relationships/tags" Target="../tags/tag2115.xml"/><Relationship Id="rId35" Type="http://schemas.openxmlformats.org/officeDocument/2006/relationships/tags" Target="../tags/tag2120.xml"/><Relationship Id="rId43" Type="http://schemas.openxmlformats.org/officeDocument/2006/relationships/tags" Target="../tags/tag2128.xml"/><Relationship Id="rId48" Type="http://schemas.openxmlformats.org/officeDocument/2006/relationships/tags" Target="../tags/tag2133.xml"/><Relationship Id="rId56" Type="http://schemas.openxmlformats.org/officeDocument/2006/relationships/slide" Target="slide79.xml"/><Relationship Id="rId8" Type="http://schemas.openxmlformats.org/officeDocument/2006/relationships/tags" Target="../tags/tag2093.xml"/><Relationship Id="rId51" Type="http://schemas.openxmlformats.org/officeDocument/2006/relationships/tags" Target="../tags/tag2136.xml"/><Relationship Id="rId3" Type="http://schemas.openxmlformats.org/officeDocument/2006/relationships/tags" Target="../tags/tag2088.xml"/><Relationship Id="rId12" Type="http://schemas.openxmlformats.org/officeDocument/2006/relationships/tags" Target="../tags/tag2097.xml"/><Relationship Id="rId17" Type="http://schemas.openxmlformats.org/officeDocument/2006/relationships/tags" Target="../tags/tag2102.xml"/><Relationship Id="rId25" Type="http://schemas.openxmlformats.org/officeDocument/2006/relationships/tags" Target="../tags/tag2110.xml"/><Relationship Id="rId33" Type="http://schemas.openxmlformats.org/officeDocument/2006/relationships/tags" Target="../tags/tag2118.xml"/><Relationship Id="rId38" Type="http://schemas.openxmlformats.org/officeDocument/2006/relationships/tags" Target="../tags/tag2123.xml"/><Relationship Id="rId46" Type="http://schemas.openxmlformats.org/officeDocument/2006/relationships/tags" Target="../tags/tag2131.xml"/><Relationship Id="rId20" Type="http://schemas.openxmlformats.org/officeDocument/2006/relationships/tags" Target="../tags/tag2105.xml"/><Relationship Id="rId41" Type="http://schemas.openxmlformats.org/officeDocument/2006/relationships/tags" Target="../tags/tag2126.xml"/><Relationship Id="rId54" Type="http://schemas.openxmlformats.org/officeDocument/2006/relationships/slideLayout" Target="../slideLayouts/slideLayout7.xml"/><Relationship Id="rId1" Type="http://schemas.openxmlformats.org/officeDocument/2006/relationships/tags" Target="../tags/tag2086.xml"/><Relationship Id="rId6" Type="http://schemas.openxmlformats.org/officeDocument/2006/relationships/tags" Target="../tags/tag2091.xml"/><Relationship Id="rId15" Type="http://schemas.openxmlformats.org/officeDocument/2006/relationships/tags" Target="../tags/tag2100.xml"/><Relationship Id="rId23" Type="http://schemas.openxmlformats.org/officeDocument/2006/relationships/tags" Target="../tags/tag2108.xml"/><Relationship Id="rId28" Type="http://schemas.openxmlformats.org/officeDocument/2006/relationships/tags" Target="../tags/tag2113.xml"/><Relationship Id="rId36" Type="http://schemas.openxmlformats.org/officeDocument/2006/relationships/tags" Target="../tags/tag2121.xml"/><Relationship Id="rId49" Type="http://schemas.openxmlformats.org/officeDocument/2006/relationships/tags" Target="../tags/tag2134.xml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tags" Target="../tags/tag2151.xml"/><Relationship Id="rId18" Type="http://schemas.openxmlformats.org/officeDocument/2006/relationships/tags" Target="../tags/tag2156.xml"/><Relationship Id="rId26" Type="http://schemas.openxmlformats.org/officeDocument/2006/relationships/tags" Target="../tags/tag2164.xml"/><Relationship Id="rId39" Type="http://schemas.openxmlformats.org/officeDocument/2006/relationships/tags" Target="../tags/tag2177.xml"/><Relationship Id="rId21" Type="http://schemas.openxmlformats.org/officeDocument/2006/relationships/tags" Target="../tags/tag2159.xml"/><Relationship Id="rId34" Type="http://schemas.openxmlformats.org/officeDocument/2006/relationships/tags" Target="../tags/tag2172.xml"/><Relationship Id="rId42" Type="http://schemas.openxmlformats.org/officeDocument/2006/relationships/tags" Target="../tags/tag2180.xml"/><Relationship Id="rId47" Type="http://schemas.openxmlformats.org/officeDocument/2006/relationships/tags" Target="../tags/tag2185.xml"/><Relationship Id="rId50" Type="http://schemas.openxmlformats.org/officeDocument/2006/relationships/tags" Target="../tags/tag2188.xml"/><Relationship Id="rId55" Type="http://schemas.openxmlformats.org/officeDocument/2006/relationships/tags" Target="../tags/tag2193.xml"/><Relationship Id="rId7" Type="http://schemas.openxmlformats.org/officeDocument/2006/relationships/tags" Target="../tags/tag2145.xml"/><Relationship Id="rId2" Type="http://schemas.openxmlformats.org/officeDocument/2006/relationships/tags" Target="../tags/tag2140.xml"/><Relationship Id="rId16" Type="http://schemas.openxmlformats.org/officeDocument/2006/relationships/tags" Target="../tags/tag2154.xml"/><Relationship Id="rId29" Type="http://schemas.openxmlformats.org/officeDocument/2006/relationships/tags" Target="../tags/tag2167.xml"/><Relationship Id="rId11" Type="http://schemas.openxmlformats.org/officeDocument/2006/relationships/tags" Target="../tags/tag2149.xml"/><Relationship Id="rId24" Type="http://schemas.openxmlformats.org/officeDocument/2006/relationships/tags" Target="../tags/tag2162.xml"/><Relationship Id="rId32" Type="http://schemas.openxmlformats.org/officeDocument/2006/relationships/tags" Target="../tags/tag2170.xml"/><Relationship Id="rId37" Type="http://schemas.openxmlformats.org/officeDocument/2006/relationships/tags" Target="../tags/tag2175.xml"/><Relationship Id="rId40" Type="http://schemas.openxmlformats.org/officeDocument/2006/relationships/tags" Target="../tags/tag2178.xml"/><Relationship Id="rId45" Type="http://schemas.openxmlformats.org/officeDocument/2006/relationships/tags" Target="../tags/tag2183.xml"/><Relationship Id="rId53" Type="http://schemas.openxmlformats.org/officeDocument/2006/relationships/tags" Target="../tags/tag2191.xml"/><Relationship Id="rId5" Type="http://schemas.openxmlformats.org/officeDocument/2006/relationships/tags" Target="../tags/tag2143.xml"/><Relationship Id="rId19" Type="http://schemas.openxmlformats.org/officeDocument/2006/relationships/tags" Target="../tags/tag2157.xml"/><Relationship Id="rId4" Type="http://schemas.openxmlformats.org/officeDocument/2006/relationships/tags" Target="../tags/tag2142.xml"/><Relationship Id="rId9" Type="http://schemas.openxmlformats.org/officeDocument/2006/relationships/tags" Target="../tags/tag2147.xml"/><Relationship Id="rId14" Type="http://schemas.openxmlformats.org/officeDocument/2006/relationships/tags" Target="../tags/tag2152.xml"/><Relationship Id="rId22" Type="http://schemas.openxmlformats.org/officeDocument/2006/relationships/tags" Target="../tags/tag2160.xml"/><Relationship Id="rId27" Type="http://schemas.openxmlformats.org/officeDocument/2006/relationships/tags" Target="../tags/tag2165.xml"/><Relationship Id="rId30" Type="http://schemas.openxmlformats.org/officeDocument/2006/relationships/tags" Target="../tags/tag2168.xml"/><Relationship Id="rId35" Type="http://schemas.openxmlformats.org/officeDocument/2006/relationships/tags" Target="../tags/tag2173.xml"/><Relationship Id="rId43" Type="http://schemas.openxmlformats.org/officeDocument/2006/relationships/tags" Target="../tags/tag2181.xml"/><Relationship Id="rId48" Type="http://schemas.openxmlformats.org/officeDocument/2006/relationships/tags" Target="../tags/tag2186.xml"/><Relationship Id="rId56" Type="http://schemas.openxmlformats.org/officeDocument/2006/relationships/tags" Target="../tags/tag2194.xml"/><Relationship Id="rId8" Type="http://schemas.openxmlformats.org/officeDocument/2006/relationships/tags" Target="../tags/tag2146.xml"/><Relationship Id="rId51" Type="http://schemas.openxmlformats.org/officeDocument/2006/relationships/tags" Target="../tags/tag2189.xml"/><Relationship Id="rId3" Type="http://schemas.openxmlformats.org/officeDocument/2006/relationships/tags" Target="../tags/tag2141.xml"/><Relationship Id="rId12" Type="http://schemas.openxmlformats.org/officeDocument/2006/relationships/tags" Target="../tags/tag2150.xml"/><Relationship Id="rId17" Type="http://schemas.openxmlformats.org/officeDocument/2006/relationships/tags" Target="../tags/tag2155.xml"/><Relationship Id="rId25" Type="http://schemas.openxmlformats.org/officeDocument/2006/relationships/tags" Target="../tags/tag2163.xml"/><Relationship Id="rId33" Type="http://schemas.openxmlformats.org/officeDocument/2006/relationships/tags" Target="../tags/tag2171.xml"/><Relationship Id="rId38" Type="http://schemas.openxmlformats.org/officeDocument/2006/relationships/tags" Target="../tags/tag2176.xml"/><Relationship Id="rId46" Type="http://schemas.openxmlformats.org/officeDocument/2006/relationships/tags" Target="../tags/tag2184.xml"/><Relationship Id="rId20" Type="http://schemas.openxmlformats.org/officeDocument/2006/relationships/tags" Target="../tags/tag2158.xml"/><Relationship Id="rId41" Type="http://schemas.openxmlformats.org/officeDocument/2006/relationships/tags" Target="../tags/tag2179.xml"/><Relationship Id="rId54" Type="http://schemas.openxmlformats.org/officeDocument/2006/relationships/tags" Target="../tags/tag2192.xml"/><Relationship Id="rId1" Type="http://schemas.openxmlformats.org/officeDocument/2006/relationships/tags" Target="../tags/tag2139.xml"/><Relationship Id="rId6" Type="http://schemas.openxmlformats.org/officeDocument/2006/relationships/tags" Target="../tags/tag2144.xml"/><Relationship Id="rId15" Type="http://schemas.openxmlformats.org/officeDocument/2006/relationships/tags" Target="../tags/tag2153.xml"/><Relationship Id="rId23" Type="http://schemas.openxmlformats.org/officeDocument/2006/relationships/tags" Target="../tags/tag2161.xml"/><Relationship Id="rId28" Type="http://schemas.openxmlformats.org/officeDocument/2006/relationships/tags" Target="../tags/tag2166.xml"/><Relationship Id="rId36" Type="http://schemas.openxmlformats.org/officeDocument/2006/relationships/tags" Target="../tags/tag2174.xml"/><Relationship Id="rId49" Type="http://schemas.openxmlformats.org/officeDocument/2006/relationships/tags" Target="../tags/tag2187.xml"/><Relationship Id="rId57" Type="http://schemas.openxmlformats.org/officeDocument/2006/relationships/slideLayout" Target="../slideLayouts/slideLayout7.xml"/><Relationship Id="rId10" Type="http://schemas.openxmlformats.org/officeDocument/2006/relationships/tags" Target="../tags/tag2148.xml"/><Relationship Id="rId31" Type="http://schemas.openxmlformats.org/officeDocument/2006/relationships/tags" Target="../tags/tag2169.xml"/><Relationship Id="rId44" Type="http://schemas.openxmlformats.org/officeDocument/2006/relationships/tags" Target="../tags/tag2182.xml"/><Relationship Id="rId52" Type="http://schemas.openxmlformats.org/officeDocument/2006/relationships/tags" Target="../tags/tag2190.xml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tags" Target="../tags/tag2207.xml"/><Relationship Id="rId18" Type="http://schemas.openxmlformats.org/officeDocument/2006/relationships/tags" Target="../tags/tag2212.xml"/><Relationship Id="rId26" Type="http://schemas.openxmlformats.org/officeDocument/2006/relationships/tags" Target="../tags/tag2220.xml"/><Relationship Id="rId39" Type="http://schemas.openxmlformats.org/officeDocument/2006/relationships/tags" Target="../tags/tag2233.xml"/><Relationship Id="rId21" Type="http://schemas.openxmlformats.org/officeDocument/2006/relationships/tags" Target="../tags/tag2215.xml"/><Relationship Id="rId34" Type="http://schemas.openxmlformats.org/officeDocument/2006/relationships/tags" Target="../tags/tag2228.xml"/><Relationship Id="rId42" Type="http://schemas.openxmlformats.org/officeDocument/2006/relationships/tags" Target="../tags/tag2236.xml"/><Relationship Id="rId7" Type="http://schemas.openxmlformats.org/officeDocument/2006/relationships/tags" Target="../tags/tag2201.xml"/><Relationship Id="rId2" Type="http://schemas.openxmlformats.org/officeDocument/2006/relationships/tags" Target="../tags/tag2196.xml"/><Relationship Id="rId16" Type="http://schemas.openxmlformats.org/officeDocument/2006/relationships/tags" Target="../tags/tag2210.xml"/><Relationship Id="rId29" Type="http://schemas.openxmlformats.org/officeDocument/2006/relationships/tags" Target="../tags/tag2223.xml"/><Relationship Id="rId1" Type="http://schemas.openxmlformats.org/officeDocument/2006/relationships/tags" Target="../tags/tag2195.xml"/><Relationship Id="rId6" Type="http://schemas.openxmlformats.org/officeDocument/2006/relationships/tags" Target="../tags/tag2200.xml"/><Relationship Id="rId11" Type="http://schemas.openxmlformats.org/officeDocument/2006/relationships/tags" Target="../tags/tag2205.xml"/><Relationship Id="rId24" Type="http://schemas.openxmlformats.org/officeDocument/2006/relationships/tags" Target="../tags/tag2218.xml"/><Relationship Id="rId32" Type="http://schemas.openxmlformats.org/officeDocument/2006/relationships/tags" Target="../tags/tag2226.xml"/><Relationship Id="rId37" Type="http://schemas.openxmlformats.org/officeDocument/2006/relationships/tags" Target="../tags/tag2231.xml"/><Relationship Id="rId40" Type="http://schemas.openxmlformats.org/officeDocument/2006/relationships/tags" Target="../tags/tag2234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2199.xml"/><Relationship Id="rId15" Type="http://schemas.openxmlformats.org/officeDocument/2006/relationships/tags" Target="../tags/tag2209.xml"/><Relationship Id="rId23" Type="http://schemas.openxmlformats.org/officeDocument/2006/relationships/tags" Target="../tags/tag2217.xml"/><Relationship Id="rId28" Type="http://schemas.openxmlformats.org/officeDocument/2006/relationships/tags" Target="../tags/tag2222.xml"/><Relationship Id="rId36" Type="http://schemas.openxmlformats.org/officeDocument/2006/relationships/tags" Target="../tags/tag2230.xml"/><Relationship Id="rId10" Type="http://schemas.openxmlformats.org/officeDocument/2006/relationships/tags" Target="../tags/tag2204.xml"/><Relationship Id="rId19" Type="http://schemas.openxmlformats.org/officeDocument/2006/relationships/tags" Target="../tags/tag2213.xml"/><Relationship Id="rId31" Type="http://schemas.openxmlformats.org/officeDocument/2006/relationships/tags" Target="../tags/tag2225.xml"/><Relationship Id="rId44" Type="http://schemas.openxmlformats.org/officeDocument/2006/relationships/tags" Target="../tags/tag2238.xml"/><Relationship Id="rId4" Type="http://schemas.openxmlformats.org/officeDocument/2006/relationships/tags" Target="../tags/tag2198.xml"/><Relationship Id="rId9" Type="http://schemas.openxmlformats.org/officeDocument/2006/relationships/tags" Target="../tags/tag2203.xml"/><Relationship Id="rId14" Type="http://schemas.openxmlformats.org/officeDocument/2006/relationships/tags" Target="../tags/tag2208.xml"/><Relationship Id="rId22" Type="http://schemas.openxmlformats.org/officeDocument/2006/relationships/tags" Target="../tags/tag2216.xml"/><Relationship Id="rId27" Type="http://schemas.openxmlformats.org/officeDocument/2006/relationships/tags" Target="../tags/tag2221.xml"/><Relationship Id="rId30" Type="http://schemas.openxmlformats.org/officeDocument/2006/relationships/tags" Target="../tags/tag2224.xml"/><Relationship Id="rId35" Type="http://schemas.openxmlformats.org/officeDocument/2006/relationships/tags" Target="../tags/tag2229.xml"/><Relationship Id="rId43" Type="http://schemas.openxmlformats.org/officeDocument/2006/relationships/tags" Target="../tags/tag2237.xml"/><Relationship Id="rId8" Type="http://schemas.openxmlformats.org/officeDocument/2006/relationships/tags" Target="../tags/tag2202.xml"/><Relationship Id="rId3" Type="http://schemas.openxmlformats.org/officeDocument/2006/relationships/tags" Target="../tags/tag2197.xml"/><Relationship Id="rId12" Type="http://schemas.openxmlformats.org/officeDocument/2006/relationships/tags" Target="../tags/tag2206.xml"/><Relationship Id="rId17" Type="http://schemas.openxmlformats.org/officeDocument/2006/relationships/tags" Target="../tags/tag2211.xml"/><Relationship Id="rId25" Type="http://schemas.openxmlformats.org/officeDocument/2006/relationships/tags" Target="../tags/tag2219.xml"/><Relationship Id="rId33" Type="http://schemas.openxmlformats.org/officeDocument/2006/relationships/tags" Target="../tags/tag2227.xml"/><Relationship Id="rId38" Type="http://schemas.openxmlformats.org/officeDocument/2006/relationships/tags" Target="../tags/tag2232.xml"/><Relationship Id="rId46" Type="http://schemas.openxmlformats.org/officeDocument/2006/relationships/notesSlide" Target="../notesSlides/notesSlide59.xml"/><Relationship Id="rId20" Type="http://schemas.openxmlformats.org/officeDocument/2006/relationships/tags" Target="../tags/tag2214.xml"/><Relationship Id="rId41" Type="http://schemas.openxmlformats.org/officeDocument/2006/relationships/tags" Target="../tags/tag2235.xml"/></Relationships>
</file>

<file path=ppt/slides/_rels/slide79.xml.rels><?xml version="1.0" encoding="UTF-8" standalone="yes"?>
<Relationships xmlns="http://schemas.openxmlformats.org/package/2006/relationships"><Relationship Id="rId13" Type="http://schemas.openxmlformats.org/officeDocument/2006/relationships/tags" Target="../tags/tag2251.xml"/><Relationship Id="rId18" Type="http://schemas.openxmlformats.org/officeDocument/2006/relationships/tags" Target="../tags/tag2256.xml"/><Relationship Id="rId26" Type="http://schemas.openxmlformats.org/officeDocument/2006/relationships/tags" Target="../tags/tag2264.xml"/><Relationship Id="rId39" Type="http://schemas.openxmlformats.org/officeDocument/2006/relationships/tags" Target="../tags/tag2277.xml"/><Relationship Id="rId21" Type="http://schemas.openxmlformats.org/officeDocument/2006/relationships/tags" Target="../tags/tag2259.xml"/><Relationship Id="rId34" Type="http://schemas.openxmlformats.org/officeDocument/2006/relationships/tags" Target="../tags/tag2272.xml"/><Relationship Id="rId42" Type="http://schemas.openxmlformats.org/officeDocument/2006/relationships/tags" Target="../tags/tag2280.xml"/><Relationship Id="rId47" Type="http://schemas.openxmlformats.org/officeDocument/2006/relationships/slide" Target="slide76.xml"/><Relationship Id="rId7" Type="http://schemas.openxmlformats.org/officeDocument/2006/relationships/tags" Target="../tags/tag2245.xml"/><Relationship Id="rId2" Type="http://schemas.openxmlformats.org/officeDocument/2006/relationships/tags" Target="../tags/tag2240.xml"/><Relationship Id="rId16" Type="http://schemas.openxmlformats.org/officeDocument/2006/relationships/tags" Target="../tags/tag2254.xml"/><Relationship Id="rId29" Type="http://schemas.openxmlformats.org/officeDocument/2006/relationships/tags" Target="../tags/tag2267.xml"/><Relationship Id="rId1" Type="http://schemas.openxmlformats.org/officeDocument/2006/relationships/tags" Target="../tags/tag2239.xml"/><Relationship Id="rId6" Type="http://schemas.openxmlformats.org/officeDocument/2006/relationships/tags" Target="../tags/tag2244.xml"/><Relationship Id="rId11" Type="http://schemas.openxmlformats.org/officeDocument/2006/relationships/tags" Target="../tags/tag2249.xml"/><Relationship Id="rId24" Type="http://schemas.openxmlformats.org/officeDocument/2006/relationships/tags" Target="../tags/tag2262.xml"/><Relationship Id="rId32" Type="http://schemas.openxmlformats.org/officeDocument/2006/relationships/tags" Target="../tags/tag2270.xml"/><Relationship Id="rId37" Type="http://schemas.openxmlformats.org/officeDocument/2006/relationships/tags" Target="../tags/tag2275.xml"/><Relationship Id="rId40" Type="http://schemas.openxmlformats.org/officeDocument/2006/relationships/tags" Target="../tags/tag2278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2243.xml"/><Relationship Id="rId15" Type="http://schemas.openxmlformats.org/officeDocument/2006/relationships/tags" Target="../tags/tag2253.xml"/><Relationship Id="rId23" Type="http://schemas.openxmlformats.org/officeDocument/2006/relationships/tags" Target="../tags/tag2261.xml"/><Relationship Id="rId28" Type="http://schemas.openxmlformats.org/officeDocument/2006/relationships/tags" Target="../tags/tag2266.xml"/><Relationship Id="rId36" Type="http://schemas.openxmlformats.org/officeDocument/2006/relationships/tags" Target="../tags/tag2274.xml"/><Relationship Id="rId10" Type="http://schemas.openxmlformats.org/officeDocument/2006/relationships/tags" Target="../tags/tag2248.xml"/><Relationship Id="rId19" Type="http://schemas.openxmlformats.org/officeDocument/2006/relationships/tags" Target="../tags/tag2257.xml"/><Relationship Id="rId31" Type="http://schemas.openxmlformats.org/officeDocument/2006/relationships/tags" Target="../tags/tag2269.xml"/><Relationship Id="rId44" Type="http://schemas.openxmlformats.org/officeDocument/2006/relationships/tags" Target="../tags/tag2282.xml"/><Relationship Id="rId4" Type="http://schemas.openxmlformats.org/officeDocument/2006/relationships/tags" Target="../tags/tag2242.xml"/><Relationship Id="rId9" Type="http://schemas.openxmlformats.org/officeDocument/2006/relationships/tags" Target="../tags/tag2247.xml"/><Relationship Id="rId14" Type="http://schemas.openxmlformats.org/officeDocument/2006/relationships/tags" Target="../tags/tag2252.xml"/><Relationship Id="rId22" Type="http://schemas.openxmlformats.org/officeDocument/2006/relationships/tags" Target="../tags/tag2260.xml"/><Relationship Id="rId27" Type="http://schemas.openxmlformats.org/officeDocument/2006/relationships/tags" Target="../tags/tag2265.xml"/><Relationship Id="rId30" Type="http://schemas.openxmlformats.org/officeDocument/2006/relationships/tags" Target="../tags/tag2268.xml"/><Relationship Id="rId35" Type="http://schemas.openxmlformats.org/officeDocument/2006/relationships/tags" Target="../tags/tag2273.xml"/><Relationship Id="rId43" Type="http://schemas.openxmlformats.org/officeDocument/2006/relationships/tags" Target="../tags/tag2281.xml"/><Relationship Id="rId8" Type="http://schemas.openxmlformats.org/officeDocument/2006/relationships/tags" Target="../tags/tag2246.xml"/><Relationship Id="rId3" Type="http://schemas.openxmlformats.org/officeDocument/2006/relationships/tags" Target="../tags/tag2241.xml"/><Relationship Id="rId12" Type="http://schemas.openxmlformats.org/officeDocument/2006/relationships/tags" Target="../tags/tag2250.xml"/><Relationship Id="rId17" Type="http://schemas.openxmlformats.org/officeDocument/2006/relationships/tags" Target="../tags/tag2255.xml"/><Relationship Id="rId25" Type="http://schemas.openxmlformats.org/officeDocument/2006/relationships/tags" Target="../tags/tag2263.xml"/><Relationship Id="rId33" Type="http://schemas.openxmlformats.org/officeDocument/2006/relationships/tags" Target="../tags/tag2271.xml"/><Relationship Id="rId38" Type="http://schemas.openxmlformats.org/officeDocument/2006/relationships/tags" Target="../tags/tag2276.xml"/><Relationship Id="rId46" Type="http://schemas.openxmlformats.org/officeDocument/2006/relationships/notesSlide" Target="../notesSlides/notesSlide60.xml"/><Relationship Id="rId20" Type="http://schemas.openxmlformats.org/officeDocument/2006/relationships/tags" Target="../tags/tag2258.xml"/><Relationship Id="rId41" Type="http://schemas.openxmlformats.org/officeDocument/2006/relationships/tags" Target="../tags/tag2279.xml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tags" Target="../tags/tag2295.xml"/><Relationship Id="rId18" Type="http://schemas.openxmlformats.org/officeDocument/2006/relationships/tags" Target="../tags/tag2300.xml"/><Relationship Id="rId26" Type="http://schemas.openxmlformats.org/officeDocument/2006/relationships/tags" Target="../tags/tag2308.xml"/><Relationship Id="rId39" Type="http://schemas.openxmlformats.org/officeDocument/2006/relationships/tags" Target="../tags/tag2321.xml"/><Relationship Id="rId21" Type="http://schemas.openxmlformats.org/officeDocument/2006/relationships/tags" Target="../tags/tag2303.xml"/><Relationship Id="rId34" Type="http://schemas.openxmlformats.org/officeDocument/2006/relationships/tags" Target="../tags/tag2316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2289.xml"/><Relationship Id="rId2" Type="http://schemas.openxmlformats.org/officeDocument/2006/relationships/tags" Target="../tags/tag2284.xml"/><Relationship Id="rId16" Type="http://schemas.openxmlformats.org/officeDocument/2006/relationships/tags" Target="../tags/tag2298.xml"/><Relationship Id="rId20" Type="http://schemas.openxmlformats.org/officeDocument/2006/relationships/tags" Target="../tags/tag2302.xml"/><Relationship Id="rId29" Type="http://schemas.openxmlformats.org/officeDocument/2006/relationships/tags" Target="../tags/tag2311.xml"/><Relationship Id="rId41" Type="http://schemas.openxmlformats.org/officeDocument/2006/relationships/tags" Target="../tags/tag2323.xml"/><Relationship Id="rId1" Type="http://schemas.openxmlformats.org/officeDocument/2006/relationships/tags" Target="../tags/tag2283.xml"/><Relationship Id="rId6" Type="http://schemas.openxmlformats.org/officeDocument/2006/relationships/tags" Target="../tags/tag2288.xml"/><Relationship Id="rId11" Type="http://schemas.openxmlformats.org/officeDocument/2006/relationships/tags" Target="../tags/tag2293.xml"/><Relationship Id="rId24" Type="http://schemas.openxmlformats.org/officeDocument/2006/relationships/tags" Target="../tags/tag2306.xml"/><Relationship Id="rId32" Type="http://schemas.openxmlformats.org/officeDocument/2006/relationships/tags" Target="../tags/tag2314.xml"/><Relationship Id="rId37" Type="http://schemas.openxmlformats.org/officeDocument/2006/relationships/tags" Target="../tags/tag2319.xml"/><Relationship Id="rId40" Type="http://schemas.openxmlformats.org/officeDocument/2006/relationships/tags" Target="../tags/tag2322.xml"/><Relationship Id="rId5" Type="http://schemas.openxmlformats.org/officeDocument/2006/relationships/tags" Target="../tags/tag2287.xml"/><Relationship Id="rId15" Type="http://schemas.openxmlformats.org/officeDocument/2006/relationships/tags" Target="../tags/tag2297.xml"/><Relationship Id="rId23" Type="http://schemas.openxmlformats.org/officeDocument/2006/relationships/tags" Target="../tags/tag2305.xml"/><Relationship Id="rId28" Type="http://schemas.openxmlformats.org/officeDocument/2006/relationships/tags" Target="../tags/tag2310.xml"/><Relationship Id="rId36" Type="http://schemas.openxmlformats.org/officeDocument/2006/relationships/tags" Target="../tags/tag2318.xml"/><Relationship Id="rId10" Type="http://schemas.openxmlformats.org/officeDocument/2006/relationships/tags" Target="../tags/tag2292.xml"/><Relationship Id="rId19" Type="http://schemas.openxmlformats.org/officeDocument/2006/relationships/tags" Target="../tags/tag2301.xml"/><Relationship Id="rId31" Type="http://schemas.openxmlformats.org/officeDocument/2006/relationships/tags" Target="../tags/tag2313.xml"/><Relationship Id="rId4" Type="http://schemas.openxmlformats.org/officeDocument/2006/relationships/tags" Target="../tags/tag2286.xml"/><Relationship Id="rId9" Type="http://schemas.openxmlformats.org/officeDocument/2006/relationships/tags" Target="../tags/tag2291.xml"/><Relationship Id="rId14" Type="http://schemas.openxmlformats.org/officeDocument/2006/relationships/tags" Target="../tags/tag2296.xml"/><Relationship Id="rId22" Type="http://schemas.openxmlformats.org/officeDocument/2006/relationships/tags" Target="../tags/tag2304.xml"/><Relationship Id="rId27" Type="http://schemas.openxmlformats.org/officeDocument/2006/relationships/tags" Target="../tags/tag2309.xml"/><Relationship Id="rId30" Type="http://schemas.openxmlformats.org/officeDocument/2006/relationships/tags" Target="../tags/tag2312.xml"/><Relationship Id="rId35" Type="http://schemas.openxmlformats.org/officeDocument/2006/relationships/tags" Target="../tags/tag2317.xml"/><Relationship Id="rId43" Type="http://schemas.openxmlformats.org/officeDocument/2006/relationships/notesSlide" Target="../notesSlides/notesSlide61.xml"/><Relationship Id="rId8" Type="http://schemas.openxmlformats.org/officeDocument/2006/relationships/tags" Target="../tags/tag2290.xml"/><Relationship Id="rId3" Type="http://schemas.openxmlformats.org/officeDocument/2006/relationships/tags" Target="../tags/tag2285.xml"/><Relationship Id="rId12" Type="http://schemas.openxmlformats.org/officeDocument/2006/relationships/tags" Target="../tags/tag2294.xml"/><Relationship Id="rId17" Type="http://schemas.openxmlformats.org/officeDocument/2006/relationships/tags" Target="../tags/tag2299.xml"/><Relationship Id="rId25" Type="http://schemas.openxmlformats.org/officeDocument/2006/relationships/tags" Target="../tags/tag2307.xml"/><Relationship Id="rId33" Type="http://schemas.openxmlformats.org/officeDocument/2006/relationships/tags" Target="../tags/tag2315.xml"/><Relationship Id="rId38" Type="http://schemas.openxmlformats.org/officeDocument/2006/relationships/tags" Target="../tags/tag2320.xml"/></Relationships>
</file>

<file path=ppt/slides/_rels/slide81.xml.rels><?xml version="1.0" encoding="UTF-8" standalone="yes"?>
<Relationships xmlns="http://schemas.openxmlformats.org/package/2006/relationships"><Relationship Id="rId26" Type="http://schemas.openxmlformats.org/officeDocument/2006/relationships/tags" Target="../tags/tag2349.xml"/><Relationship Id="rId21" Type="http://schemas.openxmlformats.org/officeDocument/2006/relationships/tags" Target="../tags/tag2344.xml"/><Relationship Id="rId42" Type="http://schemas.openxmlformats.org/officeDocument/2006/relationships/tags" Target="../tags/tag2365.xml"/><Relationship Id="rId47" Type="http://schemas.openxmlformats.org/officeDocument/2006/relationships/tags" Target="../tags/tag2370.xml"/><Relationship Id="rId63" Type="http://schemas.openxmlformats.org/officeDocument/2006/relationships/tags" Target="../tags/tag2386.xml"/><Relationship Id="rId68" Type="http://schemas.openxmlformats.org/officeDocument/2006/relationships/tags" Target="../tags/tag2391.xml"/><Relationship Id="rId84" Type="http://schemas.openxmlformats.org/officeDocument/2006/relationships/tags" Target="../tags/tag2407.xml"/><Relationship Id="rId89" Type="http://schemas.openxmlformats.org/officeDocument/2006/relationships/tags" Target="../tags/tag2412.xml"/><Relationship Id="rId16" Type="http://schemas.openxmlformats.org/officeDocument/2006/relationships/tags" Target="../tags/tag2339.xml"/><Relationship Id="rId11" Type="http://schemas.openxmlformats.org/officeDocument/2006/relationships/tags" Target="../tags/tag2334.xml"/><Relationship Id="rId32" Type="http://schemas.openxmlformats.org/officeDocument/2006/relationships/tags" Target="../tags/tag2355.xml"/><Relationship Id="rId37" Type="http://schemas.openxmlformats.org/officeDocument/2006/relationships/tags" Target="../tags/tag2360.xml"/><Relationship Id="rId53" Type="http://schemas.openxmlformats.org/officeDocument/2006/relationships/tags" Target="../tags/tag2376.xml"/><Relationship Id="rId58" Type="http://schemas.openxmlformats.org/officeDocument/2006/relationships/tags" Target="../tags/tag2381.xml"/><Relationship Id="rId74" Type="http://schemas.openxmlformats.org/officeDocument/2006/relationships/tags" Target="../tags/tag2397.xml"/><Relationship Id="rId79" Type="http://schemas.openxmlformats.org/officeDocument/2006/relationships/tags" Target="../tags/tag2402.xml"/><Relationship Id="rId5" Type="http://schemas.openxmlformats.org/officeDocument/2006/relationships/tags" Target="../tags/tag2328.xml"/><Relationship Id="rId90" Type="http://schemas.openxmlformats.org/officeDocument/2006/relationships/slideLayout" Target="../slideLayouts/slideLayout7.xml"/><Relationship Id="rId14" Type="http://schemas.openxmlformats.org/officeDocument/2006/relationships/tags" Target="../tags/tag2337.xml"/><Relationship Id="rId22" Type="http://schemas.openxmlformats.org/officeDocument/2006/relationships/tags" Target="../tags/tag2345.xml"/><Relationship Id="rId27" Type="http://schemas.openxmlformats.org/officeDocument/2006/relationships/tags" Target="../tags/tag2350.xml"/><Relationship Id="rId30" Type="http://schemas.openxmlformats.org/officeDocument/2006/relationships/tags" Target="../tags/tag2353.xml"/><Relationship Id="rId35" Type="http://schemas.openxmlformats.org/officeDocument/2006/relationships/tags" Target="../tags/tag2358.xml"/><Relationship Id="rId43" Type="http://schemas.openxmlformats.org/officeDocument/2006/relationships/tags" Target="../tags/tag2366.xml"/><Relationship Id="rId48" Type="http://schemas.openxmlformats.org/officeDocument/2006/relationships/tags" Target="../tags/tag2371.xml"/><Relationship Id="rId56" Type="http://schemas.openxmlformats.org/officeDocument/2006/relationships/tags" Target="../tags/tag2379.xml"/><Relationship Id="rId64" Type="http://schemas.openxmlformats.org/officeDocument/2006/relationships/tags" Target="../tags/tag2387.xml"/><Relationship Id="rId69" Type="http://schemas.openxmlformats.org/officeDocument/2006/relationships/tags" Target="../tags/tag2392.xml"/><Relationship Id="rId77" Type="http://schemas.openxmlformats.org/officeDocument/2006/relationships/tags" Target="../tags/tag2400.xml"/><Relationship Id="rId8" Type="http://schemas.openxmlformats.org/officeDocument/2006/relationships/tags" Target="../tags/tag2331.xml"/><Relationship Id="rId51" Type="http://schemas.openxmlformats.org/officeDocument/2006/relationships/tags" Target="../tags/tag2374.xml"/><Relationship Id="rId72" Type="http://schemas.openxmlformats.org/officeDocument/2006/relationships/tags" Target="../tags/tag2395.xml"/><Relationship Id="rId80" Type="http://schemas.openxmlformats.org/officeDocument/2006/relationships/tags" Target="../tags/tag2403.xml"/><Relationship Id="rId85" Type="http://schemas.openxmlformats.org/officeDocument/2006/relationships/tags" Target="../tags/tag2408.xml"/><Relationship Id="rId3" Type="http://schemas.openxmlformats.org/officeDocument/2006/relationships/tags" Target="../tags/tag2326.xml"/><Relationship Id="rId12" Type="http://schemas.openxmlformats.org/officeDocument/2006/relationships/tags" Target="../tags/tag2335.xml"/><Relationship Id="rId17" Type="http://schemas.openxmlformats.org/officeDocument/2006/relationships/tags" Target="../tags/tag2340.xml"/><Relationship Id="rId25" Type="http://schemas.openxmlformats.org/officeDocument/2006/relationships/tags" Target="../tags/tag2348.xml"/><Relationship Id="rId33" Type="http://schemas.openxmlformats.org/officeDocument/2006/relationships/tags" Target="../tags/tag2356.xml"/><Relationship Id="rId38" Type="http://schemas.openxmlformats.org/officeDocument/2006/relationships/tags" Target="../tags/tag2361.xml"/><Relationship Id="rId46" Type="http://schemas.openxmlformats.org/officeDocument/2006/relationships/tags" Target="../tags/tag2369.xml"/><Relationship Id="rId59" Type="http://schemas.openxmlformats.org/officeDocument/2006/relationships/tags" Target="../tags/tag2382.xml"/><Relationship Id="rId67" Type="http://schemas.openxmlformats.org/officeDocument/2006/relationships/tags" Target="../tags/tag2390.xml"/><Relationship Id="rId20" Type="http://schemas.openxmlformats.org/officeDocument/2006/relationships/tags" Target="../tags/tag2343.xml"/><Relationship Id="rId41" Type="http://schemas.openxmlformats.org/officeDocument/2006/relationships/tags" Target="../tags/tag2364.xml"/><Relationship Id="rId54" Type="http://schemas.openxmlformats.org/officeDocument/2006/relationships/tags" Target="../tags/tag2377.xml"/><Relationship Id="rId62" Type="http://schemas.openxmlformats.org/officeDocument/2006/relationships/tags" Target="../tags/tag2385.xml"/><Relationship Id="rId70" Type="http://schemas.openxmlformats.org/officeDocument/2006/relationships/tags" Target="../tags/tag2393.xml"/><Relationship Id="rId75" Type="http://schemas.openxmlformats.org/officeDocument/2006/relationships/tags" Target="../tags/tag2398.xml"/><Relationship Id="rId83" Type="http://schemas.openxmlformats.org/officeDocument/2006/relationships/tags" Target="../tags/tag2406.xml"/><Relationship Id="rId88" Type="http://schemas.openxmlformats.org/officeDocument/2006/relationships/tags" Target="../tags/tag2411.xml"/><Relationship Id="rId91" Type="http://schemas.openxmlformats.org/officeDocument/2006/relationships/notesSlide" Target="../notesSlides/notesSlide62.xml"/><Relationship Id="rId1" Type="http://schemas.openxmlformats.org/officeDocument/2006/relationships/tags" Target="../tags/tag2324.xml"/><Relationship Id="rId6" Type="http://schemas.openxmlformats.org/officeDocument/2006/relationships/tags" Target="../tags/tag2329.xml"/><Relationship Id="rId15" Type="http://schemas.openxmlformats.org/officeDocument/2006/relationships/tags" Target="../tags/tag2338.xml"/><Relationship Id="rId23" Type="http://schemas.openxmlformats.org/officeDocument/2006/relationships/tags" Target="../tags/tag2346.xml"/><Relationship Id="rId28" Type="http://schemas.openxmlformats.org/officeDocument/2006/relationships/tags" Target="../tags/tag2351.xml"/><Relationship Id="rId36" Type="http://schemas.openxmlformats.org/officeDocument/2006/relationships/tags" Target="../tags/tag2359.xml"/><Relationship Id="rId49" Type="http://schemas.openxmlformats.org/officeDocument/2006/relationships/tags" Target="../tags/tag2372.xml"/><Relationship Id="rId57" Type="http://schemas.openxmlformats.org/officeDocument/2006/relationships/tags" Target="../tags/tag2380.xml"/><Relationship Id="rId10" Type="http://schemas.openxmlformats.org/officeDocument/2006/relationships/tags" Target="../tags/tag2333.xml"/><Relationship Id="rId31" Type="http://schemas.openxmlformats.org/officeDocument/2006/relationships/tags" Target="../tags/tag2354.xml"/><Relationship Id="rId44" Type="http://schemas.openxmlformats.org/officeDocument/2006/relationships/tags" Target="../tags/tag2367.xml"/><Relationship Id="rId52" Type="http://schemas.openxmlformats.org/officeDocument/2006/relationships/tags" Target="../tags/tag2375.xml"/><Relationship Id="rId60" Type="http://schemas.openxmlformats.org/officeDocument/2006/relationships/tags" Target="../tags/tag2383.xml"/><Relationship Id="rId65" Type="http://schemas.openxmlformats.org/officeDocument/2006/relationships/tags" Target="../tags/tag2388.xml"/><Relationship Id="rId73" Type="http://schemas.openxmlformats.org/officeDocument/2006/relationships/tags" Target="../tags/tag2396.xml"/><Relationship Id="rId78" Type="http://schemas.openxmlformats.org/officeDocument/2006/relationships/tags" Target="../tags/tag2401.xml"/><Relationship Id="rId81" Type="http://schemas.openxmlformats.org/officeDocument/2006/relationships/tags" Target="../tags/tag2404.xml"/><Relationship Id="rId86" Type="http://schemas.openxmlformats.org/officeDocument/2006/relationships/tags" Target="../tags/tag2409.xml"/><Relationship Id="rId4" Type="http://schemas.openxmlformats.org/officeDocument/2006/relationships/tags" Target="../tags/tag2327.xml"/><Relationship Id="rId9" Type="http://schemas.openxmlformats.org/officeDocument/2006/relationships/tags" Target="../tags/tag2332.xml"/><Relationship Id="rId13" Type="http://schemas.openxmlformats.org/officeDocument/2006/relationships/tags" Target="../tags/tag2336.xml"/><Relationship Id="rId18" Type="http://schemas.openxmlformats.org/officeDocument/2006/relationships/tags" Target="../tags/tag2341.xml"/><Relationship Id="rId39" Type="http://schemas.openxmlformats.org/officeDocument/2006/relationships/tags" Target="../tags/tag2362.xml"/><Relationship Id="rId34" Type="http://schemas.openxmlformats.org/officeDocument/2006/relationships/tags" Target="../tags/tag2357.xml"/><Relationship Id="rId50" Type="http://schemas.openxmlformats.org/officeDocument/2006/relationships/tags" Target="../tags/tag2373.xml"/><Relationship Id="rId55" Type="http://schemas.openxmlformats.org/officeDocument/2006/relationships/tags" Target="../tags/tag2378.xml"/><Relationship Id="rId76" Type="http://schemas.openxmlformats.org/officeDocument/2006/relationships/tags" Target="../tags/tag2399.xml"/><Relationship Id="rId7" Type="http://schemas.openxmlformats.org/officeDocument/2006/relationships/tags" Target="../tags/tag2330.xml"/><Relationship Id="rId71" Type="http://schemas.openxmlformats.org/officeDocument/2006/relationships/tags" Target="../tags/tag2394.xml"/><Relationship Id="rId2" Type="http://schemas.openxmlformats.org/officeDocument/2006/relationships/tags" Target="../tags/tag2325.xml"/><Relationship Id="rId29" Type="http://schemas.openxmlformats.org/officeDocument/2006/relationships/tags" Target="../tags/tag2352.xml"/><Relationship Id="rId24" Type="http://schemas.openxmlformats.org/officeDocument/2006/relationships/tags" Target="../tags/tag2347.xml"/><Relationship Id="rId40" Type="http://schemas.openxmlformats.org/officeDocument/2006/relationships/tags" Target="../tags/tag2363.xml"/><Relationship Id="rId45" Type="http://schemas.openxmlformats.org/officeDocument/2006/relationships/tags" Target="../tags/tag2368.xml"/><Relationship Id="rId66" Type="http://schemas.openxmlformats.org/officeDocument/2006/relationships/tags" Target="../tags/tag2389.xml"/><Relationship Id="rId87" Type="http://schemas.openxmlformats.org/officeDocument/2006/relationships/tags" Target="../tags/tag2410.xml"/><Relationship Id="rId61" Type="http://schemas.openxmlformats.org/officeDocument/2006/relationships/tags" Target="../tags/tag2384.xml"/><Relationship Id="rId82" Type="http://schemas.openxmlformats.org/officeDocument/2006/relationships/tags" Target="../tags/tag2405.xml"/><Relationship Id="rId19" Type="http://schemas.openxmlformats.org/officeDocument/2006/relationships/tags" Target="../tags/tag2342.xml"/></Relationships>
</file>

<file path=ppt/slides/_rels/slide82.xml.rels><?xml version="1.0" encoding="UTF-8" standalone="yes"?>
<Relationships xmlns="http://schemas.openxmlformats.org/package/2006/relationships"><Relationship Id="rId26" Type="http://schemas.openxmlformats.org/officeDocument/2006/relationships/tags" Target="../tags/tag2438.xml"/><Relationship Id="rId21" Type="http://schemas.openxmlformats.org/officeDocument/2006/relationships/tags" Target="../tags/tag2433.xml"/><Relationship Id="rId34" Type="http://schemas.openxmlformats.org/officeDocument/2006/relationships/tags" Target="../tags/tag2446.xml"/><Relationship Id="rId42" Type="http://schemas.openxmlformats.org/officeDocument/2006/relationships/tags" Target="../tags/tag2454.xml"/><Relationship Id="rId47" Type="http://schemas.openxmlformats.org/officeDocument/2006/relationships/tags" Target="../tags/tag2459.xml"/><Relationship Id="rId50" Type="http://schemas.openxmlformats.org/officeDocument/2006/relationships/tags" Target="../tags/tag2462.xml"/><Relationship Id="rId55" Type="http://schemas.openxmlformats.org/officeDocument/2006/relationships/tags" Target="../tags/tag2467.xml"/><Relationship Id="rId63" Type="http://schemas.openxmlformats.org/officeDocument/2006/relationships/tags" Target="../tags/tag2475.xml"/><Relationship Id="rId7" Type="http://schemas.openxmlformats.org/officeDocument/2006/relationships/tags" Target="../tags/tag2419.xml"/><Relationship Id="rId2" Type="http://schemas.openxmlformats.org/officeDocument/2006/relationships/tags" Target="../tags/tag2414.xml"/><Relationship Id="rId16" Type="http://schemas.openxmlformats.org/officeDocument/2006/relationships/tags" Target="../tags/tag2428.xml"/><Relationship Id="rId29" Type="http://schemas.openxmlformats.org/officeDocument/2006/relationships/tags" Target="../tags/tag2441.xml"/><Relationship Id="rId11" Type="http://schemas.openxmlformats.org/officeDocument/2006/relationships/tags" Target="../tags/tag2423.xml"/><Relationship Id="rId24" Type="http://schemas.openxmlformats.org/officeDocument/2006/relationships/tags" Target="../tags/tag2436.xml"/><Relationship Id="rId32" Type="http://schemas.openxmlformats.org/officeDocument/2006/relationships/tags" Target="../tags/tag2444.xml"/><Relationship Id="rId37" Type="http://schemas.openxmlformats.org/officeDocument/2006/relationships/tags" Target="../tags/tag2449.xml"/><Relationship Id="rId40" Type="http://schemas.openxmlformats.org/officeDocument/2006/relationships/tags" Target="../tags/tag2452.xml"/><Relationship Id="rId45" Type="http://schemas.openxmlformats.org/officeDocument/2006/relationships/tags" Target="../tags/tag2457.xml"/><Relationship Id="rId53" Type="http://schemas.openxmlformats.org/officeDocument/2006/relationships/tags" Target="../tags/tag2465.xml"/><Relationship Id="rId58" Type="http://schemas.openxmlformats.org/officeDocument/2006/relationships/tags" Target="../tags/tag2470.xml"/><Relationship Id="rId66" Type="http://schemas.openxmlformats.org/officeDocument/2006/relationships/slideLayout" Target="../slideLayouts/slideLayout7.xml"/><Relationship Id="rId5" Type="http://schemas.openxmlformats.org/officeDocument/2006/relationships/tags" Target="../tags/tag2417.xml"/><Relationship Id="rId61" Type="http://schemas.openxmlformats.org/officeDocument/2006/relationships/tags" Target="../tags/tag2473.xml"/><Relationship Id="rId19" Type="http://schemas.openxmlformats.org/officeDocument/2006/relationships/tags" Target="../tags/tag2431.xml"/><Relationship Id="rId14" Type="http://schemas.openxmlformats.org/officeDocument/2006/relationships/tags" Target="../tags/tag2426.xml"/><Relationship Id="rId22" Type="http://schemas.openxmlformats.org/officeDocument/2006/relationships/tags" Target="../tags/tag2434.xml"/><Relationship Id="rId27" Type="http://schemas.openxmlformats.org/officeDocument/2006/relationships/tags" Target="../tags/tag2439.xml"/><Relationship Id="rId30" Type="http://schemas.openxmlformats.org/officeDocument/2006/relationships/tags" Target="../tags/tag2442.xml"/><Relationship Id="rId35" Type="http://schemas.openxmlformats.org/officeDocument/2006/relationships/tags" Target="../tags/tag2447.xml"/><Relationship Id="rId43" Type="http://schemas.openxmlformats.org/officeDocument/2006/relationships/tags" Target="../tags/tag2455.xml"/><Relationship Id="rId48" Type="http://schemas.openxmlformats.org/officeDocument/2006/relationships/tags" Target="../tags/tag2460.xml"/><Relationship Id="rId56" Type="http://schemas.openxmlformats.org/officeDocument/2006/relationships/tags" Target="../tags/tag2468.xml"/><Relationship Id="rId64" Type="http://schemas.openxmlformats.org/officeDocument/2006/relationships/tags" Target="../tags/tag2476.xml"/><Relationship Id="rId8" Type="http://schemas.openxmlformats.org/officeDocument/2006/relationships/tags" Target="../tags/tag2420.xml"/><Relationship Id="rId51" Type="http://schemas.openxmlformats.org/officeDocument/2006/relationships/tags" Target="../tags/tag2463.xml"/><Relationship Id="rId3" Type="http://schemas.openxmlformats.org/officeDocument/2006/relationships/tags" Target="../tags/tag2415.xml"/><Relationship Id="rId12" Type="http://schemas.openxmlformats.org/officeDocument/2006/relationships/tags" Target="../tags/tag2424.xml"/><Relationship Id="rId17" Type="http://schemas.openxmlformats.org/officeDocument/2006/relationships/tags" Target="../tags/tag2429.xml"/><Relationship Id="rId25" Type="http://schemas.openxmlformats.org/officeDocument/2006/relationships/tags" Target="../tags/tag2437.xml"/><Relationship Id="rId33" Type="http://schemas.openxmlformats.org/officeDocument/2006/relationships/tags" Target="../tags/tag2445.xml"/><Relationship Id="rId38" Type="http://schemas.openxmlformats.org/officeDocument/2006/relationships/tags" Target="../tags/tag2450.xml"/><Relationship Id="rId46" Type="http://schemas.openxmlformats.org/officeDocument/2006/relationships/tags" Target="../tags/tag2458.xml"/><Relationship Id="rId59" Type="http://schemas.openxmlformats.org/officeDocument/2006/relationships/tags" Target="../tags/tag2471.xml"/><Relationship Id="rId67" Type="http://schemas.openxmlformats.org/officeDocument/2006/relationships/notesSlide" Target="../notesSlides/notesSlide63.xml"/><Relationship Id="rId20" Type="http://schemas.openxmlformats.org/officeDocument/2006/relationships/tags" Target="../tags/tag2432.xml"/><Relationship Id="rId41" Type="http://schemas.openxmlformats.org/officeDocument/2006/relationships/tags" Target="../tags/tag2453.xml"/><Relationship Id="rId54" Type="http://schemas.openxmlformats.org/officeDocument/2006/relationships/tags" Target="../tags/tag2466.xml"/><Relationship Id="rId62" Type="http://schemas.openxmlformats.org/officeDocument/2006/relationships/tags" Target="../tags/tag2474.xml"/><Relationship Id="rId1" Type="http://schemas.openxmlformats.org/officeDocument/2006/relationships/tags" Target="../tags/tag2413.xml"/><Relationship Id="rId6" Type="http://schemas.openxmlformats.org/officeDocument/2006/relationships/tags" Target="../tags/tag2418.xml"/><Relationship Id="rId15" Type="http://schemas.openxmlformats.org/officeDocument/2006/relationships/tags" Target="../tags/tag2427.xml"/><Relationship Id="rId23" Type="http://schemas.openxmlformats.org/officeDocument/2006/relationships/tags" Target="../tags/tag2435.xml"/><Relationship Id="rId28" Type="http://schemas.openxmlformats.org/officeDocument/2006/relationships/tags" Target="../tags/tag2440.xml"/><Relationship Id="rId36" Type="http://schemas.openxmlformats.org/officeDocument/2006/relationships/tags" Target="../tags/tag2448.xml"/><Relationship Id="rId49" Type="http://schemas.openxmlformats.org/officeDocument/2006/relationships/tags" Target="../tags/tag2461.xml"/><Relationship Id="rId57" Type="http://schemas.openxmlformats.org/officeDocument/2006/relationships/tags" Target="../tags/tag2469.xml"/><Relationship Id="rId10" Type="http://schemas.openxmlformats.org/officeDocument/2006/relationships/tags" Target="../tags/tag2422.xml"/><Relationship Id="rId31" Type="http://schemas.openxmlformats.org/officeDocument/2006/relationships/tags" Target="../tags/tag2443.xml"/><Relationship Id="rId44" Type="http://schemas.openxmlformats.org/officeDocument/2006/relationships/tags" Target="../tags/tag2456.xml"/><Relationship Id="rId52" Type="http://schemas.openxmlformats.org/officeDocument/2006/relationships/tags" Target="../tags/tag2464.xml"/><Relationship Id="rId60" Type="http://schemas.openxmlformats.org/officeDocument/2006/relationships/tags" Target="../tags/tag2472.xml"/><Relationship Id="rId65" Type="http://schemas.openxmlformats.org/officeDocument/2006/relationships/tags" Target="../tags/tag2477.xml"/><Relationship Id="rId4" Type="http://schemas.openxmlformats.org/officeDocument/2006/relationships/tags" Target="../tags/tag2416.xml"/><Relationship Id="rId9" Type="http://schemas.openxmlformats.org/officeDocument/2006/relationships/tags" Target="../tags/tag2421.xml"/><Relationship Id="rId13" Type="http://schemas.openxmlformats.org/officeDocument/2006/relationships/tags" Target="../tags/tag2425.xml"/><Relationship Id="rId18" Type="http://schemas.openxmlformats.org/officeDocument/2006/relationships/tags" Target="../tags/tag2430.xml"/><Relationship Id="rId39" Type="http://schemas.openxmlformats.org/officeDocument/2006/relationships/tags" Target="../tags/tag2451.xml"/></Relationships>
</file>

<file path=ppt/slides/_rels/slide83.xml.rels><?xml version="1.0" encoding="UTF-8" standalone="yes"?>
<Relationships xmlns="http://schemas.openxmlformats.org/package/2006/relationships"><Relationship Id="rId117" Type="http://schemas.openxmlformats.org/officeDocument/2006/relationships/tags" Target="../tags/tag2594.xml"/><Relationship Id="rId299" Type="http://schemas.openxmlformats.org/officeDocument/2006/relationships/slideLayout" Target="../slideLayouts/slideLayout7.xml"/><Relationship Id="rId21" Type="http://schemas.openxmlformats.org/officeDocument/2006/relationships/tags" Target="../tags/tag2498.xml"/><Relationship Id="rId63" Type="http://schemas.openxmlformats.org/officeDocument/2006/relationships/tags" Target="../tags/tag2540.xml"/><Relationship Id="rId159" Type="http://schemas.openxmlformats.org/officeDocument/2006/relationships/tags" Target="../tags/tag2636.xml"/><Relationship Id="rId170" Type="http://schemas.openxmlformats.org/officeDocument/2006/relationships/tags" Target="../tags/tag2647.xml"/><Relationship Id="rId226" Type="http://schemas.openxmlformats.org/officeDocument/2006/relationships/tags" Target="../tags/tag2703.xml"/><Relationship Id="rId268" Type="http://schemas.openxmlformats.org/officeDocument/2006/relationships/tags" Target="../tags/tag2745.xml"/><Relationship Id="rId32" Type="http://schemas.openxmlformats.org/officeDocument/2006/relationships/tags" Target="../tags/tag2509.xml"/><Relationship Id="rId74" Type="http://schemas.openxmlformats.org/officeDocument/2006/relationships/tags" Target="../tags/tag2551.xml"/><Relationship Id="rId128" Type="http://schemas.openxmlformats.org/officeDocument/2006/relationships/tags" Target="../tags/tag2605.xml"/><Relationship Id="rId5" Type="http://schemas.openxmlformats.org/officeDocument/2006/relationships/tags" Target="../tags/tag2482.xml"/><Relationship Id="rId181" Type="http://schemas.openxmlformats.org/officeDocument/2006/relationships/tags" Target="../tags/tag2658.xml"/><Relationship Id="rId237" Type="http://schemas.openxmlformats.org/officeDocument/2006/relationships/tags" Target="../tags/tag2714.xml"/><Relationship Id="rId279" Type="http://schemas.openxmlformats.org/officeDocument/2006/relationships/tags" Target="../tags/tag2756.xml"/><Relationship Id="rId43" Type="http://schemas.openxmlformats.org/officeDocument/2006/relationships/tags" Target="../tags/tag2520.xml"/><Relationship Id="rId139" Type="http://schemas.openxmlformats.org/officeDocument/2006/relationships/tags" Target="../tags/tag2616.xml"/><Relationship Id="rId290" Type="http://schemas.openxmlformats.org/officeDocument/2006/relationships/tags" Target="../tags/tag2767.xml"/><Relationship Id="rId85" Type="http://schemas.openxmlformats.org/officeDocument/2006/relationships/tags" Target="../tags/tag2562.xml"/><Relationship Id="rId150" Type="http://schemas.openxmlformats.org/officeDocument/2006/relationships/tags" Target="../tags/tag2627.xml"/><Relationship Id="rId192" Type="http://schemas.openxmlformats.org/officeDocument/2006/relationships/tags" Target="../tags/tag2669.xml"/><Relationship Id="rId206" Type="http://schemas.openxmlformats.org/officeDocument/2006/relationships/tags" Target="../tags/tag2683.xml"/><Relationship Id="rId248" Type="http://schemas.openxmlformats.org/officeDocument/2006/relationships/tags" Target="../tags/tag2725.xml"/><Relationship Id="rId12" Type="http://schemas.openxmlformats.org/officeDocument/2006/relationships/tags" Target="../tags/tag2489.xml"/><Relationship Id="rId108" Type="http://schemas.openxmlformats.org/officeDocument/2006/relationships/tags" Target="../tags/tag2585.xml"/><Relationship Id="rId54" Type="http://schemas.openxmlformats.org/officeDocument/2006/relationships/tags" Target="../tags/tag2531.xml"/><Relationship Id="rId75" Type="http://schemas.openxmlformats.org/officeDocument/2006/relationships/tags" Target="../tags/tag2552.xml"/><Relationship Id="rId96" Type="http://schemas.openxmlformats.org/officeDocument/2006/relationships/tags" Target="../tags/tag2573.xml"/><Relationship Id="rId140" Type="http://schemas.openxmlformats.org/officeDocument/2006/relationships/tags" Target="../tags/tag2617.xml"/><Relationship Id="rId161" Type="http://schemas.openxmlformats.org/officeDocument/2006/relationships/tags" Target="../tags/tag2638.xml"/><Relationship Id="rId182" Type="http://schemas.openxmlformats.org/officeDocument/2006/relationships/tags" Target="../tags/tag2659.xml"/><Relationship Id="rId217" Type="http://schemas.openxmlformats.org/officeDocument/2006/relationships/tags" Target="../tags/tag2694.xml"/><Relationship Id="rId6" Type="http://schemas.openxmlformats.org/officeDocument/2006/relationships/tags" Target="../tags/tag2483.xml"/><Relationship Id="rId238" Type="http://schemas.openxmlformats.org/officeDocument/2006/relationships/tags" Target="../tags/tag2715.xml"/><Relationship Id="rId259" Type="http://schemas.openxmlformats.org/officeDocument/2006/relationships/tags" Target="../tags/tag2736.xml"/><Relationship Id="rId23" Type="http://schemas.openxmlformats.org/officeDocument/2006/relationships/tags" Target="../tags/tag2500.xml"/><Relationship Id="rId119" Type="http://schemas.openxmlformats.org/officeDocument/2006/relationships/tags" Target="../tags/tag2596.xml"/><Relationship Id="rId270" Type="http://schemas.openxmlformats.org/officeDocument/2006/relationships/tags" Target="../tags/tag2747.xml"/><Relationship Id="rId291" Type="http://schemas.openxmlformats.org/officeDocument/2006/relationships/tags" Target="../tags/tag2768.xml"/><Relationship Id="rId44" Type="http://schemas.openxmlformats.org/officeDocument/2006/relationships/tags" Target="../tags/tag2521.xml"/><Relationship Id="rId65" Type="http://schemas.openxmlformats.org/officeDocument/2006/relationships/tags" Target="../tags/tag2542.xml"/><Relationship Id="rId86" Type="http://schemas.openxmlformats.org/officeDocument/2006/relationships/tags" Target="../tags/tag2563.xml"/><Relationship Id="rId130" Type="http://schemas.openxmlformats.org/officeDocument/2006/relationships/tags" Target="../tags/tag2607.xml"/><Relationship Id="rId151" Type="http://schemas.openxmlformats.org/officeDocument/2006/relationships/tags" Target="../tags/tag2628.xml"/><Relationship Id="rId172" Type="http://schemas.openxmlformats.org/officeDocument/2006/relationships/tags" Target="../tags/tag2649.xml"/><Relationship Id="rId193" Type="http://schemas.openxmlformats.org/officeDocument/2006/relationships/tags" Target="../tags/tag2670.xml"/><Relationship Id="rId207" Type="http://schemas.openxmlformats.org/officeDocument/2006/relationships/tags" Target="../tags/tag2684.xml"/><Relationship Id="rId228" Type="http://schemas.openxmlformats.org/officeDocument/2006/relationships/tags" Target="../tags/tag2705.xml"/><Relationship Id="rId249" Type="http://schemas.openxmlformats.org/officeDocument/2006/relationships/tags" Target="../tags/tag2726.xml"/><Relationship Id="rId13" Type="http://schemas.openxmlformats.org/officeDocument/2006/relationships/tags" Target="../tags/tag2490.xml"/><Relationship Id="rId109" Type="http://schemas.openxmlformats.org/officeDocument/2006/relationships/tags" Target="../tags/tag2586.xml"/><Relationship Id="rId260" Type="http://schemas.openxmlformats.org/officeDocument/2006/relationships/tags" Target="../tags/tag2737.xml"/><Relationship Id="rId281" Type="http://schemas.openxmlformats.org/officeDocument/2006/relationships/tags" Target="../tags/tag2758.xml"/><Relationship Id="rId34" Type="http://schemas.openxmlformats.org/officeDocument/2006/relationships/tags" Target="../tags/tag2511.xml"/><Relationship Id="rId55" Type="http://schemas.openxmlformats.org/officeDocument/2006/relationships/tags" Target="../tags/tag2532.xml"/><Relationship Id="rId76" Type="http://schemas.openxmlformats.org/officeDocument/2006/relationships/tags" Target="../tags/tag2553.xml"/><Relationship Id="rId97" Type="http://schemas.openxmlformats.org/officeDocument/2006/relationships/tags" Target="../tags/tag2574.xml"/><Relationship Id="rId120" Type="http://schemas.openxmlformats.org/officeDocument/2006/relationships/tags" Target="../tags/tag2597.xml"/><Relationship Id="rId141" Type="http://schemas.openxmlformats.org/officeDocument/2006/relationships/tags" Target="../tags/tag2618.xml"/><Relationship Id="rId7" Type="http://schemas.openxmlformats.org/officeDocument/2006/relationships/tags" Target="../tags/tag2484.xml"/><Relationship Id="rId162" Type="http://schemas.openxmlformats.org/officeDocument/2006/relationships/tags" Target="../tags/tag2639.xml"/><Relationship Id="rId183" Type="http://schemas.openxmlformats.org/officeDocument/2006/relationships/tags" Target="../tags/tag2660.xml"/><Relationship Id="rId218" Type="http://schemas.openxmlformats.org/officeDocument/2006/relationships/tags" Target="../tags/tag2695.xml"/><Relationship Id="rId239" Type="http://schemas.openxmlformats.org/officeDocument/2006/relationships/tags" Target="../tags/tag2716.xml"/><Relationship Id="rId250" Type="http://schemas.openxmlformats.org/officeDocument/2006/relationships/tags" Target="../tags/tag2727.xml"/><Relationship Id="rId271" Type="http://schemas.openxmlformats.org/officeDocument/2006/relationships/tags" Target="../tags/tag2748.xml"/><Relationship Id="rId292" Type="http://schemas.openxmlformats.org/officeDocument/2006/relationships/tags" Target="../tags/tag2769.xml"/><Relationship Id="rId24" Type="http://schemas.openxmlformats.org/officeDocument/2006/relationships/tags" Target="../tags/tag2501.xml"/><Relationship Id="rId45" Type="http://schemas.openxmlformats.org/officeDocument/2006/relationships/tags" Target="../tags/tag2522.xml"/><Relationship Id="rId66" Type="http://schemas.openxmlformats.org/officeDocument/2006/relationships/tags" Target="../tags/tag2543.xml"/><Relationship Id="rId87" Type="http://schemas.openxmlformats.org/officeDocument/2006/relationships/tags" Target="../tags/tag2564.xml"/><Relationship Id="rId110" Type="http://schemas.openxmlformats.org/officeDocument/2006/relationships/tags" Target="../tags/tag2587.xml"/><Relationship Id="rId131" Type="http://schemas.openxmlformats.org/officeDocument/2006/relationships/tags" Target="../tags/tag2608.xml"/><Relationship Id="rId152" Type="http://schemas.openxmlformats.org/officeDocument/2006/relationships/tags" Target="../tags/tag2629.xml"/><Relationship Id="rId173" Type="http://schemas.openxmlformats.org/officeDocument/2006/relationships/tags" Target="../tags/tag2650.xml"/><Relationship Id="rId194" Type="http://schemas.openxmlformats.org/officeDocument/2006/relationships/tags" Target="../tags/tag2671.xml"/><Relationship Id="rId208" Type="http://schemas.openxmlformats.org/officeDocument/2006/relationships/tags" Target="../tags/tag2685.xml"/><Relationship Id="rId229" Type="http://schemas.openxmlformats.org/officeDocument/2006/relationships/tags" Target="../tags/tag2706.xml"/><Relationship Id="rId240" Type="http://schemas.openxmlformats.org/officeDocument/2006/relationships/tags" Target="../tags/tag2717.xml"/><Relationship Id="rId261" Type="http://schemas.openxmlformats.org/officeDocument/2006/relationships/tags" Target="../tags/tag2738.xml"/><Relationship Id="rId14" Type="http://schemas.openxmlformats.org/officeDocument/2006/relationships/tags" Target="../tags/tag2491.xml"/><Relationship Id="rId35" Type="http://schemas.openxmlformats.org/officeDocument/2006/relationships/tags" Target="../tags/tag2512.xml"/><Relationship Id="rId56" Type="http://schemas.openxmlformats.org/officeDocument/2006/relationships/tags" Target="../tags/tag2533.xml"/><Relationship Id="rId77" Type="http://schemas.openxmlformats.org/officeDocument/2006/relationships/tags" Target="../tags/tag2554.xml"/><Relationship Id="rId100" Type="http://schemas.openxmlformats.org/officeDocument/2006/relationships/tags" Target="../tags/tag2577.xml"/><Relationship Id="rId282" Type="http://schemas.openxmlformats.org/officeDocument/2006/relationships/tags" Target="../tags/tag2759.xml"/><Relationship Id="rId8" Type="http://schemas.openxmlformats.org/officeDocument/2006/relationships/tags" Target="../tags/tag2485.xml"/><Relationship Id="rId98" Type="http://schemas.openxmlformats.org/officeDocument/2006/relationships/tags" Target="../tags/tag2575.xml"/><Relationship Id="rId121" Type="http://schemas.openxmlformats.org/officeDocument/2006/relationships/tags" Target="../tags/tag2598.xml"/><Relationship Id="rId142" Type="http://schemas.openxmlformats.org/officeDocument/2006/relationships/tags" Target="../tags/tag2619.xml"/><Relationship Id="rId163" Type="http://schemas.openxmlformats.org/officeDocument/2006/relationships/tags" Target="../tags/tag2640.xml"/><Relationship Id="rId184" Type="http://schemas.openxmlformats.org/officeDocument/2006/relationships/tags" Target="../tags/tag2661.xml"/><Relationship Id="rId219" Type="http://schemas.openxmlformats.org/officeDocument/2006/relationships/tags" Target="../tags/tag2696.xml"/><Relationship Id="rId230" Type="http://schemas.openxmlformats.org/officeDocument/2006/relationships/tags" Target="../tags/tag2707.xml"/><Relationship Id="rId251" Type="http://schemas.openxmlformats.org/officeDocument/2006/relationships/tags" Target="../tags/tag2728.xml"/><Relationship Id="rId25" Type="http://schemas.openxmlformats.org/officeDocument/2006/relationships/tags" Target="../tags/tag2502.xml"/><Relationship Id="rId46" Type="http://schemas.openxmlformats.org/officeDocument/2006/relationships/tags" Target="../tags/tag2523.xml"/><Relationship Id="rId67" Type="http://schemas.openxmlformats.org/officeDocument/2006/relationships/tags" Target="../tags/tag2544.xml"/><Relationship Id="rId272" Type="http://schemas.openxmlformats.org/officeDocument/2006/relationships/tags" Target="../tags/tag2749.xml"/><Relationship Id="rId293" Type="http://schemas.openxmlformats.org/officeDocument/2006/relationships/tags" Target="../tags/tag2770.xml"/><Relationship Id="rId88" Type="http://schemas.openxmlformats.org/officeDocument/2006/relationships/tags" Target="../tags/tag2565.xml"/><Relationship Id="rId111" Type="http://schemas.openxmlformats.org/officeDocument/2006/relationships/tags" Target="../tags/tag2588.xml"/><Relationship Id="rId132" Type="http://schemas.openxmlformats.org/officeDocument/2006/relationships/tags" Target="../tags/tag2609.xml"/><Relationship Id="rId153" Type="http://schemas.openxmlformats.org/officeDocument/2006/relationships/tags" Target="../tags/tag2630.xml"/><Relationship Id="rId174" Type="http://schemas.openxmlformats.org/officeDocument/2006/relationships/tags" Target="../tags/tag2651.xml"/><Relationship Id="rId195" Type="http://schemas.openxmlformats.org/officeDocument/2006/relationships/tags" Target="../tags/tag2672.xml"/><Relationship Id="rId209" Type="http://schemas.openxmlformats.org/officeDocument/2006/relationships/tags" Target="../tags/tag2686.xml"/><Relationship Id="rId220" Type="http://schemas.openxmlformats.org/officeDocument/2006/relationships/tags" Target="../tags/tag2697.xml"/><Relationship Id="rId241" Type="http://schemas.openxmlformats.org/officeDocument/2006/relationships/tags" Target="../tags/tag2718.xml"/><Relationship Id="rId15" Type="http://schemas.openxmlformats.org/officeDocument/2006/relationships/tags" Target="../tags/tag2492.xml"/><Relationship Id="rId36" Type="http://schemas.openxmlformats.org/officeDocument/2006/relationships/tags" Target="../tags/tag2513.xml"/><Relationship Id="rId57" Type="http://schemas.openxmlformats.org/officeDocument/2006/relationships/tags" Target="../tags/tag2534.xml"/><Relationship Id="rId262" Type="http://schemas.openxmlformats.org/officeDocument/2006/relationships/tags" Target="../tags/tag2739.xml"/><Relationship Id="rId283" Type="http://schemas.openxmlformats.org/officeDocument/2006/relationships/tags" Target="../tags/tag2760.xml"/><Relationship Id="rId78" Type="http://schemas.openxmlformats.org/officeDocument/2006/relationships/tags" Target="../tags/tag2555.xml"/><Relationship Id="rId99" Type="http://schemas.openxmlformats.org/officeDocument/2006/relationships/tags" Target="../tags/tag2576.xml"/><Relationship Id="rId101" Type="http://schemas.openxmlformats.org/officeDocument/2006/relationships/tags" Target="../tags/tag2578.xml"/><Relationship Id="rId122" Type="http://schemas.openxmlformats.org/officeDocument/2006/relationships/tags" Target="../tags/tag2599.xml"/><Relationship Id="rId143" Type="http://schemas.openxmlformats.org/officeDocument/2006/relationships/tags" Target="../tags/tag2620.xml"/><Relationship Id="rId164" Type="http://schemas.openxmlformats.org/officeDocument/2006/relationships/tags" Target="../tags/tag2641.xml"/><Relationship Id="rId185" Type="http://schemas.openxmlformats.org/officeDocument/2006/relationships/tags" Target="../tags/tag2662.xml"/><Relationship Id="rId9" Type="http://schemas.openxmlformats.org/officeDocument/2006/relationships/tags" Target="../tags/tag2486.xml"/><Relationship Id="rId210" Type="http://schemas.openxmlformats.org/officeDocument/2006/relationships/tags" Target="../tags/tag2687.xml"/><Relationship Id="rId26" Type="http://schemas.openxmlformats.org/officeDocument/2006/relationships/tags" Target="../tags/tag2503.xml"/><Relationship Id="rId231" Type="http://schemas.openxmlformats.org/officeDocument/2006/relationships/tags" Target="../tags/tag2708.xml"/><Relationship Id="rId252" Type="http://schemas.openxmlformats.org/officeDocument/2006/relationships/tags" Target="../tags/tag2729.xml"/><Relationship Id="rId273" Type="http://schemas.openxmlformats.org/officeDocument/2006/relationships/tags" Target="../tags/tag2750.xml"/><Relationship Id="rId294" Type="http://schemas.openxmlformats.org/officeDocument/2006/relationships/tags" Target="../tags/tag2771.xml"/><Relationship Id="rId47" Type="http://schemas.openxmlformats.org/officeDocument/2006/relationships/tags" Target="../tags/tag2524.xml"/><Relationship Id="rId68" Type="http://schemas.openxmlformats.org/officeDocument/2006/relationships/tags" Target="../tags/tag2545.xml"/><Relationship Id="rId89" Type="http://schemas.openxmlformats.org/officeDocument/2006/relationships/tags" Target="../tags/tag2566.xml"/><Relationship Id="rId112" Type="http://schemas.openxmlformats.org/officeDocument/2006/relationships/tags" Target="../tags/tag2589.xml"/><Relationship Id="rId133" Type="http://schemas.openxmlformats.org/officeDocument/2006/relationships/tags" Target="../tags/tag2610.xml"/><Relationship Id="rId154" Type="http://schemas.openxmlformats.org/officeDocument/2006/relationships/tags" Target="../tags/tag2631.xml"/><Relationship Id="rId175" Type="http://schemas.openxmlformats.org/officeDocument/2006/relationships/tags" Target="../tags/tag2652.xml"/><Relationship Id="rId196" Type="http://schemas.openxmlformats.org/officeDocument/2006/relationships/tags" Target="../tags/tag2673.xml"/><Relationship Id="rId200" Type="http://schemas.openxmlformats.org/officeDocument/2006/relationships/tags" Target="../tags/tag2677.xml"/><Relationship Id="rId16" Type="http://schemas.openxmlformats.org/officeDocument/2006/relationships/tags" Target="../tags/tag2493.xml"/><Relationship Id="rId221" Type="http://schemas.openxmlformats.org/officeDocument/2006/relationships/tags" Target="../tags/tag2698.xml"/><Relationship Id="rId242" Type="http://schemas.openxmlformats.org/officeDocument/2006/relationships/tags" Target="../tags/tag2719.xml"/><Relationship Id="rId263" Type="http://schemas.openxmlformats.org/officeDocument/2006/relationships/tags" Target="../tags/tag2740.xml"/><Relationship Id="rId284" Type="http://schemas.openxmlformats.org/officeDocument/2006/relationships/tags" Target="../tags/tag2761.xml"/><Relationship Id="rId37" Type="http://schemas.openxmlformats.org/officeDocument/2006/relationships/tags" Target="../tags/tag2514.xml"/><Relationship Id="rId58" Type="http://schemas.openxmlformats.org/officeDocument/2006/relationships/tags" Target="../tags/tag2535.xml"/><Relationship Id="rId79" Type="http://schemas.openxmlformats.org/officeDocument/2006/relationships/tags" Target="../tags/tag2556.xml"/><Relationship Id="rId102" Type="http://schemas.openxmlformats.org/officeDocument/2006/relationships/tags" Target="../tags/tag2579.xml"/><Relationship Id="rId123" Type="http://schemas.openxmlformats.org/officeDocument/2006/relationships/tags" Target="../tags/tag2600.xml"/><Relationship Id="rId144" Type="http://schemas.openxmlformats.org/officeDocument/2006/relationships/tags" Target="../tags/tag2621.xml"/><Relationship Id="rId90" Type="http://schemas.openxmlformats.org/officeDocument/2006/relationships/tags" Target="../tags/tag2567.xml"/><Relationship Id="rId165" Type="http://schemas.openxmlformats.org/officeDocument/2006/relationships/tags" Target="../tags/tag2642.xml"/><Relationship Id="rId186" Type="http://schemas.openxmlformats.org/officeDocument/2006/relationships/tags" Target="../tags/tag2663.xml"/><Relationship Id="rId211" Type="http://schemas.openxmlformats.org/officeDocument/2006/relationships/tags" Target="../tags/tag2688.xml"/><Relationship Id="rId232" Type="http://schemas.openxmlformats.org/officeDocument/2006/relationships/tags" Target="../tags/tag2709.xml"/><Relationship Id="rId253" Type="http://schemas.openxmlformats.org/officeDocument/2006/relationships/tags" Target="../tags/tag2730.xml"/><Relationship Id="rId274" Type="http://schemas.openxmlformats.org/officeDocument/2006/relationships/tags" Target="../tags/tag2751.xml"/><Relationship Id="rId295" Type="http://schemas.openxmlformats.org/officeDocument/2006/relationships/tags" Target="../tags/tag2772.xml"/><Relationship Id="rId27" Type="http://schemas.openxmlformats.org/officeDocument/2006/relationships/tags" Target="../tags/tag2504.xml"/><Relationship Id="rId48" Type="http://schemas.openxmlformats.org/officeDocument/2006/relationships/tags" Target="../tags/tag2525.xml"/><Relationship Id="rId69" Type="http://schemas.openxmlformats.org/officeDocument/2006/relationships/tags" Target="../tags/tag2546.xml"/><Relationship Id="rId113" Type="http://schemas.openxmlformats.org/officeDocument/2006/relationships/tags" Target="../tags/tag2590.xml"/><Relationship Id="rId134" Type="http://schemas.openxmlformats.org/officeDocument/2006/relationships/tags" Target="../tags/tag2611.xml"/><Relationship Id="rId80" Type="http://schemas.openxmlformats.org/officeDocument/2006/relationships/tags" Target="../tags/tag2557.xml"/><Relationship Id="rId155" Type="http://schemas.openxmlformats.org/officeDocument/2006/relationships/tags" Target="../tags/tag2632.xml"/><Relationship Id="rId176" Type="http://schemas.openxmlformats.org/officeDocument/2006/relationships/tags" Target="../tags/tag2653.xml"/><Relationship Id="rId197" Type="http://schemas.openxmlformats.org/officeDocument/2006/relationships/tags" Target="../tags/tag2674.xml"/><Relationship Id="rId201" Type="http://schemas.openxmlformats.org/officeDocument/2006/relationships/tags" Target="../tags/tag2678.xml"/><Relationship Id="rId222" Type="http://schemas.openxmlformats.org/officeDocument/2006/relationships/tags" Target="../tags/tag2699.xml"/><Relationship Id="rId243" Type="http://schemas.openxmlformats.org/officeDocument/2006/relationships/tags" Target="../tags/tag2720.xml"/><Relationship Id="rId264" Type="http://schemas.openxmlformats.org/officeDocument/2006/relationships/tags" Target="../tags/tag2741.xml"/><Relationship Id="rId285" Type="http://schemas.openxmlformats.org/officeDocument/2006/relationships/tags" Target="../tags/tag2762.xml"/><Relationship Id="rId17" Type="http://schemas.openxmlformats.org/officeDocument/2006/relationships/tags" Target="../tags/tag2494.xml"/><Relationship Id="rId38" Type="http://schemas.openxmlformats.org/officeDocument/2006/relationships/tags" Target="../tags/tag2515.xml"/><Relationship Id="rId59" Type="http://schemas.openxmlformats.org/officeDocument/2006/relationships/tags" Target="../tags/tag2536.xml"/><Relationship Id="rId103" Type="http://schemas.openxmlformats.org/officeDocument/2006/relationships/tags" Target="../tags/tag2580.xml"/><Relationship Id="rId124" Type="http://schemas.openxmlformats.org/officeDocument/2006/relationships/tags" Target="../tags/tag2601.xml"/><Relationship Id="rId70" Type="http://schemas.openxmlformats.org/officeDocument/2006/relationships/tags" Target="../tags/tag2547.xml"/><Relationship Id="rId91" Type="http://schemas.openxmlformats.org/officeDocument/2006/relationships/tags" Target="../tags/tag2568.xml"/><Relationship Id="rId145" Type="http://schemas.openxmlformats.org/officeDocument/2006/relationships/tags" Target="../tags/tag2622.xml"/><Relationship Id="rId166" Type="http://schemas.openxmlformats.org/officeDocument/2006/relationships/tags" Target="../tags/tag2643.xml"/><Relationship Id="rId187" Type="http://schemas.openxmlformats.org/officeDocument/2006/relationships/tags" Target="../tags/tag2664.xml"/><Relationship Id="rId1" Type="http://schemas.openxmlformats.org/officeDocument/2006/relationships/tags" Target="../tags/tag2478.xml"/><Relationship Id="rId212" Type="http://schemas.openxmlformats.org/officeDocument/2006/relationships/tags" Target="../tags/tag2689.xml"/><Relationship Id="rId233" Type="http://schemas.openxmlformats.org/officeDocument/2006/relationships/tags" Target="../tags/tag2710.xml"/><Relationship Id="rId254" Type="http://schemas.openxmlformats.org/officeDocument/2006/relationships/tags" Target="../tags/tag2731.xml"/><Relationship Id="rId28" Type="http://schemas.openxmlformats.org/officeDocument/2006/relationships/tags" Target="../tags/tag2505.xml"/><Relationship Id="rId49" Type="http://schemas.openxmlformats.org/officeDocument/2006/relationships/tags" Target="../tags/tag2526.xml"/><Relationship Id="rId114" Type="http://schemas.openxmlformats.org/officeDocument/2006/relationships/tags" Target="../tags/tag2591.xml"/><Relationship Id="rId275" Type="http://schemas.openxmlformats.org/officeDocument/2006/relationships/tags" Target="../tags/tag2752.xml"/><Relationship Id="rId296" Type="http://schemas.openxmlformats.org/officeDocument/2006/relationships/tags" Target="../tags/tag2773.xml"/><Relationship Id="rId300" Type="http://schemas.openxmlformats.org/officeDocument/2006/relationships/slide" Target="slide3.xml"/><Relationship Id="rId60" Type="http://schemas.openxmlformats.org/officeDocument/2006/relationships/tags" Target="../tags/tag2537.xml"/><Relationship Id="rId81" Type="http://schemas.openxmlformats.org/officeDocument/2006/relationships/tags" Target="../tags/tag2558.xml"/><Relationship Id="rId135" Type="http://schemas.openxmlformats.org/officeDocument/2006/relationships/tags" Target="../tags/tag2612.xml"/><Relationship Id="rId156" Type="http://schemas.openxmlformats.org/officeDocument/2006/relationships/tags" Target="../tags/tag2633.xml"/><Relationship Id="rId177" Type="http://schemas.openxmlformats.org/officeDocument/2006/relationships/tags" Target="../tags/tag2654.xml"/><Relationship Id="rId198" Type="http://schemas.openxmlformats.org/officeDocument/2006/relationships/tags" Target="../tags/tag2675.xml"/><Relationship Id="rId202" Type="http://schemas.openxmlformats.org/officeDocument/2006/relationships/tags" Target="../tags/tag2679.xml"/><Relationship Id="rId223" Type="http://schemas.openxmlformats.org/officeDocument/2006/relationships/tags" Target="../tags/tag2700.xml"/><Relationship Id="rId244" Type="http://schemas.openxmlformats.org/officeDocument/2006/relationships/tags" Target="../tags/tag2721.xml"/><Relationship Id="rId18" Type="http://schemas.openxmlformats.org/officeDocument/2006/relationships/tags" Target="../tags/tag2495.xml"/><Relationship Id="rId39" Type="http://schemas.openxmlformats.org/officeDocument/2006/relationships/tags" Target="../tags/tag2516.xml"/><Relationship Id="rId265" Type="http://schemas.openxmlformats.org/officeDocument/2006/relationships/tags" Target="../tags/tag2742.xml"/><Relationship Id="rId286" Type="http://schemas.openxmlformats.org/officeDocument/2006/relationships/tags" Target="../tags/tag2763.xml"/><Relationship Id="rId50" Type="http://schemas.openxmlformats.org/officeDocument/2006/relationships/tags" Target="../tags/tag2527.xml"/><Relationship Id="rId104" Type="http://schemas.openxmlformats.org/officeDocument/2006/relationships/tags" Target="../tags/tag2581.xml"/><Relationship Id="rId125" Type="http://schemas.openxmlformats.org/officeDocument/2006/relationships/tags" Target="../tags/tag2602.xml"/><Relationship Id="rId146" Type="http://schemas.openxmlformats.org/officeDocument/2006/relationships/tags" Target="../tags/tag2623.xml"/><Relationship Id="rId167" Type="http://schemas.openxmlformats.org/officeDocument/2006/relationships/tags" Target="../tags/tag2644.xml"/><Relationship Id="rId188" Type="http://schemas.openxmlformats.org/officeDocument/2006/relationships/tags" Target="../tags/tag2665.xml"/><Relationship Id="rId71" Type="http://schemas.openxmlformats.org/officeDocument/2006/relationships/tags" Target="../tags/tag2548.xml"/><Relationship Id="rId92" Type="http://schemas.openxmlformats.org/officeDocument/2006/relationships/tags" Target="../tags/tag2569.xml"/><Relationship Id="rId213" Type="http://schemas.openxmlformats.org/officeDocument/2006/relationships/tags" Target="../tags/tag2690.xml"/><Relationship Id="rId234" Type="http://schemas.openxmlformats.org/officeDocument/2006/relationships/tags" Target="../tags/tag2711.xml"/><Relationship Id="rId2" Type="http://schemas.openxmlformats.org/officeDocument/2006/relationships/tags" Target="../tags/tag2479.xml"/><Relationship Id="rId29" Type="http://schemas.openxmlformats.org/officeDocument/2006/relationships/tags" Target="../tags/tag2506.xml"/><Relationship Id="rId255" Type="http://schemas.openxmlformats.org/officeDocument/2006/relationships/tags" Target="../tags/tag2732.xml"/><Relationship Id="rId276" Type="http://schemas.openxmlformats.org/officeDocument/2006/relationships/tags" Target="../tags/tag2753.xml"/><Relationship Id="rId297" Type="http://schemas.openxmlformats.org/officeDocument/2006/relationships/tags" Target="../tags/tag2774.xml"/><Relationship Id="rId40" Type="http://schemas.openxmlformats.org/officeDocument/2006/relationships/tags" Target="../tags/tag2517.xml"/><Relationship Id="rId115" Type="http://schemas.openxmlformats.org/officeDocument/2006/relationships/tags" Target="../tags/tag2592.xml"/><Relationship Id="rId136" Type="http://schemas.openxmlformats.org/officeDocument/2006/relationships/tags" Target="../tags/tag2613.xml"/><Relationship Id="rId157" Type="http://schemas.openxmlformats.org/officeDocument/2006/relationships/tags" Target="../tags/tag2634.xml"/><Relationship Id="rId178" Type="http://schemas.openxmlformats.org/officeDocument/2006/relationships/tags" Target="../tags/tag2655.xml"/><Relationship Id="rId61" Type="http://schemas.openxmlformats.org/officeDocument/2006/relationships/tags" Target="../tags/tag2538.xml"/><Relationship Id="rId82" Type="http://schemas.openxmlformats.org/officeDocument/2006/relationships/tags" Target="../tags/tag2559.xml"/><Relationship Id="rId199" Type="http://schemas.openxmlformats.org/officeDocument/2006/relationships/tags" Target="../tags/tag2676.xml"/><Relationship Id="rId203" Type="http://schemas.openxmlformats.org/officeDocument/2006/relationships/tags" Target="../tags/tag2680.xml"/><Relationship Id="rId19" Type="http://schemas.openxmlformats.org/officeDocument/2006/relationships/tags" Target="../tags/tag2496.xml"/><Relationship Id="rId224" Type="http://schemas.openxmlformats.org/officeDocument/2006/relationships/tags" Target="../tags/tag2701.xml"/><Relationship Id="rId245" Type="http://schemas.openxmlformats.org/officeDocument/2006/relationships/tags" Target="../tags/tag2722.xml"/><Relationship Id="rId266" Type="http://schemas.openxmlformats.org/officeDocument/2006/relationships/tags" Target="../tags/tag2743.xml"/><Relationship Id="rId287" Type="http://schemas.openxmlformats.org/officeDocument/2006/relationships/tags" Target="../tags/tag2764.xml"/><Relationship Id="rId30" Type="http://schemas.openxmlformats.org/officeDocument/2006/relationships/tags" Target="../tags/tag2507.xml"/><Relationship Id="rId105" Type="http://schemas.openxmlformats.org/officeDocument/2006/relationships/tags" Target="../tags/tag2582.xml"/><Relationship Id="rId126" Type="http://schemas.openxmlformats.org/officeDocument/2006/relationships/tags" Target="../tags/tag2603.xml"/><Relationship Id="rId147" Type="http://schemas.openxmlformats.org/officeDocument/2006/relationships/tags" Target="../tags/tag2624.xml"/><Relationship Id="rId168" Type="http://schemas.openxmlformats.org/officeDocument/2006/relationships/tags" Target="../tags/tag2645.xml"/><Relationship Id="rId51" Type="http://schemas.openxmlformats.org/officeDocument/2006/relationships/tags" Target="../tags/tag2528.xml"/><Relationship Id="rId72" Type="http://schemas.openxmlformats.org/officeDocument/2006/relationships/tags" Target="../tags/tag2549.xml"/><Relationship Id="rId93" Type="http://schemas.openxmlformats.org/officeDocument/2006/relationships/tags" Target="../tags/tag2570.xml"/><Relationship Id="rId189" Type="http://schemas.openxmlformats.org/officeDocument/2006/relationships/tags" Target="../tags/tag2666.xml"/><Relationship Id="rId3" Type="http://schemas.openxmlformats.org/officeDocument/2006/relationships/tags" Target="../tags/tag2480.xml"/><Relationship Id="rId214" Type="http://schemas.openxmlformats.org/officeDocument/2006/relationships/tags" Target="../tags/tag2691.xml"/><Relationship Id="rId235" Type="http://schemas.openxmlformats.org/officeDocument/2006/relationships/tags" Target="../tags/tag2712.xml"/><Relationship Id="rId256" Type="http://schemas.openxmlformats.org/officeDocument/2006/relationships/tags" Target="../tags/tag2733.xml"/><Relationship Id="rId277" Type="http://schemas.openxmlformats.org/officeDocument/2006/relationships/tags" Target="../tags/tag2754.xml"/><Relationship Id="rId298" Type="http://schemas.openxmlformats.org/officeDocument/2006/relationships/tags" Target="../tags/tag2775.xml"/><Relationship Id="rId116" Type="http://schemas.openxmlformats.org/officeDocument/2006/relationships/tags" Target="../tags/tag2593.xml"/><Relationship Id="rId137" Type="http://schemas.openxmlformats.org/officeDocument/2006/relationships/tags" Target="../tags/tag2614.xml"/><Relationship Id="rId158" Type="http://schemas.openxmlformats.org/officeDocument/2006/relationships/tags" Target="../tags/tag2635.xml"/><Relationship Id="rId20" Type="http://schemas.openxmlformats.org/officeDocument/2006/relationships/tags" Target="../tags/tag2497.xml"/><Relationship Id="rId41" Type="http://schemas.openxmlformats.org/officeDocument/2006/relationships/tags" Target="../tags/tag2518.xml"/><Relationship Id="rId62" Type="http://schemas.openxmlformats.org/officeDocument/2006/relationships/tags" Target="../tags/tag2539.xml"/><Relationship Id="rId83" Type="http://schemas.openxmlformats.org/officeDocument/2006/relationships/tags" Target="../tags/tag2560.xml"/><Relationship Id="rId179" Type="http://schemas.openxmlformats.org/officeDocument/2006/relationships/tags" Target="../tags/tag2656.xml"/><Relationship Id="rId190" Type="http://schemas.openxmlformats.org/officeDocument/2006/relationships/tags" Target="../tags/tag2667.xml"/><Relationship Id="rId204" Type="http://schemas.openxmlformats.org/officeDocument/2006/relationships/tags" Target="../tags/tag2681.xml"/><Relationship Id="rId225" Type="http://schemas.openxmlformats.org/officeDocument/2006/relationships/tags" Target="../tags/tag2702.xml"/><Relationship Id="rId246" Type="http://schemas.openxmlformats.org/officeDocument/2006/relationships/tags" Target="../tags/tag2723.xml"/><Relationship Id="rId267" Type="http://schemas.openxmlformats.org/officeDocument/2006/relationships/tags" Target="../tags/tag2744.xml"/><Relationship Id="rId288" Type="http://schemas.openxmlformats.org/officeDocument/2006/relationships/tags" Target="../tags/tag2765.xml"/><Relationship Id="rId106" Type="http://schemas.openxmlformats.org/officeDocument/2006/relationships/tags" Target="../tags/tag2583.xml"/><Relationship Id="rId127" Type="http://schemas.openxmlformats.org/officeDocument/2006/relationships/tags" Target="../tags/tag2604.xml"/><Relationship Id="rId10" Type="http://schemas.openxmlformats.org/officeDocument/2006/relationships/tags" Target="../tags/tag2487.xml"/><Relationship Id="rId31" Type="http://schemas.openxmlformats.org/officeDocument/2006/relationships/tags" Target="../tags/tag2508.xml"/><Relationship Id="rId52" Type="http://schemas.openxmlformats.org/officeDocument/2006/relationships/tags" Target="../tags/tag2529.xml"/><Relationship Id="rId73" Type="http://schemas.openxmlformats.org/officeDocument/2006/relationships/tags" Target="../tags/tag2550.xml"/><Relationship Id="rId94" Type="http://schemas.openxmlformats.org/officeDocument/2006/relationships/tags" Target="../tags/tag2571.xml"/><Relationship Id="rId148" Type="http://schemas.openxmlformats.org/officeDocument/2006/relationships/tags" Target="../tags/tag2625.xml"/><Relationship Id="rId169" Type="http://schemas.openxmlformats.org/officeDocument/2006/relationships/tags" Target="../tags/tag2646.xml"/><Relationship Id="rId4" Type="http://schemas.openxmlformats.org/officeDocument/2006/relationships/tags" Target="../tags/tag2481.xml"/><Relationship Id="rId180" Type="http://schemas.openxmlformats.org/officeDocument/2006/relationships/tags" Target="../tags/tag2657.xml"/><Relationship Id="rId215" Type="http://schemas.openxmlformats.org/officeDocument/2006/relationships/tags" Target="../tags/tag2692.xml"/><Relationship Id="rId236" Type="http://schemas.openxmlformats.org/officeDocument/2006/relationships/tags" Target="../tags/tag2713.xml"/><Relationship Id="rId257" Type="http://schemas.openxmlformats.org/officeDocument/2006/relationships/tags" Target="../tags/tag2734.xml"/><Relationship Id="rId278" Type="http://schemas.openxmlformats.org/officeDocument/2006/relationships/tags" Target="../tags/tag2755.xml"/><Relationship Id="rId42" Type="http://schemas.openxmlformats.org/officeDocument/2006/relationships/tags" Target="../tags/tag2519.xml"/><Relationship Id="rId84" Type="http://schemas.openxmlformats.org/officeDocument/2006/relationships/tags" Target="../tags/tag2561.xml"/><Relationship Id="rId138" Type="http://schemas.openxmlformats.org/officeDocument/2006/relationships/tags" Target="../tags/tag2615.xml"/><Relationship Id="rId191" Type="http://schemas.openxmlformats.org/officeDocument/2006/relationships/tags" Target="../tags/tag2668.xml"/><Relationship Id="rId205" Type="http://schemas.openxmlformats.org/officeDocument/2006/relationships/tags" Target="../tags/tag2682.xml"/><Relationship Id="rId247" Type="http://schemas.openxmlformats.org/officeDocument/2006/relationships/tags" Target="../tags/tag2724.xml"/><Relationship Id="rId107" Type="http://schemas.openxmlformats.org/officeDocument/2006/relationships/tags" Target="../tags/tag2584.xml"/><Relationship Id="rId289" Type="http://schemas.openxmlformats.org/officeDocument/2006/relationships/tags" Target="../tags/tag2766.xml"/><Relationship Id="rId11" Type="http://schemas.openxmlformats.org/officeDocument/2006/relationships/tags" Target="../tags/tag2488.xml"/><Relationship Id="rId53" Type="http://schemas.openxmlformats.org/officeDocument/2006/relationships/tags" Target="../tags/tag2530.xml"/><Relationship Id="rId149" Type="http://schemas.openxmlformats.org/officeDocument/2006/relationships/tags" Target="../tags/tag2626.xml"/><Relationship Id="rId95" Type="http://schemas.openxmlformats.org/officeDocument/2006/relationships/tags" Target="../tags/tag2572.xml"/><Relationship Id="rId160" Type="http://schemas.openxmlformats.org/officeDocument/2006/relationships/tags" Target="../tags/tag2637.xml"/><Relationship Id="rId216" Type="http://schemas.openxmlformats.org/officeDocument/2006/relationships/tags" Target="../tags/tag2693.xml"/><Relationship Id="rId258" Type="http://schemas.openxmlformats.org/officeDocument/2006/relationships/tags" Target="../tags/tag2735.xml"/><Relationship Id="rId22" Type="http://schemas.openxmlformats.org/officeDocument/2006/relationships/tags" Target="../tags/tag2499.xml"/><Relationship Id="rId64" Type="http://schemas.openxmlformats.org/officeDocument/2006/relationships/tags" Target="../tags/tag2541.xml"/><Relationship Id="rId118" Type="http://schemas.openxmlformats.org/officeDocument/2006/relationships/tags" Target="../tags/tag2595.xml"/><Relationship Id="rId171" Type="http://schemas.openxmlformats.org/officeDocument/2006/relationships/tags" Target="../tags/tag2648.xml"/><Relationship Id="rId227" Type="http://schemas.openxmlformats.org/officeDocument/2006/relationships/tags" Target="../tags/tag2704.xml"/><Relationship Id="rId269" Type="http://schemas.openxmlformats.org/officeDocument/2006/relationships/tags" Target="../tags/tag2746.xml"/><Relationship Id="rId33" Type="http://schemas.openxmlformats.org/officeDocument/2006/relationships/tags" Target="../tags/tag2510.xml"/><Relationship Id="rId129" Type="http://schemas.openxmlformats.org/officeDocument/2006/relationships/tags" Target="../tags/tag2606.xml"/><Relationship Id="rId280" Type="http://schemas.openxmlformats.org/officeDocument/2006/relationships/tags" Target="../tags/tag27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838200" y="2595563"/>
            <a:ext cx="7621588" cy="7694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ctr">
              <a:defRPr sz="4400" b="1" u="none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第三章  存储系统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3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874" y="404664"/>
            <a:ext cx="2844947" cy="30734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存储器回顾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结构抽象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访问的处理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读：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写：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应用需求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5" name="Text Box 108"/>
          <p:cNvSpPr txBox="1">
            <a:spLocks noChangeArrowheads="1"/>
          </p:cNvSpPr>
          <p:nvPr/>
        </p:nvSpPr>
        <p:spPr bwMode="auto">
          <a:xfrm>
            <a:off x="899591" y="1268760"/>
            <a:ext cx="8101531" cy="5110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36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定长单元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构成的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一维线性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空间，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按地址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访问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命令，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单元、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操作、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输出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命令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数据，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单元、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操作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①程序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在编程时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放在</a:t>
            </a:r>
            <a:r>
              <a:rPr lang="zh-CN" altLang="en-US" sz="22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程序</a:t>
            </a:r>
            <a:r>
              <a:rPr lang="en-US" altLang="zh-CN" sz="22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中，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在执行前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装入</a:t>
            </a:r>
            <a:r>
              <a:rPr lang="zh-CN" altLang="en-US" sz="22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物理</a:t>
            </a:r>
            <a:r>
              <a:rPr lang="en-US" altLang="zh-CN" sz="22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中，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在执行时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逻辑地址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访问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变换地址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物理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；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②物理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的容量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&lt;&lt;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程序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MEM)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，性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价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高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         考虑成本→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←满足所有应用</a:t>
            </a:r>
            <a:endParaRPr lang="en-US" altLang="zh-CN" sz="1800" b="1" u="none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6" name="Text Box 14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03848" y="3068960"/>
            <a:ext cx="4428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195" tIns="10800" rIns="36195" bIns="10800" anchor="ctr"/>
          <a:lstStyle/>
          <a:p>
            <a:pPr marL="898525" indent="-898525">
              <a:lnSpc>
                <a:spcPct val="110000"/>
              </a:lnSpc>
            </a:pPr>
            <a:r>
              <a:rPr lang="zh-CN" altLang="en-US" sz="1600" b="1" u="none" dirty="0">
                <a:solidFill>
                  <a:srgbClr val="C00000"/>
                </a:solidFill>
                <a:latin typeface="+mn-ea"/>
                <a:ea typeface="+mn-ea"/>
              </a:rPr>
              <a:t>程序</a:t>
            </a:r>
            <a:r>
              <a:rPr lang="en-US" altLang="zh-CN" sz="1600" b="1" u="none" dirty="0">
                <a:solidFill>
                  <a:srgbClr val="C00000"/>
                </a:solidFill>
                <a:latin typeface="+mn-ea"/>
                <a:ea typeface="+mn-ea"/>
              </a:rPr>
              <a:t>MEM—</a:t>
            </a:r>
            <a:r>
              <a:rPr lang="zh-CN" altLang="en-US" sz="1600" b="1" u="none" dirty="0">
                <a:latin typeface="+mn-ea"/>
                <a:ea typeface="+mn-ea"/>
              </a:rPr>
              <a:t>程序空间的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  <a:ea typeface="+mn-ea"/>
              </a:rPr>
              <a:t>MEM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ea typeface="+mn-ea"/>
              </a:rPr>
              <a:t>抽象</a:t>
            </a:r>
            <a:r>
              <a:rPr lang="zh-CN" altLang="en-US" sz="1600" b="1" u="none" dirty="0">
                <a:latin typeface="+mn-ea"/>
                <a:ea typeface="+mn-ea"/>
              </a:rPr>
              <a:t>，并不真实存在！</a:t>
            </a:r>
            <a:endParaRPr lang="en-US" altLang="zh-CN" sz="1600" b="1" u="none" dirty="0"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0CFDBD0-6200-4347-9A68-B60BF474F32A}"/>
              </a:ext>
            </a:extLst>
          </p:cNvPr>
          <p:cNvGrpSpPr/>
          <p:nvPr/>
        </p:nvGrpSpPr>
        <p:grpSpPr>
          <a:xfrm>
            <a:off x="4643919" y="4221088"/>
            <a:ext cx="3323754" cy="1296036"/>
            <a:chOff x="4643919" y="5157191"/>
            <a:chExt cx="3323754" cy="1296036"/>
          </a:xfrm>
        </p:grpSpPr>
        <p:grpSp>
          <p:nvGrpSpPr>
            <p:cNvPr id="39" name="组合 38"/>
            <p:cNvGrpSpPr/>
            <p:nvPr/>
          </p:nvGrpSpPr>
          <p:grpSpPr>
            <a:xfrm>
              <a:off x="4643919" y="5625192"/>
              <a:ext cx="647700" cy="431800"/>
              <a:chOff x="5076056" y="4703372"/>
              <a:chExt cx="648000" cy="432024"/>
            </a:xfrm>
          </p:grpSpPr>
          <p:sp>
            <p:nvSpPr>
              <p:cNvPr id="40" name="右箭头 39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5076056" y="4919396"/>
                <a:ext cx="648000" cy="216000"/>
              </a:xfrm>
              <a:prstGeom prst="rightArrow">
                <a:avLst>
                  <a:gd name="adj1" fmla="val 33789"/>
                  <a:gd name="adj2" fmla="val 50000"/>
                </a:avLst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Text Box 223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134240" y="4703372"/>
                <a:ext cx="504000" cy="28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u="none" dirty="0">
                    <a:latin typeface="宋体" panose="02010600030101010101" pitchFamily="2" charset="-122"/>
                  </a:rPr>
                  <a:t>装入</a:t>
                </a: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5369888" y="5157191"/>
              <a:ext cx="2597785" cy="1296036"/>
              <a:chOff x="1325627" y="1484816"/>
              <a:chExt cx="2598085" cy="1296011"/>
            </a:xfrm>
          </p:grpSpPr>
          <p:sp>
            <p:nvSpPr>
              <p:cNvPr id="7" name="Text Box 3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979712" y="1844825"/>
                <a:ext cx="1944000" cy="936001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000" tIns="10800" rIns="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00002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00003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x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…</a:t>
                </a:r>
                <a:endParaRPr lang="zh-CN" altLang="en-US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0" name="Text Box 36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1325699" y="1844826"/>
                <a:ext cx="648000" cy="936001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2000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2001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2002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51" name="直接连接符 50"/>
              <p:cNvCxnSpPr/>
              <p:nvPr>
                <p:custDataLst>
                  <p:tags r:id="rId26"/>
                </p:custDataLst>
              </p:nvPr>
            </p:nvCxnSpPr>
            <p:spPr bwMode="auto">
              <a:xfrm>
                <a:off x="1979712" y="207173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1979712" y="2299733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>
                <p:custDataLst>
                  <p:tags r:id="rId28"/>
                </p:custDataLst>
              </p:nvPr>
            </p:nvCxnSpPr>
            <p:spPr bwMode="auto">
              <a:xfrm>
                <a:off x="1979711" y="2515758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Text Box 36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325627" y="1484816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物理地址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800" b="1" u="none" dirty="0">
                    <a:solidFill>
                      <a:schemeClr val="accent2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物理</a:t>
                </a:r>
                <a:r>
                  <a:rPr lang="en-US" altLang="zh-CN" sz="1800" b="1" u="none" dirty="0">
                    <a:solidFill>
                      <a:schemeClr val="accent2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MEM</a:t>
                </a:r>
                <a:endParaRPr lang="zh-CN" altLang="en-US" sz="1800" b="1" u="none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endParaRPr>
              </a:p>
            </p:txBody>
          </p:sp>
        </p:grpSp>
      </p:grpSp>
      <p:cxnSp>
        <p:nvCxnSpPr>
          <p:cNvPr id="43" name="直接箭头连接符 42"/>
          <p:cNvCxnSpPr/>
          <p:nvPr>
            <p:custDataLst>
              <p:tags r:id="rId3"/>
            </p:custDataLst>
          </p:nvPr>
        </p:nvCxnSpPr>
        <p:spPr bwMode="auto">
          <a:xfrm flipH="1">
            <a:off x="5872483" y="4797089"/>
            <a:ext cx="966470" cy="33274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ysDash"/>
            <a:round/>
            <a:headEnd type="oval" w="med" len="med"/>
            <a:tailEnd type="arrow"/>
          </a:ln>
          <a:effectLst/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97B7F69-5DF8-4121-AE61-F78E5AB022F0}"/>
              </a:ext>
            </a:extLst>
          </p:cNvPr>
          <p:cNvGrpSpPr/>
          <p:nvPr/>
        </p:nvGrpSpPr>
        <p:grpSpPr>
          <a:xfrm>
            <a:off x="1907704" y="4221089"/>
            <a:ext cx="2597785" cy="1296035"/>
            <a:chOff x="1907704" y="4221089"/>
            <a:chExt cx="2597785" cy="1296035"/>
          </a:xfrm>
        </p:grpSpPr>
        <p:grpSp>
          <p:nvGrpSpPr>
            <p:cNvPr id="25" name="组合 24"/>
            <p:cNvGrpSpPr/>
            <p:nvPr/>
          </p:nvGrpSpPr>
          <p:grpSpPr>
            <a:xfrm>
              <a:off x="1907704" y="4221089"/>
              <a:ext cx="2597785" cy="1296035"/>
              <a:chOff x="1325627" y="1484784"/>
              <a:chExt cx="2598085" cy="1296041"/>
            </a:xfrm>
          </p:grpSpPr>
          <p:sp>
            <p:nvSpPr>
              <p:cNvPr id="26" name="Text Box 36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979712" y="1844824"/>
                <a:ext cx="1944000" cy="93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195" tIns="10800" rIns="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00002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00003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x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…</a:t>
                </a:r>
                <a:endParaRPr lang="zh-CN" altLang="en-US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" name="Text Box 36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325867" y="1844825"/>
                <a:ext cx="648000" cy="93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00000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00001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00002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28" name="直接连接符 27"/>
              <p:cNvCxnSpPr/>
              <p:nvPr>
                <p:custDataLst>
                  <p:tags r:id="rId20"/>
                </p:custDataLst>
              </p:nvPr>
            </p:nvCxnSpPr>
            <p:spPr bwMode="auto">
              <a:xfrm>
                <a:off x="1979712" y="2071734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直接连接符 28"/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1979712" y="2299732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接连接符 29"/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1979712" y="251575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1" name="Text Box 36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325627" y="1484784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逻辑地址   </a:t>
                </a:r>
                <a:r>
                  <a:rPr lang="zh-CN" altLang="en-US" sz="1800" b="1" u="none" dirty="0">
                    <a:solidFill>
                      <a:schemeClr val="accent2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程序</a:t>
                </a:r>
                <a:r>
                  <a:rPr lang="en-US" altLang="zh-CN" sz="1800" b="1" u="none" dirty="0">
                    <a:solidFill>
                      <a:schemeClr val="accent2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MEM</a:t>
                </a:r>
                <a:endParaRPr lang="zh-CN" altLang="en-US" sz="1800" b="1" u="none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8" name="直接箭头连接符 7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2482230" y="4797089"/>
              <a:ext cx="866775" cy="321945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oval" w="med" len="med"/>
              <a:tailEnd type="arrow"/>
            </a:ln>
            <a:effectLst/>
          </p:spPr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D9833F4-8B30-48B7-B67C-0A9E1F21F19F}"/>
              </a:ext>
            </a:extLst>
          </p:cNvPr>
          <p:cNvGrpSpPr/>
          <p:nvPr/>
        </p:nvGrpSpPr>
        <p:grpSpPr>
          <a:xfrm>
            <a:off x="7092976" y="1014944"/>
            <a:ext cx="1799504" cy="1405944"/>
            <a:chOff x="3816000" y="2628000"/>
            <a:chExt cx="1799504" cy="1405944"/>
          </a:xfrm>
        </p:grpSpPr>
        <p:sp>
          <p:nvSpPr>
            <p:cNvPr id="69" name="Rectangle 251">
              <a:extLst>
                <a:ext uri="{FF2B5EF4-FFF2-40B4-BE49-F238E27FC236}">
                  <a16:creationId xmlns:a16="http://schemas.microsoft.com/office/drawing/2014/main" id="{5C6B2044-A73A-425A-B266-F0E72EB011E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284421" y="2629588"/>
              <a:ext cx="792000" cy="97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u="none">
                <a:latin typeface="+mn-ea"/>
                <a:ea typeface="+mn-ea"/>
              </a:endParaRPr>
            </a:p>
          </p:txBody>
        </p:sp>
        <p:sp>
          <p:nvSpPr>
            <p:cNvPr id="70" name="Line 252">
              <a:extLst>
                <a:ext uri="{FF2B5EF4-FFF2-40B4-BE49-F238E27FC236}">
                  <a16:creationId xmlns:a16="http://schemas.microsoft.com/office/drawing/2014/main" id="{5BA8F5D9-642E-434F-9CDF-F73C92662803}"/>
                </a:ext>
              </a:extLst>
            </p:cNvPr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4284421" y="2843902"/>
              <a:ext cx="79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" name="Line 254">
              <a:extLst>
                <a:ext uri="{FF2B5EF4-FFF2-40B4-BE49-F238E27FC236}">
                  <a16:creationId xmlns:a16="http://schemas.microsoft.com/office/drawing/2014/main" id="{327FFBF2-2EA3-4E06-8603-3DB73F18F98E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284422" y="3277288"/>
              <a:ext cx="792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2" name="Text Box 256">
              <a:extLst>
                <a:ext uri="{FF2B5EF4-FFF2-40B4-BE49-F238E27FC236}">
                  <a16:creationId xmlns:a16="http://schemas.microsoft.com/office/drawing/2014/main" id="{0E5F7EA9-3B90-46E0-9F2A-184AF6905D9E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816000" y="2628000"/>
              <a:ext cx="432000" cy="97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  0</a:t>
              </a:r>
            </a:p>
            <a:p>
              <a:pPr algn="r">
                <a:lnSpc>
                  <a:spcPct val="90000"/>
                </a:lnSpc>
                <a:spcBef>
                  <a:spcPts val="900"/>
                </a:spcBef>
              </a:pPr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  <a:spcBef>
                  <a:spcPts val="1500"/>
                </a:spcBef>
              </a:pPr>
              <a:r>
                <a:rPr lang="en-US" altLang="zh-CN" sz="1600" b="1" u="none" dirty="0">
                  <a:latin typeface="+mn-ea"/>
                  <a:ea typeface="+mn-ea"/>
                </a:rPr>
                <a:t>2</a:t>
              </a:r>
              <a:r>
                <a:rPr lang="en-US" altLang="zh-CN" sz="1600" b="1" u="none" baseline="30000" dirty="0">
                  <a:latin typeface="+mn-ea"/>
                  <a:ea typeface="+mn-ea"/>
                </a:rPr>
                <a:t>n</a:t>
              </a:r>
              <a:r>
                <a:rPr lang="en-US" altLang="zh-CN" sz="1600" b="1" u="none" dirty="0">
                  <a:latin typeface="+mn-ea"/>
                  <a:ea typeface="+mn-ea"/>
                </a:rPr>
                <a:t>-1</a:t>
              </a:r>
            </a:p>
          </p:txBody>
        </p:sp>
        <p:sp>
          <p:nvSpPr>
            <p:cNvPr id="73" name="Text Box 257">
              <a:extLst>
                <a:ext uri="{FF2B5EF4-FFF2-40B4-BE49-F238E27FC236}">
                  <a16:creationId xmlns:a16="http://schemas.microsoft.com/office/drawing/2014/main" id="{B8FD197A-9041-44F3-9990-5AD05BF3C80F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72000" y="2880000"/>
              <a:ext cx="288925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  <a:endParaRPr lang="en-US" altLang="zh-CN" sz="16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74" name="Line 258">
              <a:extLst>
                <a:ext uri="{FF2B5EF4-FFF2-40B4-BE49-F238E27FC236}">
                  <a16:creationId xmlns:a16="http://schemas.microsoft.com/office/drawing/2014/main" id="{6F5C4353-6096-4EF4-B8BF-048386ED885C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4895504" y="2629588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5" name="Line 259">
              <a:extLst>
                <a:ext uri="{FF2B5EF4-FFF2-40B4-BE49-F238E27FC236}">
                  <a16:creationId xmlns:a16="http://schemas.microsoft.com/office/drawing/2014/main" id="{2E80BBE1-7661-484F-B8EB-890B0FC07846}"/>
                </a:ext>
              </a:extLst>
            </p:cNvPr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427504" y="2629588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6" name="Text Box 260">
              <a:extLst>
                <a:ext uri="{FF2B5EF4-FFF2-40B4-BE49-F238E27FC236}">
                  <a16:creationId xmlns:a16="http://schemas.microsoft.com/office/drawing/2014/main" id="{3E5428A7-6691-49C5-9CE0-7B8FF3B97CEC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536000" y="2629588"/>
              <a:ext cx="360363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  <a:endParaRPr lang="en-US" altLang="zh-CN" sz="16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77" name="Text Box 261">
              <a:extLst>
                <a:ext uri="{FF2B5EF4-FFF2-40B4-BE49-F238E27FC236}">
                  <a16:creationId xmlns:a16="http://schemas.microsoft.com/office/drawing/2014/main" id="{BFD0B8B5-6DBB-40E9-95C2-39E4E267E184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35504" y="3672000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+mn-ea"/>
                  <a:ea typeface="+mn-ea"/>
                </a:rPr>
                <a:t>w</a:t>
              </a:r>
              <a:r>
                <a:rPr lang="zh-CN" altLang="en-US" sz="1600" b="1" u="none" dirty="0">
                  <a:latin typeface="+mn-ea"/>
                  <a:ea typeface="+mn-ea"/>
                </a:rPr>
                <a:t>位</a:t>
              </a:r>
              <a:endParaRPr lang="en-US" altLang="zh-CN" sz="16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78" name="Text Box 263">
              <a:extLst>
                <a:ext uri="{FF2B5EF4-FFF2-40B4-BE49-F238E27FC236}">
                  <a16:creationId xmlns:a16="http://schemas.microsoft.com/office/drawing/2014/main" id="{A610D2A2-0C72-4927-89F7-51E14CFDE96B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285355" y="3168000"/>
              <a:ext cx="7920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latin typeface="+mn-ea"/>
                  <a:ea typeface="+mn-ea"/>
                </a:rPr>
                <a:t>存储单元</a:t>
              </a:r>
              <a:endParaRPr lang="zh-CN" altLang="en-US" sz="14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79" name="右大括号 78">
              <a:extLst>
                <a:ext uri="{FF2B5EF4-FFF2-40B4-BE49-F238E27FC236}">
                  <a16:creationId xmlns:a16="http://schemas.microsoft.com/office/drawing/2014/main" id="{80835858-C3D2-46AB-9C75-7DCE4E5CBE5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5104304" y="2646000"/>
              <a:ext cx="72000" cy="936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80" name="Text Box 256">
              <a:extLst>
                <a:ext uri="{FF2B5EF4-FFF2-40B4-BE49-F238E27FC236}">
                  <a16:creationId xmlns:a16="http://schemas.microsoft.com/office/drawing/2014/main" id="{447A8247-0F32-4DF7-93F9-F52197442420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83504" y="2988000"/>
              <a:ext cx="432000" cy="2167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+mn-ea"/>
                  <a:ea typeface="+mn-ea"/>
                </a:rPr>
                <a:t>2</a:t>
              </a:r>
              <a:r>
                <a:rPr lang="en-US" altLang="zh-CN" sz="1600" b="1" u="none" baseline="30000" dirty="0">
                  <a:latin typeface="+mn-ea"/>
                  <a:ea typeface="+mn-ea"/>
                </a:rPr>
                <a:t>n</a:t>
              </a:r>
              <a:r>
                <a:rPr lang="zh-CN" altLang="en-US" sz="1600" b="1" u="none" dirty="0">
                  <a:latin typeface="+mn-ea"/>
                  <a:ea typeface="+mn-ea"/>
                </a:rPr>
                <a:t>个</a:t>
              </a: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81" name="右大括号 80">
              <a:extLst>
                <a:ext uri="{FF2B5EF4-FFF2-40B4-BE49-F238E27FC236}">
                  <a16:creationId xmlns:a16="http://schemas.microsoft.com/office/drawing/2014/main" id="{598B9233-C6E2-4521-BD3D-833EAD15485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4643504" y="3277944"/>
              <a:ext cx="72000" cy="756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04664"/>
            <a:ext cx="8821644" cy="57477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组织</a:t>
            </a:r>
            <a:r>
              <a:rPr lang="zh-CN" altLang="en-US" sz="2200" b="1" dirty="0">
                <a:latin typeface="宋体" panose="02010600030101010101" pitchFamily="2" charset="-122"/>
              </a:rPr>
              <a:t>性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价较高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的存储系统，按</a:t>
            </a:r>
            <a:r>
              <a:rPr lang="zh-CN" altLang="en-US" sz="2200" b="1" dirty="0">
                <a:latin typeface="宋体" panose="02010600030101010101" pitchFamily="2" charset="-122"/>
              </a:rPr>
              <a:t>逻辑地址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访问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⑴层次结构存储系统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存储系统结构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高性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价方案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MEM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的技术指标，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的层次结构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程序访问局部性、组成要求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⑵半导体存储器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硬件基础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SRAM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none" spc="-100" dirty="0">
                <a:solidFill>
                  <a:schemeClr val="tx1"/>
                </a:solidFill>
                <a:latin typeface="宋体" panose="02010600030101010101" pitchFamily="2" charset="-122"/>
              </a:rPr>
              <a:t>组成、读写时序，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DRAM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的组成、读写时序、刷新</a:t>
            </a:r>
            <a:endParaRPr lang="en-US" altLang="zh-CN" sz="2200" b="1" u="none" spc="-1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⑶主存        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设计与连接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优化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tx1"/>
                </a:solidFill>
              </a:rPr>
              <a:t>     </a:t>
            </a:r>
            <a:r>
              <a:rPr lang="en-US" altLang="zh-CN" sz="2200" b="1" u="none" dirty="0">
                <a:solidFill>
                  <a:schemeClr val="tx1"/>
                </a:solidFill>
              </a:rPr>
              <a:t>     </a:t>
            </a:r>
            <a:r>
              <a:rPr lang="zh-CN" altLang="en-US" sz="2200" b="1" u="none" dirty="0"/>
              <a:t>组成，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逻辑设计，与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的连接，提高访存速度的技术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(3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类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⑷高速缓存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(Cache)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缓冲器组成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层次管理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空间管理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工作过程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，地址映射、替换算法、写策略的实现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⑸虚拟存储器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spc="-100" dirty="0"/>
              <a:t>△</a:t>
            </a:r>
            <a:r>
              <a:rPr lang="en-US" altLang="zh-CN" sz="2000" b="1" u="none" spc="-100" dirty="0">
                <a:latin typeface="+mn-ea"/>
                <a:ea typeface="+mn-ea"/>
              </a:rPr>
              <a:t>)</a:t>
            </a:r>
            <a:r>
              <a:rPr lang="en-US" altLang="zh-CN" sz="2200" b="1" u="none" spc="-100" dirty="0">
                <a:latin typeface="+mn-ea"/>
                <a:ea typeface="+mn-ea"/>
              </a:rPr>
              <a:t>       </a:t>
            </a:r>
            <a:r>
              <a:rPr lang="en-US" altLang="zh-CN" sz="2200" b="1" u="none" spc="-100" baseline="-25000" dirty="0">
                <a:latin typeface="+mn-ea"/>
                <a:ea typeface="+mn-ea"/>
              </a:rPr>
              <a:t>  </a:t>
            </a:r>
            <a:r>
              <a:rPr lang="en-US" altLang="zh-CN" sz="1800" b="1" u="none" spc="-100" dirty="0">
                <a:latin typeface="+mn-ea"/>
                <a:ea typeface="+mn-ea"/>
              </a:rPr>
              <a:t>(</a:t>
            </a:r>
            <a:r>
              <a:rPr lang="zh-CN" altLang="en-US" sz="1800" b="1" u="none" spc="-100" dirty="0">
                <a:solidFill>
                  <a:srgbClr val="0070C0"/>
                </a:solidFill>
                <a:latin typeface="+mn-ea"/>
                <a:ea typeface="+mn-ea"/>
              </a:rPr>
              <a:t>按逻辑地址</a:t>
            </a:r>
            <a:r>
              <a:rPr lang="zh-CN" altLang="en-US" sz="1800" b="1" u="none" spc="-100" dirty="0">
                <a:latin typeface="+mn-ea"/>
                <a:ea typeface="+mn-ea"/>
              </a:rPr>
              <a:t>访问</a:t>
            </a:r>
            <a:r>
              <a:rPr lang="en-US" altLang="zh-CN" sz="1800" b="1" u="none" spc="-100" dirty="0">
                <a:latin typeface="+mn-ea"/>
                <a:ea typeface="+mn-ea"/>
              </a:rPr>
              <a:t>)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结构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工作过程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的存储管理，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的实现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sz="2200" b="1" dirty="0">
                <a:solidFill>
                  <a:schemeClr val="accent2"/>
                </a:solidFill>
              </a:rPr>
              <a:t>可设计</a:t>
            </a:r>
            <a:r>
              <a:rPr lang="zh-CN" altLang="en-US" sz="2200" b="1" u="none" dirty="0"/>
              <a:t>主存、</a:t>
            </a:r>
            <a:r>
              <a:rPr lang="zh-CN" altLang="en-US" sz="2200" b="1" dirty="0">
                <a:solidFill>
                  <a:schemeClr val="accent2"/>
                </a:solidFill>
              </a:rPr>
              <a:t>连接</a:t>
            </a:r>
            <a:r>
              <a:rPr lang="zh-CN" altLang="en-US" sz="2200" b="1" u="none" dirty="0"/>
              <a:t>主存，</a:t>
            </a:r>
            <a:r>
              <a:rPr lang="zh-CN" altLang="en-US" sz="2200" b="1" dirty="0">
                <a:solidFill>
                  <a:schemeClr val="accent2"/>
                </a:solidFill>
              </a:rPr>
              <a:t>掌握</a:t>
            </a:r>
            <a:r>
              <a:rPr lang="zh-CN" altLang="en-US" sz="2200" b="1" u="none" dirty="0"/>
              <a:t>缓冲器的组成原理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4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389118" y="14413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389118" y="230544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389118" y="314096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389118" y="400506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389118" y="479715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A524-D131-4F91-B78E-144E6768314E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§3.1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存储系统概述</a:t>
            </a:r>
          </a:p>
        </p:txBody>
      </p:sp>
      <p:sp>
        <p:nvSpPr>
          <p:cNvPr id="5183" name="Text Box 63"/>
          <p:cNvSpPr txBox="1">
            <a:spLocks noChangeArrowheads="1"/>
          </p:cNvSpPr>
          <p:nvPr/>
        </p:nvSpPr>
        <p:spPr bwMode="auto">
          <a:xfrm>
            <a:off x="179389" y="1196752"/>
            <a:ext cx="4392612" cy="53950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、存储器分类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*按存储介质分类：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*按存取方式分类：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*按应用功能分类：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spcBef>
                <a:spcPts val="27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其他分类：</a:t>
            </a:r>
          </a:p>
        </p:txBody>
      </p:sp>
      <p:graphicFrame>
        <p:nvGraphicFramePr>
          <p:cNvPr id="5234" name="Group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826182"/>
              </p:ext>
            </p:extLst>
          </p:nvPr>
        </p:nvGraphicFramePr>
        <p:xfrm>
          <a:off x="971600" y="2564904"/>
          <a:ext cx="7920880" cy="1483020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顺序存取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(SAM)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随机存取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(RAM)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直接存取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(DAM)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只读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(ROM)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示例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磁带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磁盘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EPROM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92397"/>
                  </a:ext>
                </a:extLst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操作类型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存、取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访问时间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可变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取决于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固定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与地址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无关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可变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与地址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RAM/DAM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编址单位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记录块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记录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存储字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RAM/DAM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Group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476657"/>
              </p:ext>
            </p:extLst>
          </p:nvPr>
        </p:nvGraphicFramePr>
        <p:xfrm>
          <a:off x="971599" y="4574268"/>
          <a:ext cx="7416825" cy="1447020"/>
        </p:xfrm>
        <a:graphic>
          <a:graphicData uri="http://schemas.openxmlformats.org/drawingml/2006/table">
            <a:tbl>
              <a:tblPr/>
              <a:tblGrid>
                <a:gridCol w="1101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(SM)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高速缓存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(Cache)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控存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(CS)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应用功能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直接访问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主存的后援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主存间的缓冲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内部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存放微程序的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存储介质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光介质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存取方式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DRAM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SAM/DAM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SRAM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ROM</a:t>
                      </a:r>
                    </a:p>
                  </a:txBody>
                  <a:tcPr marL="72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2699791" y="1628800"/>
            <a:ext cx="6264819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半导体器件、光介质、磁性材料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←速度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成本递减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9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u="none" dirty="0">
                <a:latin typeface="+mn-ea"/>
                <a:ea typeface="+mn-ea"/>
              </a:rPr>
              <a:t>MEM</a:t>
            </a:r>
            <a:r>
              <a:rPr lang="zh-CN" altLang="en-US" sz="2000" b="1" u="none" dirty="0">
                <a:latin typeface="+mn-ea"/>
                <a:ea typeface="+mn-ea"/>
              </a:rPr>
              <a:t>的技术指标，存储系统的基本组成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sp>
        <p:nvSpPr>
          <p:cNvPr id="13" name="Text Box 63"/>
          <p:cNvSpPr txBox="1">
            <a:spLocks noChangeArrowheads="1"/>
          </p:cNvSpPr>
          <p:nvPr/>
        </p:nvSpPr>
        <p:spPr bwMode="auto">
          <a:xfrm>
            <a:off x="1835696" y="6021288"/>
            <a:ext cx="7200801" cy="468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r>
              <a:rPr lang="zh-CN" altLang="en-US" sz="2200" b="1" u="none" dirty="0">
                <a:latin typeface="宋体" panose="02010600030101010101" pitchFamily="2" charset="-122"/>
              </a:rPr>
              <a:t>易失型</a:t>
            </a:r>
            <a:r>
              <a:rPr lang="en-US" altLang="zh-CN" sz="2200" b="1" u="none" dirty="0">
                <a:latin typeface="宋体" panose="02010600030101010101" pitchFamily="2" charset="-122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</a:rPr>
              <a:t>非易失型等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←非易失型有</a:t>
            </a:r>
            <a:r>
              <a:rPr lang="en-US" altLang="zh-CN" sz="1600" b="1" u="none" dirty="0">
                <a:latin typeface="+mn-ea"/>
                <a:sym typeface="+mn-ea"/>
              </a:rPr>
              <a:t>ROM</a:t>
            </a:r>
            <a:r>
              <a:rPr lang="zh-CN" altLang="en-US" sz="1600" b="1" u="none" dirty="0">
                <a:latin typeface="+mn-ea"/>
                <a:sym typeface="+mn-ea"/>
              </a:rPr>
              <a:t>、</a:t>
            </a:r>
            <a:r>
              <a:rPr lang="en-US" altLang="zh-CN" sz="1600" b="1" u="none" dirty="0">
                <a:latin typeface="+mn-ea"/>
                <a:sym typeface="+mn-ea"/>
              </a:rPr>
              <a:t>SAM(</a:t>
            </a:r>
            <a:r>
              <a:rPr lang="zh-CN" altLang="en-US" sz="1600" b="1" u="none" dirty="0">
                <a:latin typeface="+mn-ea"/>
                <a:sym typeface="+mn-ea"/>
              </a:rPr>
              <a:t>磁带</a:t>
            </a:r>
            <a:r>
              <a:rPr lang="en-US" altLang="zh-CN" sz="1600" b="1" u="none" dirty="0">
                <a:latin typeface="+mn-ea"/>
                <a:sym typeface="+mn-ea"/>
              </a:rPr>
              <a:t>)</a:t>
            </a:r>
            <a:r>
              <a:rPr lang="zh-CN" altLang="en-US" sz="1600" b="1" u="none" dirty="0">
                <a:latin typeface="+mn-ea"/>
                <a:sym typeface="+mn-ea"/>
              </a:rPr>
              <a:t>、</a:t>
            </a:r>
            <a:r>
              <a:rPr lang="en-US" altLang="zh-CN" sz="1600" b="1" u="none" dirty="0">
                <a:latin typeface="+mn-ea"/>
                <a:sym typeface="+mn-ea"/>
              </a:rPr>
              <a:t>DAM(</a:t>
            </a:r>
            <a:r>
              <a:rPr lang="zh-CN" altLang="en-US" sz="1600" b="1" u="none" dirty="0">
                <a:latin typeface="+mn-ea"/>
                <a:sym typeface="+mn-ea"/>
              </a:rPr>
              <a:t>磁盘</a:t>
            </a:r>
            <a:r>
              <a:rPr lang="en-US" altLang="zh-CN" sz="1600" b="1" u="none" dirty="0">
                <a:latin typeface="+mn-ea"/>
                <a:sym typeface="+mn-ea"/>
              </a:rPr>
              <a:t>)</a:t>
            </a:r>
            <a:endParaRPr lang="en-US" altLang="zh-CN" b="1" u="none" dirty="0">
              <a:latin typeface="+mn-ea"/>
              <a:sym typeface="+mn-ea"/>
            </a:endParaRPr>
          </a:p>
        </p:txBody>
      </p:sp>
      <p:sp>
        <p:nvSpPr>
          <p:cNvPr id="15" name="Text Box 726">
            <a:extLst>
              <a:ext uri="{FF2B5EF4-FFF2-40B4-BE49-F238E27FC236}">
                <a16:creationId xmlns:a16="http://schemas.microsoft.com/office/drawing/2014/main" id="{33ABE995-8EEE-4038-8971-8D874D6A682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52456" y="4149112"/>
            <a:ext cx="482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为什么除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RAM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外的编址单位均为记录块？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3" grpId="0"/>
      <p:bldP spid="12" grpId="0"/>
      <p:bldP spid="13" grpId="0"/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128"/>
          <p:cNvSpPr txBox="1">
            <a:spLocks noChangeArrowheads="1"/>
          </p:cNvSpPr>
          <p:nvPr/>
        </p:nvSpPr>
        <p:spPr bwMode="auto">
          <a:xfrm>
            <a:off x="179388" y="332656"/>
            <a:ext cx="3168972" cy="46123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、存储器的技术指标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存储容量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(S)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存取速度：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访问时间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(T</a:t>
            </a:r>
            <a:r>
              <a:rPr lang="en-US" altLang="zh-CN" sz="22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存取周期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(T</a:t>
            </a:r>
            <a:r>
              <a:rPr lang="en-US" altLang="zh-CN" sz="22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rPr>
              <a:t>M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4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*传输速度：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MEM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带宽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(B</a:t>
            </a:r>
            <a:r>
              <a:rPr lang="en-US" altLang="zh-CN" sz="2200" b="1" u="none" baseline="-20000" dirty="0">
                <a:solidFill>
                  <a:schemeClr val="accent2"/>
                </a:solidFill>
                <a:latin typeface="宋体" panose="02010600030101010101" pitchFamily="2" charset="-122"/>
              </a:rPr>
              <a:t>M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A716-81B0-4ECB-BB26-E778756E9104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7297" name="Text Box 129"/>
          <p:cNvSpPr txBox="1">
            <a:spLocks noChangeArrowheads="1"/>
          </p:cNvSpPr>
          <p:nvPr/>
        </p:nvSpPr>
        <p:spPr bwMode="auto">
          <a:xfrm>
            <a:off x="1835695" y="836712"/>
            <a:ext cx="7128909" cy="2122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可存储的</a:t>
            </a:r>
            <a:r>
              <a:rPr lang="zh-CN" altLang="en-US" sz="2200" b="1" dirty="0">
                <a:latin typeface="宋体" panose="02010600030101010101" pitchFamily="2" charset="-122"/>
              </a:rPr>
              <a:t>二进制位数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，单位常为字节</a:t>
            </a:r>
            <a:r>
              <a:rPr lang="en-US" altLang="zh-CN" sz="2200" b="1" u="none" dirty="0">
                <a:latin typeface="宋体" panose="02010600030101010101" pitchFamily="2" charset="-122"/>
              </a:rPr>
              <a:t>(B)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常用</a:t>
            </a:r>
            <a:r>
              <a:rPr lang="zh-CN" altLang="en-US" sz="2200" b="1" dirty="0">
                <a:latin typeface="宋体" panose="02010600030101010101" pitchFamily="2" charset="-122"/>
              </a:rPr>
              <a:t>访问时间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latin typeface="宋体" panose="02010600030101010101" pitchFamily="2" charset="-122"/>
              </a:rPr>
              <a:t>存取周期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表示，单位为</a:t>
            </a:r>
            <a:r>
              <a:rPr lang="en-US" altLang="zh-CN" sz="2200" u="none" dirty="0" err="1">
                <a:latin typeface="+mn-lt"/>
              </a:rPr>
              <a:t>μ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s</a:t>
            </a:r>
            <a:r>
              <a:rPr lang="zh-CN" altLang="en-US" sz="2200" b="1" u="none" dirty="0">
                <a:latin typeface="宋体" panose="02010600030101010101" pitchFamily="2" charset="-122"/>
              </a:rPr>
              <a:t>等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收到命令→完成操作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的时间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两次操作最短间隔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的时间，即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A</a:t>
            </a:r>
            <a:r>
              <a:rPr lang="en-US" altLang="zh-CN" sz="2200" b="1" u="none" dirty="0">
                <a:latin typeface="宋体" panose="02010600030101010101" pitchFamily="2" charset="-122"/>
              </a:rPr>
              <a:t>+T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恢复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                         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的刷新→</a:t>
            </a:r>
            <a:r>
              <a:rPr lang="zh-CN" altLang="en-US" sz="1800" u="none" dirty="0">
                <a:latin typeface="宋体" panose="02010600030101010101" pitchFamily="2" charset="-122"/>
              </a:rPr>
              <a:t>┘</a:t>
            </a:r>
            <a:endParaRPr lang="en-US" altLang="zh-CN" sz="1800" u="none" dirty="0">
              <a:latin typeface="宋体" panose="02010600030101010101" pitchFamily="2" charset="-122"/>
            </a:endParaRPr>
          </a:p>
        </p:txBody>
      </p:sp>
      <p:sp>
        <p:nvSpPr>
          <p:cNvPr id="7324" name="Text Box 156"/>
          <p:cNvSpPr txBox="1">
            <a:spLocks noChangeArrowheads="1"/>
          </p:cNvSpPr>
          <p:nvPr/>
        </p:nvSpPr>
        <p:spPr bwMode="auto">
          <a:xfrm>
            <a:off x="1835695" y="4005064"/>
            <a:ext cx="7128915" cy="1595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常用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带宽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表示，单位常为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Mbps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指</a:t>
            </a:r>
            <a:r>
              <a:rPr lang="en-US" altLang="zh-CN" sz="2200" b="1" u="none" dirty="0"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最大</a:t>
            </a:r>
            <a:r>
              <a:rPr lang="zh-CN" altLang="en-US" sz="2200" b="1" dirty="0">
                <a:latin typeface="宋体" panose="02010600030101010101" pitchFamily="2" charset="-122"/>
              </a:rPr>
              <a:t>数据传输率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传输</a:t>
            </a:r>
            <a:r>
              <a:rPr lang="en-US" altLang="zh-CN" sz="1800" b="1" u="none" dirty="0">
                <a:latin typeface="宋体" panose="02010600030101010101" pitchFamily="2" charset="-122"/>
              </a:rPr>
              <a:t>2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个数据的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最小</a:t>
            </a:r>
            <a:r>
              <a:rPr lang="zh-CN" altLang="en-US" sz="1800" b="1" u="none" dirty="0">
                <a:latin typeface="宋体" panose="02010600030101010101" pitchFamily="2" charset="-122"/>
              </a:rPr>
              <a:t>间隔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 marL="538163" indent="-538163">
              <a:lnSpc>
                <a:spcPct val="125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基本</a:t>
            </a:r>
            <a:r>
              <a:rPr lang="en-US" altLang="zh-CN" sz="1800" b="1" u="none" dirty="0">
                <a:latin typeface="宋体" panose="02010600030101010101" pitchFamily="2" charset="-122"/>
              </a:rPr>
              <a:t>RAM(1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次访问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</a:t>
            </a:r>
            <a:r>
              <a:rPr lang="en-US" altLang="zh-CN" sz="1800" b="1" u="none" dirty="0">
                <a:latin typeface="宋体" panose="02010600030101010101" pitchFamily="2" charset="-122"/>
              </a:rPr>
              <a:t>B</a:t>
            </a:r>
            <a:r>
              <a:rPr lang="en-US" altLang="zh-CN" sz="1800" b="1" u="none" baseline="-20000" dirty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W/T</a:t>
            </a:r>
            <a:r>
              <a:rPr lang="en-US" altLang="zh-CN" sz="1800" b="1" u="none" baseline="-20000" dirty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，多体交叉</a:t>
            </a:r>
            <a:r>
              <a:rPr lang="en-US" altLang="zh-CN" sz="1800" b="1" u="none" dirty="0">
                <a:latin typeface="宋体" panose="02010600030101010101" pitchFamily="2" charset="-122"/>
              </a:rPr>
              <a:t>RAM (n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次访问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</a:t>
            </a:r>
            <a:r>
              <a:rPr lang="en-US" altLang="zh-CN" sz="1800" b="1" u="none" dirty="0">
                <a:latin typeface="宋体" panose="02010600030101010101" pitchFamily="2" charset="-122"/>
              </a:rPr>
              <a:t>B</a:t>
            </a:r>
            <a:r>
              <a:rPr lang="en-US" altLang="zh-CN" sz="1800" b="1" u="none" baseline="-20000" dirty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n</a:t>
            </a:r>
            <a:r>
              <a:rPr lang="en-US" altLang="zh-CN" sz="1800" b="1" u="none" dirty="0" err="1">
                <a:latin typeface="+mn-lt"/>
              </a:rPr>
              <a:t>·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W</a:t>
            </a:r>
            <a:r>
              <a:rPr lang="en-US" altLang="zh-CN" sz="1800" b="1" u="none" dirty="0">
                <a:latin typeface="宋体" panose="02010600030101010101" pitchFamily="2" charset="-122"/>
              </a:rPr>
              <a:t>/T</a:t>
            </a:r>
            <a:r>
              <a:rPr lang="en-US" altLang="zh-CN" sz="1800" b="1" u="none" baseline="-20000" dirty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，其中，</a:t>
            </a:r>
            <a:r>
              <a:rPr lang="en-US" altLang="zh-CN" sz="1800" b="1" u="none" dirty="0">
                <a:latin typeface="宋体" panose="02010600030101010101" pitchFamily="2" charset="-122"/>
              </a:rPr>
              <a:t>W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为数据引脚位数，</a:t>
            </a:r>
            <a:r>
              <a:rPr lang="en-US" altLang="zh-CN" sz="1800" b="1" u="none" dirty="0">
                <a:latin typeface="宋体" panose="02010600030101010101" pitchFamily="2" charset="-122"/>
              </a:rPr>
              <a:t>n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体数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79315" y="2924944"/>
            <a:ext cx="5940685" cy="1041563"/>
            <a:chOff x="1764233" y="3145073"/>
            <a:chExt cx="5940685" cy="1041563"/>
          </a:xfrm>
        </p:grpSpPr>
        <p:sp>
          <p:nvSpPr>
            <p:cNvPr id="7327" name="Line 159"/>
            <p:cNvSpPr>
              <a:spLocks noChangeShapeType="1"/>
            </p:cNvSpPr>
            <p:nvPr/>
          </p:nvSpPr>
          <p:spPr bwMode="auto">
            <a:xfrm>
              <a:off x="2123728" y="3862636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8" name="Line 160"/>
            <p:cNvSpPr>
              <a:spLocks noChangeShapeType="1"/>
            </p:cNvSpPr>
            <p:nvPr/>
          </p:nvSpPr>
          <p:spPr bwMode="auto">
            <a:xfrm>
              <a:off x="4068489" y="3862636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9" name="Line 161"/>
            <p:cNvSpPr>
              <a:spLocks noChangeShapeType="1"/>
            </p:cNvSpPr>
            <p:nvPr/>
          </p:nvSpPr>
          <p:spPr bwMode="auto">
            <a:xfrm>
              <a:off x="5006181" y="3862636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0" name="Line 162"/>
            <p:cNvSpPr>
              <a:spLocks noChangeShapeType="1"/>
            </p:cNvSpPr>
            <p:nvPr/>
          </p:nvSpPr>
          <p:spPr bwMode="auto">
            <a:xfrm>
              <a:off x="3276401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1" name="Line 163"/>
            <p:cNvSpPr>
              <a:spLocks noChangeShapeType="1"/>
            </p:cNvSpPr>
            <p:nvPr/>
          </p:nvSpPr>
          <p:spPr bwMode="auto">
            <a:xfrm flipH="1">
              <a:off x="2124348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2" name="Text Box 164"/>
            <p:cNvSpPr txBox="1">
              <a:spLocks noChangeArrowheads="1"/>
            </p:cNvSpPr>
            <p:nvPr/>
          </p:nvSpPr>
          <p:spPr bwMode="auto">
            <a:xfrm>
              <a:off x="2916361" y="3806519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7336" name="Text Box 168"/>
            <p:cNvSpPr txBox="1">
              <a:spLocks noChangeArrowheads="1"/>
            </p:cNvSpPr>
            <p:nvPr/>
          </p:nvSpPr>
          <p:spPr bwMode="auto">
            <a:xfrm>
              <a:off x="2124273" y="3554519"/>
              <a:ext cx="194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响应  </a:t>
              </a:r>
            </a:p>
          </p:txBody>
        </p:sp>
        <p:sp>
          <p:nvSpPr>
            <p:cNvPr id="7337" name="Line 169"/>
            <p:cNvSpPr>
              <a:spLocks noChangeShapeType="1"/>
            </p:cNvSpPr>
            <p:nvPr/>
          </p:nvSpPr>
          <p:spPr bwMode="auto">
            <a:xfrm>
              <a:off x="2123728" y="3376059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8" name="Text Box 170"/>
            <p:cNvSpPr txBox="1">
              <a:spLocks noChangeArrowheads="1"/>
            </p:cNvSpPr>
            <p:nvPr/>
          </p:nvSpPr>
          <p:spPr bwMode="auto">
            <a:xfrm>
              <a:off x="1764233" y="3145073"/>
              <a:ext cx="14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7339" name="Line 171"/>
            <p:cNvSpPr>
              <a:spLocks noChangeShapeType="1"/>
            </p:cNvSpPr>
            <p:nvPr/>
          </p:nvSpPr>
          <p:spPr bwMode="auto">
            <a:xfrm flipV="1">
              <a:off x="4068489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0" name="Text Box 172"/>
            <p:cNvSpPr txBox="1">
              <a:spLocks noChangeArrowheads="1"/>
            </p:cNvSpPr>
            <p:nvPr/>
          </p:nvSpPr>
          <p:spPr bwMode="auto">
            <a:xfrm>
              <a:off x="3528918" y="3156884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有效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7341" name="Text Box 173"/>
            <p:cNvSpPr txBox="1">
              <a:spLocks noChangeArrowheads="1"/>
            </p:cNvSpPr>
            <p:nvPr/>
          </p:nvSpPr>
          <p:spPr bwMode="auto">
            <a:xfrm>
              <a:off x="5004593" y="3554519"/>
              <a:ext cx="194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响应  </a:t>
              </a:r>
            </a:p>
          </p:txBody>
        </p:sp>
        <p:sp>
          <p:nvSpPr>
            <p:cNvPr id="7343" name="Line 175"/>
            <p:cNvSpPr>
              <a:spLocks noChangeShapeType="1"/>
            </p:cNvSpPr>
            <p:nvPr/>
          </p:nvSpPr>
          <p:spPr bwMode="auto">
            <a:xfrm>
              <a:off x="5004593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4" name="Text Box 176"/>
            <p:cNvSpPr txBox="1">
              <a:spLocks noChangeArrowheads="1"/>
            </p:cNvSpPr>
            <p:nvPr/>
          </p:nvSpPr>
          <p:spPr bwMode="auto">
            <a:xfrm>
              <a:off x="4572545" y="3158471"/>
              <a:ext cx="19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7345" name="Line 177"/>
            <p:cNvSpPr>
              <a:spLocks noChangeShapeType="1"/>
            </p:cNvSpPr>
            <p:nvPr/>
          </p:nvSpPr>
          <p:spPr bwMode="auto">
            <a:xfrm flipV="1">
              <a:off x="6948809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6" name="Text Box 178"/>
            <p:cNvSpPr txBox="1">
              <a:spLocks noChangeArrowheads="1"/>
            </p:cNvSpPr>
            <p:nvPr/>
          </p:nvSpPr>
          <p:spPr bwMode="auto">
            <a:xfrm>
              <a:off x="6552918" y="3158471"/>
              <a:ext cx="11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写操作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完成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7348" name="Line 180"/>
            <p:cNvSpPr>
              <a:spLocks noChangeShapeType="1"/>
            </p:cNvSpPr>
            <p:nvPr/>
          </p:nvSpPr>
          <p:spPr bwMode="auto">
            <a:xfrm>
              <a:off x="6948809" y="3861048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0" name="Line 182"/>
            <p:cNvSpPr>
              <a:spLocks noChangeShapeType="1"/>
            </p:cNvSpPr>
            <p:nvPr/>
          </p:nvSpPr>
          <p:spPr bwMode="auto">
            <a:xfrm>
              <a:off x="6156721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1" name="Line 183"/>
            <p:cNvSpPr>
              <a:spLocks noChangeShapeType="1"/>
            </p:cNvSpPr>
            <p:nvPr/>
          </p:nvSpPr>
          <p:spPr bwMode="auto">
            <a:xfrm flipH="1">
              <a:off x="5004593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2" name="Text Box 184"/>
            <p:cNvSpPr txBox="1">
              <a:spLocks noChangeArrowheads="1"/>
            </p:cNvSpPr>
            <p:nvPr/>
          </p:nvSpPr>
          <p:spPr bwMode="auto">
            <a:xfrm>
              <a:off x="5796681" y="3806519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</a:p>
          </p:txBody>
        </p:sp>
      </p:grpSp>
      <p:sp>
        <p:nvSpPr>
          <p:cNvPr id="37" name="AutoShape 133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39802" y="3334390"/>
            <a:ext cx="5760590" cy="630529"/>
            <a:chOff x="2196183" y="3766438"/>
            <a:chExt cx="5760590" cy="630529"/>
          </a:xfrm>
        </p:grpSpPr>
        <p:sp>
          <p:nvSpPr>
            <p:cNvPr id="40" name="Line 165"/>
            <p:cNvSpPr>
              <a:spLocks noChangeShapeType="1"/>
            </p:cNvSpPr>
            <p:nvPr/>
          </p:nvSpPr>
          <p:spPr bwMode="auto">
            <a:xfrm>
              <a:off x="3852056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66"/>
            <p:cNvSpPr>
              <a:spLocks noChangeShapeType="1"/>
            </p:cNvSpPr>
            <p:nvPr/>
          </p:nvSpPr>
          <p:spPr bwMode="auto">
            <a:xfrm flipH="1">
              <a:off x="2196183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67"/>
            <p:cNvSpPr txBox="1">
              <a:spLocks noChangeArrowheads="1"/>
            </p:cNvSpPr>
            <p:nvPr/>
          </p:nvSpPr>
          <p:spPr bwMode="auto">
            <a:xfrm>
              <a:off x="3491880" y="4162454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</a:p>
          </p:txBody>
        </p:sp>
        <p:sp>
          <p:nvSpPr>
            <p:cNvPr id="43" name="Text Box 174"/>
            <p:cNvSpPr txBox="1">
              <a:spLocks noChangeArrowheads="1"/>
            </p:cNvSpPr>
            <p:nvPr/>
          </p:nvSpPr>
          <p:spPr bwMode="auto">
            <a:xfrm>
              <a:off x="7020272" y="3766438"/>
              <a:ext cx="936501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恢复  </a:t>
              </a:r>
            </a:p>
          </p:txBody>
        </p:sp>
        <p:sp>
          <p:nvSpPr>
            <p:cNvPr id="44" name="Text Box 179"/>
            <p:cNvSpPr txBox="1">
              <a:spLocks noChangeArrowheads="1"/>
            </p:cNvSpPr>
            <p:nvPr/>
          </p:nvSpPr>
          <p:spPr bwMode="auto">
            <a:xfrm>
              <a:off x="4139952" y="3766438"/>
              <a:ext cx="936302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恢复  </a:t>
              </a:r>
            </a:p>
          </p:txBody>
        </p:sp>
        <p:sp>
          <p:nvSpPr>
            <p:cNvPr id="45" name="Line 181"/>
            <p:cNvSpPr>
              <a:spLocks noChangeShapeType="1"/>
            </p:cNvSpPr>
            <p:nvPr/>
          </p:nvSpPr>
          <p:spPr bwMode="auto">
            <a:xfrm>
              <a:off x="7956376" y="4072967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85"/>
            <p:cNvSpPr>
              <a:spLocks noChangeShapeType="1"/>
            </p:cNvSpPr>
            <p:nvPr/>
          </p:nvSpPr>
          <p:spPr bwMode="auto">
            <a:xfrm>
              <a:off x="6732240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86"/>
            <p:cNvSpPr>
              <a:spLocks noChangeShapeType="1"/>
            </p:cNvSpPr>
            <p:nvPr/>
          </p:nvSpPr>
          <p:spPr bwMode="auto">
            <a:xfrm flipH="1">
              <a:off x="5076056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187"/>
            <p:cNvSpPr txBox="1">
              <a:spLocks noChangeArrowheads="1"/>
            </p:cNvSpPr>
            <p:nvPr/>
          </p:nvSpPr>
          <p:spPr bwMode="auto">
            <a:xfrm>
              <a:off x="6372200" y="4162454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83640" y="2708920"/>
            <a:ext cx="936032" cy="576000"/>
            <a:chOff x="-1260140" y="3008739"/>
            <a:chExt cx="936032" cy="576000"/>
          </a:xfrm>
        </p:grpSpPr>
        <p:sp>
          <p:nvSpPr>
            <p:cNvPr id="52" name="Text Box 118"/>
            <p:cNvSpPr txBox="1">
              <a:spLocks noChangeArrowheads="1"/>
            </p:cNvSpPr>
            <p:nvPr/>
          </p:nvSpPr>
          <p:spPr bwMode="auto">
            <a:xfrm>
              <a:off x="-972108" y="3008739"/>
              <a:ext cx="648000" cy="57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cxnSp>
          <p:nvCxnSpPr>
            <p:cNvPr id="53" name="直接箭头连接符 52"/>
            <p:cNvCxnSpPr/>
            <p:nvPr/>
          </p:nvCxnSpPr>
          <p:spPr bwMode="auto">
            <a:xfrm>
              <a:off x="-1260140" y="306896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箭头连接符 53"/>
            <p:cNvCxnSpPr/>
            <p:nvPr/>
          </p:nvCxnSpPr>
          <p:spPr bwMode="auto">
            <a:xfrm>
              <a:off x="-1260140" y="350100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-1255356" y="328498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50" name="Text Box 726">
            <a:extLst>
              <a:ext uri="{FF2B5EF4-FFF2-40B4-BE49-F238E27FC236}">
                <a16:creationId xmlns:a16="http://schemas.microsoft.com/office/drawing/2014/main" id="{F7E6EFD5-8C41-4990-84A2-22E4B231FEF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813" y="5589240"/>
            <a:ext cx="83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类比：</a:t>
            </a:r>
            <a:r>
              <a:rPr lang="zh-CN" altLang="en-US" sz="1800" dirty="0">
                <a:solidFill>
                  <a:schemeClr val="tx1"/>
                </a:solidFill>
              </a:rPr>
              <a:t>同学需回答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个问题，</a:t>
            </a: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zh-CN" altLang="en-US" sz="1800" dirty="0">
                <a:solidFill>
                  <a:schemeClr val="tx1"/>
                </a:solidFill>
              </a:rPr>
              <a:t>＝听清问题→张嘴回答，</a:t>
            </a: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zh-CN" altLang="en-US" sz="1800" baseline="-18000" dirty="0">
                <a:solidFill>
                  <a:schemeClr val="tx1"/>
                </a:solidFill>
              </a:rPr>
              <a:t>恢复</a:t>
            </a:r>
            <a:r>
              <a:rPr lang="zh-CN" altLang="en-US" sz="1800" dirty="0">
                <a:solidFill>
                  <a:schemeClr val="tx1"/>
                </a:solidFill>
              </a:rPr>
              <a:t>＝题间喘气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1" name="Text Box 726">
            <a:extLst>
              <a:ext uri="{FF2B5EF4-FFF2-40B4-BE49-F238E27FC236}">
                <a16:creationId xmlns:a16="http://schemas.microsoft.com/office/drawing/2014/main" id="{6C4AE50C-0B26-43EF-93C9-4FCBAD0202B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56245" y="5589240"/>
            <a:ext cx="93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en-US" altLang="zh-CN" sz="1800" baseline="-20000" dirty="0">
                <a:solidFill>
                  <a:schemeClr val="tx1"/>
                </a:solidFill>
              </a:rPr>
              <a:t>M</a:t>
            </a:r>
            <a:r>
              <a:rPr lang="zh-CN" altLang="en-US" sz="1800" dirty="0">
                <a:solidFill>
                  <a:schemeClr val="tx1"/>
                </a:solidFill>
              </a:rPr>
              <a:t>＝语速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5" name="Text Box 726">
            <a:extLst>
              <a:ext uri="{FF2B5EF4-FFF2-40B4-BE49-F238E27FC236}">
                <a16:creationId xmlns:a16="http://schemas.microsoft.com/office/drawing/2014/main" id="{F9D68CDD-43D2-493F-B9AC-3E82BD50CB8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5490" y="6021288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CPU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 sz="1800" dirty="0">
                <a:solidFill>
                  <a:schemeClr val="tx1"/>
                </a:solidFill>
              </a:rPr>
              <a:t>访存时间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MEM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T</a:t>
            </a:r>
            <a:r>
              <a:rPr lang="en-US" altLang="zh-CN" sz="1800" baseline="-18000" dirty="0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吗？</a:t>
            </a:r>
          </a:p>
        </p:txBody>
      </p:sp>
      <p:sp>
        <p:nvSpPr>
          <p:cNvPr id="57" name="Text Box 726">
            <a:extLst>
              <a:ext uri="{FF2B5EF4-FFF2-40B4-BE49-F238E27FC236}">
                <a16:creationId xmlns:a16="http://schemas.microsoft.com/office/drawing/2014/main" id="{50D0AACD-6243-4727-B7F6-EB4CF34BFE0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27984" y="6021288"/>
            <a:ext cx="4641304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zh-CN" altLang="en-US" sz="1800" baseline="-25000" dirty="0">
                <a:solidFill>
                  <a:schemeClr val="tx1"/>
                </a:solidFill>
              </a:rPr>
              <a:t>地址</a:t>
            </a:r>
            <a:r>
              <a:rPr lang="en-US" altLang="zh-CN" sz="1800" baseline="-25000" dirty="0">
                <a:solidFill>
                  <a:schemeClr val="tx1"/>
                </a:solidFill>
              </a:rPr>
              <a:t>/</a:t>
            </a:r>
            <a:r>
              <a:rPr lang="zh-CN" altLang="en-US" sz="1800" baseline="-25000" dirty="0">
                <a:solidFill>
                  <a:schemeClr val="tx1"/>
                </a:solidFill>
              </a:rPr>
              <a:t>命令传输</a:t>
            </a:r>
            <a:r>
              <a:rPr lang="zh-CN" altLang="en-US" sz="1800" dirty="0">
                <a:solidFill>
                  <a:schemeClr val="tx1"/>
                </a:solidFill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T</a:t>
            </a:r>
            <a:r>
              <a:rPr lang="en-US" altLang="zh-CN" sz="1800" baseline="-25000" dirty="0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T</a:t>
            </a:r>
            <a:r>
              <a:rPr lang="zh-CN" sz="1800" baseline="-25000" dirty="0">
                <a:solidFill>
                  <a:schemeClr val="tx1"/>
                </a:solidFill>
                <a:sym typeface="+mn-ea"/>
              </a:rPr>
              <a:t>数据</a:t>
            </a:r>
            <a:r>
              <a:rPr lang="zh-CN" altLang="en-US" sz="1800" baseline="-25000" dirty="0">
                <a:solidFill>
                  <a:schemeClr val="tx1"/>
                </a:solidFill>
                <a:sym typeface="+mn-ea"/>
              </a:rPr>
              <a:t>传输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，常基于总线互连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1" grpId="0" bldLvl="0" animBg="1"/>
      <p:bldP spid="55" grpId="0" bldLvl="0" animBg="1"/>
      <p:bldP spid="5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137028" cy="58265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、层次结构存储系统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层次结构的引入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即为什么要采用层次结构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的用户需求：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大容量、高速度、低价格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无理，尽量满足</a:t>
            </a:r>
            <a:r>
              <a:rPr lang="en-US" altLang="zh-CN" sz="1800" b="1" u="none" dirty="0">
                <a:latin typeface="宋体" panose="02010600030101010101" pitchFamily="2" charset="-122"/>
              </a:rPr>
              <a:t>!)</a:t>
            </a: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程序访问的局部性原理（规律）：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救命稻草</a:t>
            </a:r>
            <a:r>
              <a:rPr lang="en-US" altLang="zh-CN" sz="1800" b="1" u="none" dirty="0">
                <a:latin typeface="宋体" panose="02010600030101010101" pitchFamily="2" charset="-122"/>
              </a:rPr>
              <a:t>!)</a:t>
            </a: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程序运行时，指令和数据访问所呈现出的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相对</a:t>
            </a:r>
            <a:r>
              <a:rPr lang="zh-CN" altLang="en-US" sz="2200" b="1" dirty="0">
                <a:solidFill>
                  <a:srgbClr val="990099"/>
                </a:solidFill>
              </a:rPr>
              <a:t>簇聚</a:t>
            </a:r>
            <a:r>
              <a:rPr lang="zh-CN" altLang="en-US" sz="2200" b="1" u="none" dirty="0"/>
              <a:t>现象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    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示例：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for (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=0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&lt;n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++) 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1800" b="1" u="none" dirty="0">
                <a:latin typeface="宋体" panose="02010600030101010101" pitchFamily="2" charset="-122"/>
              </a:rPr>
              <a:t>=S+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A[</a:t>
            </a:r>
            <a:r>
              <a:rPr lang="en-US" altLang="zh-CN" sz="1800" b="1" u="none" dirty="0" err="1">
                <a:solidFill>
                  <a:schemeClr val="accent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endParaRPr lang="en-US" altLang="zh-CN" sz="2000" b="1" u="none" dirty="0"/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时间局部性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空间局部性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用户需求的解决方案：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MEM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990099"/>
                </a:solidFill>
                <a:highlight>
                  <a:srgbClr val="99CCFF"/>
                </a:highlight>
                <a:latin typeface="宋体" panose="02010600030101010101" pitchFamily="2" charset="-122"/>
              </a:rPr>
              <a:t>快速</a:t>
            </a:r>
            <a:r>
              <a:rPr lang="en-US" altLang="zh-CN" sz="2200" b="1" u="none" dirty="0">
                <a:highlight>
                  <a:srgbClr val="99CCFF"/>
                </a:highlight>
                <a:latin typeface="宋体" panose="02010600030101010101" pitchFamily="2" charset="-122"/>
              </a:rPr>
              <a:t>MEM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＋   </a:t>
            </a:r>
            <a:r>
              <a:rPr lang="zh-CN" altLang="en-US" sz="2200" b="1" u="none" dirty="0">
                <a:solidFill>
                  <a:srgbClr val="990099"/>
                </a:solidFill>
                <a:highlight>
                  <a:srgbClr val="99CCFF"/>
                </a:highlight>
                <a:latin typeface="宋体" panose="02010600030101010101" pitchFamily="2" charset="-122"/>
              </a:rPr>
              <a:t>慢速</a:t>
            </a:r>
            <a:r>
              <a:rPr lang="en-US" altLang="zh-CN" sz="2200" b="1" u="none" dirty="0">
                <a:highlight>
                  <a:srgbClr val="99CCFF"/>
                </a:highlight>
                <a:latin typeface="宋体" panose="02010600030101010101" pitchFamily="2" charset="-122"/>
              </a:rPr>
              <a:t>MEM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速度保证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容量保证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容量小  ＋   容量大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 </a:t>
            </a:r>
            <a:r>
              <a:rPr lang="zh-CN" altLang="en-US" sz="2200" b="1" u="none" dirty="0">
                <a:solidFill>
                  <a:srgbClr val="990099"/>
                </a:solidFill>
                <a:highlight>
                  <a:srgbClr val="FFCC99"/>
                </a:highlight>
                <a:latin typeface="宋体" panose="02010600030101010101" pitchFamily="2" charset="-122"/>
                <a:sym typeface="+mn-ea"/>
              </a:rPr>
              <a:t>容量大</a:t>
            </a:r>
            <a:endParaRPr lang="en-US" altLang="zh-CN" sz="2200" b="1" u="none" dirty="0">
              <a:solidFill>
                <a:srgbClr val="990099"/>
              </a:solidFill>
              <a:highlight>
                <a:srgbClr val="FFCC99"/>
              </a:highlight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价格保证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占比小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＋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占比大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 </a:t>
            </a:r>
            <a:r>
              <a:rPr lang="zh-CN" altLang="en-US" sz="2200" b="1" u="none" dirty="0">
                <a:solidFill>
                  <a:srgbClr val="990099"/>
                </a:solidFill>
                <a:highlight>
                  <a:srgbClr val="FFCC99"/>
                </a:highlight>
                <a:latin typeface="宋体" panose="02010600030101010101" pitchFamily="2" charset="-122"/>
              </a:rPr>
              <a:t>价格低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56" name="Text Box 170"/>
          <p:cNvSpPr txBox="1">
            <a:spLocks noChangeArrowheads="1"/>
          </p:cNvSpPr>
          <p:nvPr/>
        </p:nvSpPr>
        <p:spPr bwMode="auto">
          <a:xfrm>
            <a:off x="2123728" y="4231041"/>
            <a:ext cx="6332381" cy="998159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层次结构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highlight>
                  <a:srgbClr val="CC99FF"/>
                </a:highlight>
                <a:latin typeface="宋体" panose="02010600030101010101" pitchFamily="2" charset="-122"/>
              </a:rPr>
              <a:t>近期</a:t>
            </a:r>
            <a:r>
              <a:rPr lang="zh-CN" altLang="en-US" sz="2200" b="1" dirty="0">
                <a:solidFill>
                  <a:srgbClr val="0070C0"/>
                </a:solidFill>
                <a:highlight>
                  <a:srgbClr val="CC99FF"/>
                </a:highlight>
                <a:latin typeface="宋体" panose="02010600030101010101" pitchFamily="2" charset="-122"/>
              </a:rPr>
              <a:t>常用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  近期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未用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 </a:t>
            </a:r>
            <a:r>
              <a:rPr lang="zh-CN" altLang="en-US" sz="2200" b="1" u="none" dirty="0">
                <a:solidFill>
                  <a:srgbClr val="990099"/>
                </a:solidFill>
                <a:highlight>
                  <a:srgbClr val="FFCC99"/>
                </a:highlight>
                <a:latin typeface="宋体" panose="02010600030101010101" pitchFamily="2" charset="-122"/>
                <a:sym typeface="+mn-ea"/>
              </a:rPr>
              <a:t>速度快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851920" y="4020291"/>
            <a:ext cx="2448272" cy="878349"/>
            <a:chOff x="4716016" y="4070587"/>
            <a:chExt cx="2448272" cy="878349"/>
          </a:xfrm>
        </p:grpSpPr>
        <p:sp>
          <p:nvSpPr>
            <p:cNvPr id="43" name="上箭头 42"/>
            <p:cNvSpPr/>
            <p:nvPr/>
          </p:nvSpPr>
          <p:spPr bwMode="auto">
            <a:xfrm>
              <a:off x="6732241" y="4684339"/>
              <a:ext cx="144015" cy="257176"/>
            </a:xfrm>
            <a:prstGeom prst="upArrow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Text Box 170"/>
            <p:cNvSpPr txBox="1">
              <a:spLocks noChangeArrowheads="1"/>
            </p:cNvSpPr>
            <p:nvPr/>
          </p:nvSpPr>
          <p:spPr bwMode="auto">
            <a:xfrm>
              <a:off x="4860032" y="4648339"/>
              <a:ext cx="288032" cy="3005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sp>
          <p:nvSpPr>
            <p:cNvPr id="45" name="上箭头 44"/>
            <p:cNvSpPr/>
            <p:nvPr/>
          </p:nvSpPr>
          <p:spPr bwMode="auto">
            <a:xfrm>
              <a:off x="4716016" y="4684339"/>
              <a:ext cx="144015" cy="257176"/>
            </a:xfrm>
            <a:prstGeom prst="up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170"/>
            <p:cNvSpPr txBox="1">
              <a:spLocks noChangeArrowheads="1"/>
            </p:cNvSpPr>
            <p:nvPr/>
          </p:nvSpPr>
          <p:spPr bwMode="auto">
            <a:xfrm>
              <a:off x="6876256" y="4648339"/>
              <a:ext cx="288032" cy="3005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 flipH="1">
              <a:off x="4932040" y="4070587"/>
              <a:ext cx="2161" cy="3229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 flipH="1" flipV="1">
              <a:off x="5076056" y="4072339"/>
              <a:ext cx="2" cy="3166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B49E2-EB6B-4598-894A-7D6A3648E853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2483768" y="2780928"/>
            <a:ext cx="6120680" cy="899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最近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访问过的信息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，将再次被访问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最近访问信息的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相邻信息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，将很快被访问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A31BF9A-77C4-4E86-B774-FD9D8FD74604}"/>
              </a:ext>
            </a:extLst>
          </p:cNvPr>
          <p:cNvGrpSpPr/>
          <p:nvPr/>
        </p:nvGrpSpPr>
        <p:grpSpPr>
          <a:xfrm>
            <a:off x="4355976" y="3753600"/>
            <a:ext cx="3744024" cy="611470"/>
            <a:chOff x="4355976" y="3609586"/>
            <a:chExt cx="3744024" cy="611470"/>
          </a:xfrm>
        </p:grpSpPr>
        <p:sp>
          <p:nvSpPr>
            <p:cNvPr id="59" name="下弧形箭头 58"/>
            <p:cNvSpPr/>
            <p:nvPr/>
          </p:nvSpPr>
          <p:spPr bwMode="auto">
            <a:xfrm rot="10800000">
              <a:off x="4428000" y="3861048"/>
              <a:ext cx="1548000" cy="324000"/>
            </a:xfrm>
            <a:prstGeom prst="curvedUpArrow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170"/>
            <p:cNvSpPr txBox="1">
              <a:spLocks noChangeArrowheads="1"/>
            </p:cNvSpPr>
            <p:nvPr/>
          </p:nvSpPr>
          <p:spPr bwMode="auto">
            <a:xfrm>
              <a:off x="4355976" y="3609586"/>
              <a:ext cx="1944216" cy="17974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②访问未用数据时</a:t>
              </a:r>
            </a:p>
          </p:txBody>
        </p:sp>
        <p:sp>
          <p:nvSpPr>
            <p:cNvPr id="25" name="Text Box 127"/>
            <p:cNvSpPr txBox="1">
              <a:spLocks noChangeArrowheads="1"/>
            </p:cNvSpPr>
            <p:nvPr/>
          </p:nvSpPr>
          <p:spPr bwMode="auto">
            <a:xfrm>
              <a:off x="6804000" y="3933056"/>
              <a:ext cx="1296000" cy="2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利用局部性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 flipH="1" flipV="1">
              <a:off x="6048000" y="4064388"/>
              <a:ext cx="75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8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87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7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87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87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87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87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87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179512" y="332656"/>
            <a:ext cx="4104456" cy="50786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存储系统的层次结构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*结构与组成：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参数要求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*内部工作协调：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信息存放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信息传递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90837" name="Text Box 21"/>
          <p:cNvSpPr txBox="1">
            <a:spLocks noChangeArrowheads="1"/>
          </p:cNvSpPr>
          <p:nvPr/>
        </p:nvSpPr>
        <p:spPr bwMode="auto">
          <a:xfrm>
            <a:off x="1475656" y="2276872"/>
            <a:ext cx="7632848" cy="33635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spc="-100" dirty="0">
                <a:latin typeface="+mn-ea"/>
              </a:rPr>
              <a:t>S</a:t>
            </a:r>
            <a:r>
              <a:rPr lang="zh-CN" altLang="en-US" sz="2200" b="1" u="none" spc="-100" dirty="0">
                <a:latin typeface="+mn-ea"/>
              </a:rPr>
              <a:t>＝</a:t>
            </a:r>
            <a:r>
              <a:rPr lang="en-US" altLang="zh-CN" sz="2200" b="1" u="none" spc="-100" dirty="0" err="1">
                <a:latin typeface="+mn-ea"/>
              </a:rPr>
              <a:t>S</a:t>
            </a:r>
            <a:r>
              <a:rPr lang="en-US" altLang="zh-CN" sz="2200" b="1" u="none" spc="-100" baseline="-20000" dirty="0" err="1">
                <a:latin typeface="+mn-ea"/>
              </a:rPr>
              <a:t>Mn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T≈</a:t>
            </a:r>
            <a:r>
              <a:rPr lang="en-US" altLang="zh-CN" sz="2200" b="1" u="none" spc="-100" dirty="0">
                <a:latin typeface="+mn-ea"/>
              </a:rPr>
              <a:t>T</a:t>
            </a:r>
            <a:r>
              <a:rPr lang="en-US" altLang="zh-CN" sz="2200" b="1" u="none" spc="-100" baseline="-20000" dirty="0">
                <a:latin typeface="+mn-ea"/>
              </a:rPr>
              <a:t>M1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(c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M1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+c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M2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+…+</a:t>
            </a:r>
            <a:r>
              <a:rPr lang="en-US" altLang="zh-CN" sz="2200" b="1" u="none" spc="-1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2200" b="1" u="none" spc="-100" baseline="-16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u="none" spc="-1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u="none" spc="-100" baseline="-16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Mn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)/(S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M1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+S</a:t>
            </a:r>
            <a:r>
              <a:rPr lang="en-US" altLang="zh-CN" sz="2200" b="1" u="none" spc="-100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M2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+…+</a:t>
            </a:r>
            <a:r>
              <a:rPr lang="en-US" altLang="zh-CN" sz="2200" b="1" u="none" spc="-1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u="none" spc="-100" baseline="-16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Mn</a:t>
            </a:r>
            <a:r>
              <a:rPr lang="en-US" altLang="zh-CN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)≈</a:t>
            </a:r>
            <a:r>
              <a:rPr lang="en-US" altLang="zh-CN" sz="2200" b="1" u="none" spc="-1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2200" b="1" u="none" spc="-100" baseline="-16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endParaRPr lang="en-US" altLang="zh-CN" sz="2200" b="1" u="none" spc="-100" baseline="-160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  容量</a:t>
            </a:r>
            <a:r>
              <a:rPr lang="en-US" altLang="zh-CN" sz="2200" b="1" u="none" dirty="0" err="1">
                <a:latin typeface="+mn-ea"/>
                <a:ea typeface="+mn-ea"/>
              </a:rPr>
              <a:t>S</a:t>
            </a:r>
            <a:r>
              <a:rPr lang="en-US" altLang="zh-CN" sz="2200" b="1" u="none" baseline="-20000" dirty="0" err="1">
                <a:latin typeface="+mn-ea"/>
                <a:ea typeface="+mn-ea"/>
              </a:rPr>
              <a:t>Mn</a:t>
            </a: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&gt;&gt;</a:t>
            </a:r>
            <a:r>
              <a:rPr lang="en-US" altLang="zh-CN" sz="2200" b="1" u="none" dirty="0">
                <a:latin typeface="+mn-ea"/>
                <a:ea typeface="+mn-ea"/>
              </a:rPr>
              <a:t>…&gt;&gt;S</a:t>
            </a:r>
            <a:r>
              <a:rPr lang="en-US" altLang="zh-CN" sz="2200" b="1" u="none" baseline="-20000" dirty="0">
                <a:latin typeface="+mn-ea"/>
                <a:ea typeface="+mn-ea"/>
              </a:rPr>
              <a:t>M2</a:t>
            </a:r>
            <a:r>
              <a:rPr lang="en-US" altLang="zh-CN" sz="2200" b="1" u="none" dirty="0">
                <a:latin typeface="+mn-ea"/>
                <a:ea typeface="+mn-ea"/>
              </a:rPr>
              <a:t>&gt;&gt;S</a:t>
            </a:r>
            <a:r>
              <a:rPr lang="en-US" altLang="zh-CN" sz="2200" b="1" u="none" baseline="-20000" dirty="0">
                <a:latin typeface="+mn-ea"/>
                <a:ea typeface="+mn-ea"/>
              </a:rPr>
              <a:t>M1</a:t>
            </a:r>
            <a:r>
              <a:rPr lang="zh-CN" altLang="en-US" sz="2200" b="1" u="none" dirty="0">
                <a:latin typeface="+mn-ea"/>
                <a:ea typeface="+mn-ea"/>
              </a:rPr>
              <a:t>，速度</a:t>
            </a:r>
            <a:r>
              <a:rPr lang="en-US" altLang="zh-CN" sz="2200" b="1" u="none" dirty="0" err="1">
                <a:latin typeface="+mn-ea"/>
                <a:ea typeface="+mn-ea"/>
              </a:rPr>
              <a:t>T</a:t>
            </a:r>
            <a:r>
              <a:rPr lang="en-US" altLang="zh-CN" sz="2200" b="1" u="none" baseline="-20000" dirty="0" err="1">
                <a:latin typeface="+mn-ea"/>
                <a:ea typeface="+mn-ea"/>
              </a:rPr>
              <a:t>Mn</a:t>
            </a: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&gt;&gt;</a:t>
            </a:r>
            <a:r>
              <a:rPr lang="en-US" altLang="zh-CN" sz="2200" b="1" u="none" dirty="0">
                <a:latin typeface="+mn-ea"/>
                <a:ea typeface="+mn-ea"/>
              </a:rPr>
              <a:t>…&gt;&gt;T</a:t>
            </a:r>
            <a:r>
              <a:rPr lang="en-US" altLang="zh-CN" sz="2200" b="1" u="none" baseline="-20000" dirty="0">
                <a:latin typeface="+mn-ea"/>
                <a:ea typeface="+mn-ea"/>
              </a:rPr>
              <a:t>M2</a:t>
            </a:r>
            <a:r>
              <a:rPr lang="en-US" altLang="zh-CN" sz="2200" b="1" u="none" dirty="0">
                <a:latin typeface="+mn-ea"/>
                <a:ea typeface="+mn-ea"/>
              </a:rPr>
              <a:t>&gt;&gt;T</a:t>
            </a:r>
            <a:r>
              <a:rPr lang="en-US" altLang="zh-CN" sz="2200" b="1" u="none" baseline="-20000" dirty="0">
                <a:latin typeface="+mn-ea"/>
                <a:ea typeface="+mn-ea"/>
              </a:rPr>
              <a:t>M1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endParaRPr lang="en-US" altLang="zh-CN" sz="2200" b="1" u="none" baseline="-18000" dirty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1800" u="none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←利于</a:t>
            </a:r>
            <a:r>
              <a:rPr lang="en-US" altLang="zh-CN" sz="18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1800" b="1" u="none" baseline="-16000" dirty="0" err="1"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en-US" altLang="zh-CN" sz="18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1800" b="1" u="none" baseline="-16000" dirty="0" err="1">
                <a:latin typeface="宋体" panose="02010600030101010101" pitchFamily="2" charset="-122"/>
                <a:cs typeface="宋体" panose="02010600030101010101" pitchFamily="2" charset="-122"/>
              </a:rPr>
              <a:t>Mn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主因子→</a:t>
            </a:r>
            <a:r>
              <a:rPr lang="zh-CN" altLang="en-US" sz="1800" u="none" dirty="0">
                <a:latin typeface="宋体" panose="02010600030101010101" pitchFamily="2" charset="-122"/>
                <a:cs typeface="宋体" panose="02010600030101010101" pitchFamily="2" charset="-122"/>
              </a:rPr>
              <a:t>─┘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放在</a:t>
            </a:r>
            <a:r>
              <a:rPr lang="en-US" altLang="zh-CN" sz="2200" b="1" u="none" dirty="0">
                <a:latin typeface="宋体" panose="02010600030101010101" pitchFamily="2" charset="-122"/>
              </a:rPr>
              <a:t>M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n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M</a:t>
            </a:r>
            <a:r>
              <a:rPr lang="en-US" altLang="zh-CN" sz="2200" b="1" u="none" baseline="-25000" dirty="0">
                <a:latin typeface="宋体" panose="02010600030101010101" pitchFamily="2" charset="-122"/>
              </a:rPr>
              <a:t>i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中信息为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baseline="-25000" dirty="0">
                <a:latin typeface="宋体" panose="02010600030101010101" pitchFamily="2" charset="-122"/>
                <a:sym typeface="+mn-ea"/>
              </a:rPr>
              <a:t>i+1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中信息的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副本</a:t>
            </a:r>
            <a:endParaRPr lang="en-US" altLang="zh-CN" sz="2200" b="1" u="none" baseline="-18000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                  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</a:t>
            </a:r>
            <a:r>
              <a:rPr lang="zh-CN" altLang="en-US" sz="1800" u="none" dirty="0">
                <a:latin typeface="宋体" panose="02010600030101010101" pitchFamily="2" charset="-122"/>
              </a:rPr>
              <a:t>├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+mn-ea"/>
                <a:sym typeface="+mn-ea"/>
              </a:rPr>
              <a:t>M</a:t>
            </a:r>
            <a:r>
              <a:rPr lang="en-US" altLang="zh-CN" sz="1800" b="1" u="none" baseline="-25000" dirty="0">
                <a:latin typeface="+mn-ea"/>
                <a:sym typeface="+mn-ea"/>
              </a:rPr>
              <a:t>i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改写后需写回</a:t>
            </a:r>
            <a:r>
              <a:rPr lang="en-US" altLang="zh-CN" sz="1800" b="1" u="none" dirty="0">
                <a:latin typeface="+mn-ea"/>
                <a:sym typeface="+mn-ea"/>
              </a:rPr>
              <a:t>M</a:t>
            </a:r>
            <a:r>
              <a:rPr lang="en-US" altLang="zh-CN" sz="1800" b="1" u="none" baseline="-25000" dirty="0">
                <a:latin typeface="+mn-ea"/>
                <a:sym typeface="+mn-ea"/>
              </a:rPr>
              <a:t>i+1</a:t>
            </a:r>
            <a:r>
              <a:rPr lang="zh-CN" altLang="en-US" sz="1800" b="1" u="none" dirty="0">
                <a:latin typeface="+mn-ea"/>
              </a:rPr>
              <a:t> </a:t>
            </a:r>
            <a:endParaRPr lang="en-US" altLang="zh-CN" sz="1800" b="1" u="none" dirty="0">
              <a:latin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+mn-ea"/>
              </a:rPr>
              <a:t>               </a:t>
            </a:r>
            <a:r>
              <a:rPr lang="en-US" altLang="zh-CN" sz="1800" b="1" u="none" dirty="0">
                <a:latin typeface="+mn-ea"/>
              </a:rPr>
              <a:t>  </a:t>
            </a:r>
            <a:r>
              <a:rPr lang="zh-CN" altLang="en-US" sz="1800" b="1" u="none" dirty="0">
                <a:latin typeface="+mn-ea"/>
              </a:rPr>
              <a:t>                          </a:t>
            </a:r>
            <a:r>
              <a:rPr lang="zh-CN" altLang="en-US" sz="1800" u="none" dirty="0">
                <a:latin typeface="+mn-ea"/>
              </a:rPr>
              <a:t>└</a:t>
            </a:r>
            <a:r>
              <a:rPr lang="zh-CN" altLang="en-US" sz="1800" b="1" u="none" dirty="0">
                <a:latin typeface="+mn-ea"/>
              </a:rPr>
              <a:t>←有效容量</a:t>
            </a:r>
            <a:r>
              <a:rPr lang="en-US" altLang="zh-CN" sz="1800" b="1" u="none" dirty="0">
                <a:latin typeface="+mn-ea"/>
              </a:rPr>
              <a:t>S</a:t>
            </a:r>
            <a:r>
              <a:rPr lang="zh-CN" altLang="en-US" sz="1800" b="1" u="none" dirty="0">
                <a:latin typeface="+mn-ea"/>
              </a:rPr>
              <a:t>＝</a:t>
            </a:r>
            <a:r>
              <a:rPr lang="en-US" altLang="zh-CN" sz="1800" b="1" u="none" dirty="0" err="1">
                <a:latin typeface="+mn-ea"/>
              </a:rPr>
              <a:t>S</a:t>
            </a:r>
            <a:r>
              <a:rPr lang="en-US" altLang="zh-CN" sz="1800" b="1" u="none" baseline="-20000" dirty="0" err="1">
                <a:latin typeface="+mn-ea"/>
              </a:rPr>
              <a:t>Mn</a:t>
            </a:r>
            <a:endParaRPr lang="en-US" altLang="zh-CN" sz="1800" u="none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外部只访问</a:t>
            </a:r>
            <a:r>
              <a:rPr lang="en-US" altLang="zh-CN" sz="2200" b="1" u="none" dirty="0">
                <a:latin typeface="宋体" panose="02010600030101010101" pitchFamily="2" charset="-122"/>
              </a:rPr>
              <a:t>M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，内部各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baseline="-25000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2200" b="1" u="none" dirty="0">
                <a:latin typeface="宋体" panose="02010600030101010101" pitchFamily="2" charset="-122"/>
              </a:rPr>
              <a:t>间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透明地传递</a:t>
            </a:r>
            <a:r>
              <a:rPr lang="zh-CN" altLang="en-US" sz="2200" b="1" u="none" dirty="0">
                <a:latin typeface="宋体" panose="02010600030101010101" pitchFamily="2" charset="-122"/>
              </a:rPr>
              <a:t>信息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└─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i="1" u="none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不固定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u="none" dirty="0">
                <a:latin typeface="宋体" panose="02010600030101010101" pitchFamily="2" charset="-122"/>
              </a:rPr>
              <a:t>───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外部不可见</a:t>
            </a:r>
            <a:r>
              <a:rPr lang="zh-CN" altLang="en-US" sz="1800" b="1" u="none" dirty="0">
                <a:latin typeface="+mn-ea"/>
              </a:rPr>
              <a:t>←</a:t>
            </a:r>
            <a:r>
              <a:rPr lang="zh-CN" altLang="en-US" sz="1800" u="none" dirty="0">
                <a:latin typeface="宋体" panose="02010600030101010101" pitchFamily="2" charset="-122"/>
              </a:rPr>
              <a:t>┘</a:t>
            </a:r>
            <a:endParaRPr lang="zh-CN" altLang="en-US" sz="1800" u="none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F8FB49E2-EB6B-4598-894A-7D6A3648E853}" type="slidenum">
              <a:rPr lang="en-US" altLang="zh-CN"/>
              <a:t>7</a:t>
            </a:fld>
            <a:endParaRPr lang="en-US" altLang="zh-CN"/>
          </a:p>
        </p:txBody>
      </p:sp>
      <p:grpSp>
        <p:nvGrpSpPr>
          <p:cNvPr id="24" name="Group 119"/>
          <p:cNvGrpSpPr/>
          <p:nvPr/>
        </p:nvGrpSpPr>
        <p:grpSpPr bwMode="auto">
          <a:xfrm>
            <a:off x="1331640" y="1268760"/>
            <a:ext cx="5975350" cy="936625"/>
            <a:chOff x="930" y="1388"/>
            <a:chExt cx="3764" cy="590"/>
          </a:xfrm>
        </p:grpSpPr>
        <p:sp>
          <p:nvSpPr>
            <p:cNvPr id="25" name="Rectangle 120"/>
            <p:cNvSpPr>
              <a:spLocks noChangeArrowheads="1"/>
            </p:cNvSpPr>
            <p:nvPr/>
          </p:nvSpPr>
          <p:spPr bwMode="auto">
            <a:xfrm>
              <a:off x="1973" y="1388"/>
              <a:ext cx="2721" cy="59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altLang="zh-CN" sz="2000" b="1" u="none" dirty="0"/>
            </a:p>
            <a:p>
              <a:endParaRPr lang="en-US" altLang="zh-CN" sz="2000" b="1" u="none" dirty="0"/>
            </a:p>
            <a:p>
              <a:r>
                <a:rPr lang="en-US" altLang="zh-CN" sz="2000" b="1" u="none" dirty="0"/>
                <a:t>      </a:t>
              </a:r>
              <a:r>
                <a:rPr lang="zh-CN" altLang="en-US" sz="1800" b="1" u="none" dirty="0"/>
                <a:t>存储系统</a:t>
              </a:r>
            </a:p>
          </p:txBody>
        </p:sp>
        <p:sp>
          <p:nvSpPr>
            <p:cNvPr id="26" name="Text Box 121"/>
            <p:cNvSpPr txBox="1">
              <a:spLocks noChangeArrowheads="1"/>
            </p:cNvSpPr>
            <p:nvPr/>
          </p:nvSpPr>
          <p:spPr bwMode="auto">
            <a:xfrm>
              <a:off x="1051" y="1479"/>
              <a:ext cx="590" cy="18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寄存器</a:t>
              </a:r>
            </a:p>
          </p:txBody>
        </p:sp>
        <p:sp>
          <p:nvSpPr>
            <p:cNvPr id="27" name="Text Box 122"/>
            <p:cNvSpPr txBox="1">
              <a:spLocks noChangeArrowheads="1"/>
            </p:cNvSpPr>
            <p:nvPr/>
          </p:nvSpPr>
          <p:spPr bwMode="auto">
            <a:xfrm>
              <a:off x="2094" y="1434"/>
              <a:ext cx="454" cy="27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8" name="Text Box 123"/>
            <p:cNvSpPr txBox="1">
              <a:spLocks noChangeArrowheads="1"/>
            </p:cNvSpPr>
            <p:nvPr/>
          </p:nvSpPr>
          <p:spPr bwMode="auto">
            <a:xfrm>
              <a:off x="2820" y="1434"/>
              <a:ext cx="453" cy="3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9" name="Text Box 124"/>
            <p:cNvSpPr txBox="1">
              <a:spLocks noChangeArrowheads="1"/>
            </p:cNvSpPr>
            <p:nvPr/>
          </p:nvSpPr>
          <p:spPr bwMode="auto">
            <a:xfrm>
              <a:off x="4135" y="1434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30" name="Rectangle 126"/>
            <p:cNvSpPr>
              <a:spLocks noChangeArrowheads="1"/>
            </p:cNvSpPr>
            <p:nvPr/>
          </p:nvSpPr>
          <p:spPr bwMode="auto">
            <a:xfrm>
              <a:off x="930" y="1388"/>
              <a:ext cx="861" cy="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27"/>
            <p:cNvSpPr txBox="1">
              <a:spLocks noChangeArrowheads="1"/>
            </p:cNvSpPr>
            <p:nvPr/>
          </p:nvSpPr>
          <p:spPr bwMode="auto">
            <a:xfrm>
              <a:off x="1111" y="1751"/>
              <a:ext cx="453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endParaRPr lang="en-US" altLang="zh-CN" sz="1800" b="1" u="none" baseline="-14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AutoShape 128"/>
            <p:cNvSpPr>
              <a:spLocks noChangeArrowheads="1"/>
            </p:cNvSpPr>
            <p:nvPr/>
          </p:nvSpPr>
          <p:spPr bwMode="auto">
            <a:xfrm>
              <a:off x="1640" y="1479"/>
              <a:ext cx="454" cy="181"/>
            </a:xfrm>
            <a:prstGeom prst="leftRightArrow">
              <a:avLst>
                <a:gd name="adj1" fmla="val 50278"/>
                <a:gd name="adj2" fmla="val 50275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129"/>
            <p:cNvSpPr>
              <a:spLocks noChangeArrowheads="1"/>
            </p:cNvSpPr>
            <p:nvPr/>
          </p:nvSpPr>
          <p:spPr bwMode="auto">
            <a:xfrm>
              <a:off x="2548" y="1524"/>
              <a:ext cx="272" cy="136"/>
            </a:xfrm>
            <a:prstGeom prst="leftRightArrow">
              <a:avLst>
                <a:gd name="adj1" fmla="val 50000"/>
                <a:gd name="adj2" fmla="val 58824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utoShape 130"/>
            <p:cNvSpPr>
              <a:spLocks noChangeArrowheads="1"/>
            </p:cNvSpPr>
            <p:nvPr/>
          </p:nvSpPr>
          <p:spPr bwMode="auto">
            <a:xfrm>
              <a:off x="3278" y="1570"/>
              <a:ext cx="272" cy="91"/>
            </a:xfrm>
            <a:prstGeom prst="leftRightArrow">
              <a:avLst>
                <a:gd name="adj1" fmla="val 49454"/>
                <a:gd name="adj2" fmla="val 85713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utoShape 131"/>
            <p:cNvSpPr>
              <a:spLocks noChangeArrowheads="1"/>
            </p:cNvSpPr>
            <p:nvPr/>
          </p:nvSpPr>
          <p:spPr bwMode="auto">
            <a:xfrm>
              <a:off x="3859" y="1615"/>
              <a:ext cx="272" cy="46"/>
            </a:xfrm>
            <a:prstGeom prst="leftRightArrow">
              <a:avLst>
                <a:gd name="adj1" fmla="val 49454"/>
                <a:gd name="adj2" fmla="val 169562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132"/>
            <p:cNvSpPr txBox="1">
              <a:spLocks noChangeArrowheads="1"/>
            </p:cNvSpPr>
            <p:nvPr/>
          </p:nvSpPr>
          <p:spPr bwMode="auto">
            <a:xfrm>
              <a:off x="3546" y="1524"/>
              <a:ext cx="272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baseline="-14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2123728" y="764704"/>
            <a:ext cx="6408712" cy="458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多种</a:t>
            </a:r>
            <a:r>
              <a:rPr lang="en-US" altLang="zh-CN" sz="2200" b="1" u="none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级联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，按</a:t>
            </a:r>
            <a:r>
              <a:rPr lang="zh-CN" altLang="en-US" sz="2200" b="1" dirty="0">
                <a:latin typeface="宋体" panose="02010600030101010101" pitchFamily="2" charset="-122"/>
              </a:rPr>
              <a:t>速度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分层、协调工作</a:t>
            </a:r>
          </a:p>
        </p:txBody>
      </p:sp>
      <p:sp>
        <p:nvSpPr>
          <p:cNvPr id="21" name="AutoShape 338"/>
          <p:cNvSpPr/>
          <p:nvPr/>
        </p:nvSpPr>
        <p:spPr bwMode="auto">
          <a:xfrm>
            <a:off x="7500541" y="1880864"/>
            <a:ext cx="1296000" cy="252000"/>
          </a:xfrm>
          <a:prstGeom prst="borderCallout2">
            <a:avLst>
              <a:gd name="adj1" fmla="val 48292"/>
              <a:gd name="adj2" fmla="val 312"/>
              <a:gd name="adj3" fmla="val 48120"/>
              <a:gd name="adj4" fmla="val -19139"/>
              <a:gd name="adj5" fmla="val -23244"/>
              <a:gd name="adj6" fmla="val -42449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非易失性</a:t>
            </a:r>
            <a:r>
              <a:rPr lang="en-US" altLang="zh-CN" sz="1600" b="1" u="none" dirty="0">
                <a:latin typeface="宋体" panose="02010600030101010101" pitchFamily="2" charset="-122"/>
              </a:rPr>
              <a:t>MEM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sp>
        <p:nvSpPr>
          <p:cNvPr id="20" name="AutoShape 338">
            <a:extLst>
              <a:ext uri="{FF2B5EF4-FFF2-40B4-BE49-F238E27FC236}">
                <a16:creationId xmlns:a16="http://schemas.microsoft.com/office/drawing/2014/main" id="{487F3E28-346F-46B5-AF39-6C06FA6AAF9F}"/>
              </a:ext>
            </a:extLst>
          </p:cNvPr>
          <p:cNvSpPr/>
          <p:nvPr/>
        </p:nvSpPr>
        <p:spPr bwMode="auto">
          <a:xfrm>
            <a:off x="7291979" y="773297"/>
            <a:ext cx="1672509" cy="252000"/>
          </a:xfrm>
          <a:prstGeom prst="borderCallout2">
            <a:avLst>
              <a:gd name="adj1" fmla="val 48292"/>
              <a:gd name="adj2" fmla="val 312"/>
              <a:gd name="adj3" fmla="val 48120"/>
              <a:gd name="adj4" fmla="val -10239"/>
              <a:gd name="adj5" fmla="val 193345"/>
              <a:gd name="adj6" fmla="val -2125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类比：书包</a:t>
            </a:r>
            <a:r>
              <a:rPr lang="en-US" altLang="zh-CN" sz="1600" b="1" u="none" dirty="0">
                <a:latin typeface="宋体" panose="02010600030101010101" pitchFamily="2" charset="-122"/>
              </a:rPr>
              <a:t>-</a:t>
            </a:r>
            <a:r>
              <a:rPr lang="zh-CN" altLang="en-US" sz="1600" b="1" u="none" dirty="0">
                <a:latin typeface="宋体" panose="02010600030101010101" pitchFamily="2" charset="-122"/>
              </a:rPr>
              <a:t>书架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9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9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908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1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17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447665" cy="4954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*常见的层次结构：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需求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Cache-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主存层次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解决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主存速度</a:t>
            </a:r>
            <a:r>
              <a:rPr lang="zh-CN" altLang="en-US" sz="1800" b="1" u="none" dirty="0">
                <a:latin typeface="宋体" panose="02010600030101010101" pitchFamily="2" charset="-122"/>
              </a:rPr>
              <a:t>问题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辅存层次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解决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主存容量</a:t>
            </a:r>
            <a:r>
              <a:rPr lang="zh-CN" altLang="en-US" sz="1800" b="1" u="none" dirty="0">
                <a:latin typeface="宋体" panose="02010600030101010101" pitchFamily="2" charset="-122"/>
              </a:rPr>
              <a:t>问题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885" y="334081"/>
            <a:ext cx="7235825" cy="4069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以主存为中心</a:t>
            </a:r>
          </a:p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程序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存放在</a:t>
            </a:r>
            <a:r>
              <a:rPr lang="zh-CN" altLang="en-US" sz="2000" b="1" u="none" dirty="0">
                <a:latin typeface="宋体" panose="02010600030101010101" pitchFamily="2" charset="-122"/>
              </a:rPr>
              <a:t>辅存中，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执行前</a:t>
            </a:r>
            <a:r>
              <a:rPr lang="zh-CN" altLang="en-US" sz="2000" b="1" u="none" dirty="0">
                <a:latin typeface="宋体" panose="02010600030101010101" pitchFamily="2" charset="-122"/>
              </a:rPr>
              <a:t>装入主存，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执行时</a:t>
            </a:r>
            <a:r>
              <a:rPr lang="zh-CN" altLang="en-US" sz="2000" b="1" u="none" dirty="0">
                <a:latin typeface="宋体" panose="02010600030101010101" pitchFamily="2" charset="-122"/>
              </a:rPr>
              <a:t>按</a:t>
            </a:r>
            <a:r>
              <a:rPr lang="zh-CN" altLang="en-US" sz="2000" b="1" u="sng" dirty="0">
                <a:latin typeface="宋体" panose="02010600030101010101" pitchFamily="2" charset="-122"/>
              </a:rPr>
              <a:t>程序地址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访问</a:t>
            </a: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            C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PU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只直接访问主存←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┴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←──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变换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成主存地址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   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辅助</a:t>
            </a:r>
            <a:r>
              <a:rPr sz="20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：地址变换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主存地址→</a:t>
            </a:r>
            <a:r>
              <a:rPr lang="en-US" altLang="zh-CN" sz="16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辅助</a:t>
            </a:r>
            <a:r>
              <a:rPr sz="2000" b="1" u="none" dirty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：层次管理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-Cache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间透明传递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地址变换、</a:t>
            </a:r>
            <a:r>
              <a:rPr lang="zh-CN" altLang="en-US" sz="2200" b="1" u="none" dirty="0">
                <a:latin typeface="宋体" panose="02010600030101010101" pitchFamily="2" charset="-122"/>
              </a:rPr>
              <a:t>层次管理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全部由硬件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>
            <p:custDataLst>
              <p:tags r:id="rId3"/>
            </p:custDataLst>
          </p:nvPr>
        </p:nvCxnSpPr>
        <p:spPr bwMode="auto">
          <a:xfrm>
            <a:off x="4608245" y="2933667"/>
            <a:ext cx="972185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7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555775" y="4697755"/>
            <a:ext cx="6408519" cy="16970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地址变换由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sz="1800" b="1" u="none" dirty="0">
                <a:latin typeface="宋体" panose="02010600030101010101" pitchFamily="2" charset="-122"/>
              </a:rPr>
              <a:t>(MMU)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              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←提高变换速度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层次管理由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实现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u="none" dirty="0">
                <a:latin typeface="宋体" panose="02010600030101010101" pitchFamily="2" charset="-122"/>
              </a:rPr>
              <a:t>程序空间太大，硬件管理的成本太高→</a:t>
            </a:r>
            <a:r>
              <a:rPr lang="zh-CN" altLang="en-US" sz="1800" u="none" dirty="0">
                <a:latin typeface="宋体" panose="02010600030101010101" pitchFamily="2" charset="-122"/>
              </a:rPr>
              <a:t>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实现为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虚拟存储器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负责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早期程序员负责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87" name="Text Box 14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96000" y="1737346"/>
            <a:ext cx="2124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MMU—</a:t>
            </a:r>
            <a:r>
              <a:rPr lang="en-US" altLang="zh-CN" sz="1600" u="none" dirty="0"/>
              <a:t>Memory 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>
                <a:latin typeface="宋体" panose="02010600030101010101" pitchFamily="2" charset="-122"/>
              </a:rPr>
              <a:t>     </a:t>
            </a:r>
            <a:r>
              <a:rPr lang="en-US" altLang="zh-CN" sz="1600" u="none" dirty="0"/>
              <a:t>Management Unit</a:t>
            </a:r>
            <a:endParaRPr lang="en-US" altLang="zh-CN" sz="1600" b="1" u="none" spc="-100" dirty="0">
              <a:latin typeface="+mn-ea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583690" y="1520611"/>
            <a:ext cx="4824095" cy="1007110"/>
            <a:chOff x="2494" y="907"/>
            <a:chExt cx="7597" cy="1586"/>
          </a:xfrm>
        </p:grpSpPr>
        <p:sp>
          <p:nvSpPr>
            <p:cNvPr id="129" name="Rectangle 103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989" y="907"/>
              <a:ext cx="5102" cy="158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  <p:sp>
          <p:nvSpPr>
            <p:cNvPr id="130" name="Rectangle 103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860" y="1020"/>
              <a:ext cx="3118" cy="1361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  <p:sp>
          <p:nvSpPr>
            <p:cNvPr id="131" name="Rectangle 103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159" y="1586"/>
              <a:ext cx="3175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  <p:sp>
          <p:nvSpPr>
            <p:cNvPr id="132" name="Text Box 8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494" y="1191"/>
              <a:ext cx="907" cy="9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内核</a:t>
              </a:r>
            </a:p>
          </p:txBody>
        </p:sp>
        <p:sp>
          <p:nvSpPr>
            <p:cNvPr id="133" name="Text Box 10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329" y="1702"/>
              <a:ext cx="1135" cy="45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134" name="Text Box 114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515" y="907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114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r>
                <a:rPr lang="zh-CN" altLang="en-US" sz="1600" b="1" u="none" dirty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0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731" y="1702"/>
              <a:ext cx="1134" cy="45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136" name="Text Box 104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087" y="1134"/>
              <a:ext cx="68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137" name="直接箭头连接符 136"/>
            <p:cNvCxnSpPr/>
            <p:nvPr>
              <p:custDataLst>
                <p:tags r:id="rId41"/>
              </p:custDataLst>
            </p:nvPr>
          </p:nvCxnSpPr>
          <p:spPr bwMode="auto">
            <a:xfrm>
              <a:off x="8050" y="136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402" y="1304"/>
              <a:ext cx="368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3402" y="1928"/>
              <a:ext cx="192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40" name="Text Box 10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030" y="1702"/>
              <a:ext cx="1134" cy="45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cxnSp>
          <p:nvCxnSpPr>
            <p:cNvPr id="141" name="直接箭头连接符 140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6463" y="1929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46"/>
              </p:custDataLst>
            </p:nvPr>
          </p:nvCxnSpPr>
          <p:spPr bwMode="auto">
            <a:xfrm>
              <a:off x="6860" y="1587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8164" y="192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7767" y="1361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767" y="1247"/>
              <a:ext cx="158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50"/>
              </p:custDataLst>
            </p:nvPr>
          </p:nvCxnSpPr>
          <p:spPr bwMode="auto">
            <a:xfrm>
              <a:off x="9354" y="124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8" name="AutoShape 338"/>
          <p:cNvSpPr/>
          <p:nvPr>
            <p:custDataLst>
              <p:tags r:id="rId6"/>
            </p:custDataLst>
          </p:nvPr>
        </p:nvSpPr>
        <p:spPr bwMode="auto">
          <a:xfrm>
            <a:off x="5904000" y="2636611"/>
            <a:ext cx="2016000" cy="252000"/>
          </a:xfrm>
          <a:prstGeom prst="borderCallout2">
            <a:avLst>
              <a:gd name="adj1" fmla="val 53805"/>
              <a:gd name="adj2" fmla="val -31"/>
              <a:gd name="adj3" fmla="val 53121"/>
              <a:gd name="adj4" fmla="val -9249"/>
              <a:gd name="adj5" fmla="val -177269"/>
              <a:gd name="adj6" fmla="val -4099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主存空间</a:t>
            </a:r>
            <a:r>
              <a:rPr lang="en-US" altLang="zh-CN" sz="1600" b="1" u="none" dirty="0">
                <a:latin typeface="宋体" panose="02010600030101010101" pitchFamily="2" charset="-122"/>
              </a:rPr>
              <a:t>&lt;&lt;</a:t>
            </a:r>
            <a:r>
              <a:rPr lang="zh-CN" altLang="en-US" sz="1600" b="1" u="none" dirty="0">
                <a:latin typeface="宋体" panose="02010600030101010101" pitchFamily="2" charset="-122"/>
              </a:rPr>
              <a:t>程序空间</a:t>
            </a:r>
            <a:endParaRPr lang="en-US" altLang="zh-CN" sz="16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60" name="椭圆 159"/>
          <p:cNvSpPr/>
          <p:nvPr>
            <p:custDataLst>
              <p:tags r:id="rId7"/>
            </p:custDataLst>
          </p:nvPr>
        </p:nvSpPr>
        <p:spPr>
          <a:xfrm>
            <a:off x="1681480" y="3392611"/>
            <a:ext cx="108000" cy="180000"/>
          </a:xfrm>
          <a:prstGeom prst="ellipse">
            <a:avLst/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" name="椭圆 160"/>
          <p:cNvSpPr/>
          <p:nvPr>
            <p:custDataLst>
              <p:tags r:id="rId8"/>
            </p:custDataLst>
          </p:nvPr>
        </p:nvSpPr>
        <p:spPr>
          <a:xfrm>
            <a:off x="2808000" y="3464611"/>
            <a:ext cx="108000" cy="180000"/>
          </a:xfrm>
          <a:prstGeom prst="ellipse">
            <a:avLst/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1152735" y="2996611"/>
            <a:ext cx="2700020" cy="791845"/>
            <a:chOff x="3175" y="3969"/>
            <a:chExt cx="4252" cy="1247"/>
          </a:xfrm>
        </p:grpSpPr>
        <p:sp>
          <p:nvSpPr>
            <p:cNvPr id="118" name="Text Box 10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52" y="4649"/>
              <a:ext cx="1135" cy="45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119" name="Text Box 10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293" y="4649"/>
              <a:ext cx="1020" cy="45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20" name="Text Box 10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159" y="4081"/>
              <a:ext cx="147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硬件</a:t>
              </a:r>
            </a:p>
          </p:txBody>
        </p:sp>
        <p:sp>
          <p:nvSpPr>
            <p:cNvPr id="121" name="Text Box 11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231" y="4039"/>
              <a:ext cx="737" cy="7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386" y="487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102" y="4422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29"/>
              </p:custDataLst>
            </p:nvPr>
          </p:nvCxnSpPr>
          <p:spPr bwMode="auto">
            <a:xfrm>
              <a:off x="6494" y="4423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3175" y="4989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175" y="4763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Rectangle 103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969" y="3969"/>
              <a:ext cx="3458" cy="124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1692275" y="5156611"/>
            <a:ext cx="1151890" cy="250825"/>
            <a:chOff x="2665" y="7824"/>
            <a:chExt cx="1814" cy="395"/>
          </a:xfrm>
        </p:grpSpPr>
        <p:sp>
          <p:nvSpPr>
            <p:cNvPr id="162" name="椭圆 161"/>
            <p:cNvSpPr/>
            <p:nvPr>
              <p:custDataLst>
                <p:tags r:id="rId21"/>
              </p:custDataLst>
            </p:nvPr>
          </p:nvSpPr>
          <p:spPr>
            <a:xfrm>
              <a:off x="2665" y="7824"/>
              <a:ext cx="170" cy="283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椭圆 162"/>
            <p:cNvSpPr/>
            <p:nvPr>
              <p:custDataLst>
                <p:tags r:id="rId22"/>
              </p:custDataLst>
            </p:nvPr>
          </p:nvSpPr>
          <p:spPr>
            <a:xfrm>
              <a:off x="4309" y="7937"/>
              <a:ext cx="170" cy="283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1152000" y="4724611"/>
            <a:ext cx="2700020" cy="791845"/>
            <a:chOff x="3174" y="3969"/>
            <a:chExt cx="4252" cy="1247"/>
          </a:xfrm>
        </p:grpSpPr>
        <p:sp>
          <p:nvSpPr>
            <p:cNvPr id="148" name="Text Box 10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52" y="4649"/>
              <a:ext cx="1020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49" name="Text Box 10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179" y="4649"/>
              <a:ext cx="1134" cy="45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150" name="Text Box 10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89" y="4081"/>
              <a:ext cx="181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软硬件</a:t>
              </a:r>
            </a:p>
          </p:txBody>
        </p:sp>
        <p:sp>
          <p:nvSpPr>
            <p:cNvPr id="151" name="Text Box 11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31" y="4039"/>
              <a:ext cx="737" cy="7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2" name="直接箭头连接符 15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5272" y="487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5102" y="4422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17"/>
              </p:custDataLst>
            </p:nvPr>
          </p:nvCxnSpPr>
          <p:spPr bwMode="auto">
            <a:xfrm>
              <a:off x="6494" y="4423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174" y="4989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3174" y="4763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7" name="Rectangle 103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968" y="3969"/>
              <a:ext cx="3458" cy="124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</p:grpSp>
      <p:sp>
        <p:nvSpPr>
          <p:cNvPr id="113" name="AutoShape 62">
            <a:hlinkClick r:id="rId52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58" name="AutoShape 338">
            <a:extLst>
              <a:ext uri="{FF2B5EF4-FFF2-40B4-BE49-F238E27FC236}">
                <a16:creationId xmlns:a16="http://schemas.microsoft.com/office/drawing/2014/main" id="{B07DC1EC-2CCA-4B1C-BC8D-B25B9D21A16A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7631798" y="553201"/>
            <a:ext cx="1332690" cy="211503"/>
          </a:xfrm>
          <a:prstGeom prst="borderCallout2">
            <a:avLst>
              <a:gd name="adj1" fmla="val 53805"/>
              <a:gd name="adj2" fmla="val -31"/>
              <a:gd name="adj3" fmla="val 53121"/>
              <a:gd name="adj4" fmla="val -9249"/>
              <a:gd name="adj5" fmla="val 318743"/>
              <a:gd name="adj6" fmla="val -2025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根据装入位置</a:t>
            </a:r>
            <a:endParaRPr lang="en-US" altLang="zh-CN" sz="16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ldLvl="0" animBg="1"/>
      <p:bldP spid="88" grpId="0" bldLvl="0" animBg="1"/>
      <p:bldP spid="160" grpId="0" bldLvl="0" animBg="1"/>
      <p:bldP spid="16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0C93-B165-4B5E-B099-F8671A3002CC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296991" name="Text Box 31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§3.2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半导体存储器技术</a:t>
            </a:r>
          </a:p>
        </p:txBody>
      </p:sp>
      <p:sp>
        <p:nvSpPr>
          <p:cNvPr id="121" name="Text Box 45"/>
          <p:cNvSpPr txBox="1">
            <a:spLocks noChangeArrowheads="1"/>
          </p:cNvSpPr>
          <p:nvPr/>
        </p:nvSpPr>
        <p:spPr bwMode="auto">
          <a:xfrm>
            <a:off x="179512" y="1268760"/>
            <a:ext cx="5651151" cy="4319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*半导体存储器分类：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25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u="none" dirty="0">
                <a:latin typeface="+mn-ea"/>
                <a:ea typeface="+mn-ea"/>
              </a:rPr>
              <a:t>SRAM</a:t>
            </a:r>
            <a:r>
              <a:rPr lang="zh-CN" altLang="en-US" sz="2000" b="1" u="none" dirty="0">
                <a:latin typeface="+mn-ea"/>
                <a:ea typeface="+mn-ea"/>
              </a:rPr>
              <a:t>及</a:t>
            </a:r>
            <a:r>
              <a:rPr lang="en-US" altLang="zh-CN" sz="2000" b="1" u="none" dirty="0">
                <a:latin typeface="+mn-ea"/>
                <a:ea typeface="+mn-ea"/>
              </a:rPr>
              <a:t>DRAM</a:t>
            </a:r>
            <a:r>
              <a:rPr lang="zh-CN" altLang="en-US" sz="2000" b="1" u="none" dirty="0">
                <a:latin typeface="+mn-ea"/>
                <a:ea typeface="+mn-ea"/>
              </a:rPr>
              <a:t>芯片的组成、读写时序</a:t>
            </a:r>
            <a:r>
              <a:rPr lang="en-US" altLang="zh-CN" sz="2000" b="1" u="none" dirty="0">
                <a:latin typeface="+mn-ea"/>
                <a:ea typeface="+mn-ea"/>
              </a:rPr>
              <a:t>(</a:t>
            </a:r>
            <a:r>
              <a:rPr lang="zh-CN" altLang="en-US" sz="2000" b="1" u="none" dirty="0">
                <a:latin typeface="+mn-ea"/>
                <a:ea typeface="+mn-ea"/>
              </a:rPr>
              <a:t>及</a:t>
            </a:r>
            <a:r>
              <a:rPr lang="en-US" altLang="zh-CN" sz="2000" b="1" u="none" dirty="0">
                <a:latin typeface="+mn-ea"/>
                <a:ea typeface="+mn-ea"/>
              </a:rPr>
              <a:t>DRAM</a:t>
            </a:r>
            <a:r>
              <a:rPr lang="zh-CN" altLang="en-US" sz="2000" b="1" u="none" dirty="0">
                <a:latin typeface="+mn-ea"/>
                <a:ea typeface="+mn-ea"/>
              </a:rPr>
              <a:t>刷新</a:t>
            </a:r>
            <a:r>
              <a:rPr lang="en-US" altLang="zh-CN" sz="2000" b="1" u="none" dirty="0">
                <a:latin typeface="+mn-ea"/>
                <a:ea typeface="+mn-ea"/>
              </a:rPr>
              <a:t>)</a:t>
            </a:r>
          </a:p>
        </p:txBody>
      </p:sp>
      <p:sp>
        <p:nvSpPr>
          <p:cNvPr id="122" name="Text Box 126"/>
          <p:cNvSpPr txBox="1">
            <a:spLocks noChangeArrowheads="1"/>
          </p:cNvSpPr>
          <p:nvPr/>
        </p:nvSpPr>
        <p:spPr bwMode="auto">
          <a:xfrm>
            <a:off x="6228184" y="1876472"/>
            <a:ext cx="244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627063" indent="-627063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存储信息的元件是？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24" name="Text Box 45"/>
          <p:cNvSpPr txBox="1">
            <a:spLocks noChangeArrowheads="1"/>
          </p:cNvSpPr>
          <p:nvPr/>
        </p:nvSpPr>
        <p:spPr bwMode="auto">
          <a:xfrm>
            <a:off x="179512" y="3426968"/>
            <a:ext cx="8712968" cy="305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MOS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管简介：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绝缘栅场效应管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en-US" altLang="zh-CN" sz="1600" u="none" dirty="0"/>
              <a:t>Metal Oxide Semiconductor, MOS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 MOS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管特性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           ①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＜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T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600" b="1" u="none" dirty="0">
                <a:latin typeface="宋体" panose="02010600030101010101" pitchFamily="2" charset="-122"/>
              </a:rPr>
              <a:t>(MOS</a:t>
            </a:r>
            <a:r>
              <a:rPr lang="zh-CN" altLang="en-US" sz="1600" b="1" u="none" dirty="0">
                <a:latin typeface="宋体" panose="02010600030101010101" pitchFamily="2" charset="-122"/>
              </a:rPr>
              <a:t>管截止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      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>
                <a:latin typeface="宋体" panose="02010600030101010101" pitchFamily="2" charset="-122"/>
              </a:rPr>
              <a:t>≥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T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＞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600" b="1" u="none" dirty="0">
                <a:latin typeface="宋体" panose="02010600030101010101" pitchFamily="2" charset="-122"/>
              </a:rPr>
              <a:t>(MOS</a:t>
            </a:r>
            <a:r>
              <a:rPr lang="zh-CN" altLang="en-US" sz="1600" b="1" u="none" dirty="0">
                <a:latin typeface="宋体" panose="02010600030101010101" pitchFamily="2" charset="-122"/>
              </a:rPr>
              <a:t>管导通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           ②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>
                <a:latin typeface="宋体" panose="02010600030101010101" pitchFamily="2" charset="-122"/>
              </a:rPr>
              <a:t>越大时，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越大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>
                <a:latin typeface="宋体" panose="02010600030101010101" pitchFamily="2" charset="-122"/>
              </a:rPr>
              <a:t>V</a:t>
            </a:r>
            <a:r>
              <a:rPr lang="en-US" altLang="zh-CN" sz="1600" b="1" u="none" baseline="-18000" dirty="0">
                <a:latin typeface="宋体" panose="02010600030101010101" pitchFamily="2" charset="-122"/>
              </a:rPr>
              <a:t>DS</a:t>
            </a:r>
            <a:r>
              <a:rPr lang="zh-CN" altLang="en-US" sz="1600" b="1" u="none" dirty="0">
                <a:latin typeface="宋体" panose="02010600030101010101" pitchFamily="2" charset="-122"/>
              </a:rPr>
              <a:t>无关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           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>
                <a:latin typeface="宋体" panose="02010600030101010101" pitchFamily="2" charset="-122"/>
              </a:rPr>
              <a:t>固定时，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不变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>
                <a:latin typeface="宋体" panose="02010600030101010101" pitchFamily="2" charset="-122"/>
              </a:rPr>
              <a:t>V</a:t>
            </a:r>
            <a:r>
              <a:rPr lang="en-US" altLang="zh-CN" sz="1600" b="1" u="none" baseline="-16000" dirty="0">
                <a:latin typeface="宋体" panose="02010600030101010101" pitchFamily="2" charset="-122"/>
              </a:rPr>
              <a:t>DS</a:t>
            </a:r>
            <a:r>
              <a:rPr lang="zh-CN" altLang="en-US" sz="1600" b="1" u="none" dirty="0">
                <a:latin typeface="宋体" panose="02010600030101010101" pitchFamily="2" charset="-122"/>
              </a:rPr>
              <a:t>无关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MOS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管应用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pSp>
        <p:nvGrpSpPr>
          <p:cNvPr id="128" name="组合 127"/>
          <p:cNvGrpSpPr/>
          <p:nvPr/>
        </p:nvGrpSpPr>
        <p:grpSpPr>
          <a:xfrm>
            <a:off x="6876256" y="5164040"/>
            <a:ext cx="1880528" cy="1080120"/>
            <a:chOff x="2987824" y="1916832"/>
            <a:chExt cx="1880528" cy="1080120"/>
          </a:xfrm>
        </p:grpSpPr>
        <p:sp>
          <p:nvSpPr>
            <p:cNvPr id="129" name="Text Box 383"/>
            <p:cNvSpPr txBox="1">
              <a:spLocks noChangeArrowheads="1"/>
            </p:cNvSpPr>
            <p:nvPr/>
          </p:nvSpPr>
          <p:spPr bwMode="auto">
            <a:xfrm>
              <a:off x="3276024" y="1988840"/>
              <a:ext cx="1224000" cy="68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383"/>
            <p:cNvSpPr txBox="1">
              <a:spLocks noChangeArrowheads="1"/>
            </p:cNvSpPr>
            <p:nvPr/>
          </p:nvSpPr>
          <p:spPr bwMode="auto">
            <a:xfrm>
              <a:off x="3276024" y="2672904"/>
              <a:ext cx="1224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383"/>
            <p:cNvSpPr txBox="1">
              <a:spLocks noChangeArrowheads="1"/>
            </p:cNvSpPr>
            <p:nvPr/>
          </p:nvSpPr>
          <p:spPr bwMode="auto">
            <a:xfrm>
              <a:off x="2987824" y="191683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132" name="Text Box 383"/>
            <p:cNvSpPr txBox="1">
              <a:spLocks noChangeArrowheads="1"/>
            </p:cNvSpPr>
            <p:nvPr/>
          </p:nvSpPr>
          <p:spPr bwMode="auto">
            <a:xfrm>
              <a:off x="4508344" y="278095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DS</a:t>
              </a:r>
            </a:p>
          </p:txBody>
        </p:sp>
        <p:cxnSp>
          <p:nvCxnSpPr>
            <p:cNvPr id="133" name="直接连接符 132"/>
            <p:cNvCxnSpPr/>
            <p:nvPr/>
          </p:nvCxnSpPr>
          <p:spPr bwMode="auto">
            <a:xfrm>
              <a:off x="3798000" y="2060824"/>
              <a:ext cx="702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/>
          </p:nvCxnSpPr>
          <p:spPr bwMode="auto">
            <a:xfrm>
              <a:off x="3654000" y="2276848"/>
              <a:ext cx="846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/>
          </p:nvCxnSpPr>
          <p:spPr bwMode="auto">
            <a:xfrm>
              <a:off x="3510000" y="2492871"/>
              <a:ext cx="990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/>
          </p:nvCxnSpPr>
          <p:spPr bwMode="auto">
            <a:xfrm>
              <a:off x="3330024" y="2675159"/>
              <a:ext cx="1170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/>
          </p:nvCxnSpPr>
          <p:spPr bwMode="auto">
            <a:xfrm flipV="1">
              <a:off x="3275856" y="2078928"/>
              <a:ext cx="450000" cy="70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8" name="Text Box 383"/>
            <p:cNvSpPr txBox="1">
              <a:spLocks noChangeArrowheads="1"/>
            </p:cNvSpPr>
            <p:nvPr/>
          </p:nvSpPr>
          <p:spPr bwMode="auto">
            <a:xfrm>
              <a:off x="4580352" y="231292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GS</a:t>
              </a:r>
            </a:p>
          </p:txBody>
        </p:sp>
        <p:cxnSp>
          <p:nvCxnSpPr>
            <p:cNvPr id="139" name="直接连接符 138"/>
            <p:cNvCxnSpPr/>
            <p:nvPr/>
          </p:nvCxnSpPr>
          <p:spPr bwMode="auto">
            <a:xfrm flipH="1" flipV="1">
              <a:off x="4580352" y="2204904"/>
              <a:ext cx="208" cy="36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0" name="弧形 139"/>
            <p:cNvSpPr/>
            <p:nvPr/>
          </p:nvSpPr>
          <p:spPr bwMode="auto">
            <a:xfrm>
              <a:off x="3641216" y="2060824"/>
              <a:ext cx="1584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弧形 140"/>
            <p:cNvSpPr/>
            <p:nvPr/>
          </p:nvSpPr>
          <p:spPr bwMode="auto">
            <a:xfrm>
              <a:off x="3508812" y="2276848"/>
              <a:ext cx="1440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弧形 141"/>
            <p:cNvSpPr/>
            <p:nvPr/>
          </p:nvSpPr>
          <p:spPr bwMode="auto">
            <a:xfrm>
              <a:off x="3364796" y="2492872"/>
              <a:ext cx="1440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Text Box 383"/>
            <p:cNvSpPr txBox="1">
              <a:spLocks noChangeArrowheads="1"/>
            </p:cNvSpPr>
            <p:nvPr/>
          </p:nvSpPr>
          <p:spPr bwMode="auto">
            <a:xfrm>
              <a:off x="3259647" y="1988880"/>
              <a:ext cx="432000" cy="36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非饱和区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383"/>
            <p:cNvSpPr txBox="1">
              <a:spLocks noChangeArrowheads="1"/>
            </p:cNvSpPr>
            <p:nvPr/>
          </p:nvSpPr>
          <p:spPr bwMode="auto">
            <a:xfrm>
              <a:off x="3851920" y="2060872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饱和区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383"/>
            <p:cNvSpPr txBox="1">
              <a:spLocks noChangeArrowheads="1"/>
            </p:cNvSpPr>
            <p:nvPr/>
          </p:nvSpPr>
          <p:spPr bwMode="auto">
            <a:xfrm>
              <a:off x="3822099" y="2816952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截止区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 bwMode="auto">
            <a:xfrm flipH="1" flipV="1">
              <a:off x="3691695" y="2726920"/>
              <a:ext cx="144000" cy="19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3276040" y="2780928"/>
              <a:ext cx="1512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直接连接符 147"/>
            <p:cNvCxnSpPr/>
            <p:nvPr/>
          </p:nvCxnSpPr>
          <p:spPr bwMode="auto">
            <a:xfrm flipV="1">
              <a:off x="3275856" y="1916928"/>
              <a:ext cx="0" cy="86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60" name="Text Box 383"/>
          <p:cNvSpPr txBox="1">
            <a:spLocks noChangeArrowheads="1"/>
          </p:cNvSpPr>
          <p:nvPr/>
        </p:nvSpPr>
        <p:spPr bwMode="auto">
          <a:xfrm>
            <a:off x="4067944" y="5911288"/>
            <a:ext cx="2952000" cy="39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46800" rIns="18000" bIns="10800" anchor="t" anchorCtr="0"/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用作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开关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电阻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②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575792" y="4804000"/>
            <a:ext cx="1547044" cy="1008112"/>
            <a:chOff x="3095872" y="4077072"/>
            <a:chExt cx="1547044" cy="1008112"/>
          </a:xfrm>
        </p:grpSpPr>
        <p:cxnSp>
          <p:nvCxnSpPr>
            <p:cNvPr id="187" name="直接连接符 186"/>
            <p:cNvCxnSpPr/>
            <p:nvPr/>
          </p:nvCxnSpPr>
          <p:spPr bwMode="auto">
            <a:xfrm>
              <a:off x="3850804" y="414908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接连接符 187"/>
            <p:cNvCxnSpPr/>
            <p:nvPr/>
          </p:nvCxnSpPr>
          <p:spPr bwMode="auto">
            <a:xfrm flipH="1">
              <a:off x="3850804" y="4149080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/>
            <p:cNvCxnSpPr/>
            <p:nvPr/>
          </p:nvCxnSpPr>
          <p:spPr bwMode="auto">
            <a:xfrm flipV="1">
              <a:off x="4282852" y="4149080"/>
              <a:ext cx="0" cy="50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0" name="直接连接符 189"/>
            <p:cNvCxnSpPr/>
            <p:nvPr/>
          </p:nvCxnSpPr>
          <p:spPr bwMode="auto">
            <a:xfrm flipH="1">
              <a:off x="4282852" y="4869136"/>
              <a:ext cx="1116" cy="2160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1" name="直接连接符 190"/>
            <p:cNvCxnSpPr/>
            <p:nvPr/>
          </p:nvCxnSpPr>
          <p:spPr bwMode="auto">
            <a:xfrm flipH="1">
              <a:off x="3850804" y="4869160"/>
              <a:ext cx="3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95"/>
            <p:cNvCxnSpPr/>
            <p:nvPr/>
          </p:nvCxnSpPr>
          <p:spPr bwMode="auto">
            <a:xfrm flipH="1">
              <a:off x="3130723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/>
          </p:nvCxnSpPr>
          <p:spPr bwMode="auto">
            <a:xfrm flipV="1">
              <a:off x="3203848" y="4581128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03800" y="4941152"/>
              <a:ext cx="48" cy="14400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3130916" y="5085184"/>
              <a:ext cx="151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6" name="Text Box 383"/>
            <p:cNvSpPr txBox="1">
              <a:spLocks noChangeArrowheads="1"/>
            </p:cNvSpPr>
            <p:nvPr/>
          </p:nvSpPr>
          <p:spPr bwMode="auto">
            <a:xfrm>
              <a:off x="4355976" y="414910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197" name="Text Box 383"/>
            <p:cNvSpPr txBox="1">
              <a:spLocks noChangeArrowheads="1"/>
            </p:cNvSpPr>
            <p:nvPr/>
          </p:nvSpPr>
          <p:spPr bwMode="auto">
            <a:xfrm>
              <a:off x="4175992" y="4653136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DS</a:t>
              </a:r>
            </a:p>
          </p:txBody>
        </p:sp>
        <p:sp>
          <p:nvSpPr>
            <p:cNvPr id="198" name="Text Box 383"/>
            <p:cNvSpPr txBox="1">
              <a:spLocks noChangeArrowheads="1"/>
            </p:cNvSpPr>
            <p:nvPr/>
          </p:nvSpPr>
          <p:spPr bwMode="auto">
            <a:xfrm>
              <a:off x="3095872" y="4725144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GS</a:t>
              </a: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flipH="1">
              <a:off x="4356000" y="4077072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467995" y="4003032"/>
            <a:ext cx="1799590" cy="1583055"/>
            <a:chOff x="737" y="6520"/>
            <a:chExt cx="2834" cy="2493"/>
          </a:xfrm>
        </p:grpSpPr>
        <p:grpSp>
          <p:nvGrpSpPr>
            <p:cNvPr id="163" name="组合 162"/>
            <p:cNvGrpSpPr/>
            <p:nvPr/>
          </p:nvGrpSpPr>
          <p:grpSpPr>
            <a:xfrm>
              <a:off x="1415" y="8107"/>
              <a:ext cx="1021" cy="907"/>
              <a:chOff x="1475680" y="4613658"/>
              <a:chExt cx="648064" cy="576048"/>
            </a:xfrm>
          </p:grpSpPr>
          <p:sp>
            <p:nvSpPr>
              <p:cNvPr id="164" name="Rectangle 355"/>
              <p:cNvSpPr>
                <a:spLocks noChangeArrowheads="1"/>
              </p:cNvSpPr>
              <p:nvPr/>
            </p:nvSpPr>
            <p:spPr bwMode="auto">
              <a:xfrm>
                <a:off x="1475744" y="4613706"/>
                <a:ext cx="648000" cy="576000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65" name="直接连接符 164"/>
              <p:cNvCxnSpPr/>
              <p:nvPr/>
            </p:nvCxnSpPr>
            <p:spPr bwMode="auto">
              <a:xfrm>
                <a:off x="1691680" y="4829658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" name="直接连接符 165"/>
              <p:cNvCxnSpPr/>
              <p:nvPr/>
            </p:nvCxnSpPr>
            <p:spPr bwMode="auto">
              <a:xfrm flipH="1">
                <a:off x="1475680" y="4901666"/>
                <a:ext cx="216000" cy="6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" name="直接连接符 166"/>
              <p:cNvCxnSpPr/>
              <p:nvPr/>
            </p:nvCxnSpPr>
            <p:spPr bwMode="auto">
              <a:xfrm flipH="1">
                <a:off x="1763688" y="4829657"/>
                <a:ext cx="144000" cy="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" name="直接连接符 167"/>
              <p:cNvCxnSpPr/>
              <p:nvPr/>
            </p:nvCxnSpPr>
            <p:spPr bwMode="auto">
              <a:xfrm flipH="1">
                <a:off x="1763688" y="4973674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" name="直接连接符 168"/>
              <p:cNvCxnSpPr/>
              <p:nvPr/>
            </p:nvCxnSpPr>
            <p:spPr bwMode="auto">
              <a:xfrm flipH="1" flipV="1">
                <a:off x="1907704" y="4973674"/>
                <a:ext cx="0" cy="216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接连接符 169"/>
              <p:cNvCxnSpPr/>
              <p:nvPr/>
            </p:nvCxnSpPr>
            <p:spPr bwMode="auto">
              <a:xfrm flipV="1">
                <a:off x="1907704" y="4613658"/>
                <a:ext cx="0" cy="216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1" name="Text Box 383"/>
              <p:cNvSpPr txBox="1">
                <a:spLocks noChangeArrowheads="1"/>
              </p:cNvSpPr>
              <p:nvPr/>
            </p:nvSpPr>
            <p:spPr bwMode="auto">
              <a:xfrm>
                <a:off x="1907704" y="4613658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2" name="Text Box 383"/>
              <p:cNvSpPr txBox="1">
                <a:spLocks noChangeArrowheads="1"/>
              </p:cNvSpPr>
              <p:nvPr/>
            </p:nvSpPr>
            <p:spPr bwMode="auto">
              <a:xfrm>
                <a:off x="1907704" y="4973674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3" name="Text Box 383"/>
              <p:cNvSpPr txBox="1">
                <a:spLocks noChangeArrowheads="1"/>
              </p:cNvSpPr>
              <p:nvPr/>
            </p:nvSpPr>
            <p:spPr bwMode="auto">
              <a:xfrm>
                <a:off x="1511680" y="4685642"/>
                <a:ext cx="180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4" name="直接连接符 173"/>
              <p:cNvCxnSpPr/>
              <p:nvPr/>
            </p:nvCxnSpPr>
            <p:spPr bwMode="auto">
              <a:xfrm>
                <a:off x="1763688" y="4761303"/>
                <a:ext cx="596" cy="288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737" y="6520"/>
              <a:ext cx="2834" cy="1021"/>
              <a:chOff x="737" y="6520"/>
              <a:chExt cx="2834" cy="1021"/>
            </a:xfrm>
          </p:grpSpPr>
          <p:sp>
            <p:nvSpPr>
              <p:cNvPr id="175" name="Rectangle 133" descr="宽上对角线"/>
              <p:cNvSpPr>
                <a:spLocks noChangeArrowheads="1"/>
              </p:cNvSpPr>
              <p:nvPr/>
            </p:nvSpPr>
            <p:spPr bwMode="auto">
              <a:xfrm>
                <a:off x="1077" y="6917"/>
                <a:ext cx="2155" cy="170"/>
              </a:xfrm>
              <a:prstGeom prst="rect">
                <a:avLst/>
              </a:prstGeom>
              <a:pattFill prst="wdUpDiag">
                <a:fgClr>
                  <a:schemeClr val="folHlink">
                    <a:alpha val="49001"/>
                  </a:schemeClr>
                </a:fgClr>
                <a:bgClr>
                  <a:schemeClr val="bg1">
                    <a:alpha val="49001"/>
                  </a:schemeClr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endParaRPr lang="zh-CN" altLang="en-US" sz="1600" baseline="-18000" dirty="0">
                  <a:latin typeface="+mn-ea"/>
                  <a:ea typeface="+mn-ea"/>
                </a:endParaRPr>
              </a:p>
            </p:txBody>
          </p:sp>
          <p:sp>
            <p:nvSpPr>
              <p:cNvPr id="176" name="Rectangle 124"/>
              <p:cNvSpPr>
                <a:spLocks noChangeArrowheads="1"/>
              </p:cNvSpPr>
              <p:nvPr/>
            </p:nvSpPr>
            <p:spPr bwMode="auto">
              <a:xfrm>
                <a:off x="1077" y="7087"/>
                <a:ext cx="2155" cy="454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600" b="1" u="none" dirty="0">
                    <a:latin typeface="+mn-ea"/>
                    <a:ea typeface="+mn-ea"/>
                  </a:rPr>
                  <a:t>P</a:t>
                </a:r>
                <a:r>
                  <a:rPr lang="zh-CN" altLang="en-US" sz="1600" b="1" u="none" dirty="0">
                    <a:latin typeface="+mn-ea"/>
                    <a:ea typeface="+mn-ea"/>
                  </a:rPr>
                  <a:t>基体</a:t>
                </a:r>
                <a:endParaRPr lang="zh-CN" altLang="en-US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177" name="Text Box 126"/>
              <p:cNvSpPr txBox="1">
                <a:spLocks noChangeArrowheads="1"/>
              </p:cNvSpPr>
              <p:nvPr/>
            </p:nvSpPr>
            <p:spPr bwMode="auto">
              <a:xfrm>
                <a:off x="1191" y="7087"/>
                <a:ext cx="340" cy="28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8" name="Text Box 127"/>
              <p:cNvSpPr txBox="1">
                <a:spLocks noChangeArrowheads="1"/>
              </p:cNvSpPr>
              <p:nvPr/>
            </p:nvSpPr>
            <p:spPr bwMode="auto">
              <a:xfrm>
                <a:off x="737" y="6520"/>
                <a:ext cx="2835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源极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栅极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G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漏极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79" name="Line 128"/>
              <p:cNvSpPr>
                <a:spLocks noChangeShapeType="1"/>
              </p:cNvSpPr>
              <p:nvPr/>
            </p:nvSpPr>
            <p:spPr bwMode="auto">
              <a:xfrm>
                <a:off x="1367" y="6860"/>
                <a:ext cx="0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Text Box 131"/>
              <p:cNvSpPr txBox="1">
                <a:spLocks noChangeArrowheads="1"/>
              </p:cNvSpPr>
              <p:nvPr/>
            </p:nvSpPr>
            <p:spPr bwMode="auto">
              <a:xfrm>
                <a:off x="2778" y="7087"/>
                <a:ext cx="340" cy="28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1" name="Line 132"/>
              <p:cNvSpPr>
                <a:spLocks noChangeShapeType="1"/>
              </p:cNvSpPr>
              <p:nvPr/>
            </p:nvSpPr>
            <p:spPr bwMode="auto">
              <a:xfrm>
                <a:off x="2952" y="6860"/>
                <a:ext cx="0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Rectangle 134"/>
              <p:cNvSpPr>
                <a:spLocks noChangeArrowheads="1"/>
              </p:cNvSpPr>
              <p:nvPr/>
            </p:nvSpPr>
            <p:spPr bwMode="auto">
              <a:xfrm>
                <a:off x="1307" y="6974"/>
                <a:ext cx="113" cy="11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Rectangle 135"/>
              <p:cNvSpPr>
                <a:spLocks noChangeArrowheads="1"/>
              </p:cNvSpPr>
              <p:nvPr/>
            </p:nvSpPr>
            <p:spPr bwMode="auto">
              <a:xfrm>
                <a:off x="1531" y="7030"/>
                <a:ext cx="1247" cy="57"/>
              </a:xfrm>
              <a:prstGeom prst="rect">
                <a:avLst/>
              </a:prstGeom>
              <a:solidFill>
                <a:srgbClr val="3366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Rectangle 136"/>
              <p:cNvSpPr>
                <a:spLocks noChangeArrowheads="1"/>
              </p:cNvSpPr>
              <p:nvPr/>
            </p:nvSpPr>
            <p:spPr bwMode="auto">
              <a:xfrm>
                <a:off x="2892" y="6974"/>
                <a:ext cx="113" cy="11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" name="Line 128"/>
              <p:cNvSpPr>
                <a:spLocks noChangeShapeType="1"/>
              </p:cNvSpPr>
              <p:nvPr/>
            </p:nvSpPr>
            <p:spPr bwMode="auto">
              <a:xfrm>
                <a:off x="2211" y="6860"/>
                <a:ext cx="0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" name="Rectangle 135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531" y="6973"/>
                <a:ext cx="1247" cy="57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5358FBE-70C2-4D48-85D3-73F3FCAD31BB}"/>
              </a:ext>
            </a:extLst>
          </p:cNvPr>
          <p:cNvGrpSpPr/>
          <p:nvPr/>
        </p:nvGrpSpPr>
        <p:grpSpPr>
          <a:xfrm>
            <a:off x="1152000" y="1698776"/>
            <a:ext cx="6048107" cy="1677988"/>
            <a:chOff x="1152000" y="1772816"/>
            <a:chExt cx="6048107" cy="1677988"/>
          </a:xfrm>
        </p:grpSpPr>
        <p:sp>
          <p:nvSpPr>
            <p:cNvPr id="296997" name="Text Box 37"/>
            <p:cNvSpPr txBox="1">
              <a:spLocks noChangeArrowheads="1"/>
            </p:cNvSpPr>
            <p:nvPr/>
          </p:nvSpPr>
          <p:spPr bwMode="auto">
            <a:xfrm>
              <a:off x="3924000" y="2106190"/>
              <a:ext cx="1801813" cy="6588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2000" b="1" u="none" dirty="0">
                  <a:latin typeface="宋体" panose="02010600030101010101" pitchFamily="2" charset="-122"/>
                </a:rPr>
                <a:t>静态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RAM(</a:t>
              </a:r>
              <a:r>
                <a:rPr lang="en-US" altLang="zh-CN" sz="20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SRAM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000" b="1" u="none" dirty="0">
                  <a:latin typeface="宋体" panose="02010600030101010101" pitchFamily="2" charset="-122"/>
                </a:rPr>
                <a:t>动态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RAM(</a:t>
              </a:r>
              <a:r>
                <a:rPr lang="en-US" altLang="zh-CN" sz="20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DRAM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grpSp>
          <p:nvGrpSpPr>
            <p:cNvPr id="297009" name="Group 49"/>
            <p:cNvGrpSpPr/>
            <p:nvPr/>
          </p:nvGrpSpPr>
          <p:grpSpPr bwMode="auto">
            <a:xfrm>
              <a:off x="1261667" y="1772816"/>
              <a:ext cx="4067175" cy="1677988"/>
              <a:chOff x="1293" y="718"/>
              <a:chExt cx="2562" cy="1057"/>
            </a:xfrm>
          </p:grpSpPr>
          <p:sp>
            <p:nvSpPr>
              <p:cNvPr id="296993" name="Text Box 33"/>
              <p:cNvSpPr txBox="1">
                <a:spLocks noChangeArrowheads="1"/>
              </p:cNvSpPr>
              <p:nvPr/>
            </p:nvSpPr>
            <p:spPr bwMode="auto">
              <a:xfrm>
                <a:off x="1293" y="1367"/>
                <a:ext cx="816" cy="40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半导体</a:t>
                </a:r>
                <a:r>
                  <a:rPr lang="en-US" altLang="zh-CN" sz="20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ROM</a:t>
                </a:r>
              </a:p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非易失型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) </a:t>
                </a:r>
              </a:p>
            </p:txBody>
          </p:sp>
          <p:sp>
            <p:nvSpPr>
              <p:cNvPr id="296994" name="Text Box 34"/>
              <p:cNvSpPr txBox="1">
                <a:spLocks noChangeArrowheads="1"/>
              </p:cNvSpPr>
              <p:nvPr/>
            </p:nvSpPr>
            <p:spPr bwMode="auto">
              <a:xfrm>
                <a:off x="2176" y="718"/>
                <a:ext cx="1679" cy="19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双极型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RAM(TTL</a:t>
                </a:r>
                <a:r>
                  <a:rPr lang="zh-CN" altLang="en-US" sz="2000" b="1" u="none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ECL)</a:t>
                </a:r>
              </a:p>
            </p:txBody>
          </p:sp>
          <p:sp>
            <p:nvSpPr>
              <p:cNvPr id="296995" name="Text Box 35"/>
              <p:cNvSpPr txBox="1">
                <a:spLocks noChangeArrowheads="1"/>
              </p:cNvSpPr>
              <p:nvPr/>
            </p:nvSpPr>
            <p:spPr bwMode="auto">
              <a:xfrm>
                <a:off x="2176" y="1019"/>
                <a:ext cx="726" cy="18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2000" b="1" u="none" dirty="0">
                    <a:solidFill>
                      <a:srgbClr val="C00000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MOS</a:t>
                </a:r>
                <a:r>
                  <a:rPr lang="zh-CN" altLang="en-US" sz="2000" b="1" u="none" dirty="0">
                    <a:solidFill>
                      <a:srgbClr val="C00000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型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</a:t>
                </a:r>
              </a:p>
            </p:txBody>
          </p:sp>
          <p:sp>
            <p:nvSpPr>
              <p:cNvPr id="297000" name="Text Box 40"/>
              <p:cNvSpPr txBox="1">
                <a:spLocks noChangeArrowheads="1"/>
              </p:cNvSpPr>
              <p:nvPr/>
            </p:nvSpPr>
            <p:spPr bwMode="auto">
              <a:xfrm>
                <a:off x="1293" y="838"/>
                <a:ext cx="816" cy="40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半导体</a:t>
                </a:r>
                <a:r>
                  <a:rPr lang="en-US" altLang="zh-CN" sz="20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RAM</a:t>
                </a:r>
              </a:p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易失型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) </a:t>
                </a:r>
              </a:p>
            </p:txBody>
          </p:sp>
        </p:grpSp>
        <p:sp>
          <p:nvSpPr>
            <p:cNvPr id="297003" name="Text Box 43"/>
            <p:cNvSpPr txBox="1">
              <a:spLocks noChangeArrowheads="1"/>
            </p:cNvSpPr>
            <p:nvPr/>
          </p:nvSpPr>
          <p:spPr bwMode="auto">
            <a:xfrm>
              <a:off x="2664000" y="2731740"/>
              <a:ext cx="4536107" cy="6476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2000" b="1" u="none" dirty="0">
                  <a:latin typeface="宋体" panose="02010600030101010101" pitchFamily="2" charset="-122"/>
                </a:rPr>
                <a:t>MROM</a:t>
              </a:r>
              <a:r>
                <a:rPr lang="zh-CN" altLang="en-US" sz="20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PROM</a:t>
              </a:r>
              <a:r>
                <a:rPr lang="zh-CN" altLang="en-US" sz="20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EPROM</a:t>
              </a:r>
              <a:r>
                <a:rPr lang="zh-CN" altLang="en-US" sz="20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EEPROM(E</a:t>
              </a:r>
              <a:r>
                <a:rPr lang="en-US" altLang="zh-CN" sz="2000" b="1" u="none" baseline="30000" dirty="0">
                  <a:latin typeface="宋体" panose="02010600030101010101" pitchFamily="2" charset="-122"/>
                </a:rPr>
                <a:t>2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PROM)</a:t>
              </a:r>
              <a:r>
                <a:rPr lang="zh-CN" altLang="en-US" sz="2000" b="1" u="none" dirty="0">
                  <a:latin typeface="宋体" panose="02010600030101010101" pitchFamily="2" charset="-122"/>
                </a:rPr>
                <a:t>，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r>
                <a:rPr lang="en-US" altLang="zh-CN" sz="2000" b="1" u="none" dirty="0">
                  <a:latin typeface="宋体" panose="02010600030101010101" pitchFamily="2" charset="-122"/>
                </a:rPr>
                <a:t>FLASH</a:t>
              </a:r>
            </a:p>
          </p:txBody>
        </p:sp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EA767D98-A1FF-4FD4-9794-86A804CA36A6}"/>
                </a:ext>
              </a:extLst>
            </p:cNvPr>
            <p:cNvSpPr/>
            <p:nvPr/>
          </p:nvSpPr>
          <p:spPr bwMode="auto">
            <a:xfrm>
              <a:off x="1152000" y="2095200"/>
              <a:ext cx="108000" cy="936000"/>
            </a:xfrm>
            <a:prstGeom prst="leftBrace">
              <a:avLst>
                <a:gd name="adj1" fmla="val 25055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左大括号 96">
              <a:extLst>
                <a:ext uri="{FF2B5EF4-FFF2-40B4-BE49-F238E27FC236}">
                  <a16:creationId xmlns:a16="http://schemas.microsoft.com/office/drawing/2014/main" id="{502806CB-7EC0-4917-AF44-20F0CEB9244D}"/>
                </a:ext>
              </a:extLst>
            </p:cNvPr>
            <p:cNvSpPr/>
            <p:nvPr/>
          </p:nvSpPr>
          <p:spPr bwMode="auto">
            <a:xfrm>
              <a:off x="2520000" y="1915200"/>
              <a:ext cx="108000" cy="576000"/>
            </a:xfrm>
            <a:prstGeom prst="leftBrace">
              <a:avLst>
                <a:gd name="adj1" fmla="val 25055"/>
                <a:gd name="adj2" fmla="val 42408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左大括号 97">
              <a:extLst>
                <a:ext uri="{FF2B5EF4-FFF2-40B4-BE49-F238E27FC236}">
                  <a16:creationId xmlns:a16="http://schemas.microsoft.com/office/drawing/2014/main" id="{BA54A8F7-3869-4EEA-A689-4EF4035E8734}"/>
                </a:ext>
              </a:extLst>
            </p:cNvPr>
            <p:cNvSpPr/>
            <p:nvPr/>
          </p:nvSpPr>
          <p:spPr bwMode="auto">
            <a:xfrm>
              <a:off x="2521151" y="2866064"/>
              <a:ext cx="108000" cy="432000"/>
            </a:xfrm>
            <a:prstGeom prst="leftBrace">
              <a:avLst>
                <a:gd name="adj1" fmla="val 25055"/>
                <a:gd name="adj2" fmla="val 33205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左大括号 98">
              <a:extLst>
                <a:ext uri="{FF2B5EF4-FFF2-40B4-BE49-F238E27FC236}">
                  <a16:creationId xmlns:a16="http://schemas.microsoft.com/office/drawing/2014/main" id="{77D5E860-E27A-4988-BEA5-B08746615925}"/>
                </a:ext>
              </a:extLst>
            </p:cNvPr>
            <p:cNvSpPr/>
            <p:nvPr/>
          </p:nvSpPr>
          <p:spPr bwMode="auto">
            <a:xfrm>
              <a:off x="3777014" y="2238417"/>
              <a:ext cx="108000" cy="432000"/>
            </a:xfrm>
            <a:prstGeom prst="leftBrace">
              <a:avLst>
                <a:gd name="adj1" fmla="val 25055"/>
                <a:gd name="adj2" fmla="val 42408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E9755C6-2B03-4BBA-ADB3-EC2E9B97D5CA}"/>
              </a:ext>
            </a:extLst>
          </p:cNvPr>
          <p:cNvGrpSpPr/>
          <p:nvPr/>
        </p:nvGrpSpPr>
        <p:grpSpPr>
          <a:xfrm>
            <a:off x="6732240" y="4146840"/>
            <a:ext cx="1800000" cy="940004"/>
            <a:chOff x="6732240" y="4146840"/>
            <a:chExt cx="1800000" cy="940004"/>
          </a:xfrm>
        </p:grpSpPr>
        <p:cxnSp>
          <p:nvCxnSpPr>
            <p:cNvPr id="149" name="直接连接符 148"/>
            <p:cNvCxnSpPr/>
            <p:nvPr/>
          </p:nvCxnSpPr>
          <p:spPr bwMode="auto">
            <a:xfrm flipV="1">
              <a:off x="7164240" y="4146896"/>
              <a:ext cx="0" cy="72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0" name="Text Box 383"/>
            <p:cNvSpPr txBox="1">
              <a:spLocks noChangeArrowheads="1"/>
            </p:cNvSpPr>
            <p:nvPr/>
          </p:nvSpPr>
          <p:spPr bwMode="auto">
            <a:xfrm>
              <a:off x="6876208" y="414684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151" name="Text Box 383"/>
            <p:cNvSpPr txBox="1">
              <a:spLocks noChangeArrowheads="1"/>
            </p:cNvSpPr>
            <p:nvPr/>
          </p:nvSpPr>
          <p:spPr bwMode="auto">
            <a:xfrm>
              <a:off x="8223561" y="48708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GS</a:t>
              </a:r>
            </a:p>
          </p:txBody>
        </p:sp>
        <p:sp>
          <p:nvSpPr>
            <p:cNvPr id="152" name="Text Box 383"/>
            <p:cNvSpPr txBox="1">
              <a:spLocks noChangeArrowheads="1"/>
            </p:cNvSpPr>
            <p:nvPr/>
          </p:nvSpPr>
          <p:spPr bwMode="auto">
            <a:xfrm>
              <a:off x="7524352" y="486687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53" name="Text Box 383"/>
            <p:cNvSpPr txBox="1">
              <a:spLocks noChangeArrowheads="1"/>
            </p:cNvSpPr>
            <p:nvPr/>
          </p:nvSpPr>
          <p:spPr bwMode="auto">
            <a:xfrm>
              <a:off x="6732240" y="4650864"/>
              <a:ext cx="432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10</a:t>
              </a:r>
              <a:r>
                <a:rPr lang="el-GR" altLang="zh-CN" sz="1200" u="none" dirty="0">
                  <a:latin typeface="+mn-lt"/>
                </a:rPr>
                <a:t>μ</a:t>
              </a:r>
              <a:r>
                <a:rPr lang="en-US" altLang="zh-CN" sz="1200" b="1" u="none" dirty="0">
                  <a:latin typeface="宋体" panose="02010600030101010101" pitchFamily="2" charset="-122"/>
                </a:rPr>
                <a:t>A</a:t>
              </a:r>
              <a:endParaRPr lang="en-US" altLang="zh-CN" sz="12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4" name="梯形 153"/>
            <p:cNvSpPr/>
            <p:nvPr/>
          </p:nvSpPr>
          <p:spPr bwMode="auto">
            <a:xfrm>
              <a:off x="7510617" y="4722832"/>
              <a:ext cx="792000" cy="144040"/>
            </a:xfrm>
            <a:prstGeom prst="trapezoid">
              <a:avLst>
                <a:gd name="adj" fmla="val 63518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  <a:miter lim="800000"/>
            </a:ln>
            <a:effectLst/>
          </p:spPr>
          <p:txBody>
            <a:bodyPr wrap="none" lIns="18000" tIns="10800" rIns="18000" bIns="10800" rtlCol="0" anchor="ctr"/>
            <a:lstStyle/>
            <a:p>
              <a:pPr algn="ctr"/>
              <a:r>
                <a:rPr lang="zh-CN" altLang="en-US" sz="1400" b="1" u="none" dirty="0"/>
                <a:t>截止</a:t>
              </a:r>
            </a:p>
          </p:txBody>
        </p:sp>
        <p:sp>
          <p:nvSpPr>
            <p:cNvPr id="155" name="梯形 154"/>
            <p:cNvSpPr/>
            <p:nvPr/>
          </p:nvSpPr>
          <p:spPr bwMode="auto">
            <a:xfrm>
              <a:off x="7604744" y="4362808"/>
              <a:ext cx="792000" cy="360048"/>
            </a:xfrm>
            <a:prstGeom prst="trapezoid">
              <a:avLst>
                <a:gd name="adj" fmla="val 54150"/>
              </a:avLst>
            </a:prstGeom>
            <a:solidFill>
              <a:srgbClr val="CCFFFF"/>
            </a:solidFill>
            <a:ln w="12700">
              <a:noFill/>
              <a:miter lim="800000"/>
            </a:ln>
            <a:effectLst/>
          </p:spPr>
          <p:txBody>
            <a:bodyPr wrap="none" lIns="18000" tIns="10800" rIns="18000" bIns="10800" rtlCol="0" anchor="ctr"/>
            <a:lstStyle/>
            <a:p>
              <a:pPr algn="ctr"/>
              <a:r>
                <a:rPr lang="zh-CN" altLang="en-US" sz="1400" b="1" u="none" dirty="0"/>
                <a:t>导通</a:t>
              </a: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flipV="1">
              <a:off x="7524000" y="4362840"/>
              <a:ext cx="288000" cy="50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/>
          </p:nvCxnSpPr>
          <p:spPr bwMode="auto">
            <a:xfrm>
              <a:off x="7164240" y="4722855"/>
              <a:ext cx="1224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 bwMode="auto">
            <a:xfrm flipH="1" flipV="1">
              <a:off x="7596336" y="4832964"/>
              <a:ext cx="0" cy="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9" name="直接连接符 158"/>
            <p:cNvCxnSpPr/>
            <p:nvPr/>
          </p:nvCxnSpPr>
          <p:spPr bwMode="auto">
            <a:xfrm>
              <a:off x="7164240" y="4866872"/>
              <a:ext cx="1368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F1882379-85DB-4E9B-9737-066F5374B8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64208" y="4866891"/>
              <a:ext cx="3601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7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Box 264"/>
          <p:cNvSpPr txBox="1">
            <a:spLocks noChangeArrowheads="1"/>
          </p:cNvSpPr>
          <p:nvPr/>
        </p:nvSpPr>
        <p:spPr bwMode="auto">
          <a:xfrm>
            <a:off x="179512" y="1340768"/>
            <a:ext cx="2592288" cy="38813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*存储原理：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*写入方法：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*保持方法：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*读出方法：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DA34-E53E-42F3-AF03-DE2237B09B4A}" type="slidenum">
              <a:rPr lang="en-US" altLang="zh-CN"/>
              <a:t>10</a:t>
            </a:fld>
            <a:endParaRPr lang="en-US" altLang="zh-CN" dirty="0"/>
          </a:p>
        </p:txBody>
      </p:sp>
      <p:sp>
        <p:nvSpPr>
          <p:cNvPr id="86101" name="Text Box 85"/>
          <p:cNvSpPr txBox="1">
            <a:spLocks noChangeArrowheads="1"/>
          </p:cNvSpPr>
          <p:nvPr/>
        </p:nvSpPr>
        <p:spPr bwMode="auto">
          <a:xfrm>
            <a:off x="179388" y="836712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存储元的组成原理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86186" name="Text Box 170"/>
          <p:cNvSpPr txBox="1">
            <a:spLocks noChangeArrowheads="1"/>
          </p:cNvSpPr>
          <p:nvPr/>
        </p:nvSpPr>
        <p:spPr bwMode="auto">
          <a:xfrm>
            <a:off x="179388" y="404664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90000" tIns="10800" rIns="90000" bIns="10800"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一、静态</a:t>
            </a:r>
            <a:r>
              <a:rPr lang="en-US" altLang="zh-CN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u="none" dirty="0">
                <a:cs typeface="Times New Roman" panose="02020603050405020304" pitchFamily="18" charset="0"/>
              </a:rPr>
              <a:t>Static 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,SRAM)</a:t>
            </a: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Text Box 348"/>
          <p:cNvSpPr txBox="1">
            <a:spLocks noChangeArrowheads="1"/>
          </p:cNvSpPr>
          <p:nvPr/>
        </p:nvSpPr>
        <p:spPr bwMode="auto">
          <a:xfrm>
            <a:off x="1838671" y="1340768"/>
            <a:ext cx="442800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导通时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A</a:t>
            </a:r>
            <a:r>
              <a:rPr lang="en-US" altLang="zh-CN" sz="2200" b="1" u="none" dirty="0"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地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截止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B</a:t>
            </a:r>
            <a:r>
              <a:rPr lang="en-US" altLang="zh-CN" sz="2200" b="1" u="none" dirty="0"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高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更导通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稳态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07" name="Group 273"/>
          <p:cNvGrpSpPr/>
          <p:nvPr/>
        </p:nvGrpSpPr>
        <p:grpSpPr bwMode="auto">
          <a:xfrm>
            <a:off x="1886079" y="2203200"/>
            <a:ext cx="4268332" cy="1658938"/>
            <a:chOff x="2575" y="1299"/>
            <a:chExt cx="2419" cy="1045"/>
          </a:xfrm>
        </p:grpSpPr>
        <p:sp>
          <p:nvSpPr>
            <p:cNvPr id="208" name="Text Box 266"/>
            <p:cNvSpPr txBox="1">
              <a:spLocks noChangeArrowheads="1"/>
            </p:cNvSpPr>
            <p:nvPr/>
          </p:nvSpPr>
          <p:spPr bwMode="auto">
            <a:xfrm>
              <a:off x="2575" y="1299"/>
              <a:ext cx="2419" cy="10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线上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加</a:t>
              </a:r>
              <a:r>
                <a:rPr lang="zh-CN" altLang="en-US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正脉冲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结束时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W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=V</a:t>
              </a:r>
              <a:r>
                <a:rPr lang="zh-CN" altLang="en-US" sz="1800" b="1" u="none" baseline="-18000" dirty="0">
                  <a:latin typeface="宋体" panose="02010600030101010101" pitchFamily="2" charset="-122"/>
                </a:rPr>
                <a:t>地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       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5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和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6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导通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写入期间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；</a:t>
              </a:r>
            </a:p>
            <a:p>
              <a:pPr marL="268288" indent="-268288">
                <a:lnSpc>
                  <a:spcPct val="125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②写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2200" b="1" u="none" dirty="0"/>
                <a:t>时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，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使</a:t>
              </a:r>
              <a:r>
                <a:rPr lang="en-US" altLang="zh-CN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D=V</a:t>
              </a:r>
              <a:r>
                <a:rPr lang="zh-CN" altLang="en-US" sz="22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地</a:t>
              </a:r>
              <a:r>
                <a:rPr lang="zh-CN" altLang="en-US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D=V</a:t>
              </a:r>
              <a:r>
                <a:rPr lang="zh-CN" altLang="en-US" sz="2200" b="1" u="none" baseline="-20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中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  <a:p>
              <a:pPr marL="268288" indent="-268288"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         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截止、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导通</a:t>
              </a:r>
            </a:p>
          </p:txBody>
        </p:sp>
        <p:sp>
          <p:nvSpPr>
            <p:cNvPr id="209" name="Line 267"/>
            <p:cNvSpPr>
              <a:spLocks noChangeShapeType="1"/>
            </p:cNvSpPr>
            <p:nvPr/>
          </p:nvSpPr>
          <p:spPr bwMode="auto">
            <a:xfrm>
              <a:off x="4005" y="1870"/>
              <a:ext cx="91" cy="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8" name="Text Box 264"/>
          <p:cNvSpPr txBox="1">
            <a:spLocks noChangeArrowheads="1"/>
          </p:cNvSpPr>
          <p:nvPr/>
        </p:nvSpPr>
        <p:spPr bwMode="auto">
          <a:xfrm>
            <a:off x="1907704" y="3844582"/>
            <a:ext cx="4358967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W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地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5</a:t>
            </a:r>
            <a:r>
              <a:rPr lang="zh-CN" altLang="en-US" sz="2200" b="1" u="none" dirty="0">
                <a:latin typeface="宋体" panose="02010600030101010101" pitchFamily="2" charset="-122"/>
              </a:rPr>
              <a:t>和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6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截止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及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状态不变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(V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B</a:t>
            </a:r>
            <a:r>
              <a:rPr lang="en-US" altLang="zh-CN" sz="1800" b="1" u="none" dirty="0">
                <a:latin typeface="宋体" panose="02010600030101010101" pitchFamily="2" charset="-122"/>
              </a:rPr>
              <a:t>=V</a:t>
            </a:r>
            <a:r>
              <a:rPr lang="zh-CN" altLang="en-US" sz="1800" b="1" u="none" baseline="-18000" dirty="0">
                <a:latin typeface="宋体" panose="02010600030101010101" pitchFamily="2" charset="-122"/>
              </a:rPr>
              <a:t>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cxnSp>
        <p:nvCxnSpPr>
          <p:cNvPr id="237" name="直接箭头连接符 236"/>
          <p:cNvCxnSpPr>
            <a:cxnSpLocks/>
          </p:cNvCxnSpPr>
          <p:nvPr/>
        </p:nvCxnSpPr>
        <p:spPr bwMode="auto">
          <a:xfrm flipV="1">
            <a:off x="2880000" y="2635200"/>
            <a:ext cx="864000" cy="136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triangle" w="med" len="med"/>
            <a:tailEnd type="none"/>
          </a:ln>
          <a:effectLst/>
        </p:spPr>
      </p:cxnSp>
      <p:sp>
        <p:nvSpPr>
          <p:cNvPr id="239" name="AutoShape 17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0CB4C620-97AE-4C16-8513-E720331E4E56}"/>
              </a:ext>
            </a:extLst>
          </p:cNvPr>
          <p:cNvGrpSpPr/>
          <p:nvPr/>
        </p:nvGrpSpPr>
        <p:grpSpPr>
          <a:xfrm>
            <a:off x="6444208" y="1412776"/>
            <a:ext cx="2375840" cy="3060000"/>
            <a:chOff x="6012160" y="1476000"/>
            <a:chExt cx="2375840" cy="3060000"/>
          </a:xfrm>
        </p:grpSpPr>
        <p:sp>
          <p:nvSpPr>
            <p:cNvPr id="204" name="Rectangle 355">
              <a:extLst>
                <a:ext uri="{FF2B5EF4-FFF2-40B4-BE49-F238E27FC236}">
                  <a16:creationId xmlns:a16="http://schemas.microsoft.com/office/drawing/2014/main" id="{597198BB-F3D5-4846-AA55-8D774B7C9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8000" y="1980000"/>
              <a:ext cx="1908000" cy="169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 cap="rnd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Rectangle 355">
              <a:extLst>
                <a:ext uri="{FF2B5EF4-FFF2-40B4-BE49-F238E27FC236}">
                  <a16:creationId xmlns:a16="http://schemas.microsoft.com/office/drawing/2014/main" id="{9A8456B3-5739-472E-8660-F6D5F2668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000" y="2557029"/>
              <a:ext cx="1224000" cy="104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rnd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Text Box 350">
              <a:extLst>
                <a:ext uri="{FF2B5EF4-FFF2-40B4-BE49-F238E27FC236}">
                  <a16:creationId xmlns:a16="http://schemas.microsoft.com/office/drawing/2014/main" id="{227E50C3-B700-4423-80CF-356B1B5DA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1476000"/>
              <a:ext cx="10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字选择线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8" name="Text Box 351">
              <a:extLst>
                <a:ext uri="{FF2B5EF4-FFF2-40B4-BE49-F238E27FC236}">
                  <a16:creationId xmlns:a16="http://schemas.microsoft.com/office/drawing/2014/main" id="{12BD5789-A697-49D8-B6EB-C00140681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00" y="3744000"/>
              <a:ext cx="2340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MOS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型静态存储元组成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spcBef>
                  <a:spcPts val="300"/>
                </a:spcBef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+mn-ea"/>
                  <a:ea typeface="+mn-ea"/>
                </a:rPr>
                <a:t> 注：</a:t>
              </a:r>
              <a:r>
                <a:rPr lang="en-US" altLang="zh-CN" sz="1600" b="1" u="none" dirty="0">
                  <a:latin typeface="+mn-ea"/>
                  <a:ea typeface="+mn-ea"/>
                </a:rPr>
                <a:t>T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3</a:t>
              </a:r>
              <a:r>
                <a:rPr lang="zh-CN" altLang="en-US" sz="1600" b="1" u="none" dirty="0">
                  <a:latin typeface="+mn-ea"/>
                  <a:ea typeface="+mn-ea"/>
                </a:rPr>
                <a:t>和</a:t>
              </a:r>
              <a:r>
                <a:rPr lang="en-US" altLang="zh-CN" sz="1600" b="1" u="none" dirty="0">
                  <a:latin typeface="+mn-ea"/>
                  <a:ea typeface="+mn-ea"/>
                </a:rPr>
                <a:t>T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4</a:t>
              </a:r>
              <a:r>
                <a:rPr lang="en-US" altLang="zh-CN" sz="1600" b="1" u="none" dirty="0">
                  <a:latin typeface="+mn-ea"/>
                  <a:ea typeface="+mn-ea"/>
                </a:rPr>
                <a:t>—</a:t>
              </a:r>
              <a:r>
                <a:rPr lang="zh-CN" altLang="en-US" sz="1600" b="1" u="none" dirty="0">
                  <a:latin typeface="+mn-ea"/>
                  <a:ea typeface="+mn-ea"/>
                </a:rPr>
                <a:t>上拉电阻</a:t>
              </a:r>
              <a:endParaRPr lang="en-US" altLang="zh-CN" sz="1600" b="1" u="none" dirty="0">
                <a:latin typeface="+mn-ea"/>
                <a:ea typeface="+mn-ea"/>
              </a:endParaRPr>
            </a:p>
            <a:p>
              <a:r>
                <a:rPr lang="en-US" altLang="zh-CN" sz="1600" b="1" u="none" dirty="0">
                  <a:latin typeface="+mn-ea"/>
                  <a:ea typeface="+mn-ea"/>
                </a:rPr>
                <a:t>     T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5</a:t>
              </a:r>
              <a:r>
                <a:rPr lang="zh-CN" altLang="en-US" sz="1600" b="1" u="none" dirty="0">
                  <a:latin typeface="+mn-ea"/>
                  <a:ea typeface="+mn-ea"/>
                </a:rPr>
                <a:t>和</a:t>
              </a:r>
              <a:r>
                <a:rPr lang="en-US" altLang="zh-CN" sz="1600" b="1" u="none" dirty="0">
                  <a:latin typeface="+mn-ea"/>
                  <a:ea typeface="+mn-ea"/>
                </a:rPr>
                <a:t>T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6</a:t>
              </a:r>
              <a:r>
                <a:rPr lang="en-US" altLang="zh-CN" sz="1600" b="1" u="none" dirty="0">
                  <a:latin typeface="+mn-ea"/>
                  <a:ea typeface="+mn-ea"/>
                </a:rPr>
                <a:t>—</a:t>
              </a:r>
              <a:r>
                <a:rPr lang="zh-CN" altLang="en-US" sz="1600" b="1" u="none" dirty="0">
                  <a:latin typeface="+mn-ea"/>
                  <a:ea typeface="+mn-ea"/>
                </a:rPr>
                <a:t>内外开关</a:t>
              </a:r>
            </a:p>
            <a:p>
              <a:pPr>
                <a:lnSpc>
                  <a:spcPct val="90000"/>
                </a:lnSpc>
              </a:pP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0" name="Line 354">
              <a:extLst>
                <a:ext uri="{FF2B5EF4-FFF2-40B4-BE49-F238E27FC236}">
                  <a16:creationId xmlns:a16="http://schemas.microsoft.com/office/drawing/2014/main" id="{26EF0722-5927-47C0-859E-B30FCA1ED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8000" y="1692000"/>
              <a:ext cx="2268000" cy="67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Text Box 356">
              <a:extLst>
                <a:ext uri="{FF2B5EF4-FFF2-40B4-BE49-F238E27FC236}">
                  <a16:creationId xmlns:a16="http://schemas.microsoft.com/office/drawing/2014/main" id="{0A63926E-B11F-4CC0-933D-24E197DCE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000" y="1728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35" name="Line 357">
              <a:extLst>
                <a:ext uri="{FF2B5EF4-FFF2-40B4-BE49-F238E27FC236}">
                  <a16:creationId xmlns:a16="http://schemas.microsoft.com/office/drawing/2014/main" id="{B3C104EB-3B4C-4479-8C79-1C87A6552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2051510"/>
              <a:ext cx="1080000" cy="1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358">
              <a:extLst>
                <a:ext uri="{FF2B5EF4-FFF2-40B4-BE49-F238E27FC236}">
                  <a16:creationId xmlns:a16="http://schemas.microsoft.com/office/drawing/2014/main" id="{405ACEC3-88BF-4D3D-BE51-1B12DF20C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12" y="205151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359">
              <a:extLst>
                <a:ext uri="{FF2B5EF4-FFF2-40B4-BE49-F238E27FC236}">
                  <a16:creationId xmlns:a16="http://schemas.microsoft.com/office/drawing/2014/main" id="{7BB1105E-48CD-4FCC-BFA4-C544B0B4B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2304000"/>
              <a:ext cx="0" cy="68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360">
              <a:extLst>
                <a:ext uri="{FF2B5EF4-FFF2-40B4-BE49-F238E27FC236}">
                  <a16:creationId xmlns:a16="http://schemas.microsoft.com/office/drawing/2014/main" id="{CE322E29-76E1-4AAF-90CD-8CA919A52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5809" y="2988000"/>
              <a:ext cx="0" cy="14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361">
              <a:extLst>
                <a:ext uri="{FF2B5EF4-FFF2-40B4-BE49-F238E27FC236}">
                  <a16:creationId xmlns:a16="http://schemas.microsoft.com/office/drawing/2014/main" id="{CC98AEDC-3F8E-4807-8E41-7D274E4E1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5810" y="3058630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362">
              <a:extLst>
                <a:ext uri="{FF2B5EF4-FFF2-40B4-BE49-F238E27FC236}">
                  <a16:creationId xmlns:a16="http://schemas.microsoft.com/office/drawing/2014/main" id="{E527132A-5C30-406D-A2BD-377BC58E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3130067"/>
              <a:ext cx="0" cy="28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363">
              <a:extLst>
                <a:ext uri="{FF2B5EF4-FFF2-40B4-BE49-F238E27FC236}">
                  <a16:creationId xmlns:a16="http://schemas.microsoft.com/office/drawing/2014/main" id="{89C0A981-3E4D-4B6A-9471-655A3ADBB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20000" y="1980965"/>
              <a:ext cx="0" cy="17281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364">
              <a:extLst>
                <a:ext uri="{FF2B5EF4-FFF2-40B4-BE49-F238E27FC236}">
                  <a16:creationId xmlns:a16="http://schemas.microsoft.com/office/drawing/2014/main" id="{68D23316-25D3-450B-B22C-3F0B808C2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9512" y="3420000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365">
              <a:extLst>
                <a:ext uri="{FF2B5EF4-FFF2-40B4-BE49-F238E27FC236}">
                  <a16:creationId xmlns:a16="http://schemas.microsoft.com/office/drawing/2014/main" id="{2B1D7C35-5B1B-469C-B36E-AC8E0FA9C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0000" y="2052971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366">
              <a:extLst>
                <a:ext uri="{FF2B5EF4-FFF2-40B4-BE49-F238E27FC236}">
                  <a16:creationId xmlns:a16="http://schemas.microsoft.com/office/drawing/2014/main" id="{0D956EC2-B420-4377-A80F-35ECF4778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0000" y="2304000"/>
              <a:ext cx="0" cy="68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367">
              <a:extLst>
                <a:ext uri="{FF2B5EF4-FFF2-40B4-BE49-F238E27FC236}">
                  <a16:creationId xmlns:a16="http://schemas.microsoft.com/office/drawing/2014/main" id="{07C874E3-54B9-4B1B-A2AB-8832D4F65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0000" y="305795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368">
              <a:extLst>
                <a:ext uri="{FF2B5EF4-FFF2-40B4-BE49-F238E27FC236}">
                  <a16:creationId xmlns:a16="http://schemas.microsoft.com/office/drawing/2014/main" id="{7E655B38-A966-4EFA-A1DE-287C22E38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0000" y="3132000"/>
              <a:ext cx="0" cy="28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369">
              <a:extLst>
                <a:ext uri="{FF2B5EF4-FFF2-40B4-BE49-F238E27FC236}">
                  <a16:creationId xmlns:a16="http://schemas.microsoft.com/office/drawing/2014/main" id="{0A03D636-6ACC-4B6C-AC97-277733518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28000" y="2628000"/>
              <a:ext cx="21716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370">
              <a:extLst>
                <a:ext uri="{FF2B5EF4-FFF2-40B4-BE49-F238E27FC236}">
                  <a16:creationId xmlns:a16="http://schemas.microsoft.com/office/drawing/2014/main" id="{835C0282-10C6-4D5C-B9E8-A0DA55E9E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4000" y="1980965"/>
              <a:ext cx="0" cy="17281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371">
              <a:extLst>
                <a:ext uri="{FF2B5EF4-FFF2-40B4-BE49-F238E27FC236}">
                  <a16:creationId xmlns:a16="http://schemas.microsoft.com/office/drawing/2014/main" id="{96C1C9BE-600B-4AAE-8ED6-014409BEF8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0000" y="342000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372">
              <a:extLst>
                <a:ext uri="{FF2B5EF4-FFF2-40B4-BE49-F238E27FC236}">
                  <a16:creationId xmlns:a16="http://schemas.microsoft.com/office/drawing/2014/main" id="{E3F0F3F0-2135-4901-93C8-BEC185BB5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000" y="2624572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373">
              <a:extLst>
                <a:ext uri="{FF2B5EF4-FFF2-40B4-BE49-F238E27FC236}">
                  <a16:creationId xmlns:a16="http://schemas.microsoft.com/office/drawing/2014/main" id="{693AE1E4-DF06-4F66-8169-8DE2B92F8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0000" y="2627746"/>
              <a:ext cx="360000" cy="67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74">
              <a:extLst>
                <a:ext uri="{FF2B5EF4-FFF2-40B4-BE49-F238E27FC236}">
                  <a16:creationId xmlns:a16="http://schemas.microsoft.com/office/drawing/2014/main" id="{5303A929-4E46-49C3-8D35-09EBDD7A6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0000" y="2627747"/>
              <a:ext cx="360000" cy="4318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75">
              <a:extLst>
                <a:ext uri="{FF2B5EF4-FFF2-40B4-BE49-F238E27FC236}">
                  <a16:creationId xmlns:a16="http://schemas.microsoft.com/office/drawing/2014/main" id="{C6CD6AAD-DE1D-4115-B3AC-3D98BE75C9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0000" y="2627747"/>
              <a:ext cx="360000" cy="4318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2" name="Line 376">
              <a:extLst>
                <a:ext uri="{FF2B5EF4-FFF2-40B4-BE49-F238E27FC236}">
                  <a16:creationId xmlns:a16="http://schemas.microsoft.com/office/drawing/2014/main" id="{81B674CF-2F7B-4B6A-9229-7E4EBB411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0000" y="1908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Oval 377">
              <a:extLst>
                <a:ext uri="{FF2B5EF4-FFF2-40B4-BE49-F238E27FC236}">
                  <a16:creationId xmlns:a16="http://schemas.microsoft.com/office/drawing/2014/main" id="{E9917A99-63E7-407D-A038-1D9BCA9C8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000" y="1836000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4" name="Text Box 378">
              <a:extLst>
                <a:ext uri="{FF2B5EF4-FFF2-40B4-BE49-F238E27FC236}">
                  <a16:creationId xmlns:a16="http://schemas.microsoft.com/office/drawing/2014/main" id="{CCFBEE69-79D1-4DBF-88A7-F55F68F15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000" y="3132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45" name="Text Box 379">
              <a:extLst>
                <a:ext uri="{FF2B5EF4-FFF2-40B4-BE49-F238E27FC236}">
                  <a16:creationId xmlns:a16="http://schemas.microsoft.com/office/drawing/2014/main" id="{7100FBEE-E3C7-4597-87BF-A6AC66976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00" y="3132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46" name="Text Box 380">
              <a:extLst>
                <a:ext uri="{FF2B5EF4-FFF2-40B4-BE49-F238E27FC236}">
                  <a16:creationId xmlns:a16="http://schemas.microsoft.com/office/drawing/2014/main" id="{35B02525-7911-4E82-97F7-6DFCAB65F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00" y="2626830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7" name="Text Box 381">
              <a:extLst>
                <a:ext uri="{FF2B5EF4-FFF2-40B4-BE49-F238E27FC236}">
                  <a16:creationId xmlns:a16="http://schemas.microsoft.com/office/drawing/2014/main" id="{58B42719-DA95-40B6-ABC8-3BE1F17B5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000" y="2626160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B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348" name="Text Box 382">
              <a:extLst>
                <a:ext uri="{FF2B5EF4-FFF2-40B4-BE49-F238E27FC236}">
                  <a16:creationId xmlns:a16="http://schemas.microsoft.com/office/drawing/2014/main" id="{8EC56279-E420-4876-89AF-F91335893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0" y="1764000"/>
              <a:ext cx="2159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9" name="Text Box 383">
              <a:extLst>
                <a:ext uri="{FF2B5EF4-FFF2-40B4-BE49-F238E27FC236}">
                  <a16:creationId xmlns:a16="http://schemas.microsoft.com/office/drawing/2014/main" id="{FFF59975-19CD-45AD-8ABE-FE55738FD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000" y="1764000"/>
              <a:ext cx="2159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0" name="Line 384">
              <a:extLst>
                <a:ext uri="{FF2B5EF4-FFF2-40B4-BE49-F238E27FC236}">
                  <a16:creationId xmlns:a16="http://schemas.microsoft.com/office/drawing/2014/main" id="{3B96731B-2F9E-4420-92C5-4B165FA72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0000" y="1764000"/>
              <a:ext cx="1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385">
              <a:extLst>
                <a:ext uri="{FF2B5EF4-FFF2-40B4-BE49-F238E27FC236}">
                  <a16:creationId xmlns:a16="http://schemas.microsoft.com/office/drawing/2014/main" id="{0FE81CAB-C2CE-431E-A2D0-61AEBA2C8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371" y="2914167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86">
              <a:extLst>
                <a:ext uri="{FF2B5EF4-FFF2-40B4-BE49-F238E27FC236}">
                  <a16:creationId xmlns:a16="http://schemas.microsoft.com/office/drawing/2014/main" id="{D39C5B33-DC8D-4B27-9F49-7DEF3E0C9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2988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87">
              <a:extLst>
                <a:ext uri="{FF2B5EF4-FFF2-40B4-BE49-F238E27FC236}">
                  <a16:creationId xmlns:a16="http://schemas.microsoft.com/office/drawing/2014/main" id="{2DB00CB9-305C-4374-8105-B12A18544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3130067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88">
              <a:extLst>
                <a:ext uri="{FF2B5EF4-FFF2-40B4-BE49-F238E27FC236}">
                  <a16:creationId xmlns:a16="http://schemas.microsoft.com/office/drawing/2014/main" id="{57AC72AE-91C1-493F-BCA8-07F7A9625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000" y="2988000"/>
              <a:ext cx="0" cy="14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89">
              <a:extLst>
                <a:ext uri="{FF2B5EF4-FFF2-40B4-BE49-F238E27FC236}">
                  <a16:creationId xmlns:a16="http://schemas.microsoft.com/office/drawing/2014/main" id="{674AEBEC-7CD9-42CF-9597-75C2C77F1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2916000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390">
              <a:extLst>
                <a:ext uri="{FF2B5EF4-FFF2-40B4-BE49-F238E27FC236}">
                  <a16:creationId xmlns:a16="http://schemas.microsoft.com/office/drawing/2014/main" id="{7A1ACAFC-5856-4950-B288-CDC83DBE8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2984935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391">
              <a:extLst>
                <a:ext uri="{FF2B5EF4-FFF2-40B4-BE49-F238E27FC236}">
                  <a16:creationId xmlns:a16="http://schemas.microsoft.com/office/drawing/2014/main" id="{45D72F66-20F8-40B3-8464-1D859B372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3129397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392">
              <a:extLst>
                <a:ext uri="{FF2B5EF4-FFF2-40B4-BE49-F238E27FC236}">
                  <a16:creationId xmlns:a16="http://schemas.microsoft.com/office/drawing/2014/main" id="{7517FB0D-B73A-4FB1-94B0-CF5576A0D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000" y="2160000"/>
              <a:ext cx="0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393">
              <a:extLst>
                <a:ext uri="{FF2B5EF4-FFF2-40B4-BE49-F238E27FC236}">
                  <a16:creationId xmlns:a16="http://schemas.microsoft.com/office/drawing/2014/main" id="{76982C18-227A-4C13-AF9E-E2E1DC79F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2088000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94">
              <a:extLst>
                <a:ext uri="{FF2B5EF4-FFF2-40B4-BE49-F238E27FC236}">
                  <a16:creationId xmlns:a16="http://schemas.microsoft.com/office/drawing/2014/main" id="{8CF30735-7A9F-4856-AF6E-272A94622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2160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95">
              <a:extLst>
                <a:ext uri="{FF2B5EF4-FFF2-40B4-BE49-F238E27FC236}">
                  <a16:creationId xmlns:a16="http://schemas.microsoft.com/office/drawing/2014/main" id="{8C80E4DE-8805-4F33-81C3-D87AF9428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000" y="2304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96">
              <a:extLst>
                <a:ext uri="{FF2B5EF4-FFF2-40B4-BE49-F238E27FC236}">
                  <a16:creationId xmlns:a16="http://schemas.microsoft.com/office/drawing/2014/main" id="{07ED575F-21C4-4528-AABB-9451CCF0C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0000" y="2232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97">
              <a:extLst>
                <a:ext uri="{FF2B5EF4-FFF2-40B4-BE49-F238E27FC236}">
                  <a16:creationId xmlns:a16="http://schemas.microsoft.com/office/drawing/2014/main" id="{EA1ED7DE-5A07-4881-8E65-8D17A14C2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0000" y="2052973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398">
              <a:extLst>
                <a:ext uri="{FF2B5EF4-FFF2-40B4-BE49-F238E27FC236}">
                  <a16:creationId xmlns:a16="http://schemas.microsoft.com/office/drawing/2014/main" id="{229061D0-ADDC-4F82-95AE-67DF3B7CA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5809" y="2160000"/>
              <a:ext cx="0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99">
              <a:extLst>
                <a:ext uri="{FF2B5EF4-FFF2-40B4-BE49-F238E27FC236}">
                  <a16:creationId xmlns:a16="http://schemas.microsoft.com/office/drawing/2014/main" id="{51A82E7E-5BBC-4A8D-9994-198004643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371" y="2088000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400">
              <a:extLst>
                <a:ext uri="{FF2B5EF4-FFF2-40B4-BE49-F238E27FC236}">
                  <a16:creationId xmlns:a16="http://schemas.microsoft.com/office/drawing/2014/main" id="{7BD7995E-A08A-4CCE-A2B4-C31D6F396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2160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401">
              <a:extLst>
                <a:ext uri="{FF2B5EF4-FFF2-40B4-BE49-F238E27FC236}">
                  <a16:creationId xmlns:a16="http://schemas.microsoft.com/office/drawing/2014/main" id="{10430CA8-D96E-41E7-B8F6-2A9466BC5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909" y="2304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402">
              <a:extLst>
                <a:ext uri="{FF2B5EF4-FFF2-40B4-BE49-F238E27FC236}">
                  <a16:creationId xmlns:a16="http://schemas.microsoft.com/office/drawing/2014/main" id="{2CADDBCD-EDED-417B-8462-04A82D184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5809" y="2232000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403">
              <a:extLst>
                <a:ext uri="{FF2B5EF4-FFF2-40B4-BE49-F238E27FC236}">
                  <a16:creationId xmlns:a16="http://schemas.microsoft.com/office/drawing/2014/main" id="{92F8DA84-4109-482E-B002-390FB994D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1859" y="205151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404">
              <a:extLst>
                <a:ext uri="{FF2B5EF4-FFF2-40B4-BE49-F238E27FC236}">
                  <a16:creationId xmlns:a16="http://schemas.microsoft.com/office/drawing/2014/main" id="{F77B29FD-2498-40C8-9358-1CFAB7619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000" y="3528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Line 405">
              <a:extLst>
                <a:ext uri="{FF2B5EF4-FFF2-40B4-BE49-F238E27FC236}">
                  <a16:creationId xmlns:a16="http://schemas.microsoft.com/office/drawing/2014/main" id="{FF90428C-443D-4F05-9042-E4FE3C506B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4000" y="2409342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406">
              <a:extLst>
                <a:ext uri="{FF2B5EF4-FFF2-40B4-BE49-F238E27FC236}">
                  <a16:creationId xmlns:a16="http://schemas.microsoft.com/office/drawing/2014/main" id="{E0422E20-F0C7-45E2-B278-315E05A90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2000" y="2482367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407">
              <a:extLst>
                <a:ext uri="{FF2B5EF4-FFF2-40B4-BE49-F238E27FC236}">
                  <a16:creationId xmlns:a16="http://schemas.microsoft.com/office/drawing/2014/main" id="{8B7E977A-B79A-4E7E-8850-C8177EC9E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4000" y="2483955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408">
              <a:extLst>
                <a:ext uri="{FF2B5EF4-FFF2-40B4-BE49-F238E27FC236}">
                  <a16:creationId xmlns:a16="http://schemas.microsoft.com/office/drawing/2014/main" id="{E55881C3-F2CF-4887-A827-70CE4B43C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00" y="2482367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409">
              <a:extLst>
                <a:ext uri="{FF2B5EF4-FFF2-40B4-BE49-F238E27FC236}">
                  <a16:creationId xmlns:a16="http://schemas.microsoft.com/office/drawing/2014/main" id="{59C9644A-8F1D-44FC-9555-12C0FD738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0000" y="2628000"/>
              <a:ext cx="21639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410">
              <a:extLst>
                <a:ext uri="{FF2B5EF4-FFF2-40B4-BE49-F238E27FC236}">
                  <a16:creationId xmlns:a16="http://schemas.microsoft.com/office/drawing/2014/main" id="{909C82E5-F5A0-47CB-AEFD-C1F15C6C28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6000" y="2409342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411">
              <a:extLst>
                <a:ext uri="{FF2B5EF4-FFF2-40B4-BE49-F238E27FC236}">
                  <a16:creationId xmlns:a16="http://schemas.microsoft.com/office/drawing/2014/main" id="{8C27918C-7C0C-4531-A87B-B08E2B087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000" y="2482367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412">
              <a:extLst>
                <a:ext uri="{FF2B5EF4-FFF2-40B4-BE49-F238E27FC236}">
                  <a16:creationId xmlns:a16="http://schemas.microsoft.com/office/drawing/2014/main" id="{3E40DBE7-B63B-4ED2-807A-955186196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6000" y="2483955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413">
              <a:extLst>
                <a:ext uri="{FF2B5EF4-FFF2-40B4-BE49-F238E27FC236}">
                  <a16:creationId xmlns:a16="http://schemas.microsoft.com/office/drawing/2014/main" id="{F8E8C771-6F0C-491B-9BC1-E7A5F2215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000" y="2482367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Text Box 415">
              <a:extLst>
                <a:ext uri="{FF2B5EF4-FFF2-40B4-BE49-F238E27FC236}">
                  <a16:creationId xmlns:a16="http://schemas.microsoft.com/office/drawing/2014/main" id="{0B535636-0983-41EE-82AB-D7436CBA7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000" y="262683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6</a:t>
              </a:r>
            </a:p>
          </p:txBody>
        </p:sp>
        <p:sp>
          <p:nvSpPr>
            <p:cNvPr id="381" name="Text Box 416">
              <a:extLst>
                <a:ext uri="{FF2B5EF4-FFF2-40B4-BE49-F238E27FC236}">
                  <a16:creationId xmlns:a16="http://schemas.microsoft.com/office/drawing/2014/main" id="{2AC3B511-CE23-46B6-9089-92C3D2CC8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00" y="2304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382" name="Text Box 417">
              <a:extLst>
                <a:ext uri="{FF2B5EF4-FFF2-40B4-BE49-F238E27FC236}">
                  <a16:creationId xmlns:a16="http://schemas.microsoft.com/office/drawing/2014/main" id="{BED3CF26-BC41-4C51-ADA7-120546641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000" y="2304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383" name="Line 418">
              <a:extLst>
                <a:ext uri="{FF2B5EF4-FFF2-40B4-BE49-F238E27FC236}">
                  <a16:creationId xmlns:a16="http://schemas.microsoft.com/office/drawing/2014/main" id="{896A726A-BBC3-46D5-9D72-2A1DCBBBC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9909" y="2628000"/>
              <a:ext cx="3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419">
              <a:extLst>
                <a:ext uri="{FF2B5EF4-FFF2-40B4-BE49-F238E27FC236}">
                  <a16:creationId xmlns:a16="http://schemas.microsoft.com/office/drawing/2014/main" id="{C8BCFF9D-6AFD-4961-9E44-91D70F6BC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0352" y="2627746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52">
              <a:extLst>
                <a:ext uri="{FF2B5EF4-FFF2-40B4-BE49-F238E27FC236}">
                  <a16:creationId xmlns:a16="http://schemas.microsoft.com/office/drawing/2014/main" id="{5F10541B-F884-45D2-AA69-DAA2A4ADA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000" y="1692000"/>
              <a:ext cx="0" cy="72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53">
              <a:extLst>
                <a:ext uri="{FF2B5EF4-FFF2-40B4-BE49-F238E27FC236}">
                  <a16:creationId xmlns:a16="http://schemas.microsoft.com/office/drawing/2014/main" id="{A4A5DA39-203F-472D-AABB-9D95BCDF6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8000" y="1692000"/>
              <a:ext cx="0" cy="72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Text Box 414">
              <a:extLst>
                <a:ext uri="{FF2B5EF4-FFF2-40B4-BE49-F238E27FC236}">
                  <a16:creationId xmlns:a16="http://schemas.microsoft.com/office/drawing/2014/main" id="{DAE47C6D-111E-4871-92DA-554B16C7C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9175" y="262683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388" name="组合 387">
            <a:extLst>
              <a:ext uri="{FF2B5EF4-FFF2-40B4-BE49-F238E27FC236}">
                <a16:creationId xmlns:a16="http://schemas.microsoft.com/office/drawing/2014/main" id="{05D4FC19-04DC-4FF5-82D0-6979A5DBB722}"/>
              </a:ext>
            </a:extLst>
          </p:cNvPr>
          <p:cNvGrpSpPr/>
          <p:nvPr/>
        </p:nvGrpSpPr>
        <p:grpSpPr>
          <a:xfrm>
            <a:off x="7091885" y="2563200"/>
            <a:ext cx="1080091" cy="575592"/>
            <a:chOff x="6812309" y="2780146"/>
            <a:chExt cx="1080091" cy="575592"/>
          </a:xfrm>
        </p:grpSpPr>
        <p:sp>
          <p:nvSpPr>
            <p:cNvPr id="389" name="Line 360">
              <a:extLst>
                <a:ext uri="{FF2B5EF4-FFF2-40B4-BE49-F238E27FC236}">
                  <a16:creationId xmlns:a16="http://schemas.microsoft.com/office/drawing/2014/main" id="{84EC51EE-B35E-4DB4-9C2B-47348F882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8209" y="3140400"/>
              <a:ext cx="0" cy="1440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361">
              <a:extLst>
                <a:ext uri="{FF2B5EF4-FFF2-40B4-BE49-F238E27FC236}">
                  <a16:creationId xmlns:a16="http://schemas.microsoft.com/office/drawing/2014/main" id="{F5E035AF-43EB-4AF5-9537-3D10FDCBE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8210" y="3211030"/>
              <a:ext cx="14400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367">
              <a:extLst>
                <a:ext uri="{FF2B5EF4-FFF2-40B4-BE49-F238E27FC236}">
                  <a16:creationId xmlns:a16="http://schemas.microsoft.com/office/drawing/2014/main" id="{F8C19CD0-9633-4237-80CA-E7B7A4488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2400" y="3210359"/>
              <a:ext cx="144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373">
              <a:extLst>
                <a:ext uri="{FF2B5EF4-FFF2-40B4-BE49-F238E27FC236}">
                  <a16:creationId xmlns:a16="http://schemas.microsoft.com/office/drawing/2014/main" id="{1D731C01-18EE-4BBB-B272-04DCEC0796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2400" y="2780146"/>
              <a:ext cx="360000" cy="67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374">
              <a:extLst>
                <a:ext uri="{FF2B5EF4-FFF2-40B4-BE49-F238E27FC236}">
                  <a16:creationId xmlns:a16="http://schemas.microsoft.com/office/drawing/2014/main" id="{6715E7F0-16D0-410F-8D6A-60EE97FB0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2400" y="2780147"/>
              <a:ext cx="36000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375">
              <a:extLst>
                <a:ext uri="{FF2B5EF4-FFF2-40B4-BE49-F238E27FC236}">
                  <a16:creationId xmlns:a16="http://schemas.microsoft.com/office/drawing/2014/main" id="{EF3CEC21-3AF6-40AA-9B16-40571B55A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2400" y="2780147"/>
              <a:ext cx="360000" cy="4318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5" name="Line 385">
              <a:extLst>
                <a:ext uri="{FF2B5EF4-FFF2-40B4-BE49-F238E27FC236}">
                  <a16:creationId xmlns:a16="http://schemas.microsoft.com/office/drawing/2014/main" id="{029C6927-B275-443F-835C-DE5D9FB33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6771" y="3066567"/>
              <a:ext cx="0" cy="28733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388">
              <a:extLst>
                <a:ext uri="{FF2B5EF4-FFF2-40B4-BE49-F238E27FC236}">
                  <a16:creationId xmlns:a16="http://schemas.microsoft.com/office/drawing/2014/main" id="{0AED55FA-8CE9-48C5-9D64-61A8E75E8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6400" y="3140400"/>
              <a:ext cx="0" cy="14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389">
              <a:extLst>
                <a:ext uri="{FF2B5EF4-FFF2-40B4-BE49-F238E27FC236}">
                  <a16:creationId xmlns:a16="http://schemas.microsoft.com/office/drawing/2014/main" id="{BF239523-C3CF-411C-BEFE-AAFC27A8A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8400" y="3068400"/>
              <a:ext cx="0" cy="2873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418">
              <a:extLst>
                <a:ext uri="{FF2B5EF4-FFF2-40B4-BE49-F238E27FC236}">
                  <a16:creationId xmlns:a16="http://schemas.microsoft.com/office/drawing/2014/main" id="{8AB5C764-A7E5-4A7B-B617-A15AA8EFA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2309" y="2780400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" name="组合 398">
            <a:extLst>
              <a:ext uri="{FF2B5EF4-FFF2-40B4-BE49-F238E27FC236}">
                <a16:creationId xmlns:a16="http://schemas.microsoft.com/office/drawing/2014/main" id="{86766775-EC5F-4BC0-BF69-3BA4FB5EC2C6}"/>
              </a:ext>
            </a:extLst>
          </p:cNvPr>
          <p:cNvGrpSpPr/>
          <p:nvPr/>
        </p:nvGrpSpPr>
        <p:grpSpPr>
          <a:xfrm>
            <a:off x="6480040" y="1628800"/>
            <a:ext cx="2268000" cy="790367"/>
            <a:chOff x="6200400" y="1844400"/>
            <a:chExt cx="2268000" cy="790367"/>
          </a:xfrm>
        </p:grpSpPr>
        <p:sp>
          <p:nvSpPr>
            <p:cNvPr id="400" name="Line 354">
              <a:extLst>
                <a:ext uri="{FF2B5EF4-FFF2-40B4-BE49-F238E27FC236}">
                  <a16:creationId xmlns:a16="http://schemas.microsoft.com/office/drawing/2014/main" id="{773610ED-FF16-4900-B93E-A2CFBA8A9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0400" y="1844400"/>
              <a:ext cx="2268000" cy="67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405">
              <a:extLst>
                <a:ext uri="{FF2B5EF4-FFF2-40B4-BE49-F238E27FC236}">
                  <a16:creationId xmlns:a16="http://schemas.microsoft.com/office/drawing/2014/main" id="{971B2E5D-2F38-4A6C-9F09-A7436E286B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6400" y="2561742"/>
              <a:ext cx="14446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406">
              <a:extLst>
                <a:ext uri="{FF2B5EF4-FFF2-40B4-BE49-F238E27FC236}">
                  <a16:creationId xmlns:a16="http://schemas.microsoft.com/office/drawing/2014/main" id="{BA0ED9B1-0A90-4456-94F0-EC5369A7C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4400" y="2634767"/>
              <a:ext cx="288925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410">
              <a:extLst>
                <a:ext uri="{FF2B5EF4-FFF2-40B4-BE49-F238E27FC236}">
                  <a16:creationId xmlns:a16="http://schemas.microsoft.com/office/drawing/2014/main" id="{E092253F-390E-461F-AF55-78016DDA0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8400" y="2561742"/>
              <a:ext cx="14446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411">
              <a:extLst>
                <a:ext uri="{FF2B5EF4-FFF2-40B4-BE49-F238E27FC236}">
                  <a16:creationId xmlns:a16="http://schemas.microsoft.com/office/drawing/2014/main" id="{081B28B3-9E66-4E11-849F-65635A1F7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6400" y="2634767"/>
              <a:ext cx="288925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352">
              <a:extLst>
                <a:ext uri="{FF2B5EF4-FFF2-40B4-BE49-F238E27FC236}">
                  <a16:creationId xmlns:a16="http://schemas.microsoft.com/office/drawing/2014/main" id="{F86FDD00-9336-4151-AAE7-EF545C111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400" y="1844400"/>
              <a:ext cx="0" cy="72000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353">
              <a:extLst>
                <a:ext uri="{FF2B5EF4-FFF2-40B4-BE49-F238E27FC236}">
                  <a16:creationId xmlns:a16="http://schemas.microsoft.com/office/drawing/2014/main" id="{F204CF78-FFBA-436D-9EEC-B65B6C8DD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0400" y="1844400"/>
              <a:ext cx="0" cy="72000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7" name="组合 406">
            <a:extLst>
              <a:ext uri="{FF2B5EF4-FFF2-40B4-BE49-F238E27FC236}">
                <a16:creationId xmlns:a16="http://schemas.microsoft.com/office/drawing/2014/main" id="{0E46B4F7-66F8-4EDC-921B-394B9C0A8F24}"/>
              </a:ext>
            </a:extLst>
          </p:cNvPr>
          <p:cNvGrpSpPr/>
          <p:nvPr/>
        </p:nvGrpSpPr>
        <p:grpSpPr>
          <a:xfrm>
            <a:off x="6550867" y="1915200"/>
            <a:ext cx="2125165" cy="1728192"/>
            <a:chOff x="6272400" y="2133365"/>
            <a:chExt cx="2125165" cy="1728192"/>
          </a:xfrm>
        </p:grpSpPr>
        <p:sp>
          <p:nvSpPr>
            <p:cNvPr id="408" name="Line 363">
              <a:extLst>
                <a:ext uri="{FF2B5EF4-FFF2-40B4-BE49-F238E27FC236}">
                  <a16:creationId xmlns:a16="http://schemas.microsoft.com/office/drawing/2014/main" id="{54D80D3D-3E02-4B6F-B557-1C782D535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2400" y="2133365"/>
              <a:ext cx="0" cy="1728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369">
              <a:extLst>
                <a:ext uri="{FF2B5EF4-FFF2-40B4-BE49-F238E27FC236}">
                  <a16:creationId xmlns:a16="http://schemas.microsoft.com/office/drawing/2014/main" id="{87EF60EF-1A95-4112-B698-2D3B71F9B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80400" y="2780400"/>
              <a:ext cx="217165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370">
              <a:extLst>
                <a:ext uri="{FF2B5EF4-FFF2-40B4-BE49-F238E27FC236}">
                  <a16:creationId xmlns:a16="http://schemas.microsoft.com/office/drawing/2014/main" id="{8146061B-7DEE-46C7-A9D6-D0066A17E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400" y="2133365"/>
              <a:ext cx="0" cy="172819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408">
              <a:extLst>
                <a:ext uri="{FF2B5EF4-FFF2-40B4-BE49-F238E27FC236}">
                  <a16:creationId xmlns:a16="http://schemas.microsoft.com/office/drawing/2014/main" id="{D75A5737-5BBB-4F0A-8E4B-8C3508C76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0400" y="2634767"/>
              <a:ext cx="0" cy="1428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409">
              <a:extLst>
                <a:ext uri="{FF2B5EF4-FFF2-40B4-BE49-F238E27FC236}">
                  <a16:creationId xmlns:a16="http://schemas.microsoft.com/office/drawing/2014/main" id="{3EA2558B-FAD8-4BC7-9452-7025EB5E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400" y="2780400"/>
              <a:ext cx="2163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412">
              <a:extLst>
                <a:ext uri="{FF2B5EF4-FFF2-40B4-BE49-F238E27FC236}">
                  <a16:creationId xmlns:a16="http://schemas.microsoft.com/office/drawing/2014/main" id="{6CDC5D41-5B73-4EAD-B63E-54C647526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8400" y="2636355"/>
              <a:ext cx="0" cy="1428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953F702D-DAAF-4709-842C-EDB795C41333}"/>
              </a:ext>
            </a:extLst>
          </p:cNvPr>
          <p:cNvGrpSpPr/>
          <p:nvPr/>
        </p:nvGrpSpPr>
        <p:grpSpPr>
          <a:xfrm>
            <a:off x="6911640" y="2419200"/>
            <a:ext cx="1404352" cy="145379"/>
            <a:chOff x="6632400" y="2634767"/>
            <a:chExt cx="1404352" cy="145379"/>
          </a:xfrm>
        </p:grpSpPr>
        <p:sp>
          <p:nvSpPr>
            <p:cNvPr id="415" name="Line 372">
              <a:extLst>
                <a:ext uri="{FF2B5EF4-FFF2-40B4-BE49-F238E27FC236}">
                  <a16:creationId xmlns:a16="http://schemas.microsoft.com/office/drawing/2014/main" id="{DD824138-0DA4-41F2-8994-9E566F921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2400" y="2776972"/>
              <a:ext cx="1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407">
              <a:extLst>
                <a:ext uri="{FF2B5EF4-FFF2-40B4-BE49-F238E27FC236}">
                  <a16:creationId xmlns:a16="http://schemas.microsoft.com/office/drawing/2014/main" id="{288CE92B-F4EE-46DF-BB21-C22B83567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6400" y="2636355"/>
              <a:ext cx="0" cy="1428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413">
              <a:extLst>
                <a:ext uri="{FF2B5EF4-FFF2-40B4-BE49-F238E27FC236}">
                  <a16:creationId xmlns:a16="http://schemas.microsoft.com/office/drawing/2014/main" id="{7FBD2407-95BF-4664-AD3A-C74C8E43A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2400" y="2634767"/>
              <a:ext cx="0" cy="1428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419">
              <a:extLst>
                <a:ext uri="{FF2B5EF4-FFF2-40B4-BE49-F238E27FC236}">
                  <a16:creationId xmlns:a16="http://schemas.microsoft.com/office/drawing/2014/main" id="{C17E3F45-6B32-4D45-B026-A3FBFFB2D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2752" y="2780146"/>
              <a:ext cx="14400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57283D0-FD69-40D8-9A8D-4298127AE3E5}"/>
              </a:ext>
            </a:extLst>
          </p:cNvPr>
          <p:cNvGrpSpPr/>
          <p:nvPr/>
        </p:nvGrpSpPr>
        <p:grpSpPr>
          <a:xfrm>
            <a:off x="1914142" y="4725147"/>
            <a:ext cx="6911972" cy="1584326"/>
            <a:chOff x="1914142" y="4725147"/>
            <a:chExt cx="6911972" cy="1584326"/>
          </a:xfrm>
        </p:grpSpPr>
        <p:sp>
          <p:nvSpPr>
            <p:cNvPr id="220" name="Text Box 269"/>
            <p:cNvSpPr txBox="1">
              <a:spLocks noChangeArrowheads="1"/>
            </p:cNvSpPr>
            <p:nvPr/>
          </p:nvSpPr>
          <p:spPr bwMode="auto">
            <a:xfrm>
              <a:off x="1914142" y="4725147"/>
              <a:ext cx="6911972" cy="15843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线上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加</a:t>
              </a:r>
              <a:r>
                <a:rPr lang="zh-CN" altLang="en-US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正脉冲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结束时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V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W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=V</a:t>
              </a:r>
              <a:r>
                <a:rPr lang="zh-CN" altLang="en-US" sz="1800" b="1" u="none" baseline="-20000" dirty="0">
                  <a:latin typeface="宋体" panose="02010600030101010101" pitchFamily="2" charset="-122"/>
                </a:rPr>
                <a:t>地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5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和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6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导通；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使</a:t>
              </a:r>
              <a:r>
                <a:rPr lang="en-US" altLang="zh-CN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D=D=V</a:t>
              </a:r>
              <a:r>
                <a:rPr lang="zh-CN" altLang="en-US" sz="22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中</a:t>
              </a:r>
              <a:r>
                <a:rPr lang="en-US" altLang="zh-CN" sz="2200" b="1" u="none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或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上电压产生变化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(0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时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1800" b="1" u="none" dirty="0"/>
                <a:t>电压下降</a:t>
              </a:r>
              <a:r>
                <a:rPr lang="en-US" altLang="zh-CN" sz="1800" b="1" u="none" dirty="0">
                  <a:latin typeface="+mn-ea"/>
                  <a:ea typeface="+mn-ea"/>
                </a:rPr>
                <a:t>[</a:t>
              </a:r>
              <a:r>
                <a:rPr lang="zh-CN" altLang="en-US" sz="1800" b="1" u="none" dirty="0">
                  <a:latin typeface="+mn-ea"/>
                  <a:ea typeface="+mn-ea"/>
                </a:rPr>
                <a:t>有限</a:t>
              </a:r>
              <a:r>
                <a:rPr lang="en-US" altLang="zh-CN" sz="1800" b="1" u="none" dirty="0">
                  <a:latin typeface="+mn-ea"/>
                  <a:ea typeface="+mn-ea"/>
                </a:rPr>
                <a:t>]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 </a:t>
              </a:r>
            </a:p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→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用</a:t>
              </a:r>
              <a:r>
                <a:rPr lang="zh-CN" altLang="en-US" sz="2200" b="1" dirty="0">
                  <a:latin typeface="宋体" panose="02010600030101010101" pitchFamily="2" charset="-122"/>
                </a:rPr>
                <a:t>差分放大器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检测所存信息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及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状态不变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非破坏性读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1" name="Line 270"/>
            <p:cNvSpPr>
              <a:spLocks noChangeShapeType="1"/>
            </p:cNvSpPr>
            <p:nvPr/>
          </p:nvSpPr>
          <p:spPr bwMode="auto">
            <a:xfrm>
              <a:off x="4235066" y="5264897"/>
              <a:ext cx="14446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71"/>
            <p:cNvSpPr>
              <a:spLocks noChangeShapeType="1"/>
            </p:cNvSpPr>
            <p:nvPr/>
          </p:nvSpPr>
          <p:spPr bwMode="auto">
            <a:xfrm>
              <a:off x="2850767" y="5269660"/>
              <a:ext cx="144462" cy="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左大括号 2">
              <a:extLst>
                <a:ext uri="{FF2B5EF4-FFF2-40B4-BE49-F238E27FC236}">
                  <a16:creationId xmlns:a16="http://schemas.microsoft.com/office/drawing/2014/main" id="{9F17F81F-336B-4176-81FB-FC3941F46B26}"/>
                </a:ext>
              </a:extLst>
            </p:cNvPr>
            <p:cNvSpPr/>
            <p:nvPr/>
          </p:nvSpPr>
          <p:spPr bwMode="auto">
            <a:xfrm>
              <a:off x="2160000" y="5806800"/>
              <a:ext cx="108000" cy="432000"/>
            </a:xfrm>
            <a:prstGeom prst="leftBrace">
              <a:avLst>
                <a:gd name="adj1" fmla="val 23319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30" name="直接箭头连接符 129"/>
          <p:cNvCxnSpPr>
            <a:cxnSpLocks/>
          </p:cNvCxnSpPr>
          <p:nvPr/>
        </p:nvCxnSpPr>
        <p:spPr bwMode="auto">
          <a:xfrm>
            <a:off x="4428000" y="4690800"/>
            <a:ext cx="2088000" cy="576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/>
      <p:bldP spid="86101" grpId="0"/>
      <p:bldP spid="121" grpId="0"/>
      <p:bldP spid="2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34426-54D0-44A1-9577-C8C33015F96A}" type="slidenum">
              <a:rPr lang="en-US" altLang="zh-CN"/>
              <a:t>11</a:t>
            </a:fld>
            <a:endParaRPr lang="en-US" altLang="zh-CN" dirty="0"/>
          </a:p>
        </p:txBody>
      </p:sp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芯片的组成 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75558" name="Text Box 102"/>
          <p:cNvSpPr txBox="1">
            <a:spLocks noChangeArrowheads="1"/>
          </p:cNvSpPr>
          <p:nvPr/>
        </p:nvSpPr>
        <p:spPr bwMode="auto">
          <a:xfrm>
            <a:off x="179388" y="836712"/>
            <a:ext cx="885710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(1)SRAM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基本组成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</a:t>
            </a:r>
            <a:r>
              <a:rPr lang="zh-CN" altLang="en-US" sz="2200" b="1" u="none" spc="-20" dirty="0">
                <a:latin typeface="宋体" panose="02010600030101010101" pitchFamily="2" charset="-122"/>
              </a:rPr>
              <a:t>包括存储矩阵、地址译码器、</a:t>
            </a:r>
            <a:r>
              <a:rPr lang="en-US" altLang="zh-CN" sz="2200" b="1" u="none" spc="-20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spc="-20" dirty="0">
                <a:latin typeface="宋体" panose="02010600030101010101" pitchFamily="2" charset="-122"/>
              </a:rPr>
              <a:t>门、读写电路、控制电路等</a:t>
            </a:r>
          </a:p>
        </p:txBody>
      </p:sp>
      <p:sp>
        <p:nvSpPr>
          <p:cNvPr id="2" name="AutoShape 338"/>
          <p:cNvSpPr/>
          <p:nvPr>
            <p:custDataLst>
              <p:tags r:id="rId1"/>
            </p:custDataLst>
          </p:nvPr>
        </p:nvSpPr>
        <p:spPr bwMode="auto">
          <a:xfrm>
            <a:off x="539696" y="3284984"/>
            <a:ext cx="1296000" cy="252000"/>
          </a:xfrm>
          <a:prstGeom prst="borderCallout2">
            <a:avLst>
              <a:gd name="adj1" fmla="val 46869"/>
              <a:gd name="adj2" fmla="val 100574"/>
              <a:gd name="adj3" fmla="val 48063"/>
              <a:gd name="adj4" fmla="val 126528"/>
              <a:gd name="adj5" fmla="val -40800"/>
              <a:gd name="adj6" fmla="val 14419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增加传输功率</a:t>
            </a:r>
          </a:p>
        </p:txBody>
      </p:sp>
      <p:sp>
        <p:nvSpPr>
          <p:cNvPr id="4" name="AutoShape 338"/>
          <p:cNvSpPr/>
          <p:nvPr>
            <p:custDataLst>
              <p:tags r:id="rId2"/>
            </p:custDataLst>
          </p:nvPr>
        </p:nvSpPr>
        <p:spPr bwMode="auto">
          <a:xfrm>
            <a:off x="539696" y="3681056"/>
            <a:ext cx="1296000" cy="252000"/>
          </a:xfrm>
          <a:prstGeom prst="borderCallout2">
            <a:avLst>
              <a:gd name="adj1" fmla="val 46869"/>
              <a:gd name="adj2" fmla="val 100574"/>
              <a:gd name="adj3" fmla="val 47047"/>
              <a:gd name="adj4" fmla="val 124974"/>
              <a:gd name="adj5" fmla="val -75218"/>
              <a:gd name="adj6" fmla="val 18776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产生内部信号</a:t>
            </a:r>
          </a:p>
        </p:txBody>
      </p:sp>
      <p:grpSp>
        <p:nvGrpSpPr>
          <p:cNvPr id="284" name="组合 283"/>
          <p:cNvGrpSpPr/>
          <p:nvPr/>
        </p:nvGrpSpPr>
        <p:grpSpPr>
          <a:xfrm>
            <a:off x="6408360" y="3284984"/>
            <a:ext cx="2484120" cy="1115695"/>
            <a:chOff x="4479" y="3685"/>
            <a:chExt cx="3912" cy="1757"/>
          </a:xfrm>
        </p:grpSpPr>
        <p:sp>
          <p:nvSpPr>
            <p:cNvPr id="118" name="Rectangle 10"/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4706" y="3685"/>
              <a:ext cx="3345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endParaRPr lang="zh-CN" altLang="en-US"/>
            </a:p>
          </p:txBody>
        </p:sp>
        <p:sp>
          <p:nvSpPr>
            <p:cNvPr id="119" name="Text Box 4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4706" y="4252"/>
              <a:ext cx="1474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solidFill>
                    <a:srgbClr val="000000"/>
                  </a:solidFill>
                  <a:uFillTx/>
                </a:rPr>
                <a:t>差分</a:t>
              </a:r>
              <a:r>
                <a:rPr lang="zh-CN" altLang="en-US" sz="1400" b="1" u="none" dirty="0">
                  <a:solidFill>
                    <a:srgbClr val="000000"/>
                  </a:solidFill>
                  <a:uFillTx/>
                </a:rPr>
                <a:t>放大器</a:t>
              </a:r>
            </a:p>
          </p:txBody>
        </p:sp>
        <p:sp>
          <p:nvSpPr>
            <p:cNvPr id="120" name="Text Box 42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5046" y="5159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7780" rIns="18000" bIns="0" anchor="ctr"/>
            <a:lstStyle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FF3399"/>
                  </a:solidFill>
                </a:rPr>
                <a:t>读</a:t>
              </a:r>
            </a:p>
          </p:txBody>
        </p:sp>
        <p:sp>
          <p:nvSpPr>
            <p:cNvPr id="121" name="Text Box 43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7030" y="4025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solidFill>
                    <a:srgbClr val="000000"/>
                  </a:solidFill>
                  <a:uFillTx/>
                </a:rPr>
                <a:t>放大器</a:t>
              </a:r>
            </a:p>
          </p:txBody>
        </p:sp>
        <p:sp>
          <p:nvSpPr>
            <p:cNvPr id="123" name="Oval 49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7143" y="4365"/>
              <a:ext cx="113" cy="113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round/>
            </a:ln>
          </p:spPr>
          <p:txBody>
            <a:bodyPr lIns="18000" tIns="10800" rIns="18000" bIns="10800" anchor="ctr"/>
            <a:lstStyle/>
            <a:p>
              <a:endParaRPr lang="zh-CN" altLang="en-US"/>
            </a:p>
          </p:txBody>
        </p:sp>
        <p:sp>
          <p:nvSpPr>
            <p:cNvPr id="124" name="Text Box 61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8164" y="3798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125" name="AutoShape 63"/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 rot="5400000">
              <a:off x="6860" y="4280"/>
              <a:ext cx="283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endParaRPr lang="zh-CN" altLang="en-US"/>
            </a:p>
          </p:txBody>
        </p:sp>
        <p:sp>
          <p:nvSpPr>
            <p:cNvPr id="261" name="Text Box 70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8164" y="430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262" name="Text Box 71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6463" y="5159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7780" rIns="18000" bIns="0" anchor="ctr"/>
            <a:lstStyle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FF3399"/>
                  </a:solidFill>
                </a:rPr>
                <a:t>写</a:t>
              </a:r>
            </a:p>
          </p:txBody>
        </p:sp>
        <p:sp>
          <p:nvSpPr>
            <p:cNvPr id="264" name="AutoShape 63"/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 rot="5400000">
              <a:off x="6860" y="3770"/>
              <a:ext cx="283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endParaRPr lang="zh-CN" altLang="en-US"/>
            </a:p>
          </p:txBody>
        </p:sp>
        <p:sp>
          <p:nvSpPr>
            <p:cNvPr id="265" name="AutoShape 63"/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 rot="16200000">
              <a:off x="5017" y="4620"/>
              <a:ext cx="340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endParaRPr lang="zh-CN" altLang="en-US"/>
            </a:p>
          </p:txBody>
        </p:sp>
        <p:cxnSp>
          <p:nvCxnSpPr>
            <p:cNvPr id="266" name="直接箭头连接符 265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4706" y="3912"/>
              <a:ext cx="21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7" name="直接箭头连接符 266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6294" y="3912"/>
              <a:ext cx="0" cy="51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8" name="直接箭头连接符 267"/>
            <p:cNvCxnSpPr/>
            <p:nvPr>
              <p:custDataLst>
                <p:tags r:id="rId122"/>
              </p:custDataLst>
            </p:nvPr>
          </p:nvCxnSpPr>
          <p:spPr bwMode="auto">
            <a:xfrm flipH="1" flipV="1">
              <a:off x="6973" y="3997"/>
              <a:ext cx="0" cy="19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9" name="直接箭头连接符 268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6633" y="419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0" name="直接箭头连接符 269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6293" y="442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1" name="直接箭头连接符 270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7135" y="3912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7257" y="4422"/>
              <a:ext cx="93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3" name="直接箭头连接符 272"/>
            <p:cNvCxnSpPr/>
            <p:nvPr>
              <p:custDataLst>
                <p:tags r:id="rId127"/>
              </p:custDataLst>
            </p:nvPr>
          </p:nvCxnSpPr>
          <p:spPr bwMode="auto">
            <a:xfrm flipH="1">
              <a:off x="7824" y="442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4" name="直接箭头连接符 273"/>
            <p:cNvCxnSpPr/>
            <p:nvPr>
              <p:custDataLst>
                <p:tags r:id="rId128"/>
              </p:custDataLst>
            </p:nvPr>
          </p:nvCxnSpPr>
          <p:spPr bwMode="auto">
            <a:xfrm flipH="1">
              <a:off x="7937" y="3912"/>
              <a:ext cx="0" cy="90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5" name="直接箭头连接符 274"/>
            <p:cNvCxnSpPr/>
            <p:nvPr>
              <p:custDataLst>
                <p:tags r:id="rId129"/>
              </p:custDataLst>
            </p:nvPr>
          </p:nvCxnSpPr>
          <p:spPr bwMode="auto">
            <a:xfrm>
              <a:off x="6633" y="4195"/>
              <a:ext cx="0" cy="96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6" name="直接箭头连接符 275"/>
            <p:cNvCxnSpPr/>
            <p:nvPr>
              <p:custDataLst>
                <p:tags r:id="rId130"/>
              </p:custDataLst>
            </p:nvPr>
          </p:nvCxnSpPr>
          <p:spPr bwMode="auto">
            <a:xfrm flipH="1" flipV="1">
              <a:off x="6973" y="4507"/>
              <a:ext cx="0" cy="42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7" name="直接箭头连接符 276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6633" y="4932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8" name="直接箭头连接符 277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5329" y="4706"/>
              <a:ext cx="249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5329" y="4819"/>
              <a:ext cx="260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134"/>
              </p:custDataLst>
            </p:nvPr>
          </p:nvCxnSpPr>
          <p:spPr bwMode="auto">
            <a:xfrm flipH="1" flipV="1">
              <a:off x="4479" y="476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1" name="直接箭头连接符 280"/>
            <p:cNvCxnSpPr/>
            <p:nvPr>
              <p:custDataLst>
                <p:tags r:id="rId135"/>
              </p:custDataLst>
            </p:nvPr>
          </p:nvCxnSpPr>
          <p:spPr bwMode="auto">
            <a:xfrm>
              <a:off x="4479" y="3912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2" name="直接箭头连接符 281"/>
            <p:cNvCxnSpPr/>
            <p:nvPr>
              <p:custDataLst>
                <p:tags r:id="rId136"/>
              </p:custDataLst>
            </p:nvPr>
          </p:nvCxnSpPr>
          <p:spPr bwMode="auto">
            <a:xfrm flipH="1" flipV="1">
              <a:off x="5216" y="487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137"/>
              </p:custDataLst>
            </p:nvPr>
          </p:nvCxnSpPr>
          <p:spPr bwMode="auto">
            <a:xfrm flipV="1">
              <a:off x="8192" y="4280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6" name="Text Box 72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4149080"/>
            <a:ext cx="364716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思考①：</a:t>
            </a:r>
            <a:r>
              <a:rPr lang="zh-CN" altLang="en-US" sz="1800" dirty="0">
                <a:solidFill>
                  <a:schemeClr val="tx1"/>
                </a:solidFill>
              </a:rPr>
              <a:t>上图的存储单元长度</a:t>
            </a:r>
            <a:r>
              <a:rPr lang="en-US" altLang="zh-CN" sz="1800" dirty="0">
                <a:solidFill>
                  <a:schemeClr val="tx1"/>
                </a:solidFill>
              </a:rPr>
              <a:t>w</a:t>
            </a:r>
            <a:r>
              <a:rPr lang="zh-CN" altLang="en-US" sz="1800" dirty="0">
                <a:solidFill>
                  <a:schemeClr val="tx1"/>
                </a:solidFill>
              </a:rPr>
              <a:t>＝？</a:t>
            </a:r>
            <a:endParaRPr lang="zh-CN" altLang="en-US" sz="18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 Box 72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03270" y="4905128"/>
            <a:ext cx="5472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sz="1600" dirty="0">
                <a:solidFill>
                  <a:srgbClr val="FF3399"/>
                </a:solidFill>
              </a:rPr>
              <a:t>通常</a:t>
            </a:r>
            <a:r>
              <a:rPr lang="zh-CN" sz="1600" dirty="0">
                <a:solidFill>
                  <a:srgbClr val="0070C0"/>
                </a:solidFill>
              </a:rPr>
              <a:t>三维矩阵</a:t>
            </a:r>
            <a:r>
              <a:rPr lang="en-US" altLang="zh-CN" sz="1600" dirty="0">
                <a:solidFill>
                  <a:schemeClr val="tx1"/>
                </a:solidFill>
              </a:rPr>
              <a:t>(w</a:t>
            </a:r>
            <a:r>
              <a:rPr lang="zh-CN" altLang="en-US" sz="1600" dirty="0">
                <a:solidFill>
                  <a:schemeClr val="tx1"/>
                </a:solidFill>
              </a:rPr>
              <a:t>个位平面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sz="1600" dirty="0">
                <a:solidFill>
                  <a:schemeClr val="tx1"/>
                </a:solidFill>
              </a:rPr>
              <a:t>、</a:t>
            </a:r>
            <a:r>
              <a:rPr lang="zh-CN" sz="1600" dirty="0">
                <a:solidFill>
                  <a:srgbClr val="0070C0"/>
                </a:solidFill>
              </a:rPr>
              <a:t>二维译码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同时控制</a:t>
            </a:r>
            <a:r>
              <a:rPr lang="en-US" altLang="zh-CN" sz="1600" dirty="0">
                <a:solidFill>
                  <a:schemeClr val="tx1"/>
                </a:solidFill>
              </a:rPr>
              <a:t>w</a:t>
            </a:r>
            <a:r>
              <a:rPr lang="zh-CN" altLang="en-US" sz="1600" dirty="0">
                <a:solidFill>
                  <a:schemeClr val="tx1"/>
                </a:solidFill>
              </a:rPr>
              <a:t>个位平面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26" name="组合 325"/>
          <p:cNvGrpSpPr/>
          <p:nvPr/>
        </p:nvGrpSpPr>
        <p:grpSpPr>
          <a:xfrm>
            <a:off x="1116545" y="1772816"/>
            <a:ext cx="5111750" cy="2196465"/>
            <a:chOff x="1531" y="2721"/>
            <a:chExt cx="8050" cy="3459"/>
          </a:xfrm>
        </p:grpSpPr>
        <p:sp>
          <p:nvSpPr>
            <p:cNvPr id="186" name="Rectangle 10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783" y="2777"/>
              <a:ext cx="3685" cy="14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Text Box 1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231" y="2777"/>
              <a:ext cx="397" cy="136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X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189" name="Text Box 3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370" y="3344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90" name="Text Box 10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649" y="2777"/>
              <a:ext cx="397" cy="107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驱动器</a:t>
              </a:r>
            </a:p>
          </p:txBody>
        </p:sp>
        <p:sp>
          <p:nvSpPr>
            <p:cNvPr id="191" name="Rectangle 10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005" y="2721"/>
              <a:ext cx="6576" cy="30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2" name="直接箭头连接符 191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042" y="2834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5045" y="3741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6636" y="374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8561" y="374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96" name="Text Box 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403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97" name="Text Box 2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783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99" name="Text Box 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178" y="2947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0" name="Text Box 9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180" y="3854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01" name="直接箭头连接符 200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6633" y="2834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30"/>
              </p:custDataLst>
            </p:nvPr>
          </p:nvCxnSpPr>
          <p:spPr bwMode="auto">
            <a:xfrm>
              <a:off x="7088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3" name="直接箭头连接符 202"/>
            <p:cNvCxnSpPr/>
            <p:nvPr>
              <p:custDataLst>
                <p:tags r:id="rId31"/>
              </p:custDataLst>
            </p:nvPr>
          </p:nvCxnSpPr>
          <p:spPr bwMode="auto">
            <a:xfrm>
              <a:off x="6066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32"/>
              </p:custDataLst>
            </p:nvPr>
          </p:nvCxnSpPr>
          <p:spPr bwMode="auto">
            <a:xfrm>
              <a:off x="7086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05" name="直接箭头连接符 204"/>
            <p:cNvCxnSpPr/>
            <p:nvPr>
              <p:custDataLst>
                <p:tags r:id="rId33"/>
              </p:custDataLst>
            </p:nvPr>
          </p:nvCxnSpPr>
          <p:spPr bwMode="auto">
            <a:xfrm>
              <a:off x="6066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06" name="Text Box 2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257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208" name="直接箭头连接符 207"/>
            <p:cNvCxnSpPr/>
            <p:nvPr>
              <p:custDataLst>
                <p:tags r:id="rId35"/>
              </p:custDataLst>
            </p:nvPr>
          </p:nvCxnSpPr>
          <p:spPr bwMode="auto">
            <a:xfrm>
              <a:off x="7288" y="3971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18" name="Text Box 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330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26" name="Text Box 2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710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28" name="Text Box 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105" y="2947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1" name="Text Box 9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107" y="3854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32" name="直接箭头连接符 231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8560" y="2834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3" name="直接箭头连接符 232"/>
            <p:cNvCxnSpPr/>
            <p:nvPr>
              <p:custDataLst>
                <p:tags r:id="rId41"/>
              </p:custDataLst>
            </p:nvPr>
          </p:nvCxnSpPr>
          <p:spPr bwMode="auto">
            <a:xfrm>
              <a:off x="9015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4" name="直接箭头连接符 233"/>
            <p:cNvCxnSpPr/>
            <p:nvPr>
              <p:custDataLst>
                <p:tags r:id="rId42"/>
              </p:custDataLst>
            </p:nvPr>
          </p:nvCxnSpPr>
          <p:spPr bwMode="auto">
            <a:xfrm>
              <a:off x="7993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5" name="直接箭头连接符 234"/>
            <p:cNvCxnSpPr/>
            <p:nvPr>
              <p:custDataLst>
                <p:tags r:id="rId43"/>
              </p:custDataLst>
            </p:nvPr>
          </p:nvCxnSpPr>
          <p:spPr bwMode="auto">
            <a:xfrm>
              <a:off x="9013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36" name="直接箭头连接符 235"/>
            <p:cNvCxnSpPr/>
            <p:nvPr>
              <p:custDataLst>
                <p:tags r:id="rId44"/>
              </p:custDataLst>
            </p:nvPr>
          </p:nvCxnSpPr>
          <p:spPr bwMode="auto">
            <a:xfrm>
              <a:off x="7993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37" name="Text Box 24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9184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238" name="直接箭头连接符 237"/>
            <p:cNvCxnSpPr/>
            <p:nvPr>
              <p:custDataLst>
                <p:tags r:id="rId46"/>
              </p:custDataLst>
            </p:nvPr>
          </p:nvCxnSpPr>
          <p:spPr bwMode="auto">
            <a:xfrm>
              <a:off x="9215" y="3971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39" name="Text Box 7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140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40" name="Text Box 125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742" y="2834"/>
              <a:ext cx="397" cy="119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63</a:t>
              </a:r>
            </a:p>
          </p:txBody>
        </p:sp>
        <p:sp>
          <p:nvSpPr>
            <p:cNvPr id="241" name="Text Box 126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757" y="3231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  <a:sym typeface="+mn-ea"/>
                </a:rPr>
                <a:t>6</a:t>
              </a:r>
            </a:p>
          </p:txBody>
        </p:sp>
        <p:cxnSp>
          <p:nvCxnSpPr>
            <p:cNvPr id="242" name="直接箭头连接符 241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2664" y="33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3" name="直接箭头连接符 242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3628" y="2834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4" name="直接箭头连接符 243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3628" y="3741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5" name="Rectangle 101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5896" y="4365"/>
              <a:ext cx="3402" cy="6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Text Box 26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819" y="4252"/>
              <a:ext cx="794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读写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</a:p>
          </p:txBody>
        </p:sp>
        <p:cxnSp>
          <p:nvCxnSpPr>
            <p:cNvPr id="247" name="直接箭头连接符 246"/>
            <p:cNvCxnSpPr/>
            <p:nvPr>
              <p:custDataLst>
                <p:tags r:id="rId55"/>
              </p:custDataLst>
            </p:nvPr>
          </p:nvCxnSpPr>
          <p:spPr bwMode="auto">
            <a:xfrm>
              <a:off x="6066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48" name="直接箭头连接符 247"/>
            <p:cNvCxnSpPr/>
            <p:nvPr>
              <p:custDataLst>
                <p:tags r:id="rId56"/>
              </p:custDataLst>
            </p:nvPr>
          </p:nvCxnSpPr>
          <p:spPr bwMode="auto">
            <a:xfrm>
              <a:off x="6236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49" name="直接箭头连接符 248"/>
            <p:cNvCxnSpPr/>
            <p:nvPr>
              <p:custDataLst>
                <p:tags r:id="rId57"/>
              </p:custDataLst>
            </p:nvPr>
          </p:nvCxnSpPr>
          <p:spPr bwMode="auto">
            <a:xfrm>
              <a:off x="6321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0" name="直接箭头连接符 249"/>
            <p:cNvCxnSpPr/>
            <p:nvPr>
              <p:custDataLst>
                <p:tags r:id="rId58"/>
              </p:custDataLst>
            </p:nvPr>
          </p:nvCxnSpPr>
          <p:spPr bwMode="auto">
            <a:xfrm>
              <a:off x="6321" y="4535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1" name="直接箭头连接符 250"/>
            <p:cNvCxnSpPr/>
            <p:nvPr>
              <p:custDataLst>
                <p:tags r:id="rId59"/>
              </p:custDataLst>
            </p:nvPr>
          </p:nvCxnSpPr>
          <p:spPr bwMode="auto">
            <a:xfrm>
              <a:off x="7030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2" name="直接箭头连接符 251"/>
            <p:cNvCxnSpPr/>
            <p:nvPr>
              <p:custDataLst>
                <p:tags r:id="rId60"/>
              </p:custDataLst>
            </p:nvPr>
          </p:nvCxnSpPr>
          <p:spPr bwMode="auto">
            <a:xfrm>
              <a:off x="7030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61"/>
              </p:custDataLst>
            </p:nvPr>
          </p:nvCxnSpPr>
          <p:spPr bwMode="auto">
            <a:xfrm>
              <a:off x="6945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4" name="直接箭头连接符 253"/>
            <p:cNvCxnSpPr/>
            <p:nvPr>
              <p:custDataLst>
                <p:tags r:id="rId62"/>
              </p:custDataLst>
            </p:nvPr>
          </p:nvCxnSpPr>
          <p:spPr bwMode="auto">
            <a:xfrm>
              <a:off x="6066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5" name="直接箭头连接符 254"/>
            <p:cNvCxnSpPr/>
            <p:nvPr>
              <p:custDataLst>
                <p:tags r:id="rId63"/>
              </p:custDataLst>
            </p:nvPr>
          </p:nvCxnSpPr>
          <p:spPr bwMode="auto">
            <a:xfrm>
              <a:off x="6066" y="459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56" name="直接箭头连接符 255"/>
            <p:cNvCxnSpPr/>
            <p:nvPr>
              <p:custDataLst>
                <p:tags r:id="rId64"/>
              </p:custDataLst>
            </p:nvPr>
          </p:nvCxnSpPr>
          <p:spPr bwMode="auto">
            <a:xfrm>
              <a:off x="7030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7" name="直接箭头连接符 256"/>
            <p:cNvCxnSpPr/>
            <p:nvPr>
              <p:custDataLst>
                <p:tags r:id="rId65"/>
              </p:custDataLst>
            </p:nvPr>
          </p:nvCxnSpPr>
          <p:spPr bwMode="auto">
            <a:xfrm>
              <a:off x="7200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58" name="直接箭头连接符 257"/>
            <p:cNvCxnSpPr/>
            <p:nvPr>
              <p:custDataLst>
                <p:tags r:id="rId66"/>
              </p:custDataLst>
            </p:nvPr>
          </p:nvCxnSpPr>
          <p:spPr bwMode="auto">
            <a:xfrm>
              <a:off x="5612" y="4762"/>
              <a:ext cx="238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59" name="Text Box 33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27" y="442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60" name="直接箭头连接符 259"/>
            <p:cNvCxnSpPr/>
            <p:nvPr>
              <p:custDataLst>
                <p:tags r:id="rId68"/>
              </p:custDataLst>
            </p:nvPr>
          </p:nvCxnSpPr>
          <p:spPr bwMode="auto">
            <a:xfrm>
              <a:off x="6636" y="4538"/>
              <a:ext cx="0" cy="73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3" name="直接箭头连接符 262"/>
            <p:cNvCxnSpPr/>
            <p:nvPr>
              <p:custDataLst>
                <p:tags r:id="rId69"/>
              </p:custDataLst>
            </p:nvPr>
          </p:nvCxnSpPr>
          <p:spPr bwMode="auto">
            <a:xfrm>
              <a:off x="5612" y="4875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5" name="直接箭头连接符 284"/>
            <p:cNvCxnSpPr/>
            <p:nvPr>
              <p:custDataLst>
                <p:tags r:id="rId70"/>
              </p:custDataLst>
            </p:nvPr>
          </p:nvCxnSpPr>
          <p:spPr bwMode="auto">
            <a:xfrm>
              <a:off x="7993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6" name="直接箭头连接符 285"/>
            <p:cNvCxnSpPr/>
            <p:nvPr>
              <p:custDataLst>
                <p:tags r:id="rId71"/>
              </p:custDataLst>
            </p:nvPr>
          </p:nvCxnSpPr>
          <p:spPr bwMode="auto">
            <a:xfrm>
              <a:off x="8163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7" name="直接箭头连接符 286"/>
            <p:cNvCxnSpPr/>
            <p:nvPr>
              <p:custDataLst>
                <p:tags r:id="rId72"/>
              </p:custDataLst>
            </p:nvPr>
          </p:nvCxnSpPr>
          <p:spPr bwMode="auto">
            <a:xfrm>
              <a:off x="8248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8" name="直接箭头连接符 287"/>
            <p:cNvCxnSpPr/>
            <p:nvPr>
              <p:custDataLst>
                <p:tags r:id="rId73"/>
              </p:custDataLst>
            </p:nvPr>
          </p:nvCxnSpPr>
          <p:spPr bwMode="auto">
            <a:xfrm>
              <a:off x="8248" y="4535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9" name="直接箭头连接符 288"/>
            <p:cNvCxnSpPr/>
            <p:nvPr>
              <p:custDataLst>
                <p:tags r:id="rId74"/>
              </p:custDataLst>
            </p:nvPr>
          </p:nvCxnSpPr>
          <p:spPr bwMode="auto">
            <a:xfrm>
              <a:off x="8957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0" name="直接箭头连接符 289"/>
            <p:cNvCxnSpPr/>
            <p:nvPr>
              <p:custDataLst>
                <p:tags r:id="rId75"/>
              </p:custDataLst>
            </p:nvPr>
          </p:nvCxnSpPr>
          <p:spPr bwMode="auto">
            <a:xfrm>
              <a:off x="8957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1" name="直接箭头连接符 290"/>
            <p:cNvCxnSpPr/>
            <p:nvPr>
              <p:custDataLst>
                <p:tags r:id="rId76"/>
              </p:custDataLst>
            </p:nvPr>
          </p:nvCxnSpPr>
          <p:spPr bwMode="auto">
            <a:xfrm>
              <a:off x="8872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2" name="直接箭头连接符 291"/>
            <p:cNvCxnSpPr/>
            <p:nvPr>
              <p:custDataLst>
                <p:tags r:id="rId77"/>
              </p:custDataLst>
            </p:nvPr>
          </p:nvCxnSpPr>
          <p:spPr bwMode="auto">
            <a:xfrm>
              <a:off x="7993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3" name="直接箭头连接符 292"/>
            <p:cNvCxnSpPr/>
            <p:nvPr>
              <p:custDataLst>
                <p:tags r:id="rId78"/>
              </p:custDataLst>
            </p:nvPr>
          </p:nvCxnSpPr>
          <p:spPr bwMode="auto">
            <a:xfrm>
              <a:off x="7993" y="459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4" name="直接箭头连接符 293"/>
            <p:cNvCxnSpPr/>
            <p:nvPr>
              <p:custDataLst>
                <p:tags r:id="rId79"/>
              </p:custDataLst>
            </p:nvPr>
          </p:nvCxnSpPr>
          <p:spPr bwMode="auto">
            <a:xfrm>
              <a:off x="8957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5" name="直接箭头连接符 294"/>
            <p:cNvCxnSpPr/>
            <p:nvPr>
              <p:custDataLst>
                <p:tags r:id="rId80"/>
              </p:custDataLst>
            </p:nvPr>
          </p:nvCxnSpPr>
          <p:spPr bwMode="auto">
            <a:xfrm>
              <a:off x="9127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6" name="直接箭头连接符 295"/>
            <p:cNvCxnSpPr/>
            <p:nvPr>
              <p:custDataLst>
                <p:tags r:id="rId81"/>
              </p:custDataLst>
            </p:nvPr>
          </p:nvCxnSpPr>
          <p:spPr bwMode="auto">
            <a:xfrm>
              <a:off x="8561" y="4535"/>
              <a:ext cx="0" cy="73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97" name="Text Box 113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401" y="4590"/>
              <a:ext cx="113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/>
                <a:t>驱动器</a:t>
              </a:r>
            </a:p>
          </p:txBody>
        </p:sp>
        <p:cxnSp>
          <p:nvCxnSpPr>
            <p:cNvPr id="298" name="直接箭头连接符 297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3231" y="4479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99" name="直接箭头连接符 298"/>
            <p:cNvCxnSpPr/>
            <p:nvPr>
              <p:custDataLst>
                <p:tags r:id="rId84"/>
              </p:custDataLst>
            </p:nvPr>
          </p:nvCxnSpPr>
          <p:spPr bwMode="auto">
            <a:xfrm flipH="1">
              <a:off x="3004" y="4762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0" name="直接箭头连接符 299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4535" y="4762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1" name="直接箭头连接符 300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3231" y="4479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2" name="Text Box 145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531" y="459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marL="0" indent="0" algn="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303" name="直接箭头连接符 302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2438" y="4763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04" name="直接箭头连接符 303"/>
            <p:cNvCxnSpPr/>
            <p:nvPr>
              <p:custDataLst>
                <p:tags r:id="rId89"/>
              </p:custDataLst>
            </p:nvPr>
          </p:nvCxnSpPr>
          <p:spPr bwMode="auto">
            <a:xfrm flipH="1">
              <a:off x="7200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5" name="直接箭头连接符 304"/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9127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6" name="直接箭头连接符 305"/>
            <p:cNvCxnSpPr/>
            <p:nvPr>
              <p:custDataLst>
                <p:tags r:id="rId91"/>
              </p:custDataLst>
            </p:nvPr>
          </p:nvCxnSpPr>
          <p:spPr bwMode="auto">
            <a:xfrm flipH="1">
              <a:off x="7993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7" name="直接箭头连接符 306"/>
            <p:cNvCxnSpPr/>
            <p:nvPr>
              <p:custDataLst>
                <p:tags r:id="rId92"/>
              </p:custDataLst>
            </p:nvPr>
          </p:nvCxnSpPr>
          <p:spPr bwMode="auto">
            <a:xfrm flipH="1">
              <a:off x="6066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08" name="Text Box 80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7427" y="5046"/>
              <a:ext cx="454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309" name="直接箭头连接符 308"/>
            <p:cNvCxnSpPr/>
            <p:nvPr>
              <p:custDataLst>
                <p:tags r:id="rId94"/>
              </p:custDataLst>
            </p:nvPr>
          </p:nvCxnSpPr>
          <p:spPr bwMode="auto">
            <a:xfrm flipH="1" flipV="1">
              <a:off x="5046" y="493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0" name="直接箭头连接符 309"/>
            <p:cNvCxnSpPr/>
            <p:nvPr>
              <p:custDataLst>
                <p:tags r:id="rId95"/>
              </p:custDataLst>
            </p:nvPr>
          </p:nvCxnSpPr>
          <p:spPr bwMode="auto">
            <a:xfrm flipH="1" flipV="1">
              <a:off x="5386" y="493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1" name="Text Box 43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6518" y="5273"/>
              <a:ext cx="21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12" name="Text Box 107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5128" y="584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写使能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313" name="Text Box 139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4478" y="5273"/>
              <a:ext cx="136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控制电路</a:t>
              </a:r>
            </a:p>
          </p:txBody>
        </p:sp>
        <p:sp>
          <p:nvSpPr>
            <p:cNvPr id="314" name="Text Box 149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3994" y="5840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6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片选</a:t>
              </a:r>
              <a:r>
                <a:rPr lang="en-US" altLang="zh-CN" sz="16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315" name="直接箭头连接符 314"/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4706" y="561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6" name="直接箭头连接符 315"/>
            <p:cNvCxnSpPr/>
            <p:nvPr>
              <p:custDataLst>
                <p:tags r:id="rId101"/>
              </p:custDataLst>
            </p:nvPr>
          </p:nvCxnSpPr>
          <p:spPr bwMode="auto">
            <a:xfrm flipH="1" flipV="1">
              <a:off x="5669" y="561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7" name="直接箭头连接符 316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4658" y="5897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8" name="直接箭头连接符 317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6103" y="5897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9" name="直接箭头连接符 318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7597" y="5613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20" name="Text Box 126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7280" y="5840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  <a:sym typeface="+mn-ea"/>
                </a:rPr>
                <a:t>0</a:t>
              </a:r>
            </a:p>
          </p:txBody>
        </p:sp>
        <p:sp>
          <p:nvSpPr>
            <p:cNvPr id="321" name="Text Box 149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4592" y="4961"/>
              <a:ext cx="119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sz="14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2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    </a:t>
              </a:r>
              <a:r>
                <a:rPr lang="zh-CN" sz="14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</a:p>
          </p:txBody>
        </p:sp>
        <p:cxnSp>
          <p:nvCxnSpPr>
            <p:cNvPr id="324" name="直接箭头连接符 323"/>
            <p:cNvCxnSpPr/>
            <p:nvPr>
              <p:custDataLst>
                <p:tags r:id="rId107"/>
              </p:custDataLst>
            </p:nvPr>
          </p:nvCxnSpPr>
          <p:spPr bwMode="auto">
            <a:xfrm>
              <a:off x="2608" y="4677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25" name="Text Box 24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2636" y="4507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w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</p:grpSp>
      <p:sp>
        <p:nvSpPr>
          <p:cNvPr id="327" name="Text Box 72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31640" y="4581128"/>
            <a:ext cx="493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思考②：</a:t>
            </a:r>
            <a:r>
              <a:rPr lang="en-US" altLang="zh-CN" sz="1800" dirty="0">
                <a:solidFill>
                  <a:schemeClr val="tx1"/>
                </a:solidFill>
              </a:rPr>
              <a:t>w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4</a:t>
            </a:r>
            <a:r>
              <a:rPr lang="zh-CN" sz="1800" dirty="0">
                <a:solidFill>
                  <a:schemeClr val="tx1"/>
                </a:solidFill>
              </a:rPr>
              <a:t>时的存储矩阵、译码器如何组织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？</a:t>
            </a:r>
          </a:p>
        </p:txBody>
      </p:sp>
      <p:sp>
        <p:nvSpPr>
          <p:cNvPr id="53" name="AutoShape 338"/>
          <p:cNvSpPr/>
          <p:nvPr>
            <p:custDataLst>
              <p:tags r:id="rId6"/>
            </p:custDataLst>
          </p:nvPr>
        </p:nvSpPr>
        <p:spPr bwMode="auto">
          <a:xfrm>
            <a:off x="6552145" y="2852936"/>
            <a:ext cx="1980000" cy="252095"/>
          </a:xfrm>
          <a:prstGeom prst="borderCallout2">
            <a:avLst>
              <a:gd name="adj1" fmla="val 48292"/>
              <a:gd name="adj2" fmla="val 312"/>
              <a:gd name="adj3" fmla="val 47815"/>
              <a:gd name="adj4" fmla="val -8634"/>
              <a:gd name="adj5" fmla="val 282484"/>
              <a:gd name="adj6" fmla="val -5157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个数</a:t>
            </a:r>
            <a:r>
              <a:rPr lang="zh-CN" sz="1600" b="1" u="none" dirty="0">
                <a:latin typeface="宋体" panose="02010600030101010101" pitchFamily="2" charset="-122"/>
              </a:rPr>
              <a:t>与存储矩阵匹配</a:t>
            </a:r>
          </a:p>
        </p:txBody>
      </p:sp>
      <p:sp>
        <p:nvSpPr>
          <p:cNvPr id="6" name="AutoShape 338"/>
          <p:cNvSpPr/>
          <p:nvPr>
            <p:custDataLst>
              <p:tags r:id="rId7"/>
            </p:custDataLst>
          </p:nvPr>
        </p:nvSpPr>
        <p:spPr bwMode="auto">
          <a:xfrm>
            <a:off x="6630212" y="2420888"/>
            <a:ext cx="2190260" cy="251697"/>
          </a:xfrm>
          <a:prstGeom prst="borderCallout2">
            <a:avLst>
              <a:gd name="adj1" fmla="val 48292"/>
              <a:gd name="adj2" fmla="val 312"/>
              <a:gd name="adj3" fmla="val 47051"/>
              <a:gd name="adj4" fmla="val -7856"/>
              <a:gd name="adj5" fmla="val 220568"/>
              <a:gd name="adj6" fmla="val -2844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控制</a:t>
            </a:r>
            <a:r>
              <a:rPr lang="zh-CN" altLang="en-US" sz="1600" b="1" u="none" dirty="0">
                <a:latin typeface="宋体" panose="02010600030101010101" pitchFamily="2" charset="-122"/>
              </a:rPr>
              <a:t>某列</a:t>
            </a:r>
            <a:r>
              <a:rPr lang="zh-CN" sz="1600" b="1" u="none" dirty="0">
                <a:latin typeface="宋体" panose="02010600030101010101" pitchFamily="2" charset="-122"/>
              </a:rPr>
              <a:t>存储单元</a:t>
            </a:r>
            <a:r>
              <a:rPr lang="zh-CN" altLang="en-US" sz="1600" b="1" u="none" dirty="0">
                <a:latin typeface="宋体" panose="02010600030101010101" pitchFamily="2" charset="-122"/>
              </a:rPr>
              <a:t>的</a:t>
            </a:r>
            <a:r>
              <a:rPr lang="en-US" altLang="zh-CN" sz="1600" b="1" u="none" dirty="0">
                <a:latin typeface="宋体" panose="02010600030101010101" pitchFamily="2" charset="-122"/>
              </a:rPr>
              <a:t>I/O</a:t>
            </a:r>
          </a:p>
        </p:txBody>
      </p:sp>
      <p:sp>
        <p:nvSpPr>
          <p:cNvPr id="48" name="AutoShape 338"/>
          <p:cNvSpPr/>
          <p:nvPr>
            <p:custDataLst>
              <p:tags r:id="rId8"/>
            </p:custDataLst>
          </p:nvPr>
        </p:nvSpPr>
        <p:spPr bwMode="auto">
          <a:xfrm>
            <a:off x="6552360" y="1772981"/>
            <a:ext cx="1800000" cy="504000"/>
          </a:xfrm>
          <a:prstGeom prst="borderCallout2">
            <a:avLst>
              <a:gd name="adj1" fmla="val 48292"/>
              <a:gd name="adj2" fmla="val 312"/>
              <a:gd name="adj3" fmla="val 48632"/>
              <a:gd name="adj4" fmla="val -11996"/>
              <a:gd name="adj5" fmla="val 90336"/>
              <a:gd name="adj6" fmla="val -2823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有一维、二维形式</a:t>
            </a:r>
          </a:p>
          <a:p>
            <a:pPr algn="ctr"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通常为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正方形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434335" name="AutoShape 15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5400000">
            <a:off x="2988000" y="652589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72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43549" y="5661248"/>
            <a:ext cx="4752040" cy="26061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SRAM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状态</a:t>
            </a:r>
            <a:r>
              <a:rPr lang="zh-CN" altLang="en-US" sz="1800" dirty="0">
                <a:solidFill>
                  <a:schemeClr val="tx1"/>
                </a:solidFill>
              </a:rPr>
              <a:t>有</a:t>
            </a:r>
            <a:r>
              <a:rPr lang="zh-CN" altLang="en-US" sz="1800" dirty="0">
                <a:solidFill>
                  <a:srgbClr val="0070C0"/>
                </a:solidFill>
              </a:rPr>
              <a:t>读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zh-CN" altLang="en-US" sz="1800" dirty="0">
                <a:solidFill>
                  <a:srgbClr val="0070C0"/>
                </a:solidFill>
              </a:rPr>
              <a:t>写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zh-CN" altLang="en-US" sz="1800" dirty="0">
                <a:solidFill>
                  <a:srgbClr val="0070C0"/>
                </a:solidFill>
              </a:rPr>
              <a:t>无操作</a:t>
            </a:r>
            <a:r>
              <a:rPr lang="en-US" altLang="zh-CN" sz="1800" dirty="0">
                <a:solidFill>
                  <a:schemeClr val="tx1"/>
                </a:solidFill>
              </a:rPr>
              <a:t>3</a:t>
            </a:r>
            <a:r>
              <a:rPr lang="zh-CN" altLang="en-US" sz="1800" dirty="0">
                <a:solidFill>
                  <a:schemeClr val="tx1"/>
                </a:solidFill>
              </a:rPr>
              <a:t>种，需≥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根引脚；</a:t>
            </a:r>
            <a:endParaRPr lang="zh-CN" altLang="en-US" sz="1800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D254F9-583D-4B18-B362-B0DAC1DAA9C3}"/>
              </a:ext>
            </a:extLst>
          </p:cNvPr>
          <p:cNvGrpSpPr/>
          <p:nvPr/>
        </p:nvGrpSpPr>
        <p:grpSpPr>
          <a:xfrm>
            <a:off x="1331640" y="5301208"/>
            <a:ext cx="5436000" cy="324000"/>
            <a:chOff x="1331640" y="5301208"/>
            <a:chExt cx="5436000" cy="324000"/>
          </a:xfrm>
        </p:grpSpPr>
        <p:sp>
          <p:nvSpPr>
            <p:cNvPr id="212" name="Text Box 77"/>
            <p:cNvSpPr txBox="1">
              <a:spLocks noChangeArrowheads="1"/>
            </p:cNvSpPr>
            <p:nvPr/>
          </p:nvSpPr>
          <p:spPr bwMode="auto">
            <a:xfrm>
              <a:off x="1331640" y="5301208"/>
              <a:ext cx="5436000" cy="324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lIns="36195" tIns="17780" rIns="36195" bIns="0" anchor="t" anchorCtr="0">
              <a:noAutofit/>
            </a:bodyPr>
            <a:lstStyle/>
            <a:p>
              <a:pPr marL="1078230" indent="-107823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思考③：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为什么要设置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引脚？控制电路的逻辑是？</a:t>
              </a:r>
            </a:p>
          </p:txBody>
        </p: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F51B844C-E3C0-41F4-8F03-59F2EAABB246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3671962" y="53568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83B074-8310-4807-850E-86931453A9AB}"/>
              </a:ext>
            </a:extLst>
          </p:cNvPr>
          <p:cNvGrpSpPr/>
          <p:nvPr/>
        </p:nvGrpSpPr>
        <p:grpSpPr>
          <a:xfrm>
            <a:off x="1943061" y="5998115"/>
            <a:ext cx="3492000" cy="252000"/>
            <a:chOff x="1943061" y="5976000"/>
            <a:chExt cx="3492000" cy="252000"/>
          </a:xfrm>
        </p:grpSpPr>
        <p:sp>
          <p:nvSpPr>
            <p:cNvPr id="8" name="Text Box 726"/>
            <p:cNvSpPr txBox="1">
              <a:spLocks noChangeArrowheads="1"/>
            </p:cNvSpPr>
            <p:nvPr/>
          </p:nvSpPr>
          <p:spPr bwMode="auto">
            <a:xfrm>
              <a:off x="1943061" y="5976000"/>
              <a:ext cx="3492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wrap="square" lIns="18000" tIns="17780" rIns="18000" bIns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2000" b="1" u="none">
                  <a:solidFill>
                    <a:srgbClr val="990099"/>
                  </a:solidFill>
                  <a:latin typeface="宋体" panose="02010600030101010101" pitchFamily="2" charset="-122"/>
                </a:defRPr>
              </a:lvl1pPr>
            </a:lstStyle>
            <a:p>
              <a:pPr>
                <a:lnSpc>
                  <a:spcPct val="90000"/>
                </a:lnSpc>
              </a:pPr>
              <a:r>
                <a:rPr 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读＝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+mn-lt"/>
                  <a:ea typeface="+mn-ea"/>
                  <a:cs typeface="Times New Roman" panose="02020603050405020304" pitchFamily="18" charset="0"/>
                </a:rPr>
                <a:t>~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CS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)•WE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，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写</a:t>
              </a:r>
              <a:r>
                <a:rPr lang="zh-CN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+mn-lt"/>
                  <a:ea typeface="+mn-ea"/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CS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)•(</a:t>
              </a:r>
              <a:r>
                <a:rPr lang="en-US" altLang="zh-CN" sz="1800" dirty="0">
                  <a:solidFill>
                    <a:schemeClr val="tx1"/>
                  </a:solidFill>
                  <a:latin typeface="+mn-lt"/>
                  <a:ea typeface="+mn-ea"/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WE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 </a:t>
              </a:r>
            </a:p>
            <a:p>
              <a:pPr>
                <a:lnSpc>
                  <a:spcPct val="90000"/>
                </a:lnSpc>
              </a:pP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endParaRP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FFE7247B-4E77-4D99-9CC2-626A540DE14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2664000" y="5994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347AC965-C2B8-4EEA-A6B6-F912AA301533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4284000" y="5994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5BCE6CD3-E32C-4953-B6AC-8998EA5C027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3124912" y="5994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96D5BC66-6F2D-4C35-8479-DC8059CF1B54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4978800" y="5994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sp>
        <p:nvSpPr>
          <p:cNvPr id="149" name="AutoShape 331">
            <a:extLst>
              <a:ext uri="{FF2B5EF4-FFF2-40B4-BE49-F238E27FC236}">
                <a16:creationId xmlns:a16="http://schemas.microsoft.com/office/drawing/2014/main" id="{4D0E4AAB-A455-475A-A5AB-D06169FF8964}"/>
              </a:ext>
            </a:extLst>
          </p:cNvPr>
          <p:cNvSpPr/>
          <p:nvPr/>
        </p:nvSpPr>
        <p:spPr bwMode="auto">
          <a:xfrm>
            <a:off x="288055" y="2361170"/>
            <a:ext cx="972000" cy="504000"/>
          </a:xfrm>
          <a:prstGeom prst="borderCallout2">
            <a:avLst>
              <a:gd name="adj1" fmla="val 46849"/>
              <a:gd name="adj2" fmla="val 99764"/>
              <a:gd name="adj3" fmla="val 47518"/>
              <a:gd name="adj4" fmla="val 116951"/>
              <a:gd name="adj5" fmla="val -11455"/>
              <a:gd name="adj6" fmla="val 133436"/>
            </a:avLst>
          </a:prstGeom>
          <a:solidFill>
            <a:schemeClr val="bg1"/>
          </a:solidFill>
          <a:ln w="12700">
            <a:solidFill>
              <a:srgbClr val="FF3399"/>
            </a:solidFill>
            <a:prstDash val="sysDash"/>
            <a:miter lim="800000"/>
            <a:headEnd type="none" w="sm" len="med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数电称为总线不妥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  <p:bldP spid="16" grpId="0" bldLvl="0" animBg="1"/>
      <p:bldP spid="5" grpId="0" bldLvl="0" animBg="1"/>
      <p:bldP spid="327" grpId="0" bldLvl="0" animBg="1"/>
      <p:bldP spid="53" grpId="0" bldLvl="0" animBg="1"/>
      <p:bldP spid="6" grpId="0" bldLvl="0" animBg="1"/>
      <p:bldP spid="48" grpId="0" bldLvl="0" animBg="1"/>
      <p:bldP spid="7" grpId="0" bldLvl="0"/>
      <p:bldP spid="14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723"/>
          <p:cNvSpPr txBox="1">
            <a:spLocks noChangeArrowheads="1"/>
          </p:cNvSpPr>
          <p:nvPr/>
        </p:nvSpPr>
        <p:spPr bwMode="auto">
          <a:xfrm>
            <a:off x="179513" y="1628800"/>
            <a:ext cx="2520280" cy="17523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*引脚组织：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数据引脚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地址引脚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3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控制引脚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E566-16E7-4A69-AC88-13B1EA53468A}" type="slidenum">
              <a:rPr lang="en-US" altLang="zh-CN"/>
              <a:t>12</a:t>
            </a:fld>
            <a:endParaRPr lang="en-US" altLang="zh-CN" dirty="0"/>
          </a:p>
        </p:txBody>
      </p:sp>
      <p:sp>
        <p:nvSpPr>
          <p:cNvPr id="93908" name="Text Box 724"/>
          <p:cNvSpPr txBox="1">
            <a:spLocks noChangeArrowheads="1"/>
          </p:cNvSpPr>
          <p:nvPr/>
        </p:nvSpPr>
        <p:spPr bwMode="auto">
          <a:xfrm>
            <a:off x="2195736" y="2037827"/>
            <a:ext cx="6840760" cy="16189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双向时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根、单向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2w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根   </a:t>
            </a:r>
            <a:r>
              <a:rPr lang="zh-CN" altLang="en-US" sz="1800" b="1" u="none" dirty="0">
                <a:latin typeface="+mn-ea"/>
              </a:rPr>
              <a:t>←常为单向</a:t>
            </a:r>
            <a:r>
              <a:rPr lang="en-US" altLang="zh-CN" sz="1600" b="1" u="none" dirty="0">
                <a:latin typeface="+mn-ea"/>
              </a:rPr>
              <a:t>(</a:t>
            </a:r>
            <a:r>
              <a:rPr lang="zh-CN" altLang="en-US" sz="1600" b="1" u="none" dirty="0">
                <a:latin typeface="+mn-ea"/>
              </a:rPr>
              <a:t>便于专用结构连接</a:t>
            </a:r>
            <a:r>
              <a:rPr lang="en-US" altLang="zh-CN" sz="1600" b="1" u="none" dirty="0">
                <a:latin typeface="+mn-ea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+mn-ea"/>
                <a:ea typeface="+mn-ea"/>
              </a:rPr>
              <a:t>log</a:t>
            </a:r>
            <a:r>
              <a:rPr lang="en-US" altLang="zh-CN" sz="2200" b="1" u="none" baseline="-18000" dirty="0">
                <a:latin typeface="+mn-ea"/>
                <a:ea typeface="+mn-ea"/>
              </a:rPr>
              <a:t>2</a:t>
            </a:r>
            <a:r>
              <a:rPr lang="en-US" altLang="zh-CN" sz="2200" b="1" u="none" dirty="0">
                <a:latin typeface="+mn-ea"/>
                <a:ea typeface="+mn-ea"/>
              </a:rPr>
              <a:t>(S/w)</a:t>
            </a:r>
            <a:r>
              <a:rPr lang="zh-CN" altLang="en-US" sz="2200" b="1" u="none" dirty="0"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</a:rPr>
              <a:t>n</a:t>
            </a:r>
            <a:r>
              <a:rPr lang="zh-CN" altLang="en-US" sz="2200" b="1" u="none" dirty="0">
                <a:latin typeface="+mn-ea"/>
                <a:ea typeface="+mn-ea"/>
              </a:rPr>
              <a:t>根       </a:t>
            </a:r>
            <a:r>
              <a:rPr lang="zh-CN" altLang="en-US" sz="1600" b="1" u="none" dirty="0">
                <a:latin typeface="+mn-ea"/>
                <a:ea typeface="+mn-ea"/>
              </a:rPr>
              <a:t>  </a:t>
            </a:r>
            <a:r>
              <a:rPr lang="zh-CN" altLang="en-US" sz="1800" b="1" u="none" dirty="0">
                <a:latin typeface="+mn-ea"/>
                <a:ea typeface="+mn-ea"/>
              </a:rPr>
              <a:t>←地址总是单向的</a:t>
            </a:r>
            <a:endParaRPr lang="en-US" altLang="zh-CN" sz="18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片选</a:t>
            </a:r>
            <a:r>
              <a:rPr lang="en-US" altLang="zh-CN" sz="1800" b="1" u="none" dirty="0">
                <a:latin typeface="+mn-ea"/>
                <a:ea typeface="+mn-ea"/>
              </a:rPr>
              <a:t>(1</a:t>
            </a:r>
            <a:r>
              <a:rPr lang="zh-CN" altLang="en-US" sz="1800" b="1" u="none" dirty="0">
                <a:latin typeface="+mn-ea"/>
                <a:ea typeface="+mn-ea"/>
              </a:rPr>
              <a:t>根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r>
              <a:rPr lang="en-US" altLang="zh-CN" sz="2200" b="1" u="none" dirty="0">
                <a:latin typeface="+mn-ea"/>
                <a:ea typeface="+mn-ea"/>
              </a:rPr>
              <a:t>+</a:t>
            </a:r>
            <a:r>
              <a:rPr lang="zh-CN" altLang="en-US" sz="2200" b="1" u="none" dirty="0">
                <a:latin typeface="+mn-ea"/>
                <a:ea typeface="+mn-ea"/>
              </a:rPr>
              <a:t>读</a:t>
            </a:r>
            <a:r>
              <a:rPr lang="en-US" altLang="zh-CN" sz="2200" b="1" u="none" dirty="0">
                <a:latin typeface="+mn-ea"/>
                <a:ea typeface="+mn-ea"/>
              </a:rPr>
              <a:t>/</a:t>
            </a:r>
            <a:r>
              <a:rPr lang="zh-CN" altLang="en-US" sz="2200" b="1" u="none" dirty="0">
                <a:latin typeface="+mn-ea"/>
                <a:ea typeface="+mn-ea"/>
              </a:rPr>
              <a:t>写</a:t>
            </a:r>
            <a:r>
              <a:rPr lang="en-US" altLang="zh-CN" sz="1800" b="1" u="none" dirty="0">
                <a:latin typeface="+mn-ea"/>
                <a:ea typeface="+mn-ea"/>
              </a:rPr>
              <a:t>(≥1</a:t>
            </a:r>
            <a:r>
              <a:rPr lang="zh-CN" altLang="en-US" sz="1800" b="1" u="none" dirty="0">
                <a:latin typeface="+mn-ea"/>
                <a:ea typeface="+mn-ea"/>
              </a:rPr>
              <a:t>根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latin typeface="+mn-ea"/>
                <a:ea typeface="+mn-ea"/>
              </a:rPr>
              <a:t> </a:t>
            </a:r>
            <a:r>
              <a:rPr lang="zh-CN" altLang="en-US" sz="1600" b="1" u="none" dirty="0">
                <a:latin typeface="+mn-ea"/>
                <a:ea typeface="+mn-ea"/>
              </a:rPr>
              <a:t>  </a:t>
            </a:r>
            <a:r>
              <a:rPr lang="zh-CN" altLang="en-US" sz="1800" b="1" u="none" dirty="0">
                <a:latin typeface="+mn-ea"/>
                <a:ea typeface="+mn-ea"/>
              </a:rPr>
              <a:t>←状态至少有</a:t>
            </a:r>
            <a:r>
              <a:rPr lang="en-US" altLang="zh-CN" sz="1800" b="1" u="none" dirty="0">
                <a:latin typeface="+mn-ea"/>
                <a:ea typeface="+mn-ea"/>
              </a:rPr>
              <a:t>3</a:t>
            </a:r>
            <a:r>
              <a:rPr lang="zh-CN" altLang="en-US" sz="1800" b="1" u="none" dirty="0">
                <a:latin typeface="+mn-ea"/>
                <a:ea typeface="+mn-ea"/>
              </a:rPr>
              <a:t>种</a:t>
            </a:r>
            <a:r>
              <a:rPr lang="en-US" altLang="zh-CN" sz="1800" b="1" u="none" dirty="0">
                <a:latin typeface="+mn-ea"/>
                <a:ea typeface="+mn-ea"/>
              </a:rPr>
              <a:t>[</a:t>
            </a:r>
            <a:r>
              <a:rPr lang="zh-CN" altLang="en-US" sz="1800" b="1" u="none" dirty="0">
                <a:latin typeface="+mn-ea"/>
                <a:ea typeface="+mn-ea"/>
              </a:rPr>
              <a:t>读</a:t>
            </a:r>
            <a:r>
              <a:rPr lang="en-US" altLang="zh-CN" sz="1800" b="1" u="none" dirty="0">
                <a:latin typeface="+mn-ea"/>
                <a:ea typeface="+mn-ea"/>
              </a:rPr>
              <a:t>/</a:t>
            </a:r>
            <a:r>
              <a:rPr lang="zh-CN" altLang="en-US" sz="1800" b="1" u="none" dirty="0">
                <a:latin typeface="+mn-ea"/>
                <a:ea typeface="+mn-ea"/>
              </a:rPr>
              <a:t>写</a:t>
            </a:r>
            <a:r>
              <a:rPr lang="en-US" altLang="zh-CN" sz="1800" b="1" u="none" dirty="0">
                <a:latin typeface="+mn-ea"/>
                <a:ea typeface="+mn-ea"/>
              </a:rPr>
              <a:t>/</a:t>
            </a:r>
            <a:r>
              <a:rPr lang="zh-CN" altLang="en-US" sz="1800" b="1" u="none" dirty="0">
                <a:latin typeface="+mn-ea"/>
                <a:ea typeface="+mn-ea"/>
              </a:rPr>
              <a:t>闲</a:t>
            </a:r>
            <a:r>
              <a:rPr lang="en-US" altLang="zh-CN" sz="1800" b="1" u="none" dirty="0">
                <a:latin typeface="+mn-ea"/>
                <a:ea typeface="+mn-ea"/>
              </a:rPr>
              <a:t>]</a:t>
            </a:r>
            <a:r>
              <a:rPr lang="zh-CN" altLang="en-US" sz="1800" b="1" u="none" dirty="0">
                <a:latin typeface="+mn-ea"/>
                <a:ea typeface="+mn-ea"/>
              </a:rPr>
              <a:t>，</a:t>
            </a:r>
            <a:endParaRPr lang="en-US" altLang="zh-CN" sz="1800" b="1" u="none" dirty="0"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+mn-ea"/>
                <a:ea typeface="+mn-ea"/>
              </a:rPr>
              <a:t>                            </a:t>
            </a:r>
            <a:r>
              <a:rPr lang="zh-CN" altLang="en-US" sz="1800" b="1" u="none" dirty="0">
                <a:latin typeface="+mn-ea"/>
                <a:ea typeface="+mn-ea"/>
              </a:rPr>
              <a:t> 有效电平可为正</a:t>
            </a:r>
            <a:r>
              <a:rPr lang="en-US" altLang="zh-CN" sz="1800" b="1" u="none" dirty="0">
                <a:latin typeface="+mn-ea"/>
                <a:ea typeface="+mn-ea"/>
              </a:rPr>
              <a:t>/</a:t>
            </a:r>
            <a:r>
              <a:rPr lang="zh-CN" altLang="en-US" sz="1800" b="1" u="none" dirty="0">
                <a:latin typeface="+mn-ea"/>
                <a:ea typeface="+mn-ea"/>
              </a:rPr>
              <a:t>负逻辑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高</a:t>
            </a:r>
            <a:r>
              <a:rPr lang="en-US" altLang="zh-CN" sz="1600" b="1" u="none" dirty="0"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latin typeface="+mn-ea"/>
                <a:ea typeface="+mn-ea"/>
              </a:rPr>
              <a:t>低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en-US" altLang="zh-CN" b="1" u="none" dirty="0">
              <a:latin typeface="+mn-ea"/>
              <a:ea typeface="+mn-ea"/>
            </a:endParaRPr>
          </a:p>
        </p:txBody>
      </p:sp>
      <p:sp>
        <p:nvSpPr>
          <p:cNvPr id="15" name="Text Box 723"/>
          <p:cNvSpPr txBox="1">
            <a:spLocks noChangeArrowheads="1"/>
          </p:cNvSpPr>
          <p:nvPr/>
        </p:nvSpPr>
        <p:spPr bwMode="auto">
          <a:xfrm>
            <a:off x="179388" y="332656"/>
            <a:ext cx="8785225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(2)SRAM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引脚组织</a:t>
            </a:r>
            <a:endParaRPr lang="zh-CN" altLang="en-US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 容量</a:t>
            </a:r>
            <a:r>
              <a:rPr lang="en-US" altLang="zh-CN" sz="2200" b="1" u="none" dirty="0">
                <a:latin typeface="+mn-ea"/>
                <a:ea typeface="+mn-ea"/>
              </a:rPr>
              <a:t>S</a:t>
            </a:r>
            <a:r>
              <a:rPr lang="zh-CN" altLang="en-US" sz="2200" b="1" u="none" dirty="0"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</a:rPr>
              <a:t>2</a:t>
            </a:r>
            <a:r>
              <a:rPr lang="en-US" altLang="zh-CN" sz="2200" b="1" u="none" baseline="30000" dirty="0">
                <a:latin typeface="+mn-ea"/>
                <a:ea typeface="+mn-ea"/>
              </a:rPr>
              <a:t>n</a:t>
            </a:r>
            <a:r>
              <a:rPr lang="en-US" altLang="zh-CN" sz="2200" b="1" u="none" dirty="0">
                <a:latin typeface="+mn-ea"/>
                <a:ea typeface="+mn-ea"/>
              </a:rPr>
              <a:t>×w</a:t>
            </a:r>
            <a:r>
              <a:rPr lang="zh-CN" altLang="en-US" sz="2200" b="1" u="none" dirty="0">
                <a:latin typeface="+mn-ea"/>
                <a:ea typeface="+mn-ea"/>
              </a:rPr>
              <a:t>，其中</a:t>
            </a:r>
            <a:r>
              <a:rPr lang="en-US" altLang="zh-CN" sz="2200" b="1" u="none" dirty="0">
                <a:latin typeface="+mn-ea"/>
              </a:rPr>
              <a:t>2</a:t>
            </a:r>
            <a:r>
              <a:rPr lang="en-US" altLang="zh-CN" sz="2200" b="1" u="none" baseline="30000" dirty="0">
                <a:latin typeface="+mn-ea"/>
              </a:rPr>
              <a:t>n</a:t>
            </a:r>
            <a:r>
              <a:rPr lang="zh-CN" altLang="en-US" sz="2200" b="1" u="none" dirty="0">
                <a:latin typeface="+mn-ea"/>
              </a:rPr>
              <a:t>为存储单元个数、</a:t>
            </a:r>
            <a:r>
              <a:rPr lang="en-US" altLang="zh-CN" sz="2200" b="1" u="none" dirty="0">
                <a:latin typeface="+mn-ea"/>
              </a:rPr>
              <a:t>w</a:t>
            </a:r>
            <a:r>
              <a:rPr lang="zh-CN" altLang="en-US" sz="2200" b="1" u="none" dirty="0">
                <a:latin typeface="+mn-ea"/>
              </a:rPr>
              <a:t>为存储单元长度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参数标识：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Text Box 726"/>
          <p:cNvSpPr txBox="1">
            <a:spLocks noChangeArrowheads="1"/>
          </p:cNvSpPr>
          <p:nvPr/>
        </p:nvSpPr>
        <p:spPr bwMode="auto">
          <a:xfrm>
            <a:off x="1835696" y="1196752"/>
            <a:ext cx="540060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单元个数</a:t>
            </a:r>
            <a:r>
              <a:rPr lang="en-US" altLang="zh-CN" sz="2200" b="1" u="none" dirty="0">
                <a:latin typeface="宋体" panose="02010600030101010101" pitchFamily="2" charset="-122"/>
              </a:rPr>
              <a:t>×</a:t>
            </a:r>
            <a:r>
              <a:rPr lang="zh-CN" altLang="en-US" sz="2200" b="1" u="none" dirty="0">
                <a:latin typeface="宋体" panose="02010600030101010101" pitchFamily="2" charset="-122"/>
              </a:rPr>
              <a:t>单元长度，如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1K×8b SRAM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711465" y="3789040"/>
            <a:ext cx="1572591" cy="144016"/>
            <a:chOff x="3215521" y="4437112"/>
            <a:chExt cx="1572591" cy="144016"/>
          </a:xfrm>
        </p:grpSpPr>
        <p:cxnSp>
          <p:nvCxnSpPr>
            <p:cNvPr id="16" name="直接箭头连接符 15"/>
            <p:cNvCxnSpPr/>
            <p:nvPr/>
          </p:nvCxnSpPr>
          <p:spPr bwMode="auto">
            <a:xfrm>
              <a:off x="3215521" y="443711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3215521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1" name="直接箭头连接符 20"/>
            <p:cNvCxnSpPr/>
            <p:nvPr/>
          </p:nvCxnSpPr>
          <p:spPr bwMode="auto">
            <a:xfrm>
              <a:off x="4500112" y="443711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>
              <a:off x="4500112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</p:grpSp>
      <p:grpSp>
        <p:nvGrpSpPr>
          <p:cNvPr id="23" name="组合 22"/>
          <p:cNvGrpSpPr/>
          <p:nvPr/>
        </p:nvGrpSpPr>
        <p:grpSpPr>
          <a:xfrm>
            <a:off x="2699792" y="3429000"/>
            <a:ext cx="2520280" cy="576064"/>
            <a:chOff x="3203848" y="4077072"/>
            <a:chExt cx="2520280" cy="576064"/>
          </a:xfrm>
        </p:grpSpPr>
        <p:sp>
          <p:nvSpPr>
            <p:cNvPr id="24" name="Text Box 118"/>
            <p:cNvSpPr txBox="1">
              <a:spLocks noChangeArrowheads="1"/>
            </p:cNvSpPr>
            <p:nvPr/>
          </p:nvSpPr>
          <p:spPr bwMode="auto">
            <a:xfrm>
              <a:off x="3491880" y="4077072"/>
              <a:ext cx="648000" cy="57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cxnSp>
          <p:nvCxnSpPr>
            <p:cNvPr id="25" name="直接箭头连接符 24"/>
            <p:cNvCxnSpPr/>
            <p:nvPr/>
          </p:nvCxnSpPr>
          <p:spPr bwMode="auto">
            <a:xfrm>
              <a:off x="3203848" y="414908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3203848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27" name="Text Box 118"/>
            <p:cNvSpPr txBox="1">
              <a:spLocks noChangeArrowheads="1"/>
            </p:cNvSpPr>
            <p:nvPr/>
          </p:nvSpPr>
          <p:spPr bwMode="auto">
            <a:xfrm>
              <a:off x="4788024" y="4077136"/>
              <a:ext cx="648000" cy="57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cxnSp>
          <p:nvCxnSpPr>
            <p:cNvPr id="28" name="直接箭头连接符 27"/>
            <p:cNvCxnSpPr/>
            <p:nvPr/>
          </p:nvCxnSpPr>
          <p:spPr bwMode="auto">
            <a:xfrm>
              <a:off x="4500032" y="414908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4500032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5436128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aphicFrame>
        <p:nvGraphicFramePr>
          <p:cNvPr id="31" name="表格 3">
            <a:extLst>
              <a:ext uri="{FF2B5EF4-FFF2-40B4-BE49-F238E27FC236}">
                <a16:creationId xmlns:a16="http://schemas.microsoft.com/office/drawing/2014/main" id="{0D647F8B-70FF-4F33-B567-A86C579B5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68181"/>
              </p:ext>
            </p:extLst>
          </p:nvPr>
        </p:nvGraphicFramePr>
        <p:xfrm>
          <a:off x="1043608" y="4149080"/>
          <a:ext cx="5472608" cy="1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784">
                  <a:extLst>
                    <a:ext uri="{9D8B030D-6E8A-4147-A177-3AD203B41FA5}">
                      <a16:colId xmlns:a16="http://schemas.microsoft.com/office/drawing/2014/main" val="535499086"/>
                    </a:ext>
                  </a:extLst>
                </a:gridCol>
                <a:gridCol w="1056456">
                  <a:extLst>
                    <a:ext uri="{9D8B030D-6E8A-4147-A177-3AD203B41FA5}">
                      <a16:colId xmlns:a16="http://schemas.microsoft.com/office/drawing/2014/main" val="290483810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72136337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10223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969473030"/>
                    </a:ext>
                  </a:extLst>
                </a:gridCol>
              </a:tblGrid>
              <a:tr h="147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容  量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4Kbit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4Kbit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③＝？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1K×4bit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843308"/>
                  </a:ext>
                </a:extLst>
              </a:tr>
              <a:tr h="147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地址引脚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①＝？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②＝？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④共＝？</a:t>
                      </a:r>
                    </a:p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90191"/>
                  </a:ext>
                </a:extLst>
              </a:tr>
              <a:tr h="147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数据引脚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双向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双向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32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单向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891236"/>
                  </a:ext>
                </a:extLst>
              </a:tr>
              <a:tr h="147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控制引脚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255150"/>
                  </a:ext>
                </a:extLst>
              </a:tr>
            </a:tbl>
          </a:graphicData>
        </a:graphic>
      </p:graphicFrame>
      <p:sp>
        <p:nvSpPr>
          <p:cNvPr id="32" name="Text Box 145">
            <a:extLst>
              <a:ext uri="{FF2B5EF4-FFF2-40B4-BE49-F238E27FC236}">
                <a16:creationId xmlns:a16="http://schemas.microsoft.com/office/drawing/2014/main" id="{024EFFED-B23D-45A1-B905-D9B374E41503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88223" y="4149080"/>
            <a:ext cx="2376390" cy="122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7780" rIns="18000" bIns="0" anchor="t" anchorCtr="0"/>
          <a:lstStyle/>
          <a:p>
            <a:pPr marL="0" indent="0" eaLnBrk="1" latinLnBrk="0" hangingPunct="1">
              <a:lnSpc>
                <a:spcPct val="114000"/>
              </a:lnSpc>
            </a:pPr>
            <a:r>
              <a:rPr lang="zh-CN" altLang="en-US" sz="1800" b="1" u="none" dirty="0">
                <a:latin typeface="+mn-ea"/>
                <a:ea typeface="+mn-ea"/>
              </a:rPr>
              <a:t>①</a:t>
            </a:r>
            <a:r>
              <a:rPr lang="en-US" altLang="zh-CN" sz="1800" b="1" u="none" dirty="0">
                <a:latin typeface="+mn-ea"/>
                <a:ea typeface="+mn-ea"/>
              </a:rPr>
              <a:t>=log</a:t>
            </a:r>
            <a:r>
              <a:rPr lang="en-US" altLang="zh-CN" sz="1800" b="1" u="none" baseline="-18000" dirty="0">
                <a:latin typeface="+mn-ea"/>
                <a:ea typeface="+mn-ea"/>
              </a:rPr>
              <a:t>2</a:t>
            </a:r>
            <a:r>
              <a:rPr lang="en-US" altLang="zh-CN" sz="1800" b="1" u="none" dirty="0">
                <a:latin typeface="+mn-ea"/>
                <a:ea typeface="+mn-ea"/>
              </a:rPr>
              <a:t>(4Kb/8b)=9</a:t>
            </a:r>
            <a:r>
              <a:rPr lang="zh-CN" altLang="en-US" sz="1800" b="1" u="none" dirty="0">
                <a:latin typeface="+mn-ea"/>
                <a:ea typeface="+mn-ea"/>
              </a:rPr>
              <a:t>根</a:t>
            </a:r>
            <a:endParaRPr lang="en-US" altLang="zh-CN" sz="1800" b="1" u="none" dirty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14000"/>
              </a:lnSpc>
            </a:pPr>
            <a:r>
              <a:rPr lang="zh-CN" altLang="en-US" sz="1800" b="1" u="none" dirty="0">
                <a:latin typeface="+mn-ea"/>
                <a:ea typeface="+mn-ea"/>
              </a:rPr>
              <a:t>②</a:t>
            </a:r>
            <a:r>
              <a:rPr lang="en-US" altLang="zh-CN" sz="1800" b="1" u="none" dirty="0">
                <a:latin typeface="+mn-ea"/>
                <a:ea typeface="+mn-ea"/>
              </a:rPr>
              <a:t>=log</a:t>
            </a:r>
            <a:r>
              <a:rPr lang="en-US" altLang="zh-CN" sz="1800" b="1" u="none" baseline="-18000" dirty="0">
                <a:latin typeface="+mn-ea"/>
                <a:ea typeface="+mn-ea"/>
              </a:rPr>
              <a:t>2</a:t>
            </a:r>
            <a:r>
              <a:rPr lang="en-US" altLang="zh-CN" sz="1800" b="1" u="none" dirty="0">
                <a:latin typeface="+mn-ea"/>
                <a:ea typeface="+mn-ea"/>
              </a:rPr>
              <a:t>(4Kb/32b)=7</a:t>
            </a:r>
            <a:r>
              <a:rPr lang="zh-CN" altLang="en-US" sz="1800" b="1" u="none" dirty="0">
                <a:latin typeface="+mn-ea"/>
                <a:ea typeface="+mn-ea"/>
              </a:rPr>
              <a:t>根</a:t>
            </a:r>
            <a:endParaRPr lang="en-US" altLang="zh-CN" sz="1800" b="1" u="none" dirty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14000"/>
              </a:lnSpc>
            </a:pPr>
            <a:r>
              <a:rPr lang="zh-CN" altLang="en-US" sz="1800" b="1" u="none" dirty="0">
                <a:latin typeface="+mn-ea"/>
                <a:ea typeface="+mn-ea"/>
              </a:rPr>
              <a:t>③</a:t>
            </a:r>
            <a:r>
              <a:rPr lang="en-US" altLang="zh-CN" sz="1800" b="1" u="none" dirty="0">
                <a:latin typeface="+mn-ea"/>
                <a:ea typeface="+mn-ea"/>
              </a:rPr>
              <a:t>=2</a:t>
            </a:r>
            <a:r>
              <a:rPr lang="en-US" altLang="zh-CN" sz="1800" b="1" u="none" baseline="30000" dirty="0">
                <a:latin typeface="+mn-ea"/>
                <a:ea typeface="+mn-ea"/>
              </a:rPr>
              <a:t>8</a:t>
            </a:r>
            <a:r>
              <a:rPr lang="en-US" altLang="zh-CN" sz="1800" b="1" u="none" dirty="0">
                <a:latin typeface="+mn-ea"/>
                <a:ea typeface="+mn-ea"/>
              </a:rPr>
              <a:t>*(8/2)=1Kb=128B</a:t>
            </a:r>
          </a:p>
          <a:p>
            <a:pPr marL="0" indent="0" eaLnBrk="1" latinLnBrk="0" hangingPunct="1">
              <a:lnSpc>
                <a:spcPct val="114000"/>
              </a:lnSpc>
            </a:pP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</a:rPr>
              <a:t>④</a:t>
            </a:r>
            <a:r>
              <a:rPr lang="zh-CN" altLang="en-US" sz="1800" b="1" u="none" dirty="0">
                <a:latin typeface="+mn-ea"/>
                <a:ea typeface="+mn-ea"/>
              </a:rPr>
              <a:t>≥</a:t>
            </a:r>
            <a:r>
              <a:rPr lang="en-US" altLang="zh-CN" sz="1800" b="1" u="none" dirty="0">
                <a:latin typeface="+mn-ea"/>
                <a:ea typeface="+mn-ea"/>
              </a:rPr>
              <a:t>10+4+2</a:t>
            </a:r>
            <a:r>
              <a:rPr lang="zh-CN" altLang="en-US" sz="1800" b="1" u="none" dirty="0">
                <a:latin typeface="+mn-ea"/>
                <a:ea typeface="+mn-ea"/>
              </a:rPr>
              <a:t>＝</a:t>
            </a:r>
            <a:r>
              <a:rPr lang="en-US" altLang="zh-CN" sz="1800" b="1" u="none" dirty="0">
                <a:latin typeface="+mn-ea"/>
                <a:ea typeface="+mn-ea"/>
              </a:rPr>
              <a:t>16</a:t>
            </a:r>
            <a:r>
              <a:rPr lang="zh-CN" altLang="en-US" sz="1800" b="1" u="none" dirty="0">
                <a:latin typeface="+mn-ea"/>
                <a:ea typeface="+mn-ea"/>
              </a:rPr>
              <a:t>根</a:t>
            </a:r>
            <a:endParaRPr lang="en-US" altLang="zh-CN" sz="18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3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组合 549"/>
          <p:cNvGrpSpPr/>
          <p:nvPr/>
        </p:nvGrpSpPr>
        <p:grpSpPr>
          <a:xfrm>
            <a:off x="1584000" y="2628000"/>
            <a:ext cx="6228532" cy="3251697"/>
            <a:chOff x="1623272" y="2420888"/>
            <a:chExt cx="6228532" cy="3251697"/>
          </a:xfrm>
        </p:grpSpPr>
        <p:sp>
          <p:nvSpPr>
            <p:cNvPr id="551" name="Rectangle 475"/>
            <p:cNvSpPr>
              <a:spLocks noChangeArrowheads="1"/>
            </p:cNvSpPr>
            <p:nvPr/>
          </p:nvSpPr>
          <p:spPr bwMode="auto">
            <a:xfrm>
              <a:off x="1623272" y="5084888"/>
              <a:ext cx="1109635" cy="587697"/>
            </a:xfrm>
            <a:prstGeom prst="rect">
              <a:avLst/>
            </a:prstGeom>
            <a:solidFill>
              <a:srgbClr val="CCCCFF">
                <a:alpha val="85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" name="Text Box 460"/>
            <p:cNvSpPr txBox="1">
              <a:spLocks noChangeArrowheads="1"/>
            </p:cNvSpPr>
            <p:nvPr/>
          </p:nvSpPr>
          <p:spPr bwMode="auto">
            <a:xfrm>
              <a:off x="1731991" y="2420888"/>
              <a:ext cx="358775" cy="110611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行译码器</a:t>
              </a:r>
            </a:p>
          </p:txBody>
        </p:sp>
        <p:sp>
          <p:nvSpPr>
            <p:cNvPr id="553" name="Text Box 467"/>
            <p:cNvSpPr txBox="1">
              <a:spLocks noChangeArrowheads="1"/>
            </p:cNvSpPr>
            <p:nvPr/>
          </p:nvSpPr>
          <p:spPr bwMode="auto">
            <a:xfrm>
              <a:off x="4033866" y="5264888"/>
              <a:ext cx="3530600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>
                  <a:latin typeface="宋体" panose="02010600030101010101" pitchFamily="2" charset="-122"/>
                </a:rPr>
                <a:t>列译码器</a:t>
              </a:r>
            </a:p>
          </p:txBody>
        </p:sp>
        <p:sp>
          <p:nvSpPr>
            <p:cNvPr id="556" name="Text Box 576"/>
            <p:cNvSpPr txBox="1">
              <a:spLocks noChangeArrowheads="1"/>
            </p:cNvSpPr>
            <p:nvPr/>
          </p:nvSpPr>
          <p:spPr bwMode="auto">
            <a:xfrm>
              <a:off x="2123405" y="2492888"/>
              <a:ext cx="360363" cy="10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115000"/>
                </a:lnSpc>
              </a:pP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endParaRPr lang="en-US" altLang="zh-CN" sz="1200" b="1" u="none" baseline="-20000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63</a:t>
              </a:r>
            </a:p>
          </p:txBody>
        </p:sp>
        <p:sp>
          <p:nvSpPr>
            <p:cNvPr id="557" name="Text Box 578"/>
            <p:cNvSpPr txBox="1">
              <a:spLocks noChangeArrowheads="1"/>
            </p:cNvSpPr>
            <p:nvPr/>
          </p:nvSpPr>
          <p:spPr bwMode="auto">
            <a:xfrm>
              <a:off x="4106891" y="5013300"/>
              <a:ext cx="37449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                   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15</a:t>
              </a:r>
            </a:p>
          </p:txBody>
        </p:sp>
        <p:sp>
          <p:nvSpPr>
            <p:cNvPr id="558" name="Text Box 559"/>
            <p:cNvSpPr txBox="1">
              <a:spLocks noChangeArrowheads="1"/>
            </p:cNvSpPr>
            <p:nvPr/>
          </p:nvSpPr>
          <p:spPr bwMode="auto">
            <a:xfrm>
              <a:off x="1658967" y="5120888"/>
              <a:ext cx="4318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59" name="Oval 560"/>
            <p:cNvSpPr>
              <a:spLocks noChangeArrowheads="1"/>
            </p:cNvSpPr>
            <p:nvPr/>
          </p:nvSpPr>
          <p:spPr bwMode="auto">
            <a:xfrm>
              <a:off x="1692304" y="5336888"/>
              <a:ext cx="71438" cy="7143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0" name="Oval 561"/>
            <p:cNvSpPr>
              <a:spLocks noChangeArrowheads="1"/>
            </p:cNvSpPr>
            <p:nvPr/>
          </p:nvSpPr>
          <p:spPr bwMode="auto">
            <a:xfrm>
              <a:off x="1984404" y="5336888"/>
              <a:ext cx="71438" cy="7143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2" name="Line 563"/>
            <p:cNvSpPr>
              <a:spLocks noChangeShapeType="1"/>
            </p:cNvSpPr>
            <p:nvPr/>
          </p:nvSpPr>
          <p:spPr bwMode="auto">
            <a:xfrm flipH="1" flipV="1">
              <a:off x="2019329" y="5552888"/>
              <a:ext cx="57626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" name="Line 565"/>
            <p:cNvSpPr>
              <a:spLocks noChangeShapeType="1"/>
            </p:cNvSpPr>
            <p:nvPr/>
          </p:nvSpPr>
          <p:spPr bwMode="auto">
            <a:xfrm flipV="1">
              <a:off x="2306667" y="5408888"/>
              <a:ext cx="0" cy="2159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Text Box 568"/>
            <p:cNvSpPr txBox="1">
              <a:spLocks noChangeArrowheads="1"/>
            </p:cNvSpPr>
            <p:nvPr/>
          </p:nvSpPr>
          <p:spPr bwMode="auto">
            <a:xfrm>
              <a:off x="2235229" y="5120888"/>
              <a:ext cx="4318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65" name="Oval 569"/>
            <p:cNvSpPr>
              <a:spLocks noChangeArrowheads="1"/>
            </p:cNvSpPr>
            <p:nvPr/>
          </p:nvSpPr>
          <p:spPr bwMode="auto">
            <a:xfrm>
              <a:off x="2268567" y="5336888"/>
              <a:ext cx="71438" cy="71438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6" name="Line 571"/>
            <p:cNvSpPr>
              <a:spLocks noChangeShapeType="1"/>
            </p:cNvSpPr>
            <p:nvPr/>
          </p:nvSpPr>
          <p:spPr bwMode="auto">
            <a:xfrm flipH="1" flipV="1">
              <a:off x="2019329" y="5408888"/>
              <a:ext cx="0" cy="14446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572"/>
            <p:cNvSpPr>
              <a:spLocks noChangeShapeType="1"/>
            </p:cNvSpPr>
            <p:nvPr/>
          </p:nvSpPr>
          <p:spPr bwMode="auto">
            <a:xfrm flipH="1" flipV="1">
              <a:off x="1730404" y="5624888"/>
              <a:ext cx="57626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547863" y="2628000"/>
            <a:ext cx="6984037" cy="2842295"/>
            <a:chOff x="1587529" y="2820529"/>
            <a:chExt cx="6984037" cy="2842295"/>
          </a:xfrm>
        </p:grpSpPr>
        <p:sp>
          <p:nvSpPr>
            <p:cNvPr id="665" name="Rectangle 475"/>
            <p:cNvSpPr>
              <a:spLocks noChangeArrowheads="1"/>
            </p:cNvSpPr>
            <p:nvPr/>
          </p:nvSpPr>
          <p:spPr bwMode="auto">
            <a:xfrm>
              <a:off x="1687566" y="4438824"/>
              <a:ext cx="1109635" cy="82800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0" name="Rectangle 497"/>
            <p:cNvSpPr>
              <a:spLocks noChangeArrowheads="1"/>
            </p:cNvSpPr>
            <p:nvPr/>
          </p:nvSpPr>
          <p:spPr bwMode="auto">
            <a:xfrm>
              <a:off x="2991666" y="2820529"/>
              <a:ext cx="5544000" cy="126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Rectangle 475"/>
            <p:cNvSpPr>
              <a:spLocks noChangeArrowheads="1"/>
            </p:cNvSpPr>
            <p:nvPr/>
          </p:nvSpPr>
          <p:spPr bwMode="auto">
            <a:xfrm>
              <a:off x="3063666" y="4149080"/>
              <a:ext cx="5400000" cy="1080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tIns="0" anchor="ctr"/>
            <a:lstStyle/>
            <a:p>
              <a:endParaRPr lang="en-US" altLang="zh-CN" sz="1200" b="1" u="none" dirty="0">
                <a:latin typeface="+mn-ea"/>
                <a:ea typeface="+mn-ea"/>
              </a:endParaRPr>
            </a:p>
            <a:p>
              <a:endParaRPr lang="en-US" altLang="zh-CN" sz="1200" b="1" u="none" dirty="0">
                <a:latin typeface="+mn-ea"/>
                <a:ea typeface="+mn-ea"/>
              </a:endParaRPr>
            </a:p>
            <a:p>
              <a:r>
                <a:rPr lang="en-US" altLang="zh-CN" sz="1600" b="1" u="none" dirty="0">
                  <a:latin typeface="+mn-ea"/>
                  <a:ea typeface="+mn-ea"/>
                </a:rPr>
                <a:t>                             I/O</a:t>
              </a:r>
              <a:r>
                <a:rPr lang="zh-CN" altLang="en-US" sz="1600" b="1" u="none" dirty="0">
                  <a:latin typeface="+mn-ea"/>
                  <a:ea typeface="+mn-ea"/>
                </a:rPr>
                <a:t>门</a:t>
              </a:r>
            </a:p>
          </p:txBody>
        </p:sp>
        <p:sp>
          <p:nvSpPr>
            <p:cNvPr id="572" name="Rectangle 475"/>
            <p:cNvSpPr>
              <a:spLocks noChangeArrowheads="1"/>
            </p:cNvSpPr>
            <p:nvPr/>
          </p:nvSpPr>
          <p:spPr bwMode="auto">
            <a:xfrm>
              <a:off x="3100416" y="4186824"/>
              <a:ext cx="2016125" cy="36000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" name="Rectangle 475"/>
            <p:cNvSpPr>
              <a:spLocks noChangeArrowheads="1"/>
            </p:cNvSpPr>
            <p:nvPr/>
          </p:nvSpPr>
          <p:spPr bwMode="auto">
            <a:xfrm>
              <a:off x="6397600" y="4184929"/>
              <a:ext cx="2008241" cy="36000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" name="Line 476"/>
            <p:cNvSpPr>
              <a:spLocks noChangeShapeType="1"/>
            </p:cNvSpPr>
            <p:nvPr/>
          </p:nvSpPr>
          <p:spPr bwMode="auto">
            <a:xfrm>
              <a:off x="3892579" y="4363224"/>
              <a:ext cx="0" cy="36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Line 477"/>
            <p:cNvSpPr>
              <a:spLocks noChangeShapeType="1"/>
            </p:cNvSpPr>
            <p:nvPr/>
          </p:nvSpPr>
          <p:spPr bwMode="auto">
            <a:xfrm flipH="1">
              <a:off x="3532216" y="4294824"/>
              <a:ext cx="1588" cy="17145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6" name="Line 478"/>
            <p:cNvSpPr>
              <a:spLocks noChangeShapeType="1"/>
            </p:cNvSpPr>
            <p:nvPr/>
          </p:nvSpPr>
          <p:spPr bwMode="auto">
            <a:xfrm flipH="1">
              <a:off x="3173442" y="4366824"/>
              <a:ext cx="0" cy="216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7" name="Line 479"/>
            <p:cNvSpPr>
              <a:spLocks noChangeShapeType="1"/>
            </p:cNvSpPr>
            <p:nvPr/>
          </p:nvSpPr>
          <p:spPr bwMode="auto">
            <a:xfrm flipH="1">
              <a:off x="4324379" y="4366824"/>
              <a:ext cx="1588" cy="64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8" name="Line 480"/>
            <p:cNvSpPr>
              <a:spLocks noChangeShapeType="1"/>
            </p:cNvSpPr>
            <p:nvPr/>
          </p:nvSpPr>
          <p:spPr bwMode="auto">
            <a:xfrm>
              <a:off x="4684741" y="4296529"/>
              <a:ext cx="0" cy="17145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9" name="Line 481"/>
            <p:cNvSpPr>
              <a:spLocks noChangeShapeType="1"/>
            </p:cNvSpPr>
            <p:nvPr/>
          </p:nvSpPr>
          <p:spPr bwMode="auto">
            <a:xfrm>
              <a:off x="3532216" y="4476529"/>
              <a:ext cx="115252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0" name="Line 482"/>
            <p:cNvSpPr>
              <a:spLocks noChangeShapeType="1"/>
            </p:cNvSpPr>
            <p:nvPr/>
          </p:nvSpPr>
          <p:spPr bwMode="auto">
            <a:xfrm>
              <a:off x="5043516" y="4366824"/>
              <a:ext cx="1588" cy="792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Line 484"/>
            <p:cNvSpPr>
              <a:spLocks noChangeShapeType="1"/>
            </p:cNvSpPr>
            <p:nvPr/>
          </p:nvSpPr>
          <p:spPr bwMode="auto">
            <a:xfrm>
              <a:off x="7204104" y="4366824"/>
              <a:ext cx="0" cy="36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2" name="Line 485"/>
            <p:cNvSpPr>
              <a:spLocks noChangeShapeType="1"/>
            </p:cNvSpPr>
            <p:nvPr/>
          </p:nvSpPr>
          <p:spPr bwMode="auto">
            <a:xfrm flipH="1">
              <a:off x="6843741" y="4296529"/>
              <a:ext cx="1588" cy="17145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Line 486"/>
            <p:cNvSpPr>
              <a:spLocks noChangeShapeType="1"/>
            </p:cNvSpPr>
            <p:nvPr/>
          </p:nvSpPr>
          <p:spPr bwMode="auto">
            <a:xfrm>
              <a:off x="6484966" y="4366824"/>
              <a:ext cx="0" cy="216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487"/>
            <p:cNvSpPr>
              <a:spLocks noChangeShapeType="1"/>
            </p:cNvSpPr>
            <p:nvPr/>
          </p:nvSpPr>
          <p:spPr bwMode="auto">
            <a:xfrm flipH="1">
              <a:off x="7635904" y="4366824"/>
              <a:ext cx="1588" cy="64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Line 488"/>
            <p:cNvSpPr>
              <a:spLocks noChangeShapeType="1"/>
            </p:cNvSpPr>
            <p:nvPr/>
          </p:nvSpPr>
          <p:spPr bwMode="auto">
            <a:xfrm>
              <a:off x="7996266" y="4296529"/>
              <a:ext cx="0" cy="17145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489"/>
            <p:cNvSpPr>
              <a:spLocks noChangeShapeType="1"/>
            </p:cNvSpPr>
            <p:nvPr/>
          </p:nvSpPr>
          <p:spPr bwMode="auto">
            <a:xfrm>
              <a:off x="6843741" y="4476529"/>
              <a:ext cx="115252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490"/>
            <p:cNvSpPr>
              <a:spLocks noChangeShapeType="1"/>
            </p:cNvSpPr>
            <p:nvPr/>
          </p:nvSpPr>
          <p:spPr bwMode="auto">
            <a:xfrm>
              <a:off x="8355041" y="4366824"/>
              <a:ext cx="0" cy="792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Line 493"/>
            <p:cNvSpPr>
              <a:spLocks noChangeShapeType="1"/>
            </p:cNvSpPr>
            <p:nvPr/>
          </p:nvSpPr>
          <p:spPr bwMode="auto">
            <a:xfrm flipH="1">
              <a:off x="4108477" y="4474824"/>
              <a:ext cx="1" cy="1188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Line 494"/>
            <p:cNvSpPr>
              <a:spLocks noChangeShapeType="1"/>
            </p:cNvSpPr>
            <p:nvPr/>
          </p:nvSpPr>
          <p:spPr bwMode="auto">
            <a:xfrm>
              <a:off x="7420003" y="4474824"/>
              <a:ext cx="1587" cy="1188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Line 498"/>
            <p:cNvSpPr>
              <a:spLocks noChangeShapeType="1"/>
            </p:cNvSpPr>
            <p:nvPr/>
          </p:nvSpPr>
          <p:spPr bwMode="auto">
            <a:xfrm>
              <a:off x="3173441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Text Box 499"/>
            <p:cNvSpPr txBox="1">
              <a:spLocks noChangeArrowheads="1"/>
            </p:cNvSpPr>
            <p:nvPr/>
          </p:nvSpPr>
          <p:spPr bwMode="auto">
            <a:xfrm>
              <a:off x="2957541" y="3864223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92" name="Line 500"/>
            <p:cNvSpPr>
              <a:spLocks noChangeShapeType="1"/>
            </p:cNvSpPr>
            <p:nvPr/>
          </p:nvSpPr>
          <p:spPr bwMode="auto">
            <a:xfrm>
              <a:off x="3316316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" name="Line 501"/>
            <p:cNvSpPr>
              <a:spLocks noChangeShapeType="1"/>
            </p:cNvSpPr>
            <p:nvPr/>
          </p:nvSpPr>
          <p:spPr bwMode="auto">
            <a:xfrm>
              <a:off x="3173441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Line 502"/>
            <p:cNvSpPr>
              <a:spLocks noChangeShapeType="1"/>
            </p:cNvSpPr>
            <p:nvPr/>
          </p:nvSpPr>
          <p:spPr bwMode="auto">
            <a:xfrm>
              <a:off x="3387754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Line 503"/>
            <p:cNvSpPr>
              <a:spLocks noChangeShapeType="1"/>
            </p:cNvSpPr>
            <p:nvPr/>
          </p:nvSpPr>
          <p:spPr bwMode="auto">
            <a:xfrm>
              <a:off x="3389341" y="4296529"/>
              <a:ext cx="2873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6" name="Line 504"/>
            <p:cNvSpPr>
              <a:spLocks noChangeShapeType="1"/>
            </p:cNvSpPr>
            <p:nvPr/>
          </p:nvSpPr>
          <p:spPr bwMode="auto">
            <a:xfrm>
              <a:off x="3749704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Line 505"/>
            <p:cNvSpPr>
              <a:spLocks noChangeShapeType="1"/>
            </p:cNvSpPr>
            <p:nvPr/>
          </p:nvSpPr>
          <p:spPr bwMode="auto">
            <a:xfrm>
              <a:off x="3749704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Line 506"/>
            <p:cNvSpPr>
              <a:spLocks noChangeShapeType="1"/>
            </p:cNvSpPr>
            <p:nvPr/>
          </p:nvSpPr>
          <p:spPr bwMode="auto">
            <a:xfrm>
              <a:off x="3676679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Line 507"/>
            <p:cNvSpPr>
              <a:spLocks noChangeShapeType="1"/>
            </p:cNvSpPr>
            <p:nvPr/>
          </p:nvSpPr>
          <p:spPr bwMode="auto">
            <a:xfrm>
              <a:off x="3749704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Line 508"/>
            <p:cNvSpPr>
              <a:spLocks noChangeShapeType="1"/>
            </p:cNvSpPr>
            <p:nvPr/>
          </p:nvSpPr>
          <p:spPr bwMode="auto">
            <a:xfrm>
              <a:off x="4325966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Line 509"/>
            <p:cNvSpPr>
              <a:spLocks noChangeShapeType="1"/>
            </p:cNvSpPr>
            <p:nvPr/>
          </p:nvSpPr>
          <p:spPr bwMode="auto">
            <a:xfrm>
              <a:off x="5094316" y="3891210"/>
              <a:ext cx="952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Line 510"/>
            <p:cNvSpPr>
              <a:spLocks noChangeShapeType="1"/>
            </p:cNvSpPr>
            <p:nvPr/>
          </p:nvSpPr>
          <p:spPr bwMode="auto">
            <a:xfrm>
              <a:off x="4468841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Line 511"/>
            <p:cNvSpPr>
              <a:spLocks noChangeShapeType="1"/>
            </p:cNvSpPr>
            <p:nvPr/>
          </p:nvSpPr>
          <p:spPr bwMode="auto">
            <a:xfrm>
              <a:off x="4325966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" name="Line 512"/>
            <p:cNvSpPr>
              <a:spLocks noChangeShapeType="1"/>
            </p:cNvSpPr>
            <p:nvPr/>
          </p:nvSpPr>
          <p:spPr bwMode="auto">
            <a:xfrm>
              <a:off x="4540279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" name="Line 513"/>
            <p:cNvSpPr>
              <a:spLocks noChangeShapeType="1"/>
            </p:cNvSpPr>
            <p:nvPr/>
          </p:nvSpPr>
          <p:spPr bwMode="auto">
            <a:xfrm>
              <a:off x="4541866" y="4296529"/>
              <a:ext cx="2873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" name="Line 514"/>
            <p:cNvSpPr>
              <a:spLocks noChangeShapeType="1"/>
            </p:cNvSpPr>
            <p:nvPr/>
          </p:nvSpPr>
          <p:spPr bwMode="auto">
            <a:xfrm>
              <a:off x="4902229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" name="Line 515"/>
            <p:cNvSpPr>
              <a:spLocks noChangeShapeType="1"/>
            </p:cNvSpPr>
            <p:nvPr/>
          </p:nvSpPr>
          <p:spPr bwMode="auto">
            <a:xfrm>
              <a:off x="4902229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8" name="Line 516"/>
            <p:cNvSpPr>
              <a:spLocks noChangeShapeType="1"/>
            </p:cNvSpPr>
            <p:nvPr/>
          </p:nvSpPr>
          <p:spPr bwMode="auto">
            <a:xfrm>
              <a:off x="4829204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" name="Line 517"/>
            <p:cNvSpPr>
              <a:spLocks noChangeShapeType="1"/>
            </p:cNvSpPr>
            <p:nvPr/>
          </p:nvSpPr>
          <p:spPr bwMode="auto">
            <a:xfrm>
              <a:off x="4902229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0" name="Text Box 518"/>
            <p:cNvSpPr txBox="1">
              <a:spLocks noChangeArrowheads="1"/>
            </p:cNvSpPr>
            <p:nvPr/>
          </p:nvSpPr>
          <p:spPr bwMode="auto">
            <a:xfrm>
              <a:off x="3894166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1" name="Text Box 519"/>
            <p:cNvSpPr txBox="1">
              <a:spLocks noChangeArrowheads="1"/>
            </p:cNvSpPr>
            <p:nvPr/>
          </p:nvSpPr>
          <p:spPr bwMode="auto">
            <a:xfrm>
              <a:off x="4108479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2" name="Text Box 520"/>
            <p:cNvSpPr txBox="1">
              <a:spLocks noChangeArrowheads="1"/>
            </p:cNvSpPr>
            <p:nvPr/>
          </p:nvSpPr>
          <p:spPr bwMode="auto">
            <a:xfrm>
              <a:off x="5043666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13" name="Line 521"/>
            <p:cNvSpPr>
              <a:spLocks noChangeShapeType="1"/>
            </p:cNvSpPr>
            <p:nvPr/>
          </p:nvSpPr>
          <p:spPr bwMode="auto">
            <a:xfrm>
              <a:off x="3946554" y="3891210"/>
              <a:ext cx="952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" name="Line 522"/>
            <p:cNvSpPr>
              <a:spLocks noChangeShapeType="1"/>
            </p:cNvSpPr>
            <p:nvPr/>
          </p:nvSpPr>
          <p:spPr bwMode="auto">
            <a:xfrm>
              <a:off x="6484966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" name="Text Box 523"/>
            <p:cNvSpPr txBox="1">
              <a:spLocks noChangeArrowheads="1"/>
            </p:cNvSpPr>
            <p:nvPr/>
          </p:nvSpPr>
          <p:spPr bwMode="auto">
            <a:xfrm>
              <a:off x="6269066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6" name="Line 524"/>
            <p:cNvSpPr>
              <a:spLocks noChangeShapeType="1"/>
            </p:cNvSpPr>
            <p:nvPr/>
          </p:nvSpPr>
          <p:spPr bwMode="auto">
            <a:xfrm>
              <a:off x="6627841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" name="Line 525"/>
            <p:cNvSpPr>
              <a:spLocks noChangeShapeType="1"/>
            </p:cNvSpPr>
            <p:nvPr/>
          </p:nvSpPr>
          <p:spPr bwMode="auto">
            <a:xfrm>
              <a:off x="6484966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" name="Line 526"/>
            <p:cNvSpPr>
              <a:spLocks noChangeShapeType="1"/>
            </p:cNvSpPr>
            <p:nvPr/>
          </p:nvSpPr>
          <p:spPr bwMode="auto">
            <a:xfrm>
              <a:off x="6699279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" name="Line 527"/>
            <p:cNvSpPr>
              <a:spLocks noChangeShapeType="1"/>
            </p:cNvSpPr>
            <p:nvPr/>
          </p:nvSpPr>
          <p:spPr bwMode="auto">
            <a:xfrm>
              <a:off x="6700866" y="4296529"/>
              <a:ext cx="2873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Line 528"/>
            <p:cNvSpPr>
              <a:spLocks noChangeShapeType="1"/>
            </p:cNvSpPr>
            <p:nvPr/>
          </p:nvSpPr>
          <p:spPr bwMode="auto">
            <a:xfrm>
              <a:off x="7061229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Line 529"/>
            <p:cNvSpPr>
              <a:spLocks noChangeShapeType="1"/>
            </p:cNvSpPr>
            <p:nvPr/>
          </p:nvSpPr>
          <p:spPr bwMode="auto">
            <a:xfrm>
              <a:off x="7061229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Line 530"/>
            <p:cNvSpPr>
              <a:spLocks noChangeShapeType="1"/>
            </p:cNvSpPr>
            <p:nvPr/>
          </p:nvSpPr>
          <p:spPr bwMode="auto">
            <a:xfrm>
              <a:off x="6988204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" name="Line 531"/>
            <p:cNvSpPr>
              <a:spLocks noChangeShapeType="1"/>
            </p:cNvSpPr>
            <p:nvPr/>
          </p:nvSpPr>
          <p:spPr bwMode="auto">
            <a:xfrm>
              <a:off x="7061229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" name="Line 532"/>
            <p:cNvSpPr>
              <a:spLocks noChangeShapeType="1"/>
            </p:cNvSpPr>
            <p:nvPr/>
          </p:nvSpPr>
          <p:spPr bwMode="auto">
            <a:xfrm>
              <a:off x="7637491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" name="Line 533"/>
            <p:cNvSpPr>
              <a:spLocks noChangeShapeType="1"/>
            </p:cNvSpPr>
            <p:nvPr/>
          </p:nvSpPr>
          <p:spPr bwMode="auto">
            <a:xfrm>
              <a:off x="8405841" y="3889623"/>
              <a:ext cx="952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6" name="Line 534"/>
            <p:cNvSpPr>
              <a:spLocks noChangeShapeType="1"/>
            </p:cNvSpPr>
            <p:nvPr/>
          </p:nvSpPr>
          <p:spPr bwMode="auto">
            <a:xfrm>
              <a:off x="7780366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7" name="Line 535"/>
            <p:cNvSpPr>
              <a:spLocks noChangeShapeType="1"/>
            </p:cNvSpPr>
            <p:nvPr/>
          </p:nvSpPr>
          <p:spPr bwMode="auto">
            <a:xfrm>
              <a:off x="7637491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8" name="Line 536"/>
            <p:cNvSpPr>
              <a:spLocks noChangeShapeType="1"/>
            </p:cNvSpPr>
            <p:nvPr/>
          </p:nvSpPr>
          <p:spPr bwMode="auto">
            <a:xfrm>
              <a:off x="7851804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9" name="Line 537"/>
            <p:cNvSpPr>
              <a:spLocks noChangeShapeType="1"/>
            </p:cNvSpPr>
            <p:nvPr/>
          </p:nvSpPr>
          <p:spPr bwMode="auto">
            <a:xfrm>
              <a:off x="7853391" y="4296529"/>
              <a:ext cx="2873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0" name="Line 538"/>
            <p:cNvSpPr>
              <a:spLocks noChangeShapeType="1"/>
            </p:cNvSpPr>
            <p:nvPr/>
          </p:nvSpPr>
          <p:spPr bwMode="auto">
            <a:xfrm>
              <a:off x="8213754" y="4294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1" name="Line 539"/>
            <p:cNvSpPr>
              <a:spLocks noChangeShapeType="1"/>
            </p:cNvSpPr>
            <p:nvPr/>
          </p:nvSpPr>
          <p:spPr bwMode="auto">
            <a:xfrm>
              <a:off x="8213754" y="4366824"/>
              <a:ext cx="14287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2" name="Line 540"/>
            <p:cNvSpPr>
              <a:spLocks noChangeShapeType="1"/>
            </p:cNvSpPr>
            <p:nvPr/>
          </p:nvSpPr>
          <p:spPr bwMode="auto">
            <a:xfrm>
              <a:off x="8140729" y="4222824"/>
              <a:ext cx="0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3" name="Line 541"/>
            <p:cNvSpPr>
              <a:spLocks noChangeShapeType="1"/>
            </p:cNvSpPr>
            <p:nvPr/>
          </p:nvSpPr>
          <p:spPr bwMode="auto">
            <a:xfrm>
              <a:off x="8213754" y="4186824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" name="Text Box 542"/>
            <p:cNvSpPr txBox="1">
              <a:spLocks noChangeArrowheads="1"/>
            </p:cNvSpPr>
            <p:nvPr/>
          </p:nvSpPr>
          <p:spPr bwMode="auto">
            <a:xfrm>
              <a:off x="7205691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35" name="Text Box 543"/>
            <p:cNvSpPr txBox="1">
              <a:spLocks noChangeArrowheads="1"/>
            </p:cNvSpPr>
            <p:nvPr/>
          </p:nvSpPr>
          <p:spPr bwMode="auto">
            <a:xfrm>
              <a:off x="7420004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36" name="Text Box 544"/>
            <p:cNvSpPr txBox="1">
              <a:spLocks noChangeArrowheads="1"/>
            </p:cNvSpPr>
            <p:nvPr/>
          </p:nvSpPr>
          <p:spPr bwMode="auto">
            <a:xfrm>
              <a:off x="8355666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38" name="Text Box 546"/>
            <p:cNvSpPr txBox="1">
              <a:spLocks noChangeArrowheads="1"/>
            </p:cNvSpPr>
            <p:nvPr/>
          </p:nvSpPr>
          <p:spPr bwMode="auto">
            <a:xfrm>
              <a:off x="5403879" y="4197697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……</a:t>
              </a:r>
            </a:p>
          </p:txBody>
        </p:sp>
        <p:sp>
          <p:nvSpPr>
            <p:cNvPr id="639" name="Text Box 581"/>
            <p:cNvSpPr txBox="1">
              <a:spLocks noChangeArrowheads="1"/>
            </p:cNvSpPr>
            <p:nvPr/>
          </p:nvSpPr>
          <p:spPr bwMode="auto">
            <a:xfrm>
              <a:off x="3387754" y="3284984"/>
              <a:ext cx="36195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</a:p>
          </p:txBody>
        </p:sp>
        <p:sp>
          <p:nvSpPr>
            <p:cNvPr id="640" name="Line 582"/>
            <p:cNvSpPr>
              <a:spLocks noChangeShapeType="1"/>
            </p:cNvSpPr>
            <p:nvPr/>
          </p:nvSpPr>
          <p:spPr bwMode="auto">
            <a:xfrm>
              <a:off x="3821141" y="393451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1" name="Line 583"/>
            <p:cNvSpPr>
              <a:spLocks noChangeShapeType="1"/>
            </p:cNvSpPr>
            <p:nvPr/>
          </p:nvSpPr>
          <p:spPr bwMode="auto">
            <a:xfrm>
              <a:off x="3533804" y="3720207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" name="Line 584"/>
            <p:cNvSpPr>
              <a:spLocks noChangeShapeType="1"/>
            </p:cNvSpPr>
            <p:nvPr/>
          </p:nvSpPr>
          <p:spPr bwMode="auto">
            <a:xfrm>
              <a:off x="3173441" y="393451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3" name="Text Box 585"/>
            <p:cNvSpPr txBox="1">
              <a:spLocks noChangeArrowheads="1"/>
            </p:cNvSpPr>
            <p:nvPr/>
          </p:nvSpPr>
          <p:spPr bwMode="auto">
            <a:xfrm>
              <a:off x="3892579" y="3310781"/>
              <a:ext cx="4333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</a:t>
              </a:r>
            </a:p>
          </p:txBody>
        </p:sp>
        <p:sp>
          <p:nvSpPr>
            <p:cNvPr id="644" name="Text Box 586"/>
            <p:cNvSpPr txBox="1">
              <a:spLocks noChangeArrowheads="1"/>
            </p:cNvSpPr>
            <p:nvPr/>
          </p:nvSpPr>
          <p:spPr bwMode="auto">
            <a:xfrm>
              <a:off x="4540279" y="3284984"/>
              <a:ext cx="3603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</a:p>
          </p:txBody>
        </p:sp>
        <p:sp>
          <p:nvSpPr>
            <p:cNvPr id="645" name="Line 587"/>
            <p:cNvSpPr>
              <a:spLocks noChangeShapeType="1"/>
            </p:cNvSpPr>
            <p:nvPr/>
          </p:nvSpPr>
          <p:spPr bwMode="auto">
            <a:xfrm>
              <a:off x="4973666" y="393451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" name="Line 588"/>
            <p:cNvSpPr>
              <a:spLocks noChangeShapeType="1"/>
            </p:cNvSpPr>
            <p:nvPr/>
          </p:nvSpPr>
          <p:spPr bwMode="auto">
            <a:xfrm>
              <a:off x="4686329" y="3720207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" name="Line 589"/>
            <p:cNvSpPr>
              <a:spLocks noChangeShapeType="1"/>
            </p:cNvSpPr>
            <p:nvPr/>
          </p:nvSpPr>
          <p:spPr bwMode="auto">
            <a:xfrm>
              <a:off x="4325966" y="393451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8" name="Text Box 590"/>
            <p:cNvSpPr txBox="1">
              <a:spLocks noChangeArrowheads="1"/>
            </p:cNvSpPr>
            <p:nvPr/>
          </p:nvSpPr>
          <p:spPr bwMode="auto">
            <a:xfrm>
              <a:off x="3246466" y="3791644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49" name="Text Box 591"/>
            <p:cNvSpPr txBox="1">
              <a:spLocks noChangeArrowheads="1"/>
            </p:cNvSpPr>
            <p:nvPr/>
          </p:nvSpPr>
          <p:spPr bwMode="auto">
            <a:xfrm>
              <a:off x="4398991" y="3791644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50" name="Text Box 592"/>
            <p:cNvSpPr txBox="1">
              <a:spLocks noChangeArrowheads="1"/>
            </p:cNvSpPr>
            <p:nvPr/>
          </p:nvSpPr>
          <p:spPr bwMode="auto">
            <a:xfrm>
              <a:off x="6699279" y="3284984"/>
              <a:ext cx="36195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</a:p>
          </p:txBody>
        </p:sp>
        <p:sp>
          <p:nvSpPr>
            <p:cNvPr id="651" name="Line 593"/>
            <p:cNvSpPr>
              <a:spLocks noChangeShapeType="1"/>
            </p:cNvSpPr>
            <p:nvPr/>
          </p:nvSpPr>
          <p:spPr bwMode="auto">
            <a:xfrm>
              <a:off x="7132666" y="3932932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" name="Line 594"/>
            <p:cNvSpPr>
              <a:spLocks noChangeShapeType="1"/>
            </p:cNvSpPr>
            <p:nvPr/>
          </p:nvSpPr>
          <p:spPr bwMode="auto">
            <a:xfrm>
              <a:off x="6845329" y="3718619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3" name="Line 595"/>
            <p:cNvSpPr>
              <a:spLocks noChangeShapeType="1"/>
            </p:cNvSpPr>
            <p:nvPr/>
          </p:nvSpPr>
          <p:spPr bwMode="auto">
            <a:xfrm>
              <a:off x="6484966" y="3932932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4" name="Text Box 596"/>
            <p:cNvSpPr txBox="1">
              <a:spLocks noChangeArrowheads="1"/>
            </p:cNvSpPr>
            <p:nvPr/>
          </p:nvSpPr>
          <p:spPr bwMode="auto">
            <a:xfrm>
              <a:off x="7204104" y="3309193"/>
              <a:ext cx="4333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</a:t>
              </a:r>
            </a:p>
          </p:txBody>
        </p:sp>
        <p:sp>
          <p:nvSpPr>
            <p:cNvPr id="655" name="Text Box 597"/>
            <p:cNvSpPr txBox="1">
              <a:spLocks noChangeArrowheads="1"/>
            </p:cNvSpPr>
            <p:nvPr/>
          </p:nvSpPr>
          <p:spPr bwMode="auto">
            <a:xfrm>
              <a:off x="7851804" y="3284984"/>
              <a:ext cx="3603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</a:p>
          </p:txBody>
        </p:sp>
        <p:sp>
          <p:nvSpPr>
            <p:cNvPr id="656" name="Line 598"/>
            <p:cNvSpPr>
              <a:spLocks noChangeShapeType="1"/>
            </p:cNvSpPr>
            <p:nvPr/>
          </p:nvSpPr>
          <p:spPr bwMode="auto">
            <a:xfrm>
              <a:off x="8285191" y="3932932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7" name="Line 599"/>
            <p:cNvSpPr>
              <a:spLocks noChangeShapeType="1"/>
            </p:cNvSpPr>
            <p:nvPr/>
          </p:nvSpPr>
          <p:spPr bwMode="auto">
            <a:xfrm>
              <a:off x="7997854" y="3718619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8" name="Line 600"/>
            <p:cNvSpPr>
              <a:spLocks noChangeShapeType="1"/>
            </p:cNvSpPr>
            <p:nvPr/>
          </p:nvSpPr>
          <p:spPr bwMode="auto">
            <a:xfrm>
              <a:off x="7637491" y="3932932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9" name="Text Box 601"/>
            <p:cNvSpPr txBox="1">
              <a:spLocks noChangeArrowheads="1"/>
            </p:cNvSpPr>
            <p:nvPr/>
          </p:nvSpPr>
          <p:spPr bwMode="auto">
            <a:xfrm>
              <a:off x="6557991" y="3790057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60" name="Text Box 602"/>
            <p:cNvSpPr txBox="1">
              <a:spLocks noChangeArrowheads="1"/>
            </p:cNvSpPr>
            <p:nvPr/>
          </p:nvSpPr>
          <p:spPr bwMode="auto">
            <a:xfrm>
              <a:off x="7710516" y="3790057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1" name="Text Box 603"/>
            <p:cNvSpPr txBox="1">
              <a:spLocks noChangeArrowheads="1"/>
            </p:cNvSpPr>
            <p:nvPr/>
          </p:nvSpPr>
          <p:spPr bwMode="auto">
            <a:xfrm>
              <a:off x="5114954" y="3284984"/>
              <a:ext cx="12239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64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×64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列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2" name="Text Box 604"/>
            <p:cNvSpPr txBox="1">
              <a:spLocks noChangeArrowheads="1"/>
            </p:cNvSpPr>
            <p:nvPr/>
          </p:nvSpPr>
          <p:spPr bwMode="auto">
            <a:xfrm>
              <a:off x="5403879" y="3718619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……</a:t>
              </a:r>
            </a:p>
          </p:txBody>
        </p:sp>
        <p:sp>
          <p:nvSpPr>
            <p:cNvPr id="663" name="Line 459"/>
            <p:cNvSpPr>
              <a:spLocks noChangeShapeType="1"/>
            </p:cNvSpPr>
            <p:nvPr/>
          </p:nvSpPr>
          <p:spPr bwMode="auto">
            <a:xfrm>
              <a:off x="2090766" y="3717032"/>
              <a:ext cx="59055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4" name="Line 605"/>
            <p:cNvSpPr>
              <a:spLocks noChangeShapeType="1"/>
            </p:cNvSpPr>
            <p:nvPr/>
          </p:nvSpPr>
          <p:spPr bwMode="auto">
            <a:xfrm flipV="1">
              <a:off x="2090766" y="2877393"/>
              <a:ext cx="59055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" name="Rectangle 580"/>
            <p:cNvSpPr>
              <a:spLocks noChangeArrowheads="1"/>
            </p:cNvSpPr>
            <p:nvPr/>
          </p:nvSpPr>
          <p:spPr bwMode="auto">
            <a:xfrm>
              <a:off x="3100416" y="2921316"/>
              <a:ext cx="2016125" cy="287337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" name="Rectangle 580"/>
            <p:cNvSpPr>
              <a:spLocks noChangeArrowheads="1"/>
            </p:cNvSpPr>
            <p:nvPr/>
          </p:nvSpPr>
          <p:spPr bwMode="auto">
            <a:xfrm>
              <a:off x="6397601" y="2918059"/>
              <a:ext cx="2016125" cy="287337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8" name="Line 491"/>
            <p:cNvSpPr>
              <a:spLocks noChangeShapeType="1"/>
            </p:cNvSpPr>
            <p:nvPr/>
          </p:nvSpPr>
          <p:spPr bwMode="auto">
            <a:xfrm>
              <a:off x="2738466" y="4581128"/>
              <a:ext cx="37465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9" name="Text Box 495"/>
            <p:cNvSpPr txBox="1">
              <a:spLocks noChangeArrowheads="1"/>
            </p:cNvSpPr>
            <p:nvPr/>
          </p:nvSpPr>
          <p:spPr bwMode="auto">
            <a:xfrm>
              <a:off x="2772000" y="4736198"/>
              <a:ext cx="288925" cy="2785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670" name="Text Box 496"/>
            <p:cNvSpPr txBox="1">
              <a:spLocks noChangeArrowheads="1"/>
            </p:cNvSpPr>
            <p:nvPr/>
          </p:nvSpPr>
          <p:spPr bwMode="auto">
            <a:xfrm>
              <a:off x="5619779" y="4726930"/>
              <a:ext cx="288925" cy="28624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671" name="Text Box 551"/>
            <p:cNvSpPr txBox="1">
              <a:spLocks noChangeArrowheads="1"/>
            </p:cNvSpPr>
            <p:nvPr/>
          </p:nvSpPr>
          <p:spPr bwMode="auto">
            <a:xfrm>
              <a:off x="1731991" y="4942824"/>
              <a:ext cx="1008063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672" name="Line 552"/>
            <p:cNvSpPr>
              <a:spLocks noChangeShapeType="1"/>
            </p:cNvSpPr>
            <p:nvPr/>
          </p:nvSpPr>
          <p:spPr bwMode="auto">
            <a:xfrm flipH="1" flipV="1">
              <a:off x="1874865" y="4762824"/>
              <a:ext cx="1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3" name="Line 553"/>
            <p:cNvSpPr>
              <a:spLocks noChangeShapeType="1"/>
            </p:cNvSpPr>
            <p:nvPr/>
          </p:nvSpPr>
          <p:spPr bwMode="auto">
            <a:xfrm flipH="1" flipV="1">
              <a:off x="2452716" y="4762824"/>
              <a:ext cx="31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4" name="Text Box 465"/>
            <p:cNvSpPr txBox="1">
              <a:spLocks noChangeArrowheads="1"/>
            </p:cNvSpPr>
            <p:nvPr/>
          </p:nvSpPr>
          <p:spPr bwMode="auto">
            <a:xfrm>
              <a:off x="1731991" y="4510824"/>
              <a:ext cx="1008063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675" name="Line 492"/>
            <p:cNvSpPr>
              <a:spLocks noChangeShapeType="1"/>
            </p:cNvSpPr>
            <p:nvPr/>
          </p:nvSpPr>
          <p:spPr bwMode="auto">
            <a:xfrm flipV="1">
              <a:off x="2738466" y="4725144"/>
              <a:ext cx="44656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" name="Line 470"/>
            <p:cNvSpPr>
              <a:spLocks noChangeShapeType="1"/>
            </p:cNvSpPr>
            <p:nvPr/>
          </p:nvSpPr>
          <p:spPr bwMode="auto">
            <a:xfrm>
              <a:off x="2738466" y="5013176"/>
              <a:ext cx="4897438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7" name="Text Box 555"/>
            <p:cNvSpPr txBox="1">
              <a:spLocks noChangeArrowheads="1"/>
            </p:cNvSpPr>
            <p:nvPr/>
          </p:nvSpPr>
          <p:spPr bwMode="auto">
            <a:xfrm>
              <a:off x="2451129" y="5228508"/>
              <a:ext cx="28892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</a:p>
          </p:txBody>
        </p:sp>
        <p:sp>
          <p:nvSpPr>
            <p:cNvPr id="678" name="Text Box 556"/>
            <p:cNvSpPr txBox="1">
              <a:spLocks noChangeArrowheads="1"/>
            </p:cNvSpPr>
            <p:nvPr/>
          </p:nvSpPr>
          <p:spPr bwMode="auto">
            <a:xfrm>
              <a:off x="1587529" y="5228508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</a:p>
          </p:txBody>
        </p:sp>
        <p:sp>
          <p:nvSpPr>
            <p:cNvPr id="679" name="Line 564"/>
            <p:cNvSpPr>
              <a:spLocks noChangeShapeType="1"/>
            </p:cNvSpPr>
            <p:nvPr/>
          </p:nvSpPr>
          <p:spPr bwMode="auto">
            <a:xfrm flipH="1" flipV="1">
              <a:off x="1874867" y="5194823"/>
              <a:ext cx="0" cy="3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0" name="Line 566"/>
            <p:cNvSpPr>
              <a:spLocks noChangeShapeType="1"/>
            </p:cNvSpPr>
            <p:nvPr/>
          </p:nvSpPr>
          <p:spPr bwMode="auto">
            <a:xfrm flipH="1" flipV="1">
              <a:off x="2451129" y="5194823"/>
              <a:ext cx="0" cy="3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1" name="Line 606"/>
            <p:cNvSpPr>
              <a:spLocks noChangeShapeType="1"/>
            </p:cNvSpPr>
            <p:nvPr/>
          </p:nvSpPr>
          <p:spPr bwMode="auto">
            <a:xfrm>
              <a:off x="3533804" y="2878981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2" name="Line 607"/>
            <p:cNvSpPr>
              <a:spLocks noChangeShapeType="1"/>
            </p:cNvSpPr>
            <p:nvPr/>
          </p:nvSpPr>
          <p:spPr bwMode="auto">
            <a:xfrm>
              <a:off x="4686329" y="2878981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3" name="Text Box 608"/>
            <p:cNvSpPr txBox="1">
              <a:spLocks noChangeArrowheads="1"/>
            </p:cNvSpPr>
            <p:nvPr/>
          </p:nvSpPr>
          <p:spPr bwMode="auto">
            <a:xfrm>
              <a:off x="3244879" y="2950418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4" name="Text Box 609"/>
            <p:cNvSpPr txBox="1">
              <a:spLocks noChangeArrowheads="1"/>
            </p:cNvSpPr>
            <p:nvPr/>
          </p:nvSpPr>
          <p:spPr bwMode="auto">
            <a:xfrm>
              <a:off x="4397404" y="2950418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5" name="Line 610"/>
            <p:cNvSpPr>
              <a:spLocks noChangeShapeType="1"/>
            </p:cNvSpPr>
            <p:nvPr/>
          </p:nvSpPr>
          <p:spPr bwMode="auto">
            <a:xfrm>
              <a:off x="6845329" y="2877393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" name="Line 611"/>
            <p:cNvSpPr>
              <a:spLocks noChangeShapeType="1"/>
            </p:cNvSpPr>
            <p:nvPr/>
          </p:nvSpPr>
          <p:spPr bwMode="auto">
            <a:xfrm>
              <a:off x="7997854" y="2877393"/>
              <a:ext cx="0" cy="730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" name="Text Box 612"/>
            <p:cNvSpPr txBox="1">
              <a:spLocks noChangeArrowheads="1"/>
            </p:cNvSpPr>
            <p:nvPr/>
          </p:nvSpPr>
          <p:spPr bwMode="auto">
            <a:xfrm>
              <a:off x="6556404" y="2948831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8" name="Text Box 613"/>
            <p:cNvSpPr txBox="1">
              <a:spLocks noChangeArrowheads="1"/>
            </p:cNvSpPr>
            <p:nvPr/>
          </p:nvSpPr>
          <p:spPr bwMode="auto">
            <a:xfrm>
              <a:off x="7708929" y="2948831"/>
              <a:ext cx="576263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9" name="Line 614"/>
            <p:cNvSpPr>
              <a:spLocks noChangeShapeType="1"/>
            </p:cNvSpPr>
            <p:nvPr/>
          </p:nvSpPr>
          <p:spPr bwMode="auto">
            <a:xfrm>
              <a:off x="3821141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0" name="Line 615"/>
            <p:cNvSpPr>
              <a:spLocks noChangeShapeType="1"/>
            </p:cNvSpPr>
            <p:nvPr/>
          </p:nvSpPr>
          <p:spPr bwMode="auto">
            <a:xfrm>
              <a:off x="3173441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1" name="Line 616"/>
            <p:cNvSpPr>
              <a:spLocks noChangeShapeType="1"/>
            </p:cNvSpPr>
            <p:nvPr/>
          </p:nvSpPr>
          <p:spPr bwMode="auto">
            <a:xfrm>
              <a:off x="4973666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Line 617"/>
            <p:cNvSpPr>
              <a:spLocks noChangeShapeType="1"/>
            </p:cNvSpPr>
            <p:nvPr/>
          </p:nvSpPr>
          <p:spPr bwMode="auto">
            <a:xfrm>
              <a:off x="4325966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Line 618"/>
            <p:cNvSpPr>
              <a:spLocks noChangeShapeType="1"/>
            </p:cNvSpPr>
            <p:nvPr/>
          </p:nvSpPr>
          <p:spPr bwMode="auto">
            <a:xfrm>
              <a:off x="7132666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Line 619"/>
            <p:cNvSpPr>
              <a:spLocks noChangeShapeType="1"/>
            </p:cNvSpPr>
            <p:nvPr/>
          </p:nvSpPr>
          <p:spPr bwMode="auto">
            <a:xfrm>
              <a:off x="6484966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Line 620"/>
            <p:cNvSpPr>
              <a:spLocks noChangeShapeType="1"/>
            </p:cNvSpPr>
            <p:nvPr/>
          </p:nvSpPr>
          <p:spPr bwMode="auto">
            <a:xfrm>
              <a:off x="8285191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Line 621"/>
            <p:cNvSpPr>
              <a:spLocks noChangeShapeType="1"/>
            </p:cNvSpPr>
            <p:nvPr/>
          </p:nvSpPr>
          <p:spPr bwMode="auto">
            <a:xfrm>
              <a:off x="7637491" y="3068929"/>
              <a:ext cx="714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Text Box 622"/>
            <p:cNvSpPr txBox="1">
              <a:spLocks noChangeArrowheads="1"/>
            </p:cNvSpPr>
            <p:nvPr/>
          </p:nvSpPr>
          <p:spPr bwMode="auto">
            <a:xfrm>
              <a:off x="5403879" y="2877393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……</a:t>
              </a:r>
            </a:p>
          </p:txBody>
        </p:sp>
        <p:sp>
          <p:nvSpPr>
            <p:cNvPr id="698" name="Line 623"/>
            <p:cNvSpPr>
              <a:spLocks noChangeShapeType="1"/>
            </p:cNvSpPr>
            <p:nvPr/>
          </p:nvSpPr>
          <p:spPr bwMode="auto">
            <a:xfrm flipH="1">
              <a:off x="8355041" y="3070823"/>
              <a:ext cx="1588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Line 624"/>
            <p:cNvSpPr>
              <a:spLocks noChangeShapeType="1"/>
            </p:cNvSpPr>
            <p:nvPr/>
          </p:nvSpPr>
          <p:spPr bwMode="auto">
            <a:xfrm>
              <a:off x="3894166" y="3070823"/>
              <a:ext cx="0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Line 625"/>
            <p:cNvSpPr>
              <a:spLocks noChangeShapeType="1"/>
            </p:cNvSpPr>
            <p:nvPr/>
          </p:nvSpPr>
          <p:spPr bwMode="auto">
            <a:xfrm>
              <a:off x="3173440" y="3070824"/>
              <a:ext cx="2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Line 626"/>
            <p:cNvSpPr>
              <a:spLocks noChangeShapeType="1"/>
            </p:cNvSpPr>
            <p:nvPr/>
          </p:nvSpPr>
          <p:spPr bwMode="auto">
            <a:xfrm flipH="1">
              <a:off x="5045104" y="3070823"/>
              <a:ext cx="0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Line 627"/>
            <p:cNvSpPr>
              <a:spLocks noChangeShapeType="1"/>
            </p:cNvSpPr>
            <p:nvPr/>
          </p:nvSpPr>
          <p:spPr bwMode="auto">
            <a:xfrm flipH="1">
              <a:off x="4324379" y="3070823"/>
              <a:ext cx="0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Line 628"/>
            <p:cNvSpPr>
              <a:spLocks noChangeShapeType="1"/>
            </p:cNvSpPr>
            <p:nvPr/>
          </p:nvSpPr>
          <p:spPr bwMode="auto">
            <a:xfrm flipH="1">
              <a:off x="7204104" y="3070823"/>
              <a:ext cx="1587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Line 629"/>
            <p:cNvSpPr>
              <a:spLocks noChangeShapeType="1"/>
            </p:cNvSpPr>
            <p:nvPr/>
          </p:nvSpPr>
          <p:spPr bwMode="auto">
            <a:xfrm flipH="1">
              <a:off x="6484966" y="3070823"/>
              <a:ext cx="0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5" name="Line 630"/>
            <p:cNvSpPr>
              <a:spLocks noChangeShapeType="1"/>
            </p:cNvSpPr>
            <p:nvPr/>
          </p:nvSpPr>
          <p:spPr bwMode="auto">
            <a:xfrm flipH="1">
              <a:off x="7635904" y="3070823"/>
              <a:ext cx="0" cy="122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Line 471"/>
            <p:cNvSpPr>
              <a:spLocks noChangeShapeType="1"/>
            </p:cNvSpPr>
            <p:nvPr/>
          </p:nvSpPr>
          <p:spPr bwMode="auto">
            <a:xfrm>
              <a:off x="2738466" y="5157192"/>
              <a:ext cx="56181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Text Box 474"/>
            <p:cNvSpPr txBox="1">
              <a:spLocks noChangeArrowheads="1"/>
            </p:cNvSpPr>
            <p:nvPr/>
          </p:nvSpPr>
          <p:spPr bwMode="auto">
            <a:xfrm>
              <a:off x="5261004" y="5301208"/>
              <a:ext cx="10795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……</a:t>
              </a:r>
            </a:p>
          </p:txBody>
        </p:sp>
        <p:sp>
          <p:nvSpPr>
            <p:cNvPr id="708" name="Text Box 473"/>
            <p:cNvSpPr txBox="1">
              <a:spLocks noChangeArrowheads="1"/>
            </p:cNvSpPr>
            <p:nvPr/>
          </p:nvSpPr>
          <p:spPr bwMode="auto">
            <a:xfrm>
              <a:off x="2195736" y="3056781"/>
              <a:ext cx="287338" cy="6608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……</a:t>
              </a:r>
            </a:p>
          </p:txBody>
        </p:sp>
        <p:sp>
          <p:nvSpPr>
            <p:cNvPr id="637" name="Line 545"/>
            <p:cNvSpPr>
              <a:spLocks noChangeShapeType="1"/>
            </p:cNvSpPr>
            <p:nvPr/>
          </p:nvSpPr>
          <p:spPr bwMode="auto">
            <a:xfrm>
              <a:off x="7258079" y="3889623"/>
              <a:ext cx="952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ED34-8D00-4D0E-97A1-96B8D3266192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306180" name="Text Box 4"/>
          <p:cNvSpPr txBox="1">
            <a:spLocks noChangeArrowheads="1"/>
          </p:cNvSpPr>
          <p:nvPr/>
        </p:nvSpPr>
        <p:spPr bwMode="auto">
          <a:xfrm>
            <a:off x="179704" y="332656"/>
            <a:ext cx="8784784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组成示例：</a:t>
            </a:r>
            <a:r>
              <a:rPr lang="en-US" altLang="zh-CN" sz="2200" b="1" u="none" dirty="0">
                <a:latin typeface="宋体" panose="02010600030101010101" pitchFamily="2" charset="-122"/>
              </a:rPr>
              <a:t>Intel 2114 SRAM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单层</a:t>
            </a:r>
            <a:r>
              <a:rPr lang="zh-CN" altLang="en-US" sz="1800" b="1" u="none" dirty="0">
                <a:latin typeface="宋体" panose="02010600030101010101" pitchFamily="2" charset="-122"/>
              </a:rPr>
              <a:t>电路板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  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目前为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位平面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参数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容量为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，双向数据引脚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引脚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306629" name="Text Box 453"/>
          <p:cNvSpPr txBox="1">
            <a:spLocks noChangeArrowheads="1"/>
          </p:cNvSpPr>
          <p:nvPr/>
        </p:nvSpPr>
        <p:spPr bwMode="auto">
          <a:xfrm>
            <a:off x="1619672" y="1196752"/>
            <a:ext cx="6912768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(4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(10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，控制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片选</a:t>
            </a:r>
            <a:r>
              <a:rPr lang="en-US" altLang="zh-CN" sz="1800" b="1" u="none" dirty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存储矩阵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(64×64)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(4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，读写电路</a:t>
            </a:r>
            <a:r>
              <a:rPr lang="en-US" altLang="zh-CN" sz="1800" b="1" u="none" dirty="0">
                <a:latin typeface="宋体" panose="02010600030101010101" pitchFamily="2" charset="-122"/>
              </a:rPr>
              <a:t>(4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地址译码</a:t>
            </a:r>
            <a:r>
              <a:rPr lang="en-US" altLang="zh-CN" sz="1800" b="1" u="none" dirty="0">
                <a:latin typeface="宋体" panose="02010600030101010101" pitchFamily="2" charset="-122"/>
              </a:rPr>
              <a:t>(log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＋</a:t>
            </a:r>
            <a:r>
              <a:rPr lang="en-US" altLang="zh-CN" sz="1800" b="1" u="none" dirty="0">
                <a:latin typeface="宋体" panose="02010600030101010101" pitchFamily="2" charset="-122"/>
              </a:rPr>
              <a:t>log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[64/4])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，控制电路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83" name="AutoShape 7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" name="AutoShape 17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9" name="组合 528"/>
          <p:cNvGrpSpPr/>
          <p:nvPr/>
        </p:nvGrpSpPr>
        <p:grpSpPr>
          <a:xfrm>
            <a:off x="971600" y="2592000"/>
            <a:ext cx="7592406" cy="3646140"/>
            <a:chOff x="1011266" y="2420888"/>
            <a:chExt cx="7592406" cy="3646140"/>
          </a:xfrm>
        </p:grpSpPr>
        <p:sp>
          <p:nvSpPr>
            <p:cNvPr id="530" name="Rectangle 458"/>
            <p:cNvSpPr>
              <a:spLocks noChangeArrowheads="1"/>
            </p:cNvSpPr>
            <p:nvPr/>
          </p:nvSpPr>
          <p:spPr bwMode="auto">
            <a:xfrm>
              <a:off x="1619672" y="2420888"/>
              <a:ext cx="6984000" cy="327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1" name="Line 461"/>
            <p:cNvSpPr>
              <a:spLocks noChangeShapeType="1"/>
            </p:cNvSpPr>
            <p:nvPr/>
          </p:nvSpPr>
          <p:spPr bwMode="auto">
            <a:xfrm flipV="1">
              <a:off x="1371629" y="2730078"/>
              <a:ext cx="360363" cy="15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462"/>
            <p:cNvSpPr>
              <a:spLocks noChangeShapeType="1"/>
            </p:cNvSpPr>
            <p:nvPr/>
          </p:nvSpPr>
          <p:spPr bwMode="auto">
            <a:xfrm flipV="1">
              <a:off x="1371629" y="3234903"/>
              <a:ext cx="360363" cy="15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Text Box 463"/>
            <p:cNvSpPr txBox="1">
              <a:spLocks noChangeArrowheads="1"/>
            </p:cNvSpPr>
            <p:nvPr/>
          </p:nvSpPr>
          <p:spPr bwMode="auto">
            <a:xfrm>
              <a:off x="1371629" y="2806280"/>
              <a:ext cx="287338" cy="3222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</a:t>
              </a:r>
            </a:p>
          </p:txBody>
        </p:sp>
        <p:sp>
          <p:nvSpPr>
            <p:cNvPr id="534" name="Text Box 464"/>
            <p:cNvSpPr txBox="1">
              <a:spLocks noChangeArrowheads="1"/>
            </p:cNvSpPr>
            <p:nvPr/>
          </p:nvSpPr>
          <p:spPr bwMode="auto">
            <a:xfrm>
              <a:off x="1011266" y="2515766"/>
              <a:ext cx="360363" cy="79375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3</a:t>
              </a:r>
            </a:p>
            <a:p>
              <a:pPr algn="ctr"/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8</a:t>
              </a:r>
            </a:p>
          </p:txBody>
        </p:sp>
        <p:sp>
          <p:nvSpPr>
            <p:cNvPr id="535" name="Line 468"/>
            <p:cNvSpPr>
              <a:spLocks noChangeShapeType="1"/>
            </p:cNvSpPr>
            <p:nvPr/>
          </p:nvSpPr>
          <p:spPr bwMode="auto">
            <a:xfrm flipV="1">
              <a:off x="5259416" y="5585693"/>
              <a:ext cx="1588" cy="2190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469"/>
            <p:cNvSpPr>
              <a:spLocks noChangeShapeType="1"/>
            </p:cNvSpPr>
            <p:nvPr/>
          </p:nvSpPr>
          <p:spPr bwMode="auto">
            <a:xfrm flipV="1">
              <a:off x="5980141" y="5585693"/>
              <a:ext cx="0" cy="2190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Text Box 472"/>
            <p:cNvSpPr txBox="1">
              <a:spLocks noChangeArrowheads="1"/>
            </p:cNvSpPr>
            <p:nvPr/>
          </p:nvSpPr>
          <p:spPr bwMode="auto">
            <a:xfrm>
              <a:off x="5187979" y="5803181"/>
              <a:ext cx="1368425" cy="21748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9</a:t>
              </a:r>
            </a:p>
          </p:txBody>
        </p:sp>
        <p:sp>
          <p:nvSpPr>
            <p:cNvPr id="538" name="Text Box 548"/>
            <p:cNvSpPr txBox="1">
              <a:spLocks noChangeArrowheads="1"/>
            </p:cNvSpPr>
            <p:nvPr/>
          </p:nvSpPr>
          <p:spPr bwMode="auto">
            <a:xfrm>
              <a:off x="1011266" y="4088821"/>
              <a:ext cx="360363" cy="7905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</a:p>
            <a:p>
              <a:pPr algn="ctr"/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539" name="Line 550"/>
            <p:cNvSpPr>
              <a:spLocks noChangeShapeType="1"/>
            </p:cNvSpPr>
            <p:nvPr/>
          </p:nvSpPr>
          <p:spPr bwMode="auto">
            <a:xfrm flipV="1">
              <a:off x="5619779" y="5588868"/>
              <a:ext cx="0" cy="2190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577"/>
            <p:cNvSpPr>
              <a:spLocks noChangeShapeType="1"/>
            </p:cNvSpPr>
            <p:nvPr/>
          </p:nvSpPr>
          <p:spPr bwMode="auto">
            <a:xfrm flipV="1">
              <a:off x="6340504" y="5587281"/>
              <a:ext cx="0" cy="2190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Text Box 549"/>
            <p:cNvSpPr txBox="1">
              <a:spLocks noChangeArrowheads="1"/>
            </p:cNvSpPr>
            <p:nvPr/>
          </p:nvSpPr>
          <p:spPr bwMode="auto">
            <a:xfrm>
              <a:off x="1371629" y="4374571"/>
              <a:ext cx="287338" cy="27856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</a:p>
          </p:txBody>
        </p:sp>
        <p:sp>
          <p:nvSpPr>
            <p:cNvPr id="544" name="Text Box 557"/>
            <p:cNvSpPr txBox="1">
              <a:spLocks noChangeArrowheads="1"/>
            </p:cNvSpPr>
            <p:nvPr/>
          </p:nvSpPr>
          <p:spPr bwMode="auto">
            <a:xfrm>
              <a:off x="1587529" y="5803503"/>
              <a:ext cx="287338" cy="2635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545" name="Line 558"/>
            <p:cNvSpPr>
              <a:spLocks noChangeShapeType="1"/>
            </p:cNvSpPr>
            <p:nvPr/>
          </p:nvSpPr>
          <p:spPr bwMode="auto">
            <a:xfrm>
              <a:off x="1623666" y="5833983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567"/>
            <p:cNvSpPr>
              <a:spLocks noChangeShapeType="1"/>
            </p:cNvSpPr>
            <p:nvPr/>
          </p:nvSpPr>
          <p:spPr bwMode="auto">
            <a:xfrm flipH="1" flipV="1">
              <a:off x="1731666" y="5443141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570"/>
            <p:cNvSpPr>
              <a:spLocks noChangeShapeType="1"/>
            </p:cNvSpPr>
            <p:nvPr/>
          </p:nvSpPr>
          <p:spPr bwMode="auto">
            <a:xfrm flipH="1" flipV="1">
              <a:off x="2594004" y="5371703"/>
              <a:ext cx="1588" cy="4318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Text Box 574"/>
            <p:cNvSpPr txBox="1">
              <a:spLocks noChangeArrowheads="1"/>
            </p:cNvSpPr>
            <p:nvPr/>
          </p:nvSpPr>
          <p:spPr bwMode="auto">
            <a:xfrm>
              <a:off x="2451129" y="5803503"/>
              <a:ext cx="287338" cy="2635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549" name="Line 575"/>
            <p:cNvSpPr>
              <a:spLocks noChangeShapeType="1"/>
            </p:cNvSpPr>
            <p:nvPr/>
          </p:nvSpPr>
          <p:spPr bwMode="auto">
            <a:xfrm>
              <a:off x="2469666" y="5833983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547"/>
            <p:cNvSpPr>
              <a:spLocks noChangeShapeType="1"/>
            </p:cNvSpPr>
            <p:nvPr/>
          </p:nvSpPr>
          <p:spPr bwMode="auto">
            <a:xfrm flipV="1">
              <a:off x="1371629" y="4724003"/>
              <a:ext cx="3603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Line 466"/>
            <p:cNvSpPr>
              <a:spLocks noChangeShapeType="1"/>
            </p:cNvSpPr>
            <p:nvPr/>
          </p:nvSpPr>
          <p:spPr bwMode="auto">
            <a:xfrm flipV="1">
              <a:off x="1371629" y="4304721"/>
              <a:ext cx="3603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3" name="Text Box 370"/>
          <p:cNvSpPr txBox="1">
            <a:spLocks noChangeArrowheads="1"/>
          </p:cNvSpPr>
          <p:nvPr/>
        </p:nvSpPr>
        <p:spPr bwMode="auto">
          <a:xfrm>
            <a:off x="179388" y="332656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芯片的读写时序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20" name="AutoShape 6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AutoShape 6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Text Box 371"/>
          <p:cNvSpPr txBox="1">
            <a:spLocks noChangeArrowheads="1"/>
          </p:cNvSpPr>
          <p:nvPr/>
        </p:nvSpPr>
        <p:spPr bwMode="auto">
          <a:xfrm>
            <a:off x="179706" y="799465"/>
            <a:ext cx="3312118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操作的标志：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开始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停止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*读周期的时序：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26" name="Text Box 713"/>
          <p:cNvSpPr txBox="1">
            <a:spLocks noChangeArrowheads="1"/>
          </p:cNvSpPr>
          <p:nvPr/>
        </p:nvSpPr>
        <p:spPr bwMode="auto">
          <a:xfrm>
            <a:off x="4499864" y="2132856"/>
            <a:ext cx="3312368" cy="15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读滞后时间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＝译码时延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CO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开始操作→数据输出稳定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OTD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停止操作→数据引脚高阻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baseline="-25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读时间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AW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CO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RC</a:t>
            </a:r>
            <a:r>
              <a:rPr lang="en-US" altLang="zh-CN" sz="18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读周期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AW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CO</a:t>
            </a:r>
            <a:r>
              <a:rPr lang="en-US" altLang="zh-CN" sz="1800" b="1" u="none" dirty="0" err="1">
                <a:solidFill>
                  <a:srgbClr val="990099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>
                <a:solidFill>
                  <a:srgbClr val="990099"/>
                </a:solidFill>
                <a:latin typeface="宋体" panose="02010600030101010101" pitchFamily="2" charset="-122"/>
              </a:rPr>
              <a:t>OTD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</a:t>
            </a:r>
          </a:p>
        </p:txBody>
      </p:sp>
      <p:sp>
        <p:nvSpPr>
          <p:cNvPr id="189" name="Text Box 371"/>
          <p:cNvSpPr txBox="1">
            <a:spLocks noChangeArrowheads="1"/>
          </p:cNvSpPr>
          <p:nvPr/>
        </p:nvSpPr>
        <p:spPr bwMode="auto">
          <a:xfrm>
            <a:off x="179705" y="3789040"/>
            <a:ext cx="8674735" cy="24299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操作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信号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的时序要求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①</a:t>
            </a:r>
            <a:r>
              <a:rPr lang="zh-CN" altLang="en-US" sz="2200" b="1" dirty="0">
                <a:latin typeface="宋体" panose="02010600030101010101" pitchFamily="2" charset="-122"/>
              </a:rPr>
              <a:t>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dirty="0">
                <a:latin typeface="宋体" panose="02010600030101010101" pitchFamily="2" charset="-122"/>
              </a:rPr>
              <a:t>CS#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←对</a:t>
            </a:r>
            <a:r>
              <a:rPr lang="zh-CN" altLang="en-US" sz="1800" b="1" dirty="0">
                <a:latin typeface="宋体" panose="02010600030101010101" pitchFamily="2" charset="-122"/>
              </a:rPr>
              <a:t>指定单元</a:t>
            </a:r>
            <a:r>
              <a:rPr lang="zh-CN" altLang="en-US" sz="1600" b="1" u="none" dirty="0">
                <a:latin typeface="宋体" panose="02010600030101010101" pitchFamily="2" charset="-122"/>
              </a:rPr>
              <a:t>操作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②</a:t>
            </a:r>
            <a:r>
              <a:rPr lang="en-US" altLang="zh-CN" sz="2200" b="1" dirty="0">
                <a:latin typeface="宋体" panose="02010600030101010101" pitchFamily="2" charset="-122"/>
              </a:rPr>
              <a:t>WE#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有效期间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无效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时长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CO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←防止</a:t>
            </a:r>
            <a:r>
              <a:rPr lang="zh-CN" altLang="en-US" sz="1800" b="1" dirty="0">
                <a:latin typeface="宋体" panose="02010600030101010101" pitchFamily="2" charset="-122"/>
              </a:rPr>
              <a:t>误写入</a:t>
            </a:r>
          </a:p>
          <a:p>
            <a:pPr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19" name="Text Box 371"/>
          <p:cNvSpPr txBox="1">
            <a:spLocks noChangeArrowheads="1"/>
          </p:cNvSpPr>
          <p:nvPr/>
        </p:nvSpPr>
        <p:spPr bwMode="auto">
          <a:xfrm>
            <a:off x="3059832" y="799200"/>
            <a:ext cx="4464493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从无效→有效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从有效→无效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基于组成来理解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sz="1800" b="1" u="none" dirty="0">
                <a:latin typeface="宋体" panose="02010600030101010101" pitchFamily="2" charset="-122"/>
              </a:rPr>
              <a:t>单元→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1800" b="1" u="none" dirty="0">
                <a:latin typeface="宋体" panose="02010600030101010101" pitchFamily="2" charset="-122"/>
              </a:rPr>
              <a:t>操作</a:t>
            </a:r>
            <a:r>
              <a:rPr lang="en-US" altLang="zh-CN" sz="1800" b="1" u="none" dirty="0">
                <a:latin typeface="宋体" panose="02010600030101010101" pitchFamily="2" charset="-122"/>
              </a:rPr>
              <a:t>])</a:t>
            </a:r>
            <a:endParaRPr lang="en-US" altLang="zh-CN" sz="2200" u="none" dirty="0">
              <a:latin typeface="宋体" panose="02010600030101010101" pitchFamily="2" charset="-122"/>
            </a:endParaRPr>
          </a:p>
        </p:txBody>
      </p:sp>
      <p:sp>
        <p:nvSpPr>
          <p:cNvPr id="75" name="AutoShape 338"/>
          <p:cNvSpPr/>
          <p:nvPr/>
        </p:nvSpPr>
        <p:spPr bwMode="auto">
          <a:xfrm>
            <a:off x="4211832" y="3789040"/>
            <a:ext cx="1944000" cy="252000"/>
          </a:xfrm>
          <a:prstGeom prst="borderCallout2">
            <a:avLst>
              <a:gd name="adj1" fmla="val 50044"/>
              <a:gd name="adj2" fmla="val -249"/>
              <a:gd name="adj3" fmla="val 49964"/>
              <a:gd name="adj4" fmla="val -13474"/>
              <a:gd name="adj5" fmla="val -161857"/>
              <a:gd name="adj6" fmla="val -3371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操作者</a:t>
            </a:r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接收数据</a:t>
            </a:r>
            <a:r>
              <a:rPr lang="zh-CN" altLang="en-US" sz="1600" b="1" u="none" dirty="0">
                <a:latin typeface="宋体" panose="02010600030101010101" pitchFamily="2" charset="-122"/>
              </a:rPr>
              <a:t>时间</a:t>
            </a:r>
          </a:p>
        </p:txBody>
      </p:sp>
      <p:sp>
        <p:nvSpPr>
          <p:cNvPr id="78" name="Text Box 726"/>
          <p:cNvSpPr txBox="1">
            <a:spLocks noChangeArrowheads="1"/>
          </p:cNvSpPr>
          <p:nvPr/>
        </p:nvSpPr>
        <p:spPr bwMode="auto">
          <a:xfrm>
            <a:off x="1692000" y="4726848"/>
            <a:ext cx="565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90000"/>
              </a:lnSpc>
              <a:spcBef>
                <a:spcPts val="0"/>
              </a:spcBef>
            </a:pPr>
            <a:r>
              <a:rPr lang="zh-CN" altLang="en-US" sz="1800" dirty="0"/>
              <a:t>思考①：</a:t>
            </a:r>
            <a:r>
              <a:rPr lang="en-US" altLang="zh-CN" sz="1800" dirty="0">
                <a:solidFill>
                  <a:schemeClr val="tx1"/>
                </a:solidFill>
              </a:rPr>
              <a:t>CS#</a:t>
            </a:r>
            <a:r>
              <a:rPr lang="zh-CN" altLang="en-US" sz="1800" dirty="0">
                <a:solidFill>
                  <a:schemeClr val="tx1"/>
                </a:solidFill>
              </a:rPr>
              <a:t>有效后，地址还在抖动，</a:t>
            </a:r>
            <a:r>
              <a:rPr lang="en-US" altLang="zh-CN" sz="1800" dirty="0" err="1">
                <a:solidFill>
                  <a:schemeClr val="tx1"/>
                </a:solidFill>
              </a:rPr>
              <a:t>t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CO</a:t>
            </a:r>
            <a:r>
              <a:rPr lang="zh-CN" altLang="en-US" sz="1800" dirty="0">
                <a:solidFill>
                  <a:schemeClr val="tx1"/>
                </a:solidFill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</a:rPr>
              <a:t>D</a:t>
            </a:r>
            <a:r>
              <a:rPr lang="zh-CN" altLang="en-US" sz="1800" dirty="0">
                <a:solidFill>
                  <a:schemeClr val="tx1"/>
                </a:solidFill>
              </a:rPr>
              <a:t>的输出是？</a:t>
            </a:r>
          </a:p>
        </p:txBody>
      </p:sp>
      <p:sp>
        <p:nvSpPr>
          <p:cNvPr id="82" name="AutoShape 331"/>
          <p:cNvSpPr/>
          <p:nvPr/>
        </p:nvSpPr>
        <p:spPr bwMode="auto">
          <a:xfrm>
            <a:off x="395616" y="3284984"/>
            <a:ext cx="720000" cy="252000"/>
          </a:xfrm>
          <a:prstGeom prst="borderCallout2">
            <a:avLst>
              <a:gd name="adj1" fmla="val 48529"/>
              <a:gd name="adj2" fmla="val 100506"/>
              <a:gd name="adj3" fmla="val 50448"/>
              <a:gd name="adj4" fmla="val 168274"/>
              <a:gd name="adj5" fmla="val -42425"/>
              <a:gd name="adj6" fmla="val 24317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任意值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575480" y="1111973"/>
            <a:ext cx="2880000" cy="288000"/>
            <a:chOff x="6498333" y="1334163"/>
            <a:chExt cx="2880000" cy="288000"/>
          </a:xfrm>
        </p:grpSpPr>
        <p:sp>
          <p:nvSpPr>
            <p:cNvPr id="84" name="Text Box 726"/>
            <p:cNvSpPr txBox="1">
              <a:spLocks noChangeArrowheads="1"/>
            </p:cNvSpPr>
            <p:nvPr/>
          </p:nvSpPr>
          <p:spPr bwMode="auto">
            <a:xfrm>
              <a:off x="6498333" y="1334163"/>
              <a:ext cx="2880000" cy="2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square" lIns="36195" tIns="17780" rIns="36195" bIns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2000" b="1" u="none">
                  <a:solidFill>
                    <a:srgbClr val="990099"/>
                  </a:solidFill>
                  <a:latin typeface="宋体" panose="02010600030101010101" pitchFamily="2" charset="-122"/>
                </a:defRPr>
              </a:lvl1pPr>
            </a:lstStyle>
            <a:p>
              <a:pPr marL="1078230" indent="-1078230"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FF3399"/>
                  </a:solidFill>
                </a:rPr>
                <a:t>约定：</a:t>
              </a:r>
              <a:r>
                <a:rPr lang="en-US" altLang="zh-CN" sz="1800" dirty="0">
                  <a:solidFill>
                    <a:schemeClr val="tx1"/>
                  </a:solidFill>
                </a:rPr>
                <a:t>CS#</a:t>
              </a:r>
              <a:r>
                <a:rPr lang="zh-CN" altLang="en-US" sz="1800" dirty="0">
                  <a:solidFill>
                    <a:schemeClr val="tx1"/>
                  </a:solidFill>
                </a:rPr>
                <a:t>表示</a:t>
              </a:r>
              <a:r>
                <a:rPr lang="en-US" altLang="zh-CN" sz="1800" dirty="0">
                  <a:solidFill>
                    <a:schemeClr val="tx1"/>
                  </a:solidFill>
                </a:rPr>
                <a:t>CS</a:t>
              </a:r>
              <a:r>
                <a:rPr lang="en-US" altLang="zh-CN" sz="1600" dirty="0">
                  <a:solidFill>
                    <a:schemeClr val="tx1"/>
                  </a:solidFill>
                </a:rPr>
                <a:t>(</a:t>
              </a:r>
              <a:r>
                <a:rPr lang="zh-CN" altLang="en-US" sz="1600" dirty="0">
                  <a:solidFill>
                    <a:schemeClr val="tx1"/>
                  </a:solidFill>
                </a:rPr>
                <a:t>便于书写</a:t>
              </a:r>
              <a:r>
                <a:rPr lang="en-US" altLang="zh-CN" sz="16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86" name="Line 690"/>
            <p:cNvSpPr>
              <a:spLocks noChangeShapeType="1"/>
            </p:cNvSpPr>
            <p:nvPr/>
          </p:nvSpPr>
          <p:spPr bwMode="auto">
            <a:xfrm>
              <a:off x="8046310" y="1392674"/>
              <a:ext cx="2165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88" name="Text Box 726"/>
          <p:cNvSpPr txBox="1">
            <a:spLocks noChangeArrowheads="1"/>
          </p:cNvSpPr>
          <p:nvPr/>
        </p:nvSpPr>
        <p:spPr bwMode="auto">
          <a:xfrm>
            <a:off x="1692000" y="5517232"/>
            <a:ext cx="35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90000"/>
              </a:lnSpc>
              <a:spcBef>
                <a:spcPts val="0"/>
              </a:spcBef>
            </a:pPr>
            <a:r>
              <a:rPr lang="zh-CN" altLang="en-US" sz="1800" dirty="0"/>
              <a:t>思考②：</a:t>
            </a:r>
            <a:r>
              <a:rPr lang="en-US" altLang="zh-CN" sz="1800" dirty="0">
                <a:solidFill>
                  <a:schemeClr val="tx1"/>
                </a:solidFill>
              </a:rPr>
              <a:t>CS#</a:t>
            </a:r>
            <a:r>
              <a:rPr lang="zh-CN" altLang="en-US" sz="1800" dirty="0">
                <a:solidFill>
                  <a:schemeClr val="tx1"/>
                </a:solidFill>
              </a:rPr>
              <a:t>有效前，</a:t>
            </a:r>
            <a:r>
              <a:rPr lang="en-US" altLang="zh-CN" sz="1800" dirty="0">
                <a:solidFill>
                  <a:schemeClr val="tx1"/>
                </a:solidFill>
              </a:rPr>
              <a:t>WE#</a:t>
            </a:r>
            <a:r>
              <a:rPr lang="zh-CN" altLang="en-US" sz="1800" dirty="0">
                <a:solidFill>
                  <a:schemeClr val="tx1"/>
                </a:solidFill>
              </a:rPr>
              <a:t>的值是？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89" name="Text Box 703"/>
          <p:cNvSpPr txBox="1">
            <a:spLocks noChangeArrowheads="1"/>
          </p:cNvSpPr>
          <p:nvPr/>
        </p:nvSpPr>
        <p:spPr bwMode="auto">
          <a:xfrm>
            <a:off x="5292080" y="5517232"/>
            <a:ext cx="2555776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+mn-ea"/>
                <a:ea typeface="+mn-ea"/>
              </a:rPr>
              <a:t>无要求</a:t>
            </a:r>
            <a:r>
              <a:rPr lang="en-US" altLang="zh-CN" sz="1600" b="1" u="none" dirty="0">
                <a:latin typeface="+mn-ea"/>
                <a:ea typeface="+mn-ea"/>
              </a:rPr>
              <a:t>(CS#</a:t>
            </a:r>
            <a:r>
              <a:rPr lang="zh-CN" altLang="en-US" sz="1600" b="1" u="none" dirty="0">
                <a:latin typeface="+mn-ea"/>
                <a:ea typeface="+mn-ea"/>
              </a:rPr>
              <a:t>无效时无动作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  <p:sp>
        <p:nvSpPr>
          <p:cNvPr id="76" name="Text Box 703"/>
          <p:cNvSpPr txBox="1">
            <a:spLocks noChangeArrowheads="1"/>
          </p:cNvSpPr>
          <p:nvPr/>
        </p:nvSpPr>
        <p:spPr bwMode="auto">
          <a:xfrm>
            <a:off x="7380312" y="4726848"/>
            <a:ext cx="158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+mn-ea"/>
                <a:ea typeface="+mn-ea"/>
              </a:rPr>
              <a:t>值未知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未完成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  <p:sp>
        <p:nvSpPr>
          <p:cNvPr id="90" name="Text Box 703">
            <a:extLst>
              <a:ext uri="{FF2B5EF4-FFF2-40B4-BE49-F238E27FC236}">
                <a16:creationId xmlns:a16="http://schemas.microsoft.com/office/drawing/2014/main" id="{3677B3A4-ED11-450C-A49E-620DDAEEB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5949280"/>
            <a:ext cx="2052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+mn-ea"/>
                <a:ea typeface="+mn-ea"/>
              </a:rPr>
              <a:t>操作完成</a:t>
            </a:r>
            <a:r>
              <a:rPr lang="en-US" altLang="zh-CN" sz="1600" b="1" u="none" dirty="0">
                <a:latin typeface="+mn-ea"/>
                <a:ea typeface="+mn-ea"/>
              </a:rPr>
              <a:t>+</a:t>
            </a:r>
            <a:r>
              <a:rPr lang="zh-CN" altLang="en-US" sz="1600" b="1" u="none" dirty="0">
                <a:latin typeface="+mn-ea"/>
                <a:ea typeface="+mn-ea"/>
              </a:rPr>
              <a:t>传送完成后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  <p:sp>
        <p:nvSpPr>
          <p:cNvPr id="94" name="Text Box 726">
            <a:extLst>
              <a:ext uri="{FF2B5EF4-FFF2-40B4-BE49-F238E27FC236}">
                <a16:creationId xmlns:a16="http://schemas.microsoft.com/office/drawing/2014/main" id="{E1413B2E-78EA-4E66-9071-6F6309947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5949280"/>
            <a:ext cx="24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90000"/>
              </a:lnSpc>
              <a:spcBef>
                <a:spcPts val="0"/>
              </a:spcBef>
            </a:pPr>
            <a:r>
              <a:rPr lang="zh-CN" altLang="en-US" sz="1800" dirty="0"/>
              <a:t>思考③：</a:t>
            </a:r>
            <a:r>
              <a:rPr lang="en-US" altLang="zh-CN" sz="1800" dirty="0">
                <a:solidFill>
                  <a:schemeClr val="tx1"/>
                </a:solidFill>
              </a:rPr>
              <a:t>CS#</a:t>
            </a:r>
            <a:r>
              <a:rPr lang="zh-CN" altLang="en-US" sz="1800" dirty="0">
                <a:solidFill>
                  <a:schemeClr val="tx1"/>
                </a:solidFill>
              </a:rPr>
              <a:t>何时无效？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4349E042-E495-480B-A1D7-69B21587D453}"/>
              </a:ext>
            </a:extLst>
          </p:cNvPr>
          <p:cNvGrpSpPr/>
          <p:nvPr/>
        </p:nvGrpSpPr>
        <p:grpSpPr>
          <a:xfrm>
            <a:off x="1187496" y="2132856"/>
            <a:ext cx="3204288" cy="1584024"/>
            <a:chOff x="1835752" y="1692000"/>
            <a:chExt cx="3204288" cy="1584024"/>
          </a:xfrm>
        </p:grpSpPr>
        <p:sp>
          <p:nvSpPr>
            <p:cNvPr id="172" name="Line 660">
              <a:extLst>
                <a:ext uri="{FF2B5EF4-FFF2-40B4-BE49-F238E27FC236}">
                  <a16:creationId xmlns:a16="http://schemas.microsoft.com/office/drawing/2014/main" id="{AA9A0BD9-B1C7-46AF-B27B-096449AA2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1" y="2338080"/>
              <a:ext cx="432000" cy="13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661">
              <a:extLst>
                <a:ext uri="{FF2B5EF4-FFF2-40B4-BE49-F238E27FC236}">
                  <a16:creationId xmlns:a16="http://schemas.microsoft.com/office/drawing/2014/main" id="{1A2E4888-1C8E-4594-94E8-D66FDCCD1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9752" y="3166160"/>
              <a:ext cx="17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662">
              <a:extLst>
                <a:ext uri="{FF2B5EF4-FFF2-40B4-BE49-F238E27FC236}">
                  <a16:creationId xmlns:a16="http://schemas.microsoft.com/office/drawing/2014/main" id="{843350BC-8EAE-43B6-A2E5-006A4E17B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4675" y="2554104"/>
              <a:ext cx="12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663">
              <a:extLst>
                <a:ext uri="{FF2B5EF4-FFF2-40B4-BE49-F238E27FC236}">
                  <a16:creationId xmlns:a16="http://schemas.microsoft.com/office/drawing/2014/main" id="{BBEF6809-2EBC-4DC9-9D13-5C69FE5EA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3101" y="233808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664">
              <a:extLst>
                <a:ext uri="{FF2B5EF4-FFF2-40B4-BE49-F238E27FC236}">
                  <a16:creationId xmlns:a16="http://schemas.microsoft.com/office/drawing/2014/main" id="{2C7755F2-9DE6-4F95-955D-74E25468B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981" y="2338080"/>
              <a:ext cx="576000" cy="105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77" name="Line 677">
              <a:extLst>
                <a:ext uri="{FF2B5EF4-FFF2-40B4-BE49-F238E27FC236}">
                  <a16:creationId xmlns:a16="http://schemas.microsoft.com/office/drawing/2014/main" id="{224E06AA-C6E4-44A1-A162-2FCCA780C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8024" y="3164896"/>
              <a:ext cx="14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79" name="Line 678">
              <a:extLst>
                <a:ext uri="{FF2B5EF4-FFF2-40B4-BE49-F238E27FC236}">
                  <a16:creationId xmlns:a16="http://schemas.microsoft.com/office/drawing/2014/main" id="{B8CEAC3F-CF54-4E7C-B0EE-A99B1612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992" y="1692000"/>
              <a:ext cx="0" cy="10245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Text Box 681">
              <a:extLst>
                <a:ext uri="{FF2B5EF4-FFF2-40B4-BE49-F238E27FC236}">
                  <a16:creationId xmlns:a16="http://schemas.microsoft.com/office/drawing/2014/main" id="{7D464854-6FBE-4B67-929D-4574CDB36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848" y="1834048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>
                  <a:latin typeface="宋体" panose="02010600030101010101" pitchFamily="2" charset="-122"/>
                </a:rPr>
                <a:t>A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4" name="Line 682">
              <a:extLst>
                <a:ext uri="{FF2B5EF4-FFF2-40B4-BE49-F238E27FC236}">
                  <a16:creationId xmlns:a16="http://schemas.microsoft.com/office/drawing/2014/main" id="{EB7224D6-33CE-4948-87C7-26E88CE1A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1880" y="1943405"/>
              <a:ext cx="6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683">
              <a:extLst>
                <a:ext uri="{FF2B5EF4-FFF2-40B4-BE49-F238E27FC236}">
                  <a16:creationId xmlns:a16="http://schemas.microsoft.com/office/drawing/2014/main" id="{7A3E17F7-F7A1-4A17-9C7A-ED57E8DC4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55776" y="1943405"/>
              <a:ext cx="6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Text Box 684">
              <a:extLst>
                <a:ext uri="{FF2B5EF4-FFF2-40B4-BE49-F238E27FC236}">
                  <a16:creationId xmlns:a16="http://schemas.microsoft.com/office/drawing/2014/main" id="{D0830699-F7F9-473A-ADB2-7F9919DB5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864" y="169200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7" name="Line 685">
              <a:extLst>
                <a:ext uri="{FF2B5EF4-FFF2-40B4-BE49-F238E27FC236}">
                  <a16:creationId xmlns:a16="http://schemas.microsoft.com/office/drawing/2014/main" id="{D57BD0F7-B910-476A-B526-BAB08F4D3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904" y="1762016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686">
              <a:extLst>
                <a:ext uri="{FF2B5EF4-FFF2-40B4-BE49-F238E27FC236}">
                  <a16:creationId xmlns:a16="http://schemas.microsoft.com/office/drawing/2014/main" id="{0F4093BE-2F11-4E5E-BD5A-D86B8054E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8248" y="1762016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Text Box 689">
              <a:extLst>
                <a:ext uri="{FF2B5EF4-FFF2-40B4-BE49-F238E27FC236}">
                  <a16:creationId xmlns:a16="http://schemas.microsoft.com/office/drawing/2014/main" id="{258DAD2B-4E8F-4525-ADAC-F7832422B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414" y="2338104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8" name="Line 690">
              <a:extLst>
                <a:ext uri="{FF2B5EF4-FFF2-40B4-BE49-F238E27FC236}">
                  <a16:creationId xmlns:a16="http://schemas.microsoft.com/office/drawing/2014/main" id="{E4DBB8C8-6C84-4521-AE01-F510EBFD4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492" y="2338080"/>
              <a:ext cx="2165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Text Box 691">
              <a:extLst>
                <a:ext uri="{FF2B5EF4-FFF2-40B4-BE49-F238E27FC236}">
                  <a16:creationId xmlns:a16="http://schemas.microsoft.com/office/drawing/2014/main" id="{9678DA44-2BAC-4944-A687-08AACEDAA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752" y="305816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0" name="Line 692">
              <a:extLst>
                <a:ext uri="{FF2B5EF4-FFF2-40B4-BE49-F238E27FC236}">
                  <a16:creationId xmlns:a16="http://schemas.microsoft.com/office/drawing/2014/main" id="{5B56351F-313E-435C-92FA-10101DC0D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6000" y="2626112"/>
              <a:ext cx="12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Text Box 694">
              <a:extLst>
                <a:ext uri="{FF2B5EF4-FFF2-40B4-BE49-F238E27FC236}">
                  <a16:creationId xmlns:a16="http://schemas.microsoft.com/office/drawing/2014/main" id="{A07C49EE-1C42-4FED-88E9-02E954A1A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414" y="2626112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12" name="Line 695">
              <a:extLst>
                <a:ext uri="{FF2B5EF4-FFF2-40B4-BE49-F238E27FC236}">
                  <a16:creationId xmlns:a16="http://schemas.microsoft.com/office/drawing/2014/main" id="{4FBEF648-245F-4494-A61A-D1ECBD84F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1720" y="2626112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Text Box 703">
              <a:extLst>
                <a:ext uri="{FF2B5EF4-FFF2-40B4-BE49-F238E27FC236}">
                  <a16:creationId xmlns:a16="http://schemas.microsoft.com/office/drawing/2014/main" id="{084F9E61-E269-470F-A5C3-D22CEF4C5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968" y="2842136"/>
              <a:ext cx="4270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OTD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14" name="Line 706">
              <a:extLst>
                <a:ext uri="{FF2B5EF4-FFF2-40B4-BE49-F238E27FC236}">
                  <a16:creationId xmlns:a16="http://schemas.microsoft.com/office/drawing/2014/main" id="{E97CE012-D0F6-47FB-BD24-BB7BE476B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4882" y="1692000"/>
              <a:ext cx="0" cy="15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Text Box 707">
              <a:extLst>
                <a:ext uri="{FF2B5EF4-FFF2-40B4-BE49-F238E27FC236}">
                  <a16:creationId xmlns:a16="http://schemas.microsoft.com/office/drawing/2014/main" id="{08B9149C-E75E-4B7D-99D3-C6F7B5F68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896" y="233808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CO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16" name="Line 708">
              <a:extLst>
                <a:ext uri="{FF2B5EF4-FFF2-40B4-BE49-F238E27FC236}">
                  <a16:creationId xmlns:a16="http://schemas.microsoft.com/office/drawing/2014/main" id="{9CF2ACEF-E0B4-40B7-8A90-5A40237FC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952" y="2410064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709">
              <a:extLst>
                <a:ext uri="{FF2B5EF4-FFF2-40B4-BE49-F238E27FC236}">
                  <a16:creationId xmlns:a16="http://schemas.microsoft.com/office/drawing/2014/main" id="{4D92D1A3-5D65-4CE4-966C-670C9E96A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43808" y="2410064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714">
              <a:extLst>
                <a:ext uri="{FF2B5EF4-FFF2-40B4-BE49-F238E27FC236}">
                  <a16:creationId xmlns:a16="http://schemas.microsoft.com/office/drawing/2014/main" id="{CDB175BB-F575-4396-BC17-782C6323C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941" y="233808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660">
              <a:extLst>
                <a:ext uri="{FF2B5EF4-FFF2-40B4-BE49-F238E27FC236}">
                  <a16:creationId xmlns:a16="http://schemas.microsoft.com/office/drawing/2014/main" id="{BBCC00D7-FA91-41A4-AB73-A7F4BC572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893" y="2842136"/>
              <a:ext cx="43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660">
              <a:extLst>
                <a:ext uri="{FF2B5EF4-FFF2-40B4-BE49-F238E27FC236}">
                  <a16:creationId xmlns:a16="http://schemas.microsoft.com/office/drawing/2014/main" id="{02E548B5-09AA-43FE-B3D1-DB06B779A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975" y="2842136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714">
              <a:extLst>
                <a:ext uri="{FF2B5EF4-FFF2-40B4-BE49-F238E27FC236}">
                  <a16:creationId xmlns:a16="http://schemas.microsoft.com/office/drawing/2014/main" id="{C2AA9CA9-6DAF-43F6-BBE0-C04B87E24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960" y="262611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680">
              <a:extLst>
                <a:ext uri="{FF2B5EF4-FFF2-40B4-BE49-F238E27FC236}">
                  <a16:creationId xmlns:a16="http://schemas.microsoft.com/office/drawing/2014/main" id="{7D2A07E6-F726-45DD-86A4-FEF94640F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952" y="1906032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663">
              <a:extLst>
                <a:ext uri="{FF2B5EF4-FFF2-40B4-BE49-F238E27FC236}">
                  <a16:creationId xmlns:a16="http://schemas.microsoft.com/office/drawing/2014/main" id="{D1B77926-5D7C-4B5C-8E38-107E2B072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1800" y="262611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678">
              <a:extLst>
                <a:ext uri="{FF2B5EF4-FFF2-40B4-BE49-F238E27FC236}">
                  <a16:creationId xmlns:a16="http://schemas.microsoft.com/office/drawing/2014/main" id="{4FE455D4-70BF-4528-990D-83A00BD29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808" y="2338232"/>
              <a:ext cx="0" cy="93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678">
              <a:extLst>
                <a:ext uri="{FF2B5EF4-FFF2-40B4-BE49-F238E27FC236}">
                  <a16:creationId xmlns:a16="http://schemas.microsoft.com/office/drawing/2014/main" id="{D9C4BBDF-B049-45A5-996B-0509C2045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6016" y="2878160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680">
              <a:extLst>
                <a:ext uri="{FF2B5EF4-FFF2-40B4-BE49-F238E27FC236}">
                  <a16:creationId xmlns:a16="http://schemas.microsoft.com/office/drawing/2014/main" id="{E09AC595-8E4F-4310-9BB2-1DD1137F1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3968" y="233808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Text Box 365">
              <a:extLst>
                <a:ext uri="{FF2B5EF4-FFF2-40B4-BE49-F238E27FC236}">
                  <a16:creationId xmlns:a16="http://schemas.microsoft.com/office/drawing/2014/main" id="{FA2E512C-B166-4CBA-A7D2-BD6379364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08" y="241011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28" name="Line 663">
              <a:extLst>
                <a:ext uri="{FF2B5EF4-FFF2-40B4-BE49-F238E27FC236}">
                  <a16:creationId xmlns:a16="http://schemas.microsoft.com/office/drawing/2014/main" id="{4ED962BE-B1BC-4E94-AD30-99C7F8EF6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7784" y="2626112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AutoShape 215">
              <a:extLst>
                <a:ext uri="{FF2B5EF4-FFF2-40B4-BE49-F238E27FC236}">
                  <a16:creationId xmlns:a16="http://schemas.microsoft.com/office/drawing/2014/main" id="{6D9D2A90-D4A2-4F89-9D07-0761209AA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000" y="3060000"/>
              <a:ext cx="72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230" name="AutoShape 215">
              <a:extLst>
                <a:ext uri="{FF2B5EF4-FFF2-40B4-BE49-F238E27FC236}">
                  <a16:creationId xmlns:a16="http://schemas.microsoft.com/office/drawing/2014/main" id="{441FEECB-E45B-4A98-9AF1-2E45AC94F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64" y="2052000"/>
              <a:ext cx="194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31" name="AutoShape 215">
              <a:extLst>
                <a:ext uri="{FF2B5EF4-FFF2-40B4-BE49-F238E27FC236}">
                  <a16:creationId xmlns:a16="http://schemas.microsoft.com/office/drawing/2014/main" id="{276533E9-567D-4DDB-83B7-E7EE47FE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374" y="2052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32" name="Text Box 691">
              <a:extLst>
                <a:ext uri="{FF2B5EF4-FFF2-40B4-BE49-F238E27FC236}">
                  <a16:creationId xmlns:a16="http://schemas.microsoft.com/office/drawing/2014/main" id="{B7B3C410-814D-498D-861F-325950FFF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000" y="2052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33" name="AutoShape 215">
              <a:extLst>
                <a:ext uri="{FF2B5EF4-FFF2-40B4-BE49-F238E27FC236}">
                  <a16:creationId xmlns:a16="http://schemas.microsoft.com/office/drawing/2014/main" id="{FCC04B06-DC13-44ED-BCBB-84E3CF25C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000" y="2052000"/>
              <a:ext cx="50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34" name="Text Box 691">
              <a:extLst>
                <a:ext uri="{FF2B5EF4-FFF2-40B4-BE49-F238E27FC236}">
                  <a16:creationId xmlns:a16="http://schemas.microsoft.com/office/drawing/2014/main" id="{C6D4FBD9-B6FD-46AF-ADC7-D435DB348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40" y="2050072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35" name="Text Box 691">
              <a:extLst>
                <a:ext uri="{FF2B5EF4-FFF2-40B4-BE49-F238E27FC236}">
                  <a16:creationId xmlns:a16="http://schemas.microsoft.com/office/drawing/2014/main" id="{22DE43D7-8053-4BB0-BA46-1556FBB15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752" y="20500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36" name="Line 692">
              <a:extLst>
                <a:ext uri="{FF2B5EF4-FFF2-40B4-BE49-F238E27FC236}">
                  <a16:creationId xmlns:a16="http://schemas.microsoft.com/office/drawing/2014/main" id="{72DF086C-CE82-442B-B852-734085108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2000" y="2628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bldLvl="0"/>
      <p:bldP spid="75" grpId="0" bldLvl="0" animBg="1"/>
      <p:bldP spid="78" grpId="0" bldLvl="0" animBg="1"/>
      <p:bldP spid="82" grpId="0" bldLvl="0" animBg="1"/>
      <p:bldP spid="88" grpId="0" bldLvl="0" animBg="1"/>
      <p:bldP spid="89" grpId="0" bldLvl="0" animBg="1"/>
      <p:bldP spid="76" grpId="0" bldLvl="0" animBg="1"/>
      <p:bldP spid="90" grpId="0" bldLvl="0" animBg="1"/>
      <p:bldP spid="9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3" name="Text Box 232"/>
          <p:cNvSpPr txBox="1">
            <a:spLocks noChangeArrowheads="1"/>
          </p:cNvSpPr>
          <p:nvPr/>
        </p:nvSpPr>
        <p:spPr bwMode="auto">
          <a:xfrm>
            <a:off x="179388" y="332656"/>
            <a:ext cx="2662649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写周期的时序：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165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" name="Text Box 232"/>
          <p:cNvSpPr txBox="1">
            <a:spLocks noChangeArrowheads="1"/>
          </p:cNvSpPr>
          <p:nvPr/>
        </p:nvSpPr>
        <p:spPr bwMode="auto">
          <a:xfrm>
            <a:off x="179514" y="5229200"/>
            <a:ext cx="864095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的性能：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A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+t</a:t>
            </a:r>
            <a:r>
              <a:rPr lang="en-US" altLang="zh-CN" sz="2200" b="1" u="none" baseline="-18000" dirty="0" err="1">
                <a:latin typeface="宋体" panose="02010600030101010101" pitchFamily="2" charset="-122"/>
              </a:rPr>
              <a:t>CO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或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+t</a:t>
            </a:r>
            <a:r>
              <a:rPr lang="en-US" altLang="zh-CN" sz="2200" b="1" u="none" baseline="-18000" dirty="0" err="1">
                <a:latin typeface="宋体" panose="02010600030101010101" pitchFamily="2" charset="-122"/>
              </a:rPr>
              <a:t>DW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err="1">
                <a:latin typeface="宋体" panose="02010600030101010101" pitchFamily="2" charset="-122"/>
              </a:rPr>
              <a:t>RC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或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err="1">
                <a:latin typeface="宋体" panose="02010600030101010101" pitchFamily="2" charset="-122"/>
              </a:rPr>
              <a:t>WC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F56DC2E-5D3E-48F7-9E84-7704B972CC63}"/>
              </a:ext>
            </a:extLst>
          </p:cNvPr>
          <p:cNvGrpSpPr/>
          <p:nvPr/>
        </p:nvGrpSpPr>
        <p:grpSpPr>
          <a:xfrm>
            <a:off x="5508104" y="476672"/>
            <a:ext cx="3240360" cy="1548000"/>
            <a:chOff x="5508104" y="476672"/>
            <a:chExt cx="3240360" cy="1548000"/>
          </a:xfrm>
        </p:grpSpPr>
        <p:sp>
          <p:nvSpPr>
            <p:cNvPr id="65" name="Text Box 713"/>
            <p:cNvSpPr txBox="1">
              <a:spLocks noChangeArrowheads="1"/>
            </p:cNvSpPr>
            <p:nvPr/>
          </p:nvSpPr>
          <p:spPr bwMode="auto">
            <a:xfrm>
              <a:off x="5508104" y="476672"/>
              <a:ext cx="3240360" cy="15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AW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写滞后时间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＝译码时延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DW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数据写入到存储单元时间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DH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—WE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无效后数据需保持时间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8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写入时间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DW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WC</a:t>
              </a:r>
              <a:r>
                <a:rPr lang="en-US" altLang="zh-CN" sz="18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写周期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AW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+t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DW</a:t>
              </a:r>
              <a:r>
                <a:rPr lang="en-US" altLang="zh-CN" sz="1800" b="1" u="none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+t</a:t>
              </a:r>
              <a:r>
                <a:rPr lang="en-US" altLang="zh-CN" sz="1800" b="1" u="none" baseline="-18000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DH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)</a:t>
              </a:r>
              <a:endPara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" name="Line 718"/>
            <p:cNvSpPr>
              <a:spLocks noChangeShapeType="1"/>
            </p:cNvSpPr>
            <p:nvPr/>
          </p:nvSpPr>
          <p:spPr bwMode="auto">
            <a:xfrm>
              <a:off x="6102000" y="1116000"/>
              <a:ext cx="237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8" name="Text Box 371"/>
          <p:cNvSpPr txBox="1">
            <a:spLocks noChangeArrowheads="1"/>
          </p:cNvSpPr>
          <p:nvPr/>
        </p:nvSpPr>
        <p:spPr bwMode="auto">
          <a:xfrm>
            <a:off x="179705" y="2060848"/>
            <a:ext cx="8841740" cy="1731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操作信号的时序要求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①</a:t>
            </a:r>
            <a:r>
              <a:rPr lang="zh-CN" altLang="en-US" sz="2200" b="1" dirty="0">
                <a:latin typeface="宋体" panose="02010600030101010101" pitchFamily="2" charset="-122"/>
              </a:rPr>
              <a:t>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dirty="0">
                <a:latin typeface="宋体" panose="02010600030101010101" pitchFamily="2" charset="-122"/>
              </a:rPr>
              <a:t>CS#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←对</a:t>
            </a:r>
            <a:r>
              <a:rPr lang="zh-CN" altLang="en-US" sz="1800" b="1" dirty="0">
                <a:latin typeface="宋体" panose="02010600030101010101" pitchFamily="2" charset="-122"/>
              </a:rPr>
              <a:t>指定单元</a:t>
            </a:r>
            <a:r>
              <a:rPr lang="zh-CN" altLang="en-US" sz="1600" b="1" u="none" dirty="0">
                <a:latin typeface="宋体" panose="02010600030101010101" pitchFamily="2" charset="-122"/>
              </a:rPr>
              <a:t>操作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②</a:t>
            </a:r>
            <a:r>
              <a:rPr lang="en-US" altLang="zh-CN" sz="2200" b="1" u="none" dirty="0">
                <a:latin typeface="宋体" panose="02010600030101010101" pitchFamily="2" charset="-122"/>
              </a:rPr>
              <a:t>WE#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CS#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有效期间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滞后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时长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DW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←保证</a:t>
            </a:r>
            <a:r>
              <a:rPr lang="zh-CN" altLang="en-US" sz="1800" b="1" dirty="0">
                <a:latin typeface="宋体" panose="02010600030101010101" pitchFamily="2" charset="-122"/>
              </a:rPr>
              <a:t>写完成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③数据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保持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WE#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无效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时长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DW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←发送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时刻无要求</a:t>
            </a:r>
          </a:p>
        </p:txBody>
      </p:sp>
      <p:sp>
        <p:nvSpPr>
          <p:cNvPr id="75" name="AutoShape 6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07605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72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5650" y="3861048"/>
            <a:ext cx="439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思考①：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合并</a:t>
            </a:r>
            <a:r>
              <a:rPr lang="zh-CN" sz="1800" dirty="0">
                <a:solidFill>
                  <a:schemeClr val="tx1"/>
                </a:solidFill>
              </a:rPr>
              <a:t>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sz="1800" dirty="0">
                <a:solidFill>
                  <a:schemeClr val="tx1"/>
                </a:solidFill>
              </a:rPr>
              <a:t>写后，总的</a:t>
            </a:r>
            <a:r>
              <a:rPr lang="zh-CN" altLang="zh-CN" sz="1800" dirty="0">
                <a:solidFill>
                  <a:schemeClr val="tx1"/>
                </a:solidFill>
              </a:rPr>
              <a:t>控制</a:t>
            </a:r>
            <a:r>
              <a:rPr lang="zh-CN" sz="1800" dirty="0">
                <a:solidFill>
                  <a:schemeClr val="tx1"/>
                </a:solidFill>
              </a:rPr>
              <a:t>要求是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？</a:t>
            </a:r>
          </a:p>
        </p:txBody>
      </p:sp>
      <p:sp>
        <p:nvSpPr>
          <p:cNvPr id="9" name="Text Box 7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88408" y="4221088"/>
            <a:ext cx="7560056" cy="93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t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0" indent="0" eaLnBrk="1" latinLnBrk="0" hangingPunct="1">
              <a:lnSpc>
                <a:spcPct val="100000"/>
              </a:lnSpc>
            </a:pPr>
            <a:r>
              <a:rPr lang="zh-CN" sz="1800" dirty="0">
                <a:solidFill>
                  <a:srgbClr val="C00000"/>
                </a:solidFill>
                <a:sym typeface="+mn-ea"/>
              </a:rPr>
              <a:t>地址</a:t>
            </a:r>
            <a:r>
              <a:rPr lang="zh-CN" sz="1800" u="sng" dirty="0">
                <a:solidFill>
                  <a:srgbClr val="0070C0"/>
                </a:solidFill>
                <a:sym typeface="+mn-ea"/>
              </a:rPr>
              <a:t>先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发送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800" dirty="0">
                <a:solidFill>
                  <a:srgbClr val="C00000"/>
                </a:solidFill>
                <a:sym typeface="+mn-ea"/>
              </a:rPr>
              <a:t>CS#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在</a:t>
            </a:r>
            <a:r>
              <a:rPr lang="zh-CN" sz="1800" u="sng" dirty="0">
                <a:solidFill>
                  <a:srgbClr val="0070C0"/>
                </a:solidFill>
                <a:sym typeface="+mn-ea"/>
              </a:rPr>
              <a:t>地址稳定后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有效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操作完成后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无效；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R/W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相同</a:t>
            </a:r>
            <a:endParaRPr lang="en-US" altLang="zh-CN" sz="1800" b="1" i="1" u="none" dirty="0">
              <a:solidFill>
                <a:srgbClr val="C00000"/>
              </a:solidFill>
              <a:latin typeface="Cambria Math" panose="02040503050406030204" pitchFamily="18" charset="0"/>
              <a:cs typeface="Cambria Math" panose="02040503050406030204" charset="0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rgbClr val="C00000"/>
                </a:solidFill>
                <a:sym typeface="+mn-ea"/>
              </a:rPr>
              <a:t>WE#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不迟于</a:t>
            </a:r>
            <a:r>
              <a:rPr lang="en-US" altLang="zh-CN" sz="1800" u="sng" dirty="0">
                <a:solidFill>
                  <a:srgbClr val="0070C0"/>
                </a:solidFill>
                <a:sym typeface="+mn-ea"/>
              </a:rPr>
              <a:t>CS#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无效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(R)/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有效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(W)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、保持</a:t>
            </a:r>
            <a:r>
              <a:rPr lang="zh-CN" altLang="en-US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CS#</a:t>
            </a:r>
            <a:r>
              <a:rPr lang="zh-CN" altLang="en-US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无效</a:t>
            </a:r>
            <a:r>
              <a:rPr lang="zh-CN" altLang="en-US" sz="1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；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←时长要求未列出</a:t>
            </a:r>
            <a:endParaRPr lang="zh-CN" altLang="en-US" sz="16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u="none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发送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(W)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保持</a:t>
            </a:r>
            <a:r>
              <a:rPr lang="zh-CN" altLang="en-US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u="sng" dirty="0">
                <a:solidFill>
                  <a:srgbClr val="0070C0"/>
                </a:solidFill>
                <a:sym typeface="+mn-ea"/>
              </a:rPr>
              <a:t>WE#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无效</a:t>
            </a:r>
            <a:r>
              <a:rPr lang="zh-CN" altLang="en-US" sz="1800" dirty="0">
                <a:solidFill>
                  <a:srgbClr val="0070C0"/>
                </a:solidFill>
                <a:sym typeface="+mn-ea"/>
              </a:rPr>
              <a:t>                    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←时长要求未列出</a:t>
            </a:r>
            <a:endParaRPr lang="zh-CN" altLang="en-US" sz="1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800" dirty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94928C1-D799-44B6-A531-B137A6A6491B}"/>
              </a:ext>
            </a:extLst>
          </p:cNvPr>
          <p:cNvGrpSpPr/>
          <p:nvPr/>
        </p:nvGrpSpPr>
        <p:grpSpPr>
          <a:xfrm>
            <a:off x="2555776" y="548680"/>
            <a:ext cx="2916000" cy="1440024"/>
            <a:chOff x="2016000" y="3744000"/>
            <a:chExt cx="2916000" cy="1440024"/>
          </a:xfrm>
        </p:grpSpPr>
        <p:sp>
          <p:nvSpPr>
            <p:cNvPr id="69" name="Line 660">
              <a:extLst>
                <a:ext uri="{FF2B5EF4-FFF2-40B4-BE49-F238E27FC236}">
                  <a16:creationId xmlns:a16="http://schemas.microsoft.com/office/drawing/2014/main" id="{60FA5F7E-2018-4145-9866-FEC2E91B4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9999" y="4248000"/>
              <a:ext cx="43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61">
              <a:extLst>
                <a:ext uri="{FF2B5EF4-FFF2-40B4-BE49-F238E27FC236}">
                  <a16:creationId xmlns:a16="http://schemas.microsoft.com/office/drawing/2014/main" id="{FCA9E919-116F-4613-83E8-255D8C1D3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000" y="5076000"/>
              <a:ext cx="86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62">
              <a:extLst>
                <a:ext uri="{FF2B5EF4-FFF2-40B4-BE49-F238E27FC236}">
                  <a16:creationId xmlns:a16="http://schemas.microsoft.com/office/drawing/2014/main" id="{B4EC2936-6656-48DE-8208-D8CAFB699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6064" y="4464080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663">
              <a:extLst>
                <a:ext uri="{FF2B5EF4-FFF2-40B4-BE49-F238E27FC236}">
                  <a16:creationId xmlns:a16="http://schemas.microsoft.com/office/drawing/2014/main" id="{08D3D882-DE1E-4DBC-990D-74B6FCB0C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168" y="4248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664">
              <a:extLst>
                <a:ext uri="{FF2B5EF4-FFF2-40B4-BE49-F238E27FC236}">
                  <a16:creationId xmlns:a16="http://schemas.microsoft.com/office/drawing/2014/main" id="{6492FB2D-F1CE-4138-B2C2-C79EBFEED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84" y="4248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8" name="Line 677">
              <a:extLst>
                <a:ext uri="{FF2B5EF4-FFF2-40B4-BE49-F238E27FC236}">
                  <a16:creationId xmlns:a16="http://schemas.microsoft.com/office/drawing/2014/main" id="{A9C7FB8F-B6CA-4A00-A4B2-BC6D3D795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6216" y="5076000"/>
              <a:ext cx="28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678">
              <a:extLst>
                <a:ext uri="{FF2B5EF4-FFF2-40B4-BE49-F238E27FC236}">
                  <a16:creationId xmlns:a16="http://schemas.microsoft.com/office/drawing/2014/main" id="{724C1C86-53A4-41B4-85AE-4448180AF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224" y="3744000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Text Box 684">
              <a:extLst>
                <a:ext uri="{FF2B5EF4-FFF2-40B4-BE49-F238E27FC236}">
                  <a16:creationId xmlns:a16="http://schemas.microsoft.com/office/drawing/2014/main" id="{E3958931-C5B7-43E5-A73C-965D9603F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000" y="374402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WC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1" name="Line 685">
              <a:extLst>
                <a:ext uri="{FF2B5EF4-FFF2-40B4-BE49-F238E27FC236}">
                  <a16:creationId xmlns:a16="http://schemas.microsoft.com/office/drawing/2014/main" id="{F0F95135-5F02-4BE8-AFB4-53F6D6EFA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144" y="3816032"/>
              <a:ext cx="7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86">
              <a:extLst>
                <a:ext uri="{FF2B5EF4-FFF2-40B4-BE49-F238E27FC236}">
                  <a16:creationId xmlns:a16="http://schemas.microsoft.com/office/drawing/2014/main" id="{48E3F94C-A290-4043-9BEF-C6B5542FFE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96" y="3816032"/>
              <a:ext cx="7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Text Box 689">
              <a:extLst>
                <a:ext uri="{FF2B5EF4-FFF2-40B4-BE49-F238E27FC236}">
                  <a16:creationId xmlns:a16="http://schemas.microsoft.com/office/drawing/2014/main" id="{9AA18E2F-67E7-45EE-A610-BA9E0B2C7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662" y="4248000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4" name="Line 690">
              <a:extLst>
                <a:ext uri="{FF2B5EF4-FFF2-40B4-BE49-F238E27FC236}">
                  <a16:creationId xmlns:a16="http://schemas.microsoft.com/office/drawing/2014/main" id="{41DD9F16-83F3-4F26-A19E-667BE168D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3740" y="4248000"/>
              <a:ext cx="19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Text Box 691">
              <a:extLst>
                <a:ext uri="{FF2B5EF4-FFF2-40B4-BE49-F238E27FC236}">
                  <a16:creationId xmlns:a16="http://schemas.microsoft.com/office/drawing/2014/main" id="{6FAE0948-97F4-4FBC-AD1B-FF0761E68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000" y="4968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36" name="Line 692">
              <a:extLst>
                <a:ext uri="{FF2B5EF4-FFF2-40B4-BE49-F238E27FC236}">
                  <a16:creationId xmlns:a16="http://schemas.microsoft.com/office/drawing/2014/main" id="{027A3895-662B-4507-921A-628C9B42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0168" y="4752000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Text Box 694">
              <a:extLst>
                <a:ext uri="{FF2B5EF4-FFF2-40B4-BE49-F238E27FC236}">
                  <a16:creationId xmlns:a16="http://schemas.microsoft.com/office/drawing/2014/main" id="{F174754F-CF54-4BF5-81A6-47F56B97E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662" y="4536000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Line 695">
              <a:extLst>
                <a:ext uri="{FF2B5EF4-FFF2-40B4-BE49-F238E27FC236}">
                  <a16:creationId xmlns:a16="http://schemas.microsoft.com/office/drawing/2014/main" id="{01D99D11-B332-426D-81E1-2A7C2F438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000" y="4536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Text Box 703">
              <a:extLst>
                <a:ext uri="{FF2B5EF4-FFF2-40B4-BE49-F238E27FC236}">
                  <a16:creationId xmlns:a16="http://schemas.microsoft.com/office/drawing/2014/main" id="{054B5FD0-6B31-4666-AFE5-ADEBAE784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184" y="475200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0" name="Line 706">
              <a:extLst>
                <a:ext uri="{FF2B5EF4-FFF2-40B4-BE49-F238E27FC236}">
                  <a16:creationId xmlns:a16="http://schemas.microsoft.com/office/drawing/2014/main" id="{59321EE9-5455-440C-A491-679338AD5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5130" y="3744000"/>
              <a:ext cx="0" cy="144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Text Box 707">
              <a:extLst>
                <a:ext uri="{FF2B5EF4-FFF2-40B4-BE49-F238E27FC236}">
                  <a16:creationId xmlns:a16="http://schemas.microsoft.com/office/drawing/2014/main" id="{7BF26A19-4135-4484-88ED-AA18F0C1A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160" y="475200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2" name="Line 714">
              <a:extLst>
                <a:ext uri="{FF2B5EF4-FFF2-40B4-BE49-F238E27FC236}">
                  <a16:creationId xmlns:a16="http://schemas.microsoft.com/office/drawing/2014/main" id="{9B4EA31C-9EA9-485B-9F66-CF0373CA7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048" y="4248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660">
              <a:extLst>
                <a:ext uri="{FF2B5EF4-FFF2-40B4-BE49-F238E27FC236}">
                  <a16:creationId xmlns:a16="http://schemas.microsoft.com/office/drawing/2014/main" id="{7BD37F6B-9BEC-43B3-91BE-D21D521BC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1141" y="4536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660">
              <a:extLst>
                <a:ext uri="{FF2B5EF4-FFF2-40B4-BE49-F238E27FC236}">
                  <a16:creationId xmlns:a16="http://schemas.microsoft.com/office/drawing/2014/main" id="{2098B363-FFE9-49B2-B7C2-D22A2BFCB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248" y="4536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714">
              <a:extLst>
                <a:ext uri="{FF2B5EF4-FFF2-40B4-BE49-F238E27FC236}">
                  <a16:creationId xmlns:a16="http://schemas.microsoft.com/office/drawing/2014/main" id="{7D42A0ED-6020-4A4C-8E13-F7A13E94B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7197" y="4536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680">
              <a:extLst>
                <a:ext uri="{FF2B5EF4-FFF2-40B4-BE49-F238E27FC236}">
                  <a16:creationId xmlns:a16="http://schemas.microsoft.com/office/drawing/2014/main" id="{740A93DE-AF67-4802-B013-DBC6F8E02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208" y="4752000"/>
              <a:ext cx="1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663">
              <a:extLst>
                <a:ext uri="{FF2B5EF4-FFF2-40B4-BE49-F238E27FC236}">
                  <a16:creationId xmlns:a16="http://schemas.microsoft.com/office/drawing/2014/main" id="{DE0192CC-2A56-47E8-B197-D9E2BAC52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317" y="4536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678">
              <a:extLst>
                <a:ext uri="{FF2B5EF4-FFF2-40B4-BE49-F238E27FC236}">
                  <a16:creationId xmlns:a16="http://schemas.microsoft.com/office/drawing/2014/main" id="{7C9DCBD1-4936-48DD-8008-88C870B36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056" y="4176128"/>
              <a:ext cx="0" cy="3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365">
              <a:extLst>
                <a:ext uri="{FF2B5EF4-FFF2-40B4-BE49-F238E27FC236}">
                  <a16:creationId xmlns:a16="http://schemas.microsoft.com/office/drawing/2014/main" id="{2E3CC375-DF6E-4FD2-AFCA-3E18A7786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56" y="432006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0" name="Line 678">
              <a:extLst>
                <a:ext uri="{FF2B5EF4-FFF2-40B4-BE49-F238E27FC236}">
                  <a16:creationId xmlns:a16="http://schemas.microsoft.com/office/drawing/2014/main" id="{5823A76A-D0D3-42CC-A8C5-FA4F11201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5960" y="4788000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709">
              <a:extLst>
                <a:ext uri="{FF2B5EF4-FFF2-40B4-BE49-F238E27FC236}">
                  <a16:creationId xmlns:a16="http://schemas.microsoft.com/office/drawing/2014/main" id="{080ACBD8-A0A4-41E4-8DF7-D670E4A76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56032" y="4860000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708">
              <a:extLst>
                <a:ext uri="{FF2B5EF4-FFF2-40B4-BE49-F238E27FC236}">
                  <a16:creationId xmlns:a16="http://schemas.microsoft.com/office/drawing/2014/main" id="{62F2D5B1-3717-40BD-A069-6993A92D9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160" y="4860000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678">
              <a:extLst>
                <a:ext uri="{FF2B5EF4-FFF2-40B4-BE49-F238E27FC236}">
                  <a16:creationId xmlns:a16="http://schemas.microsoft.com/office/drawing/2014/main" id="{0FEB2C97-D4B8-4380-8986-746249A76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184" y="4248056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709">
              <a:extLst>
                <a:ext uri="{FF2B5EF4-FFF2-40B4-BE49-F238E27FC236}">
                  <a16:creationId xmlns:a16="http://schemas.microsoft.com/office/drawing/2014/main" id="{B99EFA42-6B15-41AA-BE00-223C13413F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24048" y="4320064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Text Box 365">
              <a:extLst>
                <a:ext uri="{FF2B5EF4-FFF2-40B4-BE49-F238E27FC236}">
                  <a16:creationId xmlns:a16="http://schemas.microsoft.com/office/drawing/2014/main" id="{2F9C98D0-B1EE-4A22-B9E0-9F4FFD21E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96" y="422037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6" name="Line 708">
              <a:extLst>
                <a:ext uri="{FF2B5EF4-FFF2-40B4-BE49-F238E27FC236}">
                  <a16:creationId xmlns:a16="http://schemas.microsoft.com/office/drawing/2014/main" id="{81593A47-80EC-49F4-A3DF-C389AA61C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128" y="4320064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AutoShape 215">
              <a:extLst>
                <a:ext uri="{FF2B5EF4-FFF2-40B4-BE49-F238E27FC236}">
                  <a16:creationId xmlns:a16="http://schemas.microsoft.com/office/drawing/2014/main" id="{3028FF41-EA80-41D9-A0A2-2E1B89698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724" y="3960000"/>
              <a:ext cx="180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59" name="AutoShape 215">
              <a:extLst>
                <a:ext uri="{FF2B5EF4-FFF2-40B4-BE49-F238E27FC236}">
                  <a16:creationId xmlns:a16="http://schemas.microsoft.com/office/drawing/2014/main" id="{FDB70512-21DB-4AFF-BDDF-926993AD7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234" y="3960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60" name="Text Box 691">
              <a:extLst>
                <a:ext uri="{FF2B5EF4-FFF2-40B4-BE49-F238E27FC236}">
                  <a16:creationId xmlns:a16="http://schemas.microsoft.com/office/drawing/2014/main" id="{A9739FB1-4842-4E0B-8AD6-ACEC58374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860" y="3960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61" name="AutoShape 215">
              <a:extLst>
                <a:ext uri="{FF2B5EF4-FFF2-40B4-BE49-F238E27FC236}">
                  <a16:creationId xmlns:a16="http://schemas.microsoft.com/office/drawing/2014/main" id="{6AB000BA-AC3D-412B-B73B-8281AFC59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000" y="3960000"/>
              <a:ext cx="36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62" name="Text Box 691">
              <a:extLst>
                <a:ext uri="{FF2B5EF4-FFF2-40B4-BE49-F238E27FC236}">
                  <a16:creationId xmlns:a16="http://schemas.microsoft.com/office/drawing/2014/main" id="{9F81CA1E-EEDE-4819-A6DC-BD30E0B28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3960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691">
              <a:extLst>
                <a:ext uri="{FF2B5EF4-FFF2-40B4-BE49-F238E27FC236}">
                  <a16:creationId xmlns:a16="http://schemas.microsoft.com/office/drawing/2014/main" id="{9145FC84-ACC1-478D-B4C5-672B1708B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000" y="3960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64" name="AutoShape 215">
              <a:extLst>
                <a:ext uri="{FF2B5EF4-FFF2-40B4-BE49-F238E27FC236}">
                  <a16:creationId xmlns:a16="http://schemas.microsoft.com/office/drawing/2014/main" id="{A5B8A9D3-D126-4C32-846B-622A4B3E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724" y="4968000"/>
              <a:ext cx="1152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输入</a:t>
              </a:r>
            </a:p>
          </p:txBody>
        </p:sp>
        <p:sp>
          <p:nvSpPr>
            <p:cNvPr id="167" name="Line 661">
              <a:extLst>
                <a:ext uri="{FF2B5EF4-FFF2-40B4-BE49-F238E27FC236}">
                  <a16:creationId xmlns:a16="http://schemas.microsoft.com/office/drawing/2014/main" id="{ADA77B73-557B-4E40-9DED-EC41DE6F0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2000" y="4968000"/>
              <a:ext cx="504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661">
              <a:extLst>
                <a:ext uri="{FF2B5EF4-FFF2-40B4-BE49-F238E27FC236}">
                  <a16:creationId xmlns:a16="http://schemas.microsoft.com/office/drawing/2014/main" id="{E863224D-0DB8-4868-B95D-902BB8799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2000" y="5184000"/>
              <a:ext cx="504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663">
              <a:extLst>
                <a:ext uri="{FF2B5EF4-FFF2-40B4-BE49-F238E27FC236}">
                  <a16:creationId xmlns:a16="http://schemas.microsoft.com/office/drawing/2014/main" id="{392A21DA-35AC-4EE9-ABA4-3416EB507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000" y="4968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663">
              <a:extLst>
                <a:ext uri="{FF2B5EF4-FFF2-40B4-BE49-F238E27FC236}">
                  <a16:creationId xmlns:a16="http://schemas.microsoft.com/office/drawing/2014/main" id="{CF7F4D71-229E-4B02-9EAC-69838FA94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8000" y="5076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714">
              <a:extLst>
                <a:ext uri="{FF2B5EF4-FFF2-40B4-BE49-F238E27FC236}">
                  <a16:creationId xmlns:a16="http://schemas.microsoft.com/office/drawing/2014/main" id="{7EB9FB45-B84B-4478-BEF8-E310AB22A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000" y="4536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692">
              <a:extLst>
                <a:ext uri="{FF2B5EF4-FFF2-40B4-BE49-F238E27FC236}">
                  <a16:creationId xmlns:a16="http://schemas.microsoft.com/office/drawing/2014/main" id="{EF4A52F6-2FAD-436C-B825-551995C2F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6000" y="4752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663">
              <a:extLst>
                <a:ext uri="{FF2B5EF4-FFF2-40B4-BE49-F238E27FC236}">
                  <a16:creationId xmlns:a16="http://schemas.microsoft.com/office/drawing/2014/main" id="{EB011725-244D-426D-8B54-14C9BB430A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000" y="4968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663">
              <a:extLst>
                <a:ext uri="{FF2B5EF4-FFF2-40B4-BE49-F238E27FC236}">
                  <a16:creationId xmlns:a16="http://schemas.microsoft.com/office/drawing/2014/main" id="{0E6F6E86-AC38-4EF6-A50D-49B16980B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000" y="5076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663">
              <a:extLst>
                <a:ext uri="{FF2B5EF4-FFF2-40B4-BE49-F238E27FC236}">
                  <a16:creationId xmlns:a16="http://schemas.microsoft.com/office/drawing/2014/main" id="{29163C9A-79EF-4D7F-B32D-A45A7C596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000" y="4968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663">
              <a:extLst>
                <a:ext uri="{FF2B5EF4-FFF2-40B4-BE49-F238E27FC236}">
                  <a16:creationId xmlns:a16="http://schemas.microsoft.com/office/drawing/2014/main" id="{8220B4D4-56CD-4DDE-AC66-77BF46F6F9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24000" y="5076000"/>
              <a:ext cx="7200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7" name="Text Box 726">
            <a:extLst>
              <a:ext uri="{FF2B5EF4-FFF2-40B4-BE49-F238E27FC236}">
                <a16:creationId xmlns:a16="http://schemas.microsoft.com/office/drawing/2014/main" id="{346A5FF6-38A9-4603-9720-8690F8DE9CC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5576" y="5805264"/>
            <a:ext cx="489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思考②：</a:t>
            </a:r>
            <a:r>
              <a:rPr lang="zh-CN" altLang="en-US" sz="1800" dirty="0">
                <a:solidFill>
                  <a:schemeClr val="tx1"/>
                </a:solidFill>
              </a:rPr>
              <a:t>操作完成如何表示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操作者如何感知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？</a:t>
            </a:r>
          </a:p>
        </p:txBody>
      </p:sp>
      <p:sp>
        <p:nvSpPr>
          <p:cNvPr id="178" name="Text Box 726">
            <a:extLst>
              <a:ext uri="{FF2B5EF4-FFF2-40B4-BE49-F238E27FC236}">
                <a16:creationId xmlns:a16="http://schemas.microsoft.com/office/drawing/2014/main" id="{E0C73574-24D3-41FF-88D8-A261024EB3E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72414" y="6093296"/>
            <a:ext cx="7199986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t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0" indent="0" eaLnBrk="1" latinLnBrk="0" hangingPunct="1"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增加</a:t>
            </a:r>
            <a:r>
              <a:rPr lang="zh-CN" altLang="en-US" sz="1800" dirty="0">
                <a:solidFill>
                  <a:srgbClr val="0070C0"/>
                </a:solidFill>
                <a:sym typeface="+mn-ea"/>
              </a:rPr>
              <a:t>状态信号线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操作期间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=0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、完成时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=1)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，或约定</a:t>
            </a:r>
            <a:r>
              <a:rPr lang="zh-CN" altLang="en-US" sz="1800" dirty="0">
                <a:solidFill>
                  <a:srgbClr val="0070C0"/>
                </a:solidFill>
                <a:sym typeface="+mn-ea"/>
              </a:rPr>
              <a:t>时延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厂家会给出最小值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800" b="1" i="1" u="none" dirty="0">
              <a:solidFill>
                <a:schemeClr val="tx1"/>
              </a:solidFill>
              <a:latin typeface="Cambria Math" panose="02040503050406030204" pitchFamily="18" charset="0"/>
              <a:cs typeface="Cambria Math" panose="02040503050406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ldLvl="0" animBg="1"/>
      <p:bldP spid="16" grpId="0" bldLvl="0" animBg="1"/>
      <p:bldP spid="17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16</a:t>
            </a:fld>
            <a:endParaRPr lang="en-US" altLang="zh-CN" dirty="0"/>
          </a:p>
        </p:txBody>
      </p:sp>
      <p:sp>
        <p:nvSpPr>
          <p:cNvPr id="4" name="Text Box 232"/>
          <p:cNvSpPr txBox="1">
            <a:spLocks noChangeArrowheads="1"/>
          </p:cNvSpPr>
          <p:nvPr/>
        </p:nvSpPr>
        <p:spPr bwMode="auto">
          <a:xfrm>
            <a:off x="179388" y="2924944"/>
            <a:ext cx="8785100" cy="2759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※SRAM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的学习要求：   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+mn-ea"/>
                <a:ea typeface="+mn-ea"/>
              </a:rPr>
              <a:t>   1</a:t>
            </a:r>
            <a:r>
              <a:rPr lang="zh-CN" altLang="en-US" sz="2200" b="1" u="none" dirty="0">
                <a:latin typeface="+mn-ea"/>
                <a:ea typeface="+mn-ea"/>
              </a:rPr>
              <a:t>、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熟记</a:t>
            </a:r>
            <a:r>
              <a:rPr lang="en-US" altLang="zh-CN" sz="2200" b="1" u="none" dirty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功能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信息存储、按地址访问</a:t>
            </a:r>
            <a:r>
              <a:rPr lang="en-US" altLang="zh-CN" sz="1800" b="1" u="none" dirty="0">
                <a:latin typeface="+mn-ea"/>
                <a:ea typeface="+mn-ea"/>
              </a:rPr>
              <a:t>[</a:t>
            </a:r>
            <a:r>
              <a:rPr lang="zh-CN" altLang="en-US" sz="1800" b="1" u="none" dirty="0">
                <a:latin typeface="+mn-ea"/>
                <a:ea typeface="+mn-ea"/>
              </a:rPr>
              <a:t>时延相同</a:t>
            </a:r>
            <a:r>
              <a:rPr lang="en-US" altLang="zh-CN" sz="1800" b="1" u="none" dirty="0">
                <a:latin typeface="+mn-ea"/>
                <a:ea typeface="+mn-ea"/>
              </a:rPr>
              <a:t>])</a:t>
            </a:r>
            <a:r>
              <a:rPr lang="zh-CN" altLang="en-US" sz="2000" b="1" u="none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  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</a:rPr>
              <a:t>←应用需求</a:t>
            </a:r>
            <a:endParaRPr lang="en-US" altLang="zh-CN" sz="2000" b="1" u="none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u="none" dirty="0">
                <a:latin typeface="+mn-ea"/>
                <a:ea typeface="+mn-ea"/>
              </a:rPr>
              <a:t>                      </a:t>
            </a:r>
            <a:r>
              <a:rPr lang="zh-CN" altLang="en-US" sz="1600" b="1" u="none" dirty="0">
                <a:latin typeface="+mn-ea"/>
                <a:ea typeface="+mn-ea"/>
              </a:rPr>
              <a:t>容量</a:t>
            </a:r>
            <a:r>
              <a:rPr lang="en-US" altLang="zh-CN" sz="1600" b="1" u="none" dirty="0">
                <a:latin typeface="+mn-ea"/>
                <a:ea typeface="+mn-ea"/>
              </a:rPr>
              <a:t>=2</a:t>
            </a:r>
            <a:r>
              <a:rPr lang="en-US" altLang="zh-CN" sz="1600" b="1" u="none" baseline="30000" dirty="0">
                <a:latin typeface="+mn-ea"/>
                <a:ea typeface="+mn-ea"/>
              </a:rPr>
              <a:t>n</a:t>
            </a:r>
            <a:r>
              <a:rPr lang="en-US" altLang="zh-CN" sz="1600" b="1" u="none" dirty="0">
                <a:latin typeface="+mn-ea"/>
                <a:ea typeface="+mn-ea"/>
              </a:rPr>
              <a:t>×w</a:t>
            </a:r>
            <a:r>
              <a:rPr lang="zh-CN" altLang="en-US" sz="1600" b="1" u="none" dirty="0">
                <a:latin typeface="+mn-ea"/>
                <a:ea typeface="+mn-ea"/>
              </a:rPr>
              <a:t>←</a:t>
            </a:r>
            <a:r>
              <a:rPr lang="zh-CN" altLang="en-US" sz="1600" u="none" dirty="0">
                <a:latin typeface="+mn-ea"/>
                <a:ea typeface="+mn-ea"/>
              </a:rPr>
              <a:t>┴───┘   </a:t>
            </a:r>
            <a:r>
              <a:rPr lang="zh-CN" altLang="en-US" sz="1600" u="none" spc="170" dirty="0">
                <a:latin typeface="+mn-ea"/>
                <a:ea typeface="+mn-ea"/>
              </a:rPr>
              <a:t> </a:t>
            </a:r>
            <a:r>
              <a:rPr lang="zh-CN" altLang="en-US" sz="1600" u="none" dirty="0">
                <a:latin typeface="+mn-ea"/>
                <a:ea typeface="+mn-ea"/>
              </a:rPr>
              <a:t>└→</a:t>
            </a:r>
            <a:r>
              <a:rPr lang="zh-CN" altLang="en-US" sz="1600" b="1" u="none" dirty="0">
                <a:latin typeface="+mn-ea"/>
                <a:ea typeface="+mn-ea"/>
              </a:rPr>
              <a:t>状态</a:t>
            </a:r>
            <a:r>
              <a:rPr lang="en-US" altLang="zh-CN" sz="1600" b="1" u="none" dirty="0">
                <a:latin typeface="+mn-ea"/>
                <a:ea typeface="+mn-ea"/>
              </a:rPr>
              <a:t>=</a:t>
            </a:r>
            <a:r>
              <a:rPr lang="zh-CN" altLang="en-US" sz="1600" b="1" u="none" dirty="0">
                <a:latin typeface="+mn-ea"/>
                <a:ea typeface="+mn-ea"/>
              </a:rPr>
              <a:t>读</a:t>
            </a:r>
            <a:r>
              <a:rPr lang="en-US" altLang="zh-CN" sz="1600" b="1" u="none" dirty="0"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latin typeface="+mn-ea"/>
                <a:ea typeface="+mn-ea"/>
              </a:rPr>
              <a:t>写</a:t>
            </a:r>
            <a:r>
              <a:rPr lang="en-US" altLang="zh-CN" sz="1600" b="1" u="none" dirty="0"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latin typeface="+mn-ea"/>
                <a:ea typeface="+mn-ea"/>
              </a:rPr>
              <a:t>闲</a:t>
            </a:r>
            <a:endParaRPr lang="en-US" altLang="zh-CN" sz="16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latin typeface="+mn-ea"/>
                <a:ea typeface="+mn-ea"/>
              </a:rPr>
              <a:t>   2</a:t>
            </a:r>
            <a:r>
              <a:rPr lang="zh-CN" altLang="en-US" sz="2200" b="1" u="none" dirty="0">
                <a:latin typeface="+mn-ea"/>
                <a:ea typeface="+mn-ea"/>
              </a:rPr>
              <a:t>、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了解</a:t>
            </a:r>
            <a:r>
              <a:rPr lang="en-US" altLang="zh-CN" sz="2200" b="1" u="none" dirty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内部组成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存储矩阵</a:t>
            </a:r>
            <a:r>
              <a:rPr lang="en-US" altLang="zh-CN" sz="1800" b="1" u="none" dirty="0">
                <a:latin typeface="+mn-ea"/>
                <a:ea typeface="+mn-ea"/>
              </a:rPr>
              <a:t>+</a:t>
            </a:r>
            <a:r>
              <a:rPr lang="zh-CN" altLang="en-US" sz="1800" b="1" u="none" dirty="0">
                <a:latin typeface="+mn-ea"/>
                <a:ea typeface="+mn-ea"/>
              </a:rPr>
              <a:t>译码器</a:t>
            </a:r>
            <a:r>
              <a:rPr lang="en-US" altLang="zh-CN" sz="1800" b="1" u="none" dirty="0">
                <a:latin typeface="+mn-ea"/>
                <a:ea typeface="+mn-ea"/>
              </a:rPr>
              <a:t>+I/O</a:t>
            </a:r>
            <a:r>
              <a:rPr lang="zh-CN" altLang="en-US" sz="1800" b="1" u="none" dirty="0">
                <a:latin typeface="+mn-ea"/>
                <a:ea typeface="+mn-ea"/>
              </a:rPr>
              <a:t>门</a:t>
            </a:r>
            <a:r>
              <a:rPr lang="en-US" altLang="zh-CN" sz="1800" b="1" u="none" dirty="0">
                <a:latin typeface="+mn-ea"/>
                <a:ea typeface="+mn-ea"/>
              </a:rPr>
              <a:t>+</a:t>
            </a:r>
            <a:r>
              <a:rPr lang="zh-CN" altLang="en-US" sz="1800" b="1" u="none" dirty="0">
                <a:latin typeface="+mn-ea"/>
                <a:ea typeface="+mn-ea"/>
              </a:rPr>
              <a:t>读写电路</a:t>
            </a:r>
            <a:r>
              <a:rPr lang="en-US" altLang="zh-CN" sz="1800" b="1" u="none" dirty="0">
                <a:latin typeface="+mn-ea"/>
                <a:ea typeface="+mn-ea"/>
              </a:rPr>
              <a:t>+</a:t>
            </a:r>
            <a:r>
              <a:rPr lang="zh-CN" altLang="en-US" sz="1800" b="1" u="none" dirty="0">
                <a:latin typeface="+mn-ea"/>
                <a:ea typeface="+mn-ea"/>
              </a:rPr>
              <a:t>控制电路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</a:p>
          <a:p>
            <a:pPr marL="809625" indent="-8096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+mn-ea"/>
                <a:ea typeface="+mn-ea"/>
              </a:rPr>
              <a:t>                                            </a:t>
            </a:r>
            <a:r>
              <a:rPr lang="en-US" altLang="zh-CN" sz="1600" b="1" u="none" baseline="-25000" dirty="0">
                <a:latin typeface="+mn-ea"/>
                <a:ea typeface="+mn-ea"/>
              </a:rPr>
              <a:t> </a:t>
            </a:r>
            <a:r>
              <a:rPr lang="en-US" altLang="zh-CN" sz="1600" b="1" u="none" dirty="0">
                <a:latin typeface="+mn-ea"/>
                <a:ea typeface="+mn-ea"/>
              </a:rPr>
              <a:t>[</a:t>
            </a:r>
            <a:r>
              <a:rPr lang="zh-CN" altLang="en-US" sz="1600" b="1" u="none" dirty="0">
                <a:latin typeface="+mn-ea"/>
                <a:ea typeface="+mn-ea"/>
              </a:rPr>
              <a:t>选行</a:t>
            </a:r>
            <a:r>
              <a:rPr lang="en-US" altLang="zh-CN" sz="1600" b="1" u="none" dirty="0">
                <a:latin typeface="+mn-ea"/>
                <a:ea typeface="+mn-ea"/>
              </a:rPr>
              <a:t>] [</a:t>
            </a:r>
            <a:r>
              <a:rPr lang="zh-CN" altLang="en-US" sz="1600" b="1" u="none" dirty="0">
                <a:latin typeface="+mn-ea"/>
                <a:ea typeface="+mn-ea"/>
              </a:rPr>
              <a:t>选列</a:t>
            </a:r>
            <a:r>
              <a:rPr lang="en-US" altLang="zh-CN" sz="1600" b="1" u="none" dirty="0">
                <a:latin typeface="+mn-ea"/>
                <a:ea typeface="+mn-ea"/>
              </a:rPr>
              <a:t>]</a:t>
            </a:r>
          </a:p>
          <a:p>
            <a:pPr marL="809625" indent="-809625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u="none" dirty="0">
                <a:latin typeface="+mn-ea"/>
                <a:ea typeface="+mn-ea"/>
              </a:rPr>
              <a:t>   3</a:t>
            </a:r>
            <a:r>
              <a:rPr lang="zh-CN" altLang="en-US" sz="2200" b="1" u="none" dirty="0">
                <a:latin typeface="+mn-ea"/>
                <a:ea typeface="+mn-ea"/>
              </a:rPr>
              <a:t>、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掌握</a:t>
            </a:r>
            <a:r>
              <a:rPr lang="en-US" altLang="zh-CN" sz="2200" b="1" u="none" dirty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引脚组织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地址</a:t>
            </a:r>
            <a:r>
              <a:rPr lang="en-US" altLang="zh-CN" sz="1800" b="1" u="none" dirty="0">
                <a:latin typeface="+mn-ea"/>
                <a:ea typeface="+mn-ea"/>
              </a:rPr>
              <a:t>+</a:t>
            </a:r>
            <a:r>
              <a:rPr lang="zh-CN" altLang="en-US" sz="1800" b="1" u="none" dirty="0">
                <a:latin typeface="+mn-ea"/>
                <a:ea typeface="+mn-ea"/>
              </a:rPr>
              <a:t>数据</a:t>
            </a:r>
            <a:r>
              <a:rPr lang="en-US" altLang="zh-CN" sz="1800" b="1" u="none" dirty="0">
                <a:latin typeface="+mn-ea"/>
                <a:ea typeface="+mn-ea"/>
              </a:rPr>
              <a:t>+</a:t>
            </a:r>
            <a:r>
              <a:rPr lang="zh-CN" altLang="en-US" sz="1800" b="1" u="none" dirty="0">
                <a:latin typeface="+mn-ea"/>
                <a:ea typeface="+mn-ea"/>
              </a:rPr>
              <a:t>控制</a:t>
            </a:r>
            <a:r>
              <a:rPr lang="en-US" altLang="zh-CN" sz="1800" b="1" u="none" dirty="0">
                <a:latin typeface="+mn-ea"/>
                <a:ea typeface="+mn-ea"/>
              </a:rPr>
              <a:t>)              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  <a:ea typeface="+mn-ea"/>
              </a:rPr>
              <a:t>←容量</a:t>
            </a:r>
            <a:r>
              <a:rPr lang="en-US" altLang="zh-CN" sz="1800" b="1" u="none" dirty="0">
                <a:solidFill>
                  <a:srgbClr val="0070C0"/>
                </a:solidFill>
                <a:latin typeface="+mn-ea"/>
                <a:ea typeface="+mn-ea"/>
              </a:rPr>
              <a:t>-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  <a:ea typeface="+mn-ea"/>
              </a:rPr>
              <a:t>引脚关联</a:t>
            </a:r>
            <a:endParaRPr lang="en-US" altLang="zh-CN" sz="1800" b="1" u="none" dirty="0">
              <a:solidFill>
                <a:srgbClr val="0070C0"/>
              </a:solidFill>
              <a:latin typeface="+mn-ea"/>
              <a:ea typeface="+mn-ea"/>
            </a:endParaRPr>
          </a:p>
          <a:p>
            <a:pPr marL="809625" indent="-809625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+mn-ea"/>
                <a:ea typeface="+mn-ea"/>
              </a:rPr>
              <a:t>   4</a:t>
            </a:r>
            <a:r>
              <a:rPr lang="zh-CN" altLang="en-US" sz="2200" b="1" u="none" dirty="0">
                <a:latin typeface="+mn-ea"/>
                <a:ea typeface="+mn-ea"/>
              </a:rPr>
              <a:t>、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理解</a:t>
            </a:r>
            <a:r>
              <a:rPr lang="en-US" altLang="zh-CN" sz="2200" b="1" u="none" dirty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操作信号时序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先发地址、读</a:t>
            </a:r>
            <a:r>
              <a:rPr lang="en-US" altLang="zh-CN" sz="1800" b="1" u="none" dirty="0">
                <a:latin typeface="+mn-ea"/>
                <a:ea typeface="+mn-ea"/>
              </a:rPr>
              <a:t>/</a:t>
            </a:r>
            <a:r>
              <a:rPr lang="zh-CN" altLang="en-US" sz="1800" b="1" u="none" dirty="0">
                <a:latin typeface="+mn-ea"/>
                <a:ea typeface="+mn-ea"/>
              </a:rPr>
              <a:t>写略不同</a:t>
            </a:r>
            <a:r>
              <a:rPr lang="en-US" altLang="zh-CN" sz="1800" b="1" u="none" dirty="0">
                <a:latin typeface="+mn-ea"/>
                <a:ea typeface="+mn-ea"/>
              </a:rPr>
              <a:t>)  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</a:rPr>
              <a:t>←访问的实现</a:t>
            </a:r>
            <a:endParaRPr lang="en-US" altLang="zh-CN" sz="1800" b="1" u="none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" name="Text Box 232"/>
          <p:cNvSpPr txBox="1">
            <a:spLocks noChangeArrowheads="1"/>
          </p:cNvSpPr>
          <p:nvPr/>
        </p:nvSpPr>
        <p:spPr bwMode="auto">
          <a:xfrm>
            <a:off x="395536" y="476672"/>
            <a:ext cx="7884000" cy="42989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疑惑：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好抽象啊，为什么要学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？重点是什么？如何学习？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6" name="Text Box 232"/>
          <p:cNvSpPr txBox="1">
            <a:spLocks noChangeArrowheads="1"/>
          </p:cNvSpPr>
          <p:nvPr/>
        </p:nvSpPr>
        <p:spPr bwMode="auto">
          <a:xfrm>
            <a:off x="179513" y="980728"/>
            <a:ext cx="1682110" cy="18562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重点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7" name="Text Box 232"/>
          <p:cNvSpPr txBox="1">
            <a:spLocks noChangeArrowheads="1"/>
          </p:cNvSpPr>
          <p:nvPr/>
        </p:nvSpPr>
        <p:spPr bwMode="auto">
          <a:xfrm>
            <a:off x="1619672" y="980728"/>
            <a:ext cx="7200799" cy="18562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主存由</a:t>
            </a:r>
            <a:r>
              <a:rPr lang="en-US" altLang="zh-CN" sz="2200" b="1" u="none" dirty="0">
                <a:latin typeface="宋体" panose="02010600030101010101" pitchFamily="2" charset="-122"/>
              </a:rPr>
              <a:t>SRAM/DRAM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组成，</a:t>
            </a:r>
            <a:r>
              <a:rPr lang="zh-CN" altLang="en-US" sz="2200" b="1" dirty="0">
                <a:latin typeface="宋体" panose="02010600030101010101" pitchFamily="2" charset="-122"/>
              </a:rPr>
              <a:t>设计主存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需使用</a:t>
            </a: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r>
              <a:rPr lang="zh-CN" altLang="en-US" sz="18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用</a:t>
            </a:r>
            <a:r>
              <a:rPr lang="en-US" altLang="zh-CN" sz="1800" b="1" u="none" dirty="0">
                <a:latin typeface="宋体" panose="02010600030101010101" pitchFamily="2" charset="-122"/>
              </a:rPr>
              <a:t>8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1K×1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sz="1800" b="1" u="none" dirty="0">
                <a:latin typeface="宋体" panose="02010600030101010101" pitchFamily="2" charset="-122"/>
              </a:rPr>
              <a:t>1K×8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模块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芯片的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引脚组织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操作信号时序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容量</a:t>
            </a:r>
            <a:r>
              <a:rPr lang="en-US" altLang="zh-CN" sz="1800" b="1" u="none" dirty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引脚关联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写周期时序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理解概念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看得懂描述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、面向应用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关注引脚组织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访问控制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076056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5076056" y="3756740"/>
            <a:ext cx="2483944" cy="450399"/>
            <a:chOff x="5076056" y="2809908"/>
            <a:chExt cx="2483944" cy="450399"/>
          </a:xfrm>
        </p:grpSpPr>
        <p:cxnSp>
          <p:nvCxnSpPr>
            <p:cNvPr id="12" name="直接箭头连接符 11"/>
            <p:cNvCxnSpPr/>
            <p:nvPr/>
          </p:nvCxnSpPr>
          <p:spPr bwMode="auto">
            <a:xfrm flipH="1">
              <a:off x="5076056" y="2809908"/>
              <a:ext cx="792088" cy="43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5328000" y="2809908"/>
              <a:ext cx="1152000" cy="43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>
              <a:off x="6480000" y="3097940"/>
              <a:ext cx="1080000" cy="16236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组合 233"/>
          <p:cNvGrpSpPr/>
          <p:nvPr/>
        </p:nvGrpSpPr>
        <p:grpSpPr>
          <a:xfrm>
            <a:off x="7164288" y="1188000"/>
            <a:ext cx="1800200" cy="1512000"/>
            <a:chOff x="6876256" y="1195200"/>
            <a:chExt cx="1800200" cy="1512000"/>
          </a:xfrm>
        </p:grpSpPr>
        <p:sp>
          <p:nvSpPr>
            <p:cNvPr id="235" name="Text Box 572"/>
            <p:cNvSpPr txBox="1">
              <a:spLocks noChangeArrowheads="1"/>
            </p:cNvSpPr>
            <p:nvPr/>
          </p:nvSpPr>
          <p:spPr bwMode="auto">
            <a:xfrm>
              <a:off x="7631992" y="1195200"/>
              <a:ext cx="8636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数据线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6" name="Text Box 575"/>
            <p:cNvSpPr txBox="1">
              <a:spLocks noChangeArrowheads="1"/>
            </p:cNvSpPr>
            <p:nvPr/>
          </p:nvSpPr>
          <p:spPr bwMode="auto">
            <a:xfrm>
              <a:off x="8423992" y="22752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237" name="Rectangle 576"/>
            <p:cNvSpPr>
              <a:spLocks noChangeArrowheads="1"/>
            </p:cNvSpPr>
            <p:nvPr/>
          </p:nvSpPr>
          <p:spPr bwMode="auto">
            <a:xfrm>
              <a:off x="6948264" y="1772816"/>
              <a:ext cx="1008063" cy="756444"/>
            </a:xfrm>
            <a:prstGeom prst="rect">
              <a:avLst/>
            </a:prstGeom>
            <a:solidFill>
              <a:srgbClr val="FFCC99"/>
            </a:solidFill>
            <a:ln w="9525" cap="rnd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577"/>
            <p:cNvSpPr>
              <a:spLocks noChangeShapeType="1"/>
            </p:cNvSpPr>
            <p:nvPr/>
          </p:nvSpPr>
          <p:spPr bwMode="auto">
            <a:xfrm flipV="1">
              <a:off x="7812360" y="2058739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Text Box 579"/>
            <p:cNvSpPr txBox="1">
              <a:spLocks noChangeArrowheads="1"/>
            </p:cNvSpPr>
            <p:nvPr/>
          </p:nvSpPr>
          <p:spPr bwMode="auto">
            <a:xfrm>
              <a:off x="6894091" y="1483200"/>
              <a:ext cx="10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字选择线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0" name="Line 581"/>
            <p:cNvSpPr>
              <a:spLocks noChangeShapeType="1"/>
            </p:cNvSpPr>
            <p:nvPr/>
          </p:nvSpPr>
          <p:spPr bwMode="auto">
            <a:xfrm flipH="1">
              <a:off x="7668989" y="1842839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582"/>
            <p:cNvSpPr>
              <a:spLocks noChangeShapeType="1"/>
            </p:cNvSpPr>
            <p:nvPr/>
          </p:nvSpPr>
          <p:spPr bwMode="auto">
            <a:xfrm>
              <a:off x="7597551" y="1915864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583"/>
            <p:cNvSpPr>
              <a:spLocks noChangeShapeType="1"/>
            </p:cNvSpPr>
            <p:nvPr/>
          </p:nvSpPr>
          <p:spPr bwMode="auto">
            <a:xfrm flipH="1">
              <a:off x="7740425" y="1699916"/>
              <a:ext cx="0" cy="14451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584"/>
            <p:cNvSpPr>
              <a:spLocks noChangeShapeType="1"/>
            </p:cNvSpPr>
            <p:nvPr/>
          </p:nvSpPr>
          <p:spPr bwMode="auto">
            <a:xfrm>
              <a:off x="7668989" y="1917452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585"/>
            <p:cNvSpPr>
              <a:spLocks noChangeShapeType="1"/>
            </p:cNvSpPr>
            <p:nvPr/>
          </p:nvSpPr>
          <p:spPr bwMode="auto">
            <a:xfrm>
              <a:off x="7813451" y="1915864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586"/>
            <p:cNvSpPr>
              <a:spLocks noChangeShapeType="1"/>
            </p:cNvSpPr>
            <p:nvPr/>
          </p:nvSpPr>
          <p:spPr bwMode="auto">
            <a:xfrm>
              <a:off x="6876256" y="1700808"/>
              <a:ext cx="1800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Text Box 587"/>
            <p:cNvSpPr txBox="1">
              <a:spLocks noChangeArrowheads="1"/>
            </p:cNvSpPr>
            <p:nvPr/>
          </p:nvSpPr>
          <p:spPr bwMode="auto">
            <a:xfrm>
              <a:off x="7631992" y="2060327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47" name="Line 588"/>
            <p:cNvSpPr>
              <a:spLocks noChangeShapeType="1"/>
            </p:cNvSpPr>
            <p:nvPr/>
          </p:nvSpPr>
          <p:spPr bwMode="auto">
            <a:xfrm flipH="1">
              <a:off x="8100392" y="1447200"/>
              <a:ext cx="0" cy="126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593"/>
            <p:cNvSpPr>
              <a:spLocks noChangeShapeType="1"/>
            </p:cNvSpPr>
            <p:nvPr/>
          </p:nvSpPr>
          <p:spPr bwMode="auto">
            <a:xfrm flipH="1">
              <a:off x="8243260" y="2347200"/>
              <a:ext cx="144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594"/>
            <p:cNvSpPr>
              <a:spLocks noChangeShapeType="1"/>
            </p:cNvSpPr>
            <p:nvPr/>
          </p:nvSpPr>
          <p:spPr bwMode="auto">
            <a:xfrm flipH="1">
              <a:off x="8243260" y="2420441"/>
              <a:ext cx="14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595"/>
            <p:cNvSpPr>
              <a:spLocks noChangeShapeType="1"/>
            </p:cNvSpPr>
            <p:nvPr/>
          </p:nvSpPr>
          <p:spPr bwMode="auto">
            <a:xfrm>
              <a:off x="8316416" y="2202954"/>
              <a:ext cx="0" cy="144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596"/>
            <p:cNvSpPr>
              <a:spLocks noChangeShapeType="1"/>
            </p:cNvSpPr>
            <p:nvPr/>
          </p:nvSpPr>
          <p:spPr bwMode="auto">
            <a:xfrm flipH="1">
              <a:off x="8316416" y="2420441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597"/>
            <p:cNvSpPr>
              <a:spLocks noChangeShapeType="1"/>
            </p:cNvSpPr>
            <p:nvPr/>
          </p:nvSpPr>
          <p:spPr bwMode="auto">
            <a:xfrm flipH="1">
              <a:off x="8100392" y="2202954"/>
              <a:ext cx="216024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574"/>
            <p:cNvSpPr>
              <a:spLocks noChangeShapeType="1"/>
            </p:cNvSpPr>
            <p:nvPr/>
          </p:nvSpPr>
          <p:spPr bwMode="auto">
            <a:xfrm flipV="1">
              <a:off x="8207992" y="2563316"/>
              <a:ext cx="217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583"/>
            <p:cNvSpPr>
              <a:spLocks noChangeShapeType="1"/>
            </p:cNvSpPr>
            <p:nvPr/>
          </p:nvSpPr>
          <p:spPr bwMode="auto">
            <a:xfrm>
              <a:off x="8604448" y="1703214"/>
              <a:ext cx="0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577"/>
            <p:cNvSpPr>
              <a:spLocks noChangeShapeType="1"/>
            </p:cNvSpPr>
            <p:nvPr/>
          </p:nvSpPr>
          <p:spPr bwMode="auto">
            <a:xfrm flipV="1">
              <a:off x="7847992" y="2636912"/>
              <a:ext cx="2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Rectangle 355"/>
            <p:cNvSpPr>
              <a:spLocks noChangeArrowheads="1"/>
            </p:cNvSpPr>
            <p:nvPr/>
          </p:nvSpPr>
          <p:spPr bwMode="auto">
            <a:xfrm>
              <a:off x="7019992" y="2009318"/>
              <a:ext cx="504000" cy="4671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rnd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" name="Line 580"/>
            <p:cNvSpPr>
              <a:spLocks noChangeShapeType="1"/>
            </p:cNvSpPr>
            <p:nvPr/>
          </p:nvSpPr>
          <p:spPr bwMode="auto">
            <a:xfrm>
              <a:off x="7055992" y="2420888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589"/>
            <p:cNvSpPr>
              <a:spLocks noChangeShapeType="1"/>
            </p:cNvSpPr>
            <p:nvPr/>
          </p:nvSpPr>
          <p:spPr bwMode="auto">
            <a:xfrm flipH="1">
              <a:off x="7091992" y="2204864"/>
              <a:ext cx="14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590"/>
            <p:cNvSpPr>
              <a:spLocks noChangeShapeType="1"/>
            </p:cNvSpPr>
            <p:nvPr/>
          </p:nvSpPr>
          <p:spPr bwMode="auto">
            <a:xfrm flipH="1">
              <a:off x="7091992" y="2276302"/>
              <a:ext cx="14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591"/>
            <p:cNvSpPr>
              <a:spLocks noChangeShapeType="1"/>
            </p:cNvSpPr>
            <p:nvPr/>
          </p:nvSpPr>
          <p:spPr bwMode="auto">
            <a:xfrm>
              <a:off x="7164288" y="2061914"/>
              <a:ext cx="0" cy="1428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592"/>
            <p:cNvSpPr>
              <a:spLocks noChangeShapeType="1"/>
            </p:cNvSpPr>
            <p:nvPr/>
          </p:nvSpPr>
          <p:spPr bwMode="auto">
            <a:xfrm>
              <a:off x="7163992" y="2276302"/>
              <a:ext cx="0" cy="1459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Text Box 598"/>
            <p:cNvSpPr txBox="1">
              <a:spLocks noChangeArrowheads="1"/>
            </p:cNvSpPr>
            <p:nvPr/>
          </p:nvSpPr>
          <p:spPr bwMode="auto">
            <a:xfrm>
              <a:off x="7235992" y="21312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263" name="Line 578"/>
            <p:cNvSpPr>
              <a:spLocks noChangeShapeType="1"/>
            </p:cNvSpPr>
            <p:nvPr/>
          </p:nvSpPr>
          <p:spPr bwMode="auto">
            <a:xfrm flipV="1">
              <a:off x="7164164" y="2061914"/>
              <a:ext cx="50482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675" name="Text Box 339"/>
          <p:cNvSpPr txBox="1">
            <a:spLocks noChangeArrowheads="1"/>
          </p:cNvSpPr>
          <p:nvPr/>
        </p:nvSpPr>
        <p:spPr bwMode="auto">
          <a:xfrm>
            <a:off x="179389" y="836712"/>
            <a:ext cx="597678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DRAM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的目标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节约成本、降低功耗</a:t>
            </a:r>
          </a:p>
        </p:txBody>
      </p:sp>
      <p:sp>
        <p:nvSpPr>
          <p:cNvPr id="79" name="Text Box 264"/>
          <p:cNvSpPr txBox="1">
            <a:spLocks noChangeArrowheads="1"/>
          </p:cNvSpPr>
          <p:nvPr/>
        </p:nvSpPr>
        <p:spPr bwMode="auto">
          <a:xfrm>
            <a:off x="179512" y="1772816"/>
            <a:ext cx="2592288" cy="46980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*存储原理：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*写入方法：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*保持方法：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*读出方法：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刷新方法：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E6DB-37E5-4F41-846A-F0FCAFC8C804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14411" name="Text Box 75"/>
          <p:cNvSpPr txBox="1">
            <a:spLocks noChangeArrowheads="1"/>
          </p:cNvSpPr>
          <p:nvPr/>
        </p:nvSpPr>
        <p:spPr bwMode="auto">
          <a:xfrm>
            <a:off x="179388" y="404664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二、动态</a:t>
            </a:r>
            <a:r>
              <a:rPr lang="en-US" altLang="zh-CN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u="none" dirty="0">
                <a:cs typeface="Times New Roman" panose="02020603050405020304" pitchFamily="18" charset="0"/>
              </a:rPr>
              <a:t>Dynamic 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,DRAM)</a:t>
            </a:r>
          </a:p>
        </p:txBody>
      </p:sp>
      <p:sp>
        <p:nvSpPr>
          <p:cNvPr id="14580" name="Text Box 244"/>
          <p:cNvSpPr txBox="1">
            <a:spLocks noChangeArrowheads="1"/>
          </p:cNvSpPr>
          <p:nvPr/>
        </p:nvSpPr>
        <p:spPr bwMode="auto">
          <a:xfrm>
            <a:off x="179389" y="1268760"/>
            <a:ext cx="6192812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存储元的组成原理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</a:rPr>
              <a:t>单管</a:t>
            </a:r>
            <a:r>
              <a:rPr lang="en-US" altLang="zh-CN" sz="1800" b="1" u="none" dirty="0">
                <a:latin typeface="宋体" panose="02010600030101010101" pitchFamily="2" charset="-122"/>
              </a:rPr>
              <a:t>MOS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型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09" name="Text Box 348"/>
          <p:cNvSpPr txBox="1">
            <a:spLocks noChangeArrowheads="1"/>
          </p:cNvSpPr>
          <p:nvPr/>
        </p:nvSpPr>
        <p:spPr bwMode="auto">
          <a:xfrm>
            <a:off x="1835694" y="1772816"/>
            <a:ext cx="7092548" cy="46980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无放电回路时</a:t>
            </a:r>
            <a:r>
              <a:rPr lang="en-US" altLang="zh-CN" sz="1800" b="1" u="none" dirty="0">
                <a:latin typeface="宋体" panose="02010600030101010101" pitchFamily="2" charset="-122"/>
              </a:rPr>
              <a:t>(T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截止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，电容中电荷可保持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会缓慢泄漏→需定时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刷新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①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正脉冲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结束时</a:t>
            </a:r>
            <a:r>
              <a:rPr lang="en-US" altLang="zh-CN" sz="1800" b="1" u="none" dirty="0">
                <a:latin typeface="宋体" panose="02010600030101010101" pitchFamily="2" charset="-122"/>
              </a:rPr>
              <a:t>V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W</a:t>
            </a:r>
            <a:r>
              <a:rPr lang="en-US" altLang="zh-CN" sz="1800" b="1" u="none" dirty="0">
                <a:latin typeface="宋体" panose="02010600030101010101" pitchFamily="2" charset="-122"/>
              </a:rPr>
              <a:t>=V</a:t>
            </a:r>
            <a:r>
              <a:rPr lang="zh-CN" altLang="en-US" sz="1800" b="1" u="none" baseline="-20000" dirty="0">
                <a:latin typeface="宋体" panose="02010600030101010101" pitchFamily="2" charset="-122"/>
              </a:rPr>
              <a:t>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导通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②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</a:t>
            </a:r>
            <a:r>
              <a:rPr lang="en-US" altLang="zh-CN" sz="2200" b="1" u="none" dirty="0">
                <a:latin typeface="宋体" panose="02010600030101010101" pitchFamily="2" charset="-122"/>
              </a:rPr>
              <a:t>C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</a:rPr>
              <a:t>充电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放电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W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200" b="1" u="none" baseline="-20000" dirty="0">
                <a:solidFill>
                  <a:srgbClr val="0070C0"/>
                </a:solidFill>
                <a:latin typeface="宋体" panose="02010600030101010101" pitchFamily="2" charset="-122"/>
              </a:rPr>
              <a:t>地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截止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C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S</a:t>
            </a:r>
            <a:r>
              <a:rPr lang="zh-CN" altLang="en-US" sz="2200" b="1" u="none" dirty="0">
                <a:latin typeface="宋体" panose="02010600030101010101" pitchFamily="2" charset="-122"/>
              </a:rPr>
              <a:t>状态</a:t>
            </a:r>
            <a:r>
              <a:rPr lang="zh-CN" altLang="en-US" sz="2200" b="1" dirty="0">
                <a:latin typeface="宋体" panose="02010600030101010101" pitchFamily="2" charset="-122"/>
              </a:rPr>
              <a:t>不变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①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正脉冲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(=V</a:t>
            </a:r>
            <a:r>
              <a:rPr lang="zh-CN" altLang="en-US" sz="1800" b="1" u="none" baseline="-20000" dirty="0">
                <a:solidFill>
                  <a:srgbClr val="0070C0"/>
                </a:solidFill>
                <a:latin typeface="宋体" panose="02010600030101010101" pitchFamily="2" charset="-122"/>
              </a:rPr>
              <a:t>中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</a:t>
            </a:r>
            <a:r>
              <a:rPr lang="en-US" altLang="zh-CN" sz="2200" b="1" u="none" dirty="0">
                <a:latin typeface="宋体" panose="02010600030101010101" pitchFamily="2" charset="-122"/>
              </a:rPr>
              <a:t>C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latin typeface="宋体" panose="02010600030101010101" pitchFamily="2" charset="-122"/>
              </a:rPr>
              <a:t>预充电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②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正脉冲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导通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   →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用放大器</a:t>
            </a:r>
            <a:r>
              <a:rPr lang="zh-CN" altLang="en-US" sz="2200" b="1" dirty="0">
                <a:latin typeface="宋体" panose="02010600030101010101" pitchFamily="2" charset="-122"/>
              </a:rPr>
              <a:t>读出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所读数据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重新写</a:t>
            </a:r>
            <a:r>
              <a:rPr lang="en-US" altLang="zh-CN" sz="2200" b="1" u="none" dirty="0">
                <a:latin typeface="宋体" panose="02010600030101010101" pitchFamily="2" charset="-122"/>
              </a:rPr>
              <a:t>C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S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    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破坏性读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      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称为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再生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同</a:t>
            </a:r>
            <a:r>
              <a:rPr lang="zh-CN" altLang="en-US" sz="2200" b="1" u="none" dirty="0">
                <a:latin typeface="宋体" panose="02010600030101010101" pitchFamily="2" charset="-122"/>
              </a:rPr>
              <a:t>读出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读时会再生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，但数据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不输出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到引脚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164024" y="1692000"/>
            <a:ext cx="1439863" cy="216024"/>
            <a:chOff x="6769076" y="1559694"/>
            <a:chExt cx="1439863" cy="216024"/>
          </a:xfrm>
        </p:grpSpPr>
        <p:sp>
          <p:nvSpPr>
            <p:cNvPr id="187" name="Line 613"/>
            <p:cNvSpPr>
              <a:spLocks noChangeShapeType="1"/>
            </p:cNvSpPr>
            <p:nvPr/>
          </p:nvSpPr>
          <p:spPr bwMode="auto">
            <a:xfrm flipV="1">
              <a:off x="6769076" y="1559694"/>
              <a:ext cx="1439863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614"/>
            <p:cNvSpPr>
              <a:spLocks noChangeShapeType="1"/>
            </p:cNvSpPr>
            <p:nvPr/>
          </p:nvSpPr>
          <p:spPr bwMode="auto">
            <a:xfrm flipH="1">
              <a:off x="7561076" y="1703710"/>
              <a:ext cx="144463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15"/>
            <p:cNvSpPr>
              <a:spLocks noChangeShapeType="1"/>
            </p:cNvSpPr>
            <p:nvPr/>
          </p:nvSpPr>
          <p:spPr bwMode="auto">
            <a:xfrm>
              <a:off x="7489076" y="1775718"/>
              <a:ext cx="288925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16"/>
            <p:cNvSpPr>
              <a:spLocks noChangeShapeType="1"/>
            </p:cNvSpPr>
            <p:nvPr/>
          </p:nvSpPr>
          <p:spPr bwMode="auto">
            <a:xfrm>
              <a:off x="7634248" y="1561975"/>
              <a:ext cx="0" cy="1440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6" name="AutoShape 338"/>
          <p:cNvSpPr/>
          <p:nvPr/>
        </p:nvSpPr>
        <p:spPr bwMode="auto">
          <a:xfrm>
            <a:off x="7272472" y="2780928"/>
            <a:ext cx="1548000" cy="252000"/>
          </a:xfrm>
          <a:prstGeom prst="borderCallout2">
            <a:avLst>
              <a:gd name="adj1" fmla="val 50716"/>
              <a:gd name="adj2" fmla="val 100083"/>
              <a:gd name="adj3" fmla="val 50758"/>
              <a:gd name="adj4" fmla="val 106146"/>
              <a:gd name="adj5" fmla="val -117091"/>
              <a:gd name="adj6" fmla="val 9933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每列一个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共用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380000" y="1908000"/>
            <a:ext cx="576064" cy="360000"/>
            <a:chOff x="7092280" y="1909286"/>
            <a:chExt cx="576064" cy="360000"/>
          </a:xfrm>
        </p:grpSpPr>
        <p:sp>
          <p:nvSpPr>
            <p:cNvPr id="202" name="Line 628"/>
            <p:cNvSpPr>
              <a:spLocks noChangeShapeType="1"/>
            </p:cNvSpPr>
            <p:nvPr/>
          </p:nvSpPr>
          <p:spPr bwMode="auto">
            <a:xfrm flipV="1">
              <a:off x="7163991" y="2053286"/>
              <a:ext cx="504000" cy="693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630"/>
            <p:cNvSpPr>
              <a:spLocks noChangeShapeType="1"/>
            </p:cNvSpPr>
            <p:nvPr/>
          </p:nvSpPr>
          <p:spPr bwMode="auto">
            <a:xfrm flipH="1">
              <a:off x="7092280" y="2197286"/>
              <a:ext cx="14400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631"/>
            <p:cNvSpPr>
              <a:spLocks noChangeShapeType="1"/>
            </p:cNvSpPr>
            <p:nvPr/>
          </p:nvSpPr>
          <p:spPr bwMode="auto">
            <a:xfrm flipH="1">
              <a:off x="7092280" y="2269286"/>
              <a:ext cx="144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632"/>
            <p:cNvSpPr>
              <a:spLocks noChangeShapeType="1"/>
            </p:cNvSpPr>
            <p:nvPr/>
          </p:nvSpPr>
          <p:spPr bwMode="auto">
            <a:xfrm>
              <a:off x="7165328" y="2053286"/>
              <a:ext cx="0" cy="14538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634"/>
            <p:cNvSpPr>
              <a:spLocks noChangeShapeType="1"/>
            </p:cNvSpPr>
            <p:nvPr/>
          </p:nvSpPr>
          <p:spPr bwMode="auto">
            <a:xfrm>
              <a:off x="7668344" y="1909286"/>
              <a:ext cx="0" cy="1428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0C47FFD-24D2-42CC-A644-CE6D5BF8227A}"/>
              </a:ext>
            </a:extLst>
          </p:cNvPr>
          <p:cNvGrpSpPr/>
          <p:nvPr/>
        </p:nvGrpSpPr>
        <p:grpSpPr>
          <a:xfrm>
            <a:off x="7380000" y="1908000"/>
            <a:ext cx="576064" cy="360000"/>
            <a:chOff x="7092280" y="1909286"/>
            <a:chExt cx="576064" cy="360000"/>
          </a:xfrm>
        </p:grpSpPr>
        <p:sp>
          <p:nvSpPr>
            <p:cNvPr id="86" name="Line 628">
              <a:extLst>
                <a:ext uri="{FF2B5EF4-FFF2-40B4-BE49-F238E27FC236}">
                  <a16:creationId xmlns:a16="http://schemas.microsoft.com/office/drawing/2014/main" id="{2D40B95F-20F0-48CA-BE50-84AAB0E2B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63991" y="2053286"/>
              <a:ext cx="504000" cy="693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630">
              <a:extLst>
                <a:ext uri="{FF2B5EF4-FFF2-40B4-BE49-F238E27FC236}">
                  <a16:creationId xmlns:a16="http://schemas.microsoft.com/office/drawing/2014/main" id="{EACF8DB6-BA6B-4DDA-B655-83D18CC35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280" y="2197286"/>
              <a:ext cx="144000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631">
              <a:extLst>
                <a:ext uri="{FF2B5EF4-FFF2-40B4-BE49-F238E27FC236}">
                  <a16:creationId xmlns:a16="http://schemas.microsoft.com/office/drawing/2014/main" id="{7C27449D-84AD-4EA7-B036-04E32D474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280" y="2269286"/>
              <a:ext cx="144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632">
              <a:extLst>
                <a:ext uri="{FF2B5EF4-FFF2-40B4-BE49-F238E27FC236}">
                  <a16:creationId xmlns:a16="http://schemas.microsoft.com/office/drawing/2014/main" id="{BF24E618-CB4B-4BFB-B0DD-833D9ED78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5328" y="2053286"/>
              <a:ext cx="0" cy="1453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634">
              <a:extLst>
                <a:ext uri="{FF2B5EF4-FFF2-40B4-BE49-F238E27FC236}">
                  <a16:creationId xmlns:a16="http://schemas.microsoft.com/office/drawing/2014/main" id="{1AA27120-47D8-4670-B1CD-2F2C45208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8344" y="1909286"/>
              <a:ext cx="0" cy="142875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" name="Group 599">
            <a:extLst>
              <a:ext uri="{FF2B5EF4-FFF2-40B4-BE49-F238E27FC236}">
                <a16:creationId xmlns:a16="http://schemas.microsoft.com/office/drawing/2014/main" id="{2E18838C-41B2-410C-BEB2-C4C4630D946D}"/>
              </a:ext>
            </a:extLst>
          </p:cNvPr>
          <p:cNvGrpSpPr/>
          <p:nvPr/>
        </p:nvGrpSpPr>
        <p:grpSpPr bwMode="auto">
          <a:xfrm>
            <a:off x="8100000" y="1440000"/>
            <a:ext cx="576263" cy="1260475"/>
            <a:chOff x="3017" y="2047"/>
            <a:chExt cx="363" cy="794"/>
          </a:xfrm>
        </p:grpSpPr>
        <p:sp>
          <p:nvSpPr>
            <p:cNvPr id="93" name="Line 600">
              <a:extLst>
                <a:ext uri="{FF2B5EF4-FFF2-40B4-BE49-F238E27FC236}">
                  <a16:creationId xmlns:a16="http://schemas.microsoft.com/office/drawing/2014/main" id="{C8BB3E1C-C1A2-4803-BAE6-88B63B9D4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047"/>
              <a:ext cx="0" cy="79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601">
              <a:extLst>
                <a:ext uri="{FF2B5EF4-FFF2-40B4-BE49-F238E27FC236}">
                  <a16:creationId xmlns:a16="http://schemas.microsoft.com/office/drawing/2014/main" id="{EC41566A-3A6A-42B3-B31E-BC0323F52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9" y="2614"/>
              <a:ext cx="91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602">
              <a:extLst>
                <a:ext uri="{FF2B5EF4-FFF2-40B4-BE49-F238E27FC236}">
                  <a16:creationId xmlns:a16="http://schemas.microsoft.com/office/drawing/2014/main" id="{EC8B14C1-C8AA-4B86-BE29-63A07978C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9" y="2662"/>
              <a:ext cx="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603">
              <a:extLst>
                <a:ext uri="{FF2B5EF4-FFF2-40B4-BE49-F238E27FC236}">
                  <a16:creationId xmlns:a16="http://schemas.microsoft.com/office/drawing/2014/main" id="{A0226F96-334C-415B-8209-144ED6055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2525"/>
              <a:ext cx="0" cy="9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605">
              <a:extLst>
                <a:ext uri="{FF2B5EF4-FFF2-40B4-BE49-F238E27FC236}">
                  <a16:creationId xmlns:a16="http://schemas.microsoft.com/office/drawing/2014/main" id="{C8750693-1D30-41DF-A140-5356E64F9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8" y="2525"/>
              <a:ext cx="13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607">
              <a:extLst>
                <a:ext uri="{FF2B5EF4-FFF2-40B4-BE49-F238E27FC236}">
                  <a16:creationId xmlns:a16="http://schemas.microsoft.com/office/drawing/2014/main" id="{CD7CD8A9-C4FE-42BD-BC3D-C21C73061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7" y="2435"/>
              <a:ext cx="182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608">
              <a:extLst>
                <a:ext uri="{FF2B5EF4-FFF2-40B4-BE49-F238E27FC236}">
                  <a16:creationId xmlns:a16="http://schemas.microsoft.com/office/drawing/2014/main" id="{08DE6A61-FD8B-4D8B-9724-7710E4120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7" y="2344"/>
              <a:ext cx="0" cy="9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" name="Group 599"/>
          <p:cNvGrpSpPr/>
          <p:nvPr/>
        </p:nvGrpSpPr>
        <p:grpSpPr bwMode="auto">
          <a:xfrm>
            <a:off x="8100000" y="1440000"/>
            <a:ext cx="576263" cy="1260475"/>
            <a:chOff x="3017" y="2047"/>
            <a:chExt cx="363" cy="794"/>
          </a:xfrm>
        </p:grpSpPr>
        <p:sp>
          <p:nvSpPr>
            <p:cNvPr id="177" name="Line 600"/>
            <p:cNvSpPr>
              <a:spLocks noChangeShapeType="1"/>
            </p:cNvSpPr>
            <p:nvPr/>
          </p:nvSpPr>
          <p:spPr bwMode="auto">
            <a:xfrm>
              <a:off x="3198" y="2047"/>
              <a:ext cx="0" cy="79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601"/>
            <p:cNvSpPr>
              <a:spLocks noChangeShapeType="1"/>
            </p:cNvSpPr>
            <p:nvPr/>
          </p:nvSpPr>
          <p:spPr bwMode="auto">
            <a:xfrm flipH="1">
              <a:off x="3289" y="2614"/>
              <a:ext cx="91" cy="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602"/>
            <p:cNvSpPr>
              <a:spLocks noChangeShapeType="1"/>
            </p:cNvSpPr>
            <p:nvPr/>
          </p:nvSpPr>
          <p:spPr bwMode="auto">
            <a:xfrm flipH="1">
              <a:off x="3289" y="2662"/>
              <a:ext cx="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603"/>
            <p:cNvSpPr>
              <a:spLocks noChangeShapeType="1"/>
            </p:cNvSpPr>
            <p:nvPr/>
          </p:nvSpPr>
          <p:spPr bwMode="auto">
            <a:xfrm>
              <a:off x="3334" y="2525"/>
              <a:ext cx="0" cy="9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605"/>
            <p:cNvSpPr>
              <a:spLocks noChangeShapeType="1"/>
            </p:cNvSpPr>
            <p:nvPr/>
          </p:nvSpPr>
          <p:spPr bwMode="auto">
            <a:xfrm flipH="1">
              <a:off x="3198" y="2525"/>
              <a:ext cx="136" cy="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607"/>
            <p:cNvSpPr>
              <a:spLocks noChangeShapeType="1"/>
            </p:cNvSpPr>
            <p:nvPr/>
          </p:nvSpPr>
          <p:spPr bwMode="auto">
            <a:xfrm>
              <a:off x="3017" y="2435"/>
              <a:ext cx="182" cy="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608"/>
            <p:cNvSpPr>
              <a:spLocks noChangeShapeType="1"/>
            </p:cNvSpPr>
            <p:nvPr/>
          </p:nvSpPr>
          <p:spPr bwMode="auto">
            <a:xfrm>
              <a:off x="3017" y="2344"/>
              <a:ext cx="0" cy="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9" name="Group 599">
            <a:extLst>
              <a:ext uri="{FF2B5EF4-FFF2-40B4-BE49-F238E27FC236}">
                <a16:creationId xmlns:a16="http://schemas.microsoft.com/office/drawing/2014/main" id="{19874388-A448-4E98-87D1-B8582F309F2D}"/>
              </a:ext>
            </a:extLst>
          </p:cNvPr>
          <p:cNvGrpSpPr/>
          <p:nvPr/>
        </p:nvGrpSpPr>
        <p:grpSpPr bwMode="auto">
          <a:xfrm>
            <a:off x="8100000" y="1440000"/>
            <a:ext cx="576263" cy="1260475"/>
            <a:chOff x="3017" y="2047"/>
            <a:chExt cx="363" cy="794"/>
          </a:xfrm>
        </p:grpSpPr>
        <p:sp>
          <p:nvSpPr>
            <p:cNvPr id="110" name="Line 600">
              <a:extLst>
                <a:ext uri="{FF2B5EF4-FFF2-40B4-BE49-F238E27FC236}">
                  <a16:creationId xmlns:a16="http://schemas.microsoft.com/office/drawing/2014/main" id="{6E839A54-6B2C-4347-AA9E-1A2CE6DAF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047"/>
              <a:ext cx="0" cy="79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601">
              <a:extLst>
                <a:ext uri="{FF2B5EF4-FFF2-40B4-BE49-F238E27FC236}">
                  <a16:creationId xmlns:a16="http://schemas.microsoft.com/office/drawing/2014/main" id="{945480A8-EBB0-4C7C-B113-381DFDD3C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9" y="2614"/>
              <a:ext cx="91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602">
              <a:extLst>
                <a:ext uri="{FF2B5EF4-FFF2-40B4-BE49-F238E27FC236}">
                  <a16:creationId xmlns:a16="http://schemas.microsoft.com/office/drawing/2014/main" id="{E5B78A5B-6A6B-4486-A739-AB2B18B96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9" y="2662"/>
              <a:ext cx="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603">
              <a:extLst>
                <a:ext uri="{FF2B5EF4-FFF2-40B4-BE49-F238E27FC236}">
                  <a16:creationId xmlns:a16="http://schemas.microsoft.com/office/drawing/2014/main" id="{7C85D780-BE99-4563-9E1B-1F451F372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2525"/>
              <a:ext cx="0" cy="91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605">
              <a:extLst>
                <a:ext uri="{FF2B5EF4-FFF2-40B4-BE49-F238E27FC236}">
                  <a16:creationId xmlns:a16="http://schemas.microsoft.com/office/drawing/2014/main" id="{C8C27D31-1488-45B7-A6DB-040365A10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8" y="2525"/>
              <a:ext cx="136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607">
              <a:extLst>
                <a:ext uri="{FF2B5EF4-FFF2-40B4-BE49-F238E27FC236}">
                  <a16:creationId xmlns:a16="http://schemas.microsoft.com/office/drawing/2014/main" id="{67101744-3185-47F4-98B7-A81E5A8ED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7" y="2435"/>
              <a:ext cx="18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608">
              <a:extLst>
                <a:ext uri="{FF2B5EF4-FFF2-40B4-BE49-F238E27FC236}">
                  <a16:creationId xmlns:a16="http://schemas.microsoft.com/office/drawing/2014/main" id="{D1DA16C8-9508-4452-A728-5AF2DE49B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7" y="2344"/>
              <a:ext cx="0" cy="9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5C69CE5-2AC6-42A6-82EA-6DD03A7AEEA8}"/>
              </a:ext>
            </a:extLst>
          </p:cNvPr>
          <p:cNvGrpSpPr/>
          <p:nvPr/>
        </p:nvGrpSpPr>
        <p:grpSpPr>
          <a:xfrm>
            <a:off x="2808063" y="4653136"/>
            <a:ext cx="3383693" cy="880562"/>
            <a:chOff x="1800000" y="1700808"/>
            <a:chExt cx="3383693" cy="880562"/>
          </a:xfrm>
        </p:grpSpPr>
        <p:sp>
          <p:nvSpPr>
            <p:cNvPr id="121" name="Text Box 348">
              <a:extLst>
                <a:ext uri="{FF2B5EF4-FFF2-40B4-BE49-F238E27FC236}">
                  <a16:creationId xmlns:a16="http://schemas.microsoft.com/office/drawing/2014/main" id="{7680E487-DC3B-4772-B5D6-54C335B2F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693" y="1700808"/>
              <a:ext cx="3348000" cy="88056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线电压产生变化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较大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</a:t>
              </a:r>
              <a:r>
                <a:rPr lang="en-US" altLang="zh-CN" sz="2200" b="1" u="none" baseline="-16000" dirty="0">
                  <a:latin typeface="宋体" panose="02010600030101010101" pitchFamily="2" charset="-122"/>
                </a:rPr>
                <a:t>S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电压产生变化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较大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22" name="左大括号 121">
              <a:extLst>
                <a:ext uri="{FF2B5EF4-FFF2-40B4-BE49-F238E27FC236}">
                  <a16:creationId xmlns:a16="http://schemas.microsoft.com/office/drawing/2014/main" id="{A95C5E8D-729F-46C6-9E35-FA67E8DC46AB}"/>
                </a:ext>
              </a:extLst>
            </p:cNvPr>
            <p:cNvSpPr/>
            <p:nvPr/>
          </p:nvSpPr>
          <p:spPr bwMode="auto">
            <a:xfrm>
              <a:off x="1800000" y="1954800"/>
              <a:ext cx="108000" cy="432000"/>
            </a:xfrm>
            <a:prstGeom prst="leftBrace">
              <a:avLst>
                <a:gd name="adj1" fmla="val 23319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80" grpId="0"/>
      <p:bldP spid="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18</a:t>
            </a:fld>
            <a:endParaRPr lang="en-US" altLang="zh-CN" dirty="0"/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179705" y="836712"/>
            <a:ext cx="5831205" cy="21044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(1)DRAM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芯片的引脚组织</a:t>
            </a:r>
            <a:endParaRPr lang="en-US" altLang="zh-CN" sz="2200" b="1" u="none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*数据引脚：</a:t>
            </a:r>
            <a:r>
              <a:rPr lang="zh-CN" altLang="en-US" sz="2200" b="1" u="none" dirty="0"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  <a:sym typeface="+mn-ea"/>
              </a:rPr>
              <a:t>w</a:t>
            </a:r>
            <a:r>
              <a:rPr lang="zh-CN" altLang="en-US" sz="2200" b="1" u="none" dirty="0">
                <a:latin typeface="+mn-ea"/>
                <a:ea typeface="+mn-ea"/>
                <a:sym typeface="+mn-ea"/>
              </a:rPr>
              <a:t>位，</a:t>
            </a:r>
            <a:r>
              <a:rPr lang="zh-CN" altLang="en-US" sz="2200" b="1" u="none" dirty="0">
                <a:latin typeface="+mn-ea"/>
                <a:ea typeface="+mn-ea"/>
              </a:rPr>
              <a:t>有单向、双向</a:t>
            </a:r>
            <a:r>
              <a:rPr lang="en-US" altLang="zh-CN" sz="2200" b="1" u="none" dirty="0">
                <a:latin typeface="+mn-ea"/>
                <a:ea typeface="+mn-ea"/>
              </a:rPr>
              <a:t>2</a:t>
            </a:r>
            <a:r>
              <a:rPr lang="zh-CN" altLang="en-US" sz="2200" b="1" u="none" dirty="0">
                <a:latin typeface="+mn-ea"/>
                <a:ea typeface="+mn-ea"/>
              </a:rPr>
              <a:t>种方式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*地址引脚：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endParaRPr lang="en-US" altLang="zh-CN" sz="16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*控制引脚：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" name="Text Box 724"/>
          <p:cNvSpPr txBox="1">
            <a:spLocks noChangeArrowheads="1"/>
          </p:cNvSpPr>
          <p:nvPr/>
        </p:nvSpPr>
        <p:spPr bwMode="auto">
          <a:xfrm>
            <a:off x="1835696" y="1702808"/>
            <a:ext cx="7054498" cy="7565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</a:rPr>
              <a:t>[log</a:t>
            </a:r>
            <a:r>
              <a:rPr lang="en-US" altLang="zh-CN" sz="2200" b="1" u="none" baseline="-26000" dirty="0">
                <a:latin typeface="+mn-ea"/>
                <a:ea typeface="+mn-ea"/>
              </a:rPr>
              <a:t>2</a:t>
            </a:r>
            <a:r>
              <a:rPr lang="en-US" altLang="zh-CN" sz="2200" b="1" u="none" dirty="0">
                <a:latin typeface="+mn-ea"/>
                <a:ea typeface="+mn-ea"/>
              </a:rPr>
              <a:t>(S/w)]</a:t>
            </a: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/2</a:t>
            </a:r>
            <a:r>
              <a:rPr lang="zh-CN" altLang="en-US" sz="2200" b="1" u="none" dirty="0">
                <a:latin typeface="+mn-ea"/>
                <a:ea typeface="+mn-ea"/>
              </a:rPr>
              <a:t>根，地址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分</a:t>
            </a: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次传送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行地址＋列地址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+mn-ea"/>
                <a:ea typeface="+mn-ea"/>
              </a:rPr>
              <a:t>                </a:t>
            </a:r>
            <a:r>
              <a:rPr lang="zh-CN" altLang="en-US" sz="1800" u="none" dirty="0">
                <a:solidFill>
                  <a:srgbClr val="C00000"/>
                </a:solidFill>
                <a:latin typeface="+mn-ea"/>
                <a:ea typeface="+mn-ea"/>
              </a:rPr>
              <a:t>└</a:t>
            </a:r>
            <a:r>
              <a:rPr lang="zh-CN" altLang="en-US" sz="1800" b="1" u="none" dirty="0">
                <a:solidFill>
                  <a:srgbClr val="C00000"/>
                </a:solidFill>
                <a:latin typeface="+mn-ea"/>
                <a:ea typeface="+mn-ea"/>
              </a:rPr>
              <a:t>←提高集成度</a:t>
            </a:r>
            <a:r>
              <a:rPr lang="en-US" altLang="zh-CN" sz="1600" b="1" u="none" dirty="0">
                <a:latin typeface="+mn-ea"/>
              </a:rPr>
              <a:t>(</a:t>
            </a:r>
            <a:r>
              <a:rPr lang="zh-CN" altLang="en-US" sz="1600" b="1" u="none" dirty="0">
                <a:latin typeface="+mn-ea"/>
              </a:rPr>
              <a:t>芯片封装面积主要受限于引脚</a:t>
            </a:r>
            <a:r>
              <a:rPr lang="en-US" altLang="zh-CN" sz="1600" b="1" u="none" dirty="0">
                <a:latin typeface="+mn-ea"/>
              </a:rPr>
              <a:t>)</a:t>
            </a:r>
            <a:endParaRPr lang="en-US" altLang="zh-CN" sz="1800" b="1" u="none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7" name="Text Box 32"/>
          <p:cNvSpPr txBox="1">
            <a:spLocks noChangeArrowheads="1"/>
          </p:cNvSpPr>
          <p:nvPr/>
        </p:nvSpPr>
        <p:spPr bwMode="auto">
          <a:xfrm>
            <a:off x="179512" y="332656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芯片的组成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835696" y="2420888"/>
            <a:ext cx="6444000" cy="720000"/>
            <a:chOff x="2267495" y="2634297"/>
            <a:chExt cx="6444000" cy="720000"/>
          </a:xfrm>
        </p:grpSpPr>
        <p:sp>
          <p:nvSpPr>
            <p:cNvPr id="6" name="Text Box 33"/>
            <p:cNvSpPr txBox="1">
              <a:spLocks noChangeArrowheads="1"/>
            </p:cNvSpPr>
            <p:nvPr/>
          </p:nvSpPr>
          <p:spPr bwMode="auto">
            <a:xfrm>
              <a:off x="2267495" y="2634297"/>
              <a:ext cx="6444000" cy="72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＝行地址选通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RAS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、列地址选通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、读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写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WE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(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R</a:t>
              </a:r>
              <a:r>
                <a:rPr lang="en-US" altLang="zh-CN" sz="1600" u="none" dirty="0"/>
                <a:t>ow 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A</a:t>
              </a:r>
              <a:r>
                <a:rPr lang="en-US" altLang="zh-CN" sz="1600" u="none" dirty="0"/>
                <a:t>ddress 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S</a:t>
              </a:r>
              <a:r>
                <a:rPr lang="en-US" altLang="zh-CN" sz="1600" u="none" dirty="0"/>
                <a:t>trobe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 (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C</a:t>
              </a:r>
              <a:r>
                <a:rPr lang="en-US" altLang="zh-CN" sz="1600" u="none" dirty="0"/>
                <a:t>olumn 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A</a:t>
              </a:r>
              <a:r>
                <a:rPr lang="en-US" altLang="zh-CN" sz="1600" u="none" dirty="0"/>
                <a:t>ddress </a:t>
              </a:r>
              <a:r>
                <a:rPr lang="en-US" altLang="zh-CN" sz="1600" u="none" dirty="0">
                  <a:solidFill>
                    <a:srgbClr val="C00000"/>
                  </a:solidFill>
                </a:rPr>
                <a:t>S</a:t>
              </a:r>
              <a:r>
                <a:rPr lang="en-US" altLang="zh-CN" sz="1600" u="none" dirty="0"/>
                <a:t>trobe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 (</a:t>
              </a:r>
              <a:r>
                <a:rPr lang="en-US" altLang="zh-CN" sz="1600" u="none" dirty="0">
                  <a:solidFill>
                    <a:srgbClr val="C00000"/>
                  </a:solidFill>
                  <a:latin typeface="+mn-lt"/>
                </a:rPr>
                <a:t>W</a:t>
              </a:r>
              <a:r>
                <a:rPr lang="en-US" altLang="zh-CN" sz="1600" u="none" dirty="0">
                  <a:latin typeface="+mn-lt"/>
                </a:rPr>
                <a:t>rite </a:t>
              </a:r>
              <a:r>
                <a:rPr lang="en-US" altLang="zh-CN" sz="1600" u="none" dirty="0">
                  <a:solidFill>
                    <a:srgbClr val="C00000"/>
                  </a:solidFill>
                  <a:latin typeface="+mn-lt"/>
                </a:rPr>
                <a:t>E</a:t>
              </a:r>
              <a:r>
                <a:rPr lang="en-US" altLang="zh-CN" sz="1600" u="none" dirty="0">
                  <a:latin typeface="+mn-lt"/>
                </a:rPr>
                <a:t>nable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4056999" y="2753097"/>
              <a:ext cx="41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6162999" y="2753097"/>
              <a:ext cx="41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7552599" y="2753097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9" name="组合 88"/>
          <p:cNvGrpSpPr/>
          <p:nvPr/>
        </p:nvGrpSpPr>
        <p:grpSpPr>
          <a:xfrm>
            <a:off x="3039454" y="4293096"/>
            <a:ext cx="5348970" cy="457369"/>
            <a:chOff x="3615518" y="2996952"/>
            <a:chExt cx="5348970" cy="457369"/>
          </a:xfrm>
        </p:grpSpPr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3615518" y="2996952"/>
              <a:ext cx="5348970" cy="457369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借用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RAS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实现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操作期间全部有效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/>
          </p:nvCxnSpPr>
          <p:spPr bwMode="auto">
            <a:xfrm>
              <a:off x="4281654" y="3124566"/>
              <a:ext cx="41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5" name="Text Box 33"/>
          <p:cNvSpPr txBox="1">
            <a:spLocks noChangeArrowheads="1"/>
          </p:cNvSpPr>
          <p:nvPr/>
        </p:nvSpPr>
        <p:spPr bwMode="auto">
          <a:xfrm>
            <a:off x="179512" y="4293096"/>
            <a:ext cx="5436399" cy="20347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片选功能的组织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刷新功能的组织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稍后讨论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13" name="AutoShape 63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8644537-FA02-4E6F-916E-7D1685C8FDD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988000" y="652680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21815FF7-CD95-43D2-8590-5B4F4902ACB1}"/>
              </a:ext>
            </a:extLst>
          </p:cNvPr>
          <p:cNvGrpSpPr/>
          <p:nvPr/>
        </p:nvGrpSpPr>
        <p:grpSpPr>
          <a:xfrm>
            <a:off x="2016128" y="3212976"/>
            <a:ext cx="3708000" cy="1080072"/>
            <a:chOff x="900000" y="3780000"/>
            <a:chExt cx="3708000" cy="1080072"/>
          </a:xfrm>
        </p:grpSpPr>
        <p:sp>
          <p:nvSpPr>
            <p:cNvPr id="116" name="Line 287">
              <a:extLst>
                <a:ext uri="{FF2B5EF4-FFF2-40B4-BE49-F238E27FC236}">
                  <a16:creationId xmlns:a16="http://schemas.microsoft.com/office/drawing/2014/main" id="{7C968FF4-BD53-4BA5-A702-D328C1663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3968" y="3780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75">
              <a:extLst>
                <a:ext uri="{FF2B5EF4-FFF2-40B4-BE49-F238E27FC236}">
                  <a16:creationId xmlns:a16="http://schemas.microsoft.com/office/drawing/2014/main" id="{9F5B3269-F8C0-439D-8135-13D30403F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864" y="3780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404">
              <a:extLst>
                <a:ext uri="{FF2B5EF4-FFF2-40B4-BE49-F238E27FC236}">
                  <a16:creationId xmlns:a16="http://schemas.microsoft.com/office/drawing/2014/main" id="{D63CFBE5-1E5B-4FA9-957B-E163F5881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06800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9" name="Line 405">
              <a:extLst>
                <a:ext uri="{FF2B5EF4-FFF2-40B4-BE49-F238E27FC236}">
                  <a16:creationId xmlns:a16="http://schemas.microsoft.com/office/drawing/2014/main" id="{7D96E139-24BE-434E-9391-E031A37D8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000" y="4068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Text Box 436">
              <a:extLst>
                <a:ext uri="{FF2B5EF4-FFF2-40B4-BE49-F238E27FC236}">
                  <a16:creationId xmlns:a16="http://schemas.microsoft.com/office/drawing/2014/main" id="{5A2AC69D-C8E4-4316-83BF-A9B577DCF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4644072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1" name="Line 437">
              <a:extLst>
                <a:ext uri="{FF2B5EF4-FFF2-40B4-BE49-F238E27FC236}">
                  <a16:creationId xmlns:a16="http://schemas.microsoft.com/office/drawing/2014/main" id="{AA939593-1EF0-4CE6-99D8-E13121805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0000" y="4644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2" name="Text Box 439">
              <a:extLst>
                <a:ext uri="{FF2B5EF4-FFF2-40B4-BE49-F238E27FC236}">
                  <a16:creationId xmlns:a16="http://schemas.microsoft.com/office/drawing/2014/main" id="{6B93F5B5-6B2B-48B2-9335-1507AC5E3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356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3" name="Line 440">
              <a:extLst>
                <a:ext uri="{FF2B5EF4-FFF2-40B4-BE49-F238E27FC236}">
                  <a16:creationId xmlns:a16="http://schemas.microsoft.com/office/drawing/2014/main" id="{686656A6-1D65-4F38-9256-10A6FA13A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000" y="4356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358">
              <a:extLst>
                <a:ext uri="{FF2B5EF4-FFF2-40B4-BE49-F238E27FC236}">
                  <a16:creationId xmlns:a16="http://schemas.microsoft.com/office/drawing/2014/main" id="{099175E2-AC69-42EF-B720-F3DBBD85B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0145" y="3780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359">
              <a:extLst>
                <a:ext uri="{FF2B5EF4-FFF2-40B4-BE49-F238E27FC236}">
                  <a16:creationId xmlns:a16="http://schemas.microsoft.com/office/drawing/2014/main" id="{4B21FC7F-94AB-4B46-B9E8-918DC9D03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5776" y="3780000"/>
              <a:ext cx="0" cy="792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71">
              <a:extLst>
                <a:ext uri="{FF2B5EF4-FFF2-40B4-BE49-F238E27FC236}">
                  <a16:creationId xmlns:a16="http://schemas.microsoft.com/office/drawing/2014/main" id="{67FD8CB4-2EB3-4AFF-8133-247BB3A8B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6000" y="4068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73">
              <a:extLst>
                <a:ext uri="{FF2B5EF4-FFF2-40B4-BE49-F238E27FC236}">
                  <a16:creationId xmlns:a16="http://schemas.microsoft.com/office/drawing/2014/main" id="{7BA62464-57DC-49D1-A741-5D187ABE7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678" y="4285399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74">
              <a:extLst>
                <a:ext uri="{FF2B5EF4-FFF2-40B4-BE49-F238E27FC236}">
                  <a16:creationId xmlns:a16="http://schemas.microsoft.com/office/drawing/2014/main" id="{E5282E64-4AAE-4ECB-AA79-D0CAB309D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3768" y="4069588"/>
              <a:ext cx="142875" cy="216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300">
              <a:extLst>
                <a:ext uri="{FF2B5EF4-FFF2-40B4-BE49-F238E27FC236}">
                  <a16:creationId xmlns:a16="http://schemas.microsoft.com/office/drawing/2014/main" id="{6A58EA74-2043-475D-B24B-FD55C1C31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6000" y="4644000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318">
              <a:extLst>
                <a:ext uri="{FF2B5EF4-FFF2-40B4-BE49-F238E27FC236}">
                  <a16:creationId xmlns:a16="http://schemas.microsoft.com/office/drawing/2014/main" id="{C332F851-9859-4C40-812E-65D4A0C32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837" y="40695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349">
              <a:extLst>
                <a:ext uri="{FF2B5EF4-FFF2-40B4-BE49-F238E27FC236}">
                  <a16:creationId xmlns:a16="http://schemas.microsoft.com/office/drawing/2014/main" id="{51F2A1CE-B989-4B35-9A1F-9DB976E0E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4356000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350">
              <a:extLst>
                <a:ext uri="{FF2B5EF4-FFF2-40B4-BE49-F238E27FC236}">
                  <a16:creationId xmlns:a16="http://schemas.microsoft.com/office/drawing/2014/main" id="{618174B3-AC33-4F76-BECB-30E6CED78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8000" y="4572000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351">
              <a:extLst>
                <a:ext uri="{FF2B5EF4-FFF2-40B4-BE49-F238E27FC236}">
                  <a16:creationId xmlns:a16="http://schemas.microsoft.com/office/drawing/2014/main" id="{6E3DD479-2EC5-49C7-86A6-9D7C2C356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5856" y="4356000"/>
              <a:ext cx="142875" cy="216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352">
              <a:extLst>
                <a:ext uri="{FF2B5EF4-FFF2-40B4-BE49-F238E27FC236}">
                  <a16:creationId xmlns:a16="http://schemas.microsoft.com/office/drawing/2014/main" id="{27CDBB4B-2331-4A94-836E-78B04E09E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9872" y="4357619"/>
              <a:ext cx="108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56">
              <a:extLst>
                <a:ext uri="{FF2B5EF4-FFF2-40B4-BE49-F238E27FC236}">
                  <a16:creationId xmlns:a16="http://schemas.microsoft.com/office/drawing/2014/main" id="{42D31910-2C6C-4063-A285-A499E9902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000" y="4356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477">
              <a:extLst>
                <a:ext uri="{FF2B5EF4-FFF2-40B4-BE49-F238E27FC236}">
                  <a16:creationId xmlns:a16="http://schemas.microsoft.com/office/drawing/2014/main" id="{314FCF64-2851-4716-B345-2589BD32F0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7077" y="4644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478">
              <a:extLst>
                <a:ext uri="{FF2B5EF4-FFF2-40B4-BE49-F238E27FC236}">
                  <a16:creationId xmlns:a16="http://schemas.microsoft.com/office/drawing/2014/main" id="{2DE9526D-48AC-4FB0-83E2-5B0A5C05F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997" y="4644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482">
              <a:extLst>
                <a:ext uri="{FF2B5EF4-FFF2-40B4-BE49-F238E27FC236}">
                  <a16:creationId xmlns:a16="http://schemas.microsoft.com/office/drawing/2014/main" id="{A6048728-99E1-4552-A859-22F4605B9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9872" y="4860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275">
              <a:extLst>
                <a:ext uri="{FF2B5EF4-FFF2-40B4-BE49-F238E27FC236}">
                  <a16:creationId xmlns:a16="http://schemas.microsoft.com/office/drawing/2014/main" id="{07756F50-7952-45EA-8024-CDA493EC9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7784" y="4069588"/>
              <a:ext cx="1872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50">
              <a:extLst>
                <a:ext uri="{FF2B5EF4-FFF2-40B4-BE49-F238E27FC236}">
                  <a16:creationId xmlns:a16="http://schemas.microsoft.com/office/drawing/2014/main" id="{A2D447D9-C240-428F-AADF-059D2AA18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000" y="4644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482">
              <a:extLst>
                <a:ext uri="{FF2B5EF4-FFF2-40B4-BE49-F238E27FC236}">
                  <a16:creationId xmlns:a16="http://schemas.microsoft.com/office/drawing/2014/main" id="{D391265F-E71D-46C5-AE06-A8433C7FB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5976" y="4645652"/>
              <a:ext cx="86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AutoShape 215">
              <a:extLst>
                <a:ext uri="{FF2B5EF4-FFF2-40B4-BE49-F238E27FC236}">
                  <a16:creationId xmlns:a16="http://schemas.microsoft.com/office/drawing/2014/main" id="{DDE114AD-32A8-47C1-97A7-5EFA36EF5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000" y="3780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行地址</a:t>
              </a:r>
            </a:p>
          </p:txBody>
        </p:sp>
        <p:sp>
          <p:nvSpPr>
            <p:cNvPr id="143" name="AutoShape 215">
              <a:extLst>
                <a:ext uri="{FF2B5EF4-FFF2-40B4-BE49-F238E27FC236}">
                  <a16:creationId xmlns:a16="http://schemas.microsoft.com/office/drawing/2014/main" id="{6A7D4AEF-A455-4647-A3F2-5734E8115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782" y="3780000"/>
              <a:ext cx="172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0" tIns="10800" rIns="18000" bIns="1080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列地址</a:t>
              </a:r>
            </a:p>
          </p:txBody>
        </p:sp>
        <p:sp>
          <p:nvSpPr>
            <p:cNvPr id="144" name="AutoShape 215">
              <a:extLst>
                <a:ext uri="{FF2B5EF4-FFF2-40B4-BE49-F238E27FC236}">
                  <a16:creationId xmlns:a16="http://schemas.microsoft.com/office/drawing/2014/main" id="{E5259F62-9E75-42C3-842F-DBF63B06C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80" y="3780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45" name="Text Box 691">
              <a:extLst>
                <a:ext uri="{FF2B5EF4-FFF2-40B4-BE49-F238E27FC236}">
                  <a16:creationId xmlns:a16="http://schemas.microsoft.com/office/drawing/2014/main" id="{A1A59D73-E356-46DF-93F8-3F19E381B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06" y="3780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46" name="AutoShape 215">
              <a:extLst>
                <a:ext uri="{FF2B5EF4-FFF2-40B4-BE49-F238E27FC236}">
                  <a16:creationId xmlns:a16="http://schemas.microsoft.com/office/drawing/2014/main" id="{5E96C234-615E-4B5B-ACE6-F639381FC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000" y="3780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47" name="Text Box 691">
              <a:extLst>
                <a:ext uri="{FF2B5EF4-FFF2-40B4-BE49-F238E27FC236}">
                  <a16:creationId xmlns:a16="http://schemas.microsoft.com/office/drawing/2014/main" id="{0AE9DB6E-7173-42ED-ACE3-371FA3F6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00" y="3780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691">
              <a:extLst>
                <a:ext uri="{FF2B5EF4-FFF2-40B4-BE49-F238E27FC236}">
                  <a16:creationId xmlns:a16="http://schemas.microsoft.com/office/drawing/2014/main" id="{1DC0D1A9-4EA3-42AD-B3F4-E13E6EAF3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378000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0D4687A-0BAC-4D80-8954-776B3100645D}"/>
              </a:ext>
            </a:extLst>
          </p:cNvPr>
          <p:cNvGrpSpPr/>
          <p:nvPr/>
        </p:nvGrpSpPr>
        <p:grpSpPr>
          <a:xfrm>
            <a:off x="2016128" y="4797200"/>
            <a:ext cx="3708000" cy="1080072"/>
            <a:chOff x="935664" y="756000"/>
            <a:chExt cx="3708000" cy="1080072"/>
          </a:xfrm>
        </p:grpSpPr>
        <p:sp>
          <p:nvSpPr>
            <p:cNvPr id="150" name="Text Box 344">
              <a:extLst>
                <a:ext uri="{FF2B5EF4-FFF2-40B4-BE49-F238E27FC236}">
                  <a16:creationId xmlns:a16="http://schemas.microsoft.com/office/drawing/2014/main" id="{1285B98E-2633-4324-A304-F148D8C82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000" y="1044000"/>
              <a:ext cx="1584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51" name="Line 287">
              <a:extLst>
                <a:ext uri="{FF2B5EF4-FFF2-40B4-BE49-F238E27FC236}">
                  <a16:creationId xmlns:a16="http://schemas.microsoft.com/office/drawing/2014/main" id="{CC6659E7-1183-4980-AB6A-A8E689065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9632" y="756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375">
              <a:extLst>
                <a:ext uri="{FF2B5EF4-FFF2-40B4-BE49-F238E27FC236}">
                  <a16:creationId xmlns:a16="http://schemas.microsoft.com/office/drawing/2014/main" id="{FE9CC56D-FE3A-4DD1-86E0-5AC7FA23F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3528" y="756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404">
              <a:extLst>
                <a:ext uri="{FF2B5EF4-FFF2-40B4-BE49-F238E27FC236}">
                  <a16:creationId xmlns:a16="http://schemas.microsoft.com/office/drawing/2014/main" id="{8E1B6CFC-E5F9-44C7-938F-0A42D5AB6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64" y="104400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8" name="Line 405">
              <a:extLst>
                <a:ext uri="{FF2B5EF4-FFF2-40B4-BE49-F238E27FC236}">
                  <a16:creationId xmlns:a16="http://schemas.microsoft.com/office/drawing/2014/main" id="{26166E43-700C-49D0-99D3-97146E5F1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664" y="1044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Text Box 436">
              <a:extLst>
                <a:ext uri="{FF2B5EF4-FFF2-40B4-BE49-F238E27FC236}">
                  <a16:creationId xmlns:a16="http://schemas.microsoft.com/office/drawing/2014/main" id="{453AE270-F025-4B0A-ADE8-7678901AC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664" y="1620072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0" name="Line 437">
              <a:extLst>
                <a:ext uri="{FF2B5EF4-FFF2-40B4-BE49-F238E27FC236}">
                  <a16:creationId xmlns:a16="http://schemas.microsoft.com/office/drawing/2014/main" id="{24962A1D-374A-414C-8411-04019528CF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5664" y="1620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51" name="Text Box 439">
              <a:extLst>
                <a:ext uri="{FF2B5EF4-FFF2-40B4-BE49-F238E27FC236}">
                  <a16:creationId xmlns:a16="http://schemas.microsoft.com/office/drawing/2014/main" id="{563C4765-FCEF-4E90-BD5F-BD8EFD149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64" y="1332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2" name="Line 440">
              <a:extLst>
                <a:ext uri="{FF2B5EF4-FFF2-40B4-BE49-F238E27FC236}">
                  <a16:creationId xmlns:a16="http://schemas.microsoft.com/office/drawing/2014/main" id="{F1D2D347-016D-42F7-A204-CF594D95F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664" y="1332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358">
              <a:extLst>
                <a:ext uri="{FF2B5EF4-FFF2-40B4-BE49-F238E27FC236}">
                  <a16:creationId xmlns:a16="http://schemas.microsoft.com/office/drawing/2014/main" id="{DBA6D3B1-556E-4E19-BE9C-9F569456C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5809" y="756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359">
              <a:extLst>
                <a:ext uri="{FF2B5EF4-FFF2-40B4-BE49-F238E27FC236}">
                  <a16:creationId xmlns:a16="http://schemas.microsoft.com/office/drawing/2014/main" id="{4F0D57C7-398D-4CE1-A353-E2D358546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1440" y="756000"/>
              <a:ext cx="0" cy="792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71">
              <a:extLst>
                <a:ext uri="{FF2B5EF4-FFF2-40B4-BE49-F238E27FC236}">
                  <a16:creationId xmlns:a16="http://schemas.microsoft.com/office/drawing/2014/main" id="{783C4AF6-D873-417D-A65E-D95DCC5FA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1664" y="1044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73">
              <a:extLst>
                <a:ext uri="{FF2B5EF4-FFF2-40B4-BE49-F238E27FC236}">
                  <a16:creationId xmlns:a16="http://schemas.microsoft.com/office/drawing/2014/main" id="{541C1F1F-5985-41C5-9545-C4048AF1D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342" y="1261399"/>
              <a:ext cx="20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74">
              <a:extLst>
                <a:ext uri="{FF2B5EF4-FFF2-40B4-BE49-F238E27FC236}">
                  <a16:creationId xmlns:a16="http://schemas.microsoft.com/office/drawing/2014/main" id="{E693F7CE-6A8E-4DAC-BA66-2124F07AD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00" y="10455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300">
              <a:extLst>
                <a:ext uri="{FF2B5EF4-FFF2-40B4-BE49-F238E27FC236}">
                  <a16:creationId xmlns:a16="http://schemas.microsoft.com/office/drawing/2014/main" id="{F7FF5C3B-3AE4-4985-AB15-0D5A1A569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1664" y="1620000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318">
              <a:extLst>
                <a:ext uri="{FF2B5EF4-FFF2-40B4-BE49-F238E27FC236}">
                  <a16:creationId xmlns:a16="http://schemas.microsoft.com/office/drawing/2014/main" id="{F1642A65-DB9E-42DC-9C27-F615CD6DB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501" y="10455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349">
              <a:extLst>
                <a:ext uri="{FF2B5EF4-FFF2-40B4-BE49-F238E27FC236}">
                  <a16:creationId xmlns:a16="http://schemas.microsoft.com/office/drawing/2014/main" id="{CC71DDCC-C82A-4F28-A37B-14CC4C937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664" y="1332000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350">
              <a:extLst>
                <a:ext uri="{FF2B5EF4-FFF2-40B4-BE49-F238E27FC236}">
                  <a16:creationId xmlns:a16="http://schemas.microsoft.com/office/drawing/2014/main" id="{72A7045F-896C-4A73-A4D0-6C506EF941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000" y="1548000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351">
              <a:extLst>
                <a:ext uri="{FF2B5EF4-FFF2-40B4-BE49-F238E27FC236}">
                  <a16:creationId xmlns:a16="http://schemas.microsoft.com/office/drawing/2014/main" id="{E474D5D1-48ED-483D-A40B-982D2DAC8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1520" y="1332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352">
              <a:extLst>
                <a:ext uri="{FF2B5EF4-FFF2-40B4-BE49-F238E27FC236}">
                  <a16:creationId xmlns:a16="http://schemas.microsoft.com/office/drawing/2014/main" id="{F25012CC-79A5-46F7-A0FC-93BA7A53B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5536" y="1333619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356">
              <a:extLst>
                <a:ext uri="{FF2B5EF4-FFF2-40B4-BE49-F238E27FC236}">
                  <a16:creationId xmlns:a16="http://schemas.microsoft.com/office/drawing/2014/main" id="{729AD920-CFE9-487F-AC22-36E6BB1F8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000" y="1332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477">
              <a:extLst>
                <a:ext uri="{FF2B5EF4-FFF2-40B4-BE49-F238E27FC236}">
                  <a16:creationId xmlns:a16="http://schemas.microsoft.com/office/drawing/2014/main" id="{09B5FD47-EEB8-4AEF-948C-F8D06E13A1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741" y="1620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478">
              <a:extLst>
                <a:ext uri="{FF2B5EF4-FFF2-40B4-BE49-F238E27FC236}">
                  <a16:creationId xmlns:a16="http://schemas.microsoft.com/office/drawing/2014/main" id="{346F3EE4-3C37-4B67-875D-90B463466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661" y="1620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482">
              <a:extLst>
                <a:ext uri="{FF2B5EF4-FFF2-40B4-BE49-F238E27FC236}">
                  <a16:creationId xmlns:a16="http://schemas.microsoft.com/office/drawing/2014/main" id="{ECAF44A3-74FC-4322-B038-184170F11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5536" y="1836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75">
              <a:extLst>
                <a:ext uri="{FF2B5EF4-FFF2-40B4-BE49-F238E27FC236}">
                  <a16:creationId xmlns:a16="http://schemas.microsoft.com/office/drawing/2014/main" id="{A3F082AE-E93D-4D05-989A-6F46877FF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0" y="1045588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350">
              <a:extLst>
                <a:ext uri="{FF2B5EF4-FFF2-40B4-BE49-F238E27FC236}">
                  <a16:creationId xmlns:a16="http://schemas.microsoft.com/office/drawing/2014/main" id="{AFB3945F-69EE-4D06-A55C-2522CC67D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5664" y="1620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482">
              <a:extLst>
                <a:ext uri="{FF2B5EF4-FFF2-40B4-BE49-F238E27FC236}">
                  <a16:creationId xmlns:a16="http://schemas.microsoft.com/office/drawing/2014/main" id="{FA2D1F64-A05C-4D19-A390-18EDF09D9F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1640" y="1621652"/>
              <a:ext cx="86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AutoShape 215">
              <a:extLst>
                <a:ext uri="{FF2B5EF4-FFF2-40B4-BE49-F238E27FC236}">
                  <a16:creationId xmlns:a16="http://schemas.microsoft.com/office/drawing/2014/main" id="{80C7C82D-7E0E-4196-B2DA-944CF56C3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7664" y="756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行地址</a:t>
              </a:r>
            </a:p>
          </p:txBody>
        </p:sp>
        <p:sp>
          <p:nvSpPr>
            <p:cNvPr id="272" name="AutoShape 215">
              <a:extLst>
                <a:ext uri="{FF2B5EF4-FFF2-40B4-BE49-F238E27FC236}">
                  <a16:creationId xmlns:a16="http://schemas.microsoft.com/office/drawing/2014/main" id="{9EBDDAD2-51D1-42F5-B7D7-680CD3C0B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446" y="756000"/>
              <a:ext cx="172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0" tIns="10800" rIns="18000" bIns="1080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列地址</a:t>
              </a:r>
            </a:p>
          </p:txBody>
        </p:sp>
        <p:sp>
          <p:nvSpPr>
            <p:cNvPr id="273" name="AutoShape 215">
              <a:extLst>
                <a:ext uri="{FF2B5EF4-FFF2-40B4-BE49-F238E27FC236}">
                  <a16:creationId xmlns:a16="http://schemas.microsoft.com/office/drawing/2014/main" id="{CBF7E56E-309C-4942-8C72-6B11A871C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344" y="756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4" name="Text Box 691">
              <a:extLst>
                <a:ext uri="{FF2B5EF4-FFF2-40B4-BE49-F238E27FC236}">
                  <a16:creationId xmlns:a16="http://schemas.microsoft.com/office/drawing/2014/main" id="{41EB037F-D92E-4D7A-BD9D-3843B329F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970" y="756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75" name="AutoShape 215">
              <a:extLst>
                <a:ext uri="{FF2B5EF4-FFF2-40B4-BE49-F238E27FC236}">
                  <a16:creationId xmlns:a16="http://schemas.microsoft.com/office/drawing/2014/main" id="{27EB65F2-EB49-49E9-999A-40310D187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664" y="756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6" name="Text Box 691">
              <a:extLst>
                <a:ext uri="{FF2B5EF4-FFF2-40B4-BE49-F238E27FC236}">
                  <a16:creationId xmlns:a16="http://schemas.microsoft.com/office/drawing/2014/main" id="{C3239E9F-0224-48B8-8F0D-EB9B130B1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5664" y="756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77" name="Text Box 691">
              <a:extLst>
                <a:ext uri="{FF2B5EF4-FFF2-40B4-BE49-F238E27FC236}">
                  <a16:creationId xmlns:a16="http://schemas.microsoft.com/office/drawing/2014/main" id="{AEF61154-54B5-4D16-9B7A-4D4A55F10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664" y="75600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531A1AA-855F-4355-A1E4-FF95660C6BFC}"/>
              </a:ext>
            </a:extLst>
          </p:cNvPr>
          <p:cNvGrpSpPr/>
          <p:nvPr/>
        </p:nvGrpSpPr>
        <p:grpSpPr>
          <a:xfrm>
            <a:off x="3384000" y="2134800"/>
            <a:ext cx="1116000" cy="396000"/>
            <a:chOff x="3384000" y="2134800"/>
            <a:chExt cx="1116000" cy="396000"/>
          </a:xfrm>
        </p:grpSpPr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D7CACEEA-AF95-416D-9D7A-9897B2BA079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84000" y="2134800"/>
              <a:ext cx="396000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1C0BF6CA-870C-4F32-BAF4-0B59D7B0C3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80000" y="2134800"/>
              <a:ext cx="720000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8338-A241-4928-9022-A5733127714C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07" name="AutoShape 72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" name="AutoShape 15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6449DA7-3FF0-4192-A0FA-BE48F16D9C5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7824" y="652680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" name="AutoShape 57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6B56396-4146-48A4-8C72-F88D813EAD6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220766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63765DC1-E435-43C7-ACC2-A062577A0243}"/>
              </a:ext>
            </a:extLst>
          </p:cNvPr>
          <p:cNvGrpSpPr/>
          <p:nvPr/>
        </p:nvGrpSpPr>
        <p:grpSpPr>
          <a:xfrm>
            <a:off x="1188000" y="3312000"/>
            <a:ext cx="1620000" cy="1223999"/>
            <a:chOff x="755704" y="3428578"/>
            <a:chExt cx="1620000" cy="1223999"/>
          </a:xfrm>
        </p:grpSpPr>
        <p:sp>
          <p:nvSpPr>
            <p:cNvPr id="188" name="AutoShape 331">
              <a:extLst>
                <a:ext uri="{FF2B5EF4-FFF2-40B4-BE49-F238E27FC236}">
                  <a16:creationId xmlns:a16="http://schemas.microsoft.com/office/drawing/2014/main" id="{A0F50277-64D7-4A69-81FC-129588856713}"/>
                </a:ext>
              </a:extLst>
            </p:cNvPr>
            <p:cNvSpPr/>
            <p:nvPr/>
          </p:nvSpPr>
          <p:spPr bwMode="auto">
            <a:xfrm>
              <a:off x="755704" y="3428578"/>
              <a:ext cx="1008000" cy="468000"/>
            </a:xfrm>
            <a:prstGeom prst="borderCallout2">
              <a:avLst>
                <a:gd name="adj1" fmla="val 50061"/>
                <a:gd name="adj2" fmla="val 99432"/>
                <a:gd name="adj3" fmla="val 50061"/>
                <a:gd name="adj4" fmla="val 115989"/>
                <a:gd name="adj5" fmla="val -62055"/>
                <a:gd name="adj6" fmla="val 174931"/>
              </a:avLst>
            </a:prstGeom>
            <a:solidFill>
              <a:srgbClr val="CCFFFF"/>
            </a:solidFill>
            <a:ln w="12700">
              <a:solidFill>
                <a:srgbClr val="0070C0"/>
              </a:solidFill>
              <a:prstDash val="sysDash"/>
              <a:miter lim="800000"/>
              <a:headEnd type="none" w="sm" len="med"/>
              <a:tailEnd type="arrow" w="med" len="med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地址分</a:t>
              </a:r>
              <a:r>
                <a:rPr lang="en-US" altLang="zh-CN" sz="1600" b="1" u="none" dirty="0">
                  <a:latin typeface="+mn-ea"/>
                  <a:ea typeface="+mn-ea"/>
                </a:rPr>
                <a:t>2</a:t>
              </a:r>
              <a:r>
                <a:rPr lang="zh-CN" altLang="en-US" sz="1600" b="1" u="none" dirty="0">
                  <a:latin typeface="+mn-ea"/>
                  <a:ea typeface="+mn-ea"/>
                </a:rPr>
                <a:t>次接收所需</a:t>
              </a:r>
            </a:p>
          </p:txBody>
        </p: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D90606B2-142F-4FDA-8CB7-DBD76D36C6AF}"/>
                </a:ext>
              </a:extLst>
            </p:cNvPr>
            <p:cNvCxnSpPr/>
            <p:nvPr/>
          </p:nvCxnSpPr>
          <p:spPr bwMode="auto">
            <a:xfrm>
              <a:off x="1547704" y="4256577"/>
              <a:ext cx="828000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041B4C96-E8F2-4D37-B5AB-71F4C6950ED3}"/>
                </a:ext>
              </a:extLst>
            </p:cNvPr>
            <p:cNvCxnSpPr/>
            <p:nvPr/>
          </p:nvCxnSpPr>
          <p:spPr bwMode="auto">
            <a:xfrm>
              <a:off x="1547704" y="3896578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E86F01A6-D8D0-42FF-BC4F-683B6133C2EE}"/>
              </a:ext>
            </a:extLst>
          </p:cNvPr>
          <p:cNvGrpSpPr/>
          <p:nvPr/>
        </p:nvGrpSpPr>
        <p:grpSpPr>
          <a:xfrm>
            <a:off x="2772924" y="1836000"/>
            <a:ext cx="3924000" cy="3348000"/>
            <a:chOff x="2411882" y="2052669"/>
            <a:chExt cx="3924000" cy="3348000"/>
          </a:xfrm>
        </p:grpSpPr>
        <p:sp>
          <p:nvSpPr>
            <p:cNvPr id="192" name="Text Box 658">
              <a:extLst>
                <a:ext uri="{FF2B5EF4-FFF2-40B4-BE49-F238E27FC236}">
                  <a16:creationId xmlns:a16="http://schemas.microsoft.com/office/drawing/2014/main" id="{F0F87329-6210-4C28-9370-57DB4BB5B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0958" y="2160669"/>
              <a:ext cx="360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6</a:t>
              </a:r>
            </a:p>
            <a:p>
              <a:pPr>
                <a:lnSpc>
                  <a:spcPct val="90000"/>
                </a:lnSpc>
              </a:pP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400" b="1" u="none" baseline="-20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400" b="1" u="none" baseline="-20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193" name="Text Box 659">
              <a:extLst>
                <a:ext uri="{FF2B5EF4-FFF2-40B4-BE49-F238E27FC236}">
                  <a16:creationId xmlns:a16="http://schemas.microsoft.com/office/drawing/2014/main" id="{144F9F85-9DAB-4F3F-857F-C13BA22C7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958" y="4752669"/>
              <a:ext cx="104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spc="5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4" name="Line 683">
              <a:extLst>
                <a:ext uri="{FF2B5EF4-FFF2-40B4-BE49-F238E27FC236}">
                  <a16:creationId xmlns:a16="http://schemas.microsoft.com/office/drawing/2014/main" id="{029DFF5D-F599-413F-833E-74031A8AE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18958" y="3816669"/>
              <a:ext cx="0" cy="93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Text Box 688">
              <a:extLst>
                <a:ext uri="{FF2B5EF4-FFF2-40B4-BE49-F238E27FC236}">
                  <a16:creationId xmlns:a16="http://schemas.microsoft.com/office/drawing/2014/main" id="{216BACD4-908E-4136-ADE9-B2541CA05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6958" y="4752669"/>
              <a:ext cx="1080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时序控制</a:t>
              </a:r>
            </a:p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</a:p>
          </p:txBody>
        </p:sp>
        <p:sp>
          <p:nvSpPr>
            <p:cNvPr id="196" name="Text Box 689">
              <a:extLst>
                <a:ext uri="{FF2B5EF4-FFF2-40B4-BE49-F238E27FC236}">
                  <a16:creationId xmlns:a16="http://schemas.microsoft.com/office/drawing/2014/main" id="{9F3C7C63-E0DF-4C7E-B27B-506368B56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958" y="2124669"/>
              <a:ext cx="252000" cy="129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行地址锁存器</a:t>
              </a:r>
            </a:p>
          </p:txBody>
        </p:sp>
        <p:sp>
          <p:nvSpPr>
            <p:cNvPr id="197" name="Text Box 695">
              <a:extLst>
                <a:ext uri="{FF2B5EF4-FFF2-40B4-BE49-F238E27FC236}">
                  <a16:creationId xmlns:a16="http://schemas.microsoft.com/office/drawing/2014/main" id="{2C7EFD09-4180-4817-AC5A-F7A58B18A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958" y="5004669"/>
              <a:ext cx="136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列地址锁存器</a:t>
              </a:r>
            </a:p>
          </p:txBody>
        </p:sp>
        <p:sp>
          <p:nvSpPr>
            <p:cNvPr id="198" name="Line 696">
              <a:extLst>
                <a:ext uri="{FF2B5EF4-FFF2-40B4-BE49-F238E27FC236}">
                  <a16:creationId xmlns:a16="http://schemas.microsoft.com/office/drawing/2014/main" id="{6CE6A82A-7DAF-47E1-BCD7-E23E4E1CB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8958" y="5256669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697">
              <a:extLst>
                <a:ext uri="{FF2B5EF4-FFF2-40B4-BE49-F238E27FC236}">
                  <a16:creationId xmlns:a16="http://schemas.microsoft.com/office/drawing/2014/main" id="{373B5FEC-9A86-4BAE-87F4-44FB5AC34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882" y="2052669"/>
              <a:ext cx="3924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698">
              <a:extLst>
                <a:ext uri="{FF2B5EF4-FFF2-40B4-BE49-F238E27FC236}">
                  <a16:creationId xmlns:a16="http://schemas.microsoft.com/office/drawing/2014/main" id="{CCE429D3-E5E9-466D-A7A0-A121639C4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883" y="2052669"/>
              <a:ext cx="0" cy="576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699">
              <a:extLst>
                <a:ext uri="{FF2B5EF4-FFF2-40B4-BE49-F238E27FC236}">
                  <a16:creationId xmlns:a16="http://schemas.microsoft.com/office/drawing/2014/main" id="{53C34A71-DC47-4819-A4FC-C2DCFF4FD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4958" y="2052669"/>
              <a:ext cx="1" cy="3348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700">
              <a:extLst>
                <a:ext uri="{FF2B5EF4-FFF2-40B4-BE49-F238E27FC236}">
                  <a16:creationId xmlns:a16="http://schemas.microsoft.com/office/drawing/2014/main" id="{52AE065B-03C9-48E5-A154-92E60D69C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8958" y="5400669"/>
              <a:ext cx="93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710">
              <a:extLst>
                <a:ext uri="{FF2B5EF4-FFF2-40B4-BE49-F238E27FC236}">
                  <a16:creationId xmlns:a16="http://schemas.microsoft.com/office/drawing/2014/main" id="{E286AD1D-0461-448B-A8CD-E6646DD3E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8958" y="3420669"/>
              <a:ext cx="0" cy="39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711">
              <a:extLst>
                <a:ext uri="{FF2B5EF4-FFF2-40B4-BE49-F238E27FC236}">
                  <a16:creationId xmlns:a16="http://schemas.microsoft.com/office/drawing/2014/main" id="{AFE14C30-AA32-4692-A2BA-453465E10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6958" y="5148669"/>
              <a:ext cx="11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Text Box 712">
              <a:extLst>
                <a:ext uri="{FF2B5EF4-FFF2-40B4-BE49-F238E27FC236}">
                  <a16:creationId xmlns:a16="http://schemas.microsoft.com/office/drawing/2014/main" id="{DE4AA494-50DD-467C-84F1-89F3C4417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958" y="3600669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行时钟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6" name="Text Box 713">
              <a:extLst>
                <a:ext uri="{FF2B5EF4-FFF2-40B4-BE49-F238E27FC236}">
                  <a16:creationId xmlns:a16="http://schemas.microsoft.com/office/drawing/2014/main" id="{AC11C477-C4C6-47AD-9535-D09233891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958" y="4932669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列时钟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715">
              <a:extLst>
                <a:ext uri="{FF2B5EF4-FFF2-40B4-BE49-F238E27FC236}">
                  <a16:creationId xmlns:a16="http://schemas.microsoft.com/office/drawing/2014/main" id="{20FABADD-18FE-4DFC-ACC2-48E115A67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958" y="4464669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写时钟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8" name="Line 716">
              <a:extLst>
                <a:ext uri="{FF2B5EF4-FFF2-40B4-BE49-F238E27FC236}">
                  <a16:creationId xmlns:a16="http://schemas.microsoft.com/office/drawing/2014/main" id="{520C93DF-22E1-4144-8716-21D73D503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958" y="3816669"/>
              <a:ext cx="72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3157F3B6-BBF0-4C45-95A5-201B25A6EFB0}"/>
              </a:ext>
            </a:extLst>
          </p:cNvPr>
          <p:cNvGrpSpPr/>
          <p:nvPr/>
        </p:nvGrpSpPr>
        <p:grpSpPr>
          <a:xfrm>
            <a:off x="4104000" y="3168000"/>
            <a:ext cx="2520000" cy="468000"/>
            <a:chOff x="4104000" y="3168000"/>
            <a:chExt cx="2520000" cy="468000"/>
          </a:xfrm>
        </p:grpSpPr>
        <p:sp>
          <p:nvSpPr>
            <p:cNvPr id="210" name="Text Box 645">
              <a:extLst>
                <a:ext uri="{FF2B5EF4-FFF2-40B4-BE49-F238E27FC236}">
                  <a16:creationId xmlns:a16="http://schemas.microsoft.com/office/drawing/2014/main" id="{DEDBBF8F-9BD4-4BB4-AB00-27FFE816C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000" y="3168000"/>
              <a:ext cx="936000" cy="4680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读出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再生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放大器</a:t>
              </a:r>
            </a:p>
          </p:txBody>
        </p:sp>
        <p:sp>
          <p:nvSpPr>
            <p:cNvPr id="211" name="Text Box 717">
              <a:extLst>
                <a:ext uri="{FF2B5EF4-FFF2-40B4-BE49-F238E27FC236}">
                  <a16:creationId xmlns:a16="http://schemas.microsoft.com/office/drawing/2014/main" id="{8C2FA0D5-E3D0-432B-979A-B5B59C605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000" y="3168000"/>
              <a:ext cx="936000" cy="4680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读出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再生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放大器</a:t>
              </a:r>
            </a:p>
          </p:txBody>
        </p:sp>
        <p:sp>
          <p:nvSpPr>
            <p:cNvPr id="212" name="Text Box 684">
              <a:extLst>
                <a:ext uri="{FF2B5EF4-FFF2-40B4-BE49-F238E27FC236}">
                  <a16:creationId xmlns:a16="http://schemas.microsoft.com/office/drawing/2014/main" id="{08BC6DE2-846F-492F-A7D0-F103EC066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000" y="3312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……</a:t>
              </a:r>
            </a:p>
          </p:txBody>
        </p: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CB1638FA-5EF2-4A46-9147-80867347B0F1}"/>
              </a:ext>
            </a:extLst>
          </p:cNvPr>
          <p:cNvGrpSpPr/>
          <p:nvPr/>
        </p:nvGrpSpPr>
        <p:grpSpPr>
          <a:xfrm>
            <a:off x="1728000" y="1764000"/>
            <a:ext cx="5076000" cy="3492000"/>
            <a:chOff x="1728000" y="1764000"/>
            <a:chExt cx="5076000" cy="3492000"/>
          </a:xfrm>
        </p:grpSpPr>
        <p:sp>
          <p:nvSpPr>
            <p:cNvPr id="214" name="Rectangle 625">
              <a:extLst>
                <a:ext uri="{FF2B5EF4-FFF2-40B4-BE49-F238E27FC236}">
                  <a16:creationId xmlns:a16="http://schemas.microsoft.com/office/drawing/2014/main" id="{D1CCEA13-40A1-4272-9812-95CD671CB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000" y="1764000"/>
              <a:ext cx="4320000" cy="349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Text Box 626">
              <a:extLst>
                <a:ext uri="{FF2B5EF4-FFF2-40B4-BE49-F238E27FC236}">
                  <a16:creationId xmlns:a16="http://schemas.microsoft.com/office/drawing/2014/main" id="{CE157F4F-29E8-4BDD-BEB3-B9E7067B1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000" y="1909488"/>
              <a:ext cx="252000" cy="93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X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216" name="Line 627">
              <a:extLst>
                <a:ext uri="{FF2B5EF4-FFF2-40B4-BE49-F238E27FC236}">
                  <a16:creationId xmlns:a16="http://schemas.microsoft.com/office/drawing/2014/main" id="{4F1FB02B-FF7A-4B71-8201-5F2571DD1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000" y="2412000"/>
              <a:ext cx="57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Text Box 628">
              <a:extLst>
                <a:ext uri="{FF2B5EF4-FFF2-40B4-BE49-F238E27FC236}">
                  <a16:creationId xmlns:a16="http://schemas.microsoft.com/office/drawing/2014/main" id="{30C8A991-2E35-4C4A-B1A5-72CBEC158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000" y="3888000"/>
              <a:ext cx="1008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218" name="Line 629">
              <a:extLst>
                <a:ext uri="{FF2B5EF4-FFF2-40B4-BE49-F238E27FC236}">
                  <a16:creationId xmlns:a16="http://schemas.microsoft.com/office/drawing/2014/main" id="{C343FB2E-FA13-4771-BC31-44C40216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000" y="4032000"/>
              <a:ext cx="288000" cy="1588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630">
              <a:extLst>
                <a:ext uri="{FF2B5EF4-FFF2-40B4-BE49-F238E27FC236}">
                  <a16:creationId xmlns:a16="http://schemas.microsoft.com/office/drawing/2014/main" id="{CAD05AB8-4462-42F2-83F9-A0B61A11C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000" y="4572000"/>
              <a:ext cx="46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Text Box 631">
              <a:extLst>
                <a:ext uri="{FF2B5EF4-FFF2-40B4-BE49-F238E27FC236}">
                  <a16:creationId xmlns:a16="http://schemas.microsoft.com/office/drawing/2014/main" id="{515427E0-9E99-44E3-B503-35493A159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00" y="4248000"/>
              <a:ext cx="1728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221" name="Line 632">
              <a:extLst>
                <a:ext uri="{FF2B5EF4-FFF2-40B4-BE49-F238E27FC236}">
                  <a16:creationId xmlns:a16="http://schemas.microsoft.com/office/drawing/2014/main" id="{D656059E-26B7-47A6-90A2-1E19AD0986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4000" y="4500000"/>
              <a:ext cx="0" cy="2889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Text Box 633">
              <a:extLst>
                <a:ext uri="{FF2B5EF4-FFF2-40B4-BE49-F238E27FC236}">
                  <a16:creationId xmlns:a16="http://schemas.microsoft.com/office/drawing/2014/main" id="{4EC08AA2-8816-4327-B217-54F037835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4000" y="4536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23" name="Line 634">
              <a:extLst>
                <a:ext uri="{FF2B5EF4-FFF2-40B4-BE49-F238E27FC236}">
                  <a16:creationId xmlns:a16="http://schemas.microsoft.com/office/drawing/2014/main" id="{7A8E57E8-9B19-44C0-AA1A-C2C056E00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04000" y="4500000"/>
              <a:ext cx="0" cy="2889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Text Box 636">
              <a:extLst>
                <a:ext uri="{FF2B5EF4-FFF2-40B4-BE49-F238E27FC236}">
                  <a16:creationId xmlns:a16="http://schemas.microsoft.com/office/drawing/2014/main" id="{3D7DDF9B-13C2-4F71-87EA-C28521FE7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00" y="3924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5" name="Line 690">
              <a:extLst>
                <a:ext uri="{FF2B5EF4-FFF2-40B4-BE49-F238E27FC236}">
                  <a16:creationId xmlns:a16="http://schemas.microsoft.com/office/drawing/2014/main" id="{A66AF9E4-786F-4990-BC7F-175F11969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000" y="2196825"/>
              <a:ext cx="54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691">
              <a:extLst>
                <a:ext uri="{FF2B5EF4-FFF2-40B4-BE49-F238E27FC236}">
                  <a16:creationId xmlns:a16="http://schemas.microsoft.com/office/drawing/2014/main" id="{380D0051-0918-4064-90ED-BD386A3E6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000" y="2556000"/>
              <a:ext cx="54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7C3B0AB5-AE9D-4AFC-A79B-44BC1D30E434}"/>
                </a:ext>
              </a:extLst>
            </p:cNvPr>
            <p:cNvGrpSpPr/>
            <p:nvPr/>
          </p:nvGrpSpPr>
          <p:grpSpPr>
            <a:xfrm>
              <a:off x="3996000" y="1909488"/>
              <a:ext cx="2592000" cy="1259900"/>
              <a:chOff x="3996000" y="1909488"/>
              <a:chExt cx="2592000" cy="1259900"/>
            </a:xfrm>
          </p:grpSpPr>
          <p:sp>
            <p:nvSpPr>
              <p:cNvPr id="258" name="Rectangle 647">
                <a:extLst>
                  <a:ext uri="{FF2B5EF4-FFF2-40B4-BE49-F238E27FC236}">
                    <a16:creationId xmlns:a16="http://schemas.microsoft.com/office/drawing/2014/main" id="{8F7F0D9B-FDCC-4514-B35F-3361E544E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000" y="1909488"/>
                <a:ext cx="2196000" cy="1152000"/>
              </a:xfrm>
              <a:prstGeom prst="rect">
                <a:avLst/>
              </a:prstGeom>
              <a:solidFill>
                <a:srgbClr val="CCECFF">
                  <a:alpha val="70000"/>
                </a:srgbClr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9" name="Line 648">
                <a:extLst>
                  <a:ext uri="{FF2B5EF4-FFF2-40B4-BE49-F238E27FC236}">
                    <a16:creationId xmlns:a16="http://schemas.microsoft.com/office/drawing/2014/main" id="{3EACC364-311D-464E-8466-68891D1A9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000" y="1980926"/>
                <a:ext cx="2412000" cy="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0" name="Text Box 649">
                <a:extLst>
                  <a:ext uri="{FF2B5EF4-FFF2-40B4-BE49-F238E27FC236}">
                    <a16:creationId xmlns:a16="http://schemas.microsoft.com/office/drawing/2014/main" id="{9E54D5AF-B52D-47BE-8348-BA2A0BF9AA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6000" y="2340000"/>
                <a:ext cx="216000" cy="28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18000" bIns="10800" anchor="ctr" anchorCtr="1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…</a:t>
                </a:r>
              </a:p>
            </p:txBody>
          </p:sp>
          <p:sp>
            <p:nvSpPr>
              <p:cNvPr id="261" name="Line 650">
                <a:extLst>
                  <a:ext uri="{FF2B5EF4-FFF2-40B4-BE49-F238E27FC236}">
                    <a16:creationId xmlns:a16="http://schemas.microsoft.com/office/drawing/2014/main" id="{F21E7ED9-8824-4DBA-8D8C-6D26EDF15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4000" y="1980925"/>
                <a:ext cx="0" cy="73025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  <a:headEnd type="oval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" name="Rectangle 651">
                <a:extLst>
                  <a:ext uri="{FF2B5EF4-FFF2-40B4-BE49-F238E27FC236}">
                    <a16:creationId xmlns:a16="http://schemas.microsoft.com/office/drawing/2014/main" id="{2DE3D115-27F1-483C-9765-DC7564646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345" y="2053950"/>
                <a:ext cx="216000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263" name="Line 652">
                <a:extLst>
                  <a:ext uri="{FF2B5EF4-FFF2-40B4-BE49-F238E27FC236}">
                    <a16:creationId xmlns:a16="http://schemas.microsoft.com/office/drawing/2014/main" id="{D9ED7F30-6898-4D28-8901-7C6F89C8F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2125388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264" name="Line 653">
                <a:extLst>
                  <a:ext uri="{FF2B5EF4-FFF2-40B4-BE49-F238E27FC236}">
                    <a16:creationId xmlns:a16="http://schemas.microsoft.com/office/drawing/2014/main" id="{A6B64FE7-8129-4DCB-89E2-DD5585113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000" y="2782516"/>
                <a:ext cx="2412000" cy="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Line 654">
                <a:extLst>
                  <a:ext uri="{FF2B5EF4-FFF2-40B4-BE49-F238E27FC236}">
                    <a16:creationId xmlns:a16="http://schemas.microsoft.com/office/drawing/2014/main" id="{055702D2-8B29-46B4-8A5B-A86224E31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4000" y="2782516"/>
                <a:ext cx="0" cy="73025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  <a:headEnd type="oval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" name="Line 655">
                <a:extLst>
                  <a:ext uri="{FF2B5EF4-FFF2-40B4-BE49-F238E27FC236}">
                    <a16:creationId xmlns:a16="http://schemas.microsoft.com/office/drawing/2014/main" id="{D77F85B5-3B2F-4E72-AFAC-8BE4D032E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2926978"/>
                <a:ext cx="144463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  <a:headEnd type="oval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" name="Text Box 656">
                <a:extLst>
                  <a:ext uri="{FF2B5EF4-FFF2-40B4-BE49-F238E27FC236}">
                    <a16:creationId xmlns:a16="http://schemas.microsoft.com/office/drawing/2014/main" id="{18C2D0F0-C0ED-4E33-80E3-561DBD5012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2000" y="2808000"/>
                <a:ext cx="50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……</a:t>
                </a:r>
              </a:p>
            </p:txBody>
          </p:sp>
          <p:sp>
            <p:nvSpPr>
              <p:cNvPr id="268" name="Text Box 657">
                <a:extLst>
                  <a:ext uri="{FF2B5EF4-FFF2-40B4-BE49-F238E27FC236}">
                    <a16:creationId xmlns:a16="http://schemas.microsoft.com/office/drawing/2014/main" id="{F10BC371-2592-429A-A1C4-7796ADE578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2000" y="2016000"/>
                <a:ext cx="50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……</a:t>
                </a:r>
              </a:p>
            </p:txBody>
          </p:sp>
          <p:sp>
            <p:nvSpPr>
              <p:cNvPr id="269" name="Text Box 660">
                <a:extLst>
                  <a:ext uri="{FF2B5EF4-FFF2-40B4-BE49-F238E27FC236}">
                    <a16:creationId xmlns:a16="http://schemas.microsoft.com/office/drawing/2014/main" id="{50ADC1BC-B11C-4AC1-9DFD-A2C27EF0EE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000" y="2340000"/>
                <a:ext cx="864000" cy="287338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64×64</a:t>
                </a:r>
                <a:endParaRPr lang="en-US" altLang="zh-CN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0" name="Rectangle 661">
                <a:extLst>
                  <a:ext uri="{FF2B5EF4-FFF2-40B4-BE49-F238E27FC236}">
                    <a16:creationId xmlns:a16="http://schemas.microsoft.com/office/drawing/2014/main" id="{FF58940A-8733-4BA1-AB6A-920AAEED6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345" y="2853953"/>
                <a:ext cx="216000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271" name="Text Box 663">
                <a:extLst>
                  <a:ext uri="{FF2B5EF4-FFF2-40B4-BE49-F238E27FC236}">
                    <a16:creationId xmlns:a16="http://schemas.microsoft.com/office/drawing/2014/main" id="{BCC28365-7C20-4E8B-88A5-904BD6010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2000" y="2844000"/>
                <a:ext cx="180000" cy="21431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2" name="Line 664">
                <a:extLst>
                  <a:ext uri="{FF2B5EF4-FFF2-40B4-BE49-F238E27FC236}">
                    <a16:creationId xmlns:a16="http://schemas.microsoft.com/office/drawing/2014/main" id="{6C194A43-2A4F-4E56-BBE3-EA5B5F708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2125388"/>
                <a:ext cx="0" cy="1044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3" name="Text Box 673">
                <a:extLst>
                  <a:ext uri="{FF2B5EF4-FFF2-40B4-BE49-F238E27FC236}">
                    <a16:creationId xmlns:a16="http://schemas.microsoft.com/office/drawing/2014/main" id="{C8FA39C3-0E77-4CF8-883C-B7839347A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9051" y="2340000"/>
                <a:ext cx="216000" cy="28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18000" bIns="10800" anchor="ctr" anchorCtr="1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…</a:t>
                </a:r>
              </a:p>
            </p:txBody>
          </p:sp>
          <p:sp>
            <p:nvSpPr>
              <p:cNvPr id="274" name="Line 674">
                <a:extLst>
                  <a:ext uri="{FF2B5EF4-FFF2-40B4-BE49-F238E27FC236}">
                    <a16:creationId xmlns:a16="http://schemas.microsoft.com/office/drawing/2014/main" id="{0F3E885C-D75A-4C49-97D0-3026A27CF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8000" y="1980925"/>
                <a:ext cx="0" cy="73025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5" name="Rectangle 675">
                <a:extLst>
                  <a:ext uri="{FF2B5EF4-FFF2-40B4-BE49-F238E27FC236}">
                    <a16:creationId xmlns:a16="http://schemas.microsoft.com/office/drawing/2014/main" id="{2186C731-E076-466C-8C15-A4429DBB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0637" y="2053950"/>
                <a:ext cx="216000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296" name="Line 676">
                <a:extLst>
                  <a:ext uri="{FF2B5EF4-FFF2-40B4-BE49-F238E27FC236}">
                    <a16:creationId xmlns:a16="http://schemas.microsoft.com/office/drawing/2014/main" id="{D68208F9-A0BB-4123-BA15-35FA8B57A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176" y="2125388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" name="Line 677">
                <a:extLst>
                  <a:ext uri="{FF2B5EF4-FFF2-40B4-BE49-F238E27FC236}">
                    <a16:creationId xmlns:a16="http://schemas.microsoft.com/office/drawing/2014/main" id="{05FE1135-580A-4D20-880E-D43F8EDED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8000" y="2782516"/>
                <a:ext cx="0" cy="73025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8" name="Line 678">
                <a:extLst>
                  <a:ext uri="{FF2B5EF4-FFF2-40B4-BE49-F238E27FC236}">
                    <a16:creationId xmlns:a16="http://schemas.microsoft.com/office/drawing/2014/main" id="{958521EF-615E-4AB6-8E77-D383DDD4C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176" y="2926978"/>
                <a:ext cx="144463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  <a:headEnd type="oval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9" name="Rectangle 679">
                <a:extLst>
                  <a:ext uri="{FF2B5EF4-FFF2-40B4-BE49-F238E27FC236}">
                    <a16:creationId xmlns:a16="http://schemas.microsoft.com/office/drawing/2014/main" id="{D55ED129-C3A2-4BF1-8300-AF0B98938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0637" y="2853953"/>
                <a:ext cx="216000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300" name="Text Box 681">
                <a:extLst>
                  <a:ext uri="{FF2B5EF4-FFF2-40B4-BE49-F238E27FC236}">
                    <a16:creationId xmlns:a16="http://schemas.microsoft.com/office/drawing/2014/main" id="{AA8C85D3-3978-40EE-9507-369F35697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76000" y="2844000"/>
                <a:ext cx="180000" cy="21431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1" name="Line 682">
                <a:extLst>
                  <a:ext uri="{FF2B5EF4-FFF2-40B4-BE49-F238E27FC236}">
                    <a16:creationId xmlns:a16="http://schemas.microsoft.com/office/drawing/2014/main" id="{2237F8EA-8C7F-42DF-94B8-EA375D0AD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176" y="2125388"/>
                <a:ext cx="0" cy="1044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" name="Text Box 692">
                <a:extLst>
                  <a:ext uri="{FF2B5EF4-FFF2-40B4-BE49-F238E27FC236}">
                    <a16:creationId xmlns:a16="http://schemas.microsoft.com/office/drawing/2014/main" id="{4066DC8E-B053-4196-A489-BA2C8070C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000" y="2160000"/>
                <a:ext cx="216000" cy="50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18000" bIns="10800" anchor="ctr" anchorCtr="1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C3300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</p:grpSp>
        <p:sp>
          <p:nvSpPr>
            <p:cNvPr id="228" name="Text Box 693">
              <a:extLst>
                <a:ext uri="{FF2B5EF4-FFF2-40B4-BE49-F238E27FC236}">
                  <a16:creationId xmlns:a16="http://schemas.microsoft.com/office/drawing/2014/main" id="{7163A979-1A85-4D1C-AE81-B02172A29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00" y="2232000"/>
              <a:ext cx="21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29" name="Line 694">
              <a:extLst>
                <a:ext uri="{FF2B5EF4-FFF2-40B4-BE49-F238E27FC236}">
                  <a16:creationId xmlns:a16="http://schemas.microsoft.com/office/drawing/2014/main" id="{7F853AB1-9DAF-4345-82B6-6DC35B85D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6000" y="4140000"/>
              <a:ext cx="0" cy="39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701">
              <a:extLst>
                <a:ext uri="{FF2B5EF4-FFF2-40B4-BE49-F238E27FC236}">
                  <a16:creationId xmlns:a16="http://schemas.microsoft.com/office/drawing/2014/main" id="{4F9D21D8-5EE2-44E1-85E3-91AB4B405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000" y="4824000"/>
              <a:ext cx="46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702">
              <a:extLst>
                <a:ext uri="{FF2B5EF4-FFF2-40B4-BE49-F238E27FC236}">
                  <a16:creationId xmlns:a16="http://schemas.microsoft.com/office/drawing/2014/main" id="{F731DC08-A9D1-4A5C-AA26-F82141A0B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9640" y="5040000"/>
              <a:ext cx="46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62469B93-CCCB-45A7-B9C5-7D4B2F65CCCF}"/>
                </a:ext>
              </a:extLst>
            </p:cNvPr>
            <p:cNvGrpSpPr/>
            <p:nvPr/>
          </p:nvGrpSpPr>
          <p:grpSpPr>
            <a:xfrm>
              <a:off x="1944000" y="4428000"/>
              <a:ext cx="396000" cy="756000"/>
              <a:chOff x="1944000" y="4428000"/>
              <a:chExt cx="396000" cy="756000"/>
            </a:xfrm>
          </p:grpSpPr>
          <p:sp>
            <p:nvSpPr>
              <p:cNvPr id="254" name="Line 687">
                <a:extLst>
                  <a:ext uri="{FF2B5EF4-FFF2-40B4-BE49-F238E27FC236}">
                    <a16:creationId xmlns:a16="http://schemas.microsoft.com/office/drawing/2014/main" id="{493C65FC-CE0B-4793-8E89-029D062CC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762" y="4950000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255" name="Text Box 705">
                <a:extLst>
                  <a:ext uri="{FF2B5EF4-FFF2-40B4-BE49-F238E27FC236}">
                    <a16:creationId xmlns:a16="http://schemas.microsoft.com/office/drawing/2014/main" id="{B13187FC-A52E-4AA3-9613-DB0B4DC3C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4000" y="4428000"/>
                <a:ext cx="396000" cy="75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RAS</a:t>
                </a:r>
              </a:p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CAS</a:t>
                </a:r>
              </a:p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256" name="Line 704">
                <a:extLst>
                  <a:ext uri="{FF2B5EF4-FFF2-40B4-BE49-F238E27FC236}">
                    <a16:creationId xmlns:a16="http://schemas.microsoft.com/office/drawing/2014/main" id="{6A65A705-0A1D-41F1-B690-E3AB24FCC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3200" y="4464000"/>
                <a:ext cx="28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257" name="Line 707">
                <a:extLst>
                  <a:ext uri="{FF2B5EF4-FFF2-40B4-BE49-F238E27FC236}">
                    <a16:creationId xmlns:a16="http://schemas.microsoft.com/office/drawing/2014/main" id="{F32C14B4-F682-496C-AC6C-DAC04EB8B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3200" y="4708800"/>
                <a:ext cx="28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sp>
          <p:nvSpPr>
            <p:cNvPr id="233" name="Text Box 709">
              <a:extLst>
                <a:ext uri="{FF2B5EF4-FFF2-40B4-BE49-F238E27FC236}">
                  <a16:creationId xmlns:a16="http://schemas.microsoft.com/office/drawing/2014/main" id="{60C099D3-E011-4BB6-BE83-60FBF88CC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000" y="230400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/>
            </a:p>
          </p:txBody>
        </p: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E19CE4E9-414E-4C03-9B17-DB63B37494A7}"/>
                </a:ext>
              </a:extLst>
            </p:cNvPr>
            <p:cNvGrpSpPr/>
            <p:nvPr/>
          </p:nvGrpSpPr>
          <p:grpSpPr>
            <a:xfrm>
              <a:off x="3636000" y="3636000"/>
              <a:ext cx="2952000" cy="612000"/>
              <a:chOff x="3636000" y="3636000"/>
              <a:chExt cx="2952000" cy="612000"/>
            </a:xfrm>
          </p:grpSpPr>
          <p:sp>
            <p:nvSpPr>
              <p:cNvPr id="235" name="Rectangle 647">
                <a:extLst>
                  <a:ext uri="{FF2B5EF4-FFF2-40B4-BE49-F238E27FC236}">
                    <a16:creationId xmlns:a16="http://schemas.microsoft.com/office/drawing/2014/main" id="{0DD1F3D4-71DC-4131-B738-E0F39687E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4000" y="3742940"/>
                <a:ext cx="2664000" cy="360000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prstDash val="sysDot"/>
                <a:miter lim="800000"/>
              </a:ln>
              <a:effectLst/>
            </p:spPr>
            <p:txBody>
              <a:bodyPr wrap="none" lIns="36000" tIns="0" anchor="t" anchorCtr="0"/>
              <a:lstStyle/>
              <a:p>
                <a:r>
                  <a:rPr lang="en-US" altLang="zh-CN" sz="1600" b="1" u="none" dirty="0">
                    <a:latin typeface="+mn-ea"/>
                    <a:ea typeface="+mn-ea"/>
                  </a:rPr>
                  <a:t>I/O</a:t>
                </a:r>
                <a:r>
                  <a:rPr lang="zh-CN" altLang="en-US" sz="1600" b="1" u="none" dirty="0">
                    <a:latin typeface="+mn-ea"/>
                    <a:ea typeface="+mn-ea"/>
                  </a:rPr>
                  <a:t>门</a:t>
                </a:r>
              </a:p>
            </p:txBody>
          </p:sp>
          <p:sp>
            <p:nvSpPr>
              <p:cNvPr id="236" name="Text Box 637">
                <a:extLst>
                  <a:ext uri="{FF2B5EF4-FFF2-40B4-BE49-F238E27FC236}">
                    <a16:creationId xmlns:a16="http://schemas.microsoft.com/office/drawing/2014/main" id="{91864735-FB6A-4FC2-A64A-2EA764374D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6000" y="3780000"/>
                <a:ext cx="50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C3300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  <p:sp>
            <p:nvSpPr>
              <p:cNvPr id="237" name="Line 639">
                <a:extLst>
                  <a:ext uri="{FF2B5EF4-FFF2-40B4-BE49-F238E27FC236}">
                    <a16:creationId xmlns:a16="http://schemas.microsoft.com/office/drawing/2014/main" id="{1C61FB2F-9399-4C13-A17C-4E7644819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3852000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Line 640">
                <a:extLst>
                  <a:ext uri="{FF2B5EF4-FFF2-40B4-BE49-F238E27FC236}">
                    <a16:creationId xmlns:a16="http://schemas.microsoft.com/office/drawing/2014/main" id="{3CD79305-17DB-4A5F-B038-781D0AA757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3758" y="3780000"/>
                <a:ext cx="0" cy="21590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9" name="Line 641">
                <a:extLst>
                  <a:ext uri="{FF2B5EF4-FFF2-40B4-BE49-F238E27FC236}">
                    <a16:creationId xmlns:a16="http://schemas.microsoft.com/office/drawing/2014/main" id="{01E5560E-8832-4ED8-9187-DA6607E7C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3929749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" name="Line 642">
                <a:extLst>
                  <a:ext uri="{FF2B5EF4-FFF2-40B4-BE49-F238E27FC236}">
                    <a16:creationId xmlns:a16="http://schemas.microsoft.com/office/drawing/2014/main" id="{E6961AF7-0EA8-4D48-A7AF-839C35E85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196" y="3816000"/>
                <a:ext cx="0" cy="144463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1" name="Line 643">
                <a:extLst>
                  <a:ext uri="{FF2B5EF4-FFF2-40B4-BE49-F238E27FC236}">
                    <a16:creationId xmlns:a16="http://schemas.microsoft.com/office/drawing/2014/main" id="{8BC7B282-6F95-40EB-9D67-30A5C1819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6783" y="3888000"/>
                <a:ext cx="144463" cy="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" name="Line 644">
                <a:extLst>
                  <a:ext uri="{FF2B5EF4-FFF2-40B4-BE49-F238E27FC236}">
                    <a16:creationId xmlns:a16="http://schemas.microsoft.com/office/drawing/2014/main" id="{75302DC9-0D22-40CD-8F03-012197CE9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1246" y="3888000"/>
                <a:ext cx="0" cy="36000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3" name="Line 646">
                <a:extLst>
                  <a:ext uri="{FF2B5EF4-FFF2-40B4-BE49-F238E27FC236}">
                    <a16:creationId xmlns:a16="http://schemas.microsoft.com/office/drawing/2014/main" id="{5D01BB7B-2285-496E-833E-A53B219DC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0883" y="3928162"/>
                <a:ext cx="0" cy="108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  <a:tailEnd type="oval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4" name="Line 662">
                <a:extLst>
                  <a:ext uri="{FF2B5EF4-FFF2-40B4-BE49-F238E27FC236}">
                    <a16:creationId xmlns:a16="http://schemas.microsoft.com/office/drawing/2014/main" id="{94F6785D-4256-4C87-BFD8-9AFCB380E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70881" y="3636000"/>
                <a:ext cx="0" cy="216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" name="Line 665">
                <a:extLst>
                  <a:ext uri="{FF2B5EF4-FFF2-40B4-BE49-F238E27FC236}">
                    <a16:creationId xmlns:a16="http://schemas.microsoft.com/office/drawing/2014/main" id="{40A0865A-B539-4AED-931E-FFDC4A2EE7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000" y="3852000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" name="Line 666">
                <a:extLst>
                  <a:ext uri="{FF2B5EF4-FFF2-40B4-BE49-F238E27FC236}">
                    <a16:creationId xmlns:a16="http://schemas.microsoft.com/office/drawing/2014/main" id="{79053559-8D18-4329-BB9A-8367E7A80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00" y="3780000"/>
                <a:ext cx="0" cy="21590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" name="Line 667">
                <a:extLst>
                  <a:ext uri="{FF2B5EF4-FFF2-40B4-BE49-F238E27FC236}">
                    <a16:creationId xmlns:a16="http://schemas.microsoft.com/office/drawing/2014/main" id="{E0E87AC4-79A9-49B9-8C37-CD3E89072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000" y="3924000"/>
                <a:ext cx="142875" cy="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Line 668">
                <a:extLst>
                  <a:ext uri="{FF2B5EF4-FFF2-40B4-BE49-F238E27FC236}">
                    <a16:creationId xmlns:a16="http://schemas.microsoft.com/office/drawing/2014/main" id="{D93F2AB3-6535-4A61-AC01-041E6FE1D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2000" y="3816000"/>
                <a:ext cx="0" cy="144463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" name="Line 669">
                <a:extLst>
                  <a:ext uri="{FF2B5EF4-FFF2-40B4-BE49-F238E27FC236}">
                    <a16:creationId xmlns:a16="http://schemas.microsoft.com/office/drawing/2014/main" id="{A51E7905-FE65-41D1-A796-20E6F6FB1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2000" y="3888000"/>
                <a:ext cx="144463" cy="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" name="Line 670">
                <a:extLst>
                  <a:ext uri="{FF2B5EF4-FFF2-40B4-BE49-F238E27FC236}">
                    <a16:creationId xmlns:a16="http://schemas.microsoft.com/office/drawing/2014/main" id="{CB3353B6-F035-41E5-AFA5-7D50B206D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000" y="3888000"/>
                <a:ext cx="0" cy="360000"/>
              </a:xfrm>
              <a:prstGeom prst="line">
                <a:avLst/>
              </a:prstGeom>
              <a:noFill/>
              <a:ln w="15875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" name="Line 672">
                <a:extLst>
                  <a:ext uri="{FF2B5EF4-FFF2-40B4-BE49-F238E27FC236}">
                    <a16:creationId xmlns:a16="http://schemas.microsoft.com/office/drawing/2014/main" id="{FEACF8AC-4FCD-4A61-8D60-DD25EC510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6000" y="3928162"/>
                <a:ext cx="0" cy="108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2" name="Line 680">
                <a:extLst>
                  <a:ext uri="{FF2B5EF4-FFF2-40B4-BE49-F238E27FC236}">
                    <a16:creationId xmlns:a16="http://schemas.microsoft.com/office/drawing/2014/main" id="{78EE06F4-2CDA-4ED3-98A8-A9819B0A5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56000" y="3636000"/>
                <a:ext cx="0" cy="216000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" name="Line 635">
                <a:extLst>
                  <a:ext uri="{FF2B5EF4-FFF2-40B4-BE49-F238E27FC236}">
                    <a16:creationId xmlns:a16="http://schemas.microsoft.com/office/drawing/2014/main" id="{AD6220B1-8B17-4E98-AE74-2B6FDC8BE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6000" y="4032000"/>
                <a:ext cx="2520000" cy="1588"/>
              </a:xfrm>
              <a:prstGeom prst="line">
                <a:avLst/>
              </a:prstGeom>
              <a:noFill/>
              <a:ln w="15875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03" name="AutoShape 331">
            <a:extLst>
              <a:ext uri="{FF2B5EF4-FFF2-40B4-BE49-F238E27FC236}">
                <a16:creationId xmlns:a16="http://schemas.microsoft.com/office/drawing/2014/main" id="{C5CF0DA1-C9A3-420D-87C6-586D91C4E861}"/>
              </a:ext>
            </a:extLst>
          </p:cNvPr>
          <p:cNvSpPr/>
          <p:nvPr/>
        </p:nvSpPr>
        <p:spPr bwMode="auto">
          <a:xfrm>
            <a:off x="6984000" y="3204000"/>
            <a:ext cx="1368000" cy="252000"/>
          </a:xfrm>
          <a:prstGeom prst="borderCallout2">
            <a:avLst>
              <a:gd name="adj1" fmla="val 50061"/>
              <a:gd name="adj2" fmla="val 82"/>
              <a:gd name="adj3" fmla="val 52879"/>
              <a:gd name="adj4" fmla="val -9098"/>
              <a:gd name="adj5" fmla="val 133094"/>
              <a:gd name="adj6" fmla="val -34503"/>
            </a:avLst>
          </a:prstGeom>
          <a:solidFill>
            <a:srgbClr val="CCFFFF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破坏性读所需</a:t>
            </a:r>
          </a:p>
        </p:txBody>
      </p:sp>
      <p:sp>
        <p:nvSpPr>
          <p:cNvPr id="304" name="Text Box 617">
            <a:extLst>
              <a:ext uri="{FF2B5EF4-FFF2-40B4-BE49-F238E27FC236}">
                <a16:creationId xmlns:a16="http://schemas.microsoft.com/office/drawing/2014/main" id="{B1D8C99E-CA2A-4D0D-B0B0-EA436D8C5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2656"/>
            <a:ext cx="8785225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(2)DRAM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芯片的基本组成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   包括存储矩阵、地址译码器、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门、读写电路，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←类似于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地址锁存器、时序控制电路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按序产生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、再生电路 </a:t>
            </a:r>
            <a:r>
              <a:rPr lang="zh-CN" altLang="en-US" sz="2000" b="1" u="none" dirty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←与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不同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305" name="Text Box 726">
            <a:extLst>
              <a:ext uri="{FF2B5EF4-FFF2-40B4-BE49-F238E27FC236}">
                <a16:creationId xmlns:a16="http://schemas.microsoft.com/office/drawing/2014/main" id="{DFA17D5F-AC56-48E1-BE0E-336706FA7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03" y="5373216"/>
            <a:ext cx="3780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时序控制电路的内部逻辑是？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306" name="Text Box 703">
            <a:extLst>
              <a:ext uri="{FF2B5EF4-FFF2-40B4-BE49-F238E27FC236}">
                <a16:creationId xmlns:a16="http://schemas.microsoft.com/office/drawing/2014/main" id="{568BBDCC-BE19-499E-BD7D-5CA8ED1EF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5373216"/>
            <a:ext cx="284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+mn-ea"/>
                <a:ea typeface="+mn-ea"/>
              </a:rPr>
              <a:t>输出行时钟→列时钟→写时钟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FE7B477E-EBB2-45E5-94EA-671152DC8BE3}"/>
              </a:ext>
            </a:extLst>
          </p:cNvPr>
          <p:cNvGrpSpPr/>
          <p:nvPr/>
        </p:nvGrpSpPr>
        <p:grpSpPr>
          <a:xfrm>
            <a:off x="2843808" y="5733256"/>
            <a:ext cx="5040000" cy="648000"/>
            <a:chOff x="1620000" y="4753536"/>
            <a:chExt cx="5040000" cy="648000"/>
          </a:xfrm>
        </p:grpSpPr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FF38C3D8-5E8A-437F-9E25-E4EB874C2BC9}"/>
                </a:ext>
              </a:extLst>
            </p:cNvPr>
            <p:cNvSpPr/>
            <p:nvPr/>
          </p:nvSpPr>
          <p:spPr bwMode="auto">
            <a:xfrm>
              <a:off x="1692000" y="4861536"/>
              <a:ext cx="4968000" cy="54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18000" numCol="1" rtlCol="0" anchor="b" anchorCtr="0" compatLnSpc="1"/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9" name="Text Box 669">
              <a:extLst>
                <a:ext uri="{FF2B5EF4-FFF2-40B4-BE49-F238E27FC236}">
                  <a16:creationId xmlns:a16="http://schemas.microsoft.com/office/drawing/2014/main" id="{13644251-E2E8-4588-A3B2-54DEDDA6A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000" y="4932000"/>
              <a:ext cx="1332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行时钟发生器</a:t>
              </a:r>
            </a:p>
          </p:txBody>
        </p:sp>
        <p:sp>
          <p:nvSpPr>
            <p:cNvPr id="310" name="Text Box 670">
              <a:extLst>
                <a:ext uri="{FF2B5EF4-FFF2-40B4-BE49-F238E27FC236}">
                  <a16:creationId xmlns:a16="http://schemas.microsoft.com/office/drawing/2014/main" id="{59CB2F40-4315-4D90-B205-BD0412147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00" y="4932000"/>
              <a:ext cx="1332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列时钟发生器</a:t>
              </a:r>
            </a:p>
          </p:txBody>
        </p:sp>
        <p:sp>
          <p:nvSpPr>
            <p:cNvPr id="311" name="Text Box 671">
              <a:extLst>
                <a:ext uri="{FF2B5EF4-FFF2-40B4-BE49-F238E27FC236}">
                  <a16:creationId xmlns:a16="http://schemas.microsoft.com/office/drawing/2014/main" id="{DF0C369F-50BE-4D7F-BB29-FC4D34831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000" y="4932000"/>
              <a:ext cx="1332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写时钟发生器</a:t>
              </a:r>
            </a:p>
          </p:txBody>
        </p:sp>
        <p:sp>
          <p:nvSpPr>
            <p:cNvPr id="312" name="Line 672">
              <a:extLst>
                <a:ext uri="{FF2B5EF4-FFF2-40B4-BE49-F238E27FC236}">
                  <a16:creationId xmlns:a16="http://schemas.microsoft.com/office/drawing/2014/main" id="{E3E54B8D-BA48-45C8-B9C6-A4256D579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2000" y="5004000"/>
              <a:ext cx="3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673">
              <a:extLst>
                <a:ext uri="{FF2B5EF4-FFF2-40B4-BE49-F238E27FC236}">
                  <a16:creationId xmlns:a16="http://schemas.microsoft.com/office/drawing/2014/main" id="{8B61A1B9-DC81-4456-9E29-0A4A3EA27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8000" y="5004000"/>
              <a:ext cx="3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674">
              <a:extLst>
                <a:ext uri="{FF2B5EF4-FFF2-40B4-BE49-F238E27FC236}">
                  <a16:creationId xmlns:a16="http://schemas.microsoft.com/office/drawing/2014/main" id="{CECC0E11-8FD3-4CE9-BB7F-D6293A865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000" y="5112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675">
              <a:extLst>
                <a:ext uri="{FF2B5EF4-FFF2-40B4-BE49-F238E27FC236}">
                  <a16:creationId xmlns:a16="http://schemas.microsoft.com/office/drawing/2014/main" id="{9A2EE472-0939-4F88-A8F6-E9EA91193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000" y="5112000"/>
              <a:ext cx="0" cy="14287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678">
              <a:extLst>
                <a:ext uri="{FF2B5EF4-FFF2-40B4-BE49-F238E27FC236}">
                  <a16:creationId xmlns:a16="http://schemas.microsoft.com/office/drawing/2014/main" id="{B3539173-6B34-42AA-8351-C6BE31FC4C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000" y="5112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681">
              <a:extLst>
                <a:ext uri="{FF2B5EF4-FFF2-40B4-BE49-F238E27FC236}">
                  <a16:creationId xmlns:a16="http://schemas.microsoft.com/office/drawing/2014/main" id="{1592E8F5-F07B-4A34-A42F-7BF0C1F5D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00" y="5004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682">
              <a:extLst>
                <a:ext uri="{FF2B5EF4-FFF2-40B4-BE49-F238E27FC236}">
                  <a16:creationId xmlns:a16="http://schemas.microsoft.com/office/drawing/2014/main" id="{95C3BBF2-33DC-4C8F-8C09-B39932EB7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6000" y="4753536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750">
              <a:extLst>
                <a:ext uri="{FF2B5EF4-FFF2-40B4-BE49-F238E27FC236}">
                  <a16:creationId xmlns:a16="http://schemas.microsoft.com/office/drawing/2014/main" id="{1597495F-2E8C-4FA3-BDA3-C9A7E6D2DB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88000" y="4753536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681">
              <a:extLst>
                <a:ext uri="{FF2B5EF4-FFF2-40B4-BE49-F238E27FC236}">
                  <a16:creationId xmlns:a16="http://schemas.microsoft.com/office/drawing/2014/main" id="{4F75AD8B-D13A-4523-ADB7-CC9EB8420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000" y="5256000"/>
              <a:ext cx="16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674">
              <a:extLst>
                <a:ext uri="{FF2B5EF4-FFF2-40B4-BE49-F238E27FC236}">
                  <a16:creationId xmlns:a16="http://schemas.microsoft.com/office/drawing/2014/main" id="{167CF8C6-F39B-4F4F-A6DC-A0C3EAD94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0000" y="5112637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675">
              <a:extLst>
                <a:ext uri="{FF2B5EF4-FFF2-40B4-BE49-F238E27FC236}">
                  <a16:creationId xmlns:a16="http://schemas.microsoft.com/office/drawing/2014/main" id="{B11C8779-8DA4-4D64-9198-B9C0122630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000" y="5112000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681">
              <a:extLst>
                <a:ext uri="{FF2B5EF4-FFF2-40B4-BE49-F238E27FC236}">
                  <a16:creationId xmlns:a16="http://schemas.microsoft.com/office/drawing/2014/main" id="{96C948C4-0B6F-492D-B996-5CAB0069E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000" y="5328000"/>
              <a:ext cx="331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682">
              <a:extLst>
                <a:ext uri="{FF2B5EF4-FFF2-40B4-BE49-F238E27FC236}">
                  <a16:creationId xmlns:a16="http://schemas.microsoft.com/office/drawing/2014/main" id="{615BFB9A-14B3-49CF-AA08-898B8935B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32040" y="4753536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305" grpId="0" animBg="1"/>
      <p:bldP spid="30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" name="Text Box 156"/>
          <p:cNvSpPr txBox="1">
            <a:spLocks noChangeArrowheads="1"/>
          </p:cNvSpPr>
          <p:nvPr/>
        </p:nvSpPr>
        <p:spPr bwMode="auto">
          <a:xfrm>
            <a:off x="179388" y="332656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芯片的操作时序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33" name="AutoShape 7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6511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0" name="组合 229"/>
          <p:cNvGrpSpPr/>
          <p:nvPr/>
        </p:nvGrpSpPr>
        <p:grpSpPr>
          <a:xfrm>
            <a:off x="4788024" y="1732895"/>
            <a:ext cx="3816549" cy="1552089"/>
            <a:chOff x="5076056" y="2634284"/>
            <a:chExt cx="3816549" cy="1552089"/>
          </a:xfrm>
        </p:grpSpPr>
        <p:sp>
          <p:nvSpPr>
            <p:cNvPr id="214" name="Text Box 372"/>
            <p:cNvSpPr txBox="1">
              <a:spLocks noChangeArrowheads="1"/>
            </p:cNvSpPr>
            <p:nvPr/>
          </p:nvSpPr>
          <p:spPr bwMode="auto">
            <a:xfrm>
              <a:off x="5076056" y="2634284"/>
              <a:ext cx="3816549" cy="1552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AH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地址锁存延迟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>
                  <a:latin typeface="宋体" panose="02010600030101010101" pitchFamily="2" charset="-122"/>
                </a:rPr>
                <a:t>RCL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—RAS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与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信号延迟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>
                  <a:latin typeface="宋体" panose="02010600030101010101" pitchFamily="2" charset="-122"/>
                </a:rPr>
                <a:t>AH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有效→数据输出稳定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 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读时间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RCL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+t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读周期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+max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{t</a:t>
              </a:r>
              <a:r>
                <a:rPr lang="zh-CN" altLang="en-US" sz="18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再生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,t</a:t>
              </a:r>
              <a:r>
                <a:rPr lang="zh-CN" altLang="en-US" sz="1800" b="1" u="none" baseline="-18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传输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})</a:t>
              </a:r>
              <a:endPara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7" name="Line 385"/>
            <p:cNvSpPr>
              <a:spLocks noChangeShapeType="1"/>
            </p:cNvSpPr>
            <p:nvPr/>
          </p:nvSpPr>
          <p:spPr bwMode="auto">
            <a:xfrm>
              <a:off x="5670032" y="3270189"/>
              <a:ext cx="33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386"/>
            <p:cNvSpPr>
              <a:spLocks noChangeShapeType="1"/>
            </p:cNvSpPr>
            <p:nvPr/>
          </p:nvSpPr>
          <p:spPr bwMode="auto">
            <a:xfrm>
              <a:off x="6253232" y="2964189"/>
              <a:ext cx="33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85"/>
            <p:cNvSpPr>
              <a:spLocks noChangeShapeType="1"/>
            </p:cNvSpPr>
            <p:nvPr/>
          </p:nvSpPr>
          <p:spPr bwMode="auto">
            <a:xfrm>
              <a:off x="5673632" y="2964189"/>
              <a:ext cx="33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" name="Text Box 371"/>
          <p:cNvSpPr txBox="1">
            <a:spLocks noChangeArrowheads="1"/>
          </p:cNvSpPr>
          <p:nvPr/>
        </p:nvSpPr>
        <p:spPr bwMode="auto">
          <a:xfrm>
            <a:off x="179388" y="799544"/>
            <a:ext cx="6048796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操作的标志：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*读周期的时序：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基于组成理解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28" name="Text Box 371"/>
          <p:cNvSpPr txBox="1">
            <a:spLocks noChangeArrowheads="1"/>
          </p:cNvSpPr>
          <p:nvPr/>
        </p:nvSpPr>
        <p:spPr bwMode="auto">
          <a:xfrm>
            <a:off x="179512" y="3429000"/>
            <a:ext cx="360049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操作信号的时序要求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baseline="-18000" dirty="0">
              <a:latin typeface="宋体" panose="02010600030101010101" pitchFamily="2" charset="-122"/>
            </a:endParaRPr>
          </a:p>
        </p:txBody>
      </p:sp>
      <p:sp>
        <p:nvSpPr>
          <p:cNvPr id="326" name="Text Box 371"/>
          <p:cNvSpPr txBox="1">
            <a:spLocks noChangeArrowheads="1"/>
          </p:cNvSpPr>
          <p:nvPr/>
        </p:nvSpPr>
        <p:spPr bwMode="auto">
          <a:xfrm>
            <a:off x="2195735" y="811391"/>
            <a:ext cx="597666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RAS#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从无效→有效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开始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、从有效→无效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停止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u="none" dirty="0">
              <a:latin typeface="宋体" panose="02010600030101010101" pitchFamily="2" charset="-122"/>
            </a:endParaRPr>
          </a:p>
        </p:txBody>
      </p:sp>
      <p:sp>
        <p:nvSpPr>
          <p:cNvPr id="328" name="Text Box 157"/>
          <p:cNvSpPr txBox="1">
            <a:spLocks noChangeArrowheads="1"/>
          </p:cNvSpPr>
          <p:nvPr/>
        </p:nvSpPr>
        <p:spPr bwMode="auto">
          <a:xfrm>
            <a:off x="291476" y="4725144"/>
            <a:ext cx="8745020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5838" indent="-985838"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</a:rPr>
              <a:t>某</a:t>
            </a:r>
            <a:r>
              <a:rPr lang="en-US" altLang="zh-CN" sz="20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</a:t>
            </a:r>
            <a:r>
              <a:rPr lang="en-US" altLang="zh-CN" sz="20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err="1">
                <a:latin typeface="宋体" panose="02010600030101010101" pitchFamily="2" charset="-122"/>
              </a:rPr>
              <a:t>AH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0.4</a:t>
            </a:r>
            <a:r>
              <a:rPr lang="en-US" altLang="zh-CN" sz="2000" u="none" dirty="0">
                <a:latin typeface="+mn-lt"/>
              </a:rPr>
              <a:t>μ</a:t>
            </a:r>
            <a:r>
              <a:rPr lang="en-US" altLang="zh-CN" sz="2000" b="1" u="none" dirty="0">
                <a:latin typeface="宋体" panose="02010600030101010101" pitchFamily="2" charset="-122"/>
              </a:rPr>
              <a:t>s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err="1">
                <a:latin typeface="宋体" panose="02010600030101010101" pitchFamily="2" charset="-122"/>
              </a:rPr>
              <a:t>CAC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3.2</a:t>
            </a:r>
            <a:r>
              <a:rPr lang="en-US" altLang="zh-CN" sz="2000" u="none" dirty="0"/>
              <a:t>μ</a:t>
            </a:r>
            <a:r>
              <a:rPr lang="en-US" altLang="zh-CN" sz="2000" b="1" u="none" dirty="0">
                <a:latin typeface="宋体" panose="02010600030101010101" pitchFamily="2" charset="-122"/>
              </a:rPr>
              <a:t>s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，若访存时发出的信号都</a:t>
            </a:r>
            <a:r>
              <a:rPr lang="zh-CN" altLang="en-US" sz="2000" b="1" dirty="0">
                <a:latin typeface="宋体" panose="02010600030101010101" pitchFamily="2" charset="-122"/>
              </a:rPr>
              <a:t>与</a:t>
            </a:r>
            <a:r>
              <a:rPr lang="en-US" altLang="zh-CN" sz="2000" b="1" dirty="0">
                <a:latin typeface="宋体" panose="02010600030101010101" pitchFamily="2" charset="-122"/>
              </a:rPr>
              <a:t>1MHz</a:t>
            </a:r>
            <a:r>
              <a:rPr lang="zh-CN" altLang="en-US" sz="2000" b="1" dirty="0">
                <a:latin typeface="宋体" panose="02010600030101010101" pitchFamily="2" charset="-122"/>
              </a:rPr>
              <a:t>时钟脉冲同步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时钟上升沿时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，则一次访存至少需多少时间？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421" name="Text Box 372"/>
          <p:cNvSpPr txBox="1">
            <a:spLocks noChangeArrowheads="1"/>
          </p:cNvSpPr>
          <p:nvPr/>
        </p:nvSpPr>
        <p:spPr bwMode="auto">
          <a:xfrm>
            <a:off x="788532" y="5589240"/>
            <a:ext cx="8136000" cy="6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125000"/>
              </a:lnSpc>
            </a:pPr>
            <a:r>
              <a:rPr lang="zh-CN" altLang="en-US" sz="2000" b="1" u="none" dirty="0">
                <a:solidFill>
                  <a:srgbClr val="990099"/>
                </a:solidFill>
                <a:latin typeface="+mn-ea"/>
                <a:ea typeface="+mn-ea"/>
              </a:rPr>
              <a:t> 答：</a:t>
            </a:r>
            <a:r>
              <a:rPr lang="en-US" altLang="zh-CN" sz="2000" b="1" u="none" dirty="0" err="1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>
                <a:latin typeface="+mn-ea"/>
                <a:ea typeface="+mn-ea"/>
              </a:rPr>
              <a:t>C</a:t>
            </a:r>
            <a:r>
              <a:rPr lang="zh-CN" altLang="en-US" sz="2000" b="1" u="none" dirty="0">
                <a:latin typeface="+mn-ea"/>
                <a:ea typeface="+mn-ea"/>
              </a:rPr>
              <a:t>＝</a:t>
            </a:r>
            <a:r>
              <a:rPr lang="en-US" altLang="zh-CN" sz="2000" b="1" u="none" dirty="0">
                <a:latin typeface="+mn-ea"/>
                <a:ea typeface="+mn-ea"/>
              </a:rPr>
              <a:t>1</a:t>
            </a:r>
            <a:r>
              <a:rPr lang="en-US" altLang="zh-CN" sz="2000" u="none" dirty="0">
                <a:latin typeface="+mn-lt"/>
                <a:ea typeface="+mn-ea"/>
              </a:rPr>
              <a:t>μ</a:t>
            </a:r>
            <a:r>
              <a:rPr lang="en-US" altLang="zh-CN" sz="2000" b="1" u="none" dirty="0">
                <a:latin typeface="+mn-ea"/>
                <a:ea typeface="+mn-ea"/>
              </a:rPr>
              <a:t>s</a:t>
            </a:r>
            <a:r>
              <a:rPr lang="zh-CN" altLang="en-US" sz="2000" b="1" u="none" dirty="0">
                <a:latin typeface="+mn-ea"/>
                <a:ea typeface="+mn-ea"/>
              </a:rPr>
              <a:t>，</a:t>
            </a:r>
            <a:r>
              <a:rPr lang="en-US" altLang="zh-CN" sz="2000" b="1" u="none" dirty="0">
                <a:latin typeface="+mn-ea"/>
                <a:ea typeface="+mn-ea"/>
              </a:rPr>
              <a:t>T</a:t>
            </a:r>
            <a:r>
              <a:rPr lang="zh-CN" altLang="en-US" sz="2000" b="1" u="none" dirty="0">
                <a:latin typeface="+mn-ea"/>
                <a:ea typeface="+mn-ea"/>
              </a:rPr>
              <a:t>≥</a:t>
            </a:r>
            <a:r>
              <a:rPr lang="en-US" altLang="zh-CN" sz="2000" b="1" u="none" dirty="0">
                <a:latin typeface="+mn-ea"/>
                <a:ea typeface="+mn-ea"/>
              </a:rPr>
              <a:t>{1</a:t>
            </a:r>
            <a:r>
              <a:rPr lang="zh-CN" altLang="en-US" sz="2000" b="1" u="none" dirty="0">
                <a:latin typeface="+mn-ea"/>
                <a:ea typeface="+mn-ea"/>
              </a:rPr>
              <a:t>＋</a:t>
            </a:r>
            <a:r>
              <a:rPr lang="zh-CN" altLang="en-US" sz="2000" u="none" spc="-300" dirty="0">
                <a:latin typeface="+mn-ea"/>
                <a:ea typeface="+mn-ea"/>
                <a:sym typeface="Symbol" panose="05050102010706020507"/>
              </a:rPr>
              <a:t></a:t>
            </a:r>
            <a:r>
              <a:rPr lang="en-US" altLang="zh-CN" sz="2000" b="1" u="none" dirty="0">
                <a:latin typeface="+mn-ea"/>
                <a:ea typeface="+mn-ea"/>
              </a:rPr>
              <a:t>0.4/</a:t>
            </a:r>
            <a:r>
              <a:rPr lang="en-US" altLang="zh-CN" sz="2000" b="1" u="none" dirty="0" err="1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>
                <a:latin typeface="+mn-ea"/>
                <a:ea typeface="+mn-ea"/>
              </a:rPr>
              <a:t>C</a:t>
            </a:r>
            <a:r>
              <a:rPr lang="en-US" altLang="zh-CN" sz="2000" u="none" dirty="0">
                <a:latin typeface="+mn-ea"/>
                <a:ea typeface="+mn-ea"/>
                <a:sym typeface="Symbol" panose="05050102010706020507"/>
              </a:rPr>
              <a:t></a:t>
            </a:r>
            <a:r>
              <a:rPr lang="zh-CN" altLang="en-US" sz="2000" u="none" dirty="0">
                <a:latin typeface="+mn-ea"/>
                <a:ea typeface="+mn-ea"/>
                <a:sym typeface="Symbol" panose="05050102010706020507"/>
              </a:rPr>
              <a:t>＋</a:t>
            </a:r>
            <a:r>
              <a:rPr lang="en-US" altLang="zh-CN" sz="2000" b="1" u="none" dirty="0">
                <a:latin typeface="+mn-ea"/>
                <a:ea typeface="+mn-ea"/>
                <a:sym typeface="Symbol" panose="05050102010706020507"/>
              </a:rPr>
              <a:t>1</a:t>
            </a:r>
            <a:r>
              <a:rPr lang="zh-CN" altLang="en-US" sz="2000" b="1" u="none" dirty="0">
                <a:latin typeface="+mn-ea"/>
                <a:ea typeface="+mn-ea"/>
              </a:rPr>
              <a:t>＋</a:t>
            </a:r>
            <a:r>
              <a:rPr lang="zh-CN" altLang="en-US" sz="2000" u="none" spc="-300" dirty="0">
                <a:latin typeface="+mn-ea"/>
                <a:ea typeface="+mn-ea"/>
                <a:sym typeface="Symbol" panose="05050102010706020507"/>
              </a:rPr>
              <a:t></a:t>
            </a:r>
            <a:r>
              <a:rPr lang="en-US" altLang="zh-CN" sz="2000" b="1" u="none" dirty="0">
                <a:latin typeface="+mn-ea"/>
                <a:ea typeface="+mn-ea"/>
                <a:sym typeface="Symbol" panose="05050102010706020507"/>
              </a:rPr>
              <a:t>3.2</a:t>
            </a:r>
            <a:r>
              <a:rPr lang="en-US" altLang="zh-CN" sz="2000" b="1" u="none" dirty="0">
                <a:latin typeface="+mn-ea"/>
                <a:ea typeface="+mn-ea"/>
              </a:rPr>
              <a:t>/</a:t>
            </a:r>
            <a:r>
              <a:rPr lang="en-US" altLang="zh-CN" sz="2000" b="1" u="none" dirty="0" err="1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>
                <a:latin typeface="+mn-ea"/>
                <a:ea typeface="+mn-ea"/>
              </a:rPr>
              <a:t>C</a:t>
            </a:r>
            <a:r>
              <a:rPr lang="en-US" altLang="zh-CN" sz="2000" u="none" dirty="0">
                <a:latin typeface="+mn-ea"/>
                <a:ea typeface="+mn-ea"/>
                <a:sym typeface="Symbol" panose="05050102010706020507"/>
              </a:rPr>
              <a:t></a:t>
            </a:r>
            <a:r>
              <a:rPr lang="en-US" altLang="zh-CN" sz="2000" b="1" u="none" dirty="0">
                <a:latin typeface="+mn-ea"/>
                <a:ea typeface="+mn-ea"/>
                <a:sym typeface="Symbol" panose="05050102010706020507"/>
              </a:rPr>
              <a:t>}×</a:t>
            </a:r>
            <a:r>
              <a:rPr lang="en-US" altLang="zh-CN" sz="2000" b="1" u="none" dirty="0" err="1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>
                <a:latin typeface="+mn-ea"/>
                <a:ea typeface="+mn-ea"/>
              </a:rPr>
              <a:t>C</a:t>
            </a:r>
            <a:r>
              <a:rPr lang="zh-CN" altLang="en-US" sz="2000" b="1" u="none" dirty="0"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000" b="1" u="none" dirty="0">
                <a:latin typeface="+mn-ea"/>
                <a:ea typeface="+mn-ea"/>
              </a:rPr>
              <a:t>7</a:t>
            </a:r>
            <a:r>
              <a:rPr lang="en-US" altLang="zh-CN" sz="2000" u="none" dirty="0">
                <a:latin typeface="+mn-lt"/>
                <a:ea typeface="+mn-ea"/>
              </a:rPr>
              <a:t>μ</a:t>
            </a:r>
            <a:r>
              <a:rPr lang="en-US" altLang="zh-CN" sz="2000" b="1" u="none" dirty="0">
                <a:latin typeface="+mn-ea"/>
                <a:ea typeface="+mn-ea"/>
              </a:rPr>
              <a:t>s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＞</a:t>
            </a:r>
            <a:r>
              <a:rPr lang="en-US" altLang="zh-CN" sz="1800" b="1" u="none" dirty="0">
                <a:latin typeface="+mn-ea"/>
                <a:ea typeface="+mn-ea"/>
              </a:rPr>
              <a:t>3.6</a:t>
            </a:r>
            <a:r>
              <a:rPr lang="en-US" altLang="zh-CN" sz="1800" u="none" dirty="0">
                <a:latin typeface="+mn-lt"/>
                <a:ea typeface="+mn-ea"/>
              </a:rPr>
              <a:t>μ</a:t>
            </a:r>
            <a:r>
              <a:rPr lang="en-US" altLang="zh-CN" sz="1800" b="1" u="none" dirty="0">
                <a:latin typeface="+mn-ea"/>
                <a:ea typeface="+mn-ea"/>
              </a:rPr>
              <a:t>s)</a:t>
            </a:r>
            <a:endParaRPr lang="en-US" altLang="zh-CN" sz="2000" b="1" u="none" dirty="0">
              <a:latin typeface="+mn-ea"/>
              <a:ea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u="none" dirty="0">
                <a:latin typeface="+mn-ea"/>
                <a:ea typeface="+mn-ea"/>
              </a:rPr>
              <a:t>                 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发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RAS) 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发列地址</a:t>
            </a:r>
            <a:r>
              <a:rPr lang="en-US" altLang="zh-CN" sz="1600" b="1" u="none" dirty="0">
                <a:latin typeface="+mn-ea"/>
                <a:ea typeface="+mn-ea"/>
              </a:rPr>
              <a:t>)(</a:t>
            </a:r>
            <a:r>
              <a:rPr lang="zh-CN" altLang="en-US" sz="1600" b="1" u="none" dirty="0">
                <a:latin typeface="+mn-ea"/>
                <a:ea typeface="+mn-ea"/>
              </a:rPr>
              <a:t>发</a:t>
            </a:r>
            <a:r>
              <a:rPr lang="en-US" altLang="zh-CN" sz="1600" b="1" u="none" dirty="0">
                <a:latin typeface="+mn-ea"/>
                <a:ea typeface="+mn-ea"/>
              </a:rPr>
              <a:t>CAS)(</a:t>
            </a:r>
            <a:r>
              <a:rPr lang="zh-CN" altLang="en-US" sz="1600" b="1" u="none" dirty="0">
                <a:latin typeface="+mn-ea"/>
                <a:ea typeface="+mn-ea"/>
              </a:rPr>
              <a:t>等待完成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</a:p>
        </p:txBody>
      </p:sp>
      <p:sp>
        <p:nvSpPr>
          <p:cNvPr id="423" name="Text Box 371"/>
          <p:cNvSpPr txBox="1">
            <a:spLocks noChangeArrowheads="1"/>
          </p:cNvSpPr>
          <p:nvPr/>
        </p:nvSpPr>
        <p:spPr bwMode="auto">
          <a:xfrm>
            <a:off x="3563888" y="3429000"/>
            <a:ext cx="5580000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RAS#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行地址稳定后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②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列地址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列地址稳定后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③</a:t>
            </a:r>
            <a:r>
              <a:rPr lang="en-US" altLang="zh-CN" sz="2200" b="1" u="none" dirty="0">
                <a:latin typeface="宋体" panose="02010600030101010101" pitchFamily="2" charset="-122"/>
              </a:rPr>
              <a:t>WE#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CAS#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有效期间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无效</a:t>
            </a:r>
            <a:r>
              <a:rPr lang="en-US" altLang="zh-CN" sz="2200" b="1" u="none" dirty="0">
                <a:latin typeface="宋体" panose="02010600030101010101" pitchFamily="2" charset="-122"/>
              </a:rPr>
              <a:t>(R)</a:t>
            </a:r>
          </a:p>
        </p:txBody>
      </p: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5E6BE58B-2582-4C5F-AABE-B753AB719074}"/>
              </a:ext>
            </a:extLst>
          </p:cNvPr>
          <p:cNvGrpSpPr/>
          <p:nvPr/>
        </p:nvGrpSpPr>
        <p:grpSpPr>
          <a:xfrm>
            <a:off x="1044008" y="1700808"/>
            <a:ext cx="3600000" cy="1692024"/>
            <a:chOff x="864000" y="1728000"/>
            <a:chExt cx="3600000" cy="1692024"/>
          </a:xfrm>
        </p:grpSpPr>
        <p:sp>
          <p:nvSpPr>
            <p:cNvPr id="213" name="Line 271">
              <a:extLst>
                <a:ext uri="{FF2B5EF4-FFF2-40B4-BE49-F238E27FC236}">
                  <a16:creationId xmlns:a16="http://schemas.microsoft.com/office/drawing/2014/main" id="{4583EE09-00F8-4E00-9051-044A76B7B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6000" y="2338468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72">
              <a:extLst>
                <a:ext uri="{FF2B5EF4-FFF2-40B4-BE49-F238E27FC236}">
                  <a16:creationId xmlns:a16="http://schemas.microsoft.com/office/drawing/2014/main" id="{3B1B09F1-FC86-489D-88D8-99FE145AA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3312152"/>
              <a:ext cx="21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73">
              <a:extLst>
                <a:ext uri="{FF2B5EF4-FFF2-40B4-BE49-F238E27FC236}">
                  <a16:creationId xmlns:a16="http://schemas.microsoft.com/office/drawing/2014/main" id="{7822E154-6ECA-4F78-98E0-0648F601B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678" y="2555866"/>
              <a:ext cx="183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74">
              <a:extLst>
                <a:ext uri="{FF2B5EF4-FFF2-40B4-BE49-F238E27FC236}">
                  <a16:creationId xmlns:a16="http://schemas.microsoft.com/office/drawing/2014/main" id="{EFDC8349-8402-447A-9A99-459CA1F8C9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2340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86">
              <a:extLst>
                <a:ext uri="{FF2B5EF4-FFF2-40B4-BE49-F238E27FC236}">
                  <a16:creationId xmlns:a16="http://schemas.microsoft.com/office/drawing/2014/main" id="{E275324C-0740-4032-88CF-A4058E79E5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8000" y="3312152"/>
              <a:ext cx="10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87">
              <a:extLst>
                <a:ext uri="{FF2B5EF4-FFF2-40B4-BE49-F238E27FC236}">
                  <a16:creationId xmlns:a16="http://schemas.microsoft.com/office/drawing/2014/main" id="{F6E97650-08A9-402A-A694-7BA9FE0413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000" y="1728000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Text Box 292">
              <a:extLst>
                <a:ext uri="{FF2B5EF4-FFF2-40B4-BE49-F238E27FC236}">
                  <a16:creationId xmlns:a16="http://schemas.microsoft.com/office/drawing/2014/main" id="{053BE5FB-93F0-484A-9E49-BF86B6443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1836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24" name="Line 293">
              <a:extLst>
                <a:ext uri="{FF2B5EF4-FFF2-40B4-BE49-F238E27FC236}">
                  <a16:creationId xmlns:a16="http://schemas.microsoft.com/office/drawing/2014/main" id="{474267C3-909D-43CD-B4EC-205DCD2E8C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8000" y="1944000"/>
              <a:ext cx="8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94">
              <a:extLst>
                <a:ext uri="{FF2B5EF4-FFF2-40B4-BE49-F238E27FC236}">
                  <a16:creationId xmlns:a16="http://schemas.microsoft.com/office/drawing/2014/main" id="{AD39791D-C53C-4800-8681-496989546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1680" y="1944000"/>
              <a:ext cx="82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300">
              <a:extLst>
                <a:ext uri="{FF2B5EF4-FFF2-40B4-BE49-F238E27FC236}">
                  <a16:creationId xmlns:a16="http://schemas.microsoft.com/office/drawing/2014/main" id="{A0F50FBF-5C0A-40E7-AFD4-FADE923A4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000" y="291600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306">
              <a:extLst>
                <a:ext uri="{FF2B5EF4-FFF2-40B4-BE49-F238E27FC236}">
                  <a16:creationId xmlns:a16="http://schemas.microsoft.com/office/drawing/2014/main" id="{5CA8C9C8-7384-45A0-A3EF-0DD4A2A98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000" y="2842392"/>
              <a:ext cx="0" cy="3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318">
              <a:extLst>
                <a:ext uri="{FF2B5EF4-FFF2-40B4-BE49-F238E27FC236}">
                  <a16:creationId xmlns:a16="http://schemas.microsoft.com/office/drawing/2014/main" id="{20E36C4E-F444-4553-BE6A-45DE83EB2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837" y="2340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Text Box 326">
              <a:extLst>
                <a:ext uri="{FF2B5EF4-FFF2-40B4-BE49-F238E27FC236}">
                  <a16:creationId xmlns:a16="http://schemas.microsoft.com/office/drawing/2014/main" id="{A4FC8E27-0C50-40DD-A7C1-10944BF4B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000" y="2988128"/>
              <a:ext cx="3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32" name="Line 327">
              <a:extLst>
                <a:ext uri="{FF2B5EF4-FFF2-40B4-BE49-F238E27FC236}">
                  <a16:creationId xmlns:a16="http://schemas.microsoft.com/office/drawing/2014/main" id="{80FD97BA-A470-4117-851C-EF02FAA8A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4000" y="3096000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328">
              <a:extLst>
                <a:ext uri="{FF2B5EF4-FFF2-40B4-BE49-F238E27FC236}">
                  <a16:creationId xmlns:a16="http://schemas.microsoft.com/office/drawing/2014/main" id="{6B915AF6-6938-499F-84FB-826A1C13C8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00000" y="3096000"/>
              <a:ext cx="3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349">
              <a:extLst>
                <a:ext uri="{FF2B5EF4-FFF2-40B4-BE49-F238E27FC236}">
                  <a16:creationId xmlns:a16="http://schemas.microsoft.com/office/drawing/2014/main" id="{D45090B5-A983-49B1-8C8D-1E742BBBE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2628088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350">
              <a:extLst>
                <a:ext uri="{FF2B5EF4-FFF2-40B4-BE49-F238E27FC236}">
                  <a16:creationId xmlns:a16="http://schemas.microsoft.com/office/drawing/2014/main" id="{7473F758-D3CF-4D8D-9A4F-36CE6BEC6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2000" y="2844000"/>
              <a:ext cx="10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351">
              <a:extLst>
                <a:ext uri="{FF2B5EF4-FFF2-40B4-BE49-F238E27FC236}">
                  <a16:creationId xmlns:a16="http://schemas.microsoft.com/office/drawing/2014/main" id="{2BF3C1ED-5773-4E7C-BD16-5E54FC38C7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26280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352">
              <a:extLst>
                <a:ext uri="{FF2B5EF4-FFF2-40B4-BE49-F238E27FC236}">
                  <a16:creationId xmlns:a16="http://schemas.microsoft.com/office/drawing/2014/main" id="{0B6E003E-D47A-4005-B49E-97C0BE4DF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628087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356">
              <a:extLst>
                <a:ext uri="{FF2B5EF4-FFF2-40B4-BE49-F238E27FC236}">
                  <a16:creationId xmlns:a16="http://schemas.microsoft.com/office/drawing/2014/main" id="{68E34713-497D-44BA-8293-A3102DF15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000" y="2628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Text Box 360">
              <a:extLst>
                <a:ext uri="{FF2B5EF4-FFF2-40B4-BE49-F238E27FC236}">
                  <a16:creationId xmlns:a16="http://schemas.microsoft.com/office/drawing/2014/main" id="{C92A1036-08DA-4A9D-959D-6647B28C4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000" y="2304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41" name="Line 363">
              <a:extLst>
                <a:ext uri="{FF2B5EF4-FFF2-40B4-BE49-F238E27FC236}">
                  <a16:creationId xmlns:a16="http://schemas.microsoft.com/office/drawing/2014/main" id="{AA3E6B62-C658-44E4-AF31-617510661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0000" y="2268000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364">
              <a:extLst>
                <a:ext uri="{FF2B5EF4-FFF2-40B4-BE49-F238E27FC236}">
                  <a16:creationId xmlns:a16="http://schemas.microsoft.com/office/drawing/2014/main" id="{5B3FF89C-1C15-47BD-A870-4FF1A1CA8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6000" y="2340056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Text Box 373">
              <a:extLst>
                <a:ext uri="{FF2B5EF4-FFF2-40B4-BE49-F238E27FC236}">
                  <a16:creationId xmlns:a16="http://schemas.microsoft.com/office/drawing/2014/main" id="{D383E311-C3FD-4FDC-977D-C6843246B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2304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44" name="Line 375">
              <a:extLst>
                <a:ext uri="{FF2B5EF4-FFF2-40B4-BE49-F238E27FC236}">
                  <a16:creationId xmlns:a16="http://schemas.microsoft.com/office/drawing/2014/main" id="{0FEE7AF8-813F-41D6-A9AE-45FB59A44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000" y="1836000"/>
              <a:ext cx="0" cy="136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Text Box 382">
              <a:extLst>
                <a:ext uri="{FF2B5EF4-FFF2-40B4-BE49-F238E27FC236}">
                  <a16:creationId xmlns:a16="http://schemas.microsoft.com/office/drawing/2014/main" id="{77C3E92C-3655-4B00-9480-CD9CA1F03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00" y="2628000"/>
              <a:ext cx="3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46" name="Line 383">
              <a:extLst>
                <a:ext uri="{FF2B5EF4-FFF2-40B4-BE49-F238E27FC236}">
                  <a16:creationId xmlns:a16="http://schemas.microsoft.com/office/drawing/2014/main" id="{CC5D2C2A-A5A4-4632-AAC9-1D2F69534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000" y="2736000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384">
              <a:extLst>
                <a:ext uri="{FF2B5EF4-FFF2-40B4-BE49-F238E27FC236}">
                  <a16:creationId xmlns:a16="http://schemas.microsoft.com/office/drawing/2014/main" id="{4D1F24E4-0E9C-4C94-865F-6931A099A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07703" y="2736000"/>
              <a:ext cx="2160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Text Box 404">
              <a:extLst>
                <a:ext uri="{FF2B5EF4-FFF2-40B4-BE49-F238E27FC236}">
                  <a16:creationId xmlns:a16="http://schemas.microsoft.com/office/drawing/2014/main" id="{52661324-4F77-4B93-BA13-68CF52A44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34005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9" name="Line 405">
              <a:extLst>
                <a:ext uri="{FF2B5EF4-FFF2-40B4-BE49-F238E27FC236}">
                  <a16:creationId xmlns:a16="http://schemas.microsoft.com/office/drawing/2014/main" id="{4BC57952-DA77-4F46-B32E-4003B6760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600" y="2340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Text Box 436">
              <a:extLst>
                <a:ext uri="{FF2B5EF4-FFF2-40B4-BE49-F238E27FC236}">
                  <a16:creationId xmlns:a16="http://schemas.microsoft.com/office/drawing/2014/main" id="{1E3A7F28-62C4-4242-B922-14688AA32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670" y="2916120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1" name="Line 437">
              <a:extLst>
                <a:ext uri="{FF2B5EF4-FFF2-40B4-BE49-F238E27FC236}">
                  <a16:creationId xmlns:a16="http://schemas.microsoft.com/office/drawing/2014/main" id="{1D372B09-E7C3-44BB-B2F2-7F48D1217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000" y="2916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52" name="Text Box 439">
              <a:extLst>
                <a:ext uri="{FF2B5EF4-FFF2-40B4-BE49-F238E27FC236}">
                  <a16:creationId xmlns:a16="http://schemas.microsoft.com/office/drawing/2014/main" id="{5AF6DCDE-DA5A-4E42-9783-B75556C3D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62808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3" name="Line 440">
              <a:extLst>
                <a:ext uri="{FF2B5EF4-FFF2-40B4-BE49-F238E27FC236}">
                  <a16:creationId xmlns:a16="http://schemas.microsoft.com/office/drawing/2014/main" id="{BE320AEF-C943-4F26-B383-8D246CD42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600" y="2628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476">
              <a:extLst>
                <a:ext uri="{FF2B5EF4-FFF2-40B4-BE49-F238E27FC236}">
                  <a16:creationId xmlns:a16="http://schemas.microsoft.com/office/drawing/2014/main" id="{1226A8F1-AE3A-467E-9746-3C138C479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3132143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477">
              <a:extLst>
                <a:ext uri="{FF2B5EF4-FFF2-40B4-BE49-F238E27FC236}">
                  <a16:creationId xmlns:a16="http://schemas.microsoft.com/office/drawing/2014/main" id="{A49D73B6-21AD-4196-AAB3-881AE97D9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8000" y="291731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478">
              <a:extLst>
                <a:ext uri="{FF2B5EF4-FFF2-40B4-BE49-F238E27FC236}">
                  <a16:creationId xmlns:a16="http://schemas.microsoft.com/office/drawing/2014/main" id="{C1A928F3-9C66-497C-A864-5D79B455F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000" y="291731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479">
              <a:extLst>
                <a:ext uri="{FF2B5EF4-FFF2-40B4-BE49-F238E27FC236}">
                  <a16:creationId xmlns:a16="http://schemas.microsoft.com/office/drawing/2014/main" id="{77C8566F-9A01-4F22-B9C0-8E7279BC2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000" y="291731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80">
              <a:extLst>
                <a:ext uri="{FF2B5EF4-FFF2-40B4-BE49-F238E27FC236}">
                  <a16:creationId xmlns:a16="http://schemas.microsoft.com/office/drawing/2014/main" id="{F8FC1D71-3AD1-4689-9DBA-01ADEEF1F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000" y="291731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482">
              <a:extLst>
                <a:ext uri="{FF2B5EF4-FFF2-40B4-BE49-F238E27FC236}">
                  <a16:creationId xmlns:a16="http://schemas.microsoft.com/office/drawing/2014/main" id="{73F3E7CF-9480-444E-8E87-E6B78C5179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3132144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358">
              <a:extLst>
                <a:ext uri="{FF2B5EF4-FFF2-40B4-BE49-F238E27FC236}">
                  <a16:creationId xmlns:a16="http://schemas.microsoft.com/office/drawing/2014/main" id="{BAFC11FE-D308-4602-A6FF-D6841272FE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8274" y="2268192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477">
              <a:extLst>
                <a:ext uri="{FF2B5EF4-FFF2-40B4-BE49-F238E27FC236}">
                  <a16:creationId xmlns:a16="http://schemas.microsoft.com/office/drawing/2014/main" id="{A28E687B-C33C-4E53-928C-0B478DCB6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4000" y="291612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477">
              <a:extLst>
                <a:ext uri="{FF2B5EF4-FFF2-40B4-BE49-F238E27FC236}">
                  <a16:creationId xmlns:a16="http://schemas.microsoft.com/office/drawing/2014/main" id="{13A5B664-E6F3-4B78-80F7-71B22A84A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000" y="291612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Text Box 326">
              <a:extLst>
                <a:ext uri="{FF2B5EF4-FFF2-40B4-BE49-F238E27FC236}">
                  <a16:creationId xmlns:a16="http://schemas.microsoft.com/office/drawing/2014/main" id="{04917CB5-CEC8-4C60-A655-0BDF42921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000" y="2592000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64" name="Line 327">
              <a:extLst>
                <a:ext uri="{FF2B5EF4-FFF2-40B4-BE49-F238E27FC236}">
                  <a16:creationId xmlns:a16="http://schemas.microsoft.com/office/drawing/2014/main" id="{6CA969AD-C0CE-4E0E-BA00-076B31EE6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000" y="2736000"/>
              <a:ext cx="39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328">
              <a:extLst>
                <a:ext uri="{FF2B5EF4-FFF2-40B4-BE49-F238E27FC236}">
                  <a16:creationId xmlns:a16="http://schemas.microsoft.com/office/drawing/2014/main" id="{F3DD0D92-B6E4-4C4C-9274-5E72A6C6B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0000" y="273600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75">
              <a:extLst>
                <a:ext uri="{FF2B5EF4-FFF2-40B4-BE49-F238E27FC236}">
                  <a16:creationId xmlns:a16="http://schemas.microsoft.com/office/drawing/2014/main" id="{9C8C8A12-3A09-487E-8C1D-BAC728FAF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340056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Text Box 691">
              <a:extLst>
                <a:ext uri="{FF2B5EF4-FFF2-40B4-BE49-F238E27FC236}">
                  <a16:creationId xmlns:a16="http://schemas.microsoft.com/office/drawing/2014/main" id="{141069D5-64A7-44F6-B672-5468DD8CD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316800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69" name="Text Box 292">
              <a:extLst>
                <a:ext uri="{FF2B5EF4-FFF2-40B4-BE49-F238E27FC236}">
                  <a16:creationId xmlns:a16="http://schemas.microsoft.com/office/drawing/2014/main" id="{183F26B0-88AE-4A26-977B-9022036D8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00" y="1728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70" name="Line 293">
              <a:extLst>
                <a:ext uri="{FF2B5EF4-FFF2-40B4-BE49-F238E27FC236}">
                  <a16:creationId xmlns:a16="http://schemas.microsoft.com/office/drawing/2014/main" id="{8BD84D54-DE04-4918-99F8-CB284FF3A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6000" y="1800000"/>
              <a:ext cx="97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94">
              <a:extLst>
                <a:ext uri="{FF2B5EF4-FFF2-40B4-BE49-F238E27FC236}">
                  <a16:creationId xmlns:a16="http://schemas.microsoft.com/office/drawing/2014/main" id="{A9C102F4-4383-4111-80E2-98244392A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1679" y="1800000"/>
              <a:ext cx="10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358">
              <a:extLst>
                <a:ext uri="{FF2B5EF4-FFF2-40B4-BE49-F238E27FC236}">
                  <a16:creationId xmlns:a16="http://schemas.microsoft.com/office/drawing/2014/main" id="{AD3658BD-DF96-4F34-8433-075B6EB0B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0145" y="1728000"/>
              <a:ext cx="0" cy="169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358">
              <a:extLst>
                <a:ext uri="{FF2B5EF4-FFF2-40B4-BE49-F238E27FC236}">
                  <a16:creationId xmlns:a16="http://schemas.microsoft.com/office/drawing/2014/main" id="{91C0ACE2-3CF7-4543-B10B-361E456F2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000" y="2340056"/>
              <a:ext cx="0" cy="86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AutoShape 215">
              <a:extLst>
                <a:ext uri="{FF2B5EF4-FFF2-40B4-BE49-F238E27FC236}">
                  <a16:creationId xmlns:a16="http://schemas.microsoft.com/office/drawing/2014/main" id="{E4B8A7D2-B904-4462-840D-A48548BFC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680" y="2052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行地址</a:t>
              </a:r>
            </a:p>
          </p:txBody>
        </p:sp>
        <p:sp>
          <p:nvSpPr>
            <p:cNvPr id="275" name="AutoShape 215">
              <a:extLst>
                <a:ext uri="{FF2B5EF4-FFF2-40B4-BE49-F238E27FC236}">
                  <a16:creationId xmlns:a16="http://schemas.microsoft.com/office/drawing/2014/main" id="{4F5E5747-775F-4E63-BC58-5531DE28A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80" y="2052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6" name="Text Box 691">
              <a:extLst>
                <a:ext uri="{FF2B5EF4-FFF2-40B4-BE49-F238E27FC236}">
                  <a16:creationId xmlns:a16="http://schemas.microsoft.com/office/drawing/2014/main" id="{64F1F090-03F5-426B-9516-80ADC370E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06" y="2052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77" name="AutoShape 215">
              <a:extLst>
                <a:ext uri="{FF2B5EF4-FFF2-40B4-BE49-F238E27FC236}">
                  <a16:creationId xmlns:a16="http://schemas.microsoft.com/office/drawing/2014/main" id="{20522CE7-D330-44B6-9076-F690E4462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000" y="2052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列地址</a:t>
              </a:r>
            </a:p>
          </p:txBody>
        </p:sp>
        <p:sp>
          <p:nvSpPr>
            <p:cNvPr id="278" name="AutoShape 215">
              <a:extLst>
                <a:ext uri="{FF2B5EF4-FFF2-40B4-BE49-F238E27FC236}">
                  <a16:creationId xmlns:a16="http://schemas.microsoft.com/office/drawing/2014/main" id="{EBE524D2-14D8-4871-8BDF-A5933B3D3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000" y="2052000"/>
              <a:ext cx="64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9" name="AutoShape 215">
              <a:extLst>
                <a:ext uri="{FF2B5EF4-FFF2-40B4-BE49-F238E27FC236}">
                  <a16:creationId xmlns:a16="http://schemas.microsoft.com/office/drawing/2014/main" id="{F295A03C-6176-4795-A3BC-281A47C6E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000" y="2052000"/>
              <a:ext cx="36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80" name="Text Box 691">
              <a:extLst>
                <a:ext uri="{FF2B5EF4-FFF2-40B4-BE49-F238E27FC236}">
                  <a16:creationId xmlns:a16="http://schemas.microsoft.com/office/drawing/2014/main" id="{D05061A2-3087-4705-97CB-609609E7D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2052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81" name="Line 275">
              <a:extLst>
                <a:ext uri="{FF2B5EF4-FFF2-40B4-BE49-F238E27FC236}">
                  <a16:creationId xmlns:a16="http://schemas.microsoft.com/office/drawing/2014/main" id="{6C2B93CA-9326-4626-B433-900562741D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4000" y="2916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364">
              <a:extLst>
                <a:ext uri="{FF2B5EF4-FFF2-40B4-BE49-F238E27FC236}">
                  <a16:creationId xmlns:a16="http://schemas.microsoft.com/office/drawing/2014/main" id="{A1FB5D48-6D19-45E4-90E4-B6256C1CF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000" y="2340000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AutoShape 215">
              <a:extLst>
                <a:ext uri="{FF2B5EF4-FFF2-40B4-BE49-F238E27FC236}">
                  <a16:creationId xmlns:a16="http://schemas.microsoft.com/office/drawing/2014/main" id="{2934658F-0518-4E4A-BD79-B8D67DA27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000" y="3204000"/>
              <a:ext cx="64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284" name="Line 275">
              <a:extLst>
                <a:ext uri="{FF2B5EF4-FFF2-40B4-BE49-F238E27FC236}">
                  <a16:creationId xmlns:a16="http://schemas.microsoft.com/office/drawing/2014/main" id="{62691AB8-66AC-4AE4-A708-A649000E9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4875" y="2916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Text Box 691">
              <a:extLst>
                <a:ext uri="{FF2B5EF4-FFF2-40B4-BE49-F238E27FC236}">
                  <a16:creationId xmlns:a16="http://schemas.microsoft.com/office/drawing/2014/main" id="{F5A08C15-E8D8-4696-8F1B-A10C8CD25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000" y="2052048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" grpId="0"/>
      <p:bldP spid="328" grpId="0" bldLvl="0" animBg="1"/>
      <p:bldP spid="421" grpId="0" bldLvl="0" animBg="1"/>
      <p:bldP spid="4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217" name="Text Box 157"/>
          <p:cNvSpPr txBox="1">
            <a:spLocks noChangeArrowheads="1"/>
          </p:cNvSpPr>
          <p:nvPr/>
        </p:nvSpPr>
        <p:spPr bwMode="auto">
          <a:xfrm>
            <a:off x="179388" y="332656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写周期的时序：</a:t>
            </a: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43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372"/>
          <p:cNvSpPr txBox="1">
            <a:spLocks noChangeArrowheads="1"/>
          </p:cNvSpPr>
          <p:nvPr/>
        </p:nvSpPr>
        <p:spPr bwMode="auto">
          <a:xfrm>
            <a:off x="4644008" y="836712"/>
            <a:ext cx="3600000" cy="158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AH</a:t>
            </a: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读周期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RCL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读周期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DH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数据写入时间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DW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 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写时间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FF00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20000" dirty="0" err="1">
                <a:solidFill>
                  <a:srgbClr val="0070C0"/>
                </a:solidFill>
                <a:latin typeface="宋体" panose="02010600030101010101" pitchFamily="2" charset="-122"/>
              </a:rPr>
              <a:t>RCL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DH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WC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写周期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两次间隔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39" name="Text Box 371"/>
          <p:cNvSpPr txBox="1">
            <a:spLocks noChangeArrowheads="1"/>
          </p:cNvSpPr>
          <p:nvPr/>
        </p:nvSpPr>
        <p:spPr bwMode="auto">
          <a:xfrm>
            <a:off x="179513" y="2564904"/>
            <a:ext cx="360000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操作信号的时序要求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baseline="-18000" dirty="0">
              <a:latin typeface="宋体" panose="02010600030101010101" pitchFamily="2" charset="-122"/>
            </a:endParaRPr>
          </a:p>
        </p:txBody>
      </p:sp>
      <p:sp>
        <p:nvSpPr>
          <p:cNvPr id="151" name="Text Box 371"/>
          <p:cNvSpPr txBox="1">
            <a:spLocks noChangeArrowheads="1"/>
          </p:cNvSpPr>
          <p:nvPr/>
        </p:nvSpPr>
        <p:spPr bwMode="auto">
          <a:xfrm>
            <a:off x="3600536" y="2564904"/>
            <a:ext cx="5544000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①行地址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行地址稳定后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②列地址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发送，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列地址稳定后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③</a:t>
            </a:r>
            <a:r>
              <a:rPr lang="en-US" altLang="zh-CN" sz="2200" b="1" u="none" dirty="0">
                <a:latin typeface="宋体" panose="02010600030101010101" pitchFamily="2" charset="-122"/>
              </a:rPr>
              <a:t>WE#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CAS#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有效期间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滞后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时长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DH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④数据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稳定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时长≥</a:t>
            </a:r>
            <a:r>
              <a:rPr lang="en-US" altLang="zh-CN" sz="2200" b="1" u="none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DH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、保持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WE#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无效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10" name="Text Box 726">
            <a:extLst>
              <a:ext uri="{FF2B5EF4-FFF2-40B4-BE49-F238E27FC236}">
                <a16:creationId xmlns:a16="http://schemas.microsoft.com/office/drawing/2014/main" id="{B8FB2356-7E95-4635-9C0F-816DB9EEDC3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5650" y="4365104"/>
            <a:ext cx="41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合并</a:t>
            </a:r>
            <a:r>
              <a:rPr lang="zh-CN" sz="1800" dirty="0">
                <a:solidFill>
                  <a:schemeClr val="tx1"/>
                </a:solidFill>
              </a:rPr>
              <a:t>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sz="1800" dirty="0">
                <a:solidFill>
                  <a:schemeClr val="tx1"/>
                </a:solidFill>
              </a:rPr>
              <a:t>写后，总的</a:t>
            </a:r>
            <a:r>
              <a:rPr lang="zh-CN" altLang="zh-CN" sz="1800" dirty="0">
                <a:solidFill>
                  <a:schemeClr val="tx1"/>
                </a:solidFill>
              </a:rPr>
              <a:t>控制</a:t>
            </a:r>
            <a:r>
              <a:rPr lang="zh-CN" sz="1800" dirty="0">
                <a:solidFill>
                  <a:schemeClr val="tx1"/>
                </a:solidFill>
              </a:rPr>
              <a:t>要求是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？</a:t>
            </a:r>
          </a:p>
        </p:txBody>
      </p:sp>
      <p:sp>
        <p:nvSpPr>
          <p:cNvPr id="111" name="Text Box 726">
            <a:extLst>
              <a:ext uri="{FF2B5EF4-FFF2-40B4-BE49-F238E27FC236}">
                <a16:creationId xmlns:a16="http://schemas.microsoft.com/office/drawing/2014/main" id="{E9D79045-8E2B-4B43-A8A3-207BFEE3AC0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71673" y="4725144"/>
            <a:ext cx="7776791" cy="136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t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00000"/>
                </a:solidFill>
                <a:sym typeface="+mn-ea"/>
              </a:rPr>
              <a:t>行</a:t>
            </a:r>
            <a:r>
              <a:rPr lang="zh-CN" sz="1800" dirty="0">
                <a:solidFill>
                  <a:srgbClr val="C00000"/>
                </a:solidFill>
                <a:sym typeface="+mn-ea"/>
              </a:rPr>
              <a:t>地址</a:t>
            </a:r>
            <a:r>
              <a:rPr lang="zh-CN" sz="1800" u="sng" dirty="0">
                <a:solidFill>
                  <a:srgbClr val="0070C0"/>
                </a:solidFill>
                <a:sym typeface="+mn-ea"/>
              </a:rPr>
              <a:t>先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发送；</a:t>
            </a:r>
            <a:r>
              <a:rPr lang="en-US" altLang="zh-CN" sz="1800" dirty="0">
                <a:solidFill>
                  <a:srgbClr val="C00000"/>
                </a:solidFill>
                <a:sym typeface="+mn-ea"/>
              </a:rPr>
              <a:t>RAS#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在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行</a:t>
            </a:r>
            <a:r>
              <a:rPr lang="zh-CN" sz="1800" u="sng" dirty="0">
                <a:solidFill>
                  <a:srgbClr val="0070C0"/>
                </a:solidFill>
                <a:sym typeface="+mn-ea"/>
              </a:rPr>
              <a:t>地址稳定后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有效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操作完成后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无效；</a:t>
            </a:r>
            <a:endParaRPr lang="en-US" altLang="zh-CN" sz="18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00000"/>
                </a:solidFill>
                <a:sym typeface="+mn-ea"/>
              </a:rPr>
              <a:t>列</a:t>
            </a:r>
            <a:r>
              <a:rPr lang="zh-CN" altLang="zh-CN" sz="1800" dirty="0">
                <a:solidFill>
                  <a:srgbClr val="C00000"/>
                </a:solidFill>
                <a:sym typeface="+mn-ea"/>
              </a:rPr>
              <a:t>地址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后</a:t>
            </a:r>
            <a:r>
              <a:rPr lang="zh-CN" altLang="zh-CN" sz="1800" dirty="0">
                <a:solidFill>
                  <a:schemeClr val="tx1"/>
                </a:solidFill>
                <a:sym typeface="+mn-ea"/>
              </a:rPr>
              <a:t>发送；</a:t>
            </a:r>
            <a:r>
              <a:rPr lang="en-US" altLang="zh-CN" sz="1800" dirty="0">
                <a:solidFill>
                  <a:srgbClr val="C00000"/>
                </a:solidFill>
                <a:sym typeface="+mn-ea"/>
              </a:rPr>
              <a:t>CAS#</a:t>
            </a:r>
            <a:r>
              <a:rPr lang="zh-CN" altLang="zh-CN" sz="1800" dirty="0">
                <a:solidFill>
                  <a:schemeClr val="tx1"/>
                </a:solidFill>
                <a:sym typeface="+mn-ea"/>
              </a:rPr>
              <a:t>在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列</a:t>
            </a:r>
            <a:r>
              <a:rPr lang="zh-CN" altLang="zh-CN" sz="1800" u="sng" dirty="0">
                <a:solidFill>
                  <a:srgbClr val="0070C0"/>
                </a:solidFill>
                <a:sym typeface="+mn-ea"/>
              </a:rPr>
              <a:t>地址稳定后</a:t>
            </a:r>
            <a:r>
              <a:rPr lang="zh-CN" altLang="zh-CN" sz="1800" dirty="0">
                <a:solidFill>
                  <a:schemeClr val="tx1"/>
                </a:solidFill>
                <a:sym typeface="+mn-ea"/>
              </a:rPr>
              <a:t>有效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稍后可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无效；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←仅需下降沿</a:t>
            </a:r>
            <a:endParaRPr lang="en-US" altLang="zh-CN" sz="1800" dirty="0">
              <a:solidFill>
                <a:schemeClr val="tx1"/>
              </a:solidFill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C00000"/>
                </a:solidFill>
                <a:sym typeface="+mn-ea"/>
              </a:rPr>
              <a:t>WE#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不迟于</a:t>
            </a:r>
            <a:r>
              <a:rPr lang="en-US" altLang="zh-CN" sz="1800" u="sng" dirty="0">
                <a:solidFill>
                  <a:srgbClr val="0070C0"/>
                </a:solidFill>
                <a:sym typeface="+mn-ea"/>
              </a:rPr>
              <a:t>CAS#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无效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(R)/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有效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(W)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、保持</a:t>
            </a:r>
            <a:r>
              <a:rPr lang="zh-CN" altLang="en-US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RAS#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无效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Cambria Math" panose="02040503050406030204" charset="0"/>
                <a:sym typeface="+mn-ea"/>
              </a:rPr>
              <a:t>；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cs typeface="Cambria Math" panose="02040503050406030204" charset="0"/>
                <a:sym typeface="+mn-ea"/>
              </a:rPr>
              <a:t>←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时长要求未列出</a:t>
            </a:r>
            <a:endParaRPr lang="en-US" altLang="zh-CN" sz="1600" dirty="0">
              <a:solidFill>
                <a:schemeClr val="tx1"/>
              </a:solidFill>
              <a:latin typeface="+mn-ea"/>
              <a:cs typeface="Cambria Math" panose="02040503050406030204" charset="0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u="none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发送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(W)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保持</a:t>
            </a:r>
            <a:r>
              <a:rPr lang="zh-CN" altLang="en-US" sz="1800" u="sng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u="sng" dirty="0">
                <a:solidFill>
                  <a:srgbClr val="0070C0"/>
                </a:solidFill>
                <a:sym typeface="+mn-ea"/>
              </a:rPr>
              <a:t>WE#</a:t>
            </a:r>
            <a:r>
              <a:rPr lang="zh-CN" altLang="en-US" sz="1800" u="sng" dirty="0">
                <a:solidFill>
                  <a:srgbClr val="0070C0"/>
                </a:solidFill>
                <a:sym typeface="+mn-ea"/>
              </a:rPr>
              <a:t>无效</a:t>
            </a:r>
            <a:r>
              <a:rPr lang="zh-CN" altLang="en-US" sz="1800" dirty="0">
                <a:solidFill>
                  <a:srgbClr val="0070C0"/>
                </a:solidFill>
                <a:sym typeface="+mn-ea"/>
              </a:rPr>
              <a:t>                     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Cambria Math" panose="02040503050406030204" charset="0"/>
                <a:sym typeface="+mn-ea"/>
              </a:rPr>
              <a:t>←时长要求未列出</a:t>
            </a:r>
            <a:endParaRPr lang="zh-CN" altLang="en-US" sz="1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6EB988E1-733E-4F0D-AAA9-90419D2D3C38}"/>
              </a:ext>
            </a:extLst>
          </p:cNvPr>
          <p:cNvGrpSpPr/>
          <p:nvPr/>
        </p:nvGrpSpPr>
        <p:grpSpPr>
          <a:xfrm>
            <a:off x="864000" y="836712"/>
            <a:ext cx="3600000" cy="1584024"/>
            <a:chOff x="864000" y="1836000"/>
            <a:chExt cx="3600000" cy="1584024"/>
          </a:xfrm>
        </p:grpSpPr>
        <p:sp>
          <p:nvSpPr>
            <p:cNvPr id="173" name="Line 271">
              <a:extLst>
                <a:ext uri="{FF2B5EF4-FFF2-40B4-BE49-F238E27FC236}">
                  <a16:creationId xmlns:a16="http://schemas.microsoft.com/office/drawing/2014/main" id="{D2F2E9FC-83A8-478D-8ECA-436A6B414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6000" y="2338468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272">
              <a:extLst>
                <a:ext uri="{FF2B5EF4-FFF2-40B4-BE49-F238E27FC236}">
                  <a16:creationId xmlns:a16="http://schemas.microsoft.com/office/drawing/2014/main" id="{855412BD-466C-498E-9146-AD361E4A8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3312152"/>
              <a:ext cx="12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273">
              <a:extLst>
                <a:ext uri="{FF2B5EF4-FFF2-40B4-BE49-F238E27FC236}">
                  <a16:creationId xmlns:a16="http://schemas.microsoft.com/office/drawing/2014/main" id="{65E94452-8D9A-43B5-A45E-789909855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678" y="2555866"/>
              <a:ext cx="183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74">
              <a:extLst>
                <a:ext uri="{FF2B5EF4-FFF2-40B4-BE49-F238E27FC236}">
                  <a16:creationId xmlns:a16="http://schemas.microsoft.com/office/drawing/2014/main" id="{EA027572-EB63-422D-8EBE-EB1708EC6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2340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86">
              <a:extLst>
                <a:ext uri="{FF2B5EF4-FFF2-40B4-BE49-F238E27FC236}">
                  <a16:creationId xmlns:a16="http://schemas.microsoft.com/office/drawing/2014/main" id="{5BF7B54D-91BA-4BE9-864C-D651049F8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8000" y="3312152"/>
              <a:ext cx="10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87">
              <a:extLst>
                <a:ext uri="{FF2B5EF4-FFF2-40B4-BE49-F238E27FC236}">
                  <a16:creationId xmlns:a16="http://schemas.microsoft.com/office/drawing/2014/main" id="{60089C1E-10C9-41AD-8DA6-F1C5DBE99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000" y="1836000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300">
              <a:extLst>
                <a:ext uri="{FF2B5EF4-FFF2-40B4-BE49-F238E27FC236}">
                  <a16:creationId xmlns:a16="http://schemas.microsoft.com/office/drawing/2014/main" id="{A107C93C-5E67-4BF7-BC1B-6988F182A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2000" y="3132000"/>
              <a:ext cx="10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306">
              <a:extLst>
                <a:ext uri="{FF2B5EF4-FFF2-40B4-BE49-F238E27FC236}">
                  <a16:creationId xmlns:a16="http://schemas.microsoft.com/office/drawing/2014/main" id="{1BDCA658-DC43-495D-B91B-38C36658C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000" y="2772000"/>
              <a:ext cx="0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318">
              <a:extLst>
                <a:ext uri="{FF2B5EF4-FFF2-40B4-BE49-F238E27FC236}">
                  <a16:creationId xmlns:a16="http://schemas.microsoft.com/office/drawing/2014/main" id="{401D8A2F-0DCF-4CB9-BFEC-E42A821B1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837" y="2340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326">
              <a:extLst>
                <a:ext uri="{FF2B5EF4-FFF2-40B4-BE49-F238E27FC236}">
                  <a16:creationId xmlns:a16="http://schemas.microsoft.com/office/drawing/2014/main" id="{E320AE8C-B7D7-48AE-8AB2-E4994D9E5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000" y="2916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3" name="Line 327">
              <a:extLst>
                <a:ext uri="{FF2B5EF4-FFF2-40B4-BE49-F238E27FC236}">
                  <a16:creationId xmlns:a16="http://schemas.microsoft.com/office/drawing/2014/main" id="{CBB3BC0E-15B3-484F-A064-B932E77D2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000" y="302400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328">
              <a:extLst>
                <a:ext uri="{FF2B5EF4-FFF2-40B4-BE49-F238E27FC236}">
                  <a16:creationId xmlns:a16="http://schemas.microsoft.com/office/drawing/2014/main" id="{79925309-7F64-4E9D-96E3-7F1777270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00000" y="302400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349">
              <a:extLst>
                <a:ext uri="{FF2B5EF4-FFF2-40B4-BE49-F238E27FC236}">
                  <a16:creationId xmlns:a16="http://schemas.microsoft.com/office/drawing/2014/main" id="{A61ADABF-B9FB-4043-B60E-6088BDA89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2628088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350">
              <a:extLst>
                <a:ext uri="{FF2B5EF4-FFF2-40B4-BE49-F238E27FC236}">
                  <a16:creationId xmlns:a16="http://schemas.microsoft.com/office/drawing/2014/main" id="{983FAE83-0FF6-44C3-808A-CD9974C236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2000" y="2844000"/>
              <a:ext cx="10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351">
              <a:extLst>
                <a:ext uri="{FF2B5EF4-FFF2-40B4-BE49-F238E27FC236}">
                  <a16:creationId xmlns:a16="http://schemas.microsoft.com/office/drawing/2014/main" id="{31896AEC-74C5-4D09-AB66-4E0C82E57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26280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352">
              <a:extLst>
                <a:ext uri="{FF2B5EF4-FFF2-40B4-BE49-F238E27FC236}">
                  <a16:creationId xmlns:a16="http://schemas.microsoft.com/office/drawing/2014/main" id="{97F24DD5-7A6C-435D-B083-591BEFFE6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628087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356">
              <a:extLst>
                <a:ext uri="{FF2B5EF4-FFF2-40B4-BE49-F238E27FC236}">
                  <a16:creationId xmlns:a16="http://schemas.microsoft.com/office/drawing/2014/main" id="{BF2CF785-A6F2-4D80-BCFA-3F8141027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000" y="2628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Box 360">
              <a:extLst>
                <a:ext uri="{FF2B5EF4-FFF2-40B4-BE49-F238E27FC236}">
                  <a16:creationId xmlns:a16="http://schemas.microsoft.com/office/drawing/2014/main" id="{56959BE3-ABBC-4B2E-BAA3-D3A9C7199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000" y="2304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1" name="Line 363">
              <a:extLst>
                <a:ext uri="{FF2B5EF4-FFF2-40B4-BE49-F238E27FC236}">
                  <a16:creationId xmlns:a16="http://schemas.microsoft.com/office/drawing/2014/main" id="{D4363F3C-E7F1-492B-B9F0-41321C761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0000" y="2268000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364">
              <a:extLst>
                <a:ext uri="{FF2B5EF4-FFF2-40B4-BE49-F238E27FC236}">
                  <a16:creationId xmlns:a16="http://schemas.microsoft.com/office/drawing/2014/main" id="{986F2633-14AC-4B21-AFBC-179C37C4D5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6000" y="2340056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373">
              <a:extLst>
                <a:ext uri="{FF2B5EF4-FFF2-40B4-BE49-F238E27FC236}">
                  <a16:creationId xmlns:a16="http://schemas.microsoft.com/office/drawing/2014/main" id="{D51BD42A-A15D-4A03-BEB9-5C5EF9686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2304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4" name="Text Box 382">
              <a:extLst>
                <a:ext uri="{FF2B5EF4-FFF2-40B4-BE49-F238E27FC236}">
                  <a16:creationId xmlns:a16="http://schemas.microsoft.com/office/drawing/2014/main" id="{CAD0EC43-84E2-4870-B5EE-09751766B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00" y="2628000"/>
              <a:ext cx="3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5" name="Line 383">
              <a:extLst>
                <a:ext uri="{FF2B5EF4-FFF2-40B4-BE49-F238E27FC236}">
                  <a16:creationId xmlns:a16="http://schemas.microsoft.com/office/drawing/2014/main" id="{27A1234D-4260-417D-ABA6-DFE9F6109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000" y="2736000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384">
              <a:extLst>
                <a:ext uri="{FF2B5EF4-FFF2-40B4-BE49-F238E27FC236}">
                  <a16:creationId xmlns:a16="http://schemas.microsoft.com/office/drawing/2014/main" id="{C9982B61-D157-4B6F-BACA-F13786809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07703" y="2736000"/>
              <a:ext cx="2160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Text Box 404">
              <a:extLst>
                <a:ext uri="{FF2B5EF4-FFF2-40B4-BE49-F238E27FC236}">
                  <a16:creationId xmlns:a16="http://schemas.microsoft.com/office/drawing/2014/main" id="{60059197-6807-4AAF-947E-E845974E5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34005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98" name="Line 405">
              <a:extLst>
                <a:ext uri="{FF2B5EF4-FFF2-40B4-BE49-F238E27FC236}">
                  <a16:creationId xmlns:a16="http://schemas.microsoft.com/office/drawing/2014/main" id="{E3834A4B-47BF-4A0F-B9A2-A047EF36D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600" y="2340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Text Box 436">
              <a:extLst>
                <a:ext uri="{FF2B5EF4-FFF2-40B4-BE49-F238E27FC236}">
                  <a16:creationId xmlns:a16="http://schemas.microsoft.com/office/drawing/2014/main" id="{E429A136-F2CC-4CB1-A883-164BD0210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670" y="2916120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0" name="Line 437">
              <a:extLst>
                <a:ext uri="{FF2B5EF4-FFF2-40B4-BE49-F238E27FC236}">
                  <a16:creationId xmlns:a16="http://schemas.microsoft.com/office/drawing/2014/main" id="{EA632697-CC1A-4683-AFF6-7356E4B2B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000" y="2916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01" name="Text Box 439">
              <a:extLst>
                <a:ext uri="{FF2B5EF4-FFF2-40B4-BE49-F238E27FC236}">
                  <a16:creationId xmlns:a16="http://schemas.microsoft.com/office/drawing/2014/main" id="{B046A446-239E-4EA4-AD47-9351FACB7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62808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2" name="Line 440">
              <a:extLst>
                <a:ext uri="{FF2B5EF4-FFF2-40B4-BE49-F238E27FC236}">
                  <a16:creationId xmlns:a16="http://schemas.microsoft.com/office/drawing/2014/main" id="{AC78C82B-39BB-4BED-B215-F2E5698BE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600" y="2628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476">
              <a:extLst>
                <a:ext uri="{FF2B5EF4-FFF2-40B4-BE49-F238E27FC236}">
                  <a16:creationId xmlns:a16="http://schemas.microsoft.com/office/drawing/2014/main" id="{2B11EBE8-FA08-48E7-A10F-A4B9E9260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2916000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477">
              <a:extLst>
                <a:ext uri="{FF2B5EF4-FFF2-40B4-BE49-F238E27FC236}">
                  <a16:creationId xmlns:a16="http://schemas.microsoft.com/office/drawing/2014/main" id="{855B4140-10F6-4363-8ADE-44E089E4D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291731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478">
              <a:extLst>
                <a:ext uri="{FF2B5EF4-FFF2-40B4-BE49-F238E27FC236}">
                  <a16:creationId xmlns:a16="http://schemas.microsoft.com/office/drawing/2014/main" id="{003EA094-1BC7-4195-8FF6-69FCFE901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925" y="291731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479">
              <a:extLst>
                <a:ext uri="{FF2B5EF4-FFF2-40B4-BE49-F238E27FC236}">
                  <a16:creationId xmlns:a16="http://schemas.microsoft.com/office/drawing/2014/main" id="{7A3CFB4A-FFD9-4765-A51E-3382D1C94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768" y="291731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480">
              <a:extLst>
                <a:ext uri="{FF2B5EF4-FFF2-40B4-BE49-F238E27FC236}">
                  <a16:creationId xmlns:a16="http://schemas.microsoft.com/office/drawing/2014/main" id="{AB94BFD4-1CF7-47BE-B68B-0E3787628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291731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482">
              <a:extLst>
                <a:ext uri="{FF2B5EF4-FFF2-40B4-BE49-F238E27FC236}">
                  <a16:creationId xmlns:a16="http://schemas.microsoft.com/office/drawing/2014/main" id="{C82529C3-6287-46EF-A9EC-C5F70C58D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916000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358">
              <a:extLst>
                <a:ext uri="{FF2B5EF4-FFF2-40B4-BE49-F238E27FC236}">
                  <a16:creationId xmlns:a16="http://schemas.microsoft.com/office/drawing/2014/main" id="{9C348981-7178-4317-B5A5-69A911BAA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8274" y="2268192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477">
              <a:extLst>
                <a:ext uri="{FF2B5EF4-FFF2-40B4-BE49-F238E27FC236}">
                  <a16:creationId xmlns:a16="http://schemas.microsoft.com/office/drawing/2014/main" id="{716DDB93-6B51-43DE-B5B0-00E2BBC2C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000" y="291612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477">
              <a:extLst>
                <a:ext uri="{FF2B5EF4-FFF2-40B4-BE49-F238E27FC236}">
                  <a16:creationId xmlns:a16="http://schemas.microsoft.com/office/drawing/2014/main" id="{1778B9FC-E75E-4DB4-87E4-D837E6E7B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91612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75">
              <a:extLst>
                <a:ext uri="{FF2B5EF4-FFF2-40B4-BE49-F238E27FC236}">
                  <a16:creationId xmlns:a16="http://schemas.microsoft.com/office/drawing/2014/main" id="{A87884FE-DB35-43C2-A4D4-352490B9B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2340056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Text Box 691">
              <a:extLst>
                <a:ext uri="{FF2B5EF4-FFF2-40B4-BE49-F238E27FC236}">
                  <a16:creationId xmlns:a16="http://schemas.microsoft.com/office/drawing/2014/main" id="{6155C7B2-5281-4E71-8063-80272157C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316800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4" name="Text Box 292">
              <a:extLst>
                <a:ext uri="{FF2B5EF4-FFF2-40B4-BE49-F238E27FC236}">
                  <a16:creationId xmlns:a16="http://schemas.microsoft.com/office/drawing/2014/main" id="{B3D89594-6920-40DF-9AC9-519EF484D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00" y="1836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WC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15" name="Line 293">
              <a:extLst>
                <a:ext uri="{FF2B5EF4-FFF2-40B4-BE49-F238E27FC236}">
                  <a16:creationId xmlns:a16="http://schemas.microsoft.com/office/drawing/2014/main" id="{69DAE022-1E4C-4EAE-AE1A-56D14600A8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6000" y="1908000"/>
              <a:ext cx="97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94">
              <a:extLst>
                <a:ext uri="{FF2B5EF4-FFF2-40B4-BE49-F238E27FC236}">
                  <a16:creationId xmlns:a16="http://schemas.microsoft.com/office/drawing/2014/main" id="{4BA59C40-2FA3-47F7-84F3-4B26459E9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1679" y="1908000"/>
              <a:ext cx="10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358">
              <a:extLst>
                <a:ext uri="{FF2B5EF4-FFF2-40B4-BE49-F238E27FC236}">
                  <a16:creationId xmlns:a16="http://schemas.microsoft.com/office/drawing/2014/main" id="{FF6AAA59-53B1-468D-AECF-DDD83ED3D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0145" y="1836000"/>
              <a:ext cx="0" cy="15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58">
              <a:extLst>
                <a:ext uri="{FF2B5EF4-FFF2-40B4-BE49-F238E27FC236}">
                  <a16:creationId xmlns:a16="http://schemas.microsoft.com/office/drawing/2014/main" id="{91212BB7-9B2A-4553-86BC-F863ECA6C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000" y="2340056"/>
              <a:ext cx="0" cy="86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AutoShape 215">
              <a:extLst>
                <a:ext uri="{FF2B5EF4-FFF2-40B4-BE49-F238E27FC236}">
                  <a16:creationId xmlns:a16="http://schemas.microsoft.com/office/drawing/2014/main" id="{3915CC77-E951-4D53-8407-3F429ABF5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680" y="2052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行地址</a:t>
              </a:r>
            </a:p>
          </p:txBody>
        </p:sp>
        <p:sp>
          <p:nvSpPr>
            <p:cNvPr id="221" name="AutoShape 215">
              <a:extLst>
                <a:ext uri="{FF2B5EF4-FFF2-40B4-BE49-F238E27FC236}">
                  <a16:creationId xmlns:a16="http://schemas.microsoft.com/office/drawing/2014/main" id="{C7F2E480-32B8-4345-8864-9A6BD93F7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80" y="2052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22" name="Text Box 691">
              <a:extLst>
                <a:ext uri="{FF2B5EF4-FFF2-40B4-BE49-F238E27FC236}">
                  <a16:creationId xmlns:a16="http://schemas.microsoft.com/office/drawing/2014/main" id="{EBCBE023-DCFA-483F-AFE2-65834C5E1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06" y="2052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23" name="AutoShape 215">
              <a:extLst>
                <a:ext uri="{FF2B5EF4-FFF2-40B4-BE49-F238E27FC236}">
                  <a16:creationId xmlns:a16="http://schemas.microsoft.com/office/drawing/2014/main" id="{74E447F0-B9DE-48C3-81CF-2176E2919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000" y="2052000"/>
              <a:ext cx="86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列地址</a:t>
              </a:r>
            </a:p>
          </p:txBody>
        </p:sp>
        <p:sp>
          <p:nvSpPr>
            <p:cNvPr id="224" name="AutoShape 215">
              <a:extLst>
                <a:ext uri="{FF2B5EF4-FFF2-40B4-BE49-F238E27FC236}">
                  <a16:creationId xmlns:a16="http://schemas.microsoft.com/office/drawing/2014/main" id="{2BA56089-DBA5-4F4D-B70C-92AB436F2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000" y="2052000"/>
              <a:ext cx="64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25" name="AutoShape 215">
              <a:extLst>
                <a:ext uri="{FF2B5EF4-FFF2-40B4-BE49-F238E27FC236}">
                  <a16:creationId xmlns:a16="http://schemas.microsoft.com/office/drawing/2014/main" id="{6ABA478E-55CB-44D1-AE09-62C2BFA12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2052000"/>
              <a:ext cx="36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26" name="Text Box 691">
              <a:extLst>
                <a:ext uri="{FF2B5EF4-FFF2-40B4-BE49-F238E27FC236}">
                  <a16:creationId xmlns:a16="http://schemas.microsoft.com/office/drawing/2014/main" id="{ACD11372-D739-4177-9323-355D5B80C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2052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27" name="Line 275">
              <a:extLst>
                <a:ext uri="{FF2B5EF4-FFF2-40B4-BE49-F238E27FC236}">
                  <a16:creationId xmlns:a16="http://schemas.microsoft.com/office/drawing/2014/main" id="{FB0C0E92-F417-4033-9CDC-8313C92C7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4000" y="3132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364">
              <a:extLst>
                <a:ext uri="{FF2B5EF4-FFF2-40B4-BE49-F238E27FC236}">
                  <a16:creationId xmlns:a16="http://schemas.microsoft.com/office/drawing/2014/main" id="{5D928DCE-6633-4713-98CC-3E14B81EF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000" y="2340000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AutoShape 215">
              <a:extLst>
                <a:ext uri="{FF2B5EF4-FFF2-40B4-BE49-F238E27FC236}">
                  <a16:creationId xmlns:a16="http://schemas.microsoft.com/office/drawing/2014/main" id="{E20B086B-9CEA-4AFC-8E7A-BA13D9573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000" y="3204000"/>
              <a:ext cx="154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输入</a:t>
              </a:r>
            </a:p>
          </p:txBody>
        </p:sp>
        <p:sp>
          <p:nvSpPr>
            <p:cNvPr id="230" name="Line 275">
              <a:extLst>
                <a:ext uri="{FF2B5EF4-FFF2-40B4-BE49-F238E27FC236}">
                  <a16:creationId xmlns:a16="http://schemas.microsoft.com/office/drawing/2014/main" id="{7B72861F-5B52-47F7-BE3E-23CE4139D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4875" y="3132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Text Box 691">
              <a:extLst>
                <a:ext uri="{FF2B5EF4-FFF2-40B4-BE49-F238E27FC236}">
                  <a16:creationId xmlns:a16="http://schemas.microsoft.com/office/drawing/2014/main" id="{C07AD66E-E653-4CF4-A812-CC865A205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000" y="2052048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3A910DB8-FF59-4C41-869E-9EDADC255C15}"/>
                </a:ext>
              </a:extLst>
            </p:cNvPr>
            <p:cNvGrpSpPr/>
            <p:nvPr/>
          </p:nvGrpSpPr>
          <p:grpSpPr>
            <a:xfrm>
              <a:off x="2268000" y="3204000"/>
              <a:ext cx="504000" cy="216000"/>
              <a:chOff x="2267744" y="3213000"/>
              <a:chExt cx="504000" cy="216000"/>
            </a:xfrm>
          </p:grpSpPr>
          <p:sp>
            <p:nvSpPr>
              <p:cNvPr id="233" name="Line 661">
                <a:extLst>
                  <a:ext uri="{FF2B5EF4-FFF2-40B4-BE49-F238E27FC236}">
                    <a16:creationId xmlns:a16="http://schemas.microsoft.com/office/drawing/2014/main" id="{90D3EE56-48D8-4CF4-92B1-4C75BE6B9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9744" y="3213000"/>
                <a:ext cx="432000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Line 661">
                <a:extLst>
                  <a:ext uri="{FF2B5EF4-FFF2-40B4-BE49-F238E27FC236}">
                    <a16:creationId xmlns:a16="http://schemas.microsoft.com/office/drawing/2014/main" id="{978B3975-850D-480E-81B7-E15DF863E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9744" y="3429000"/>
                <a:ext cx="432000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Line 663">
                <a:extLst>
                  <a:ext uri="{FF2B5EF4-FFF2-40B4-BE49-F238E27FC236}">
                    <a16:creationId xmlns:a16="http://schemas.microsoft.com/office/drawing/2014/main" id="{91316139-B34B-41ED-B48F-B848C5854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5744" y="3213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Line 663">
                <a:extLst>
                  <a:ext uri="{FF2B5EF4-FFF2-40B4-BE49-F238E27FC236}">
                    <a16:creationId xmlns:a16="http://schemas.microsoft.com/office/drawing/2014/main" id="{D3ED081E-8347-410B-8686-E45F5B754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55744" y="3321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Line 663">
                <a:extLst>
                  <a:ext uri="{FF2B5EF4-FFF2-40B4-BE49-F238E27FC236}">
                    <a16:creationId xmlns:a16="http://schemas.microsoft.com/office/drawing/2014/main" id="{C3E85841-59C9-488C-8517-EC9E84D10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7744" y="3213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Line 663">
                <a:extLst>
                  <a:ext uri="{FF2B5EF4-FFF2-40B4-BE49-F238E27FC236}">
                    <a16:creationId xmlns:a16="http://schemas.microsoft.com/office/drawing/2014/main" id="{B0344C57-08CF-496D-9FBA-72F7C2E83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67744" y="3321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9" name="Line 663">
                <a:extLst>
                  <a:ext uri="{FF2B5EF4-FFF2-40B4-BE49-F238E27FC236}">
                    <a16:creationId xmlns:a16="http://schemas.microsoft.com/office/drawing/2014/main" id="{09131C37-B551-4F02-9AE0-A508B649E6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1744" y="3213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" name="Line 663">
                <a:extLst>
                  <a:ext uri="{FF2B5EF4-FFF2-40B4-BE49-F238E27FC236}">
                    <a16:creationId xmlns:a16="http://schemas.microsoft.com/office/drawing/2014/main" id="{B7DDE04D-2ACD-4EA8-A323-D90F6D45E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11744" y="3321000"/>
                <a:ext cx="72000" cy="108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10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Box 213"/>
          <p:cNvSpPr txBox="1">
            <a:spLocks noChangeArrowheads="1"/>
          </p:cNvSpPr>
          <p:nvPr/>
        </p:nvSpPr>
        <p:spPr bwMode="auto">
          <a:xfrm>
            <a:off x="179387" y="332656"/>
            <a:ext cx="3887415" cy="4754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芯片的刷新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刷新操作的组织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刷新需求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*刷新操作的功能：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刷新周期的时序：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*刷新操作的组织：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153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44" name="Text Box 214"/>
          <p:cNvSpPr txBox="1">
            <a:spLocks noChangeArrowheads="1"/>
          </p:cNvSpPr>
          <p:nvPr/>
        </p:nvSpPr>
        <p:spPr bwMode="auto">
          <a:xfrm>
            <a:off x="2195735" y="1196752"/>
            <a:ext cx="6767341" cy="20252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读出后写入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读操作可实现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、数据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不输出到</a:t>
            </a:r>
            <a:r>
              <a:rPr lang="zh-CN" altLang="en-US" sz="2200" b="1" u="none" dirty="0">
                <a:latin typeface="宋体" panose="02010600030101010101" pitchFamily="2" charset="-122"/>
              </a:rPr>
              <a:t>引脚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读时会再生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列译码器输出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全部无效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800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刷新</a:t>
            </a:r>
            <a:r>
              <a:rPr lang="zh-CN" altLang="en-US" sz="2200" b="1" dirty="0">
                <a:latin typeface="宋体" panose="02010600030101010101" pitchFamily="2" charset="-122"/>
              </a:rPr>
              <a:t>同一行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的所有存储元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称为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行刷新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类似于读周期，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CAS#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一直无效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</a:t>
            </a:r>
            <a:r>
              <a:rPr lang="en-US" altLang="zh-CN" sz="1800" b="1" u="none" dirty="0">
                <a:latin typeface="宋体" panose="02010600030101010101" pitchFamily="2" charset="-122"/>
              </a:rPr>
              <a:t>WE</a:t>
            </a:r>
            <a:r>
              <a:rPr lang="zh-CN" altLang="en-US" sz="1800" b="1" u="none" dirty="0">
                <a:latin typeface="宋体" panose="02010600030101010101" pitchFamily="2" charset="-122"/>
              </a:rPr>
              <a:t>值任意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时钟发生器</a:t>
            </a:r>
            <a:r>
              <a:rPr lang="zh-CN" altLang="en-US" sz="1800" b="1" dirty="0">
                <a:latin typeface="宋体" panose="02010600030101010101" pitchFamily="2" charset="-122"/>
              </a:rPr>
              <a:t>串联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30" name="组合 329"/>
          <p:cNvGrpSpPr/>
          <p:nvPr/>
        </p:nvGrpSpPr>
        <p:grpSpPr>
          <a:xfrm>
            <a:off x="4716016" y="3249112"/>
            <a:ext cx="3240361" cy="1224000"/>
            <a:chOff x="5292079" y="3712916"/>
            <a:chExt cx="3240361" cy="1488042"/>
          </a:xfrm>
        </p:grpSpPr>
        <p:sp>
          <p:nvSpPr>
            <p:cNvPr id="331" name="Text Box 372"/>
            <p:cNvSpPr txBox="1">
              <a:spLocks noChangeArrowheads="1"/>
            </p:cNvSpPr>
            <p:nvPr/>
          </p:nvSpPr>
          <p:spPr bwMode="auto">
            <a:xfrm>
              <a:off x="5292079" y="3712916"/>
              <a:ext cx="3240361" cy="14880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>
                  <a:latin typeface="宋体" panose="02010600030101010101" pitchFamily="2" charset="-122"/>
                </a:rPr>
                <a:t>RC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--RAS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与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信号最大延迟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有效→数据输出稳定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RF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刷新时间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A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最大值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latin typeface="宋体" panose="02010600030101010101" pitchFamily="2" charset="-122"/>
                </a:rPr>
                <a:t>RFC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两次刷新间隔</a:t>
              </a:r>
              <a:endParaRPr lang="zh-CN" altLang="en-US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32" name="Line 386"/>
            <p:cNvSpPr>
              <a:spLocks noChangeShapeType="1"/>
            </p:cNvSpPr>
            <p:nvPr/>
          </p:nvSpPr>
          <p:spPr bwMode="auto">
            <a:xfrm>
              <a:off x="6408032" y="3745604"/>
              <a:ext cx="3146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sp>
          <p:nvSpPr>
            <p:cNvPr id="333" name="Line 385"/>
            <p:cNvSpPr>
              <a:spLocks noChangeShapeType="1"/>
            </p:cNvSpPr>
            <p:nvPr/>
          </p:nvSpPr>
          <p:spPr bwMode="auto">
            <a:xfrm>
              <a:off x="5821263" y="3745604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sp>
          <p:nvSpPr>
            <p:cNvPr id="334" name="Line 386"/>
            <p:cNvSpPr>
              <a:spLocks noChangeShapeType="1"/>
            </p:cNvSpPr>
            <p:nvPr/>
          </p:nvSpPr>
          <p:spPr bwMode="auto">
            <a:xfrm>
              <a:off x="5904063" y="4117615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</p:grpSp>
      <p:sp>
        <p:nvSpPr>
          <p:cNvPr id="335" name="Text Box 95"/>
          <p:cNvSpPr txBox="1">
            <a:spLocks noChangeArrowheads="1"/>
          </p:cNvSpPr>
          <p:nvPr/>
        </p:nvSpPr>
        <p:spPr bwMode="auto">
          <a:xfrm>
            <a:off x="2699792" y="4581128"/>
            <a:ext cx="5472608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内部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用定时器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检测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err="1">
                <a:latin typeface="宋体" panose="02010600030101010101" pitchFamily="2" charset="-122"/>
              </a:rPr>
              <a:t>RC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无效时为刷新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u="none" dirty="0">
                <a:latin typeface="宋体" panose="02010600030101010101" pitchFamily="2" charset="-122"/>
              </a:rPr>
              <a:t>  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→无需设置刷新引脚</a:t>
            </a:r>
          </a:p>
        </p:txBody>
      </p:sp>
      <p:sp>
        <p:nvSpPr>
          <p:cNvPr id="5" name="直角上箭头 4"/>
          <p:cNvSpPr/>
          <p:nvPr/>
        </p:nvSpPr>
        <p:spPr bwMode="auto">
          <a:xfrm>
            <a:off x="7415808" y="1988840"/>
            <a:ext cx="324544" cy="360000"/>
          </a:xfrm>
          <a:prstGeom prst="bentUpArrow">
            <a:avLst>
              <a:gd name="adj1" fmla="val 16615"/>
              <a:gd name="adj2" fmla="val 25000"/>
              <a:gd name="adj3" fmla="val 18292"/>
            </a:avLst>
          </a:prstGeom>
          <a:noFill/>
          <a:ln w="12700">
            <a:solidFill>
              <a:schemeClr val="tx1"/>
            </a:solidFill>
            <a:miter lim="800000"/>
          </a:ln>
          <a:effectLst/>
          <a:scene3d>
            <a:camera prst="orthographicFront">
              <a:rot lat="0" lon="10800000" rev="5400000"/>
            </a:camera>
            <a:lightRig rig="threePt" dir="t"/>
          </a:scene3d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61360B7-F25E-4AD9-8AB8-3B615B8170A8}"/>
              </a:ext>
            </a:extLst>
          </p:cNvPr>
          <p:cNvGrpSpPr/>
          <p:nvPr/>
        </p:nvGrpSpPr>
        <p:grpSpPr>
          <a:xfrm>
            <a:off x="1044008" y="2924944"/>
            <a:ext cx="3563992" cy="1656000"/>
            <a:chOff x="1044008" y="1692000"/>
            <a:chExt cx="3563992" cy="1656000"/>
          </a:xfrm>
        </p:grpSpPr>
        <p:sp>
          <p:nvSpPr>
            <p:cNvPr id="97" name="Line 271">
              <a:extLst>
                <a:ext uri="{FF2B5EF4-FFF2-40B4-BE49-F238E27FC236}">
                  <a16:creationId xmlns:a16="http://schemas.microsoft.com/office/drawing/2014/main" id="{EC00A607-5AB5-4D0E-A012-084EF5BB3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6008" y="2302468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72">
              <a:extLst>
                <a:ext uri="{FF2B5EF4-FFF2-40B4-BE49-F238E27FC236}">
                  <a16:creationId xmlns:a16="http://schemas.microsoft.com/office/drawing/2014/main" id="{513F2444-02E4-4194-B72F-387094C4A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008" y="3276152"/>
              <a:ext cx="284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273">
              <a:extLst>
                <a:ext uri="{FF2B5EF4-FFF2-40B4-BE49-F238E27FC236}">
                  <a16:creationId xmlns:a16="http://schemas.microsoft.com/office/drawing/2014/main" id="{74F7FAA9-DEA4-4E26-8B62-C6AA850CF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686" y="2519866"/>
              <a:ext cx="18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287">
              <a:extLst>
                <a:ext uri="{FF2B5EF4-FFF2-40B4-BE49-F238E27FC236}">
                  <a16:creationId xmlns:a16="http://schemas.microsoft.com/office/drawing/2014/main" id="{AA93327D-E2A2-472C-A9AD-05445285C9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4000" y="1692000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Text Box 292">
              <a:extLst>
                <a:ext uri="{FF2B5EF4-FFF2-40B4-BE49-F238E27FC236}">
                  <a16:creationId xmlns:a16="http://schemas.microsoft.com/office/drawing/2014/main" id="{7BDD196F-2702-4509-A34E-90CDE9BEF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00" y="1800000"/>
              <a:ext cx="32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RF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77" name="Line 293">
              <a:extLst>
                <a:ext uri="{FF2B5EF4-FFF2-40B4-BE49-F238E27FC236}">
                  <a16:creationId xmlns:a16="http://schemas.microsoft.com/office/drawing/2014/main" id="{18AEF4B4-EB49-46EB-959A-10599CA2D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000" y="1908000"/>
              <a:ext cx="93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94">
              <a:extLst>
                <a:ext uri="{FF2B5EF4-FFF2-40B4-BE49-F238E27FC236}">
                  <a16:creationId xmlns:a16="http://schemas.microsoft.com/office/drawing/2014/main" id="{3CB08FC1-59CC-4DAC-801F-A7384D370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1688" y="1908000"/>
              <a:ext cx="93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318">
              <a:extLst>
                <a:ext uri="{FF2B5EF4-FFF2-40B4-BE49-F238E27FC236}">
                  <a16:creationId xmlns:a16="http://schemas.microsoft.com/office/drawing/2014/main" id="{9283194F-0938-4CC7-BB14-14055241A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845" y="2304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Text Box 382">
              <a:extLst>
                <a:ext uri="{FF2B5EF4-FFF2-40B4-BE49-F238E27FC236}">
                  <a16:creationId xmlns:a16="http://schemas.microsoft.com/office/drawing/2014/main" id="{8D7910A8-4262-45F8-BF0E-9895D444B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000" y="2592000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1" name="Line 383">
              <a:extLst>
                <a:ext uri="{FF2B5EF4-FFF2-40B4-BE49-F238E27FC236}">
                  <a16:creationId xmlns:a16="http://schemas.microsoft.com/office/drawing/2014/main" id="{275A8DFA-2697-4D24-A553-D788FEBD8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000" y="2700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384">
              <a:extLst>
                <a:ext uri="{FF2B5EF4-FFF2-40B4-BE49-F238E27FC236}">
                  <a16:creationId xmlns:a16="http://schemas.microsoft.com/office/drawing/2014/main" id="{04B444FB-36F8-4973-BD17-72BCEE13A1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7711" y="2700000"/>
              <a:ext cx="3600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Text Box 404">
              <a:extLst>
                <a:ext uri="{FF2B5EF4-FFF2-40B4-BE49-F238E27FC236}">
                  <a16:creationId xmlns:a16="http://schemas.microsoft.com/office/drawing/2014/main" id="{95759C71-098F-440C-BFE8-D295801B5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008" y="230405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4" name="Line 405">
              <a:extLst>
                <a:ext uri="{FF2B5EF4-FFF2-40B4-BE49-F238E27FC236}">
                  <a16:creationId xmlns:a16="http://schemas.microsoft.com/office/drawing/2014/main" id="{6A364D15-F415-4F77-82C7-76CD4B07E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608" y="2304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Text Box 436">
              <a:extLst>
                <a:ext uri="{FF2B5EF4-FFF2-40B4-BE49-F238E27FC236}">
                  <a16:creationId xmlns:a16="http://schemas.microsoft.com/office/drawing/2014/main" id="{3E656F27-91E6-4689-BDE1-6FF175219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6678" y="2880120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6" name="Line 437">
              <a:extLst>
                <a:ext uri="{FF2B5EF4-FFF2-40B4-BE49-F238E27FC236}">
                  <a16:creationId xmlns:a16="http://schemas.microsoft.com/office/drawing/2014/main" id="{200EFA37-4692-41A1-B53F-13AF53B7BC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2008" y="2880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87" name="Text Box 439">
              <a:extLst>
                <a:ext uri="{FF2B5EF4-FFF2-40B4-BE49-F238E27FC236}">
                  <a16:creationId xmlns:a16="http://schemas.microsoft.com/office/drawing/2014/main" id="{E14D2E80-C0A5-4425-90D2-8EDFAC0CB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008" y="259208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8" name="Line 440">
              <a:extLst>
                <a:ext uri="{FF2B5EF4-FFF2-40B4-BE49-F238E27FC236}">
                  <a16:creationId xmlns:a16="http://schemas.microsoft.com/office/drawing/2014/main" id="{E9BF8A39-8C66-4D20-B557-57379AF7F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608" y="2592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358">
              <a:extLst>
                <a:ext uri="{FF2B5EF4-FFF2-40B4-BE49-F238E27FC236}">
                  <a16:creationId xmlns:a16="http://schemas.microsoft.com/office/drawing/2014/main" id="{F60FB359-58F4-4094-9DEE-5172C1D92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8282" y="2232192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Box 691">
              <a:extLst>
                <a:ext uri="{FF2B5EF4-FFF2-40B4-BE49-F238E27FC236}">
                  <a16:creationId xmlns:a16="http://schemas.microsoft.com/office/drawing/2014/main" id="{96D5D5F6-38B3-4C5D-9389-9384E81FA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8" y="313200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91" name="Text Box 292">
              <a:extLst>
                <a:ext uri="{FF2B5EF4-FFF2-40B4-BE49-F238E27FC236}">
                  <a16:creationId xmlns:a16="http://schemas.microsoft.com/office/drawing/2014/main" id="{EE890A66-D810-45FB-AE5B-13B9B1BF5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000" y="1692000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RFC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2" name="Line 293">
              <a:extLst>
                <a:ext uri="{FF2B5EF4-FFF2-40B4-BE49-F238E27FC236}">
                  <a16:creationId xmlns:a16="http://schemas.microsoft.com/office/drawing/2014/main" id="{AC23427F-A3E8-4E0B-A353-68C3DB128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000" y="1764000"/>
              <a:ext cx="8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294">
              <a:extLst>
                <a:ext uri="{FF2B5EF4-FFF2-40B4-BE49-F238E27FC236}">
                  <a16:creationId xmlns:a16="http://schemas.microsoft.com/office/drawing/2014/main" id="{CC8377FF-8998-4E7B-9E58-D58793192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1687" y="1764000"/>
              <a:ext cx="115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358">
              <a:extLst>
                <a:ext uri="{FF2B5EF4-FFF2-40B4-BE49-F238E27FC236}">
                  <a16:creationId xmlns:a16="http://schemas.microsoft.com/office/drawing/2014/main" id="{B0EF7E03-B3D8-4960-8336-766E2E2ED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0153" y="1692000"/>
              <a:ext cx="0" cy="165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AutoShape 215">
              <a:extLst>
                <a:ext uri="{FF2B5EF4-FFF2-40B4-BE49-F238E27FC236}">
                  <a16:creationId xmlns:a16="http://schemas.microsoft.com/office/drawing/2014/main" id="{5E268FCB-B8AA-47B8-9BCA-8917926C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688" y="2016000"/>
              <a:ext cx="194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行地址</a:t>
              </a:r>
            </a:p>
          </p:txBody>
        </p:sp>
        <p:sp>
          <p:nvSpPr>
            <p:cNvPr id="196" name="AutoShape 215">
              <a:extLst>
                <a:ext uri="{FF2B5EF4-FFF2-40B4-BE49-F238E27FC236}">
                  <a16:creationId xmlns:a16="http://schemas.microsoft.com/office/drawing/2014/main" id="{2D53F530-F349-42F5-AACC-E25CC7C00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688" y="2016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97" name="Text Box 691">
              <a:extLst>
                <a:ext uri="{FF2B5EF4-FFF2-40B4-BE49-F238E27FC236}">
                  <a16:creationId xmlns:a16="http://schemas.microsoft.com/office/drawing/2014/main" id="{A84E49E0-D8B4-4431-B8D2-15A367012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314" y="2016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98" name="Text Box 326">
              <a:extLst>
                <a:ext uri="{FF2B5EF4-FFF2-40B4-BE49-F238E27FC236}">
                  <a16:creationId xmlns:a16="http://schemas.microsoft.com/office/drawing/2014/main" id="{595AB40C-3BB3-4DDD-A010-F2F1DB60D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00" y="2952128"/>
              <a:ext cx="3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9" name="Line 327">
              <a:extLst>
                <a:ext uri="{FF2B5EF4-FFF2-40B4-BE49-F238E27FC236}">
                  <a16:creationId xmlns:a16="http://schemas.microsoft.com/office/drawing/2014/main" id="{EC22DDEB-CBF2-4B22-A4B3-2924610D6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000" y="3060000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328">
              <a:extLst>
                <a:ext uri="{FF2B5EF4-FFF2-40B4-BE49-F238E27FC236}">
                  <a16:creationId xmlns:a16="http://schemas.microsoft.com/office/drawing/2014/main" id="{8AB0297F-4601-490E-92BF-87BE1B3FD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2000" y="3060000"/>
              <a:ext cx="3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363">
              <a:extLst>
                <a:ext uri="{FF2B5EF4-FFF2-40B4-BE49-F238E27FC236}">
                  <a16:creationId xmlns:a16="http://schemas.microsoft.com/office/drawing/2014/main" id="{4137AE85-AEBB-4350-9661-58A97889E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000" y="2629856"/>
              <a:ext cx="0" cy="6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358">
              <a:extLst>
                <a:ext uri="{FF2B5EF4-FFF2-40B4-BE49-F238E27FC236}">
                  <a16:creationId xmlns:a16="http://schemas.microsoft.com/office/drawing/2014/main" id="{D9A0AFE9-9456-44E3-BF22-F9F68E1E0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000" y="1872000"/>
              <a:ext cx="0" cy="12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AutoShape 215">
              <a:extLst>
                <a:ext uri="{FF2B5EF4-FFF2-40B4-BE49-F238E27FC236}">
                  <a16:creationId xmlns:a16="http://schemas.microsoft.com/office/drawing/2014/main" id="{FFC21A0E-F876-47B6-815C-85C324192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000" y="2016000"/>
              <a:ext cx="46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04" name="AutoShape 215">
              <a:extLst>
                <a:ext uri="{FF2B5EF4-FFF2-40B4-BE49-F238E27FC236}">
                  <a16:creationId xmlns:a16="http://schemas.microsoft.com/office/drawing/2014/main" id="{B74B5DDD-70E6-4E01-81C7-6C9DEAC5F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968" y="2016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05" name="Text Box 691">
              <a:extLst>
                <a:ext uri="{FF2B5EF4-FFF2-40B4-BE49-F238E27FC236}">
                  <a16:creationId xmlns:a16="http://schemas.microsoft.com/office/drawing/2014/main" id="{A0AB8A89-A6DF-460B-A453-A24F30BC3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00" y="2016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06" name="Text Box 691">
              <a:extLst>
                <a:ext uri="{FF2B5EF4-FFF2-40B4-BE49-F238E27FC236}">
                  <a16:creationId xmlns:a16="http://schemas.microsoft.com/office/drawing/2014/main" id="{0C090197-4C25-45C8-BF5B-852D6AF95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8" y="2016048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07" name="Oval 645">
              <a:extLst>
                <a:ext uri="{FF2B5EF4-FFF2-40B4-BE49-F238E27FC236}">
                  <a16:creationId xmlns:a16="http://schemas.microsoft.com/office/drawing/2014/main" id="{90C1C96B-1C7B-476D-91DE-4C7142CF8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000" y="2557856"/>
              <a:ext cx="72000" cy="72000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rgbClr val="990099"/>
              </a:solidFill>
              <a:prstDash val="sysDot"/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Line 349">
              <a:extLst>
                <a:ext uri="{FF2B5EF4-FFF2-40B4-BE49-F238E27FC236}">
                  <a16:creationId xmlns:a16="http://schemas.microsoft.com/office/drawing/2014/main" id="{C27179F5-25E1-40ED-AB8C-DEC854F4B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008" y="2592088"/>
              <a:ext cx="28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477">
              <a:extLst>
                <a:ext uri="{FF2B5EF4-FFF2-40B4-BE49-F238E27FC236}">
                  <a16:creationId xmlns:a16="http://schemas.microsoft.com/office/drawing/2014/main" id="{743CE3B5-446B-4F85-BC4A-EA01353CD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000" y="2592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477">
              <a:extLst>
                <a:ext uri="{FF2B5EF4-FFF2-40B4-BE49-F238E27FC236}">
                  <a16:creationId xmlns:a16="http://schemas.microsoft.com/office/drawing/2014/main" id="{90475695-7F66-4C37-B38C-16D2FBCD5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000" y="2592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75">
              <a:extLst>
                <a:ext uri="{FF2B5EF4-FFF2-40B4-BE49-F238E27FC236}">
                  <a16:creationId xmlns:a16="http://schemas.microsoft.com/office/drawing/2014/main" id="{E2098580-22AD-4895-A011-0F467D5FC8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000" y="2808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349">
              <a:extLst>
                <a:ext uri="{FF2B5EF4-FFF2-40B4-BE49-F238E27FC236}">
                  <a16:creationId xmlns:a16="http://schemas.microsoft.com/office/drawing/2014/main" id="{44CF2098-1EFD-4FF0-973F-59AEA5FD6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000" y="2880088"/>
              <a:ext cx="28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477">
              <a:extLst>
                <a:ext uri="{FF2B5EF4-FFF2-40B4-BE49-F238E27FC236}">
                  <a16:creationId xmlns:a16="http://schemas.microsoft.com/office/drawing/2014/main" id="{EEB7CC3D-43D6-4B71-8DF7-9EEA129FD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5992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477">
              <a:extLst>
                <a:ext uri="{FF2B5EF4-FFF2-40B4-BE49-F238E27FC236}">
                  <a16:creationId xmlns:a16="http://schemas.microsoft.com/office/drawing/2014/main" id="{70615181-573F-42D0-98AA-355B455E6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1992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75">
              <a:extLst>
                <a:ext uri="{FF2B5EF4-FFF2-40B4-BE49-F238E27FC236}">
                  <a16:creationId xmlns:a16="http://schemas.microsoft.com/office/drawing/2014/main" id="{3DE17953-E68B-4725-B460-F90D8632A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7992" y="3096000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74">
              <a:extLst>
                <a:ext uri="{FF2B5EF4-FFF2-40B4-BE49-F238E27FC236}">
                  <a16:creationId xmlns:a16="http://schemas.microsoft.com/office/drawing/2014/main" id="{82DC57EF-7A6E-4DAC-9B91-330A4C89E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08" y="23040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75">
              <a:extLst>
                <a:ext uri="{FF2B5EF4-FFF2-40B4-BE49-F238E27FC236}">
                  <a16:creationId xmlns:a16="http://schemas.microsoft.com/office/drawing/2014/main" id="{82F6FAAB-4839-423D-B4F8-AB17CA351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8" y="2304056"/>
              <a:ext cx="3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479">
              <a:extLst>
                <a:ext uri="{FF2B5EF4-FFF2-40B4-BE49-F238E27FC236}">
                  <a16:creationId xmlns:a16="http://schemas.microsoft.com/office/drawing/2014/main" id="{E00DC592-A73D-4789-8CB7-3FEEC029A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008" y="2592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480">
              <a:extLst>
                <a:ext uri="{FF2B5EF4-FFF2-40B4-BE49-F238E27FC236}">
                  <a16:creationId xmlns:a16="http://schemas.microsoft.com/office/drawing/2014/main" id="{C19AEDDB-8110-44F8-8EEF-E6883D829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008" y="2592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75">
              <a:extLst>
                <a:ext uri="{FF2B5EF4-FFF2-40B4-BE49-F238E27FC236}">
                  <a16:creationId xmlns:a16="http://schemas.microsoft.com/office/drawing/2014/main" id="{1F0CE50C-A725-4FC6-9148-40A29C445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8" y="2808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479">
              <a:extLst>
                <a:ext uri="{FF2B5EF4-FFF2-40B4-BE49-F238E27FC236}">
                  <a16:creationId xmlns:a16="http://schemas.microsoft.com/office/drawing/2014/main" id="{DF60A051-661F-4699-854F-3785CCDCB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000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480">
              <a:extLst>
                <a:ext uri="{FF2B5EF4-FFF2-40B4-BE49-F238E27FC236}">
                  <a16:creationId xmlns:a16="http://schemas.microsoft.com/office/drawing/2014/main" id="{BC03265E-21A9-4C63-BA20-195AD939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000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75">
              <a:extLst>
                <a:ext uri="{FF2B5EF4-FFF2-40B4-BE49-F238E27FC236}">
                  <a16:creationId xmlns:a16="http://schemas.microsoft.com/office/drawing/2014/main" id="{1CFB60B7-C2DE-4D91-8E1A-97AE96DD2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8" y="3096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477">
              <a:extLst>
                <a:ext uri="{FF2B5EF4-FFF2-40B4-BE49-F238E27FC236}">
                  <a16:creationId xmlns:a16="http://schemas.microsoft.com/office/drawing/2014/main" id="{7F9A7685-0134-4A75-9AFB-E35D1A59A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000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477">
              <a:extLst>
                <a:ext uri="{FF2B5EF4-FFF2-40B4-BE49-F238E27FC236}">
                  <a16:creationId xmlns:a16="http://schemas.microsoft.com/office/drawing/2014/main" id="{4819BD9A-7009-401E-9468-C902ABB4A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000" y="2880000"/>
              <a:ext cx="142875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3" name="Text Box 213"/>
          <p:cNvSpPr txBox="1">
            <a:spLocks noChangeArrowheads="1"/>
          </p:cNvSpPr>
          <p:nvPr/>
        </p:nvSpPr>
        <p:spPr bwMode="auto">
          <a:xfrm>
            <a:off x="179389" y="332656"/>
            <a:ext cx="8713092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芯片的刷新方式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刷新周期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指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同一存储元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刷新的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最大间隔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时间  </a:t>
            </a:r>
            <a:r>
              <a:rPr lang="zh-CN" altLang="en-US" sz="1800" b="1" u="none" spc="-100" dirty="0">
                <a:latin typeface="宋体" panose="02010600030101010101" pitchFamily="2" charset="-122"/>
              </a:rPr>
              <a:t>←即同一行的刷新间隔</a:t>
            </a:r>
            <a:endParaRPr lang="en-US" altLang="zh-CN" b="1" u="none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刷新方式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指</a:t>
            </a:r>
            <a:r>
              <a:rPr lang="zh-CN" altLang="en-US" sz="2200" b="1" dirty="0">
                <a:latin typeface="宋体" panose="02010600030101010101" pitchFamily="2" charset="-122"/>
              </a:rPr>
              <a:t>不同行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刷新的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间隔特征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有</a:t>
            </a:r>
            <a:r>
              <a:rPr lang="en-US" altLang="zh-CN" sz="1800" b="1" u="none" dirty="0">
                <a:latin typeface="宋体" panose="02010600030101010101" pitchFamily="2" charset="-122"/>
              </a:rPr>
              <a:t>3</a:t>
            </a:r>
            <a:r>
              <a:rPr lang="zh-CN" altLang="en-US" sz="1800" b="1" u="none" dirty="0">
                <a:latin typeface="宋体" panose="02010600030101010101" pitchFamily="2" charset="-122"/>
              </a:rPr>
              <a:t>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67" name="AutoShape 213"/>
          <p:cNvSpPr>
            <a:spLocks noChangeArrowheads="1"/>
          </p:cNvSpPr>
          <p:nvPr/>
        </p:nvSpPr>
        <p:spPr bwMode="auto">
          <a:xfrm rot="10800000">
            <a:off x="7093669" y="1271040"/>
            <a:ext cx="574675" cy="285752"/>
          </a:xfrm>
          <a:custGeom>
            <a:avLst/>
            <a:gdLst>
              <a:gd name="G0" fmla="+- 15196 0 0"/>
              <a:gd name="G1" fmla="+- 2967 0 0"/>
              <a:gd name="G2" fmla="+- 12158 0 2967"/>
              <a:gd name="G3" fmla="+- G2 0 2967"/>
              <a:gd name="G4" fmla="*/ G3 32768 32059"/>
              <a:gd name="G5" fmla="*/ G4 1 2"/>
              <a:gd name="G6" fmla="+- 21600 0 15196"/>
              <a:gd name="G7" fmla="*/ G6 2967 6079"/>
              <a:gd name="G8" fmla="+- G7 15196 0"/>
              <a:gd name="T0" fmla="*/ 15196 w 21600"/>
              <a:gd name="T1" fmla="*/ 0 h 21600"/>
              <a:gd name="T2" fmla="*/ 15196 w 21600"/>
              <a:gd name="T3" fmla="*/ 12158 h 21600"/>
              <a:gd name="T4" fmla="*/ 3181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96" y="0"/>
                </a:lnTo>
                <a:lnTo>
                  <a:pt x="15196" y="2967"/>
                </a:lnTo>
                <a:lnTo>
                  <a:pt x="12427" y="2967"/>
                </a:lnTo>
                <a:cubicBezTo>
                  <a:pt x="5564" y="2967"/>
                  <a:pt x="0" y="7082"/>
                  <a:pt x="0" y="12158"/>
                </a:cubicBezTo>
                <a:lnTo>
                  <a:pt x="0" y="21600"/>
                </a:lnTo>
                <a:lnTo>
                  <a:pt x="6362" y="21600"/>
                </a:lnTo>
                <a:lnTo>
                  <a:pt x="6362" y="12158"/>
                </a:lnTo>
                <a:cubicBezTo>
                  <a:pt x="6362" y="10519"/>
                  <a:pt x="9077" y="9191"/>
                  <a:pt x="12427" y="9191"/>
                </a:cubicBezTo>
                <a:lnTo>
                  <a:pt x="15196" y="9191"/>
                </a:lnTo>
                <a:lnTo>
                  <a:pt x="15196" y="12158"/>
                </a:lnTo>
                <a:close/>
              </a:path>
            </a:pathLst>
          </a:custGeom>
          <a:noFill/>
          <a:ln w="15875">
            <a:solidFill>
              <a:srgbClr val="990099"/>
            </a:solidFill>
            <a:prstDash val="sysDash"/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Text Box 226"/>
          <p:cNvSpPr txBox="1">
            <a:spLocks noChangeArrowheads="1"/>
          </p:cNvSpPr>
          <p:nvPr/>
        </p:nvSpPr>
        <p:spPr bwMode="auto">
          <a:xfrm>
            <a:off x="179388" y="1628800"/>
            <a:ext cx="2385589" cy="3458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集中式刷新：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*分散式刷新：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*异步式刷新：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281" name="Text Box 226"/>
          <p:cNvSpPr txBox="1">
            <a:spLocks noChangeArrowheads="1"/>
          </p:cNvSpPr>
          <p:nvPr/>
        </p:nvSpPr>
        <p:spPr bwMode="auto">
          <a:xfrm>
            <a:off x="2123728" y="1628800"/>
            <a:ext cx="662486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各行刷新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连续进行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，存在死区、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不变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82" name="Text Box 226"/>
          <p:cNvSpPr txBox="1">
            <a:spLocks noChangeArrowheads="1"/>
          </p:cNvSpPr>
          <p:nvPr/>
        </p:nvSpPr>
        <p:spPr bwMode="auto">
          <a:xfrm>
            <a:off x="2123728" y="3095992"/>
            <a:ext cx="662486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各行刷新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分散在每个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中，无死区、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翻倍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83" name="Text Box 226"/>
          <p:cNvSpPr txBox="1">
            <a:spLocks noChangeArrowheads="1"/>
          </p:cNvSpPr>
          <p:nvPr/>
        </p:nvSpPr>
        <p:spPr bwMode="auto">
          <a:xfrm>
            <a:off x="2123728" y="4607992"/>
            <a:ext cx="680424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spc="-50" dirty="0">
                <a:latin typeface="宋体" panose="02010600030101010101" pitchFamily="2" charset="-122"/>
              </a:rPr>
              <a:t>各行刷新</a:t>
            </a:r>
            <a:r>
              <a:rPr lang="zh-CN" altLang="en-US" sz="22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均匀分布在刷新周期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中，无死区、</a:t>
            </a:r>
            <a:r>
              <a:rPr lang="en-US" altLang="zh-CN" sz="2200" b="1" u="none" spc="-50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spc="-50" baseline="-180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不变</a:t>
            </a:r>
            <a:endParaRPr lang="zh-CN" altLang="en-US" sz="2200" b="1" spc="-50" dirty="0">
              <a:latin typeface="宋体" panose="02010600030101010101" pitchFamily="2" charset="-122"/>
            </a:endParaRPr>
          </a:p>
        </p:txBody>
      </p:sp>
      <p:sp>
        <p:nvSpPr>
          <p:cNvPr id="284" name="Text Box 254"/>
          <p:cNvSpPr txBox="1">
            <a:spLocks noChangeArrowheads="1"/>
          </p:cNvSpPr>
          <p:nvPr/>
        </p:nvSpPr>
        <p:spPr bwMode="auto">
          <a:xfrm>
            <a:off x="107536" y="4715992"/>
            <a:ext cx="28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★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541CDFB-B5DD-4157-8C6E-910586DD5D14}"/>
              </a:ext>
            </a:extLst>
          </p:cNvPr>
          <p:cNvGrpSpPr/>
          <p:nvPr/>
        </p:nvGrpSpPr>
        <p:grpSpPr>
          <a:xfrm>
            <a:off x="1115824" y="2134800"/>
            <a:ext cx="5976456" cy="936080"/>
            <a:chOff x="1115824" y="2124000"/>
            <a:chExt cx="5976456" cy="936080"/>
          </a:xfrm>
        </p:grpSpPr>
        <p:sp>
          <p:nvSpPr>
            <p:cNvPr id="135" name="Text Box 344">
              <a:extLst>
                <a:ext uri="{FF2B5EF4-FFF2-40B4-BE49-F238E27FC236}">
                  <a16:creationId xmlns:a16="http://schemas.microsoft.com/office/drawing/2014/main" id="{0B6300EA-DA67-4008-9737-DC1D9ACBD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000" y="2340000"/>
              <a:ext cx="201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8" name="Line 229"/>
            <p:cNvSpPr>
              <a:spLocks noChangeShapeType="1"/>
            </p:cNvSpPr>
            <p:nvPr/>
          </p:nvSpPr>
          <p:spPr bwMode="auto">
            <a:xfrm>
              <a:off x="1115824" y="2556048"/>
              <a:ext cx="403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42"/>
            <p:cNvSpPr>
              <a:spLocks noChangeShapeType="1"/>
            </p:cNvSpPr>
            <p:nvPr/>
          </p:nvSpPr>
          <p:spPr bwMode="auto">
            <a:xfrm>
              <a:off x="1115826" y="2772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43"/>
            <p:cNvSpPr txBox="1">
              <a:spLocks noChangeArrowheads="1"/>
            </p:cNvSpPr>
            <p:nvPr/>
          </p:nvSpPr>
          <p:spPr bwMode="auto">
            <a:xfrm>
              <a:off x="1259840" y="255607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260"/>
            <p:cNvSpPr txBox="1">
              <a:spLocks noChangeArrowheads="1"/>
            </p:cNvSpPr>
            <p:nvPr/>
          </p:nvSpPr>
          <p:spPr bwMode="auto">
            <a:xfrm>
              <a:off x="5220280" y="2124000"/>
              <a:ext cx="1872000" cy="93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14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存取周期</a:t>
              </a:r>
            </a:p>
            <a:p>
              <a:pPr>
                <a:lnSpc>
                  <a:spcPct val="114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m—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行刷新次数</a:t>
              </a:r>
            </a:p>
            <a:p>
              <a:pPr>
                <a:lnSpc>
                  <a:spcPct val="114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n+m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可访存总次数</a:t>
              </a:r>
            </a:p>
          </p:txBody>
        </p:sp>
        <p:sp>
          <p:nvSpPr>
            <p:cNvPr id="112" name="Text Box 231"/>
            <p:cNvSpPr txBox="1">
              <a:spLocks noChangeArrowheads="1"/>
            </p:cNvSpPr>
            <p:nvPr/>
          </p:nvSpPr>
          <p:spPr bwMode="auto">
            <a:xfrm>
              <a:off x="1115824" y="2340048"/>
              <a:ext cx="40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R/W</a:t>
              </a:r>
              <a:r>
                <a:rPr lang="en-US" altLang="zh-CN" sz="1600" b="1" u="none" dirty="0"/>
                <a:t> 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6000" dirty="0" err="1">
                  <a:latin typeface="宋体" panose="02010600030101010101" pitchFamily="2" charset="-122"/>
                </a:rPr>
                <a:t>n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6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 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RF</a:t>
              </a:r>
              <a:r>
                <a:rPr lang="en-US" altLang="zh-CN" sz="1600" b="1" u="none" baseline="-16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…   </a:t>
              </a:r>
              <a:r>
                <a:rPr lang="en-US" altLang="zh-CN" sz="1600" b="1" u="none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6000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1600" b="1" u="none" baseline="-16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3" name="Line 228"/>
            <p:cNvSpPr>
              <a:spLocks noChangeShapeType="1"/>
            </p:cNvSpPr>
            <p:nvPr/>
          </p:nvSpPr>
          <p:spPr bwMode="auto">
            <a:xfrm>
              <a:off x="1115824" y="2124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36"/>
            <p:cNvSpPr>
              <a:spLocks noChangeShapeType="1"/>
            </p:cNvSpPr>
            <p:nvPr/>
          </p:nvSpPr>
          <p:spPr bwMode="auto">
            <a:xfrm>
              <a:off x="1619880" y="2340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42"/>
            <p:cNvSpPr>
              <a:spLocks noChangeShapeType="1"/>
            </p:cNvSpPr>
            <p:nvPr/>
          </p:nvSpPr>
          <p:spPr bwMode="auto">
            <a:xfrm>
              <a:off x="1619880" y="2772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36"/>
            <p:cNvSpPr>
              <a:spLocks noChangeShapeType="1"/>
            </p:cNvSpPr>
            <p:nvPr/>
          </p:nvSpPr>
          <p:spPr bwMode="auto">
            <a:xfrm>
              <a:off x="2123936" y="2338387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42"/>
            <p:cNvSpPr>
              <a:spLocks noChangeShapeType="1"/>
            </p:cNvSpPr>
            <p:nvPr/>
          </p:nvSpPr>
          <p:spPr bwMode="auto">
            <a:xfrm>
              <a:off x="2627992" y="2772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36"/>
            <p:cNvSpPr>
              <a:spLocks noChangeShapeType="1"/>
            </p:cNvSpPr>
            <p:nvPr/>
          </p:nvSpPr>
          <p:spPr bwMode="auto">
            <a:xfrm>
              <a:off x="3132048" y="2124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36"/>
            <p:cNvSpPr>
              <a:spLocks noChangeShapeType="1"/>
            </p:cNvSpPr>
            <p:nvPr/>
          </p:nvSpPr>
          <p:spPr bwMode="auto">
            <a:xfrm>
              <a:off x="2627992" y="2338387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42"/>
            <p:cNvSpPr>
              <a:spLocks noChangeShapeType="1"/>
            </p:cNvSpPr>
            <p:nvPr/>
          </p:nvSpPr>
          <p:spPr bwMode="auto">
            <a:xfrm>
              <a:off x="3132048" y="2772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36"/>
            <p:cNvSpPr>
              <a:spLocks noChangeShapeType="1"/>
            </p:cNvSpPr>
            <p:nvPr/>
          </p:nvSpPr>
          <p:spPr bwMode="auto">
            <a:xfrm>
              <a:off x="4140160" y="2340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36"/>
            <p:cNvSpPr>
              <a:spLocks noChangeShapeType="1"/>
            </p:cNvSpPr>
            <p:nvPr/>
          </p:nvSpPr>
          <p:spPr bwMode="auto">
            <a:xfrm>
              <a:off x="3636104" y="2340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42"/>
            <p:cNvSpPr>
              <a:spLocks noChangeShapeType="1"/>
            </p:cNvSpPr>
            <p:nvPr/>
          </p:nvSpPr>
          <p:spPr bwMode="auto">
            <a:xfrm>
              <a:off x="4644216" y="2772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36"/>
            <p:cNvSpPr>
              <a:spLocks noChangeShapeType="1"/>
            </p:cNvSpPr>
            <p:nvPr/>
          </p:nvSpPr>
          <p:spPr bwMode="auto">
            <a:xfrm>
              <a:off x="4644216" y="2340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28"/>
            <p:cNvSpPr>
              <a:spLocks noChangeShapeType="1"/>
            </p:cNvSpPr>
            <p:nvPr/>
          </p:nvSpPr>
          <p:spPr bwMode="auto">
            <a:xfrm>
              <a:off x="5148272" y="2124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49"/>
            <p:cNvSpPr>
              <a:spLocks noChangeShapeType="1"/>
            </p:cNvSpPr>
            <p:nvPr/>
          </p:nvSpPr>
          <p:spPr bwMode="auto">
            <a:xfrm>
              <a:off x="2700000" y="2212058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50"/>
            <p:cNvSpPr>
              <a:spLocks noChangeShapeType="1"/>
            </p:cNvSpPr>
            <p:nvPr/>
          </p:nvSpPr>
          <p:spPr bwMode="auto">
            <a:xfrm flipH="1">
              <a:off x="1115824" y="2212058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Text Box 251"/>
            <p:cNvSpPr txBox="1">
              <a:spLocks noChangeArrowheads="1"/>
            </p:cNvSpPr>
            <p:nvPr/>
          </p:nvSpPr>
          <p:spPr bwMode="auto">
            <a:xfrm>
              <a:off x="1547872" y="2124024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空闲</a:t>
              </a:r>
            </a:p>
          </p:txBody>
        </p:sp>
        <p:sp>
          <p:nvSpPr>
            <p:cNvPr id="129" name="Line 252"/>
            <p:cNvSpPr>
              <a:spLocks noChangeShapeType="1"/>
            </p:cNvSpPr>
            <p:nvPr/>
          </p:nvSpPr>
          <p:spPr bwMode="auto">
            <a:xfrm>
              <a:off x="4428192" y="2196008"/>
              <a:ext cx="720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53"/>
            <p:cNvSpPr>
              <a:spLocks noChangeShapeType="1"/>
            </p:cNvSpPr>
            <p:nvPr/>
          </p:nvSpPr>
          <p:spPr bwMode="auto">
            <a:xfrm flipH="1">
              <a:off x="3132048" y="2212058"/>
              <a:ext cx="72107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254"/>
            <p:cNvSpPr txBox="1">
              <a:spLocks noChangeArrowheads="1"/>
            </p:cNvSpPr>
            <p:nvPr/>
          </p:nvSpPr>
          <p:spPr bwMode="auto">
            <a:xfrm>
              <a:off x="3852128" y="2124024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刷新</a:t>
              </a:r>
            </a:p>
          </p:txBody>
        </p:sp>
        <p:sp>
          <p:nvSpPr>
            <p:cNvPr id="132" name="Line 255"/>
            <p:cNvSpPr>
              <a:spLocks noChangeShapeType="1"/>
            </p:cNvSpPr>
            <p:nvPr/>
          </p:nvSpPr>
          <p:spPr bwMode="auto">
            <a:xfrm>
              <a:off x="3996144" y="2988096"/>
              <a:ext cx="11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256"/>
            <p:cNvSpPr>
              <a:spLocks noChangeShapeType="1"/>
            </p:cNvSpPr>
            <p:nvPr/>
          </p:nvSpPr>
          <p:spPr bwMode="auto">
            <a:xfrm flipH="1">
              <a:off x="1125153" y="2988096"/>
              <a:ext cx="11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257"/>
            <p:cNvSpPr txBox="1">
              <a:spLocks noChangeArrowheads="1"/>
            </p:cNvSpPr>
            <p:nvPr/>
          </p:nvSpPr>
          <p:spPr bwMode="auto">
            <a:xfrm>
              <a:off x="2339960" y="2844080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8E07F82-1ED3-4D4D-8F6A-F6A42BEA72B2}"/>
              </a:ext>
            </a:extLst>
          </p:cNvPr>
          <p:cNvGrpSpPr/>
          <p:nvPr/>
        </p:nvGrpSpPr>
        <p:grpSpPr>
          <a:xfrm>
            <a:off x="1115616" y="3646800"/>
            <a:ext cx="6048672" cy="936080"/>
            <a:chOff x="1115616" y="3636000"/>
            <a:chExt cx="6048672" cy="936080"/>
          </a:xfrm>
        </p:grpSpPr>
        <p:sp>
          <p:nvSpPr>
            <p:cNvPr id="136" name="Text Box 344">
              <a:extLst>
                <a:ext uri="{FF2B5EF4-FFF2-40B4-BE49-F238E27FC236}">
                  <a16:creationId xmlns:a16="http://schemas.microsoft.com/office/drawing/2014/main" id="{8E29C099-8A26-4376-96D2-748494439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3852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344">
              <a:extLst>
                <a:ext uri="{FF2B5EF4-FFF2-40B4-BE49-F238E27FC236}">
                  <a16:creationId xmlns:a16="http://schemas.microsoft.com/office/drawing/2014/main" id="{680D5235-9CA9-4708-9E17-EDEBDE473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000" y="3852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344">
              <a:extLst>
                <a:ext uri="{FF2B5EF4-FFF2-40B4-BE49-F238E27FC236}">
                  <a16:creationId xmlns:a16="http://schemas.microsoft.com/office/drawing/2014/main" id="{E2DB8159-02E7-4A5D-AEA8-D25ED055C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000" y="3852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344">
              <a:extLst>
                <a:ext uri="{FF2B5EF4-FFF2-40B4-BE49-F238E27FC236}">
                  <a16:creationId xmlns:a16="http://schemas.microsoft.com/office/drawing/2014/main" id="{349402BC-7B09-40B7-BD40-50650266C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00" y="3852000"/>
              <a:ext cx="504000" cy="216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344">
              <a:extLst>
                <a:ext uri="{FF2B5EF4-FFF2-40B4-BE49-F238E27FC236}">
                  <a16:creationId xmlns:a16="http://schemas.microsoft.com/office/drawing/2014/main" id="{3FD72B71-7CFA-4580-A29F-CB1E857B8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00" y="3852000"/>
              <a:ext cx="504000" cy="216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98" name="Line 229"/>
            <p:cNvSpPr>
              <a:spLocks noChangeShapeType="1"/>
            </p:cNvSpPr>
            <p:nvPr/>
          </p:nvSpPr>
          <p:spPr bwMode="auto">
            <a:xfrm>
              <a:off x="1115616" y="4068048"/>
              <a:ext cx="604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42"/>
            <p:cNvSpPr>
              <a:spLocks noChangeShapeType="1"/>
            </p:cNvSpPr>
            <p:nvPr/>
          </p:nvSpPr>
          <p:spPr bwMode="auto">
            <a:xfrm>
              <a:off x="1115618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Text Box 243"/>
            <p:cNvSpPr txBox="1">
              <a:spLocks noChangeArrowheads="1"/>
            </p:cNvSpPr>
            <p:nvPr/>
          </p:nvSpPr>
          <p:spPr bwMode="auto">
            <a:xfrm>
              <a:off x="1259632" y="406807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231"/>
            <p:cNvSpPr txBox="1">
              <a:spLocks noChangeArrowheads="1"/>
            </p:cNvSpPr>
            <p:nvPr/>
          </p:nvSpPr>
          <p:spPr bwMode="auto">
            <a:xfrm>
              <a:off x="1115616" y="3852048"/>
              <a:ext cx="60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… 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1+ 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空闲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n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+ 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空闲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2" name="Line 228"/>
            <p:cNvSpPr>
              <a:spLocks noChangeShapeType="1"/>
            </p:cNvSpPr>
            <p:nvPr/>
          </p:nvSpPr>
          <p:spPr bwMode="auto">
            <a:xfrm>
              <a:off x="1115616" y="3636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36"/>
            <p:cNvSpPr>
              <a:spLocks noChangeShapeType="1"/>
            </p:cNvSpPr>
            <p:nvPr/>
          </p:nvSpPr>
          <p:spPr bwMode="auto">
            <a:xfrm>
              <a:off x="1619672" y="3852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42"/>
            <p:cNvSpPr>
              <a:spLocks noChangeShapeType="1"/>
            </p:cNvSpPr>
            <p:nvPr/>
          </p:nvSpPr>
          <p:spPr bwMode="auto">
            <a:xfrm>
              <a:off x="1619672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36"/>
            <p:cNvSpPr>
              <a:spLocks noChangeShapeType="1"/>
            </p:cNvSpPr>
            <p:nvPr/>
          </p:nvSpPr>
          <p:spPr bwMode="auto">
            <a:xfrm>
              <a:off x="2123728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42"/>
            <p:cNvSpPr>
              <a:spLocks noChangeShapeType="1"/>
            </p:cNvSpPr>
            <p:nvPr/>
          </p:nvSpPr>
          <p:spPr bwMode="auto">
            <a:xfrm>
              <a:off x="2123728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36"/>
            <p:cNvSpPr>
              <a:spLocks noChangeShapeType="1"/>
            </p:cNvSpPr>
            <p:nvPr/>
          </p:nvSpPr>
          <p:spPr bwMode="auto">
            <a:xfrm>
              <a:off x="3131840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36"/>
            <p:cNvSpPr>
              <a:spLocks noChangeShapeType="1"/>
            </p:cNvSpPr>
            <p:nvPr/>
          </p:nvSpPr>
          <p:spPr bwMode="auto">
            <a:xfrm>
              <a:off x="2627784" y="3850387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42"/>
            <p:cNvSpPr>
              <a:spLocks noChangeShapeType="1"/>
            </p:cNvSpPr>
            <p:nvPr/>
          </p:nvSpPr>
          <p:spPr bwMode="auto">
            <a:xfrm>
              <a:off x="2627784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36"/>
            <p:cNvSpPr>
              <a:spLocks noChangeShapeType="1"/>
            </p:cNvSpPr>
            <p:nvPr/>
          </p:nvSpPr>
          <p:spPr bwMode="auto">
            <a:xfrm>
              <a:off x="4139952" y="3852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36"/>
            <p:cNvSpPr>
              <a:spLocks noChangeShapeType="1"/>
            </p:cNvSpPr>
            <p:nvPr/>
          </p:nvSpPr>
          <p:spPr bwMode="auto">
            <a:xfrm>
              <a:off x="3635896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42"/>
            <p:cNvSpPr>
              <a:spLocks noChangeShapeType="1"/>
            </p:cNvSpPr>
            <p:nvPr/>
          </p:nvSpPr>
          <p:spPr bwMode="auto">
            <a:xfrm>
              <a:off x="4644008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36"/>
            <p:cNvSpPr>
              <a:spLocks noChangeShapeType="1"/>
            </p:cNvSpPr>
            <p:nvPr/>
          </p:nvSpPr>
          <p:spPr bwMode="auto">
            <a:xfrm>
              <a:off x="4644008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28"/>
            <p:cNvSpPr>
              <a:spLocks noChangeShapeType="1"/>
            </p:cNvSpPr>
            <p:nvPr/>
          </p:nvSpPr>
          <p:spPr bwMode="auto">
            <a:xfrm>
              <a:off x="7164288" y="3636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49"/>
            <p:cNvSpPr>
              <a:spLocks noChangeShapeType="1"/>
            </p:cNvSpPr>
            <p:nvPr/>
          </p:nvSpPr>
          <p:spPr bwMode="auto">
            <a:xfrm>
              <a:off x="1907728" y="3724058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50"/>
            <p:cNvSpPr>
              <a:spLocks noChangeShapeType="1"/>
            </p:cNvSpPr>
            <p:nvPr/>
          </p:nvSpPr>
          <p:spPr bwMode="auto">
            <a:xfrm flipH="1">
              <a:off x="1115616" y="3724058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Text Box 251"/>
            <p:cNvSpPr txBox="1">
              <a:spLocks noChangeArrowheads="1"/>
            </p:cNvSpPr>
            <p:nvPr/>
          </p:nvSpPr>
          <p:spPr bwMode="auto">
            <a:xfrm>
              <a:off x="1331640" y="3636024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8" name="Line 255"/>
            <p:cNvSpPr>
              <a:spLocks noChangeShapeType="1"/>
            </p:cNvSpPr>
            <p:nvPr/>
          </p:nvSpPr>
          <p:spPr bwMode="auto">
            <a:xfrm>
              <a:off x="5004048" y="4500096"/>
              <a:ext cx="21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56"/>
            <p:cNvSpPr>
              <a:spLocks noChangeShapeType="1"/>
            </p:cNvSpPr>
            <p:nvPr/>
          </p:nvSpPr>
          <p:spPr bwMode="auto">
            <a:xfrm flipH="1">
              <a:off x="1124945" y="4500096"/>
              <a:ext cx="21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Text Box 257"/>
            <p:cNvSpPr txBox="1">
              <a:spLocks noChangeArrowheads="1"/>
            </p:cNvSpPr>
            <p:nvPr/>
          </p:nvSpPr>
          <p:spPr bwMode="auto">
            <a:xfrm>
              <a:off x="3348048" y="4356080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</a:p>
          </p:txBody>
        </p:sp>
        <p:sp>
          <p:nvSpPr>
            <p:cNvPr id="221" name="Line 242"/>
            <p:cNvSpPr>
              <a:spLocks noChangeShapeType="1"/>
            </p:cNvSpPr>
            <p:nvPr/>
          </p:nvSpPr>
          <p:spPr bwMode="auto">
            <a:xfrm>
              <a:off x="5148064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36"/>
            <p:cNvSpPr>
              <a:spLocks noChangeShapeType="1"/>
            </p:cNvSpPr>
            <p:nvPr/>
          </p:nvSpPr>
          <p:spPr bwMode="auto">
            <a:xfrm>
              <a:off x="5148064" y="385208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36"/>
            <p:cNvSpPr>
              <a:spLocks noChangeShapeType="1"/>
            </p:cNvSpPr>
            <p:nvPr/>
          </p:nvSpPr>
          <p:spPr bwMode="auto">
            <a:xfrm>
              <a:off x="5652120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36"/>
            <p:cNvSpPr>
              <a:spLocks noChangeShapeType="1"/>
            </p:cNvSpPr>
            <p:nvPr/>
          </p:nvSpPr>
          <p:spPr bwMode="auto">
            <a:xfrm>
              <a:off x="6660232" y="385200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49"/>
            <p:cNvSpPr>
              <a:spLocks noChangeShapeType="1"/>
            </p:cNvSpPr>
            <p:nvPr/>
          </p:nvSpPr>
          <p:spPr bwMode="auto">
            <a:xfrm>
              <a:off x="2915840" y="3724034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50"/>
            <p:cNvSpPr>
              <a:spLocks noChangeShapeType="1"/>
            </p:cNvSpPr>
            <p:nvPr/>
          </p:nvSpPr>
          <p:spPr bwMode="auto">
            <a:xfrm flipH="1">
              <a:off x="2123728" y="3724034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Text Box 251"/>
            <p:cNvSpPr txBox="1">
              <a:spLocks noChangeArrowheads="1"/>
            </p:cNvSpPr>
            <p:nvPr/>
          </p:nvSpPr>
          <p:spPr bwMode="auto">
            <a:xfrm>
              <a:off x="2339752" y="3636000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8" name="Line 249"/>
            <p:cNvSpPr>
              <a:spLocks noChangeShapeType="1"/>
            </p:cNvSpPr>
            <p:nvPr/>
          </p:nvSpPr>
          <p:spPr bwMode="auto">
            <a:xfrm>
              <a:off x="4428008" y="3724034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50"/>
            <p:cNvSpPr>
              <a:spLocks noChangeShapeType="1"/>
            </p:cNvSpPr>
            <p:nvPr/>
          </p:nvSpPr>
          <p:spPr bwMode="auto">
            <a:xfrm flipH="1">
              <a:off x="3635896" y="3724034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Text Box 251"/>
            <p:cNvSpPr txBox="1">
              <a:spLocks noChangeArrowheads="1"/>
            </p:cNvSpPr>
            <p:nvPr/>
          </p:nvSpPr>
          <p:spPr bwMode="auto">
            <a:xfrm>
              <a:off x="3851920" y="3636000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m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1" name="Line 236"/>
            <p:cNvSpPr>
              <a:spLocks noChangeShapeType="1"/>
            </p:cNvSpPr>
            <p:nvPr/>
          </p:nvSpPr>
          <p:spPr bwMode="auto">
            <a:xfrm>
              <a:off x="6156176" y="3636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42"/>
            <p:cNvSpPr>
              <a:spLocks noChangeShapeType="1"/>
            </p:cNvSpPr>
            <p:nvPr/>
          </p:nvSpPr>
          <p:spPr bwMode="auto">
            <a:xfrm>
              <a:off x="3635952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42"/>
            <p:cNvSpPr>
              <a:spLocks noChangeShapeType="1"/>
            </p:cNvSpPr>
            <p:nvPr/>
          </p:nvSpPr>
          <p:spPr bwMode="auto">
            <a:xfrm>
              <a:off x="4140008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42"/>
            <p:cNvSpPr>
              <a:spLocks noChangeShapeType="1"/>
            </p:cNvSpPr>
            <p:nvPr/>
          </p:nvSpPr>
          <p:spPr bwMode="auto">
            <a:xfrm>
              <a:off x="6156232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42"/>
            <p:cNvSpPr>
              <a:spLocks noChangeShapeType="1"/>
            </p:cNvSpPr>
            <p:nvPr/>
          </p:nvSpPr>
          <p:spPr bwMode="auto">
            <a:xfrm>
              <a:off x="6660288" y="4284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49"/>
            <p:cNvSpPr>
              <a:spLocks noChangeShapeType="1"/>
            </p:cNvSpPr>
            <p:nvPr/>
          </p:nvSpPr>
          <p:spPr bwMode="auto">
            <a:xfrm>
              <a:off x="5508120" y="3724034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50"/>
            <p:cNvSpPr>
              <a:spLocks noChangeShapeType="1"/>
            </p:cNvSpPr>
            <p:nvPr/>
          </p:nvSpPr>
          <p:spPr bwMode="auto">
            <a:xfrm flipH="1">
              <a:off x="4644008" y="3724034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Text Box 251"/>
            <p:cNvSpPr txBox="1">
              <a:spLocks noChangeArrowheads="1"/>
            </p:cNvSpPr>
            <p:nvPr/>
          </p:nvSpPr>
          <p:spPr bwMode="auto">
            <a:xfrm>
              <a:off x="4788104" y="3636000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1+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9" name="Line 249"/>
            <p:cNvSpPr>
              <a:spLocks noChangeShapeType="1"/>
            </p:cNvSpPr>
            <p:nvPr/>
          </p:nvSpPr>
          <p:spPr bwMode="auto">
            <a:xfrm>
              <a:off x="7020288" y="3724034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250"/>
            <p:cNvSpPr>
              <a:spLocks noChangeShapeType="1"/>
            </p:cNvSpPr>
            <p:nvPr/>
          </p:nvSpPr>
          <p:spPr bwMode="auto">
            <a:xfrm flipH="1">
              <a:off x="6156176" y="3724034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Text Box 251"/>
            <p:cNvSpPr txBox="1">
              <a:spLocks noChangeArrowheads="1"/>
            </p:cNvSpPr>
            <p:nvPr/>
          </p:nvSpPr>
          <p:spPr bwMode="auto">
            <a:xfrm>
              <a:off x="6300272" y="3636000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n+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A2D66FB-F4E7-4FC8-9034-03D5F335A376}"/>
              </a:ext>
            </a:extLst>
          </p:cNvPr>
          <p:cNvGrpSpPr/>
          <p:nvPr/>
        </p:nvGrpSpPr>
        <p:grpSpPr>
          <a:xfrm>
            <a:off x="1115616" y="5158800"/>
            <a:ext cx="6552728" cy="936080"/>
            <a:chOff x="1115616" y="5148000"/>
            <a:chExt cx="6552728" cy="936080"/>
          </a:xfrm>
        </p:grpSpPr>
        <p:sp>
          <p:nvSpPr>
            <p:cNvPr id="141" name="Text Box 344">
              <a:extLst>
                <a:ext uri="{FF2B5EF4-FFF2-40B4-BE49-F238E27FC236}">
                  <a16:creationId xmlns:a16="http://schemas.microsoft.com/office/drawing/2014/main" id="{B67ABA3E-A5B6-4D5D-ADDF-4A5A64D38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120" y="5364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344">
              <a:extLst>
                <a:ext uri="{FF2B5EF4-FFF2-40B4-BE49-F238E27FC236}">
                  <a16:creationId xmlns:a16="http://schemas.microsoft.com/office/drawing/2014/main" id="{552D20FA-B398-4070-8B0D-95D052F31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064" y="5364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344">
              <a:extLst>
                <a:ext uri="{FF2B5EF4-FFF2-40B4-BE49-F238E27FC236}">
                  <a16:creationId xmlns:a16="http://schemas.microsoft.com/office/drawing/2014/main" id="{5693E417-D08B-4E64-9B5C-B765637C6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288" y="5364000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3" name="Line 229"/>
            <p:cNvSpPr>
              <a:spLocks noChangeShapeType="1"/>
            </p:cNvSpPr>
            <p:nvPr/>
          </p:nvSpPr>
          <p:spPr bwMode="auto">
            <a:xfrm>
              <a:off x="1115616" y="5580048"/>
              <a:ext cx="65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2"/>
            <p:cNvSpPr>
              <a:spLocks noChangeShapeType="1"/>
            </p:cNvSpPr>
            <p:nvPr/>
          </p:nvSpPr>
          <p:spPr bwMode="auto">
            <a:xfrm>
              <a:off x="1115618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Text Box 243"/>
            <p:cNvSpPr txBox="1">
              <a:spLocks noChangeArrowheads="1"/>
            </p:cNvSpPr>
            <p:nvPr/>
          </p:nvSpPr>
          <p:spPr bwMode="auto">
            <a:xfrm>
              <a:off x="1259632" y="558007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6" name="Text Box 231"/>
            <p:cNvSpPr txBox="1">
              <a:spLocks noChangeArrowheads="1"/>
            </p:cNvSpPr>
            <p:nvPr/>
          </p:nvSpPr>
          <p:spPr bwMode="auto">
            <a:xfrm>
              <a:off x="1115616" y="5364048"/>
              <a:ext cx="648072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… 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1600" b="1" u="none" baseline="-16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7" name="Line 228"/>
            <p:cNvSpPr>
              <a:spLocks noChangeShapeType="1"/>
            </p:cNvSpPr>
            <p:nvPr/>
          </p:nvSpPr>
          <p:spPr bwMode="auto">
            <a:xfrm>
              <a:off x="1115616" y="5148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36"/>
            <p:cNvSpPr>
              <a:spLocks noChangeShapeType="1"/>
            </p:cNvSpPr>
            <p:nvPr/>
          </p:nvSpPr>
          <p:spPr bwMode="auto">
            <a:xfrm>
              <a:off x="1619672" y="5364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242"/>
            <p:cNvSpPr>
              <a:spLocks noChangeShapeType="1"/>
            </p:cNvSpPr>
            <p:nvPr/>
          </p:nvSpPr>
          <p:spPr bwMode="auto">
            <a:xfrm>
              <a:off x="3131840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36"/>
            <p:cNvSpPr>
              <a:spLocks noChangeShapeType="1"/>
            </p:cNvSpPr>
            <p:nvPr/>
          </p:nvSpPr>
          <p:spPr bwMode="auto">
            <a:xfrm>
              <a:off x="2123728" y="536410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42"/>
            <p:cNvSpPr>
              <a:spLocks noChangeShapeType="1"/>
            </p:cNvSpPr>
            <p:nvPr/>
          </p:nvSpPr>
          <p:spPr bwMode="auto">
            <a:xfrm>
              <a:off x="2123728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36"/>
            <p:cNvSpPr>
              <a:spLocks noChangeShapeType="1"/>
            </p:cNvSpPr>
            <p:nvPr/>
          </p:nvSpPr>
          <p:spPr bwMode="auto">
            <a:xfrm>
              <a:off x="3131840" y="5148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36"/>
            <p:cNvSpPr>
              <a:spLocks noChangeShapeType="1"/>
            </p:cNvSpPr>
            <p:nvPr/>
          </p:nvSpPr>
          <p:spPr bwMode="auto">
            <a:xfrm>
              <a:off x="2627784" y="5362387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42"/>
            <p:cNvSpPr>
              <a:spLocks noChangeShapeType="1"/>
            </p:cNvSpPr>
            <p:nvPr/>
          </p:nvSpPr>
          <p:spPr bwMode="auto">
            <a:xfrm>
              <a:off x="2627784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36"/>
            <p:cNvSpPr>
              <a:spLocks noChangeShapeType="1"/>
            </p:cNvSpPr>
            <p:nvPr/>
          </p:nvSpPr>
          <p:spPr bwMode="auto">
            <a:xfrm>
              <a:off x="4139952" y="5364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36"/>
            <p:cNvSpPr>
              <a:spLocks noChangeShapeType="1"/>
            </p:cNvSpPr>
            <p:nvPr/>
          </p:nvSpPr>
          <p:spPr bwMode="auto">
            <a:xfrm>
              <a:off x="3635896" y="536408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42"/>
            <p:cNvSpPr>
              <a:spLocks noChangeShapeType="1"/>
            </p:cNvSpPr>
            <p:nvPr/>
          </p:nvSpPr>
          <p:spPr bwMode="auto">
            <a:xfrm>
              <a:off x="4644008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36"/>
            <p:cNvSpPr>
              <a:spLocks noChangeShapeType="1"/>
            </p:cNvSpPr>
            <p:nvPr/>
          </p:nvSpPr>
          <p:spPr bwMode="auto">
            <a:xfrm>
              <a:off x="5148064" y="5148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28"/>
            <p:cNvSpPr>
              <a:spLocks noChangeShapeType="1"/>
            </p:cNvSpPr>
            <p:nvPr/>
          </p:nvSpPr>
          <p:spPr bwMode="auto">
            <a:xfrm>
              <a:off x="7668344" y="5148000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50"/>
            <p:cNvSpPr>
              <a:spLocks noChangeShapeType="1"/>
            </p:cNvSpPr>
            <p:nvPr/>
          </p:nvSpPr>
          <p:spPr bwMode="auto">
            <a:xfrm flipH="1">
              <a:off x="1115616" y="5236058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251"/>
            <p:cNvSpPr txBox="1">
              <a:spLocks noChangeArrowheads="1"/>
            </p:cNvSpPr>
            <p:nvPr/>
          </p:nvSpPr>
          <p:spPr bwMode="auto">
            <a:xfrm>
              <a:off x="1547664" y="5148024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</a:p>
          </p:txBody>
        </p:sp>
        <p:sp>
          <p:nvSpPr>
            <p:cNvPr id="262" name="Line 255"/>
            <p:cNvSpPr>
              <a:spLocks noChangeShapeType="1"/>
            </p:cNvSpPr>
            <p:nvPr/>
          </p:nvSpPr>
          <p:spPr bwMode="auto">
            <a:xfrm>
              <a:off x="5292344" y="6012096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56"/>
            <p:cNvSpPr>
              <a:spLocks noChangeShapeType="1"/>
            </p:cNvSpPr>
            <p:nvPr/>
          </p:nvSpPr>
          <p:spPr bwMode="auto">
            <a:xfrm flipH="1">
              <a:off x="1124945" y="6012096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Text Box 257"/>
            <p:cNvSpPr txBox="1">
              <a:spLocks noChangeArrowheads="1"/>
            </p:cNvSpPr>
            <p:nvPr/>
          </p:nvSpPr>
          <p:spPr bwMode="auto">
            <a:xfrm>
              <a:off x="3564072" y="5868080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</a:p>
          </p:txBody>
        </p:sp>
        <p:sp>
          <p:nvSpPr>
            <p:cNvPr id="265" name="Line 242"/>
            <p:cNvSpPr>
              <a:spLocks noChangeShapeType="1"/>
            </p:cNvSpPr>
            <p:nvPr/>
          </p:nvSpPr>
          <p:spPr bwMode="auto">
            <a:xfrm>
              <a:off x="7164344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36"/>
            <p:cNvSpPr>
              <a:spLocks noChangeShapeType="1"/>
            </p:cNvSpPr>
            <p:nvPr/>
          </p:nvSpPr>
          <p:spPr bwMode="auto">
            <a:xfrm>
              <a:off x="4644008" y="536408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36"/>
            <p:cNvSpPr>
              <a:spLocks noChangeShapeType="1"/>
            </p:cNvSpPr>
            <p:nvPr/>
          </p:nvSpPr>
          <p:spPr bwMode="auto">
            <a:xfrm>
              <a:off x="5652120" y="5148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36"/>
            <p:cNvSpPr>
              <a:spLocks noChangeShapeType="1"/>
            </p:cNvSpPr>
            <p:nvPr/>
          </p:nvSpPr>
          <p:spPr bwMode="auto">
            <a:xfrm>
              <a:off x="6660232" y="536400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49"/>
            <p:cNvSpPr>
              <a:spLocks noChangeShapeType="1"/>
            </p:cNvSpPr>
            <p:nvPr/>
          </p:nvSpPr>
          <p:spPr bwMode="auto">
            <a:xfrm>
              <a:off x="2699792" y="5236034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36"/>
            <p:cNvSpPr>
              <a:spLocks noChangeShapeType="1"/>
            </p:cNvSpPr>
            <p:nvPr/>
          </p:nvSpPr>
          <p:spPr bwMode="auto">
            <a:xfrm>
              <a:off x="6156176" y="5364080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42"/>
            <p:cNvSpPr>
              <a:spLocks noChangeShapeType="1"/>
            </p:cNvSpPr>
            <p:nvPr/>
          </p:nvSpPr>
          <p:spPr bwMode="auto">
            <a:xfrm>
              <a:off x="5652120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42"/>
            <p:cNvSpPr>
              <a:spLocks noChangeShapeType="1"/>
            </p:cNvSpPr>
            <p:nvPr/>
          </p:nvSpPr>
          <p:spPr bwMode="auto">
            <a:xfrm>
              <a:off x="4140008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42"/>
            <p:cNvSpPr>
              <a:spLocks noChangeShapeType="1"/>
            </p:cNvSpPr>
            <p:nvPr/>
          </p:nvSpPr>
          <p:spPr bwMode="auto">
            <a:xfrm>
              <a:off x="6660288" y="57960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50"/>
            <p:cNvSpPr>
              <a:spLocks noChangeShapeType="1"/>
            </p:cNvSpPr>
            <p:nvPr/>
          </p:nvSpPr>
          <p:spPr bwMode="auto">
            <a:xfrm flipH="1">
              <a:off x="3131888" y="5236034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Text Box 251"/>
            <p:cNvSpPr txBox="1">
              <a:spLocks noChangeArrowheads="1"/>
            </p:cNvSpPr>
            <p:nvPr/>
          </p:nvSpPr>
          <p:spPr bwMode="auto">
            <a:xfrm>
              <a:off x="3563936" y="5148000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</a:p>
          </p:txBody>
        </p:sp>
        <p:sp>
          <p:nvSpPr>
            <p:cNvPr id="276" name="Line 249"/>
            <p:cNvSpPr>
              <a:spLocks noChangeShapeType="1"/>
            </p:cNvSpPr>
            <p:nvPr/>
          </p:nvSpPr>
          <p:spPr bwMode="auto">
            <a:xfrm>
              <a:off x="4716064" y="5236010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250"/>
            <p:cNvSpPr>
              <a:spLocks noChangeShapeType="1"/>
            </p:cNvSpPr>
            <p:nvPr/>
          </p:nvSpPr>
          <p:spPr bwMode="auto">
            <a:xfrm flipH="1">
              <a:off x="5652168" y="5236034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Text Box 251"/>
            <p:cNvSpPr txBox="1">
              <a:spLocks noChangeArrowheads="1"/>
            </p:cNvSpPr>
            <p:nvPr/>
          </p:nvSpPr>
          <p:spPr bwMode="auto">
            <a:xfrm>
              <a:off x="6084216" y="5148000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</a:p>
          </p:txBody>
        </p:sp>
        <p:sp>
          <p:nvSpPr>
            <p:cNvPr id="279" name="Line 249"/>
            <p:cNvSpPr>
              <a:spLocks noChangeShapeType="1"/>
            </p:cNvSpPr>
            <p:nvPr/>
          </p:nvSpPr>
          <p:spPr bwMode="auto">
            <a:xfrm>
              <a:off x="7236344" y="5236010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36"/>
            <p:cNvSpPr>
              <a:spLocks noChangeShapeType="1"/>
            </p:cNvSpPr>
            <p:nvPr/>
          </p:nvSpPr>
          <p:spPr bwMode="auto">
            <a:xfrm>
              <a:off x="7164288" y="536402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/>
      <p:bldP spid="281" grpId="0"/>
      <p:bldP spid="282" grpId="0"/>
      <p:bldP spid="283" grpId="0"/>
      <p:bldP spid="28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232"/>
          <p:cNvSpPr txBox="1">
            <a:spLocks noChangeArrowheads="1"/>
          </p:cNvSpPr>
          <p:nvPr/>
        </p:nvSpPr>
        <p:spPr bwMode="auto">
          <a:xfrm>
            <a:off x="179512" y="1484784"/>
            <a:ext cx="3348284" cy="25733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*DRAMC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的主要功能：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*DRAMC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功能的组织：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行刷新的地址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行刷新的时机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spc="500" dirty="0">
                <a:solidFill>
                  <a:schemeClr val="accent2"/>
                </a:solidFill>
                <a:latin typeface="宋体" panose="02010600030101010101" pitchFamily="2" charset="-122"/>
              </a:rPr>
              <a:t>操作的管理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60005" y="4227754"/>
            <a:ext cx="7127255" cy="1656184"/>
            <a:chOff x="1260005" y="4293490"/>
            <a:chExt cx="7127255" cy="1656184"/>
          </a:xfrm>
        </p:grpSpPr>
        <p:sp>
          <p:nvSpPr>
            <p:cNvPr id="82" name="Rectangle 234"/>
            <p:cNvSpPr>
              <a:spLocks noChangeArrowheads="1"/>
            </p:cNvSpPr>
            <p:nvPr/>
          </p:nvSpPr>
          <p:spPr bwMode="auto">
            <a:xfrm>
              <a:off x="2556744" y="4293490"/>
              <a:ext cx="4032000" cy="151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235"/>
            <p:cNvSpPr txBox="1">
              <a:spLocks noChangeArrowheads="1"/>
            </p:cNvSpPr>
            <p:nvPr/>
          </p:nvSpPr>
          <p:spPr bwMode="auto">
            <a:xfrm>
              <a:off x="7739260" y="4509674"/>
              <a:ext cx="648000" cy="144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</a:p>
            <a:p>
              <a:pPr algn="ctr"/>
              <a:r>
                <a:rPr lang="zh-CN" altLang="en-US" sz="1800" b="1" u="none">
                  <a:latin typeface="宋体" panose="02010600030101010101" pitchFamily="2" charset="-122"/>
                </a:rPr>
                <a:t>芯片</a:t>
              </a:r>
            </a:p>
          </p:txBody>
        </p:sp>
        <p:sp>
          <p:nvSpPr>
            <p:cNvPr id="84" name="Text Box 237"/>
            <p:cNvSpPr txBox="1">
              <a:spLocks noChangeArrowheads="1"/>
            </p:cNvSpPr>
            <p:nvPr/>
          </p:nvSpPr>
          <p:spPr bwMode="auto">
            <a:xfrm>
              <a:off x="6658891" y="4437630"/>
              <a:ext cx="1008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</a:p>
          </p:txBody>
        </p:sp>
        <p:sp>
          <p:nvSpPr>
            <p:cNvPr id="85" name="Line 252"/>
            <p:cNvSpPr>
              <a:spLocks noChangeShapeType="1"/>
            </p:cNvSpPr>
            <p:nvPr/>
          </p:nvSpPr>
          <p:spPr bwMode="auto">
            <a:xfrm flipV="1">
              <a:off x="6517258" y="5445618"/>
              <a:ext cx="12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53"/>
            <p:cNvSpPr>
              <a:spLocks noChangeShapeType="1"/>
            </p:cNvSpPr>
            <p:nvPr/>
          </p:nvSpPr>
          <p:spPr bwMode="auto">
            <a:xfrm flipV="1">
              <a:off x="6517258" y="5229594"/>
              <a:ext cx="1224000" cy="158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54"/>
            <p:cNvSpPr>
              <a:spLocks noChangeShapeType="1"/>
            </p:cNvSpPr>
            <p:nvPr/>
          </p:nvSpPr>
          <p:spPr bwMode="auto">
            <a:xfrm>
              <a:off x="6517258" y="5661642"/>
              <a:ext cx="12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55"/>
            <p:cNvSpPr>
              <a:spLocks noChangeShapeType="1"/>
            </p:cNvSpPr>
            <p:nvPr/>
          </p:nvSpPr>
          <p:spPr bwMode="auto">
            <a:xfrm flipV="1">
              <a:off x="6517258" y="4653530"/>
              <a:ext cx="122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318"/>
            <p:cNvSpPr txBox="1">
              <a:spLocks noChangeArrowheads="1"/>
            </p:cNvSpPr>
            <p:nvPr/>
          </p:nvSpPr>
          <p:spPr bwMode="auto">
            <a:xfrm>
              <a:off x="6947891" y="501359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0" name="Line 319"/>
            <p:cNvSpPr>
              <a:spLocks noChangeShapeType="1"/>
            </p:cNvSpPr>
            <p:nvPr/>
          </p:nvSpPr>
          <p:spPr bwMode="auto">
            <a:xfrm>
              <a:off x="6966941" y="5048205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321"/>
            <p:cNvSpPr txBox="1">
              <a:spLocks noChangeArrowheads="1"/>
            </p:cNvSpPr>
            <p:nvPr/>
          </p:nvSpPr>
          <p:spPr bwMode="auto">
            <a:xfrm>
              <a:off x="7017741" y="5445618"/>
              <a:ext cx="2889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2" name="Line 322"/>
            <p:cNvSpPr>
              <a:spLocks noChangeShapeType="1"/>
            </p:cNvSpPr>
            <p:nvPr/>
          </p:nvSpPr>
          <p:spPr bwMode="auto">
            <a:xfrm flipV="1">
              <a:off x="7028854" y="5476064"/>
              <a:ext cx="2317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324"/>
            <p:cNvSpPr txBox="1">
              <a:spLocks noChangeArrowheads="1"/>
            </p:cNvSpPr>
            <p:nvPr/>
          </p:nvSpPr>
          <p:spPr bwMode="auto">
            <a:xfrm>
              <a:off x="6947891" y="522188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4" name="Line 325"/>
            <p:cNvSpPr>
              <a:spLocks noChangeShapeType="1"/>
            </p:cNvSpPr>
            <p:nvPr/>
          </p:nvSpPr>
          <p:spPr bwMode="auto">
            <a:xfrm>
              <a:off x="6966941" y="5258457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237"/>
            <p:cNvSpPr txBox="1">
              <a:spLocks noChangeArrowheads="1"/>
            </p:cNvSpPr>
            <p:nvPr/>
          </p:nvSpPr>
          <p:spPr bwMode="auto">
            <a:xfrm>
              <a:off x="2771872" y="4941562"/>
              <a:ext cx="648000" cy="2880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DRAMC</a:t>
              </a:r>
            </a:p>
          </p:txBody>
        </p:sp>
        <p:sp>
          <p:nvSpPr>
            <p:cNvPr id="96" name="Text Box 335"/>
            <p:cNvSpPr txBox="1">
              <a:spLocks noChangeArrowheads="1"/>
            </p:cNvSpPr>
            <p:nvPr/>
          </p:nvSpPr>
          <p:spPr bwMode="auto">
            <a:xfrm>
              <a:off x="1260005" y="4509674"/>
              <a:ext cx="575691" cy="14400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97" name="Line 338"/>
            <p:cNvSpPr>
              <a:spLocks noChangeShapeType="1"/>
            </p:cNvSpPr>
            <p:nvPr/>
          </p:nvSpPr>
          <p:spPr bwMode="auto">
            <a:xfrm flipV="1">
              <a:off x="1835776" y="4797546"/>
              <a:ext cx="72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339"/>
            <p:cNvSpPr>
              <a:spLocks noChangeShapeType="1"/>
            </p:cNvSpPr>
            <p:nvPr/>
          </p:nvSpPr>
          <p:spPr bwMode="auto">
            <a:xfrm flipV="1">
              <a:off x="1835776" y="5294936"/>
              <a:ext cx="72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340"/>
            <p:cNvSpPr txBox="1">
              <a:spLocks noChangeArrowheads="1"/>
            </p:cNvSpPr>
            <p:nvPr/>
          </p:nvSpPr>
          <p:spPr bwMode="auto">
            <a:xfrm>
              <a:off x="1979768" y="4580653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</a:rPr>
                <a:t>地址</a:t>
              </a:r>
            </a:p>
          </p:txBody>
        </p:sp>
        <p:sp>
          <p:nvSpPr>
            <p:cNvPr id="100" name="Text Box 341"/>
            <p:cNvSpPr txBox="1">
              <a:spLocks noChangeArrowheads="1"/>
            </p:cNvSpPr>
            <p:nvPr/>
          </p:nvSpPr>
          <p:spPr bwMode="auto">
            <a:xfrm>
              <a:off x="1907768" y="5085602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</a:p>
          </p:txBody>
        </p:sp>
        <p:sp>
          <p:nvSpPr>
            <p:cNvPr id="121" name="Line 338"/>
            <p:cNvSpPr>
              <a:spLocks noChangeShapeType="1"/>
            </p:cNvSpPr>
            <p:nvPr/>
          </p:nvSpPr>
          <p:spPr bwMode="auto">
            <a:xfrm flipH="1" flipV="1">
              <a:off x="1835869" y="5877666"/>
              <a:ext cx="59040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240"/>
            <p:cNvSpPr txBox="1">
              <a:spLocks noChangeArrowheads="1"/>
            </p:cNvSpPr>
            <p:nvPr/>
          </p:nvSpPr>
          <p:spPr bwMode="auto">
            <a:xfrm>
              <a:off x="5725095" y="5157650"/>
              <a:ext cx="792163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定时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发生器</a:t>
              </a:r>
            </a:p>
          </p:txBody>
        </p:sp>
        <p:sp>
          <p:nvSpPr>
            <p:cNvPr id="130" name="Line 245"/>
            <p:cNvSpPr>
              <a:spLocks noChangeShapeType="1"/>
            </p:cNvSpPr>
            <p:nvPr/>
          </p:nvSpPr>
          <p:spPr bwMode="auto">
            <a:xfrm>
              <a:off x="5364128" y="5445618"/>
              <a:ext cx="360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248"/>
            <p:cNvSpPr>
              <a:spLocks noChangeShapeType="1"/>
            </p:cNvSpPr>
            <p:nvPr/>
          </p:nvSpPr>
          <p:spPr bwMode="auto">
            <a:xfrm flipV="1">
              <a:off x="6156176" y="4869586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336"/>
            <p:cNvSpPr txBox="1">
              <a:spLocks noChangeArrowheads="1"/>
            </p:cNvSpPr>
            <p:nvPr/>
          </p:nvSpPr>
          <p:spPr bwMode="auto">
            <a:xfrm>
              <a:off x="5724216" y="4365554"/>
              <a:ext cx="792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行列地址选择</a:t>
              </a:r>
            </a:p>
          </p:txBody>
        </p:sp>
        <p:sp>
          <p:nvSpPr>
            <p:cNvPr id="58" name="Line 243"/>
            <p:cNvSpPr>
              <a:spLocks noChangeShapeType="1"/>
            </p:cNvSpPr>
            <p:nvPr/>
          </p:nvSpPr>
          <p:spPr bwMode="auto">
            <a:xfrm>
              <a:off x="5364128" y="4581522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3" name="Text Box 231"/>
          <p:cNvSpPr txBox="1">
            <a:spLocks noChangeArrowheads="1"/>
          </p:cNvSpPr>
          <p:nvPr/>
        </p:nvSpPr>
        <p:spPr bwMode="auto">
          <a:xfrm>
            <a:off x="179388" y="332656"/>
            <a:ext cx="8785225" cy="12342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芯片刷新的实现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通常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zh-CN" altLang="en-US" sz="2200" b="1" dirty="0">
                <a:latin typeface="宋体" panose="02010600030101010101" pitchFamily="2" charset="-122"/>
              </a:rPr>
              <a:t>外部电路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实现，如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控制器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(DRAMC)</a:t>
            </a: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←产生刷新操作命令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←又称主存控制器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62" name="AutoShape 13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Text Box 330"/>
          <p:cNvSpPr txBox="1">
            <a:spLocks noChangeArrowheads="1"/>
          </p:cNvSpPr>
          <p:nvPr/>
        </p:nvSpPr>
        <p:spPr bwMode="auto">
          <a:xfrm>
            <a:off x="2771800" y="1484784"/>
            <a:ext cx="5544616" cy="25671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管理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对主存的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</a:t>
            </a:r>
            <a:r>
              <a:rPr lang="en-US" altLang="zh-CN" sz="22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latin typeface="宋体" panose="02010600030101010101" pitchFamily="2" charset="-122"/>
              </a:rPr>
              <a:t>刷新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</a:t>
            </a:r>
            <a:r>
              <a:rPr lang="en-US" altLang="zh-CN" sz="1800" u="none" dirty="0">
                <a:latin typeface="宋体" panose="02010600030101010101" pitchFamily="2" charset="-122"/>
              </a:rPr>
              <a:t>│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</a:t>
            </a:r>
            <a:r>
              <a:rPr lang="en-US" altLang="zh-CN" sz="1800" u="none" dirty="0">
                <a:latin typeface="宋体" panose="02010600030101010101" pitchFamily="2" charset="-122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常由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组成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u="none" dirty="0">
                <a:latin typeface="宋体" panose="02010600030101010101" pitchFamily="2" charset="-122"/>
              </a:rPr>
              <a:t>───┘</a:t>
            </a: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</a:t>
            </a:r>
            <a:r>
              <a:rPr lang="en-US" altLang="zh-CN" sz="1800" u="none" dirty="0">
                <a:latin typeface="宋体" panose="02010600030101010101" pitchFamily="2" charset="-122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如地址分</a:t>
            </a:r>
            <a:r>
              <a:rPr lang="en-US" altLang="zh-CN" sz="1800" b="1" u="none" dirty="0">
                <a:latin typeface="宋体" panose="02010600030101010101" pitchFamily="2" charset="-122"/>
              </a:rPr>
              <a:t>2</a:t>
            </a:r>
            <a:r>
              <a:rPr lang="zh-CN" altLang="en-US" sz="1800" b="1" u="none" dirty="0">
                <a:latin typeface="宋体" panose="02010600030101010101" pitchFamily="2" charset="-122"/>
              </a:rPr>
              <a:t>次发送等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sz="2200" b="1" u="none" dirty="0">
                <a:latin typeface="宋体" panose="02010600030101010101" pitchFamily="2" charset="-122"/>
              </a:rPr>
              <a:t>产生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初值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]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在系统启动时写入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定时器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刷新方式已固化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仲裁电路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刷新的优先级较高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cxnSp>
        <p:nvCxnSpPr>
          <p:cNvPr id="119" name="直接连接符 118"/>
          <p:cNvCxnSpPr/>
          <p:nvPr/>
        </p:nvCxnSpPr>
        <p:spPr bwMode="auto">
          <a:xfrm>
            <a:off x="4787875" y="4443384"/>
            <a:ext cx="576000" cy="7240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直接连接符 119"/>
          <p:cNvCxnSpPr/>
          <p:nvPr/>
        </p:nvCxnSpPr>
        <p:spPr bwMode="auto">
          <a:xfrm flipV="1">
            <a:off x="4788088" y="5379898"/>
            <a:ext cx="576000" cy="14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3" name="组合 122"/>
          <p:cNvGrpSpPr/>
          <p:nvPr/>
        </p:nvGrpSpPr>
        <p:grpSpPr>
          <a:xfrm>
            <a:off x="2554783" y="4299762"/>
            <a:ext cx="2809305" cy="1368152"/>
            <a:chOff x="2410394" y="3694344"/>
            <a:chExt cx="2809305" cy="1368152"/>
          </a:xfrm>
        </p:grpSpPr>
        <p:sp>
          <p:nvSpPr>
            <p:cNvPr id="124" name="Text Box 336"/>
            <p:cNvSpPr txBox="1">
              <a:spLocks noChangeArrowheads="1"/>
            </p:cNvSpPr>
            <p:nvPr/>
          </p:nvSpPr>
          <p:spPr bwMode="auto">
            <a:xfrm>
              <a:off x="4643699" y="3694344"/>
              <a:ext cx="57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多路开关</a:t>
              </a:r>
            </a:p>
          </p:txBody>
        </p:sp>
        <p:sp>
          <p:nvSpPr>
            <p:cNvPr id="125" name="Text Box 337"/>
            <p:cNvSpPr txBox="1">
              <a:spLocks noChangeArrowheads="1"/>
            </p:cNvSpPr>
            <p:nvPr/>
          </p:nvSpPr>
          <p:spPr bwMode="auto">
            <a:xfrm>
              <a:off x="4642419" y="4486496"/>
              <a:ext cx="576000" cy="57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仲裁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电路</a:t>
              </a:r>
            </a:p>
          </p:txBody>
        </p:sp>
        <p:sp>
          <p:nvSpPr>
            <p:cNvPr id="126" name="Line 338"/>
            <p:cNvSpPr>
              <a:spLocks noChangeShapeType="1"/>
            </p:cNvSpPr>
            <p:nvPr/>
          </p:nvSpPr>
          <p:spPr bwMode="auto">
            <a:xfrm flipV="1">
              <a:off x="2411387" y="4126392"/>
              <a:ext cx="223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339"/>
            <p:cNvSpPr>
              <a:spLocks noChangeShapeType="1"/>
            </p:cNvSpPr>
            <p:nvPr/>
          </p:nvSpPr>
          <p:spPr bwMode="auto">
            <a:xfrm flipV="1">
              <a:off x="2410394" y="4623782"/>
              <a:ext cx="22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48"/>
            <p:cNvSpPr>
              <a:spLocks noChangeShapeType="1"/>
            </p:cNvSpPr>
            <p:nvPr/>
          </p:nvSpPr>
          <p:spPr bwMode="auto">
            <a:xfrm flipV="1">
              <a:off x="4932931" y="4198432"/>
              <a:ext cx="0" cy="28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203984" y="4596396"/>
            <a:ext cx="2736176" cy="1071518"/>
            <a:chOff x="3203984" y="4783776"/>
            <a:chExt cx="2736176" cy="1071518"/>
          </a:xfrm>
        </p:grpSpPr>
        <p:sp>
          <p:nvSpPr>
            <p:cNvPr id="110" name="Text Box 242"/>
            <p:cNvSpPr txBox="1">
              <a:spLocks noChangeArrowheads="1"/>
            </p:cNvSpPr>
            <p:nvPr/>
          </p:nvSpPr>
          <p:spPr bwMode="auto">
            <a:xfrm>
              <a:off x="3203984" y="5567294"/>
              <a:ext cx="1224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/>
                <a:t>刷新定时器</a:t>
              </a:r>
            </a:p>
          </p:txBody>
        </p:sp>
        <p:sp>
          <p:nvSpPr>
            <p:cNvPr id="112" name="Line 249"/>
            <p:cNvSpPr>
              <a:spLocks noChangeShapeType="1"/>
            </p:cNvSpPr>
            <p:nvPr/>
          </p:nvSpPr>
          <p:spPr bwMode="auto">
            <a:xfrm flipV="1">
              <a:off x="5939779" y="5135230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50"/>
            <p:cNvSpPr>
              <a:spLocks noChangeShapeType="1"/>
            </p:cNvSpPr>
            <p:nvPr/>
          </p:nvSpPr>
          <p:spPr bwMode="auto">
            <a:xfrm flipV="1">
              <a:off x="3564160" y="5135214"/>
              <a:ext cx="237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51"/>
            <p:cNvSpPr>
              <a:spLocks noChangeShapeType="1"/>
            </p:cNvSpPr>
            <p:nvPr/>
          </p:nvSpPr>
          <p:spPr bwMode="auto">
            <a:xfrm flipV="1">
              <a:off x="3563888" y="4783776"/>
              <a:ext cx="0" cy="360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56"/>
            <p:cNvSpPr>
              <a:spLocks noChangeShapeType="1"/>
            </p:cNvSpPr>
            <p:nvPr/>
          </p:nvSpPr>
          <p:spPr bwMode="auto">
            <a:xfrm>
              <a:off x="4428024" y="571127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99984" y="4149080"/>
            <a:ext cx="5399905" cy="438682"/>
            <a:chOff x="2699984" y="3861048"/>
            <a:chExt cx="5399905" cy="438682"/>
          </a:xfrm>
        </p:grpSpPr>
        <p:sp>
          <p:nvSpPr>
            <p:cNvPr id="102" name="Text Box 238"/>
            <p:cNvSpPr txBox="1">
              <a:spLocks noChangeArrowheads="1"/>
            </p:cNvSpPr>
            <p:nvPr/>
          </p:nvSpPr>
          <p:spPr bwMode="auto">
            <a:xfrm>
              <a:off x="2699984" y="4011730"/>
              <a:ext cx="1728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/>
                <a:t>刷新地址计数器</a:t>
              </a:r>
            </a:p>
          </p:txBody>
        </p:sp>
        <p:sp>
          <p:nvSpPr>
            <p:cNvPr id="103" name="Line 243"/>
            <p:cNvSpPr>
              <a:spLocks noChangeShapeType="1"/>
            </p:cNvSpPr>
            <p:nvPr/>
          </p:nvSpPr>
          <p:spPr bwMode="auto">
            <a:xfrm>
              <a:off x="4428024" y="4155714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7" name="直接箭头连接符 54"/>
            <p:cNvCxnSpPr/>
            <p:nvPr/>
          </p:nvCxnSpPr>
          <p:spPr bwMode="auto">
            <a:xfrm rot="16200000" flipV="1">
              <a:off x="5687889" y="1737048"/>
              <a:ext cx="288000" cy="4536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9" name="直接箭头连接符 54"/>
            <p:cNvCxnSpPr/>
            <p:nvPr/>
          </p:nvCxnSpPr>
          <p:spPr bwMode="auto">
            <a:xfrm>
              <a:off x="3563888" y="386104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56" name="AutoShape 331"/>
          <p:cNvSpPr/>
          <p:nvPr/>
        </p:nvSpPr>
        <p:spPr bwMode="auto">
          <a:xfrm>
            <a:off x="2771800" y="5949280"/>
            <a:ext cx="2808312" cy="252000"/>
          </a:xfrm>
          <a:prstGeom prst="borderCallout2">
            <a:avLst>
              <a:gd name="adj1" fmla="val 50061"/>
              <a:gd name="adj2" fmla="val 82"/>
              <a:gd name="adj3" fmla="val 46199"/>
              <a:gd name="adj4" fmla="val -9551"/>
              <a:gd name="adj5" fmla="val -475253"/>
              <a:gd name="adj6" fmla="val -2271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一次性发送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不限制主存组成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E7F-3BA1-4EF9-A07E-BE39201A5FC2}" type="slidenum">
              <a:rPr lang="en-US" altLang="zh-CN"/>
              <a:t>25</a:t>
            </a:fld>
            <a:endParaRPr lang="en-US" altLang="zh-CN"/>
          </a:p>
        </p:txBody>
      </p:sp>
      <p:sp>
        <p:nvSpPr>
          <p:cNvPr id="441456" name="Text Box 112"/>
          <p:cNvSpPr txBox="1">
            <a:spLocks noChangeArrowheads="1"/>
          </p:cNvSpPr>
          <p:nvPr/>
        </p:nvSpPr>
        <p:spPr bwMode="auto">
          <a:xfrm>
            <a:off x="179388" y="332656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5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的比较</a:t>
            </a:r>
          </a:p>
        </p:txBody>
      </p:sp>
      <p:sp>
        <p:nvSpPr>
          <p:cNvPr id="6" name="Text Box 117"/>
          <p:cNvSpPr txBox="1">
            <a:spLocks noChangeArrowheads="1"/>
          </p:cNvSpPr>
          <p:nvPr/>
        </p:nvSpPr>
        <p:spPr bwMode="auto">
          <a:xfrm>
            <a:off x="971477" y="5950441"/>
            <a:ext cx="3384499" cy="430887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3-1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u="none" dirty="0">
                <a:latin typeface="宋体" panose="02010600030101010101" pitchFamily="2" charset="-122"/>
              </a:rPr>
              <a:t>P137—3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6</a:t>
            </a:r>
          </a:p>
        </p:txBody>
      </p:sp>
      <p:sp>
        <p:nvSpPr>
          <p:cNvPr id="7" name="Text Box 232"/>
          <p:cNvSpPr txBox="1">
            <a:spLocks noChangeArrowheads="1"/>
          </p:cNvSpPr>
          <p:nvPr/>
        </p:nvSpPr>
        <p:spPr bwMode="auto">
          <a:xfrm>
            <a:off x="971600" y="4005064"/>
            <a:ext cx="6912000" cy="102323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tIns="46800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提醒：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学以致用→</a:t>
            </a:r>
            <a:r>
              <a:rPr lang="zh-CN" altLang="en-US" sz="2200" u="none" dirty="0">
                <a:latin typeface="宋体" panose="02010600030101010101" pitchFamily="2" charset="-122"/>
              </a:rPr>
              <a:t>┬</a:t>
            </a:r>
            <a:r>
              <a:rPr lang="zh-CN" altLang="en-US" sz="2200" b="1" u="none" dirty="0">
                <a:latin typeface="宋体" panose="02010600030101010101" pitchFamily="2" charset="-122"/>
              </a:rPr>
              <a:t>←目标是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主存的设计</a:t>
            </a:r>
            <a:r>
              <a:rPr lang="en-US" altLang="zh-CN" sz="22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操作控制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           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 </a:t>
            </a:r>
            <a:r>
              <a:rPr lang="zh-CN" altLang="en-US" sz="2000" u="none" dirty="0">
                <a:latin typeface="宋体" panose="02010600030101010101" pitchFamily="2" charset="-122"/>
              </a:rPr>
              <a:t>↓</a:t>
            </a:r>
            <a:endParaRPr lang="en-US" altLang="zh-CN" sz="2000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掌握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的引脚组织、操作信号时序！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79513" y="836712"/>
            <a:ext cx="4968552" cy="3034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*DRAM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的特点：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</a:rPr>
              <a:t>相对于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优点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缺点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*RAM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的应用：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 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SRAM—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+mn-ea"/>
                <a:ea typeface="+mn-ea"/>
              </a:rPr>
              <a:t>    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DRAM—</a:t>
            </a:r>
            <a:endParaRPr lang="zh-CN" altLang="en-US" sz="2200" b="1" u="none" dirty="0">
              <a:latin typeface="+mn-ea"/>
              <a:ea typeface="+mn-ea"/>
            </a:endParaRPr>
          </a:p>
        </p:txBody>
      </p:sp>
      <p:sp>
        <p:nvSpPr>
          <p:cNvPr id="10" name="Text Box 116"/>
          <p:cNvSpPr txBox="1">
            <a:spLocks noChangeArrowheads="1"/>
          </p:cNvSpPr>
          <p:nvPr/>
        </p:nvSpPr>
        <p:spPr bwMode="auto">
          <a:xfrm>
            <a:off x="1619672" y="1268760"/>
            <a:ext cx="5832772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存储元的元件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少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，地址引脚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减半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集成度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高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、功耗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低</a:t>
            </a:r>
            <a:r>
              <a:rPr lang="en-US" altLang="zh-CN" sz="1800" b="1" u="none" dirty="0">
                <a:latin typeface="宋体" panose="02010600030101010101" pitchFamily="2" charset="-122"/>
              </a:rPr>
              <a:t>(1/4)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、成本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低</a:t>
            </a:r>
            <a:r>
              <a:rPr lang="en-US" altLang="zh-CN" sz="1800" b="1" u="none" dirty="0">
                <a:latin typeface="宋体" panose="02010600030101010101" pitchFamily="2" charset="-122"/>
              </a:rPr>
              <a:t>(1/100)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速度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慢</a:t>
            </a:r>
            <a:r>
              <a:rPr lang="en-US" altLang="zh-CN" sz="1800" b="1" u="none" dirty="0">
                <a:latin typeface="宋体" panose="02010600030101010101" pitchFamily="2" charset="-122"/>
              </a:rPr>
              <a:t>(1/10)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使用电容所致</a:t>
            </a:r>
          </a:p>
        </p:txBody>
      </p:sp>
      <p:sp>
        <p:nvSpPr>
          <p:cNvPr id="11" name="Text Box 115"/>
          <p:cNvSpPr txBox="1">
            <a:spLocks noChangeArrowheads="1"/>
          </p:cNvSpPr>
          <p:nvPr/>
        </p:nvSpPr>
        <p:spPr bwMode="auto">
          <a:xfrm>
            <a:off x="1619672" y="2996952"/>
            <a:ext cx="590478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高速度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容量不大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，如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大容量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速度一般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，如主存</a:t>
            </a:r>
          </a:p>
        </p:txBody>
      </p:sp>
      <p:sp>
        <p:nvSpPr>
          <p:cNvPr id="12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26</a:t>
            </a:fld>
            <a:endParaRPr lang="en-US" altLang="zh-CN" dirty="0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323528" y="332656"/>
            <a:ext cx="8496944" cy="4417556"/>
          </a:xfrm>
          <a:prstGeom prst="rect">
            <a:avLst/>
          </a:prstGeom>
          <a:noFill/>
          <a:ln w="12700">
            <a:noFill/>
            <a:prstDash val="sysDash"/>
          </a:ln>
        </p:spPr>
        <p:txBody>
          <a:bodyPr vert="horz" wrap="square" bIns="0" rtlCol="0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※</a:t>
            </a:r>
            <a:r>
              <a:rPr lang="zh-CN" altLang="en-US" b="1" u="none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本小节课堂练习： </a:t>
            </a:r>
            <a:endParaRPr lang="en-US" altLang="zh-CN" b="1" u="none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u="none" dirty="0"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en-US" altLang="zh-CN" sz="2000" b="1" u="none" dirty="0">
                <a:latin typeface="+mn-ea"/>
                <a:ea typeface="+mn-ea"/>
                <a:sym typeface="微软雅黑" panose="020B0503020204020204" charset="-122"/>
              </a:rPr>
              <a:t>1</a:t>
            </a:r>
            <a:r>
              <a:rPr lang="zh-CN" altLang="en-US" sz="2000" b="1" u="none" dirty="0"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1M×4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位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SRAM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芯片的引脚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(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电源除外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至少为</a:t>
            </a:r>
            <a:endParaRPr lang="en-US" altLang="zh-CN" sz="20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  A. 24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根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25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26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D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27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</a:t>
            </a:r>
            <a:endParaRPr lang="en-US" altLang="zh-CN" sz="2000" b="1" u="none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804863" indent="-804863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2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、访问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RAM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时，若地址、命令的信号发送都与时钟信号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CLK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同步，则下列选项中，最优的实现方法是</a:t>
            </a:r>
            <a:endParaRPr lang="en-US" altLang="zh-CN" sz="20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3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1M×4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位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DRAM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芯片的引脚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(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电源除外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)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至少为</a:t>
            </a:r>
            <a:endParaRPr lang="en-US" altLang="zh-CN" sz="20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 A. 14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15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C.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16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D.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17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</a:t>
            </a:r>
            <a:endParaRPr lang="en-US" altLang="zh-CN" sz="2000" b="1" u="none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892175" indent="-892175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4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CPU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通过总线连接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SRAM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，读</a:t>
            </a:r>
            <a:r>
              <a:rPr lang="en-US" altLang="zh-CN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SRAM</a:t>
            </a:r>
            <a:r>
              <a:rPr lang="zh-CN" altLang="en-US" sz="20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的信号时序如下图，指出错误点</a:t>
            </a:r>
            <a:endParaRPr lang="en-US" altLang="zh-CN" sz="2000" b="1" u="none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7401" y="2437592"/>
            <a:ext cx="7159015" cy="1082439"/>
            <a:chOff x="1157401" y="2634593"/>
            <a:chExt cx="7159015" cy="1082439"/>
          </a:xfrm>
        </p:grpSpPr>
        <p:sp>
          <p:nvSpPr>
            <p:cNvPr id="96" name="Line 227"/>
            <p:cNvSpPr>
              <a:spLocks noChangeShapeType="1"/>
            </p:cNvSpPr>
            <p:nvPr/>
          </p:nvSpPr>
          <p:spPr bwMode="auto">
            <a:xfrm>
              <a:off x="2461911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230"/>
            <p:cNvSpPr>
              <a:spLocks noChangeShapeType="1"/>
            </p:cNvSpPr>
            <p:nvPr/>
          </p:nvSpPr>
          <p:spPr bwMode="auto">
            <a:xfrm flipH="1">
              <a:off x="2244298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231"/>
            <p:cNvSpPr>
              <a:spLocks noChangeShapeType="1"/>
            </p:cNvSpPr>
            <p:nvPr/>
          </p:nvSpPr>
          <p:spPr bwMode="auto">
            <a:xfrm>
              <a:off x="3614039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235"/>
            <p:cNvSpPr txBox="1">
              <a:spLocks noChangeArrowheads="1"/>
            </p:cNvSpPr>
            <p:nvPr/>
          </p:nvSpPr>
          <p:spPr bwMode="auto">
            <a:xfrm>
              <a:off x="1619672" y="2634593"/>
              <a:ext cx="554207" cy="10824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CLK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A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9</a:t>
              </a:r>
              <a:r>
                <a:rPr lang="en-US" altLang="zh-CN" sz="1600" b="1" u="none" dirty="0">
                  <a:latin typeface="+mn-lt"/>
                  <a:ea typeface="+mn-ea"/>
                </a:rPr>
                <a:t>~</a:t>
              </a:r>
              <a:r>
                <a:rPr lang="en-US" altLang="zh-CN" sz="1600" b="1" u="none" dirty="0">
                  <a:latin typeface="+mn-ea"/>
                  <a:ea typeface="+mn-ea"/>
                </a:rPr>
                <a:t>A</a:t>
              </a:r>
              <a:r>
                <a:rPr lang="en-US" altLang="zh-CN" sz="1600" b="1" u="none" baseline="-18000" dirty="0">
                  <a:latin typeface="+mn-ea"/>
                  <a:ea typeface="+mn-ea"/>
                </a:rPr>
                <a:t>0</a:t>
              </a:r>
              <a:endParaRPr lang="zh-CN" altLang="en-US" sz="1600" b="1" u="none" baseline="-18000" dirty="0">
                <a:latin typeface="+mn-ea"/>
                <a:ea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CS</a:t>
              </a:r>
              <a:endParaRPr lang="zh-CN" altLang="en-US" sz="1600" b="1" u="none" dirty="0">
                <a:latin typeface="+mn-ea"/>
                <a:ea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WE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00" name="Line 236"/>
            <p:cNvSpPr>
              <a:spLocks noChangeShapeType="1"/>
            </p:cNvSpPr>
            <p:nvPr/>
          </p:nvSpPr>
          <p:spPr bwMode="auto">
            <a:xfrm>
              <a:off x="2174449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43"/>
            <p:cNvSpPr>
              <a:spLocks noChangeShapeType="1"/>
            </p:cNvSpPr>
            <p:nvPr/>
          </p:nvSpPr>
          <p:spPr bwMode="auto">
            <a:xfrm>
              <a:off x="2151451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44"/>
            <p:cNvSpPr>
              <a:spLocks noChangeShapeType="1"/>
            </p:cNvSpPr>
            <p:nvPr/>
          </p:nvSpPr>
          <p:spPr bwMode="auto">
            <a:xfrm>
              <a:off x="2353827" y="3426681"/>
              <a:ext cx="115272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55"/>
            <p:cNvSpPr>
              <a:spLocks noChangeShapeType="1"/>
            </p:cNvSpPr>
            <p:nvPr/>
          </p:nvSpPr>
          <p:spPr bwMode="auto">
            <a:xfrm flipV="1">
              <a:off x="3747762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AutoShape 299"/>
            <p:cNvSpPr>
              <a:spLocks noChangeArrowheads="1"/>
            </p:cNvSpPr>
            <p:nvPr/>
          </p:nvSpPr>
          <p:spPr bwMode="auto">
            <a:xfrm>
              <a:off x="2246406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Text Box 300"/>
            <p:cNvSpPr txBox="1">
              <a:spLocks noChangeArrowheads="1"/>
            </p:cNvSpPr>
            <p:nvPr/>
          </p:nvSpPr>
          <p:spPr bwMode="auto">
            <a:xfrm>
              <a:off x="2678753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</a:p>
          </p:txBody>
        </p:sp>
        <p:sp>
          <p:nvSpPr>
            <p:cNvPr id="106" name="Line 234"/>
            <p:cNvSpPr>
              <a:spLocks noChangeShapeType="1"/>
            </p:cNvSpPr>
            <p:nvPr/>
          </p:nvSpPr>
          <p:spPr bwMode="auto">
            <a:xfrm flipV="1">
              <a:off x="2461911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39"/>
            <p:cNvSpPr>
              <a:spLocks noChangeShapeType="1"/>
            </p:cNvSpPr>
            <p:nvPr/>
          </p:nvSpPr>
          <p:spPr bwMode="auto">
            <a:xfrm>
              <a:off x="2174449" y="2850616"/>
              <a:ext cx="714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40"/>
            <p:cNvSpPr>
              <a:spLocks noChangeShapeType="1"/>
            </p:cNvSpPr>
            <p:nvPr/>
          </p:nvSpPr>
          <p:spPr bwMode="auto">
            <a:xfrm flipH="1" flipV="1">
              <a:off x="2245887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41"/>
            <p:cNvSpPr>
              <a:spLocks noChangeShapeType="1"/>
            </p:cNvSpPr>
            <p:nvPr/>
          </p:nvSpPr>
          <p:spPr bwMode="auto">
            <a:xfrm flipV="1">
              <a:off x="2245887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45"/>
            <p:cNvSpPr>
              <a:spLocks noChangeShapeType="1"/>
            </p:cNvSpPr>
            <p:nvPr/>
          </p:nvSpPr>
          <p:spPr bwMode="auto">
            <a:xfrm flipV="1">
              <a:off x="3506547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41"/>
            <p:cNvSpPr>
              <a:spLocks noChangeShapeType="1"/>
            </p:cNvSpPr>
            <p:nvPr/>
          </p:nvSpPr>
          <p:spPr bwMode="auto">
            <a:xfrm flipV="1">
              <a:off x="2461911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34"/>
            <p:cNvSpPr>
              <a:spLocks noChangeShapeType="1"/>
            </p:cNvSpPr>
            <p:nvPr/>
          </p:nvSpPr>
          <p:spPr bwMode="auto">
            <a:xfrm flipV="1">
              <a:off x="2893959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40"/>
            <p:cNvSpPr>
              <a:spLocks noChangeShapeType="1"/>
            </p:cNvSpPr>
            <p:nvPr/>
          </p:nvSpPr>
          <p:spPr bwMode="auto">
            <a:xfrm flipH="1" flipV="1">
              <a:off x="2677935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41"/>
            <p:cNvSpPr>
              <a:spLocks noChangeShapeType="1"/>
            </p:cNvSpPr>
            <p:nvPr/>
          </p:nvSpPr>
          <p:spPr bwMode="auto">
            <a:xfrm flipV="1">
              <a:off x="2677935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41"/>
            <p:cNvSpPr>
              <a:spLocks noChangeShapeType="1"/>
            </p:cNvSpPr>
            <p:nvPr/>
          </p:nvSpPr>
          <p:spPr bwMode="auto">
            <a:xfrm flipV="1">
              <a:off x="2893959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45"/>
            <p:cNvSpPr>
              <a:spLocks noChangeShapeType="1"/>
            </p:cNvSpPr>
            <p:nvPr/>
          </p:nvSpPr>
          <p:spPr bwMode="auto">
            <a:xfrm flipH="1" flipV="1">
              <a:off x="2245887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43"/>
            <p:cNvSpPr>
              <a:spLocks noChangeShapeType="1"/>
            </p:cNvSpPr>
            <p:nvPr/>
          </p:nvSpPr>
          <p:spPr bwMode="auto">
            <a:xfrm>
              <a:off x="3614039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43"/>
            <p:cNvSpPr>
              <a:spLocks noChangeShapeType="1"/>
            </p:cNvSpPr>
            <p:nvPr/>
          </p:nvSpPr>
          <p:spPr bwMode="auto">
            <a:xfrm>
              <a:off x="2150930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44"/>
            <p:cNvSpPr>
              <a:spLocks noChangeShapeType="1"/>
            </p:cNvSpPr>
            <p:nvPr/>
          </p:nvSpPr>
          <p:spPr bwMode="auto">
            <a:xfrm>
              <a:off x="2349585" y="3714713"/>
              <a:ext cx="115696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45"/>
            <p:cNvSpPr>
              <a:spLocks noChangeShapeType="1"/>
            </p:cNvSpPr>
            <p:nvPr/>
          </p:nvSpPr>
          <p:spPr bwMode="auto">
            <a:xfrm flipV="1">
              <a:off x="3508834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45"/>
            <p:cNvSpPr>
              <a:spLocks noChangeShapeType="1"/>
            </p:cNvSpPr>
            <p:nvPr/>
          </p:nvSpPr>
          <p:spPr bwMode="auto">
            <a:xfrm flipH="1" flipV="1">
              <a:off x="2247501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43"/>
            <p:cNvSpPr>
              <a:spLocks noChangeShapeType="1"/>
            </p:cNvSpPr>
            <p:nvPr/>
          </p:nvSpPr>
          <p:spPr bwMode="auto">
            <a:xfrm>
              <a:off x="3614039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30"/>
            <p:cNvSpPr>
              <a:spLocks noChangeShapeType="1"/>
            </p:cNvSpPr>
            <p:nvPr/>
          </p:nvSpPr>
          <p:spPr bwMode="auto">
            <a:xfrm>
              <a:off x="2677934" y="2850617"/>
              <a:ext cx="818" cy="86409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27"/>
            <p:cNvSpPr>
              <a:spLocks noChangeShapeType="1"/>
            </p:cNvSpPr>
            <p:nvPr/>
          </p:nvSpPr>
          <p:spPr bwMode="auto">
            <a:xfrm>
              <a:off x="2893959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27"/>
            <p:cNvSpPr>
              <a:spLocks noChangeShapeType="1"/>
            </p:cNvSpPr>
            <p:nvPr/>
          </p:nvSpPr>
          <p:spPr bwMode="auto">
            <a:xfrm>
              <a:off x="4716016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30"/>
            <p:cNvSpPr>
              <a:spLocks noChangeShapeType="1"/>
            </p:cNvSpPr>
            <p:nvPr/>
          </p:nvSpPr>
          <p:spPr bwMode="auto">
            <a:xfrm flipH="1">
              <a:off x="4497883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31"/>
            <p:cNvSpPr>
              <a:spLocks noChangeShapeType="1"/>
            </p:cNvSpPr>
            <p:nvPr/>
          </p:nvSpPr>
          <p:spPr bwMode="auto">
            <a:xfrm>
              <a:off x="5868144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36"/>
            <p:cNvSpPr>
              <a:spLocks noChangeShapeType="1"/>
            </p:cNvSpPr>
            <p:nvPr/>
          </p:nvSpPr>
          <p:spPr bwMode="auto">
            <a:xfrm>
              <a:off x="4428554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43"/>
            <p:cNvSpPr>
              <a:spLocks noChangeShapeType="1"/>
            </p:cNvSpPr>
            <p:nvPr/>
          </p:nvSpPr>
          <p:spPr bwMode="auto">
            <a:xfrm>
              <a:off x="4405556" y="3210657"/>
              <a:ext cx="31046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44"/>
            <p:cNvSpPr>
              <a:spLocks noChangeShapeType="1"/>
            </p:cNvSpPr>
            <p:nvPr/>
          </p:nvSpPr>
          <p:spPr bwMode="auto">
            <a:xfrm>
              <a:off x="4825121" y="3426681"/>
              <a:ext cx="9355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255"/>
            <p:cNvSpPr>
              <a:spLocks noChangeShapeType="1"/>
            </p:cNvSpPr>
            <p:nvPr/>
          </p:nvSpPr>
          <p:spPr bwMode="auto">
            <a:xfrm flipV="1">
              <a:off x="6001867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AutoShape 299"/>
            <p:cNvSpPr>
              <a:spLocks noChangeArrowheads="1"/>
            </p:cNvSpPr>
            <p:nvPr/>
          </p:nvSpPr>
          <p:spPr bwMode="auto">
            <a:xfrm>
              <a:off x="4500511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Text Box 300"/>
            <p:cNvSpPr txBox="1">
              <a:spLocks noChangeArrowheads="1"/>
            </p:cNvSpPr>
            <p:nvPr/>
          </p:nvSpPr>
          <p:spPr bwMode="auto">
            <a:xfrm>
              <a:off x="4932858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4716016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39"/>
            <p:cNvSpPr>
              <a:spLocks noChangeShapeType="1"/>
            </p:cNvSpPr>
            <p:nvPr/>
          </p:nvSpPr>
          <p:spPr bwMode="auto">
            <a:xfrm>
              <a:off x="4428554" y="2850616"/>
              <a:ext cx="714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40"/>
            <p:cNvSpPr>
              <a:spLocks noChangeShapeType="1"/>
            </p:cNvSpPr>
            <p:nvPr/>
          </p:nvSpPr>
          <p:spPr bwMode="auto">
            <a:xfrm flipH="1" flipV="1">
              <a:off x="4499992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241"/>
            <p:cNvSpPr>
              <a:spLocks noChangeShapeType="1"/>
            </p:cNvSpPr>
            <p:nvPr/>
          </p:nvSpPr>
          <p:spPr bwMode="auto">
            <a:xfrm flipV="1">
              <a:off x="4499992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245"/>
            <p:cNvSpPr>
              <a:spLocks noChangeShapeType="1"/>
            </p:cNvSpPr>
            <p:nvPr/>
          </p:nvSpPr>
          <p:spPr bwMode="auto">
            <a:xfrm flipV="1">
              <a:off x="5760652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241"/>
            <p:cNvSpPr>
              <a:spLocks noChangeShapeType="1"/>
            </p:cNvSpPr>
            <p:nvPr/>
          </p:nvSpPr>
          <p:spPr bwMode="auto">
            <a:xfrm flipV="1">
              <a:off x="4716016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234"/>
            <p:cNvSpPr>
              <a:spLocks noChangeShapeType="1"/>
            </p:cNvSpPr>
            <p:nvPr/>
          </p:nvSpPr>
          <p:spPr bwMode="auto">
            <a:xfrm flipV="1">
              <a:off x="5148064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40"/>
            <p:cNvSpPr>
              <a:spLocks noChangeShapeType="1"/>
            </p:cNvSpPr>
            <p:nvPr/>
          </p:nvSpPr>
          <p:spPr bwMode="auto">
            <a:xfrm flipH="1" flipV="1">
              <a:off x="4932040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41"/>
            <p:cNvSpPr>
              <a:spLocks noChangeShapeType="1"/>
            </p:cNvSpPr>
            <p:nvPr/>
          </p:nvSpPr>
          <p:spPr bwMode="auto">
            <a:xfrm flipV="1">
              <a:off x="4932040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41"/>
            <p:cNvSpPr>
              <a:spLocks noChangeShapeType="1"/>
            </p:cNvSpPr>
            <p:nvPr/>
          </p:nvSpPr>
          <p:spPr bwMode="auto">
            <a:xfrm flipV="1">
              <a:off x="5148064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245"/>
            <p:cNvSpPr>
              <a:spLocks noChangeShapeType="1"/>
            </p:cNvSpPr>
            <p:nvPr/>
          </p:nvSpPr>
          <p:spPr bwMode="auto">
            <a:xfrm flipH="1" flipV="1">
              <a:off x="4716016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243"/>
            <p:cNvSpPr>
              <a:spLocks noChangeShapeType="1"/>
            </p:cNvSpPr>
            <p:nvPr/>
          </p:nvSpPr>
          <p:spPr bwMode="auto">
            <a:xfrm>
              <a:off x="5868144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43"/>
            <p:cNvSpPr>
              <a:spLocks noChangeShapeType="1"/>
            </p:cNvSpPr>
            <p:nvPr/>
          </p:nvSpPr>
          <p:spPr bwMode="auto">
            <a:xfrm>
              <a:off x="4405035" y="3498689"/>
              <a:ext cx="31098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44"/>
            <p:cNvSpPr>
              <a:spLocks noChangeShapeType="1"/>
            </p:cNvSpPr>
            <p:nvPr/>
          </p:nvSpPr>
          <p:spPr bwMode="auto">
            <a:xfrm>
              <a:off x="4823506" y="3714713"/>
              <a:ext cx="9371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45"/>
            <p:cNvSpPr>
              <a:spLocks noChangeShapeType="1"/>
            </p:cNvSpPr>
            <p:nvPr/>
          </p:nvSpPr>
          <p:spPr bwMode="auto">
            <a:xfrm flipV="1">
              <a:off x="5762939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245"/>
            <p:cNvSpPr>
              <a:spLocks noChangeShapeType="1"/>
            </p:cNvSpPr>
            <p:nvPr/>
          </p:nvSpPr>
          <p:spPr bwMode="auto">
            <a:xfrm flipH="1" flipV="1">
              <a:off x="4717630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43"/>
            <p:cNvSpPr>
              <a:spLocks noChangeShapeType="1"/>
            </p:cNvSpPr>
            <p:nvPr/>
          </p:nvSpPr>
          <p:spPr bwMode="auto">
            <a:xfrm>
              <a:off x="5868144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30"/>
            <p:cNvSpPr>
              <a:spLocks noChangeShapeType="1"/>
            </p:cNvSpPr>
            <p:nvPr/>
          </p:nvSpPr>
          <p:spPr bwMode="auto">
            <a:xfrm flipH="1">
              <a:off x="4930984" y="2850617"/>
              <a:ext cx="1055" cy="86409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27"/>
            <p:cNvSpPr>
              <a:spLocks noChangeShapeType="1"/>
            </p:cNvSpPr>
            <p:nvPr/>
          </p:nvSpPr>
          <p:spPr bwMode="auto">
            <a:xfrm>
              <a:off x="5148064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27"/>
            <p:cNvSpPr>
              <a:spLocks noChangeShapeType="1"/>
            </p:cNvSpPr>
            <p:nvPr/>
          </p:nvSpPr>
          <p:spPr bwMode="auto">
            <a:xfrm>
              <a:off x="6948264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30"/>
            <p:cNvSpPr>
              <a:spLocks noChangeShapeType="1"/>
            </p:cNvSpPr>
            <p:nvPr/>
          </p:nvSpPr>
          <p:spPr bwMode="auto">
            <a:xfrm flipH="1">
              <a:off x="6730131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31"/>
            <p:cNvSpPr>
              <a:spLocks noChangeShapeType="1"/>
            </p:cNvSpPr>
            <p:nvPr/>
          </p:nvSpPr>
          <p:spPr bwMode="auto">
            <a:xfrm>
              <a:off x="8100392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36"/>
            <p:cNvSpPr>
              <a:spLocks noChangeShapeType="1"/>
            </p:cNvSpPr>
            <p:nvPr/>
          </p:nvSpPr>
          <p:spPr bwMode="auto">
            <a:xfrm>
              <a:off x="6660802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43"/>
            <p:cNvSpPr>
              <a:spLocks noChangeShapeType="1"/>
            </p:cNvSpPr>
            <p:nvPr/>
          </p:nvSpPr>
          <p:spPr bwMode="auto">
            <a:xfrm>
              <a:off x="6637804" y="3210657"/>
              <a:ext cx="52542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44"/>
            <p:cNvSpPr>
              <a:spLocks noChangeShapeType="1"/>
            </p:cNvSpPr>
            <p:nvPr/>
          </p:nvSpPr>
          <p:spPr bwMode="auto">
            <a:xfrm>
              <a:off x="7271778" y="3426681"/>
              <a:ext cx="72112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55"/>
            <p:cNvSpPr>
              <a:spLocks noChangeShapeType="1"/>
            </p:cNvSpPr>
            <p:nvPr/>
          </p:nvSpPr>
          <p:spPr bwMode="auto">
            <a:xfrm flipV="1">
              <a:off x="8234115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AutoShape 299"/>
            <p:cNvSpPr>
              <a:spLocks noChangeArrowheads="1"/>
            </p:cNvSpPr>
            <p:nvPr/>
          </p:nvSpPr>
          <p:spPr bwMode="auto">
            <a:xfrm>
              <a:off x="6732759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Text Box 300"/>
            <p:cNvSpPr txBox="1">
              <a:spLocks noChangeArrowheads="1"/>
            </p:cNvSpPr>
            <p:nvPr/>
          </p:nvSpPr>
          <p:spPr bwMode="auto">
            <a:xfrm>
              <a:off x="7165106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</a:p>
          </p:txBody>
        </p:sp>
        <p:sp>
          <p:nvSpPr>
            <p:cNvPr id="162" name="Line 234"/>
            <p:cNvSpPr>
              <a:spLocks noChangeShapeType="1"/>
            </p:cNvSpPr>
            <p:nvPr/>
          </p:nvSpPr>
          <p:spPr bwMode="auto">
            <a:xfrm flipV="1">
              <a:off x="6948264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39"/>
            <p:cNvSpPr>
              <a:spLocks noChangeShapeType="1"/>
            </p:cNvSpPr>
            <p:nvPr/>
          </p:nvSpPr>
          <p:spPr bwMode="auto">
            <a:xfrm>
              <a:off x="6660802" y="2850616"/>
              <a:ext cx="7143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240"/>
            <p:cNvSpPr>
              <a:spLocks noChangeShapeType="1"/>
            </p:cNvSpPr>
            <p:nvPr/>
          </p:nvSpPr>
          <p:spPr bwMode="auto">
            <a:xfrm flipH="1" flipV="1">
              <a:off x="6732240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241"/>
            <p:cNvSpPr>
              <a:spLocks noChangeShapeType="1"/>
            </p:cNvSpPr>
            <p:nvPr/>
          </p:nvSpPr>
          <p:spPr bwMode="auto">
            <a:xfrm flipV="1">
              <a:off x="6732240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45"/>
            <p:cNvSpPr>
              <a:spLocks noChangeShapeType="1"/>
            </p:cNvSpPr>
            <p:nvPr/>
          </p:nvSpPr>
          <p:spPr bwMode="auto">
            <a:xfrm flipV="1">
              <a:off x="7992900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41"/>
            <p:cNvSpPr>
              <a:spLocks noChangeShapeType="1"/>
            </p:cNvSpPr>
            <p:nvPr/>
          </p:nvSpPr>
          <p:spPr bwMode="auto">
            <a:xfrm flipV="1">
              <a:off x="6948264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234"/>
            <p:cNvSpPr>
              <a:spLocks noChangeShapeType="1"/>
            </p:cNvSpPr>
            <p:nvPr/>
          </p:nvSpPr>
          <p:spPr bwMode="auto">
            <a:xfrm flipV="1">
              <a:off x="7380312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40"/>
            <p:cNvSpPr>
              <a:spLocks noChangeShapeType="1"/>
            </p:cNvSpPr>
            <p:nvPr/>
          </p:nvSpPr>
          <p:spPr bwMode="auto">
            <a:xfrm flipH="1" flipV="1">
              <a:off x="7164288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41"/>
            <p:cNvSpPr>
              <a:spLocks noChangeShapeType="1"/>
            </p:cNvSpPr>
            <p:nvPr/>
          </p:nvSpPr>
          <p:spPr bwMode="auto">
            <a:xfrm flipV="1">
              <a:off x="7164288" y="2640942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241"/>
            <p:cNvSpPr>
              <a:spLocks noChangeShapeType="1"/>
            </p:cNvSpPr>
            <p:nvPr/>
          </p:nvSpPr>
          <p:spPr bwMode="auto">
            <a:xfrm flipV="1">
              <a:off x="7380312" y="2850617"/>
              <a:ext cx="21602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245"/>
            <p:cNvSpPr>
              <a:spLocks noChangeShapeType="1"/>
            </p:cNvSpPr>
            <p:nvPr/>
          </p:nvSpPr>
          <p:spPr bwMode="auto">
            <a:xfrm flipH="1" flipV="1">
              <a:off x="7164288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43"/>
            <p:cNvSpPr>
              <a:spLocks noChangeShapeType="1"/>
            </p:cNvSpPr>
            <p:nvPr/>
          </p:nvSpPr>
          <p:spPr bwMode="auto">
            <a:xfrm>
              <a:off x="8100392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243"/>
            <p:cNvSpPr>
              <a:spLocks noChangeShapeType="1"/>
            </p:cNvSpPr>
            <p:nvPr/>
          </p:nvSpPr>
          <p:spPr bwMode="auto">
            <a:xfrm>
              <a:off x="6637283" y="3498689"/>
              <a:ext cx="525950" cy="231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244"/>
            <p:cNvSpPr>
              <a:spLocks noChangeShapeType="1"/>
            </p:cNvSpPr>
            <p:nvPr/>
          </p:nvSpPr>
          <p:spPr bwMode="auto">
            <a:xfrm>
              <a:off x="7272300" y="3714713"/>
              <a:ext cx="7206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45"/>
            <p:cNvSpPr>
              <a:spLocks noChangeShapeType="1"/>
            </p:cNvSpPr>
            <p:nvPr/>
          </p:nvSpPr>
          <p:spPr bwMode="auto">
            <a:xfrm flipV="1">
              <a:off x="7995187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45"/>
            <p:cNvSpPr>
              <a:spLocks noChangeShapeType="1"/>
            </p:cNvSpPr>
            <p:nvPr/>
          </p:nvSpPr>
          <p:spPr bwMode="auto">
            <a:xfrm flipH="1" flipV="1">
              <a:off x="7165902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43"/>
            <p:cNvSpPr>
              <a:spLocks noChangeShapeType="1"/>
            </p:cNvSpPr>
            <p:nvPr/>
          </p:nvSpPr>
          <p:spPr bwMode="auto">
            <a:xfrm>
              <a:off x="8100392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0"/>
            <p:cNvSpPr>
              <a:spLocks noChangeShapeType="1"/>
            </p:cNvSpPr>
            <p:nvPr/>
          </p:nvSpPr>
          <p:spPr bwMode="auto">
            <a:xfrm>
              <a:off x="7164287" y="2850616"/>
              <a:ext cx="818" cy="86641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227"/>
            <p:cNvSpPr>
              <a:spLocks noChangeShapeType="1"/>
            </p:cNvSpPr>
            <p:nvPr/>
          </p:nvSpPr>
          <p:spPr bwMode="auto">
            <a:xfrm>
              <a:off x="7380312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Text Box 235"/>
            <p:cNvSpPr txBox="1">
              <a:spLocks noChangeArrowheads="1"/>
            </p:cNvSpPr>
            <p:nvPr/>
          </p:nvSpPr>
          <p:spPr bwMode="auto">
            <a:xfrm>
              <a:off x="1157401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A.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82" name="Text Box 235"/>
            <p:cNvSpPr txBox="1">
              <a:spLocks noChangeArrowheads="1"/>
            </p:cNvSpPr>
            <p:nvPr/>
          </p:nvSpPr>
          <p:spPr bwMode="auto">
            <a:xfrm>
              <a:off x="3965713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B.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83" name="Text Box 235"/>
            <p:cNvSpPr txBox="1">
              <a:spLocks noChangeArrowheads="1"/>
            </p:cNvSpPr>
            <p:nvPr/>
          </p:nvSpPr>
          <p:spPr bwMode="auto">
            <a:xfrm>
              <a:off x="6228184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C.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>
              <a:off x="1790840" y="3498689"/>
              <a:ext cx="2052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/>
          </p:nvCxnSpPr>
          <p:spPr bwMode="auto">
            <a:xfrm>
              <a:off x="1789976" y="3210657"/>
              <a:ext cx="2052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041150F7-3AAB-4B5E-8DFA-0A8A95B5E6A1}"/>
              </a:ext>
            </a:extLst>
          </p:cNvPr>
          <p:cNvGrpSpPr/>
          <p:nvPr/>
        </p:nvGrpSpPr>
        <p:grpSpPr>
          <a:xfrm>
            <a:off x="2051720" y="4869160"/>
            <a:ext cx="3060504" cy="1225952"/>
            <a:chOff x="1187496" y="4066072"/>
            <a:chExt cx="3060504" cy="1225952"/>
          </a:xfrm>
        </p:grpSpPr>
        <p:sp>
          <p:nvSpPr>
            <p:cNvPr id="185" name="Line 660">
              <a:extLst>
                <a:ext uri="{FF2B5EF4-FFF2-40B4-BE49-F238E27FC236}">
                  <a16:creationId xmlns:a16="http://schemas.microsoft.com/office/drawing/2014/main" id="{FDC3A1FA-B5FB-4841-B16C-E390D077F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495" y="4354080"/>
              <a:ext cx="432000" cy="13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661">
              <a:extLst>
                <a:ext uri="{FF2B5EF4-FFF2-40B4-BE49-F238E27FC236}">
                  <a16:creationId xmlns:a16="http://schemas.microsoft.com/office/drawing/2014/main" id="{CB297D2E-E4C2-4DFA-A114-28CEDE262B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1496" y="5182160"/>
              <a:ext cx="17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662">
              <a:extLst>
                <a:ext uri="{FF2B5EF4-FFF2-40B4-BE49-F238E27FC236}">
                  <a16:creationId xmlns:a16="http://schemas.microsoft.com/office/drawing/2014/main" id="{3F68B868-98CA-4359-95D3-45A87A9DE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6419" y="4570104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663">
              <a:extLst>
                <a:ext uri="{FF2B5EF4-FFF2-40B4-BE49-F238E27FC236}">
                  <a16:creationId xmlns:a16="http://schemas.microsoft.com/office/drawing/2014/main" id="{8A70A5E2-4C6D-497E-810F-DEE726430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000" y="4356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64">
              <a:extLst>
                <a:ext uri="{FF2B5EF4-FFF2-40B4-BE49-F238E27FC236}">
                  <a16:creationId xmlns:a16="http://schemas.microsoft.com/office/drawing/2014/main" id="{12CC26BB-76FF-4D19-A818-82238FE51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000" y="435408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0" name="Line 677">
              <a:extLst>
                <a:ext uri="{FF2B5EF4-FFF2-40B4-BE49-F238E27FC236}">
                  <a16:creationId xmlns:a16="http://schemas.microsoft.com/office/drawing/2014/main" id="{ED2272E6-6D4F-40CA-B6BD-48A2EACAB6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00" y="5184000"/>
              <a:ext cx="10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1" name="Text Box 689">
              <a:extLst>
                <a:ext uri="{FF2B5EF4-FFF2-40B4-BE49-F238E27FC236}">
                  <a16:creationId xmlns:a16="http://schemas.microsoft.com/office/drawing/2014/main" id="{631E4DDD-3B80-4603-BA74-A110F2A56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158" y="4354104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92" name="Line 690">
              <a:extLst>
                <a:ext uri="{FF2B5EF4-FFF2-40B4-BE49-F238E27FC236}">
                  <a16:creationId xmlns:a16="http://schemas.microsoft.com/office/drawing/2014/main" id="{0E9047C2-CCFD-4779-B179-88E95ED71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5236" y="4354080"/>
              <a:ext cx="2165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691">
              <a:extLst>
                <a:ext uri="{FF2B5EF4-FFF2-40B4-BE49-F238E27FC236}">
                  <a16:creationId xmlns:a16="http://schemas.microsoft.com/office/drawing/2014/main" id="{E087D411-306B-43FA-91D5-C490A3726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496" y="507416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94" name="Line 692">
              <a:extLst>
                <a:ext uri="{FF2B5EF4-FFF2-40B4-BE49-F238E27FC236}">
                  <a16:creationId xmlns:a16="http://schemas.microsoft.com/office/drawing/2014/main" id="{304CE1C5-B6D7-4A7E-AB0D-E11AEDA064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2000" y="4642112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Text Box 694">
              <a:extLst>
                <a:ext uri="{FF2B5EF4-FFF2-40B4-BE49-F238E27FC236}">
                  <a16:creationId xmlns:a16="http://schemas.microsoft.com/office/drawing/2014/main" id="{CCE0E5FD-38C2-4E44-9AEE-B882294A3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158" y="4642112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96" name="Line 695">
              <a:extLst>
                <a:ext uri="{FF2B5EF4-FFF2-40B4-BE49-F238E27FC236}">
                  <a16:creationId xmlns:a16="http://schemas.microsoft.com/office/drawing/2014/main" id="{D3144BAD-AEFB-4173-9573-3F852BCC2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464" y="4642112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706">
              <a:extLst>
                <a:ext uri="{FF2B5EF4-FFF2-40B4-BE49-F238E27FC236}">
                  <a16:creationId xmlns:a16="http://schemas.microsoft.com/office/drawing/2014/main" id="{D387B724-5BE6-493F-80AA-19BF1322A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6626" y="4068000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Text Box 707">
              <a:extLst>
                <a:ext uri="{FF2B5EF4-FFF2-40B4-BE49-F238E27FC236}">
                  <a16:creationId xmlns:a16="http://schemas.microsoft.com/office/drawing/2014/main" id="{5603F13F-E2AE-41E3-B9A0-229188A6E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00" y="464400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CO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9" name="Line 708">
              <a:extLst>
                <a:ext uri="{FF2B5EF4-FFF2-40B4-BE49-F238E27FC236}">
                  <a16:creationId xmlns:a16="http://schemas.microsoft.com/office/drawing/2014/main" id="{8E757A22-AFA3-46F6-BDDC-81CA00E76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000" y="475200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709">
              <a:extLst>
                <a:ext uri="{FF2B5EF4-FFF2-40B4-BE49-F238E27FC236}">
                  <a16:creationId xmlns:a16="http://schemas.microsoft.com/office/drawing/2014/main" id="{409C55EE-A1AE-4B80-852C-0827E2E9C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9752" y="475200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714">
              <a:extLst>
                <a:ext uri="{FF2B5EF4-FFF2-40B4-BE49-F238E27FC236}">
                  <a16:creationId xmlns:a16="http://schemas.microsoft.com/office/drawing/2014/main" id="{D40857A8-2C6E-49C5-808C-3369E798D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4685" y="435408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660">
              <a:extLst>
                <a:ext uri="{FF2B5EF4-FFF2-40B4-BE49-F238E27FC236}">
                  <a16:creationId xmlns:a16="http://schemas.microsoft.com/office/drawing/2014/main" id="{7B0FF40F-BAC7-425E-A8D7-5E85362A0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637" y="4858136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660">
              <a:extLst>
                <a:ext uri="{FF2B5EF4-FFF2-40B4-BE49-F238E27FC236}">
                  <a16:creationId xmlns:a16="http://schemas.microsoft.com/office/drawing/2014/main" id="{D68227BE-BBFA-42CD-B255-712283408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000" y="4858136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714">
              <a:extLst>
                <a:ext uri="{FF2B5EF4-FFF2-40B4-BE49-F238E27FC236}">
                  <a16:creationId xmlns:a16="http://schemas.microsoft.com/office/drawing/2014/main" id="{8093692F-45F1-42BF-A387-956014127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000" y="46440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663">
              <a:extLst>
                <a:ext uri="{FF2B5EF4-FFF2-40B4-BE49-F238E27FC236}">
                  <a16:creationId xmlns:a16="http://schemas.microsoft.com/office/drawing/2014/main" id="{81B34BA3-26BE-4D35-AF8B-FE259DA4E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8000" y="464211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678">
              <a:extLst>
                <a:ext uri="{FF2B5EF4-FFF2-40B4-BE49-F238E27FC236}">
                  <a16:creationId xmlns:a16="http://schemas.microsoft.com/office/drawing/2014/main" id="{F7A1CF48-DBBC-47A6-B9B6-BAC8FBD010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5552" y="4354232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678">
              <a:extLst>
                <a:ext uri="{FF2B5EF4-FFF2-40B4-BE49-F238E27FC236}">
                  <a16:creationId xmlns:a16="http://schemas.microsoft.com/office/drawing/2014/main" id="{A0981890-E8D7-47FA-8CA4-F0E08ADD8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9752" y="4572000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680">
              <a:extLst>
                <a:ext uri="{FF2B5EF4-FFF2-40B4-BE49-F238E27FC236}">
                  <a16:creationId xmlns:a16="http://schemas.microsoft.com/office/drawing/2014/main" id="{2B273A2A-16D5-4C61-9E41-EC5BA2C4D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000" y="435408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AutoShape 215">
              <a:extLst>
                <a:ext uri="{FF2B5EF4-FFF2-40B4-BE49-F238E27FC236}">
                  <a16:creationId xmlns:a16="http://schemas.microsoft.com/office/drawing/2014/main" id="{B6C5DD6D-600F-4FFF-97D3-121C0A672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744" y="5076000"/>
              <a:ext cx="612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210" name="AutoShape 215">
              <a:extLst>
                <a:ext uri="{FF2B5EF4-FFF2-40B4-BE49-F238E27FC236}">
                  <a16:creationId xmlns:a16="http://schemas.microsoft.com/office/drawing/2014/main" id="{3A8409A3-072B-4C27-B357-2585471B1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608" y="4068000"/>
              <a:ext cx="1944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地址</a:t>
              </a:r>
            </a:p>
          </p:txBody>
        </p:sp>
        <p:sp>
          <p:nvSpPr>
            <p:cNvPr id="211" name="AutoShape 215">
              <a:extLst>
                <a:ext uri="{FF2B5EF4-FFF2-40B4-BE49-F238E27FC236}">
                  <a16:creationId xmlns:a16="http://schemas.microsoft.com/office/drawing/2014/main" id="{752D8359-D4B2-4C60-978D-E1DFECFB3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118" y="4068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12" name="Text Box 691">
              <a:extLst>
                <a:ext uri="{FF2B5EF4-FFF2-40B4-BE49-F238E27FC236}">
                  <a16:creationId xmlns:a16="http://schemas.microsoft.com/office/drawing/2014/main" id="{CAD6A350-53A8-4061-925D-63F8B43ED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744" y="4068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13" name="AutoShape 215">
              <a:extLst>
                <a:ext uri="{FF2B5EF4-FFF2-40B4-BE49-F238E27FC236}">
                  <a16:creationId xmlns:a16="http://schemas.microsoft.com/office/drawing/2014/main" id="{BCBFFBD8-05CE-403B-80F0-F4792BA34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744" y="4068000"/>
              <a:ext cx="360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14" name="Text Box 691">
              <a:extLst>
                <a:ext uri="{FF2B5EF4-FFF2-40B4-BE49-F238E27FC236}">
                  <a16:creationId xmlns:a16="http://schemas.microsoft.com/office/drawing/2014/main" id="{7CB87324-B1C0-4B8A-AB0F-898C5CA67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000" y="4066072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15" name="Text Box 691">
              <a:extLst>
                <a:ext uri="{FF2B5EF4-FFF2-40B4-BE49-F238E27FC236}">
                  <a16:creationId xmlns:a16="http://schemas.microsoft.com/office/drawing/2014/main" id="{4181E2A8-8263-4C3D-B7E4-2A5B55CAC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496" y="40660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6" name="Line 706">
              <a:extLst>
                <a:ext uri="{FF2B5EF4-FFF2-40B4-BE49-F238E27FC236}">
                  <a16:creationId xmlns:a16="http://schemas.microsoft.com/office/drawing/2014/main" id="{C049C989-7CD9-401D-A49D-23994ACC0E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2000" y="4066160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Box 46"/>
          <p:cNvSpPr txBox="1">
            <a:spLocks noChangeArrowheads="1"/>
          </p:cNvSpPr>
          <p:nvPr/>
        </p:nvSpPr>
        <p:spPr bwMode="auto">
          <a:xfrm>
            <a:off x="179704" y="1268760"/>
            <a:ext cx="6912575" cy="26502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、主存的组成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*硬件组成：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*参数组织：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主存单元长度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主存地址空间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主存单元个数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BA2D-1F09-4DD1-BA74-3BE1ACE76361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444420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§3.3 </a:t>
            </a:r>
            <a:r>
              <a:rPr lang="zh-CN" altLang="en-US" sz="2800" b="1" u="none" dirty="0">
                <a:latin typeface="宋体" panose="02010600030101010101" pitchFamily="2" charset="-122"/>
              </a:rPr>
              <a:t>主存储器</a:t>
            </a:r>
          </a:p>
        </p:txBody>
      </p:sp>
      <p:sp>
        <p:nvSpPr>
          <p:cNvPr id="40" name="Text Box 746"/>
          <p:cNvSpPr txBox="1">
            <a:spLocks noChangeArrowheads="1"/>
          </p:cNvSpPr>
          <p:nvPr/>
        </p:nvSpPr>
        <p:spPr bwMode="auto">
          <a:xfrm>
            <a:off x="1907704" y="1772816"/>
            <a:ext cx="7056592" cy="2188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>
                <a:latin typeface="宋体" panose="02010600030101010101" pitchFamily="2" charset="-122"/>
              </a:rPr>
              <a:t>ROM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←尽量快、启动时为非易失型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一维线性空间，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zh-CN" altLang="en-US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＝主存单元个数×主存单元长度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＝固定值，</a:t>
            </a:r>
            <a:r>
              <a:rPr lang="en-US" altLang="zh-CN" sz="2200" b="1" spc="-3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ISA</a:t>
            </a:r>
            <a:r>
              <a:rPr lang="zh-CN" altLang="en-US" sz="2200" b="1" spc="-3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设计时</a:t>
            </a:r>
            <a:r>
              <a:rPr lang="zh-CN" altLang="en-US" sz="22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确定</a:t>
            </a:r>
            <a:r>
              <a:rPr lang="en-US" altLang="zh-CN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min{</a:t>
            </a:r>
            <a:r>
              <a:rPr lang="zh-CN" altLang="en-US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各数据表示的长度</a:t>
            </a:r>
            <a:r>
              <a:rPr lang="en-US" altLang="zh-CN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})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＝主存单元个数最大值，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系统设计时</a:t>
            </a:r>
            <a:r>
              <a:rPr lang="zh-CN" altLang="en-US" sz="2200" b="1" u="none" dirty="0">
                <a:latin typeface="宋体" panose="02010600030101010101" pitchFamily="2" charset="-122"/>
              </a:rPr>
              <a:t>确定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≤</a:t>
            </a:r>
            <a:r>
              <a:rPr lang="zh-CN" altLang="en-US" sz="22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主存地址空间，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用户购买时</a:t>
            </a:r>
            <a:r>
              <a:rPr lang="zh-CN" altLang="en-US" sz="2200" b="1" u="none" dirty="0">
                <a:latin typeface="宋体" panose="02010600030101010101" pitchFamily="2" charset="-122"/>
              </a:rPr>
              <a:t>确定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35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1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u="none" dirty="0">
                <a:latin typeface="+mn-ea"/>
                <a:ea typeface="+mn-ea"/>
              </a:rPr>
              <a:t>主存</a:t>
            </a:r>
            <a:r>
              <a:rPr lang="zh-CN" altLang="en-US" sz="2000" b="1" u="none" dirty="0">
                <a:latin typeface="宋体" panose="02010600030101010101" pitchFamily="2" charset="-122"/>
              </a:rPr>
              <a:t>逻辑设计，主存与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连接，提高访存速度的技术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grpSp>
        <p:nvGrpSpPr>
          <p:cNvPr id="366" name="组合 365"/>
          <p:cNvGrpSpPr/>
          <p:nvPr/>
        </p:nvGrpSpPr>
        <p:grpSpPr>
          <a:xfrm>
            <a:off x="3385715" y="4255629"/>
            <a:ext cx="2844000" cy="648000"/>
            <a:chOff x="3600221" y="5422035"/>
            <a:chExt cx="2844000" cy="648000"/>
          </a:xfrm>
        </p:grpSpPr>
        <p:sp>
          <p:nvSpPr>
            <p:cNvPr id="367" name="Rectangle 98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600221" y="5422035"/>
              <a:ext cx="612000" cy="576000"/>
            </a:xfrm>
            <a:prstGeom prst="rect">
              <a:avLst/>
            </a:prstGeom>
            <a:solidFill>
              <a:srgbClr val="CC6600"/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" name="Text Box 8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580221" y="5602035"/>
              <a:ext cx="864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配置</a:t>
              </a: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容量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u="none" dirty="0" err="1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</a:t>
              </a:r>
              <a:r>
                <a:rPr lang="en-US" altLang="zh-CN" sz="1600" b="1" u="none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×w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369" name="Rectangle 99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48221" y="5422035"/>
              <a:ext cx="1224000" cy="576000"/>
            </a:xfrm>
            <a:prstGeom prst="rect">
              <a:avLst/>
            </a:prstGeom>
            <a:solidFill>
              <a:srgbClr val="0066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0" name="右大括号 369"/>
            <p:cNvSpPr/>
            <p:nvPr>
              <p:custDataLst>
                <p:tags r:id="rId24"/>
              </p:custDataLst>
            </p:nvPr>
          </p:nvSpPr>
          <p:spPr bwMode="auto">
            <a:xfrm>
              <a:off x="5508221" y="5458035"/>
              <a:ext cx="71412" cy="540000"/>
            </a:xfrm>
            <a:prstGeom prst="rightBrace">
              <a:avLst>
                <a:gd name="adj1" fmla="val 28543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248D55D-43F6-48B6-8584-0490F6C3F62A}"/>
              </a:ext>
            </a:extLst>
          </p:cNvPr>
          <p:cNvGrpSpPr/>
          <p:nvPr/>
        </p:nvGrpSpPr>
        <p:grpSpPr>
          <a:xfrm>
            <a:off x="2560955" y="4005064"/>
            <a:ext cx="2697360" cy="1762760"/>
            <a:chOff x="3694" y="3803"/>
            <a:chExt cx="4248" cy="2776"/>
          </a:xfrm>
        </p:grpSpPr>
        <p:sp>
          <p:nvSpPr>
            <p:cNvPr id="37" name="Rectangle 104">
              <a:extLst>
                <a:ext uri="{FF2B5EF4-FFF2-40B4-BE49-F238E27FC236}">
                  <a16:creationId xmlns:a16="http://schemas.microsoft.com/office/drawing/2014/main" id="{7AB62ECC-AA73-4BD3-9165-890CBE876B28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13" y="4198"/>
              <a:ext cx="1928" cy="1871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0" rIns="36000" bIns="1800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endParaRPr lang="en-US" altLang="zh-CN" sz="1600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8" name="Text Box 105">
              <a:extLst>
                <a:ext uri="{FF2B5EF4-FFF2-40B4-BE49-F238E27FC236}">
                  <a16:creationId xmlns:a16="http://schemas.microsoft.com/office/drawing/2014/main" id="{3E43BF1F-1DAB-4441-A8A4-2B09F3561103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013" y="3803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w-1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  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9" name="Text Box 112">
              <a:extLst>
                <a:ext uri="{FF2B5EF4-FFF2-40B4-BE49-F238E27FC236}">
                  <a16:creationId xmlns:a16="http://schemas.microsoft.com/office/drawing/2014/main" id="{DB890389-18F7-4909-8297-CEC5C9E5A845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694" y="3914"/>
              <a:ext cx="340" cy="24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主存地址空间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1" name="Text Box 114">
              <a:extLst>
                <a:ext uri="{FF2B5EF4-FFF2-40B4-BE49-F238E27FC236}">
                  <a16:creationId xmlns:a16="http://schemas.microsoft.com/office/drawing/2014/main" id="{C3249D31-3AA7-49B9-AC4D-791215FE26D4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013" y="6239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主存单元长度</a:t>
              </a:r>
            </a:p>
          </p:txBody>
        </p:sp>
        <p:sp>
          <p:nvSpPr>
            <p:cNvPr id="42" name="Text Box 128">
              <a:extLst>
                <a:ext uri="{FF2B5EF4-FFF2-40B4-BE49-F238E27FC236}">
                  <a16:creationId xmlns:a16="http://schemas.microsoft.com/office/drawing/2014/main" id="{4341C01D-54C7-4232-85BA-39A5453F37D5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56" y="3803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n-1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3" name="AutoShape 28">
              <a:extLst>
                <a:ext uri="{FF2B5EF4-FFF2-40B4-BE49-F238E27FC236}">
                  <a16:creationId xmlns:a16="http://schemas.microsoft.com/office/drawing/2014/main" id="{0BD6418D-6A18-47CE-82A8-09E754317C6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 rot="16200000">
              <a:off x="6920" y="5190"/>
              <a:ext cx="115" cy="1928"/>
            </a:xfrm>
            <a:prstGeom prst="rightBrace">
              <a:avLst>
                <a:gd name="adj1" fmla="val 3102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21">
              <a:extLst>
                <a:ext uri="{FF2B5EF4-FFF2-40B4-BE49-F238E27FC236}">
                  <a16:creationId xmlns:a16="http://schemas.microsoft.com/office/drawing/2014/main" id="{1EE60A73-D604-466E-A927-D726384D0D97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13" y="4198"/>
              <a:ext cx="1644" cy="187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0…00……0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……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0…01……1 0…10……0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……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1…11……1</a:t>
              </a:r>
            </a:p>
          </p:txBody>
        </p:sp>
        <p:sp>
          <p:nvSpPr>
            <p:cNvPr id="45" name="左大括号 44">
              <a:extLst>
                <a:ext uri="{FF2B5EF4-FFF2-40B4-BE49-F238E27FC236}">
                  <a16:creationId xmlns:a16="http://schemas.microsoft.com/office/drawing/2014/main" id="{3854727B-63D5-4136-93FB-06FB56230DC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4142" y="4254"/>
              <a:ext cx="113" cy="1757"/>
            </a:xfrm>
            <a:prstGeom prst="leftBrace">
              <a:avLst>
                <a:gd name="adj1" fmla="val 28543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A4EFFE8-0F64-4459-B388-71F4591542FE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6013" y="4472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BFEE334C-F906-4AD4-BBA0-E1C037EFE024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6013" y="5785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B27F7F92-520A-4022-923A-48E5EA297370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6353" y="419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43A12C96-66AF-4507-A897-CC6CEE083718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7601" y="419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8408E753-CD33-4BA4-90F3-6137F23EA9E9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6353" y="5785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9D9BED62-0E49-463E-8154-04F7E5B9D4B2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7601" y="5785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CE0690B-21F7-435B-9988-130B29AC2249}"/>
              </a:ext>
            </a:extLst>
          </p:cNvPr>
          <p:cNvGrpSpPr/>
          <p:nvPr/>
        </p:nvGrpSpPr>
        <p:grpSpPr>
          <a:xfrm>
            <a:off x="2663185" y="4291449"/>
            <a:ext cx="4609895" cy="1476375"/>
            <a:chOff x="2663185" y="4688929"/>
            <a:chExt cx="4609895" cy="1476375"/>
          </a:xfrm>
        </p:grpSpPr>
        <p:sp>
          <p:nvSpPr>
            <p:cNvPr id="54" name="Text Box 80">
              <a:extLst>
                <a:ext uri="{FF2B5EF4-FFF2-40B4-BE49-F238E27FC236}">
                  <a16:creationId xmlns:a16="http://schemas.microsoft.com/office/drawing/2014/main" id="{44634B45-6A1D-45E3-AEF8-05A166BD48CE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373325" y="5121364"/>
              <a:ext cx="899755" cy="4679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最大</a:t>
              </a: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容量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1600" b="1" baseline="50000" dirty="0">
                  <a:solidFill>
                    <a:srgbClr val="FF3399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×w)</a:t>
              </a:r>
            </a:p>
          </p:txBody>
        </p:sp>
        <p:sp>
          <p:nvSpPr>
            <p:cNvPr id="55" name="Text Box 127">
              <a:extLst>
                <a:ext uri="{FF2B5EF4-FFF2-40B4-BE49-F238E27FC236}">
                  <a16:creationId xmlns:a16="http://schemas.microsoft.com/office/drawing/2014/main" id="{5CBA0F81-F47C-474C-9573-5CB80FCCE098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809864" y="5949404"/>
              <a:ext cx="122422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spc="-1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主存地址位数</a:t>
              </a:r>
            </a:p>
          </p:txBody>
        </p:sp>
        <p:sp>
          <p:nvSpPr>
            <p:cNvPr id="56" name="AutoShape 41">
              <a:extLst>
                <a:ext uri="{FF2B5EF4-FFF2-40B4-BE49-F238E27FC236}">
                  <a16:creationId xmlns:a16="http://schemas.microsoft.com/office/drawing/2014/main" id="{C7192B77-439D-4F61-8329-A1E1161828A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 rot="16200000">
              <a:off x="3439754" y="5391261"/>
              <a:ext cx="73025" cy="1007700"/>
            </a:xfrm>
            <a:prstGeom prst="rightBrace">
              <a:avLst>
                <a:gd name="adj1" fmla="val 179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右大括号 56">
              <a:extLst>
                <a:ext uri="{FF2B5EF4-FFF2-40B4-BE49-F238E27FC236}">
                  <a16:creationId xmlns:a16="http://schemas.microsoft.com/office/drawing/2014/main" id="{CE1ACE3F-379E-417C-8C0B-7DDECD1F464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6301573" y="4688929"/>
              <a:ext cx="71752" cy="1151890"/>
            </a:xfrm>
            <a:prstGeom prst="rightBrace">
              <a:avLst>
                <a:gd name="adj1" fmla="val 28543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/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B277BD1-89A8-4A66-AD1A-EBA1D6874BAE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2663185" y="6055449"/>
              <a:ext cx="1796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108CA81-6B71-440D-BC8A-742085E4ED0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2663185" y="5875744"/>
              <a:ext cx="0" cy="17970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0D5FA-BB7C-412B-ABE4-4081FA5F9438}" type="slidenum">
              <a:rPr lang="en-US" altLang="zh-CN"/>
              <a:t>28</a:t>
            </a:fld>
            <a:endParaRPr lang="en-US" altLang="zh-CN"/>
          </a:p>
        </p:txBody>
      </p:sp>
      <p:sp>
        <p:nvSpPr>
          <p:cNvPr id="12" name="Text Box 30"/>
          <p:cNvSpPr txBox="1">
            <a:spLocks noChangeArrowheads="1"/>
          </p:cNvSpPr>
          <p:nvPr/>
        </p:nvSpPr>
        <p:spPr bwMode="auto">
          <a:xfrm>
            <a:off x="179388" y="332656"/>
            <a:ext cx="7632972" cy="3458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、主存的逻辑设计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主存的设计方法：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容量需可配置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])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芯片现状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设计方法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的容量扩展：         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←数电课程已讲过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9672" y="1196752"/>
            <a:ext cx="7344816" cy="3419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RAM/ROM</a:t>
            </a:r>
            <a:r>
              <a:rPr lang="zh-CN" altLang="en-US" sz="2200" b="1" u="none" dirty="0">
                <a:latin typeface="宋体" panose="02010600030101010101" pitchFamily="2" charset="-122"/>
              </a:rPr>
              <a:t>型号有限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←厂家关注销量</a:t>
            </a:r>
            <a:r>
              <a:rPr lang="en-US" altLang="zh-CN" sz="1800" b="1" u="none" dirty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成本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ROM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常为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DRAM)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芯片进行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容量扩展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实现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指定的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参数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单元长度</a:t>
            </a:r>
            <a:r>
              <a:rPr lang="en-US" altLang="zh-CN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单元个数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有位扩展法、字扩展法、字位扩展法，可选用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①确定需要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多少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      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←满足单元长度</a:t>
            </a:r>
            <a:r>
              <a:rPr lang="en-US" altLang="zh-CN" sz="16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个数需求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②约定各芯片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所占</a:t>
            </a:r>
            <a:r>
              <a:rPr lang="zh-CN" altLang="en-US" sz="2200" b="1" u="none" dirty="0">
                <a:latin typeface="宋体" panose="02010600030101010101" pitchFamily="2" charset="-122"/>
              </a:rPr>
              <a:t>空间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所处位置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←设计细化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③根据访问特征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  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←具体实现（</a:t>
            </a:r>
            <a:r>
              <a:rPr lang="en-US" altLang="zh-CN" sz="1600" b="1" u="none" dirty="0">
                <a:latin typeface="宋体" panose="02010600030101010101" pitchFamily="2" charset="-122"/>
              </a:rPr>
              <a:t>SRAM/DRAM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不同）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C166-C114-464C-917A-2E48B45D7E50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179388" y="1268760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1K×1b 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①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芯片数量</a:t>
            </a:r>
            <a:r>
              <a:rPr lang="en-US" altLang="zh-CN" sz="2200" b="1" u="none" dirty="0">
                <a:latin typeface="宋体" panose="02010600030101010101" pitchFamily="2" charset="-122"/>
              </a:rPr>
              <a:t>=4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片 </a:t>
            </a:r>
            <a:r>
              <a:rPr lang="en-US" altLang="zh-CN" sz="2200" b="1" u="none" dirty="0">
                <a:latin typeface="宋体" panose="02010600030101010101" pitchFamily="2" charset="-122"/>
              </a:rPr>
              <a:t>②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芯片地址范围同模块 </a:t>
            </a:r>
            <a:r>
              <a:rPr lang="en-US" altLang="zh-CN" sz="2200" b="1" u="none" dirty="0">
                <a:latin typeface="宋体" panose="02010600030101010101" pitchFamily="2" charset="-122"/>
              </a:rPr>
              <a:t>③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66" name="AutoShape 331"/>
          <p:cNvSpPr/>
          <p:nvPr/>
        </p:nvSpPr>
        <p:spPr bwMode="auto">
          <a:xfrm>
            <a:off x="4644008" y="3790808"/>
            <a:ext cx="3240000" cy="252000"/>
          </a:xfrm>
          <a:prstGeom prst="borderCallout2">
            <a:avLst>
              <a:gd name="adj1" fmla="val 53155"/>
              <a:gd name="adj2" fmla="val 82"/>
              <a:gd name="adj3" fmla="val 51608"/>
              <a:gd name="adj4" fmla="val -6428"/>
              <a:gd name="adj5" fmla="val -20113"/>
              <a:gd name="adj6" fmla="val -9748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u="none" dirty="0">
                <a:latin typeface="+mn-ea"/>
                <a:ea typeface="+mn-ea"/>
              </a:rPr>
              <a:t>MEM</a:t>
            </a:r>
            <a:r>
              <a:rPr lang="zh-CN" altLang="en-US" sz="1600" b="1" u="none" dirty="0">
                <a:latin typeface="+mn-ea"/>
                <a:ea typeface="+mn-ea"/>
              </a:rPr>
              <a:t>可能不被访问，控制引脚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</a:rPr>
              <a:t>≥</a:t>
            </a:r>
            <a:r>
              <a:rPr lang="en-US" altLang="zh-CN" sz="1600" b="1" u="none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1600" b="1" u="none" dirty="0">
                <a:latin typeface="+mn-ea"/>
                <a:ea typeface="+mn-ea"/>
              </a:rPr>
              <a:t>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4B3229-317D-4C3A-9FE5-782025834773}"/>
              </a:ext>
            </a:extLst>
          </p:cNvPr>
          <p:cNvGrpSpPr/>
          <p:nvPr/>
        </p:nvGrpSpPr>
        <p:grpSpPr>
          <a:xfrm>
            <a:off x="252000" y="2206808"/>
            <a:ext cx="3456401" cy="1512889"/>
            <a:chOff x="252000" y="1655788"/>
            <a:chExt cx="3456401" cy="1512889"/>
          </a:xfrm>
        </p:grpSpPr>
        <p:sp>
          <p:nvSpPr>
            <p:cNvPr id="447644" name="Text Box 156"/>
            <p:cNvSpPr txBox="1">
              <a:spLocks noChangeArrowheads="1"/>
            </p:cNvSpPr>
            <p:nvPr/>
          </p:nvSpPr>
          <p:spPr bwMode="auto">
            <a:xfrm>
              <a:off x="252000" y="1908201"/>
              <a:ext cx="1116000" cy="12604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0000000000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0000000001</a:t>
              </a:r>
            </a:p>
            <a:p>
              <a:pPr algn="ctr">
                <a:lnSpc>
                  <a:spcPct val="90000"/>
                </a:lnSpc>
                <a:spcBef>
                  <a:spcPts val="12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  <a:p>
              <a:pPr algn="r">
                <a:lnSpc>
                  <a:spcPct val="90000"/>
                </a:lnSpc>
                <a:spcBef>
                  <a:spcPts val="19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1111111111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47494" name="Rectangle 6"/>
            <p:cNvSpPr>
              <a:spLocks noChangeArrowheads="1"/>
            </p:cNvSpPr>
            <p:nvPr/>
          </p:nvSpPr>
          <p:spPr bwMode="auto">
            <a:xfrm>
              <a:off x="2916238" y="1908201"/>
              <a:ext cx="792163" cy="126047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0" tIns="18000" rIns="0" bIns="18000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spcBef>
                  <a:spcPct val="20000"/>
                </a:spcBef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7495" name="Rectangle 7"/>
            <p:cNvSpPr>
              <a:spLocks noChangeArrowheads="1"/>
            </p:cNvSpPr>
            <p:nvPr/>
          </p:nvSpPr>
          <p:spPr bwMode="auto">
            <a:xfrm>
              <a:off x="2197100" y="1908201"/>
              <a:ext cx="719138" cy="126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000" tIns="18000" rIns="36000" bIns="180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……</a:t>
              </a:r>
            </a:p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……</a:t>
              </a:r>
            </a:p>
            <a:p>
              <a:pPr algn="ctr">
                <a:lnSpc>
                  <a:spcPct val="90000"/>
                </a:lnSpc>
              </a:pP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447496" name="Rectangle 8"/>
            <p:cNvSpPr>
              <a:spLocks noChangeArrowheads="1"/>
            </p:cNvSpPr>
            <p:nvPr/>
          </p:nvSpPr>
          <p:spPr bwMode="auto">
            <a:xfrm>
              <a:off x="1404938" y="1908201"/>
              <a:ext cx="792163" cy="126047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0" tIns="18000" rIns="0" bIns="18000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spcBef>
                  <a:spcPct val="20000"/>
                </a:spcBef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7497" name="Line 9"/>
            <p:cNvSpPr>
              <a:spLocks noChangeShapeType="1"/>
            </p:cNvSpPr>
            <p:nvPr/>
          </p:nvSpPr>
          <p:spPr bwMode="auto">
            <a:xfrm>
              <a:off x="2916238" y="1908201"/>
              <a:ext cx="0" cy="12604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500" name="Text Box 12"/>
            <p:cNvSpPr txBox="1">
              <a:spLocks noChangeArrowheads="1"/>
            </p:cNvSpPr>
            <p:nvPr/>
          </p:nvSpPr>
          <p:spPr bwMode="auto">
            <a:xfrm>
              <a:off x="1547813" y="1655788"/>
              <a:ext cx="208915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bit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…      bit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47501" name="Line 13"/>
            <p:cNvSpPr>
              <a:spLocks noChangeShapeType="1"/>
            </p:cNvSpPr>
            <p:nvPr/>
          </p:nvSpPr>
          <p:spPr bwMode="auto">
            <a:xfrm>
              <a:off x="1404938" y="2124101"/>
              <a:ext cx="2303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502" name="Line 14"/>
            <p:cNvSpPr>
              <a:spLocks noChangeShapeType="1"/>
            </p:cNvSpPr>
            <p:nvPr/>
          </p:nvSpPr>
          <p:spPr bwMode="auto">
            <a:xfrm>
              <a:off x="1403350" y="2987701"/>
              <a:ext cx="2305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504" name="Rectangle 16"/>
            <p:cNvSpPr>
              <a:spLocks noChangeArrowheads="1"/>
            </p:cNvSpPr>
            <p:nvPr/>
          </p:nvSpPr>
          <p:spPr bwMode="auto">
            <a:xfrm>
              <a:off x="1404938" y="1908201"/>
              <a:ext cx="2303463" cy="126047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5" name="Line 17"/>
            <p:cNvSpPr>
              <a:spLocks noChangeShapeType="1"/>
            </p:cNvSpPr>
            <p:nvPr/>
          </p:nvSpPr>
          <p:spPr bwMode="auto">
            <a:xfrm>
              <a:off x="2197100" y="1908201"/>
              <a:ext cx="0" cy="12604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7648" name="Text Box 160"/>
          <p:cNvSpPr txBox="1">
            <a:spLocks noChangeArrowheads="1"/>
          </p:cNvSpPr>
          <p:nvPr/>
        </p:nvSpPr>
        <p:spPr bwMode="auto">
          <a:xfrm>
            <a:off x="179388" y="4150808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90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1K×1b 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存储模块</a:t>
            </a:r>
          </a:p>
        </p:txBody>
      </p:sp>
      <p:sp>
        <p:nvSpPr>
          <p:cNvPr id="132" name="Text Box 32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位扩展法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扩展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字长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字数不变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芯片连接方法：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33" name="Text Box 58"/>
          <p:cNvSpPr txBox="1">
            <a:spLocks noChangeArrowheads="1"/>
          </p:cNvSpPr>
          <p:nvPr/>
        </p:nvSpPr>
        <p:spPr bwMode="auto">
          <a:xfrm>
            <a:off x="2411635" y="764704"/>
            <a:ext cx="6552977" cy="13806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数据线</a:t>
            </a:r>
            <a:r>
              <a:rPr lang="zh-CN" altLang="en-US" sz="2200" b="1" u="none" dirty="0">
                <a:latin typeface="宋体" panose="02010600030101010101" pitchFamily="2" charset="-122"/>
              </a:rPr>
              <a:t>连接不同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组成存储字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其余</a:t>
            </a:r>
            <a:r>
              <a:rPr lang="zh-CN" altLang="en-US" sz="2200" b="1" u="none" dirty="0">
                <a:latin typeface="宋体" panose="02010600030101010101" pitchFamily="2" charset="-122"/>
              </a:rPr>
              <a:t>相同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同时访问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   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仅数据线不同</a:t>
            </a:r>
          </a:p>
        </p:txBody>
      </p:sp>
      <p:grpSp>
        <p:nvGrpSpPr>
          <p:cNvPr id="135" name="Group 184">
            <a:extLst>
              <a:ext uri="{FF2B5EF4-FFF2-40B4-BE49-F238E27FC236}">
                <a16:creationId xmlns:a16="http://schemas.microsoft.com/office/drawing/2014/main" id="{81B73917-0B5F-4DDF-9209-AACBC58EAE7B}"/>
              </a:ext>
            </a:extLst>
          </p:cNvPr>
          <p:cNvGrpSpPr/>
          <p:nvPr/>
        </p:nvGrpSpPr>
        <p:grpSpPr bwMode="auto">
          <a:xfrm>
            <a:off x="3959225" y="2204864"/>
            <a:ext cx="4968875" cy="1547813"/>
            <a:chOff x="2494" y="930"/>
            <a:chExt cx="3130" cy="975"/>
          </a:xfrm>
        </p:grpSpPr>
        <p:sp>
          <p:nvSpPr>
            <p:cNvPr id="136" name="Rectangle 22">
              <a:extLst>
                <a:ext uri="{FF2B5EF4-FFF2-40B4-BE49-F238E27FC236}">
                  <a16:creationId xmlns:a16="http://schemas.microsoft.com/office/drawing/2014/main" id="{F1280C78-D40D-449E-AEB2-E4D2DFE86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930"/>
              <a:ext cx="2699" cy="95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34AE35CF-D01E-4F63-B94F-76B6B625F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4" y="930"/>
              <a:ext cx="340" cy="1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38" name="Text Box 27">
              <a:extLst>
                <a:ext uri="{FF2B5EF4-FFF2-40B4-BE49-F238E27FC236}">
                  <a16:creationId xmlns:a16="http://schemas.microsoft.com/office/drawing/2014/main" id="{9C79CF07-62FD-49B7-8546-1FF97A41F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4" y="1474"/>
              <a:ext cx="340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39" name="Group 118">
              <a:extLst>
                <a:ext uri="{FF2B5EF4-FFF2-40B4-BE49-F238E27FC236}">
                  <a16:creationId xmlns:a16="http://schemas.microsoft.com/office/drawing/2014/main" id="{F0A1C547-997F-45FB-8A2A-44040B60B5E4}"/>
                </a:ext>
              </a:extLst>
            </p:cNvPr>
            <p:cNvGrpSpPr/>
            <p:nvPr/>
          </p:nvGrpSpPr>
          <p:grpSpPr bwMode="auto">
            <a:xfrm>
              <a:off x="2631" y="1633"/>
              <a:ext cx="181" cy="136"/>
              <a:chOff x="725" y="1361"/>
              <a:chExt cx="181" cy="136"/>
            </a:xfrm>
          </p:grpSpPr>
          <p:sp>
            <p:nvSpPr>
              <p:cNvPr id="154" name="Text Box 29">
                <a:extLst>
                  <a:ext uri="{FF2B5EF4-FFF2-40B4-BE49-F238E27FC236}">
                    <a16:creationId xmlns:a16="http://schemas.microsoft.com/office/drawing/2014/main" id="{9BEF1C87-EFA3-4D8B-B3A7-0BDD61C6A1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" y="1361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155" name="Line 30">
                <a:extLst>
                  <a:ext uri="{FF2B5EF4-FFF2-40B4-BE49-F238E27FC236}">
                    <a16:creationId xmlns:a16="http://schemas.microsoft.com/office/drawing/2014/main" id="{4A52A009-C02F-48F5-A0AE-1BA476072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" y="1372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0" name="Text Box 31">
              <a:extLst>
                <a:ext uri="{FF2B5EF4-FFF2-40B4-BE49-F238E27FC236}">
                  <a16:creationId xmlns:a16="http://schemas.microsoft.com/office/drawing/2014/main" id="{73910841-045E-4367-9633-93862C405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106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141" name="Line 34">
              <a:extLst>
                <a:ext uri="{FF2B5EF4-FFF2-40B4-BE49-F238E27FC236}">
                  <a16:creationId xmlns:a16="http://schemas.microsoft.com/office/drawing/2014/main" id="{AEA1F007-E2F6-43C3-93E9-F9500F4C8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975"/>
              <a:ext cx="91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35">
              <a:extLst>
                <a:ext uri="{FF2B5EF4-FFF2-40B4-BE49-F238E27FC236}">
                  <a16:creationId xmlns:a16="http://schemas.microsoft.com/office/drawing/2014/main" id="{F70A9389-018C-425A-B973-4BB3EB2F7C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474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36">
              <a:extLst>
                <a:ext uri="{FF2B5EF4-FFF2-40B4-BE49-F238E27FC236}">
                  <a16:creationId xmlns:a16="http://schemas.microsoft.com/office/drawing/2014/main" id="{9ECBC64C-91E5-4A81-991F-B64079AD1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520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37">
              <a:extLst>
                <a:ext uri="{FF2B5EF4-FFF2-40B4-BE49-F238E27FC236}">
                  <a16:creationId xmlns:a16="http://schemas.microsoft.com/office/drawing/2014/main" id="{3FBC1405-1B1C-4815-9D96-70AA656D12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610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8">
              <a:extLst>
                <a:ext uri="{FF2B5EF4-FFF2-40B4-BE49-F238E27FC236}">
                  <a16:creationId xmlns:a16="http://schemas.microsoft.com/office/drawing/2014/main" id="{2391E595-EC68-4EAE-9BE7-11593D3CB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565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39">
              <a:extLst>
                <a:ext uri="{FF2B5EF4-FFF2-40B4-BE49-F238E27FC236}">
                  <a16:creationId xmlns:a16="http://schemas.microsoft.com/office/drawing/2014/main" id="{1D340676-A148-4576-A1FE-53B1CA365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701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40">
              <a:extLst>
                <a:ext uri="{FF2B5EF4-FFF2-40B4-BE49-F238E27FC236}">
                  <a16:creationId xmlns:a16="http://schemas.microsoft.com/office/drawing/2014/main" id="{8D389ED4-15B1-4CF1-8763-DFD313364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1837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8" name="Group 119">
              <a:extLst>
                <a:ext uri="{FF2B5EF4-FFF2-40B4-BE49-F238E27FC236}">
                  <a16:creationId xmlns:a16="http://schemas.microsoft.com/office/drawing/2014/main" id="{6663AEF5-7FD0-4C28-A4AB-F8D2BEB05F0D}"/>
                </a:ext>
              </a:extLst>
            </p:cNvPr>
            <p:cNvGrpSpPr/>
            <p:nvPr/>
          </p:nvGrpSpPr>
          <p:grpSpPr bwMode="auto">
            <a:xfrm>
              <a:off x="2631" y="1769"/>
              <a:ext cx="181" cy="136"/>
              <a:chOff x="725" y="1361"/>
              <a:chExt cx="181" cy="136"/>
            </a:xfrm>
          </p:grpSpPr>
          <p:sp>
            <p:nvSpPr>
              <p:cNvPr id="152" name="Text Box 120">
                <a:extLst>
                  <a:ext uri="{FF2B5EF4-FFF2-40B4-BE49-F238E27FC236}">
                    <a16:creationId xmlns:a16="http://schemas.microsoft.com/office/drawing/2014/main" id="{3D7C8EF6-DF72-47D4-B62A-907073AF1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" y="1361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</a:p>
            </p:txBody>
          </p:sp>
          <p:sp>
            <p:nvSpPr>
              <p:cNvPr id="153" name="Line 121">
                <a:extLst>
                  <a:ext uri="{FF2B5EF4-FFF2-40B4-BE49-F238E27FC236}">
                    <a16:creationId xmlns:a16="http://schemas.microsoft.com/office/drawing/2014/main" id="{17B4B2F5-BE36-47D2-83CA-AC1181C948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" y="1372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9" name="Text Box 122">
              <a:extLst>
                <a:ext uri="{FF2B5EF4-FFF2-40B4-BE49-F238E27FC236}">
                  <a16:creationId xmlns:a16="http://schemas.microsoft.com/office/drawing/2014/main" id="{6C7C2662-B488-4EC7-BED8-F8F35D81F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06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150" name="Text Box 131">
              <a:extLst>
                <a:ext uri="{FF2B5EF4-FFF2-40B4-BE49-F238E27FC236}">
                  <a16:creationId xmlns:a16="http://schemas.microsoft.com/office/drawing/2014/main" id="{7B8A289F-6830-48FB-BDE8-0B83B5EE6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106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151" name="Text Box 140">
              <a:extLst>
                <a:ext uri="{FF2B5EF4-FFF2-40B4-BE49-F238E27FC236}">
                  <a16:creationId xmlns:a16="http://schemas.microsoft.com/office/drawing/2014/main" id="{FEDA9B89-EC58-4AE7-AE81-8D90A56B5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106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28ADCB9C-3020-4451-9354-35575B529DA9}"/>
              </a:ext>
            </a:extLst>
          </p:cNvPr>
          <p:cNvGrpSpPr/>
          <p:nvPr/>
        </p:nvGrpSpPr>
        <p:grpSpPr>
          <a:xfrm>
            <a:off x="4643438" y="2276914"/>
            <a:ext cx="4212562" cy="1368000"/>
            <a:chOff x="4643438" y="1478994"/>
            <a:chExt cx="4212562" cy="1368000"/>
          </a:xfrm>
        </p:grpSpPr>
        <p:sp>
          <p:nvSpPr>
            <p:cNvPr id="157" name="Line 47">
              <a:extLst>
                <a:ext uri="{FF2B5EF4-FFF2-40B4-BE49-F238E27FC236}">
                  <a16:creationId xmlns:a16="http://schemas.microsoft.com/office/drawing/2014/main" id="{1EBBA7F6-1A02-414F-95D5-02A64024D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027" y="2630994"/>
              <a:ext cx="3889002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49">
              <a:extLst>
                <a:ext uri="{FF2B5EF4-FFF2-40B4-BE49-F238E27FC236}">
                  <a16:creationId xmlns:a16="http://schemas.microsoft.com/office/drawing/2014/main" id="{31EE2A5E-4CEA-44BF-9045-1B49F1815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38" y="2846994"/>
              <a:ext cx="421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53">
              <a:extLst>
                <a:ext uri="{FF2B5EF4-FFF2-40B4-BE49-F238E27FC236}">
                  <a16:creationId xmlns:a16="http://schemas.microsoft.com/office/drawing/2014/main" id="{CD3D17EB-2125-4B1C-97C4-30E55F66B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2080" y="2126994"/>
              <a:ext cx="0" cy="50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56">
              <a:extLst>
                <a:ext uri="{FF2B5EF4-FFF2-40B4-BE49-F238E27FC236}">
                  <a16:creationId xmlns:a16="http://schemas.microsoft.com/office/drawing/2014/main" id="{DBA05A90-3FAA-4737-8952-AB641306E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000" y="1874994"/>
              <a:ext cx="0" cy="97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124">
              <a:extLst>
                <a:ext uri="{FF2B5EF4-FFF2-40B4-BE49-F238E27FC236}">
                  <a16:creationId xmlns:a16="http://schemas.microsoft.com/office/drawing/2014/main" id="{4E4E48D4-1EE4-4F6A-A936-165B12DE3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2200" y="2127644"/>
              <a:ext cx="0" cy="50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127">
              <a:extLst>
                <a:ext uri="{FF2B5EF4-FFF2-40B4-BE49-F238E27FC236}">
                  <a16:creationId xmlns:a16="http://schemas.microsoft.com/office/drawing/2014/main" id="{9B31F4E2-29BF-4B1A-9242-75ED199D9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6000" y="1874994"/>
              <a:ext cx="0" cy="97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133">
              <a:extLst>
                <a:ext uri="{FF2B5EF4-FFF2-40B4-BE49-F238E27FC236}">
                  <a16:creationId xmlns:a16="http://schemas.microsoft.com/office/drawing/2014/main" id="{34DB86A5-A5B2-4E7F-BF1B-1DAC1CA1F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52320" y="2127644"/>
              <a:ext cx="0" cy="50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35">
              <a:extLst>
                <a:ext uri="{FF2B5EF4-FFF2-40B4-BE49-F238E27FC236}">
                  <a16:creationId xmlns:a16="http://schemas.microsoft.com/office/drawing/2014/main" id="{3BC9EFED-0A83-4AE4-B609-0D1BFBB3A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7627" y="1874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136">
              <a:extLst>
                <a:ext uri="{FF2B5EF4-FFF2-40B4-BE49-F238E27FC236}">
                  <a16:creationId xmlns:a16="http://schemas.microsoft.com/office/drawing/2014/main" id="{9F60CDA5-BC97-4EEC-A059-905F58FD7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76000" y="1874994"/>
              <a:ext cx="0" cy="97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149">
              <a:extLst>
                <a:ext uri="{FF2B5EF4-FFF2-40B4-BE49-F238E27FC236}">
                  <a16:creationId xmlns:a16="http://schemas.microsoft.com/office/drawing/2014/main" id="{D1B72796-85AA-433C-9523-F1636A7C8C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32440" y="2126994"/>
              <a:ext cx="0" cy="50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150">
              <a:extLst>
                <a:ext uri="{FF2B5EF4-FFF2-40B4-BE49-F238E27FC236}">
                  <a16:creationId xmlns:a16="http://schemas.microsoft.com/office/drawing/2014/main" id="{319119B8-23FD-4F34-8DBC-04ED85E04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7126" y="1874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152">
              <a:extLst>
                <a:ext uri="{FF2B5EF4-FFF2-40B4-BE49-F238E27FC236}">
                  <a16:creationId xmlns:a16="http://schemas.microsoft.com/office/drawing/2014/main" id="{DBD8A971-DD49-4C50-ACB4-AC0A5E660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6000" y="1874994"/>
              <a:ext cx="0" cy="97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95">
              <a:extLst>
                <a:ext uri="{FF2B5EF4-FFF2-40B4-BE49-F238E27FC236}">
                  <a16:creationId xmlns:a16="http://schemas.microsoft.com/office/drawing/2014/main" id="{24C5B3B3-C196-4BE6-839A-AEB82F6BC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64" y="1478994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129">
              <a:extLst>
                <a:ext uri="{FF2B5EF4-FFF2-40B4-BE49-F238E27FC236}">
                  <a16:creationId xmlns:a16="http://schemas.microsoft.com/office/drawing/2014/main" id="{0416AE96-0443-411C-BE71-9A5B75898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184" y="1478994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138">
              <a:extLst>
                <a:ext uri="{FF2B5EF4-FFF2-40B4-BE49-F238E27FC236}">
                  <a16:creationId xmlns:a16="http://schemas.microsoft.com/office/drawing/2014/main" id="{9A3BBC85-E359-4C4B-8DC9-F7BCAF748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304" y="1478994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147">
              <a:extLst>
                <a:ext uri="{FF2B5EF4-FFF2-40B4-BE49-F238E27FC236}">
                  <a16:creationId xmlns:a16="http://schemas.microsoft.com/office/drawing/2014/main" id="{AF702ED6-4773-4989-A3D0-B1C4D1EA3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8424" y="1478994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776">
              <a:extLst>
                <a:ext uri="{FF2B5EF4-FFF2-40B4-BE49-F238E27FC236}">
                  <a16:creationId xmlns:a16="http://schemas.microsoft.com/office/drawing/2014/main" id="{96F696EA-25ED-40A4-8A49-037C05495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4007" y="1478994"/>
              <a:ext cx="3744417" cy="0"/>
            </a:xfrm>
            <a:prstGeom prst="line">
              <a:avLst/>
            </a:prstGeom>
            <a:noFill/>
            <a:ln w="19050" cmpd="sng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135">
              <a:extLst>
                <a:ext uri="{FF2B5EF4-FFF2-40B4-BE49-F238E27FC236}">
                  <a16:creationId xmlns:a16="http://schemas.microsoft.com/office/drawing/2014/main" id="{14AE9A93-75E7-4CCB-BD29-B927739F1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7208" y="1874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135">
              <a:extLst>
                <a:ext uri="{FF2B5EF4-FFF2-40B4-BE49-F238E27FC236}">
                  <a16:creationId xmlns:a16="http://schemas.microsoft.com/office/drawing/2014/main" id="{FCD48F0F-773E-4AF4-943B-21F888C86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104" y="1874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0" name="Group 283">
            <a:extLst>
              <a:ext uri="{FF2B5EF4-FFF2-40B4-BE49-F238E27FC236}">
                <a16:creationId xmlns:a16="http://schemas.microsoft.com/office/drawing/2014/main" id="{406A1F2C-F933-497E-AC4B-7D98471FE79C}"/>
              </a:ext>
            </a:extLst>
          </p:cNvPr>
          <p:cNvGrpSpPr/>
          <p:nvPr/>
        </p:nvGrpSpPr>
        <p:grpSpPr bwMode="auto">
          <a:xfrm>
            <a:off x="4643439" y="2925339"/>
            <a:ext cx="3744913" cy="360363"/>
            <a:chOff x="2925" y="1299"/>
            <a:chExt cx="2359" cy="227"/>
          </a:xfrm>
        </p:grpSpPr>
        <p:sp>
          <p:nvSpPr>
            <p:cNvPr id="231" name="Line 46">
              <a:extLst>
                <a:ext uri="{FF2B5EF4-FFF2-40B4-BE49-F238E27FC236}">
                  <a16:creationId xmlns:a16="http://schemas.microsoft.com/office/drawing/2014/main" id="{938298C0-3B80-4CF6-9EE7-83A11F8DD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1390"/>
              <a:ext cx="235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50">
              <a:extLst>
                <a:ext uri="{FF2B5EF4-FFF2-40B4-BE49-F238E27FC236}">
                  <a16:creationId xmlns:a16="http://schemas.microsoft.com/office/drawing/2014/main" id="{3F4DE479-3C15-43AF-A4BD-E6C919544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2" y="1299"/>
              <a:ext cx="0" cy="9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65">
              <a:extLst>
                <a:ext uri="{FF2B5EF4-FFF2-40B4-BE49-F238E27FC236}">
                  <a16:creationId xmlns:a16="http://schemas.microsoft.com/office/drawing/2014/main" id="{4F1C40E5-68AD-4241-872D-8B0E33716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1435"/>
              <a:ext cx="2359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66">
              <a:extLst>
                <a:ext uri="{FF2B5EF4-FFF2-40B4-BE49-F238E27FC236}">
                  <a16:creationId xmlns:a16="http://schemas.microsoft.com/office/drawing/2014/main" id="{CFFC272C-E330-4EB7-9E26-735E5B38A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1476"/>
              <a:ext cx="2359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67">
              <a:extLst>
                <a:ext uri="{FF2B5EF4-FFF2-40B4-BE49-F238E27FC236}">
                  <a16:creationId xmlns:a16="http://schemas.microsoft.com/office/drawing/2014/main" id="{8F195749-2AD9-48E2-A4A6-A8D259EF9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1526"/>
              <a:ext cx="235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123">
              <a:extLst>
                <a:ext uri="{FF2B5EF4-FFF2-40B4-BE49-F238E27FC236}">
                  <a16:creationId xmlns:a16="http://schemas.microsoft.com/office/drawing/2014/main" id="{275F88D8-63BC-4443-BB70-00966B9C17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3" y="1299"/>
              <a:ext cx="0" cy="13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132">
              <a:extLst>
                <a:ext uri="{FF2B5EF4-FFF2-40B4-BE49-F238E27FC236}">
                  <a16:creationId xmlns:a16="http://schemas.microsoft.com/office/drawing/2014/main" id="{88534CEB-6540-43FB-93A4-71122DCE9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3" y="1299"/>
              <a:ext cx="0" cy="18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141">
              <a:extLst>
                <a:ext uri="{FF2B5EF4-FFF2-40B4-BE49-F238E27FC236}">
                  <a16:creationId xmlns:a16="http://schemas.microsoft.com/office/drawing/2014/main" id="{71F00E1E-40C8-4843-8400-C78341197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3" y="1299"/>
              <a:ext cx="0" cy="227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9" name="Rectangle 281">
            <a:extLst>
              <a:ext uri="{FF2B5EF4-FFF2-40B4-BE49-F238E27FC236}">
                <a16:creationId xmlns:a16="http://schemas.microsoft.com/office/drawing/2014/main" id="{77F06CFE-9C42-47B9-A8FC-5FEA6821F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3106461"/>
            <a:ext cx="2303463" cy="180000"/>
          </a:xfrm>
          <a:prstGeom prst="rect">
            <a:avLst/>
          </a:prstGeom>
          <a:solidFill>
            <a:srgbClr val="FFCCFF">
              <a:alpha val="80000"/>
            </a:srgbClr>
          </a:solidFill>
          <a:ln w="12700">
            <a:solidFill>
              <a:schemeClr val="tx1"/>
            </a:solidFill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" name="AutoShape 331"/>
          <p:cNvSpPr/>
          <p:nvPr/>
        </p:nvSpPr>
        <p:spPr bwMode="auto">
          <a:xfrm>
            <a:off x="1835224" y="3789040"/>
            <a:ext cx="2232000" cy="252000"/>
          </a:xfrm>
          <a:prstGeom prst="borderCallout2">
            <a:avLst>
              <a:gd name="adj1" fmla="val 50061"/>
              <a:gd name="adj2" fmla="val 82"/>
              <a:gd name="adj3" fmla="val 49854"/>
              <a:gd name="adj4" fmla="val -5359"/>
              <a:gd name="adj5" fmla="val -240721"/>
              <a:gd name="adj6" fmla="val -11746"/>
            </a:avLst>
          </a:prstGeom>
          <a:solidFill>
            <a:schemeClr val="bg1"/>
          </a:solidFill>
          <a:ln w="12700">
            <a:solidFill>
              <a:srgbClr val="FF33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访问</a:t>
            </a:r>
            <a:r>
              <a:rPr lang="zh-CN" altLang="en-US" sz="1600" b="1" u="none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各芯片</a:t>
            </a:r>
            <a:r>
              <a:rPr lang="zh-CN" altLang="en-US" sz="1600" b="1" u="none" dirty="0">
                <a:latin typeface="+mn-ea"/>
                <a:ea typeface="+mn-ea"/>
              </a:rPr>
              <a:t>的</a:t>
            </a:r>
            <a:r>
              <a:rPr lang="zh-CN" altLang="en-US" sz="1600" b="1" u="none" dirty="0">
                <a:highlight>
                  <a:srgbClr val="FFFF00"/>
                </a:highlight>
                <a:latin typeface="+mn-ea"/>
                <a:ea typeface="+mn-ea"/>
              </a:rPr>
              <a:t>同一</a:t>
            </a:r>
            <a:r>
              <a:rPr lang="zh-CN" altLang="en-US" sz="1600" b="1" u="none" dirty="0">
                <a:latin typeface="+mn-ea"/>
                <a:ea typeface="+mn-ea"/>
              </a:rPr>
              <a:t>单元</a:t>
            </a:r>
          </a:p>
        </p:txBody>
      </p:sp>
      <p:grpSp>
        <p:nvGrpSpPr>
          <p:cNvPr id="240" name="Group 213">
            <a:extLst>
              <a:ext uri="{FF2B5EF4-FFF2-40B4-BE49-F238E27FC236}">
                <a16:creationId xmlns:a16="http://schemas.microsoft.com/office/drawing/2014/main" id="{48433841-F174-447C-9F85-069C7997B757}"/>
              </a:ext>
            </a:extLst>
          </p:cNvPr>
          <p:cNvGrpSpPr/>
          <p:nvPr/>
        </p:nvGrpSpPr>
        <p:grpSpPr bwMode="auto">
          <a:xfrm>
            <a:off x="2088679" y="4653136"/>
            <a:ext cx="5614988" cy="1763713"/>
            <a:chOff x="1361" y="2569"/>
            <a:chExt cx="3537" cy="1111"/>
          </a:xfrm>
        </p:grpSpPr>
        <p:sp>
          <p:nvSpPr>
            <p:cNvPr id="241" name="Rectangle 186">
              <a:extLst>
                <a:ext uri="{FF2B5EF4-FFF2-40B4-BE49-F238E27FC236}">
                  <a16:creationId xmlns:a16="http://schemas.microsoft.com/office/drawing/2014/main" id="{3746F0FF-52FB-4554-B93F-5B7793102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569"/>
              <a:ext cx="3107" cy="108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" name="Text Box 187">
              <a:extLst>
                <a:ext uri="{FF2B5EF4-FFF2-40B4-BE49-F238E27FC236}">
                  <a16:creationId xmlns:a16="http://schemas.microsoft.com/office/drawing/2014/main" id="{4695CC8E-F75E-4900-B0A8-B6D077A3F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2569"/>
              <a:ext cx="340" cy="1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43" name="Text Box 188">
              <a:extLst>
                <a:ext uri="{FF2B5EF4-FFF2-40B4-BE49-F238E27FC236}">
                  <a16:creationId xmlns:a16="http://schemas.microsoft.com/office/drawing/2014/main" id="{508E633E-BCE8-4BC9-B5EA-E27D4D53C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3113"/>
              <a:ext cx="340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244" name="Group 189">
              <a:extLst>
                <a:ext uri="{FF2B5EF4-FFF2-40B4-BE49-F238E27FC236}">
                  <a16:creationId xmlns:a16="http://schemas.microsoft.com/office/drawing/2014/main" id="{CD6C823F-9B40-4C98-B2C1-0A1532E6E4A6}"/>
                </a:ext>
              </a:extLst>
            </p:cNvPr>
            <p:cNvGrpSpPr/>
            <p:nvPr/>
          </p:nvGrpSpPr>
          <p:grpSpPr bwMode="auto">
            <a:xfrm>
              <a:off x="1519" y="3272"/>
              <a:ext cx="181" cy="136"/>
              <a:chOff x="747" y="1322"/>
              <a:chExt cx="181" cy="136"/>
            </a:xfrm>
          </p:grpSpPr>
          <p:sp>
            <p:nvSpPr>
              <p:cNvPr id="263" name="Text Box 190">
                <a:extLst>
                  <a:ext uri="{FF2B5EF4-FFF2-40B4-BE49-F238E27FC236}">
                    <a16:creationId xmlns:a16="http://schemas.microsoft.com/office/drawing/2014/main" id="{750F0A1D-FD86-44A0-92CB-EB85BD4FB5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7" y="1322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264" name="Line 191">
                <a:extLst>
                  <a:ext uri="{FF2B5EF4-FFF2-40B4-BE49-F238E27FC236}">
                    <a16:creationId xmlns:a16="http://schemas.microsoft.com/office/drawing/2014/main" id="{C651AFE7-E4C1-41F1-BEF8-E15FDEE5B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" y="1333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" name="Text Box 192">
              <a:extLst>
                <a:ext uri="{FF2B5EF4-FFF2-40B4-BE49-F238E27FC236}">
                  <a16:creationId xmlns:a16="http://schemas.microsoft.com/office/drawing/2014/main" id="{12862940-36D4-4AA7-BBDB-DA75199BE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1" y="2704"/>
              <a:ext cx="499" cy="31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246" name="Line 194">
              <a:extLst>
                <a:ext uri="{FF2B5EF4-FFF2-40B4-BE49-F238E27FC236}">
                  <a16:creationId xmlns:a16="http://schemas.microsoft.com/office/drawing/2014/main" id="{BB690B07-B39E-468D-87B9-9A3E48C22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2614"/>
              <a:ext cx="91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195">
              <a:extLst>
                <a:ext uri="{FF2B5EF4-FFF2-40B4-BE49-F238E27FC236}">
                  <a16:creationId xmlns:a16="http://schemas.microsoft.com/office/drawing/2014/main" id="{06911424-A9E5-428E-A378-18F935A09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158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196">
              <a:extLst>
                <a:ext uri="{FF2B5EF4-FFF2-40B4-BE49-F238E27FC236}">
                  <a16:creationId xmlns:a16="http://schemas.microsoft.com/office/drawing/2014/main" id="{75827912-EC92-4C15-B4D0-EE8F66801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204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197">
              <a:extLst>
                <a:ext uri="{FF2B5EF4-FFF2-40B4-BE49-F238E27FC236}">
                  <a16:creationId xmlns:a16="http://schemas.microsoft.com/office/drawing/2014/main" id="{CEFB402E-058B-461D-9B0C-CFFDAC75E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113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198">
              <a:extLst>
                <a:ext uri="{FF2B5EF4-FFF2-40B4-BE49-F238E27FC236}">
                  <a16:creationId xmlns:a16="http://schemas.microsoft.com/office/drawing/2014/main" id="{B3417604-0D27-4D3F-8C62-BFA302E2F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249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199">
              <a:extLst>
                <a:ext uri="{FF2B5EF4-FFF2-40B4-BE49-F238E27FC236}">
                  <a16:creationId xmlns:a16="http://schemas.microsoft.com/office/drawing/2014/main" id="{77540E87-DFA7-4C69-95B4-852716428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340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00">
              <a:extLst>
                <a:ext uri="{FF2B5EF4-FFF2-40B4-BE49-F238E27FC236}">
                  <a16:creationId xmlns:a16="http://schemas.microsoft.com/office/drawing/2014/main" id="{7F7A4882-F1DD-4DCC-BB35-5AFD31F80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476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253" name="Group 208">
              <a:extLst>
                <a:ext uri="{FF2B5EF4-FFF2-40B4-BE49-F238E27FC236}">
                  <a16:creationId xmlns:a16="http://schemas.microsoft.com/office/drawing/2014/main" id="{34480A93-F3BD-495E-9A7D-8E45CA3C7801}"/>
                </a:ext>
              </a:extLst>
            </p:cNvPr>
            <p:cNvGrpSpPr/>
            <p:nvPr/>
          </p:nvGrpSpPr>
          <p:grpSpPr bwMode="auto">
            <a:xfrm>
              <a:off x="1451" y="3408"/>
              <a:ext cx="249" cy="136"/>
              <a:chOff x="1451" y="3408"/>
              <a:chExt cx="249" cy="136"/>
            </a:xfrm>
          </p:grpSpPr>
          <p:sp>
            <p:nvSpPr>
              <p:cNvPr id="261" name="Text Box 203">
                <a:extLst>
                  <a:ext uri="{FF2B5EF4-FFF2-40B4-BE49-F238E27FC236}">
                    <a16:creationId xmlns:a16="http://schemas.microsoft.com/office/drawing/2014/main" id="{A5532FF0-C6A3-41D6-BD12-D4D861772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3408"/>
                <a:ext cx="249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RAS</a:t>
                </a:r>
              </a:p>
            </p:txBody>
          </p:sp>
          <p:sp>
            <p:nvSpPr>
              <p:cNvPr id="262" name="Line 204">
                <a:extLst>
                  <a:ext uri="{FF2B5EF4-FFF2-40B4-BE49-F238E27FC236}">
                    <a16:creationId xmlns:a16="http://schemas.microsoft.com/office/drawing/2014/main" id="{C428E101-A606-4523-95DB-08E792804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7" y="3419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4" name="Text Box 205">
              <a:extLst>
                <a:ext uri="{FF2B5EF4-FFF2-40B4-BE49-F238E27FC236}">
                  <a16:creationId xmlns:a16="http://schemas.microsoft.com/office/drawing/2014/main" id="{CFCF2A3E-9982-469D-B47E-D8C17C50B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" y="2704"/>
              <a:ext cx="499" cy="31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255" name="Text Box 206">
              <a:extLst>
                <a:ext uri="{FF2B5EF4-FFF2-40B4-BE49-F238E27FC236}">
                  <a16:creationId xmlns:a16="http://schemas.microsoft.com/office/drawing/2014/main" id="{47A5C751-C0D6-4635-80BF-6243CDCA1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31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256" name="Text Box 207">
              <a:extLst>
                <a:ext uri="{FF2B5EF4-FFF2-40B4-BE49-F238E27FC236}">
                  <a16:creationId xmlns:a16="http://schemas.microsoft.com/office/drawing/2014/main" id="{4687F6A1-C935-47FC-BA7C-36DEAD163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2704"/>
              <a:ext cx="499" cy="31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grpSp>
          <p:nvGrpSpPr>
            <p:cNvPr id="257" name="Group 209">
              <a:extLst>
                <a:ext uri="{FF2B5EF4-FFF2-40B4-BE49-F238E27FC236}">
                  <a16:creationId xmlns:a16="http://schemas.microsoft.com/office/drawing/2014/main" id="{53B4E3E7-E783-4FD3-A673-A72802568827}"/>
                </a:ext>
              </a:extLst>
            </p:cNvPr>
            <p:cNvGrpSpPr/>
            <p:nvPr/>
          </p:nvGrpSpPr>
          <p:grpSpPr bwMode="auto">
            <a:xfrm>
              <a:off x="1451" y="3544"/>
              <a:ext cx="249" cy="136"/>
              <a:chOff x="1451" y="3408"/>
              <a:chExt cx="249" cy="136"/>
            </a:xfrm>
          </p:grpSpPr>
          <p:sp>
            <p:nvSpPr>
              <p:cNvPr id="259" name="Text Box 210">
                <a:extLst>
                  <a:ext uri="{FF2B5EF4-FFF2-40B4-BE49-F238E27FC236}">
                    <a16:creationId xmlns:a16="http://schemas.microsoft.com/office/drawing/2014/main" id="{E4E15F27-9F9C-4ADB-9194-73F8B7C643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3408"/>
                <a:ext cx="249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CAS</a:t>
                </a:r>
              </a:p>
            </p:txBody>
          </p:sp>
          <p:sp>
            <p:nvSpPr>
              <p:cNvPr id="260" name="Line 211">
                <a:extLst>
                  <a:ext uri="{FF2B5EF4-FFF2-40B4-BE49-F238E27FC236}">
                    <a16:creationId xmlns:a16="http://schemas.microsoft.com/office/drawing/2014/main" id="{47C269DA-2343-4FD0-85E7-E92843B33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7" y="3419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8" name="Line 212">
              <a:extLst>
                <a:ext uri="{FF2B5EF4-FFF2-40B4-BE49-F238E27FC236}">
                  <a16:creationId xmlns:a16="http://schemas.microsoft.com/office/drawing/2014/main" id="{3FB75288-4934-465F-A7C4-8F7578C3E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612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5" name="Group 279">
            <a:extLst>
              <a:ext uri="{FF2B5EF4-FFF2-40B4-BE49-F238E27FC236}">
                <a16:creationId xmlns:a16="http://schemas.microsoft.com/office/drawing/2014/main" id="{860E44AE-9DF6-47EB-8D8A-345785001319}"/>
              </a:ext>
            </a:extLst>
          </p:cNvPr>
          <p:cNvGrpSpPr/>
          <p:nvPr/>
        </p:nvGrpSpPr>
        <p:grpSpPr bwMode="auto">
          <a:xfrm>
            <a:off x="2771922" y="4724058"/>
            <a:ext cx="4824410" cy="1584325"/>
            <a:chOff x="1791" y="2658"/>
            <a:chExt cx="3039" cy="998"/>
          </a:xfrm>
        </p:grpSpPr>
        <p:sp>
          <p:nvSpPr>
            <p:cNvPr id="266" name="Line 216">
              <a:extLst>
                <a:ext uri="{FF2B5EF4-FFF2-40B4-BE49-F238E27FC236}">
                  <a16:creationId xmlns:a16="http://schemas.microsoft.com/office/drawing/2014/main" id="{223245D8-3A3B-473A-B0C4-6620965E6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3156"/>
              <a:ext cx="2676" cy="2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17">
              <a:extLst>
                <a:ext uri="{FF2B5EF4-FFF2-40B4-BE49-F238E27FC236}">
                  <a16:creationId xmlns:a16="http://schemas.microsoft.com/office/drawing/2014/main" id="{60FA0CE1-9D5F-46A5-A282-8D6425B1E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384"/>
              <a:ext cx="276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18">
              <a:extLst>
                <a:ext uri="{FF2B5EF4-FFF2-40B4-BE49-F238E27FC236}">
                  <a16:creationId xmlns:a16="http://schemas.microsoft.com/office/drawing/2014/main" id="{29815016-460E-4ACD-9145-FB2DFAD91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2658"/>
              <a:ext cx="2631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19">
              <a:extLst>
                <a:ext uri="{FF2B5EF4-FFF2-40B4-BE49-F238E27FC236}">
                  <a16:creationId xmlns:a16="http://schemas.microsoft.com/office/drawing/2014/main" id="{BFDE06FA-6854-4182-BC4E-F1142E5A2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3520"/>
              <a:ext cx="297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20">
              <a:extLst>
                <a:ext uri="{FF2B5EF4-FFF2-40B4-BE49-F238E27FC236}">
                  <a16:creationId xmlns:a16="http://schemas.microsoft.com/office/drawing/2014/main" id="{49077686-2BD1-48BE-B8AA-85D793B79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067"/>
              <a:ext cx="0" cy="89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21">
              <a:extLst>
                <a:ext uri="{FF2B5EF4-FFF2-40B4-BE49-F238E27FC236}">
                  <a16:creationId xmlns:a16="http://schemas.microsoft.com/office/drawing/2014/main" id="{5AE0FF6A-23E7-478C-8346-8D91A8567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067"/>
              <a:ext cx="0" cy="31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2" name="Line 222">
              <a:extLst>
                <a:ext uri="{FF2B5EF4-FFF2-40B4-BE49-F238E27FC236}">
                  <a16:creationId xmlns:a16="http://schemas.microsoft.com/office/drawing/2014/main" id="{1AF58292-733A-4D01-93D5-8C89B57E1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2" y="2953"/>
              <a:ext cx="6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24">
              <a:extLst>
                <a:ext uri="{FF2B5EF4-FFF2-40B4-BE49-F238E27FC236}">
                  <a16:creationId xmlns:a16="http://schemas.microsoft.com/office/drawing/2014/main" id="{8D62A096-0124-4C52-973A-7B88C02F2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2840"/>
              <a:ext cx="0" cy="81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25">
              <a:extLst>
                <a:ext uri="{FF2B5EF4-FFF2-40B4-BE49-F238E27FC236}">
                  <a16:creationId xmlns:a16="http://schemas.microsoft.com/office/drawing/2014/main" id="{76B988AE-3B49-4207-8EAA-F831A5458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3203"/>
              <a:ext cx="267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26">
              <a:extLst>
                <a:ext uri="{FF2B5EF4-FFF2-40B4-BE49-F238E27FC236}">
                  <a16:creationId xmlns:a16="http://schemas.microsoft.com/office/drawing/2014/main" id="{EEC4376A-8F2A-44B1-B715-FFB5323F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248"/>
              <a:ext cx="2676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27">
              <a:extLst>
                <a:ext uri="{FF2B5EF4-FFF2-40B4-BE49-F238E27FC236}">
                  <a16:creationId xmlns:a16="http://schemas.microsoft.com/office/drawing/2014/main" id="{8D3DC90B-B3AF-4A7C-80F9-34BC2656F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292"/>
              <a:ext cx="2676" cy="2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229">
              <a:extLst>
                <a:ext uri="{FF2B5EF4-FFF2-40B4-BE49-F238E27FC236}">
                  <a16:creationId xmlns:a16="http://schemas.microsoft.com/office/drawing/2014/main" id="{B8029361-23B5-4574-9C74-20723FEB1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658"/>
              <a:ext cx="0" cy="91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232">
              <a:extLst>
                <a:ext uri="{FF2B5EF4-FFF2-40B4-BE49-F238E27FC236}">
                  <a16:creationId xmlns:a16="http://schemas.microsoft.com/office/drawing/2014/main" id="{06D198D9-BA05-4607-AE41-D58CFEC929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5" y="3067"/>
              <a:ext cx="0" cy="13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Line 238">
              <a:extLst>
                <a:ext uri="{FF2B5EF4-FFF2-40B4-BE49-F238E27FC236}">
                  <a16:creationId xmlns:a16="http://schemas.microsoft.com/office/drawing/2014/main" id="{5EB62837-22DE-4FB9-9816-E6922B3CB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58"/>
              <a:ext cx="0" cy="91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40">
              <a:extLst>
                <a:ext uri="{FF2B5EF4-FFF2-40B4-BE49-F238E27FC236}">
                  <a16:creationId xmlns:a16="http://schemas.microsoft.com/office/drawing/2014/main" id="{DAADF5C2-9E14-4B24-93DB-7C5335A2E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3067"/>
              <a:ext cx="0" cy="18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46">
              <a:extLst>
                <a:ext uri="{FF2B5EF4-FFF2-40B4-BE49-F238E27FC236}">
                  <a16:creationId xmlns:a16="http://schemas.microsoft.com/office/drawing/2014/main" id="{6423A5B2-89A0-48F4-9AC0-AE2FAFE9D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658"/>
              <a:ext cx="0" cy="91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248">
              <a:extLst>
                <a:ext uri="{FF2B5EF4-FFF2-40B4-BE49-F238E27FC236}">
                  <a16:creationId xmlns:a16="http://schemas.microsoft.com/office/drawing/2014/main" id="{3E412DBC-EA6E-4D54-BB57-7E6548325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6" y="3067"/>
              <a:ext cx="0" cy="22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250">
              <a:extLst>
                <a:ext uri="{FF2B5EF4-FFF2-40B4-BE49-F238E27FC236}">
                  <a16:creationId xmlns:a16="http://schemas.microsoft.com/office/drawing/2014/main" id="{225824CB-38C2-41FC-91D8-4CE0CD3BE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658"/>
              <a:ext cx="0" cy="91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258">
              <a:extLst>
                <a:ext uri="{FF2B5EF4-FFF2-40B4-BE49-F238E27FC236}">
                  <a16:creationId xmlns:a16="http://schemas.microsoft.com/office/drawing/2014/main" id="{AB8DE49C-F244-4479-91C7-364287580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656"/>
              <a:ext cx="303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59">
              <a:extLst>
                <a:ext uri="{FF2B5EF4-FFF2-40B4-BE49-F238E27FC236}">
                  <a16:creationId xmlns:a16="http://schemas.microsoft.com/office/drawing/2014/main" id="{5C90EA98-B33D-4B4F-89A4-5125D5524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60">
              <a:extLst>
                <a:ext uri="{FF2B5EF4-FFF2-40B4-BE49-F238E27FC236}">
                  <a16:creationId xmlns:a16="http://schemas.microsoft.com/office/drawing/2014/main" id="{0BB41698-7CA4-4687-A9D7-A7B4E3A5E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9" y="2953"/>
              <a:ext cx="0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61">
              <a:extLst>
                <a:ext uri="{FF2B5EF4-FFF2-40B4-BE49-F238E27FC236}">
                  <a16:creationId xmlns:a16="http://schemas.microsoft.com/office/drawing/2014/main" id="{3CEEACE7-6ED7-4B3C-B9C6-8203B6CE3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3067"/>
              <a:ext cx="0" cy="31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62">
              <a:extLst>
                <a:ext uri="{FF2B5EF4-FFF2-40B4-BE49-F238E27FC236}">
                  <a16:creationId xmlns:a16="http://schemas.microsoft.com/office/drawing/2014/main" id="{7157AA50-557F-47CB-93E4-93EEEB0FE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2953"/>
              <a:ext cx="6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64">
              <a:extLst>
                <a:ext uri="{FF2B5EF4-FFF2-40B4-BE49-F238E27FC236}">
                  <a16:creationId xmlns:a16="http://schemas.microsoft.com/office/drawing/2014/main" id="{96F9F4CF-1C9F-4743-9DD4-3713F5E44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840"/>
              <a:ext cx="0" cy="81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65">
              <a:extLst>
                <a:ext uri="{FF2B5EF4-FFF2-40B4-BE49-F238E27FC236}">
                  <a16:creationId xmlns:a16="http://schemas.microsoft.com/office/drawing/2014/main" id="{2497D7AA-3026-4940-93BB-FF7333407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66">
              <a:extLst>
                <a:ext uri="{FF2B5EF4-FFF2-40B4-BE49-F238E27FC236}">
                  <a16:creationId xmlns:a16="http://schemas.microsoft.com/office/drawing/2014/main" id="{253974B5-BCC6-47BA-90EA-38F917F93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0" y="2953"/>
              <a:ext cx="0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267">
              <a:extLst>
                <a:ext uri="{FF2B5EF4-FFF2-40B4-BE49-F238E27FC236}">
                  <a16:creationId xmlns:a16="http://schemas.microsoft.com/office/drawing/2014/main" id="{19FB55A7-886F-456C-877B-6477628A9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7" y="3067"/>
              <a:ext cx="0" cy="31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268">
              <a:extLst>
                <a:ext uri="{FF2B5EF4-FFF2-40B4-BE49-F238E27FC236}">
                  <a16:creationId xmlns:a16="http://schemas.microsoft.com/office/drawing/2014/main" id="{5DF35932-FF75-4BCE-B401-63CB93C3B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4" y="2953"/>
              <a:ext cx="6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70">
              <a:extLst>
                <a:ext uri="{FF2B5EF4-FFF2-40B4-BE49-F238E27FC236}">
                  <a16:creationId xmlns:a16="http://schemas.microsoft.com/office/drawing/2014/main" id="{39D3D585-4ED3-42A4-B2C7-FC8B4C173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840"/>
              <a:ext cx="0" cy="81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71">
              <a:extLst>
                <a:ext uri="{FF2B5EF4-FFF2-40B4-BE49-F238E27FC236}">
                  <a16:creationId xmlns:a16="http://schemas.microsoft.com/office/drawing/2014/main" id="{CF54C978-CFE5-4B32-9F43-D62C8FD9C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72">
              <a:extLst>
                <a:ext uri="{FF2B5EF4-FFF2-40B4-BE49-F238E27FC236}">
                  <a16:creationId xmlns:a16="http://schemas.microsoft.com/office/drawing/2014/main" id="{8D7808B7-BC47-4FD2-95E4-7C26287EC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953"/>
              <a:ext cx="0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273">
              <a:extLst>
                <a:ext uri="{FF2B5EF4-FFF2-40B4-BE49-F238E27FC236}">
                  <a16:creationId xmlns:a16="http://schemas.microsoft.com/office/drawing/2014/main" id="{DB57F471-ECD7-4D93-A720-8029BC438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8" y="3067"/>
              <a:ext cx="0" cy="31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274">
              <a:extLst>
                <a:ext uri="{FF2B5EF4-FFF2-40B4-BE49-F238E27FC236}">
                  <a16:creationId xmlns:a16="http://schemas.microsoft.com/office/drawing/2014/main" id="{A806A980-2A45-4650-804F-7E3C85FFD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2953"/>
              <a:ext cx="6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276">
              <a:extLst>
                <a:ext uri="{FF2B5EF4-FFF2-40B4-BE49-F238E27FC236}">
                  <a16:creationId xmlns:a16="http://schemas.microsoft.com/office/drawing/2014/main" id="{3106034E-0ADF-4605-9EF4-C254431FD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840"/>
              <a:ext cx="0" cy="81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77">
              <a:extLst>
                <a:ext uri="{FF2B5EF4-FFF2-40B4-BE49-F238E27FC236}">
                  <a16:creationId xmlns:a16="http://schemas.microsoft.com/office/drawing/2014/main" id="{E4F372AC-F79E-4B36-B037-B8374E60F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78">
              <a:extLst>
                <a:ext uri="{FF2B5EF4-FFF2-40B4-BE49-F238E27FC236}">
                  <a16:creationId xmlns:a16="http://schemas.microsoft.com/office/drawing/2014/main" id="{FF3B2426-DEC6-4901-AC54-3D7521249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2" y="2953"/>
              <a:ext cx="0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7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7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447648" grpId="0"/>
      <p:bldP spid="239" grpId="0" animBg="1"/>
      <p:bldP spid="17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48" name="Text Box 744"/>
          <p:cNvSpPr txBox="1">
            <a:spLocks noChangeArrowheads="1"/>
          </p:cNvSpPr>
          <p:nvPr/>
        </p:nvSpPr>
        <p:spPr bwMode="auto">
          <a:xfrm>
            <a:off x="179387" y="1700808"/>
            <a:ext cx="5900760" cy="33058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①芯片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数量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②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4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③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24647" name="Text Box 743"/>
          <p:cNvSpPr txBox="1">
            <a:spLocks noChangeArrowheads="1"/>
          </p:cNvSpPr>
          <p:nvPr/>
        </p:nvSpPr>
        <p:spPr bwMode="auto">
          <a:xfrm>
            <a:off x="179389" y="1268760"/>
            <a:ext cx="7632972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3—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 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2K×4b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0" name="Text Box 746"/>
          <p:cNvSpPr txBox="1">
            <a:spLocks noChangeArrowheads="1"/>
          </p:cNvSpPr>
          <p:nvPr/>
        </p:nvSpPr>
        <p:spPr bwMode="auto">
          <a:xfrm>
            <a:off x="2771800" y="4437112"/>
            <a:ext cx="6120680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数据、地址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模块地址低位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、控制线</a:t>
            </a:r>
            <a:r>
              <a:rPr lang="zh-CN" altLang="en-US" sz="2200" b="1" u="none" dirty="0">
                <a:latin typeface="宋体" panose="02010600030101010101" pitchFamily="2" charset="-122"/>
              </a:rPr>
              <a:t>直连，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片选线不同，</a:t>
            </a:r>
          </a:p>
        </p:txBody>
      </p:sp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D06-20F8-4858-8AB1-6DDBFAC03CE1}" type="slidenum">
              <a:rPr lang="en-US" altLang="zh-CN"/>
              <a:t>30</a:t>
            </a:fld>
            <a:endParaRPr lang="en-US" altLang="zh-CN"/>
          </a:p>
        </p:txBody>
      </p:sp>
      <p:sp>
        <p:nvSpPr>
          <p:cNvPr id="124646" name="Text Box 742"/>
          <p:cNvSpPr txBox="1">
            <a:spLocks noChangeArrowheads="1"/>
          </p:cNvSpPr>
          <p:nvPr/>
        </p:nvSpPr>
        <p:spPr bwMode="auto">
          <a:xfrm>
            <a:off x="179388" y="334293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字扩展法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扩展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字数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字长不变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芯片连接方法：</a:t>
            </a:r>
          </a:p>
        </p:txBody>
      </p:sp>
      <p:sp>
        <p:nvSpPr>
          <p:cNvPr id="124650" name="Text Box 746"/>
          <p:cNvSpPr txBox="1">
            <a:spLocks noChangeArrowheads="1"/>
          </p:cNvSpPr>
          <p:nvPr/>
        </p:nvSpPr>
        <p:spPr bwMode="auto">
          <a:xfrm>
            <a:off x="2699792" y="1701009"/>
            <a:ext cx="6336702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(2K÷1K)×(4b÷4b)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片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模块地址</a:t>
            </a:r>
            <a:r>
              <a:rPr lang="en-US" altLang="zh-CN" sz="2200" b="1" u="none" dirty="0">
                <a:latin typeface="宋体" panose="02010600030101010101" pitchFamily="2" charset="-122"/>
              </a:rPr>
              <a:t>log</a:t>
            </a:r>
            <a:r>
              <a:rPr lang="en-US" altLang="zh-CN" sz="2200" b="1" u="none" baseline="-26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(2K)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11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位，芯片地址范围不同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76000" y="2782800"/>
            <a:ext cx="2016125" cy="1260917"/>
            <a:chOff x="437684" y="3212059"/>
            <a:chExt cx="2016125" cy="1260917"/>
          </a:xfrm>
        </p:grpSpPr>
        <p:sp>
          <p:nvSpPr>
            <p:cNvPr id="124853" name="Rectangle 949"/>
            <p:cNvSpPr>
              <a:spLocks noChangeArrowheads="1"/>
            </p:cNvSpPr>
            <p:nvPr/>
          </p:nvSpPr>
          <p:spPr bwMode="auto">
            <a:xfrm>
              <a:off x="1157684" y="3212976"/>
              <a:ext cx="108000" cy="126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854" name="Rectangle 950"/>
            <p:cNvSpPr>
              <a:spLocks noChangeArrowheads="1"/>
            </p:cNvSpPr>
            <p:nvPr/>
          </p:nvSpPr>
          <p:spPr bwMode="auto">
            <a:xfrm>
              <a:off x="1265684" y="3212059"/>
              <a:ext cx="1152525" cy="126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858" name="Text Box 954"/>
            <p:cNvSpPr txBox="1">
              <a:spLocks noChangeArrowheads="1"/>
            </p:cNvSpPr>
            <p:nvPr/>
          </p:nvSpPr>
          <p:spPr bwMode="auto">
            <a:xfrm>
              <a:off x="437684" y="3212059"/>
              <a:ext cx="2016125" cy="126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(000H)00000000000</a:t>
              </a: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…       …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(3FFH)01111111111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(400H)10000000000</a:t>
              </a: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…       …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(7FFH)11111111111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4870" name="AutoShape 96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5" name="组合 94"/>
          <p:cNvGrpSpPr/>
          <p:nvPr/>
        </p:nvGrpSpPr>
        <p:grpSpPr>
          <a:xfrm>
            <a:off x="2627511" y="2564904"/>
            <a:ext cx="1368425" cy="1476000"/>
            <a:chOff x="2635250" y="3867167"/>
            <a:chExt cx="1368425" cy="1476000"/>
          </a:xfrm>
        </p:grpSpPr>
        <p:sp>
          <p:nvSpPr>
            <p:cNvPr id="92" name="Text Box 952"/>
            <p:cNvSpPr txBox="1">
              <a:spLocks noChangeArrowheads="1"/>
            </p:cNvSpPr>
            <p:nvPr/>
          </p:nvSpPr>
          <p:spPr bwMode="auto">
            <a:xfrm>
              <a:off x="2635250" y="3867167"/>
              <a:ext cx="1366838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…   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93" name="Rectangle 953"/>
            <p:cNvSpPr>
              <a:spLocks noChangeArrowheads="1"/>
            </p:cNvSpPr>
            <p:nvPr/>
          </p:nvSpPr>
          <p:spPr bwMode="auto">
            <a:xfrm>
              <a:off x="2635250" y="4731167"/>
              <a:ext cx="1368425" cy="61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(1#)</a:t>
              </a:r>
            </a:p>
          </p:txBody>
        </p:sp>
        <p:sp>
          <p:nvSpPr>
            <p:cNvPr id="94" name="Rectangle 955"/>
            <p:cNvSpPr>
              <a:spLocks noChangeArrowheads="1"/>
            </p:cNvSpPr>
            <p:nvPr/>
          </p:nvSpPr>
          <p:spPr bwMode="auto">
            <a:xfrm>
              <a:off x="2635250" y="4083997"/>
              <a:ext cx="1368425" cy="64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(0#)</a:t>
              </a:r>
            </a:p>
          </p:txBody>
        </p:sp>
      </p:grpSp>
      <p:sp>
        <p:nvSpPr>
          <p:cNvPr id="101" name="Text Box 958"/>
          <p:cNvSpPr txBox="1">
            <a:spLocks noChangeArrowheads="1"/>
          </p:cNvSpPr>
          <p:nvPr/>
        </p:nvSpPr>
        <p:spPr bwMode="auto">
          <a:xfrm>
            <a:off x="179512" y="5805264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1M×4b SRAM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4M×4b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</a:p>
        </p:txBody>
      </p:sp>
      <p:sp>
        <p:nvSpPr>
          <p:cNvPr id="102" name="AutoShape 96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Rectangle 281"/>
          <p:cNvSpPr>
            <a:spLocks noChangeArrowheads="1"/>
          </p:cNvSpPr>
          <p:nvPr/>
        </p:nvSpPr>
        <p:spPr bwMode="auto">
          <a:xfrm>
            <a:off x="2627510" y="3716904"/>
            <a:ext cx="1362725" cy="180000"/>
          </a:xfrm>
          <a:prstGeom prst="rect">
            <a:avLst/>
          </a:prstGeom>
          <a:solidFill>
            <a:srgbClr val="FFCCFF">
              <a:alpha val="80000"/>
            </a:srgbClr>
          </a:solidFill>
          <a:ln w="12700">
            <a:solidFill>
              <a:srgbClr val="CC99FF"/>
            </a:solidFill>
            <a:prstDash val="sysDash"/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" name="Text Box 58"/>
          <p:cNvSpPr txBox="1">
            <a:spLocks noChangeArrowheads="1"/>
          </p:cNvSpPr>
          <p:nvPr/>
        </p:nvSpPr>
        <p:spPr bwMode="auto">
          <a:xfrm>
            <a:off x="2449314" y="764704"/>
            <a:ext cx="644316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片选线</a:t>
            </a:r>
            <a:r>
              <a:rPr lang="zh-CN" altLang="en-US" sz="2200" b="1" u="none" dirty="0">
                <a:latin typeface="宋体" panose="02010600030101010101" pitchFamily="2" charset="-122"/>
              </a:rPr>
              <a:t>连接不同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选择存储字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其余</a:t>
            </a:r>
            <a:r>
              <a:rPr lang="zh-CN" altLang="en-US" sz="2200" b="1" u="none" dirty="0">
                <a:latin typeface="宋体" panose="02010600030101010101" pitchFamily="2" charset="-122"/>
              </a:rPr>
              <a:t>相同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访问某个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06" name="AutoShape 331"/>
          <p:cNvSpPr/>
          <p:nvPr/>
        </p:nvSpPr>
        <p:spPr bwMode="auto">
          <a:xfrm>
            <a:off x="3276336" y="4149080"/>
            <a:ext cx="3816000" cy="252000"/>
          </a:xfrm>
          <a:prstGeom prst="borderCallout2">
            <a:avLst>
              <a:gd name="adj1" fmla="val 50061"/>
              <a:gd name="adj2" fmla="val 82"/>
              <a:gd name="adj3" fmla="val 46760"/>
              <a:gd name="adj4" fmla="val -6593"/>
              <a:gd name="adj5" fmla="val -125351"/>
              <a:gd name="adj6" fmla="val -10438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访问</a:t>
            </a:r>
            <a:r>
              <a:rPr lang="zh-CN" altLang="en-US" sz="1600" b="1" u="none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某</a:t>
            </a:r>
            <a:r>
              <a:rPr lang="zh-CN" altLang="en-US" sz="1600" b="1" u="none" dirty="0">
                <a:latin typeface="+mn-ea"/>
                <a:ea typeface="+mn-ea"/>
              </a:rPr>
              <a:t>芯片的</a:t>
            </a:r>
            <a:r>
              <a:rPr lang="zh-CN" altLang="en-US" sz="1600" b="1" u="none" dirty="0">
                <a:highlight>
                  <a:srgbClr val="FFFF00"/>
                </a:highlight>
                <a:latin typeface="+mn-ea"/>
                <a:ea typeface="+mn-ea"/>
              </a:rPr>
              <a:t>地址＝模块地址低位</a:t>
            </a:r>
            <a:r>
              <a:rPr lang="zh-CN" altLang="en-US" sz="1600" b="1" u="none" dirty="0">
                <a:latin typeface="+mn-ea"/>
                <a:ea typeface="+mn-ea"/>
              </a:rPr>
              <a:t>的单元</a:t>
            </a:r>
          </a:p>
        </p:txBody>
      </p:sp>
      <p:sp>
        <p:nvSpPr>
          <p:cNvPr id="78" name="Text Box 726"/>
          <p:cNvSpPr txBox="1">
            <a:spLocks noChangeArrowheads="1"/>
          </p:cNvSpPr>
          <p:nvPr/>
        </p:nvSpPr>
        <p:spPr bwMode="auto">
          <a:xfrm>
            <a:off x="1257378" y="5445224"/>
            <a:ext cx="561887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SRAM</a:t>
            </a:r>
            <a:r>
              <a:rPr lang="zh-CN" altLang="en-US" sz="1800" dirty="0">
                <a:solidFill>
                  <a:schemeClr val="tx1"/>
                </a:solidFill>
              </a:rPr>
              <a:t>位扩展、字扩展的芯片连接方法为何不同？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C88860E-4D75-4A68-8B35-6E21503C36DF}"/>
              </a:ext>
            </a:extLst>
          </p:cNvPr>
          <p:cNvGrpSpPr/>
          <p:nvPr/>
        </p:nvGrpSpPr>
        <p:grpSpPr>
          <a:xfrm>
            <a:off x="4427984" y="4870800"/>
            <a:ext cx="4536000" cy="468000"/>
            <a:chOff x="3383761" y="4938983"/>
            <a:chExt cx="4536000" cy="468000"/>
          </a:xfrm>
        </p:grpSpPr>
        <p:sp>
          <p:nvSpPr>
            <p:cNvPr id="124861" name="Text Box 957"/>
            <p:cNvSpPr txBox="1">
              <a:spLocks noChangeArrowheads="1"/>
            </p:cNvSpPr>
            <p:nvPr/>
          </p:nvSpPr>
          <p:spPr bwMode="auto">
            <a:xfrm>
              <a:off x="3383761" y="4938983"/>
              <a:ext cx="4536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rIns="18000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0#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1#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片选逻辑为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CS#</a:t>
              </a:r>
              <a:r>
                <a:rPr lang="en-US" altLang="zh-CN" sz="2200" b="1" u="none" dirty="0">
                  <a:latin typeface="+mn-lt"/>
                </a:rPr>
                <a:t>·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2200" b="1" u="none" baseline="-18000" dirty="0">
                  <a:latin typeface="宋体" panose="02010600030101010101" pitchFamily="2" charset="-122"/>
                </a:rPr>
                <a:t>10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CS#</a:t>
              </a:r>
              <a:r>
                <a:rPr lang="en-US" altLang="zh-CN" sz="2200" b="1" u="none" dirty="0"/>
                <a:t>·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10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连接符 95"/>
            <p:cNvCxnSpPr/>
            <p:nvPr/>
          </p:nvCxnSpPr>
          <p:spPr bwMode="auto">
            <a:xfrm>
              <a:off x="6245761" y="5056604"/>
              <a:ext cx="324000" cy="1588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/>
          </p:nvCxnSpPr>
          <p:spPr bwMode="auto">
            <a:xfrm>
              <a:off x="5738161" y="4988204"/>
              <a:ext cx="828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6857761" y="4983498"/>
              <a:ext cx="828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/>
          </p:nvCxnSpPr>
          <p:spPr bwMode="auto">
            <a:xfrm>
              <a:off x="5738161" y="5056604"/>
              <a:ext cx="396000" cy="1588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91041F3-C154-43D4-8803-993C62DCF323}"/>
                </a:ext>
              </a:extLst>
            </p:cNvPr>
            <p:cNvCxnSpPr/>
            <p:nvPr/>
          </p:nvCxnSpPr>
          <p:spPr bwMode="auto">
            <a:xfrm>
              <a:off x="6857761" y="5056604"/>
              <a:ext cx="396000" cy="1588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DB9C44C-5C3C-4969-8478-57F9663C256B}"/>
              </a:ext>
            </a:extLst>
          </p:cNvPr>
          <p:cNvGrpSpPr/>
          <p:nvPr/>
        </p:nvGrpSpPr>
        <p:grpSpPr>
          <a:xfrm>
            <a:off x="4356000" y="2708920"/>
            <a:ext cx="4318468" cy="1332000"/>
            <a:chOff x="4356000" y="3387472"/>
            <a:chExt cx="4318468" cy="1332000"/>
          </a:xfrm>
        </p:grpSpPr>
        <p:sp>
          <p:nvSpPr>
            <p:cNvPr id="82" name="Rectangle 749">
              <a:extLst>
                <a:ext uri="{FF2B5EF4-FFF2-40B4-BE49-F238E27FC236}">
                  <a16:creationId xmlns:a16="http://schemas.microsoft.com/office/drawing/2014/main" id="{40090100-BFC8-41CB-94DC-6DB61D31A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468" y="3387473"/>
              <a:ext cx="3600000" cy="129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750">
              <a:extLst>
                <a:ext uri="{FF2B5EF4-FFF2-40B4-BE49-F238E27FC236}">
                  <a16:creationId xmlns:a16="http://schemas.microsoft.com/office/drawing/2014/main" id="{3C37D93B-2A34-4EEB-A11D-0A2BAE37A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3639472"/>
              <a:ext cx="577181" cy="2273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4" name="Text Box 751">
              <a:extLst>
                <a:ext uri="{FF2B5EF4-FFF2-40B4-BE49-F238E27FC236}">
                  <a16:creationId xmlns:a16="http://schemas.microsoft.com/office/drawing/2014/main" id="{02B6F8BB-AE07-4BD0-8B6B-A29119632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3927472"/>
              <a:ext cx="576263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5" name="Text Box 753">
              <a:extLst>
                <a:ext uri="{FF2B5EF4-FFF2-40B4-BE49-F238E27FC236}">
                  <a16:creationId xmlns:a16="http://schemas.microsoft.com/office/drawing/2014/main" id="{08556497-A82B-4CBD-AB93-F7F4C6CC1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000" y="4287472"/>
              <a:ext cx="2873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86" name="Line 754">
              <a:extLst>
                <a:ext uri="{FF2B5EF4-FFF2-40B4-BE49-F238E27FC236}">
                  <a16:creationId xmlns:a16="http://schemas.microsoft.com/office/drawing/2014/main" id="{63ABA486-3451-45CC-96F9-26D2F568B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200" y="4298272"/>
              <a:ext cx="19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 dirty="0"/>
            </a:p>
          </p:txBody>
        </p:sp>
        <p:sp>
          <p:nvSpPr>
            <p:cNvPr id="87" name="Text Box 755">
              <a:extLst>
                <a:ext uri="{FF2B5EF4-FFF2-40B4-BE49-F238E27FC236}">
                  <a16:creationId xmlns:a16="http://schemas.microsoft.com/office/drawing/2014/main" id="{5FCD6B5A-705D-4340-B1F8-9E4E42A23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145" y="3675472"/>
              <a:ext cx="1008063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0#</a:t>
              </a:r>
            </a:p>
          </p:txBody>
        </p:sp>
        <p:sp>
          <p:nvSpPr>
            <p:cNvPr id="88" name="Line 757">
              <a:extLst>
                <a:ext uri="{FF2B5EF4-FFF2-40B4-BE49-F238E27FC236}">
                  <a16:creationId xmlns:a16="http://schemas.microsoft.com/office/drawing/2014/main" id="{C4B86D3B-7D5D-449C-BC4E-33AE3EE62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000" y="3747472"/>
              <a:ext cx="360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758">
              <a:extLst>
                <a:ext uri="{FF2B5EF4-FFF2-40B4-BE49-F238E27FC236}">
                  <a16:creationId xmlns:a16="http://schemas.microsoft.com/office/drawing/2014/main" id="{5096D2F3-656B-4D1F-B32B-8C98D161D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000" y="4035472"/>
              <a:ext cx="360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762">
              <a:extLst>
                <a:ext uri="{FF2B5EF4-FFF2-40B4-BE49-F238E27FC236}">
                  <a16:creationId xmlns:a16="http://schemas.microsoft.com/office/drawing/2014/main" id="{9F81F3A7-1DD4-417A-96CC-BAD404CB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000" y="4395472"/>
              <a:ext cx="2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763">
              <a:extLst>
                <a:ext uri="{FF2B5EF4-FFF2-40B4-BE49-F238E27FC236}">
                  <a16:creationId xmlns:a16="http://schemas.microsoft.com/office/drawing/2014/main" id="{70254A1B-43AA-48DE-851A-4ECC51433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000" y="4611472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766">
              <a:extLst>
                <a:ext uri="{FF2B5EF4-FFF2-40B4-BE49-F238E27FC236}">
                  <a16:creationId xmlns:a16="http://schemas.microsoft.com/office/drawing/2014/main" id="{C83F8DDA-57CB-4898-B689-EF5F497C7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000" y="4503472"/>
              <a:ext cx="2873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105" name="Line 767">
              <a:extLst>
                <a:ext uri="{FF2B5EF4-FFF2-40B4-BE49-F238E27FC236}">
                  <a16:creationId xmlns:a16="http://schemas.microsoft.com/office/drawing/2014/main" id="{9DB7352C-6D4F-40C6-87BF-C0AE944B1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200" y="4514272"/>
              <a:ext cx="19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109" name="Text Box 771">
              <a:extLst>
                <a:ext uri="{FF2B5EF4-FFF2-40B4-BE49-F238E27FC236}">
                  <a16:creationId xmlns:a16="http://schemas.microsoft.com/office/drawing/2014/main" id="{8395469A-3846-4093-9B89-B9017F863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387472"/>
              <a:ext cx="360363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0" name="Line 772">
              <a:extLst>
                <a:ext uri="{FF2B5EF4-FFF2-40B4-BE49-F238E27FC236}">
                  <a16:creationId xmlns:a16="http://schemas.microsoft.com/office/drawing/2014/main" id="{189028D4-AF2C-4C88-8D2C-2E9299D30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000" y="3459472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Text Box 915">
              <a:extLst>
                <a:ext uri="{FF2B5EF4-FFF2-40B4-BE49-F238E27FC236}">
                  <a16:creationId xmlns:a16="http://schemas.microsoft.com/office/drawing/2014/main" id="{58288A49-40BA-4068-9B02-2A8BA7140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114" y="3675472"/>
              <a:ext cx="1008063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1#</a:t>
              </a: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A7BCB732-C11E-4113-BD45-9BDCC4E42D81}"/>
              </a:ext>
            </a:extLst>
          </p:cNvPr>
          <p:cNvGrpSpPr/>
          <p:nvPr/>
        </p:nvGrpSpPr>
        <p:grpSpPr>
          <a:xfrm>
            <a:off x="5148065" y="2852920"/>
            <a:ext cx="2665089" cy="866852"/>
            <a:chOff x="5148065" y="3569816"/>
            <a:chExt cx="2665089" cy="866852"/>
          </a:xfrm>
        </p:grpSpPr>
        <p:sp>
          <p:nvSpPr>
            <p:cNvPr id="113" name="Line 776">
              <a:extLst>
                <a:ext uri="{FF2B5EF4-FFF2-40B4-BE49-F238E27FC236}">
                  <a16:creationId xmlns:a16="http://schemas.microsoft.com/office/drawing/2014/main" id="{2CF06D5B-B498-423C-980D-FBC4F6D2D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476" y="4361816"/>
              <a:ext cx="2161432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777">
              <a:extLst>
                <a:ext uri="{FF2B5EF4-FFF2-40B4-BE49-F238E27FC236}">
                  <a16:creationId xmlns:a16="http://schemas.microsoft.com/office/drawing/2014/main" id="{7481752B-F256-4C07-9801-C5E9DE2B9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65" y="4433816"/>
              <a:ext cx="26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780">
              <a:extLst>
                <a:ext uri="{FF2B5EF4-FFF2-40B4-BE49-F238E27FC236}">
                  <a16:creationId xmlns:a16="http://schemas.microsoft.com/office/drawing/2014/main" id="{F29134DB-FEAB-4802-BE5B-88EAE09181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6136" y="421781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781">
              <a:extLst>
                <a:ext uri="{FF2B5EF4-FFF2-40B4-BE49-F238E27FC236}">
                  <a16:creationId xmlns:a16="http://schemas.microsoft.com/office/drawing/2014/main" id="{EE9B2948-EE24-4F37-98D5-7207B9A97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56176" y="4217816"/>
              <a:ext cx="0" cy="21885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789">
              <a:extLst>
                <a:ext uri="{FF2B5EF4-FFF2-40B4-BE49-F238E27FC236}">
                  <a16:creationId xmlns:a16="http://schemas.microsoft.com/office/drawing/2014/main" id="{755D9E3C-0A2F-41D5-82B8-FAA79AB67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0152" y="3569816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916">
              <a:extLst>
                <a:ext uri="{FF2B5EF4-FFF2-40B4-BE49-F238E27FC236}">
                  <a16:creationId xmlns:a16="http://schemas.microsoft.com/office/drawing/2014/main" id="{E6597BE6-3BBE-409E-BD6D-CB2D8EA4C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2320" y="421781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917">
              <a:extLst>
                <a:ext uri="{FF2B5EF4-FFF2-40B4-BE49-F238E27FC236}">
                  <a16:creationId xmlns:a16="http://schemas.microsoft.com/office/drawing/2014/main" id="{0A25BF1A-64E7-4ED8-ACC0-7E51261DD2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3154" y="4217816"/>
              <a:ext cx="0" cy="21882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922">
              <a:extLst>
                <a:ext uri="{FF2B5EF4-FFF2-40B4-BE49-F238E27FC236}">
                  <a16:creationId xmlns:a16="http://schemas.microsoft.com/office/drawing/2014/main" id="{7FCBB023-57B4-4BCE-B721-6CE73593C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336" y="3569816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776">
              <a:extLst>
                <a:ext uri="{FF2B5EF4-FFF2-40B4-BE49-F238E27FC236}">
                  <a16:creationId xmlns:a16="http://schemas.microsoft.com/office/drawing/2014/main" id="{3992E293-0598-4807-A051-70FFDB99C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81" y="3569816"/>
              <a:ext cx="2304256" cy="0"/>
            </a:xfrm>
            <a:prstGeom prst="line">
              <a:avLst/>
            </a:prstGeom>
            <a:noFill/>
            <a:ln w="19050" cmpd="sng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758">
              <a:extLst>
                <a:ext uri="{FF2B5EF4-FFF2-40B4-BE49-F238E27FC236}">
                  <a16:creationId xmlns:a16="http://schemas.microsoft.com/office/drawing/2014/main" id="{F6126F9B-2524-460D-A9A2-796BF2569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00" y="4073816"/>
              <a:ext cx="0" cy="288032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758">
              <a:extLst>
                <a:ext uri="{FF2B5EF4-FFF2-40B4-BE49-F238E27FC236}">
                  <a16:creationId xmlns:a16="http://schemas.microsoft.com/office/drawing/2014/main" id="{4763401B-AD24-44F6-BEF8-ED4A372DD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80" y="3569816"/>
              <a:ext cx="0" cy="216024"/>
            </a:xfrm>
            <a:prstGeom prst="line">
              <a:avLst/>
            </a:prstGeom>
            <a:noFill/>
            <a:ln w="19050" cmpd="sng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A6FE9B4-86C8-41DF-97BA-3A566B6BCDFC}"/>
              </a:ext>
            </a:extLst>
          </p:cNvPr>
          <p:cNvGrpSpPr/>
          <p:nvPr/>
        </p:nvGrpSpPr>
        <p:grpSpPr>
          <a:xfrm>
            <a:off x="5076055" y="2780920"/>
            <a:ext cx="3529163" cy="1153081"/>
            <a:chOff x="4715943" y="3259584"/>
            <a:chExt cx="3529163" cy="1153081"/>
          </a:xfrm>
        </p:grpSpPr>
        <p:sp>
          <p:nvSpPr>
            <p:cNvPr id="125" name="Line 783">
              <a:extLst>
                <a:ext uri="{FF2B5EF4-FFF2-40B4-BE49-F238E27FC236}">
                  <a16:creationId xmlns:a16="http://schemas.microsoft.com/office/drawing/2014/main" id="{FC7B043F-249B-40EE-8293-DDB3779FE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300" y="376358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6" name="Text Box 909">
              <a:extLst>
                <a:ext uri="{FF2B5EF4-FFF2-40B4-BE49-F238E27FC236}">
                  <a16:creationId xmlns:a16="http://schemas.microsoft.com/office/drawing/2014/main" id="{811E5E21-BE57-46DE-BAC1-1FE2CE549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888" y="3619584"/>
              <a:ext cx="144463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Oval 910">
              <a:extLst>
                <a:ext uri="{FF2B5EF4-FFF2-40B4-BE49-F238E27FC236}">
                  <a16:creationId xmlns:a16="http://schemas.microsoft.com/office/drawing/2014/main" id="{44CBA9D0-358D-4BF8-BE59-F50BCACBC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888" y="3727584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Oval 911">
              <a:extLst>
                <a:ext uri="{FF2B5EF4-FFF2-40B4-BE49-F238E27FC236}">
                  <a16:creationId xmlns:a16="http://schemas.microsoft.com/office/drawing/2014/main" id="{7ABA2071-2FE0-4F08-89CE-B7BB9FBA0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7888" y="3799584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Oval 912">
              <a:extLst>
                <a:ext uri="{FF2B5EF4-FFF2-40B4-BE49-F238E27FC236}">
                  <a16:creationId xmlns:a16="http://schemas.microsoft.com/office/drawing/2014/main" id="{522DC3B2-E879-4E33-BDEB-417BF8496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7888" y="3655584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913">
              <a:extLst>
                <a:ext uri="{FF2B5EF4-FFF2-40B4-BE49-F238E27FC236}">
                  <a16:creationId xmlns:a16="http://schemas.microsoft.com/office/drawing/2014/main" id="{3A522EDA-1E5D-4930-A532-4F974CE52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9888" y="3835584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914">
              <a:extLst>
                <a:ext uri="{FF2B5EF4-FFF2-40B4-BE49-F238E27FC236}">
                  <a16:creationId xmlns:a16="http://schemas.microsoft.com/office/drawing/2014/main" id="{7FF3224A-D9A3-4B60-90C5-CD6F8C4DC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9888" y="3691584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784">
              <a:extLst>
                <a:ext uri="{FF2B5EF4-FFF2-40B4-BE49-F238E27FC236}">
                  <a16:creationId xmlns:a16="http://schemas.microsoft.com/office/drawing/2014/main" id="{DC2D8AA9-F294-4CBD-BB49-97FB5118D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6538" y="3835584"/>
              <a:ext cx="0" cy="57708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821">
              <a:extLst>
                <a:ext uri="{FF2B5EF4-FFF2-40B4-BE49-F238E27FC236}">
                  <a16:creationId xmlns:a16="http://schemas.microsoft.com/office/drawing/2014/main" id="{9C019B4C-5EC3-4C0F-A162-DF6004AD5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6538" y="3259584"/>
              <a:ext cx="0" cy="432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919">
              <a:extLst>
                <a:ext uri="{FF2B5EF4-FFF2-40B4-BE49-F238E27FC236}">
                  <a16:creationId xmlns:a16="http://schemas.microsoft.com/office/drawing/2014/main" id="{488BB53B-9698-4CDE-BFF3-82C14441B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0280" y="376358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920">
              <a:extLst>
                <a:ext uri="{FF2B5EF4-FFF2-40B4-BE49-F238E27FC236}">
                  <a16:creationId xmlns:a16="http://schemas.microsoft.com/office/drawing/2014/main" id="{585904BE-FCB7-461C-8485-9BC215B7F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45105" y="3835584"/>
              <a:ext cx="0" cy="57708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928">
              <a:extLst>
                <a:ext uri="{FF2B5EF4-FFF2-40B4-BE49-F238E27FC236}">
                  <a16:creationId xmlns:a16="http://schemas.microsoft.com/office/drawing/2014/main" id="{800D36F2-211A-4D0F-9E86-B05FC918D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3516" y="3259585"/>
              <a:ext cx="0" cy="468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Text Box 929">
              <a:extLst>
                <a:ext uri="{FF2B5EF4-FFF2-40B4-BE49-F238E27FC236}">
                  <a16:creationId xmlns:a16="http://schemas.microsoft.com/office/drawing/2014/main" id="{92AC1F0D-59B8-4425-B079-2D6AF03D4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9888" y="3619584"/>
              <a:ext cx="144463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Oval 930">
              <a:extLst>
                <a:ext uri="{FF2B5EF4-FFF2-40B4-BE49-F238E27FC236}">
                  <a16:creationId xmlns:a16="http://schemas.microsoft.com/office/drawing/2014/main" id="{5482C42B-D556-4365-AC77-38640B6A3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888" y="3727584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Oval 931">
              <a:extLst>
                <a:ext uri="{FF2B5EF4-FFF2-40B4-BE49-F238E27FC236}">
                  <a16:creationId xmlns:a16="http://schemas.microsoft.com/office/drawing/2014/main" id="{61545FBB-882E-4ACE-B9B8-F0E41A0E0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3888" y="3799584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933">
              <a:extLst>
                <a:ext uri="{FF2B5EF4-FFF2-40B4-BE49-F238E27FC236}">
                  <a16:creationId xmlns:a16="http://schemas.microsoft.com/office/drawing/2014/main" id="{9A5C382D-DEBB-42A7-AEF3-37AF46DAF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5888" y="3835584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934">
              <a:extLst>
                <a:ext uri="{FF2B5EF4-FFF2-40B4-BE49-F238E27FC236}">
                  <a16:creationId xmlns:a16="http://schemas.microsoft.com/office/drawing/2014/main" id="{37A80A75-34B9-4C69-B1EC-FFDC0D0BE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3887" y="3727584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779">
              <a:extLst>
                <a:ext uri="{FF2B5EF4-FFF2-40B4-BE49-F238E27FC236}">
                  <a16:creationId xmlns:a16="http://schemas.microsoft.com/office/drawing/2014/main" id="{E59E7C68-4433-48F2-80AB-16F49ADDB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5944" y="4411584"/>
              <a:ext cx="352916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817">
              <a:extLst>
                <a:ext uri="{FF2B5EF4-FFF2-40B4-BE49-F238E27FC236}">
                  <a16:creationId xmlns:a16="http://schemas.microsoft.com/office/drawing/2014/main" id="{E081318D-1BD9-45C2-8009-D278E8096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5943" y="3259608"/>
              <a:ext cx="352757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4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48" grpId="0"/>
      <p:bldP spid="124647" grpId="0"/>
      <p:bldP spid="100" grpId="0" bldLvl="0" animBg="1"/>
      <p:bldP spid="101" grpId="0"/>
      <p:bldP spid="103" grpId="0" animBg="1"/>
      <p:bldP spid="158" grpId="0"/>
      <p:bldP spid="106" grpId="0" animBg="1"/>
      <p:bldP spid="7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69C4-5AA3-4F48-AAA7-4274D4D06757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448646" name="Text Box 134"/>
          <p:cNvSpPr txBox="1">
            <a:spLocks noChangeArrowheads="1"/>
          </p:cNvSpPr>
          <p:nvPr/>
        </p:nvSpPr>
        <p:spPr bwMode="auto">
          <a:xfrm>
            <a:off x="179388" y="332656"/>
            <a:ext cx="8785225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4—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 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4K×4b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解：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所需芯片数量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—(4K÷1K)×(4b÷4b)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片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扩展方法分析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无法用行地址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选择芯片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芯片行地址长度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不够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449142" name="AutoShape 63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Text Box 633"/>
          <p:cNvSpPr txBox="1">
            <a:spLocks noChangeArrowheads="1"/>
          </p:cNvSpPr>
          <p:nvPr/>
        </p:nvSpPr>
        <p:spPr bwMode="auto">
          <a:xfrm>
            <a:off x="179512" y="2060848"/>
            <a:ext cx="8785225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2200" b="1" u="none" dirty="0">
                <a:latin typeface="宋体" panose="02010600030101010101" pitchFamily="2" charset="-122"/>
              </a:rPr>
              <a:t>扩展方法</a:t>
            </a:r>
            <a:r>
              <a:rPr lang="en-US" altLang="zh-CN" sz="2200" b="1" u="none" dirty="0">
                <a:latin typeface="宋体" panose="02010600030101010101" pitchFamily="2" charset="-122"/>
              </a:rPr>
              <a:t>①—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锁存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行列地址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增设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个锁存器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←成本高、速度慢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     ☆</a:t>
            </a:r>
            <a:r>
              <a:rPr lang="zh-CN" altLang="en-US" sz="2200" b="1" u="none" dirty="0">
                <a:latin typeface="宋体" panose="02010600030101010101" pitchFamily="2" charset="-122"/>
              </a:rPr>
              <a:t>扩展方法②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开放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片选信号，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外部选择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←设置</a:t>
            </a:r>
            <a:r>
              <a:rPr lang="zh-CN" altLang="en-US" sz="1800" b="1" dirty="0">
                <a:latin typeface="宋体" panose="02010600030101010101" pitchFamily="2" charset="-122"/>
              </a:rPr>
              <a:t>多个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RAS#</a:t>
            </a:r>
            <a:r>
              <a:rPr lang="zh-CN" altLang="en-US" sz="1800" u="none" dirty="0">
                <a:latin typeface="宋体" panose="02010600030101010101" pitchFamily="2" charset="-122"/>
              </a:rPr>
              <a:t>    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←用</a:t>
            </a:r>
            <a:r>
              <a:rPr lang="zh-CN" altLang="en-US" sz="1800" b="1" dirty="0">
                <a:latin typeface="宋体" panose="02010600030101010101" pitchFamily="2" charset="-122"/>
              </a:rPr>
              <a:t>地址高位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译码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483880" y="1700808"/>
            <a:ext cx="4104336" cy="288000"/>
            <a:chOff x="2483880" y="980728"/>
            <a:chExt cx="4104336" cy="288000"/>
          </a:xfrm>
        </p:grpSpPr>
        <p:sp>
          <p:nvSpPr>
            <p:cNvPr id="180" name="Text Box 625"/>
            <p:cNvSpPr txBox="1">
              <a:spLocks noChangeArrowheads="1"/>
            </p:cNvSpPr>
            <p:nvPr/>
          </p:nvSpPr>
          <p:spPr bwMode="auto">
            <a:xfrm>
              <a:off x="5148216" y="980728"/>
              <a:ext cx="144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800" b="1" u="none" dirty="0">
                  <a:highlight>
                    <a:srgbClr val="CCFF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FFFF"/>
                  </a:highlight>
                  <a:latin typeface="宋体" panose="02010600030101010101" pitchFamily="2" charset="-122"/>
                </a:rPr>
                <a:t>5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81" name="Text Box 624"/>
            <p:cNvSpPr txBox="1">
              <a:spLocks noChangeArrowheads="1"/>
            </p:cNvSpPr>
            <p:nvPr/>
          </p:nvSpPr>
          <p:spPr bwMode="auto">
            <a:xfrm>
              <a:off x="3491880" y="980728"/>
              <a:ext cx="165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800" b="1" u="none" dirty="0">
                  <a:highlight>
                    <a:srgbClr val="CCCC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CCFF"/>
                  </a:highlight>
                  <a:latin typeface="宋体" panose="02010600030101010101" pitchFamily="2" charset="-122"/>
                </a:rPr>
                <a:t>11</a:t>
              </a:r>
              <a:r>
                <a:rPr lang="en-US" altLang="zh-CN" sz="1800" b="1" u="none" dirty="0">
                  <a:highlight>
                    <a:srgbClr val="CCCC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CCFF"/>
                  </a:highlight>
                  <a:latin typeface="宋体" panose="02010600030101010101" pitchFamily="2" charset="-122"/>
                </a:rPr>
                <a:t>10</a:t>
              </a:r>
              <a:r>
                <a:rPr lang="en-US" altLang="zh-CN" sz="1800" b="1" u="none" dirty="0">
                  <a:highlight>
                    <a:srgbClr val="CCFF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FFFF"/>
                  </a:highlight>
                  <a:latin typeface="宋体" panose="02010600030101010101" pitchFamily="2" charset="-122"/>
                </a:rPr>
                <a:t>9</a:t>
              </a:r>
              <a:r>
                <a:rPr lang="en-US" altLang="zh-CN" sz="1800" b="1" u="none" dirty="0">
                  <a:highlight>
                    <a:srgbClr val="CCFF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FFFF"/>
                  </a:highlight>
                  <a:latin typeface="宋体" panose="02010600030101010101" pitchFamily="2" charset="-122"/>
                </a:rPr>
                <a:t>8</a:t>
              </a:r>
              <a:r>
                <a:rPr lang="en-US" altLang="zh-CN" sz="1800" b="1" u="none" dirty="0">
                  <a:highlight>
                    <a:srgbClr val="CCFF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FFFF"/>
                  </a:highlight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>
                  <a:highlight>
                    <a:srgbClr val="CCFFFF"/>
                  </a:highlight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highlight>
                    <a:srgbClr val="CCFFFF"/>
                  </a:highlight>
                  <a:latin typeface="宋体" panose="02010600030101010101" pitchFamily="2" charset="-122"/>
                </a:rPr>
                <a:t>6</a:t>
              </a:r>
            </a:p>
          </p:txBody>
        </p:sp>
        <p:sp>
          <p:nvSpPr>
            <p:cNvPr id="186" name="Text Box 624"/>
            <p:cNvSpPr txBox="1">
              <a:spLocks noChangeArrowheads="1"/>
            </p:cNvSpPr>
            <p:nvPr/>
          </p:nvSpPr>
          <p:spPr bwMode="auto">
            <a:xfrm>
              <a:off x="2483880" y="980728"/>
              <a:ext cx="1008000" cy="288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模块地址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6" name="AutoShape 96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452823-6B62-462B-A245-2DA97B044D64}"/>
              </a:ext>
            </a:extLst>
          </p:cNvPr>
          <p:cNvGrpSpPr/>
          <p:nvPr/>
        </p:nvGrpSpPr>
        <p:grpSpPr>
          <a:xfrm>
            <a:off x="1619672" y="3356992"/>
            <a:ext cx="1259818" cy="1692000"/>
            <a:chOff x="1296000" y="4241129"/>
            <a:chExt cx="1259818" cy="1692000"/>
          </a:xfrm>
        </p:grpSpPr>
        <p:sp>
          <p:nvSpPr>
            <p:cNvPr id="154" name="Text Box 546"/>
            <p:cNvSpPr txBox="1">
              <a:spLocks noChangeArrowheads="1"/>
            </p:cNvSpPr>
            <p:nvPr/>
          </p:nvSpPr>
          <p:spPr bwMode="auto">
            <a:xfrm>
              <a:off x="1296000" y="4313129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55" name="Text Box 542"/>
            <p:cNvSpPr txBox="1">
              <a:spLocks noChangeArrowheads="1"/>
            </p:cNvSpPr>
            <p:nvPr/>
          </p:nvSpPr>
          <p:spPr bwMode="auto">
            <a:xfrm>
              <a:off x="1944000" y="4241129"/>
              <a:ext cx="324000" cy="169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地址转换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+mn-ea"/>
                  <a:ea typeface="+mn-ea"/>
                </a:rPr>
                <a:t>DRAMC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  <a:endParaRPr lang="en-US" altLang="zh-CN" sz="1800" b="1" u="none" dirty="0">
                <a:latin typeface="+mn-ea"/>
                <a:ea typeface="+mn-ea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V="1">
              <a:off x="1296000" y="5573129"/>
              <a:ext cx="64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>
              <a:off x="2267818" y="4313129"/>
              <a:ext cx="28800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2267818" y="5537129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6" name="Text Box 546"/>
            <p:cNvSpPr txBox="1">
              <a:spLocks noChangeArrowheads="1"/>
            </p:cNvSpPr>
            <p:nvPr/>
          </p:nvSpPr>
          <p:spPr bwMode="auto">
            <a:xfrm>
              <a:off x="1296000" y="5321129"/>
              <a:ext cx="61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10</a:t>
              </a:r>
            </a:p>
          </p:txBody>
        </p:sp>
        <p:cxnSp>
          <p:nvCxnSpPr>
            <p:cNvPr id="177" name="直接箭头连接符 176"/>
            <p:cNvCxnSpPr/>
            <p:nvPr/>
          </p:nvCxnSpPr>
          <p:spPr bwMode="auto">
            <a:xfrm flipV="1">
              <a:off x="1296000" y="4313129"/>
              <a:ext cx="64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CEA20740-AD6F-4739-943F-2EEA9B44014D}"/>
                </a:ext>
              </a:extLst>
            </p:cNvPr>
            <p:cNvCxnSpPr/>
            <p:nvPr/>
          </p:nvCxnSpPr>
          <p:spPr bwMode="auto">
            <a:xfrm>
              <a:off x="2267744" y="5609129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7F1B8425-63E9-4B63-BB7F-9F1B752564BF}"/>
                </a:ext>
              </a:extLst>
            </p:cNvPr>
            <p:cNvCxnSpPr/>
            <p:nvPr/>
          </p:nvCxnSpPr>
          <p:spPr bwMode="auto">
            <a:xfrm>
              <a:off x="2267744" y="5465129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0DF58C91-90A1-4CC0-A398-DC1B29887E2C}"/>
                </a:ext>
              </a:extLst>
            </p:cNvPr>
            <p:cNvCxnSpPr/>
            <p:nvPr/>
          </p:nvCxnSpPr>
          <p:spPr bwMode="auto">
            <a:xfrm>
              <a:off x="2267744" y="5681129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0" name="Group 540">
            <a:extLst>
              <a:ext uri="{FF2B5EF4-FFF2-40B4-BE49-F238E27FC236}">
                <a16:creationId xmlns:a16="http://schemas.microsoft.com/office/drawing/2014/main" id="{E1B5A4F6-4E8A-42D9-B168-57425545B3A7}"/>
              </a:ext>
            </a:extLst>
          </p:cNvPr>
          <p:cNvGrpSpPr/>
          <p:nvPr/>
        </p:nvGrpSpPr>
        <p:grpSpPr bwMode="auto">
          <a:xfrm>
            <a:off x="2988405" y="3357457"/>
            <a:ext cx="5543548" cy="1690688"/>
            <a:chOff x="2518" y="2070"/>
            <a:chExt cx="3492" cy="1065"/>
          </a:xfrm>
        </p:grpSpPr>
        <p:sp>
          <p:nvSpPr>
            <p:cNvPr id="141" name="Rectangle 541">
              <a:extLst>
                <a:ext uri="{FF2B5EF4-FFF2-40B4-BE49-F238E27FC236}">
                  <a16:creationId xmlns:a16="http://schemas.microsoft.com/office/drawing/2014/main" id="{303EE2B6-181A-48DC-B1EB-BDDD87A4C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070"/>
              <a:ext cx="2812" cy="104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Text Box 542">
              <a:extLst>
                <a:ext uri="{FF2B5EF4-FFF2-40B4-BE49-F238E27FC236}">
                  <a16:creationId xmlns:a16="http://schemas.microsoft.com/office/drawing/2014/main" id="{E3D839E2-9FBD-421F-9509-16DB50C1C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9" y="220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144" name="Text Box 543">
              <a:extLst>
                <a:ext uri="{FF2B5EF4-FFF2-40B4-BE49-F238E27FC236}">
                  <a16:creationId xmlns:a16="http://schemas.microsoft.com/office/drawing/2014/main" id="{8792BD4E-31F6-4E21-8D7F-213E14FC9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220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145" name="Text Box 544">
              <a:extLst>
                <a:ext uri="{FF2B5EF4-FFF2-40B4-BE49-F238E27FC236}">
                  <a16:creationId xmlns:a16="http://schemas.microsoft.com/office/drawing/2014/main" id="{9025BEFA-48DE-4630-891B-25D9B65BD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220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169" name="Text Box 545">
              <a:extLst>
                <a:ext uri="{FF2B5EF4-FFF2-40B4-BE49-F238E27FC236}">
                  <a16:creationId xmlns:a16="http://schemas.microsoft.com/office/drawing/2014/main" id="{6996FA66-5624-4996-9B17-5D40FF793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" y="2206"/>
              <a:ext cx="499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</a:p>
          </p:txBody>
        </p:sp>
        <p:sp>
          <p:nvSpPr>
            <p:cNvPr id="170" name="Text Box 546">
              <a:extLst>
                <a:ext uri="{FF2B5EF4-FFF2-40B4-BE49-F238E27FC236}">
                  <a16:creationId xmlns:a16="http://schemas.microsoft.com/office/drawing/2014/main" id="{9FB75505-C47E-4DFF-8E59-C2CD40706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7" y="2070"/>
              <a:ext cx="340" cy="1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4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71" name="Text Box 547">
              <a:extLst>
                <a:ext uri="{FF2B5EF4-FFF2-40B4-BE49-F238E27FC236}">
                  <a16:creationId xmlns:a16="http://schemas.microsoft.com/office/drawing/2014/main" id="{77E91A72-2E5D-4BE7-BC33-FCF01108D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7" y="2523"/>
              <a:ext cx="340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72" name="Group 548">
              <a:extLst>
                <a:ext uri="{FF2B5EF4-FFF2-40B4-BE49-F238E27FC236}">
                  <a16:creationId xmlns:a16="http://schemas.microsoft.com/office/drawing/2014/main" id="{93344B92-4202-4242-8A50-D3F8953EE73C}"/>
                </a:ext>
              </a:extLst>
            </p:cNvPr>
            <p:cNvGrpSpPr/>
            <p:nvPr/>
          </p:nvGrpSpPr>
          <p:grpSpPr bwMode="auto">
            <a:xfrm>
              <a:off x="2926" y="2682"/>
              <a:ext cx="181" cy="136"/>
              <a:chOff x="747" y="1367"/>
              <a:chExt cx="181" cy="136"/>
            </a:xfrm>
          </p:grpSpPr>
          <p:sp>
            <p:nvSpPr>
              <p:cNvPr id="202" name="Text Box 549">
                <a:extLst>
                  <a:ext uri="{FF2B5EF4-FFF2-40B4-BE49-F238E27FC236}">
                    <a16:creationId xmlns:a16="http://schemas.microsoft.com/office/drawing/2014/main" id="{5959F2A5-035F-4F33-B029-5B0E333F1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7" y="1367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203" name="Line 550">
                <a:extLst>
                  <a:ext uri="{FF2B5EF4-FFF2-40B4-BE49-F238E27FC236}">
                    <a16:creationId xmlns:a16="http://schemas.microsoft.com/office/drawing/2014/main" id="{7740EA5C-1370-4C56-9E4E-A46251ADC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5" y="1374"/>
                <a:ext cx="12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87" name="Line 551">
              <a:extLst>
                <a:ext uri="{FF2B5EF4-FFF2-40B4-BE49-F238E27FC236}">
                  <a16:creationId xmlns:a16="http://schemas.microsoft.com/office/drawing/2014/main" id="{D15E7EBE-521C-488D-81E9-64625E283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750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552">
              <a:extLst>
                <a:ext uri="{FF2B5EF4-FFF2-40B4-BE49-F238E27FC236}">
                  <a16:creationId xmlns:a16="http://schemas.microsoft.com/office/drawing/2014/main" id="{675149E8-E902-4706-B4A3-F151E879E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841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9" name="Group 553">
              <a:extLst>
                <a:ext uri="{FF2B5EF4-FFF2-40B4-BE49-F238E27FC236}">
                  <a16:creationId xmlns:a16="http://schemas.microsoft.com/office/drawing/2014/main" id="{3B0DE5AB-47BB-4859-B15C-88EA7B9B0DCF}"/>
                </a:ext>
              </a:extLst>
            </p:cNvPr>
            <p:cNvGrpSpPr/>
            <p:nvPr/>
          </p:nvGrpSpPr>
          <p:grpSpPr bwMode="auto">
            <a:xfrm>
              <a:off x="2858" y="2999"/>
              <a:ext cx="249" cy="136"/>
              <a:chOff x="1451" y="3407"/>
              <a:chExt cx="249" cy="136"/>
            </a:xfrm>
          </p:grpSpPr>
          <p:sp>
            <p:nvSpPr>
              <p:cNvPr id="200" name="Text Box 554">
                <a:extLst>
                  <a:ext uri="{FF2B5EF4-FFF2-40B4-BE49-F238E27FC236}">
                    <a16:creationId xmlns:a16="http://schemas.microsoft.com/office/drawing/2014/main" id="{FB9505B6-98F3-48EF-A9DB-7DEFA129E1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3407"/>
                <a:ext cx="249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CAS</a:t>
                </a:r>
              </a:p>
            </p:txBody>
          </p:sp>
          <p:sp>
            <p:nvSpPr>
              <p:cNvPr id="201" name="Line 555">
                <a:extLst>
                  <a:ext uri="{FF2B5EF4-FFF2-40B4-BE49-F238E27FC236}">
                    <a16:creationId xmlns:a16="http://schemas.microsoft.com/office/drawing/2014/main" id="{3169363C-9D5D-4E2D-B251-A0594C293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2" y="3407"/>
                <a:ext cx="19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90" name="Line 556">
              <a:extLst>
                <a:ext uri="{FF2B5EF4-FFF2-40B4-BE49-F238E27FC236}">
                  <a16:creationId xmlns:a16="http://schemas.microsoft.com/office/drawing/2014/main" id="{255F179F-435D-450E-B3F7-D888060FC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3068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557">
              <a:extLst>
                <a:ext uri="{FF2B5EF4-FFF2-40B4-BE49-F238E27FC236}">
                  <a16:creationId xmlns:a16="http://schemas.microsoft.com/office/drawing/2014/main" id="{1AD099E3-7D3C-4A06-BFCC-53AA07E77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115"/>
              <a:ext cx="91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558">
              <a:extLst>
                <a:ext uri="{FF2B5EF4-FFF2-40B4-BE49-F238E27FC236}">
                  <a16:creationId xmlns:a16="http://schemas.microsoft.com/office/drawing/2014/main" id="{58B7F289-B9A4-4232-A6F3-F5270D596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613"/>
              <a:ext cx="91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559">
              <a:extLst>
                <a:ext uri="{FF2B5EF4-FFF2-40B4-BE49-F238E27FC236}">
                  <a16:creationId xmlns:a16="http://schemas.microsoft.com/office/drawing/2014/main" id="{768F6FCC-3B12-4024-832B-2A07DE86B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977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560">
              <a:extLst>
                <a:ext uri="{FF2B5EF4-FFF2-40B4-BE49-F238E27FC236}">
                  <a16:creationId xmlns:a16="http://schemas.microsoft.com/office/drawing/2014/main" id="{FE70CF3E-8C96-4F37-9FF6-2D15DE4FB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886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561">
              <a:extLst>
                <a:ext uri="{FF2B5EF4-FFF2-40B4-BE49-F238E27FC236}">
                  <a16:creationId xmlns:a16="http://schemas.microsoft.com/office/drawing/2014/main" id="{2DDBA326-6D73-44CA-89E4-E9B4ECE2D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7" y="2931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6" name="Group 563">
              <a:extLst>
                <a:ext uri="{FF2B5EF4-FFF2-40B4-BE49-F238E27FC236}">
                  <a16:creationId xmlns:a16="http://schemas.microsoft.com/office/drawing/2014/main" id="{24C43D45-5D11-4AAA-B2FE-9D82620AE515}"/>
                </a:ext>
              </a:extLst>
            </p:cNvPr>
            <p:cNvGrpSpPr/>
            <p:nvPr/>
          </p:nvGrpSpPr>
          <p:grpSpPr bwMode="auto">
            <a:xfrm>
              <a:off x="2518" y="2841"/>
              <a:ext cx="590" cy="136"/>
              <a:chOff x="2881" y="3430"/>
              <a:chExt cx="590" cy="136"/>
            </a:xfrm>
          </p:grpSpPr>
          <p:sp>
            <p:nvSpPr>
              <p:cNvPr id="197" name="Text Box 566">
                <a:extLst>
                  <a:ext uri="{FF2B5EF4-FFF2-40B4-BE49-F238E27FC236}">
                    <a16:creationId xmlns:a16="http://schemas.microsoft.com/office/drawing/2014/main" id="{9E1CC45F-6C4A-48DD-9331-1D2936F7A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1" y="3430"/>
                <a:ext cx="590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RAS</a:t>
                </a:r>
                <a:r>
                  <a:rPr lang="en-US" altLang="zh-CN" sz="1600" b="1" u="none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3</a:t>
                </a:r>
                <a:r>
                  <a:rPr lang="en-US" altLang="zh-CN" sz="1600" b="1" u="none" dirty="0">
                    <a:solidFill>
                      <a:srgbClr val="FF3399"/>
                    </a:solidFill>
                    <a:latin typeface="+mn-lt"/>
                  </a:rPr>
                  <a:t>~</a:t>
                </a: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RAS</a:t>
                </a:r>
                <a:r>
                  <a:rPr lang="en-US" altLang="zh-CN" sz="1600" b="1" u="none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98" name="Line 565">
                <a:extLst>
                  <a:ext uri="{FF2B5EF4-FFF2-40B4-BE49-F238E27FC236}">
                    <a16:creationId xmlns:a16="http://schemas.microsoft.com/office/drawing/2014/main" id="{3531BA4B-FB28-4433-895D-5378F4BD7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1" y="3430"/>
                <a:ext cx="215" cy="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567">
                <a:extLst>
                  <a:ext uri="{FF2B5EF4-FFF2-40B4-BE49-F238E27FC236}">
                    <a16:creationId xmlns:a16="http://schemas.microsoft.com/office/drawing/2014/main" id="{E98AB225-A763-44F0-AD2F-D935FDE0D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5" y="3430"/>
                <a:ext cx="215" cy="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413C10B0-E525-4F51-8E2E-BF3BF378DAF8}"/>
              </a:ext>
            </a:extLst>
          </p:cNvPr>
          <p:cNvGrpSpPr/>
          <p:nvPr/>
        </p:nvGrpSpPr>
        <p:grpSpPr>
          <a:xfrm>
            <a:off x="4066324" y="3932992"/>
            <a:ext cx="4285588" cy="864000"/>
            <a:chOff x="4210652" y="5076064"/>
            <a:chExt cx="4285588" cy="864000"/>
          </a:xfrm>
        </p:grpSpPr>
        <p:sp>
          <p:nvSpPr>
            <p:cNvPr id="205" name="Line 585">
              <a:extLst>
                <a:ext uri="{FF2B5EF4-FFF2-40B4-BE49-F238E27FC236}">
                  <a16:creationId xmlns:a16="http://schemas.microsoft.com/office/drawing/2014/main" id="{AAA92073-5BF2-4F58-9FB0-F645BF0BE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652" y="5724064"/>
              <a:ext cx="10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586">
              <a:extLst>
                <a:ext uri="{FF2B5EF4-FFF2-40B4-BE49-F238E27FC236}">
                  <a16:creationId xmlns:a16="http://schemas.microsoft.com/office/drawing/2014/main" id="{CAD1EED5-EF14-472C-AA19-951AB74B8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000" y="5076064"/>
              <a:ext cx="0" cy="64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587">
              <a:extLst>
                <a:ext uri="{FF2B5EF4-FFF2-40B4-BE49-F238E27FC236}">
                  <a16:creationId xmlns:a16="http://schemas.microsoft.com/office/drawing/2014/main" id="{5124DD83-E9C7-4BDD-A879-BCB0CB4CC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2241" y="5796064"/>
              <a:ext cx="21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588">
              <a:extLst>
                <a:ext uri="{FF2B5EF4-FFF2-40B4-BE49-F238E27FC236}">
                  <a16:creationId xmlns:a16="http://schemas.microsoft.com/office/drawing/2014/main" id="{B0E3C1D9-F3FE-4537-BFD3-19FC84EC3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6000" y="5076064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589">
              <a:extLst>
                <a:ext uri="{FF2B5EF4-FFF2-40B4-BE49-F238E27FC236}">
                  <a16:creationId xmlns:a16="http://schemas.microsoft.com/office/drawing/2014/main" id="{CD05FEA0-C429-4B52-80DC-3B0AFFF4F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6000" y="5076064"/>
              <a:ext cx="0" cy="79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590">
              <a:extLst>
                <a:ext uri="{FF2B5EF4-FFF2-40B4-BE49-F238E27FC236}">
                  <a16:creationId xmlns:a16="http://schemas.microsoft.com/office/drawing/2014/main" id="{02AC3621-3680-403D-B186-EE1C64F33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6000" y="5076064"/>
              <a:ext cx="0" cy="86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591">
              <a:extLst>
                <a:ext uri="{FF2B5EF4-FFF2-40B4-BE49-F238E27FC236}">
                  <a16:creationId xmlns:a16="http://schemas.microsoft.com/office/drawing/2014/main" id="{A492D04F-2792-4D54-AD46-1461A5002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240" y="5868064"/>
              <a:ext cx="32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592">
              <a:extLst>
                <a:ext uri="{FF2B5EF4-FFF2-40B4-BE49-F238E27FC236}">
                  <a16:creationId xmlns:a16="http://schemas.microsoft.com/office/drawing/2014/main" id="{18401194-8F79-481B-A3D2-922422D63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240" y="5940064"/>
              <a:ext cx="428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00A12752-8488-4CEC-9495-4660643AE0A7}"/>
              </a:ext>
            </a:extLst>
          </p:cNvPr>
          <p:cNvGrpSpPr/>
          <p:nvPr/>
        </p:nvGrpSpPr>
        <p:grpSpPr>
          <a:xfrm>
            <a:off x="4066324" y="3428895"/>
            <a:ext cx="4356184" cy="1512000"/>
            <a:chOff x="4212240" y="4572064"/>
            <a:chExt cx="4356184" cy="1512000"/>
          </a:xfrm>
        </p:grpSpPr>
        <p:sp>
          <p:nvSpPr>
            <p:cNvPr id="214" name="Line 570">
              <a:extLst>
                <a:ext uri="{FF2B5EF4-FFF2-40B4-BE49-F238E27FC236}">
                  <a16:creationId xmlns:a16="http://schemas.microsoft.com/office/drawing/2014/main" id="{4A9E2C44-C769-49B8-8D7E-759C19C52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241" y="5580064"/>
              <a:ext cx="396081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571">
              <a:extLst>
                <a:ext uri="{FF2B5EF4-FFF2-40B4-BE49-F238E27FC236}">
                  <a16:creationId xmlns:a16="http://schemas.microsoft.com/office/drawing/2014/main" id="{AB8C2721-7D8E-4717-8213-A5D3248B1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000" y="5220064"/>
              <a:ext cx="0" cy="142875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572">
              <a:extLst>
                <a:ext uri="{FF2B5EF4-FFF2-40B4-BE49-F238E27FC236}">
                  <a16:creationId xmlns:a16="http://schemas.microsoft.com/office/drawing/2014/main" id="{0AA1EDFA-E401-4B9D-8D0C-78239AA9C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2241" y="4572064"/>
              <a:ext cx="3744916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573">
              <a:extLst>
                <a:ext uri="{FF2B5EF4-FFF2-40B4-BE49-F238E27FC236}">
                  <a16:creationId xmlns:a16="http://schemas.microsoft.com/office/drawing/2014/main" id="{4663EA62-7F3C-4EFA-9786-005A9A07F6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5666" y="4572064"/>
              <a:ext cx="0" cy="142875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574">
              <a:extLst>
                <a:ext uri="{FF2B5EF4-FFF2-40B4-BE49-F238E27FC236}">
                  <a16:creationId xmlns:a16="http://schemas.microsoft.com/office/drawing/2014/main" id="{5FC8E342-E866-43BC-9613-98A2D2069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240" y="5364064"/>
              <a:ext cx="3636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575">
              <a:extLst>
                <a:ext uri="{FF2B5EF4-FFF2-40B4-BE49-F238E27FC236}">
                  <a16:creationId xmlns:a16="http://schemas.microsoft.com/office/drawing/2014/main" id="{DBA92EE3-69A0-4ED8-8BC2-2B0B8ACF6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88000" y="5220064"/>
              <a:ext cx="0" cy="142875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576">
              <a:extLst>
                <a:ext uri="{FF2B5EF4-FFF2-40B4-BE49-F238E27FC236}">
                  <a16:creationId xmlns:a16="http://schemas.microsoft.com/office/drawing/2014/main" id="{85BA8A68-E3F0-411B-A5BE-9FF4E2FCD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6755" y="4572064"/>
              <a:ext cx="0" cy="142875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577">
              <a:extLst>
                <a:ext uri="{FF2B5EF4-FFF2-40B4-BE49-F238E27FC236}">
                  <a16:creationId xmlns:a16="http://schemas.microsoft.com/office/drawing/2014/main" id="{22EDEB76-0860-4829-857E-8B042A56A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8000" y="5220064"/>
              <a:ext cx="0" cy="142875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578">
              <a:extLst>
                <a:ext uri="{FF2B5EF4-FFF2-40B4-BE49-F238E27FC236}">
                  <a16:creationId xmlns:a16="http://schemas.microsoft.com/office/drawing/2014/main" id="{6DD250C6-A36A-491B-BDD9-2170F62C07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76256" y="4572064"/>
              <a:ext cx="0" cy="142875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579">
              <a:extLst>
                <a:ext uri="{FF2B5EF4-FFF2-40B4-BE49-F238E27FC236}">
                  <a16:creationId xmlns:a16="http://schemas.microsoft.com/office/drawing/2014/main" id="{A3FCE19A-184E-4ECF-97C5-0BBE68343E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57156" y="4572064"/>
              <a:ext cx="0" cy="142875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580">
              <a:extLst>
                <a:ext uri="{FF2B5EF4-FFF2-40B4-BE49-F238E27FC236}">
                  <a16:creationId xmlns:a16="http://schemas.microsoft.com/office/drawing/2014/main" id="{CD2ED98F-D21E-4427-B815-5C2F2E4F8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000" y="5220064"/>
              <a:ext cx="0" cy="141288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581">
              <a:extLst>
                <a:ext uri="{FF2B5EF4-FFF2-40B4-BE49-F238E27FC236}">
                  <a16:creationId xmlns:a16="http://schemas.microsoft.com/office/drawing/2014/main" id="{F2EC317C-C7A6-4AE5-9C99-975F6CA5E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1379" y="522006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582">
              <a:extLst>
                <a:ext uri="{FF2B5EF4-FFF2-40B4-BE49-F238E27FC236}">
                  <a16:creationId xmlns:a16="http://schemas.microsoft.com/office/drawing/2014/main" id="{9956A602-2C1E-4F96-A9ED-CB2E54E23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1968" y="522006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583">
              <a:extLst>
                <a:ext uri="{FF2B5EF4-FFF2-40B4-BE49-F238E27FC236}">
                  <a16:creationId xmlns:a16="http://schemas.microsoft.com/office/drawing/2014/main" id="{D805B1DD-9F5D-4C3C-BC1B-67F3BC879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0880" y="522006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584">
              <a:extLst>
                <a:ext uri="{FF2B5EF4-FFF2-40B4-BE49-F238E27FC236}">
                  <a16:creationId xmlns:a16="http://schemas.microsoft.com/office/drawing/2014/main" id="{618845FC-B71D-438D-82E7-BA31AC764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73057" y="522006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2">
              <a:extLst>
                <a:ext uri="{FF2B5EF4-FFF2-40B4-BE49-F238E27FC236}">
                  <a16:creationId xmlns:a16="http://schemas.microsoft.com/office/drawing/2014/main" id="{C044BF68-077B-4EF5-8A09-87D5E6712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0295" y="507606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59">
              <a:extLst>
                <a:ext uri="{FF2B5EF4-FFF2-40B4-BE49-F238E27FC236}">
                  <a16:creationId xmlns:a16="http://schemas.microsoft.com/office/drawing/2014/main" id="{EF569CCE-D59C-4978-A28D-FFB37FCBC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709" y="4860064"/>
              <a:ext cx="1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62">
              <a:extLst>
                <a:ext uri="{FF2B5EF4-FFF2-40B4-BE49-F238E27FC236}">
                  <a16:creationId xmlns:a16="http://schemas.microsoft.com/office/drawing/2014/main" id="{C672D6D0-00A0-438B-BD75-11B4E0482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9771" y="507606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65">
              <a:extLst>
                <a:ext uri="{FF2B5EF4-FFF2-40B4-BE49-F238E27FC236}">
                  <a16:creationId xmlns:a16="http://schemas.microsoft.com/office/drawing/2014/main" id="{8BE51F1E-B70B-4A8D-9F45-FD2DD236F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184" y="4860064"/>
              <a:ext cx="1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68">
              <a:extLst>
                <a:ext uri="{FF2B5EF4-FFF2-40B4-BE49-F238E27FC236}">
                  <a16:creationId xmlns:a16="http://schemas.microsoft.com/office/drawing/2014/main" id="{914F64CA-3910-4F83-A48B-FF3830A8B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9890" y="507606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71">
              <a:extLst>
                <a:ext uri="{FF2B5EF4-FFF2-40B4-BE49-F238E27FC236}">
                  <a16:creationId xmlns:a16="http://schemas.microsoft.com/office/drawing/2014/main" id="{416EF794-B55A-4DEF-B754-0A120B6D8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304" y="4860064"/>
              <a:ext cx="1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74">
              <a:extLst>
                <a:ext uri="{FF2B5EF4-FFF2-40B4-BE49-F238E27FC236}">
                  <a16:creationId xmlns:a16="http://schemas.microsoft.com/office/drawing/2014/main" id="{F84B37BE-A95F-4F6B-9BCC-F08B016EE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0011" y="507606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77">
              <a:extLst>
                <a:ext uri="{FF2B5EF4-FFF2-40B4-BE49-F238E27FC236}">
                  <a16:creationId xmlns:a16="http://schemas.microsoft.com/office/drawing/2014/main" id="{3F0B7EA6-C605-467A-A9BF-4C708C095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8424" y="4860064"/>
              <a:ext cx="1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593">
              <a:extLst>
                <a:ext uri="{FF2B5EF4-FFF2-40B4-BE49-F238E27FC236}">
                  <a16:creationId xmlns:a16="http://schemas.microsoft.com/office/drawing/2014/main" id="{0ABDF5D4-125B-4E7D-A4D4-3EFBABE2E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68000" y="4860064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594">
              <a:extLst>
                <a:ext uri="{FF2B5EF4-FFF2-40B4-BE49-F238E27FC236}">
                  <a16:creationId xmlns:a16="http://schemas.microsoft.com/office/drawing/2014/main" id="{35406A3F-D1E4-44CB-B387-2F23165A4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000" y="4860064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595">
              <a:extLst>
                <a:ext uri="{FF2B5EF4-FFF2-40B4-BE49-F238E27FC236}">
                  <a16:creationId xmlns:a16="http://schemas.microsoft.com/office/drawing/2014/main" id="{7D74EBAD-A241-43EC-9683-A991851F1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8000" y="4860064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596">
              <a:extLst>
                <a:ext uri="{FF2B5EF4-FFF2-40B4-BE49-F238E27FC236}">
                  <a16:creationId xmlns:a16="http://schemas.microsoft.com/office/drawing/2014/main" id="{0C699B53-7647-4878-ABD2-812F59404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8000" y="4860064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597">
              <a:extLst>
                <a:ext uri="{FF2B5EF4-FFF2-40B4-BE49-F238E27FC236}">
                  <a16:creationId xmlns:a16="http://schemas.microsoft.com/office/drawing/2014/main" id="{86304AAD-79E4-4CFA-AA3A-3C19C8E09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240" y="6084064"/>
              <a:ext cx="435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" name="AutoShape 331">
            <a:extLst>
              <a:ext uri="{FF2B5EF4-FFF2-40B4-BE49-F238E27FC236}">
                <a16:creationId xmlns:a16="http://schemas.microsoft.com/office/drawing/2014/main" id="{A9EA505E-5E23-4954-A6D1-9AE7951E4873}"/>
              </a:ext>
            </a:extLst>
          </p:cNvPr>
          <p:cNvSpPr/>
          <p:nvPr/>
        </p:nvSpPr>
        <p:spPr bwMode="auto">
          <a:xfrm>
            <a:off x="395536" y="2924944"/>
            <a:ext cx="683774" cy="451830"/>
          </a:xfrm>
          <a:prstGeom prst="borderCallout2">
            <a:avLst>
              <a:gd name="adj1" fmla="val 50017"/>
              <a:gd name="adj2" fmla="val 100638"/>
              <a:gd name="adj3" fmla="val 51608"/>
              <a:gd name="adj4" fmla="val 128336"/>
              <a:gd name="adj5" fmla="val -7563"/>
              <a:gd name="adj6" fmla="val 145750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u="none" dirty="0">
                <a:latin typeface="+mn-ea"/>
                <a:ea typeface="+mn-ea"/>
              </a:rPr>
              <a:t>DRAMC</a:t>
            </a:r>
            <a:r>
              <a:rPr lang="zh-CN" altLang="en-US" sz="1600" b="1" u="none" dirty="0">
                <a:latin typeface="+mn-ea"/>
                <a:ea typeface="+mn-ea"/>
              </a:rPr>
              <a:t>已存在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7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37AC-A4CD-4658-BEA6-CDAB1F0D4C4C}" type="slidenum">
              <a:rPr lang="en-US" altLang="zh-CN"/>
              <a:t>32</a:t>
            </a:fld>
            <a:endParaRPr lang="en-US" altLang="zh-CN"/>
          </a:p>
        </p:txBody>
      </p:sp>
      <p:sp>
        <p:nvSpPr>
          <p:cNvPr id="450977" name="Text Box 417"/>
          <p:cNvSpPr txBox="1">
            <a:spLocks noChangeArrowheads="1"/>
          </p:cNvSpPr>
          <p:nvPr/>
        </p:nvSpPr>
        <p:spPr bwMode="auto">
          <a:xfrm>
            <a:off x="179388" y="331200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字位扩展法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扩展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字长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字数</a:t>
            </a:r>
            <a:endParaRPr lang="zh-CN" altLang="en-US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*芯片连接方法：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先位扩展、再字扩展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450978" name="Text Box 418"/>
          <p:cNvSpPr txBox="1">
            <a:spLocks noChangeArrowheads="1"/>
          </p:cNvSpPr>
          <p:nvPr/>
        </p:nvSpPr>
        <p:spPr bwMode="auto">
          <a:xfrm>
            <a:off x="179388" y="1196752"/>
            <a:ext cx="8785225" cy="472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5—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</a:t>
            </a:r>
            <a:r>
              <a:rPr lang="en-US" altLang="zh-CN" sz="2200" b="1" u="none" dirty="0">
                <a:latin typeface="+mn-ea"/>
                <a:ea typeface="+mn-ea"/>
              </a:rPr>
              <a:t>b</a:t>
            </a:r>
            <a:r>
              <a:rPr lang="en-US" altLang="zh-CN" sz="2200" b="1" u="none" dirty="0"/>
              <a:t> </a:t>
            </a:r>
            <a:r>
              <a:rPr lang="en-US" altLang="zh-CN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2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2K×8b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</a:p>
        </p:txBody>
      </p:sp>
      <p:sp>
        <p:nvSpPr>
          <p:cNvPr id="450979" name="Text Box 419"/>
          <p:cNvSpPr txBox="1">
            <a:spLocks noChangeArrowheads="1"/>
          </p:cNvSpPr>
          <p:nvPr/>
        </p:nvSpPr>
        <p:spPr bwMode="auto">
          <a:xfrm>
            <a:off x="179387" y="1628800"/>
            <a:ext cx="4063208" cy="27933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①芯片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数量</a:t>
            </a:r>
            <a:r>
              <a:rPr lang="en-US" altLang="zh-CN" sz="2200" b="1" u="none" dirty="0"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②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③芯片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450981" name="Text Box 421"/>
          <p:cNvSpPr txBox="1">
            <a:spLocks noChangeArrowheads="1"/>
          </p:cNvSpPr>
          <p:nvPr/>
        </p:nvSpPr>
        <p:spPr bwMode="auto">
          <a:xfrm>
            <a:off x="2699792" y="1628800"/>
            <a:ext cx="597832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(2K÷1K)×(8b÷4b)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片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模块地址为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11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位，地址</a:t>
            </a:r>
            <a:r>
              <a:rPr lang="en-US" altLang="zh-CN" sz="2200" b="1" u="none" dirty="0">
                <a:latin typeface="宋体" panose="02010600030101010101" pitchFamily="2" charset="-122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字内范围均不同</a:t>
            </a:r>
          </a:p>
        </p:txBody>
      </p:sp>
      <p:grpSp>
        <p:nvGrpSpPr>
          <p:cNvPr id="451202" name="Group 642"/>
          <p:cNvGrpSpPr/>
          <p:nvPr/>
        </p:nvGrpSpPr>
        <p:grpSpPr bwMode="auto">
          <a:xfrm>
            <a:off x="1440000" y="2710800"/>
            <a:ext cx="1836738" cy="1079500"/>
            <a:chOff x="861" y="1869"/>
            <a:chExt cx="1157" cy="680"/>
          </a:xfrm>
        </p:grpSpPr>
        <p:sp>
          <p:nvSpPr>
            <p:cNvPr id="451025" name="Rectangle 465"/>
            <p:cNvSpPr>
              <a:spLocks noChangeArrowheads="1"/>
            </p:cNvSpPr>
            <p:nvPr/>
          </p:nvSpPr>
          <p:spPr bwMode="auto">
            <a:xfrm>
              <a:off x="1292" y="1869"/>
              <a:ext cx="68" cy="68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26" name="Rectangle 466"/>
            <p:cNvSpPr>
              <a:spLocks noChangeArrowheads="1"/>
            </p:cNvSpPr>
            <p:nvPr/>
          </p:nvSpPr>
          <p:spPr bwMode="auto">
            <a:xfrm>
              <a:off x="1360" y="1869"/>
              <a:ext cx="658" cy="6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1" name="Text Box 471"/>
            <p:cNvSpPr txBox="1">
              <a:spLocks noChangeArrowheads="1"/>
            </p:cNvSpPr>
            <p:nvPr/>
          </p:nvSpPr>
          <p:spPr bwMode="auto">
            <a:xfrm>
              <a:off x="861" y="1869"/>
              <a:ext cx="1157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1600" rIns="18000" bIns="10800"/>
            <a:lstStyle/>
            <a:p>
              <a:pPr algn="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(000H)00000000000</a:t>
              </a:r>
            </a:p>
            <a:p>
              <a:pPr algn="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…</a:t>
              </a:r>
            </a:p>
            <a:p>
              <a:pPr algn="r">
                <a:lnSpc>
                  <a:spcPct val="70000"/>
                </a:lnSpc>
                <a:spcBef>
                  <a:spcPts val="1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(3FFH)01111111111</a:t>
              </a:r>
            </a:p>
            <a:p>
              <a:pPr algn="r">
                <a:lnSpc>
                  <a:spcPct val="70000"/>
                </a:lnSpc>
                <a:spcBef>
                  <a:spcPts val="1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(400H)10000000000</a:t>
              </a:r>
            </a:p>
            <a:p>
              <a:pPr algn="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…</a:t>
              </a:r>
            </a:p>
            <a:p>
              <a:pPr algn="r">
                <a:lnSpc>
                  <a:spcPct val="70000"/>
                </a:lnSpc>
                <a:spcBef>
                  <a:spcPts val="1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(7FFH)11111111111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1212" name="AutoShape 6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3312270" y="2494800"/>
            <a:ext cx="1873250" cy="1296000"/>
            <a:chOff x="3895725" y="2996183"/>
            <a:chExt cx="1873250" cy="1296000"/>
          </a:xfrm>
        </p:grpSpPr>
        <p:sp>
          <p:nvSpPr>
            <p:cNvPr id="86" name="Text Box 425"/>
            <p:cNvSpPr txBox="1">
              <a:spLocks noChangeArrowheads="1"/>
            </p:cNvSpPr>
            <p:nvPr/>
          </p:nvSpPr>
          <p:spPr bwMode="auto">
            <a:xfrm>
              <a:off x="3895725" y="2996183"/>
              <a:ext cx="1008063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87" name="Rectangle 426"/>
            <p:cNvSpPr>
              <a:spLocks noChangeArrowheads="1"/>
            </p:cNvSpPr>
            <p:nvPr/>
          </p:nvSpPr>
          <p:spPr bwMode="auto">
            <a:xfrm>
              <a:off x="3895725" y="3212183"/>
              <a:ext cx="936625" cy="54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</p:txBody>
        </p:sp>
        <p:sp>
          <p:nvSpPr>
            <p:cNvPr id="88" name="Text Box 427"/>
            <p:cNvSpPr txBox="1">
              <a:spLocks noChangeArrowheads="1"/>
            </p:cNvSpPr>
            <p:nvPr/>
          </p:nvSpPr>
          <p:spPr bwMode="auto">
            <a:xfrm>
              <a:off x="4832350" y="2996183"/>
              <a:ext cx="936625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9" name="Rectangle 428"/>
            <p:cNvSpPr>
              <a:spLocks noChangeArrowheads="1"/>
            </p:cNvSpPr>
            <p:nvPr/>
          </p:nvSpPr>
          <p:spPr bwMode="auto">
            <a:xfrm>
              <a:off x="4832350" y="3212183"/>
              <a:ext cx="935038" cy="540000"/>
            </a:xfrm>
            <a:prstGeom prst="rect">
              <a:avLst/>
            </a:prstGeom>
            <a:solidFill>
              <a:srgbClr val="99CCFF">
                <a:alpha val="81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0#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</p:txBody>
        </p:sp>
        <p:sp>
          <p:nvSpPr>
            <p:cNvPr id="90" name="Rectangle 429"/>
            <p:cNvSpPr>
              <a:spLocks noChangeArrowheads="1"/>
            </p:cNvSpPr>
            <p:nvPr/>
          </p:nvSpPr>
          <p:spPr bwMode="auto">
            <a:xfrm>
              <a:off x="3895725" y="3752183"/>
              <a:ext cx="936625" cy="540000"/>
            </a:xfrm>
            <a:prstGeom prst="rect">
              <a:avLst/>
            </a:prstGeom>
            <a:solidFill>
              <a:srgbClr val="00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3#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</p:txBody>
        </p:sp>
        <p:sp>
          <p:nvSpPr>
            <p:cNvPr id="91" name="Rectangle 430"/>
            <p:cNvSpPr>
              <a:spLocks noChangeArrowheads="1"/>
            </p:cNvSpPr>
            <p:nvPr/>
          </p:nvSpPr>
          <p:spPr bwMode="auto">
            <a:xfrm>
              <a:off x="4832350" y="3752183"/>
              <a:ext cx="935038" cy="540000"/>
            </a:xfrm>
            <a:prstGeom prst="rect">
              <a:avLst/>
            </a:prstGeom>
            <a:solidFill>
              <a:srgbClr val="00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2#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580112" y="2636912"/>
            <a:ext cx="2813140" cy="1117587"/>
            <a:chOff x="5611398" y="2924250"/>
            <a:chExt cx="2813140" cy="1117587"/>
          </a:xfrm>
        </p:grpSpPr>
        <p:sp>
          <p:nvSpPr>
            <p:cNvPr id="97" name="Rectangle 430"/>
            <p:cNvSpPr>
              <a:spLocks noChangeArrowheads="1"/>
            </p:cNvSpPr>
            <p:nvPr/>
          </p:nvSpPr>
          <p:spPr bwMode="auto">
            <a:xfrm>
              <a:off x="5611398" y="2924250"/>
              <a:ext cx="2808000" cy="11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  芯片   片选信号的</a:t>
              </a:r>
              <a:r>
                <a:rPr lang="zh-CN" altLang="en-US" sz="18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逻辑</a:t>
              </a:r>
              <a:endPara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lvl="0">
                <a:lnSpc>
                  <a:spcPct val="1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0#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1#      CS#</a:t>
              </a:r>
              <a:r>
                <a:rPr lang="en-US" altLang="zh-CN" sz="1800" b="1" u="none" dirty="0"/>
                <a:t>·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lvl="0">
                <a:lnSpc>
                  <a:spcPct val="14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2#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3#      CS#</a:t>
              </a:r>
              <a:r>
                <a:rPr lang="en-US" altLang="zh-CN" sz="1800" b="1" u="none" dirty="0"/>
                <a:t>·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10</a:t>
              </a:r>
              <a:endParaRPr lang="en-US" altLang="zh-CN" sz="18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/>
          </p:nvCxnSpPr>
          <p:spPr bwMode="auto">
            <a:xfrm>
              <a:off x="7596000" y="3327450"/>
              <a:ext cx="234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7164000" y="3284250"/>
              <a:ext cx="666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164000" y="3680250"/>
              <a:ext cx="666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5616538" y="3212250"/>
              <a:ext cx="2808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/>
          </p:nvCxnSpPr>
          <p:spPr bwMode="auto">
            <a:xfrm>
              <a:off x="5612042" y="3608250"/>
              <a:ext cx="2808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/>
          </p:nvCxnSpPr>
          <p:spPr bwMode="auto">
            <a:xfrm>
              <a:off x="6588000" y="2925837"/>
              <a:ext cx="0" cy="111600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 bwMode="auto">
            <a:xfrm>
              <a:off x="7164000" y="3327450"/>
              <a:ext cx="324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/>
          </p:nvCxnSpPr>
          <p:spPr bwMode="auto">
            <a:xfrm>
              <a:off x="7164000" y="3723450"/>
              <a:ext cx="324000" cy="0"/>
            </a:xfrm>
            <a:prstGeom prst="line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6" name="Text Box 212">
            <a:extLst>
              <a:ext uri="{FF2B5EF4-FFF2-40B4-BE49-F238E27FC236}">
                <a16:creationId xmlns:a16="http://schemas.microsoft.com/office/drawing/2014/main" id="{97E6FD1A-D44C-4CCA-A00C-C728DBDAA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77272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1K×4b SRAM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sz="2200" b="1" u="none" dirty="0">
                <a:latin typeface="宋体" panose="02010600030101010101" pitchFamily="2" charset="-122"/>
              </a:rPr>
              <a:t>4K×8b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的存储模块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75A6205F-5626-43B5-9A7F-B1F3D2E7CB41}"/>
              </a:ext>
            </a:extLst>
          </p:cNvPr>
          <p:cNvGrpSpPr/>
          <p:nvPr/>
        </p:nvGrpSpPr>
        <p:grpSpPr>
          <a:xfrm>
            <a:off x="3635350" y="4509572"/>
            <a:ext cx="5076786" cy="1188000"/>
            <a:chOff x="3633790" y="2636912"/>
            <a:chExt cx="5076786" cy="1188000"/>
          </a:xfrm>
        </p:grpSpPr>
        <p:sp>
          <p:nvSpPr>
            <p:cNvPr id="108" name="Text Box 381">
              <a:extLst>
                <a:ext uri="{FF2B5EF4-FFF2-40B4-BE49-F238E27FC236}">
                  <a16:creationId xmlns:a16="http://schemas.microsoft.com/office/drawing/2014/main" id="{3324DE6F-8397-49B6-9DDD-5872ECF15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3790" y="2636912"/>
              <a:ext cx="2484000" cy="11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381">
              <a:extLst>
                <a:ext uri="{FF2B5EF4-FFF2-40B4-BE49-F238E27FC236}">
                  <a16:creationId xmlns:a16="http://schemas.microsoft.com/office/drawing/2014/main" id="{C482227A-49B7-450F-9971-FE3529301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6576" y="2636912"/>
              <a:ext cx="2484000" cy="11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0" name="Group 644">
            <a:extLst>
              <a:ext uri="{FF2B5EF4-FFF2-40B4-BE49-F238E27FC236}">
                <a16:creationId xmlns:a16="http://schemas.microsoft.com/office/drawing/2014/main" id="{349AC313-DFEA-4A76-824A-BBFBA6869F8F}"/>
              </a:ext>
            </a:extLst>
          </p:cNvPr>
          <p:cNvGrpSpPr/>
          <p:nvPr/>
        </p:nvGrpSpPr>
        <p:grpSpPr bwMode="auto">
          <a:xfrm>
            <a:off x="2699792" y="4005064"/>
            <a:ext cx="6118225" cy="1871663"/>
            <a:chOff x="1792" y="2884"/>
            <a:chExt cx="3854" cy="1179"/>
          </a:xfrm>
        </p:grpSpPr>
        <p:sp>
          <p:nvSpPr>
            <p:cNvPr id="111" name="Text Box 580">
              <a:extLst>
                <a:ext uri="{FF2B5EF4-FFF2-40B4-BE49-F238E27FC236}">
                  <a16:creationId xmlns:a16="http://schemas.microsoft.com/office/drawing/2014/main" id="{85F8F2BB-2F3A-4105-A16D-C33009927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3020"/>
              <a:ext cx="204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12" name="Text Box 581">
              <a:extLst>
                <a:ext uri="{FF2B5EF4-FFF2-40B4-BE49-F238E27FC236}">
                  <a16:creationId xmlns:a16="http://schemas.microsoft.com/office/drawing/2014/main" id="{1F44966F-F106-49E1-952E-FD5B81768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" y="3678"/>
              <a:ext cx="386" cy="2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113" name="Text Box 582">
              <a:extLst>
                <a:ext uri="{FF2B5EF4-FFF2-40B4-BE49-F238E27FC236}">
                  <a16:creationId xmlns:a16="http://schemas.microsoft.com/office/drawing/2014/main" id="{8E4CD479-4B70-44A0-A4C1-E13C12FEE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3179"/>
              <a:ext cx="408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14" name="Rectangle 584">
              <a:extLst>
                <a:ext uri="{FF2B5EF4-FFF2-40B4-BE49-F238E27FC236}">
                  <a16:creationId xmlns:a16="http://schemas.microsoft.com/office/drawing/2014/main" id="{F0653010-A379-4576-B058-F85B9ABCA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884"/>
              <a:ext cx="3356" cy="11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585">
              <a:extLst>
                <a:ext uri="{FF2B5EF4-FFF2-40B4-BE49-F238E27FC236}">
                  <a16:creationId xmlns:a16="http://schemas.microsoft.com/office/drawing/2014/main" id="{CCA52E8F-FDB2-4E77-AC82-00E73A1C8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3088"/>
              <a:ext cx="91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586">
              <a:extLst>
                <a:ext uri="{FF2B5EF4-FFF2-40B4-BE49-F238E27FC236}">
                  <a16:creationId xmlns:a16="http://schemas.microsoft.com/office/drawing/2014/main" id="{7881DEC8-7A0C-481F-A267-F1B00C06E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3248"/>
              <a:ext cx="91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587">
              <a:extLst>
                <a:ext uri="{FF2B5EF4-FFF2-40B4-BE49-F238E27FC236}">
                  <a16:creationId xmlns:a16="http://schemas.microsoft.com/office/drawing/2014/main" id="{AEF39599-881F-4601-B4A3-B5BFCC983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2930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588">
              <a:extLst>
                <a:ext uri="{FF2B5EF4-FFF2-40B4-BE49-F238E27FC236}">
                  <a16:creationId xmlns:a16="http://schemas.microsoft.com/office/drawing/2014/main" id="{94AE812F-2F37-453C-97DD-AC1C3BF50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3996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589">
              <a:extLst>
                <a:ext uri="{FF2B5EF4-FFF2-40B4-BE49-F238E27FC236}">
                  <a16:creationId xmlns:a16="http://schemas.microsoft.com/office/drawing/2014/main" id="{BC772930-056D-42C0-99B1-9390CAC20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3746"/>
              <a:ext cx="91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590">
              <a:extLst>
                <a:ext uri="{FF2B5EF4-FFF2-40B4-BE49-F238E27FC236}">
                  <a16:creationId xmlns:a16="http://schemas.microsoft.com/office/drawing/2014/main" id="{58BD4B85-EB07-4254-9AF3-9DFBF6748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3859"/>
              <a:ext cx="91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21" name="Group 591">
              <a:extLst>
                <a:ext uri="{FF2B5EF4-FFF2-40B4-BE49-F238E27FC236}">
                  <a16:creationId xmlns:a16="http://schemas.microsoft.com/office/drawing/2014/main" id="{A9E9DC97-56B7-41BB-A82B-DADB267FD23C}"/>
                </a:ext>
              </a:extLst>
            </p:cNvPr>
            <p:cNvGrpSpPr/>
            <p:nvPr/>
          </p:nvGrpSpPr>
          <p:grpSpPr bwMode="auto">
            <a:xfrm>
              <a:off x="2018" y="3927"/>
              <a:ext cx="181" cy="136"/>
              <a:chOff x="657" y="1387"/>
              <a:chExt cx="181" cy="136"/>
            </a:xfrm>
          </p:grpSpPr>
          <p:sp>
            <p:nvSpPr>
              <p:cNvPr id="129" name="Text Box 592">
                <a:extLst>
                  <a:ext uri="{FF2B5EF4-FFF2-40B4-BE49-F238E27FC236}">
                    <a16:creationId xmlns:a16="http://schemas.microsoft.com/office/drawing/2014/main" id="{F4C82881-FB53-4DE4-A503-98021D0952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" y="1387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130" name="Line 593">
                <a:extLst>
                  <a:ext uri="{FF2B5EF4-FFF2-40B4-BE49-F238E27FC236}">
                    <a16:creationId xmlns:a16="http://schemas.microsoft.com/office/drawing/2014/main" id="{22DB2445-3B3B-4403-AE5F-5440D3BB4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" y="1401"/>
                <a:ext cx="12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2" name="Text Box 594">
              <a:extLst>
                <a:ext uri="{FF2B5EF4-FFF2-40B4-BE49-F238E27FC236}">
                  <a16:creationId xmlns:a16="http://schemas.microsoft.com/office/drawing/2014/main" id="{5F0B2D38-017E-4D76-AADE-A6A943222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338"/>
              <a:ext cx="635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0#</a:t>
              </a:r>
            </a:p>
          </p:txBody>
        </p:sp>
        <p:grpSp>
          <p:nvGrpSpPr>
            <p:cNvPr id="123" name="Group 595">
              <a:extLst>
                <a:ext uri="{FF2B5EF4-FFF2-40B4-BE49-F238E27FC236}">
                  <a16:creationId xmlns:a16="http://schemas.microsoft.com/office/drawing/2014/main" id="{BC5C24AC-6F02-406F-96CA-7ED6A2DEDA4D}"/>
                </a:ext>
              </a:extLst>
            </p:cNvPr>
            <p:cNvGrpSpPr/>
            <p:nvPr/>
          </p:nvGrpSpPr>
          <p:grpSpPr bwMode="auto">
            <a:xfrm>
              <a:off x="2019" y="2884"/>
              <a:ext cx="181" cy="113"/>
              <a:chOff x="657" y="1451"/>
              <a:chExt cx="181" cy="113"/>
            </a:xfrm>
          </p:grpSpPr>
          <p:sp>
            <p:nvSpPr>
              <p:cNvPr id="127" name="Text Box 596">
                <a:extLst>
                  <a:ext uri="{FF2B5EF4-FFF2-40B4-BE49-F238E27FC236}">
                    <a16:creationId xmlns:a16="http://schemas.microsoft.com/office/drawing/2014/main" id="{1CA4FA7C-88A7-4435-AB53-3E38D8C186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" y="1451"/>
                <a:ext cx="181" cy="11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/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</a:p>
            </p:txBody>
          </p:sp>
          <p:sp>
            <p:nvSpPr>
              <p:cNvPr id="128" name="Line 597">
                <a:extLst>
                  <a:ext uri="{FF2B5EF4-FFF2-40B4-BE49-F238E27FC236}">
                    <a16:creationId xmlns:a16="http://schemas.microsoft.com/office/drawing/2014/main" id="{1C8BDE98-F882-4597-8149-36FE6F50A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2" y="1451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" name="Text Box 598">
              <a:extLst>
                <a:ext uri="{FF2B5EF4-FFF2-40B4-BE49-F238E27FC236}">
                  <a16:creationId xmlns:a16="http://schemas.microsoft.com/office/drawing/2014/main" id="{2EDB29CF-CA83-49ED-8C49-7A591223B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3338"/>
              <a:ext cx="635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1#</a:t>
              </a:r>
            </a:p>
          </p:txBody>
        </p:sp>
        <p:sp>
          <p:nvSpPr>
            <p:cNvPr id="125" name="Text Box 599">
              <a:extLst>
                <a:ext uri="{FF2B5EF4-FFF2-40B4-BE49-F238E27FC236}">
                  <a16:creationId xmlns:a16="http://schemas.microsoft.com/office/drawing/2014/main" id="{EE4AD7C7-D77B-404D-B3E4-B90A724FC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3338"/>
              <a:ext cx="635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2#</a:t>
              </a:r>
            </a:p>
          </p:txBody>
        </p:sp>
        <p:sp>
          <p:nvSpPr>
            <p:cNvPr id="126" name="Text Box 600">
              <a:extLst>
                <a:ext uri="{FF2B5EF4-FFF2-40B4-BE49-F238E27FC236}">
                  <a16:creationId xmlns:a16="http://schemas.microsoft.com/office/drawing/2014/main" id="{F4AE0D81-C608-40FD-A2B0-74A5725F3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1" y="3338"/>
              <a:ext cx="635" cy="31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 3#</a:t>
              </a:r>
            </a:p>
          </p:txBody>
        </p:sp>
      </p:grpSp>
      <p:grpSp>
        <p:nvGrpSpPr>
          <p:cNvPr id="131" name="Group 651">
            <a:extLst>
              <a:ext uri="{FF2B5EF4-FFF2-40B4-BE49-F238E27FC236}">
                <a16:creationId xmlns:a16="http://schemas.microsoft.com/office/drawing/2014/main" id="{ED5F7BE5-1883-412B-A68C-2A1DDB543C40}"/>
              </a:ext>
            </a:extLst>
          </p:cNvPr>
          <p:cNvGrpSpPr/>
          <p:nvPr/>
        </p:nvGrpSpPr>
        <p:grpSpPr bwMode="auto">
          <a:xfrm>
            <a:off x="3490367" y="4078086"/>
            <a:ext cx="3349625" cy="358775"/>
            <a:chOff x="2199" y="2913"/>
            <a:chExt cx="2110" cy="226"/>
          </a:xfrm>
        </p:grpSpPr>
        <p:sp>
          <p:nvSpPr>
            <p:cNvPr id="132" name="Line 615">
              <a:extLst>
                <a:ext uri="{FF2B5EF4-FFF2-40B4-BE49-F238E27FC236}">
                  <a16:creationId xmlns:a16="http://schemas.microsoft.com/office/drawing/2014/main" id="{9A2375DF-A1FD-4FD6-99F8-E348AB606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81" y="3139"/>
              <a:ext cx="1633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621">
              <a:extLst>
                <a:ext uri="{FF2B5EF4-FFF2-40B4-BE49-F238E27FC236}">
                  <a16:creationId xmlns:a16="http://schemas.microsoft.com/office/drawing/2014/main" id="{655FF5AA-1BC9-4377-A0B7-B0523BCE3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99" y="2913"/>
              <a:ext cx="181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Oval 622">
              <a:extLst>
                <a:ext uri="{FF2B5EF4-FFF2-40B4-BE49-F238E27FC236}">
                  <a16:creationId xmlns:a16="http://schemas.microsoft.com/office/drawing/2014/main" id="{77D18644-DDC6-4338-9559-3963005DC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049"/>
              <a:ext cx="45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Text Box 623">
              <a:extLst>
                <a:ext uri="{FF2B5EF4-FFF2-40B4-BE49-F238E27FC236}">
                  <a16:creationId xmlns:a16="http://schemas.microsoft.com/office/drawing/2014/main" id="{3D8A8232-0A1D-458F-86D6-55855928E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" y="2958"/>
              <a:ext cx="113" cy="13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Oval 624">
              <a:extLst>
                <a:ext uri="{FF2B5EF4-FFF2-40B4-BE49-F238E27FC236}">
                  <a16:creationId xmlns:a16="http://schemas.microsoft.com/office/drawing/2014/main" id="{84DAFE7D-0C96-416E-B2BA-F0E78A5B7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3003"/>
              <a:ext cx="45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Oval 625">
              <a:extLst>
                <a:ext uri="{FF2B5EF4-FFF2-40B4-BE49-F238E27FC236}">
                  <a16:creationId xmlns:a16="http://schemas.microsoft.com/office/drawing/2014/main" id="{D3E1B4D8-29A9-4BB4-81F0-1E0123017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958"/>
              <a:ext cx="45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Line 628">
              <a:extLst>
                <a:ext uri="{FF2B5EF4-FFF2-40B4-BE49-F238E27FC236}">
                  <a16:creationId xmlns:a16="http://schemas.microsoft.com/office/drawing/2014/main" id="{AAECD4A4-ED04-431C-9B87-BC2B2DB99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99" y="3071"/>
              <a:ext cx="273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629">
              <a:extLst>
                <a:ext uri="{FF2B5EF4-FFF2-40B4-BE49-F238E27FC236}">
                  <a16:creationId xmlns:a16="http://schemas.microsoft.com/office/drawing/2014/main" id="{3600C186-1E19-44A1-80E8-AC582E80FC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" y="3071"/>
              <a:ext cx="0" cy="68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630">
              <a:extLst>
                <a:ext uri="{FF2B5EF4-FFF2-40B4-BE49-F238E27FC236}">
                  <a16:creationId xmlns:a16="http://schemas.microsoft.com/office/drawing/2014/main" id="{74AF7CDF-2CC8-4E30-8BBE-79D5D867A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981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631">
              <a:extLst>
                <a:ext uri="{FF2B5EF4-FFF2-40B4-BE49-F238E27FC236}">
                  <a16:creationId xmlns:a16="http://schemas.microsoft.com/office/drawing/2014/main" id="{8537E630-19FE-415E-8D96-951DBF6D6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913"/>
              <a:ext cx="0" cy="6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Text Box 632">
              <a:extLst>
                <a:ext uri="{FF2B5EF4-FFF2-40B4-BE49-F238E27FC236}">
                  <a16:creationId xmlns:a16="http://schemas.microsoft.com/office/drawing/2014/main" id="{582F4F00-610E-423E-B966-58812E9CB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3" y="2958"/>
              <a:ext cx="113" cy="13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Oval 633">
              <a:extLst>
                <a:ext uri="{FF2B5EF4-FFF2-40B4-BE49-F238E27FC236}">
                  <a16:creationId xmlns:a16="http://schemas.microsoft.com/office/drawing/2014/main" id="{C5E68FAD-D5BA-4473-A6C0-1CFE88FC2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3003"/>
              <a:ext cx="45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Oval 634">
              <a:extLst>
                <a:ext uri="{FF2B5EF4-FFF2-40B4-BE49-F238E27FC236}">
                  <a16:creationId xmlns:a16="http://schemas.microsoft.com/office/drawing/2014/main" id="{C999083C-0119-4CAA-A7B3-C98A935D0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" y="2958"/>
              <a:ext cx="45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635">
              <a:extLst>
                <a:ext uri="{FF2B5EF4-FFF2-40B4-BE49-F238E27FC236}">
                  <a16:creationId xmlns:a16="http://schemas.microsoft.com/office/drawing/2014/main" id="{CABB99AF-1270-426A-ADEA-DBECBFA64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981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636">
              <a:extLst>
                <a:ext uri="{FF2B5EF4-FFF2-40B4-BE49-F238E27FC236}">
                  <a16:creationId xmlns:a16="http://schemas.microsoft.com/office/drawing/2014/main" id="{235BB591-E681-4596-AA26-DC6FAD967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7" y="2913"/>
              <a:ext cx="0" cy="6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637">
              <a:extLst>
                <a:ext uri="{FF2B5EF4-FFF2-40B4-BE49-F238E27FC236}">
                  <a16:creationId xmlns:a16="http://schemas.microsoft.com/office/drawing/2014/main" id="{ABDDB913-E312-410D-9484-94D72969D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7" y="3071"/>
              <a:ext cx="136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638">
              <a:extLst>
                <a:ext uri="{FF2B5EF4-FFF2-40B4-BE49-F238E27FC236}">
                  <a16:creationId xmlns:a16="http://schemas.microsoft.com/office/drawing/2014/main" id="{39293CE5-3E4B-4426-982A-976D246ED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7" y="3071"/>
              <a:ext cx="0" cy="68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BF9842FA-C996-4697-89E7-00B7ED4AA53E}"/>
              </a:ext>
            </a:extLst>
          </p:cNvPr>
          <p:cNvGrpSpPr/>
          <p:nvPr/>
        </p:nvGrpSpPr>
        <p:grpSpPr>
          <a:xfrm>
            <a:off x="3491334" y="4257572"/>
            <a:ext cx="5148802" cy="1512000"/>
            <a:chOff x="3491880" y="4686994"/>
            <a:chExt cx="5148802" cy="1512000"/>
          </a:xfrm>
        </p:grpSpPr>
        <p:sp>
          <p:nvSpPr>
            <p:cNvPr id="150" name="Line 602">
              <a:extLst>
                <a:ext uri="{FF2B5EF4-FFF2-40B4-BE49-F238E27FC236}">
                  <a16:creationId xmlns:a16="http://schemas.microsoft.com/office/drawing/2014/main" id="{1851B4D0-1E2D-4971-A667-F930EF10F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91881" y="5802994"/>
              <a:ext cx="3313113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603">
              <a:extLst>
                <a:ext uri="{FF2B5EF4-FFF2-40B4-BE49-F238E27FC236}">
                  <a16:creationId xmlns:a16="http://schemas.microsoft.com/office/drawing/2014/main" id="{FAA18DD3-3C3C-4149-9A97-7FFDBBCD0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12682" y="5658994"/>
              <a:ext cx="0" cy="144462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604">
              <a:extLst>
                <a:ext uri="{FF2B5EF4-FFF2-40B4-BE49-F238E27FC236}">
                  <a16:creationId xmlns:a16="http://schemas.microsoft.com/office/drawing/2014/main" id="{DDED02A7-3F4A-4B4F-AE9B-E560DF016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36682" y="5658993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605">
              <a:extLst>
                <a:ext uri="{FF2B5EF4-FFF2-40B4-BE49-F238E27FC236}">
                  <a16:creationId xmlns:a16="http://schemas.microsoft.com/office/drawing/2014/main" id="{5DE76B74-7B2E-4D50-A5BA-9F49A1BB7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04994" y="5658994"/>
              <a:ext cx="0" cy="144462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606">
              <a:extLst>
                <a:ext uri="{FF2B5EF4-FFF2-40B4-BE49-F238E27FC236}">
                  <a16:creationId xmlns:a16="http://schemas.microsoft.com/office/drawing/2014/main" id="{5DC325B5-A946-492A-A0E4-23F528BCD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28956" y="5658993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607">
              <a:extLst>
                <a:ext uri="{FF2B5EF4-FFF2-40B4-BE49-F238E27FC236}">
                  <a16:creationId xmlns:a16="http://schemas.microsoft.com/office/drawing/2014/main" id="{C15C643D-F57F-49D9-BA7C-94EA9B9D0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91881" y="5982994"/>
              <a:ext cx="4537075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609">
              <a:extLst>
                <a:ext uri="{FF2B5EF4-FFF2-40B4-BE49-F238E27FC236}">
                  <a16:creationId xmlns:a16="http://schemas.microsoft.com/office/drawing/2014/main" id="{AF60B3F2-1FCA-41FF-B236-27376E75A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91881" y="5012333"/>
              <a:ext cx="453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610">
              <a:extLst>
                <a:ext uri="{FF2B5EF4-FFF2-40B4-BE49-F238E27FC236}">
                  <a16:creationId xmlns:a16="http://schemas.microsoft.com/office/drawing/2014/main" id="{09A88958-0ADB-4536-8000-786E46B88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12682" y="5012333"/>
              <a:ext cx="0" cy="14446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611">
              <a:extLst>
                <a:ext uri="{FF2B5EF4-FFF2-40B4-BE49-F238E27FC236}">
                  <a16:creationId xmlns:a16="http://schemas.microsoft.com/office/drawing/2014/main" id="{02B0D96C-8951-4F75-9B27-0A60A0FB8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36682" y="5012333"/>
              <a:ext cx="0" cy="14446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612">
              <a:extLst>
                <a:ext uri="{FF2B5EF4-FFF2-40B4-BE49-F238E27FC236}">
                  <a16:creationId xmlns:a16="http://schemas.microsoft.com/office/drawing/2014/main" id="{CFC57608-B047-480F-BB6C-17F8C1FEA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04993" y="5012333"/>
              <a:ext cx="0" cy="14446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613">
              <a:extLst>
                <a:ext uri="{FF2B5EF4-FFF2-40B4-BE49-F238E27FC236}">
                  <a16:creationId xmlns:a16="http://schemas.microsoft.com/office/drawing/2014/main" id="{3BD6897A-695A-4DE7-BAC5-D556E1949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28682" y="5012333"/>
              <a:ext cx="0" cy="14446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616">
              <a:extLst>
                <a:ext uri="{FF2B5EF4-FFF2-40B4-BE49-F238E27FC236}">
                  <a16:creationId xmlns:a16="http://schemas.microsoft.com/office/drawing/2014/main" id="{DBA8FA0E-7B28-460B-842B-5153CAC0F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880" y="6198994"/>
              <a:ext cx="363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617">
              <a:extLst>
                <a:ext uri="{FF2B5EF4-FFF2-40B4-BE49-F238E27FC236}">
                  <a16:creationId xmlns:a16="http://schemas.microsoft.com/office/drawing/2014/main" id="{7CF6E2CA-471B-4F3C-B834-405793E73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6682" y="5658993"/>
              <a:ext cx="146" cy="54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618">
              <a:extLst>
                <a:ext uri="{FF2B5EF4-FFF2-40B4-BE49-F238E27FC236}">
                  <a16:creationId xmlns:a16="http://schemas.microsoft.com/office/drawing/2014/main" id="{942C394F-5E67-4F63-A27E-9682C02C6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0682" y="5658994"/>
              <a:ext cx="1" cy="39160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619">
              <a:extLst>
                <a:ext uri="{FF2B5EF4-FFF2-40B4-BE49-F238E27FC236}">
                  <a16:creationId xmlns:a16="http://schemas.microsoft.com/office/drawing/2014/main" id="{1431BCC2-8C26-4250-8290-1BE408E29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8682" y="5658993"/>
              <a:ext cx="0" cy="54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620">
              <a:extLst>
                <a:ext uri="{FF2B5EF4-FFF2-40B4-BE49-F238E27FC236}">
                  <a16:creationId xmlns:a16="http://schemas.microsoft.com/office/drawing/2014/main" id="{00935BB4-AAEA-4DA4-8F12-4BAF6E10B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52682" y="5658994"/>
              <a:ext cx="0" cy="39160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614">
              <a:extLst>
                <a:ext uri="{FF2B5EF4-FFF2-40B4-BE49-F238E27FC236}">
                  <a16:creationId xmlns:a16="http://schemas.microsoft.com/office/drawing/2014/main" id="{5729F1DC-9D8E-4C44-95EA-79283CFAD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4682" y="5082994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626">
              <a:extLst>
                <a:ext uri="{FF2B5EF4-FFF2-40B4-BE49-F238E27FC236}">
                  <a16:creationId xmlns:a16="http://schemas.microsoft.com/office/drawing/2014/main" id="{8B4B2908-5F7E-44AC-8242-5949526A0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8682" y="4686994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627">
              <a:extLst>
                <a:ext uri="{FF2B5EF4-FFF2-40B4-BE49-F238E27FC236}">
                  <a16:creationId xmlns:a16="http://schemas.microsoft.com/office/drawing/2014/main" id="{A663D82F-FDCA-4675-82CB-789E38B6E5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48682" y="4686994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639">
              <a:extLst>
                <a:ext uri="{FF2B5EF4-FFF2-40B4-BE49-F238E27FC236}">
                  <a16:creationId xmlns:a16="http://schemas.microsoft.com/office/drawing/2014/main" id="{7645508A-2F3E-4E01-B4AC-3E457117D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6682" y="5082994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640">
              <a:extLst>
                <a:ext uri="{FF2B5EF4-FFF2-40B4-BE49-F238E27FC236}">
                  <a16:creationId xmlns:a16="http://schemas.microsoft.com/office/drawing/2014/main" id="{B7557042-6DAC-41D2-AF09-E945C2CCA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40682" y="4686994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641">
              <a:extLst>
                <a:ext uri="{FF2B5EF4-FFF2-40B4-BE49-F238E27FC236}">
                  <a16:creationId xmlns:a16="http://schemas.microsoft.com/office/drawing/2014/main" id="{8692DBAF-9417-4FDE-9998-233895ACB6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40682" y="4686994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626">
              <a:extLst>
                <a:ext uri="{FF2B5EF4-FFF2-40B4-BE49-F238E27FC236}">
                  <a16:creationId xmlns:a16="http://schemas.microsoft.com/office/drawing/2014/main" id="{3C3F3CEA-2676-420A-BE69-4E1ADAB114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6682" y="6054994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626">
              <a:extLst>
                <a:ext uri="{FF2B5EF4-FFF2-40B4-BE49-F238E27FC236}">
                  <a16:creationId xmlns:a16="http://schemas.microsoft.com/office/drawing/2014/main" id="{A061A475-4276-405D-BDAB-E3663714C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8682" y="6054994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626">
              <a:extLst>
                <a:ext uri="{FF2B5EF4-FFF2-40B4-BE49-F238E27FC236}">
                  <a16:creationId xmlns:a16="http://schemas.microsoft.com/office/drawing/2014/main" id="{49A6CA4F-6CE4-46DD-89C9-844642DD1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6092" y="5406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626">
              <a:extLst>
                <a:ext uri="{FF2B5EF4-FFF2-40B4-BE49-F238E27FC236}">
                  <a16:creationId xmlns:a16="http://schemas.microsoft.com/office/drawing/2014/main" id="{256B960F-C433-4B18-9024-EE629BD7A1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40682" y="5406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626">
              <a:extLst>
                <a:ext uri="{FF2B5EF4-FFF2-40B4-BE49-F238E27FC236}">
                  <a16:creationId xmlns:a16="http://schemas.microsoft.com/office/drawing/2014/main" id="{62DC88C7-5751-43E6-9735-58F99BA571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08380" y="5406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626">
              <a:extLst>
                <a:ext uri="{FF2B5EF4-FFF2-40B4-BE49-F238E27FC236}">
                  <a16:creationId xmlns:a16="http://schemas.microsoft.com/office/drawing/2014/main" id="{69EA70A9-BC90-46D9-BADF-FD94E0EEE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2682" y="540699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641">
              <a:extLst>
                <a:ext uri="{FF2B5EF4-FFF2-40B4-BE49-F238E27FC236}">
                  <a16:creationId xmlns:a16="http://schemas.microsoft.com/office/drawing/2014/main" id="{6BB0DFD6-50BC-4919-8093-C33ADA537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682" y="5082994"/>
              <a:ext cx="0" cy="3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641">
              <a:extLst>
                <a:ext uri="{FF2B5EF4-FFF2-40B4-BE49-F238E27FC236}">
                  <a16:creationId xmlns:a16="http://schemas.microsoft.com/office/drawing/2014/main" id="{297F2E16-93BC-4661-9290-AE98C2ED1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6682" y="5082994"/>
              <a:ext cx="0" cy="3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978" grpId="0" autoUpdateAnimBg="0"/>
      <p:bldP spid="450979" grpId="0"/>
      <p:bldP spid="10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625"/>
          <p:cNvSpPr txBox="1">
            <a:spLocks noChangeArrowheads="1"/>
          </p:cNvSpPr>
          <p:nvPr/>
        </p:nvSpPr>
        <p:spPr bwMode="auto">
          <a:xfrm>
            <a:off x="179512" y="2494435"/>
            <a:ext cx="2540191" cy="25733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*地址线：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*数据线：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*控制线：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操作类型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响应状态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48" name="Text Box 625"/>
          <p:cNvSpPr txBox="1">
            <a:spLocks noChangeArrowheads="1"/>
          </p:cNvSpPr>
          <p:nvPr/>
        </p:nvSpPr>
        <p:spPr bwMode="auto">
          <a:xfrm>
            <a:off x="1619547" y="2492896"/>
            <a:ext cx="7344941" cy="25733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位数</a:t>
            </a:r>
            <a:r>
              <a:rPr lang="en-US" altLang="zh-CN" sz="2200" b="1" u="none" dirty="0">
                <a:latin typeface="+mn-ea"/>
                <a:ea typeface="+mn-ea"/>
              </a:rPr>
              <a:t>n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＝</a:t>
            </a:r>
            <a:r>
              <a:rPr lang="zh-CN" altLang="en-US" sz="2200" b="1" u="none" spc="-100" dirty="0">
                <a:latin typeface="+mn-ea"/>
                <a:ea typeface="+mn-ea"/>
              </a:rPr>
              <a:t>可寻址空间大小，</a:t>
            </a:r>
            <a:r>
              <a:rPr lang="zh-CN" altLang="en-US" sz="2200" b="1" u="none" spc="-100" dirty="0">
                <a:solidFill>
                  <a:srgbClr val="FF3399"/>
                </a:solidFill>
                <a:latin typeface="+mn-ea"/>
                <a:ea typeface="+mn-ea"/>
              </a:rPr>
              <a:t>常＝</a:t>
            </a:r>
            <a:r>
              <a:rPr lang="zh-CN" altLang="en-US" sz="2200" b="1" u="none" spc="-100" dirty="0">
                <a:latin typeface="+mn-ea"/>
                <a:ea typeface="+mn-ea"/>
              </a:rPr>
              <a:t>主存地址位数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最大容量时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0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位数</a:t>
            </a:r>
            <a:r>
              <a:rPr lang="en-US" altLang="zh-CN" sz="2200" b="1" u="none" dirty="0">
                <a:latin typeface="+mn-ea"/>
                <a:ea typeface="+mn-ea"/>
              </a:rPr>
              <a:t>W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应＝</a:t>
            </a:r>
            <a:r>
              <a:rPr lang="zh-CN" altLang="en-US" sz="2200" b="1" u="none" dirty="0">
                <a:latin typeface="+mn-ea"/>
                <a:ea typeface="+mn-ea"/>
              </a:rPr>
              <a:t>主存单元长度</a:t>
            </a:r>
            <a:r>
              <a:rPr lang="en-US" altLang="zh-CN" sz="2200" b="1" u="none" dirty="0">
                <a:latin typeface="+mn-ea"/>
                <a:ea typeface="+mn-ea"/>
              </a:rPr>
              <a:t>w</a:t>
            </a:r>
            <a:r>
              <a:rPr lang="zh-CN" altLang="en-US" sz="2200" b="1" u="none" dirty="0">
                <a:latin typeface="+mn-ea"/>
                <a:ea typeface="+mn-ea"/>
              </a:rPr>
              <a:t>，</a:t>
            </a:r>
            <a:r>
              <a:rPr lang="zh-CN" altLang="en-US" sz="2200" b="1" u="none" spc="-100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可＝</a:t>
            </a:r>
            <a:r>
              <a:rPr lang="en-US" altLang="zh-CN" sz="2200" b="1" u="none" spc="-100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k*w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性能</a:t>
            </a:r>
            <a:r>
              <a:rPr lang="zh-CN" altLang="en-US" sz="1800" b="1" u="none" dirty="0">
                <a:latin typeface="+mn-lt"/>
                <a:ea typeface="+mn-ea"/>
              </a:rPr>
              <a:t>↑</a:t>
            </a:r>
            <a:r>
              <a:rPr lang="zh-CN" altLang="en-US" sz="1800" b="1" u="none" dirty="0">
                <a:latin typeface="+mn-ea"/>
                <a:ea typeface="+mn-ea"/>
              </a:rPr>
              <a:t>，</a:t>
            </a:r>
            <a:r>
              <a:rPr lang="en-US" altLang="zh-CN" sz="1800" b="1" u="none" dirty="0">
                <a:latin typeface="+mn-ea"/>
                <a:ea typeface="+mn-ea"/>
              </a:rPr>
              <a:t>n</a:t>
            </a:r>
            <a:r>
              <a:rPr lang="zh-CN" altLang="en-US" sz="1800" b="1" u="none" dirty="0">
                <a:latin typeface="+mn-ea"/>
                <a:ea typeface="+mn-ea"/>
              </a:rPr>
              <a:t>相应</a:t>
            </a: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缩小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r>
              <a:rPr lang="zh-CN" altLang="en-US" sz="1800" b="1" u="none" dirty="0">
                <a:latin typeface="+mn-ea"/>
                <a:ea typeface="+mn-ea"/>
              </a:rPr>
              <a:t> </a:t>
            </a:r>
            <a:endParaRPr lang="en-US" altLang="zh-CN" sz="2200" b="1" u="none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位数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可表示</a:t>
            </a:r>
            <a:r>
              <a:rPr lang="zh-CN" altLang="en-US" sz="2200" b="1" u="none" dirty="0">
                <a:solidFill>
                  <a:srgbClr val="990099"/>
                </a:solidFill>
                <a:latin typeface="+mn-ea"/>
                <a:ea typeface="+mn-ea"/>
              </a:rPr>
              <a:t>所有的</a:t>
            </a:r>
            <a:r>
              <a:rPr lang="zh-CN" altLang="en-US" sz="2200" b="1" u="none" dirty="0">
                <a:latin typeface="+mn-ea"/>
                <a:ea typeface="+mn-ea"/>
              </a:rPr>
              <a:t>操作类型</a:t>
            </a:r>
            <a:r>
              <a:rPr lang="en-US" altLang="zh-CN" sz="2200" b="1" u="none" dirty="0">
                <a:latin typeface="+mn-ea"/>
                <a:ea typeface="+mn-ea"/>
              </a:rPr>
              <a:t>&amp;</a:t>
            </a:r>
            <a:r>
              <a:rPr lang="zh-CN" altLang="en-US" sz="2200" b="1" u="none" dirty="0">
                <a:latin typeface="+mn-ea"/>
                <a:ea typeface="+mn-ea"/>
              </a:rPr>
              <a:t>响应状态 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+mn-ea"/>
                <a:ea typeface="+mn-ea"/>
              </a:rPr>
              <a:t>    MEM</a:t>
            </a:r>
            <a:r>
              <a:rPr lang="zh-CN" altLang="en-US" sz="2200" b="1" u="none" dirty="0">
                <a:latin typeface="+mn-ea"/>
                <a:ea typeface="+mn-ea"/>
              </a:rPr>
              <a:t>操作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如</a:t>
            </a:r>
            <a:r>
              <a:rPr lang="en-US" altLang="zh-CN" sz="1800" b="1" u="none" dirty="0">
                <a:latin typeface="+mn-ea"/>
                <a:ea typeface="+mn-ea"/>
              </a:rPr>
              <a:t>R/W)</a:t>
            </a:r>
            <a:r>
              <a:rPr lang="zh-CN" altLang="en-US" sz="2200" b="1" u="none" dirty="0">
                <a:latin typeface="+mn-ea"/>
                <a:ea typeface="+mn-ea"/>
              </a:rPr>
              <a:t>、</a:t>
            </a:r>
            <a:r>
              <a:rPr lang="en-US" altLang="zh-CN" sz="2200" b="1" u="none" dirty="0">
                <a:latin typeface="+mn-ea"/>
                <a:ea typeface="+mn-ea"/>
              </a:rPr>
              <a:t>IO</a:t>
            </a:r>
            <a:r>
              <a:rPr lang="zh-CN" altLang="en-US" sz="2200" b="1" u="none" dirty="0">
                <a:latin typeface="+mn-ea"/>
                <a:ea typeface="+mn-ea"/>
              </a:rPr>
              <a:t>操作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如</a:t>
            </a:r>
            <a:r>
              <a:rPr lang="en-US" altLang="zh-CN" sz="1800" b="1" u="none" dirty="0">
                <a:latin typeface="+mn-ea"/>
                <a:ea typeface="+mn-ea"/>
              </a:rPr>
              <a:t>I/O)</a:t>
            </a:r>
            <a:r>
              <a:rPr lang="zh-CN" altLang="en-US" sz="2200" b="1" u="none" dirty="0">
                <a:latin typeface="+mn-ea"/>
                <a:ea typeface="+mn-ea"/>
              </a:rPr>
              <a:t>，无操作  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≥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3</a:t>
            </a: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根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)</a:t>
            </a:r>
            <a:endParaRPr lang="en-US" altLang="zh-CN" sz="2200" b="1" u="none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 就绪</a:t>
            </a:r>
            <a:r>
              <a:rPr lang="en-US" altLang="zh-CN" sz="2200" b="1" u="none" dirty="0">
                <a:latin typeface="+mn-ea"/>
                <a:ea typeface="+mn-ea"/>
              </a:rPr>
              <a:t>/</a:t>
            </a:r>
            <a:r>
              <a:rPr lang="zh-CN" altLang="en-US" sz="2200" b="1" u="none" dirty="0">
                <a:latin typeface="+mn-ea"/>
                <a:ea typeface="+mn-ea"/>
              </a:rPr>
              <a:t>等待                          </a:t>
            </a:r>
            <a:r>
              <a:rPr lang="zh-CN" altLang="en-US" sz="1800" b="1" u="none" dirty="0">
                <a:latin typeface="+mn-ea"/>
                <a:ea typeface="+mn-ea"/>
              </a:rPr>
              <a:t>  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≥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根</a:t>
            </a:r>
            <a:r>
              <a:rPr lang="en-US" altLang="zh-CN" sz="1800" b="1" u="none" dirty="0">
                <a:solidFill>
                  <a:srgbClr val="990099"/>
                </a:solidFill>
                <a:latin typeface="+mn-ea"/>
                <a:ea typeface="+mn-ea"/>
              </a:rPr>
              <a:t>)</a:t>
            </a:r>
            <a:endParaRPr lang="en-US" altLang="zh-CN" sz="2200" b="1" u="none" dirty="0">
              <a:latin typeface="+mn-ea"/>
              <a:ea typeface="+mn-ea"/>
            </a:endParaRPr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C644C-72AC-43E7-9615-851824A27D0F}" type="slidenum">
              <a:rPr lang="en-US" altLang="zh-CN"/>
              <a:t>33</a:t>
            </a:fld>
            <a:endParaRPr lang="en-US" altLang="zh-CN"/>
          </a:p>
        </p:txBody>
      </p:sp>
      <p:sp>
        <p:nvSpPr>
          <p:cNvPr id="325181" name="Text Box 573"/>
          <p:cNvSpPr txBox="1">
            <a:spLocks noChangeArrowheads="1"/>
          </p:cNvSpPr>
          <p:nvPr/>
        </p:nvSpPr>
        <p:spPr bwMode="auto">
          <a:xfrm>
            <a:off x="179389" y="332656"/>
            <a:ext cx="6354612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、主存与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的连接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(1)CPU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的存储器接口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外部访问需求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访问</a:t>
            </a:r>
            <a:r>
              <a:rPr lang="zh-CN" altLang="en-US" sz="2200" b="1" dirty="0">
                <a:latin typeface="宋体" panose="02010600030101010101" pitchFamily="2" charset="-122"/>
              </a:rPr>
              <a:t>存储器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设备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5" name="AutoShape 76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1042476" y="1700808"/>
            <a:ext cx="7273548" cy="793984"/>
            <a:chOff x="448120" y="2432335"/>
            <a:chExt cx="7273548" cy="793984"/>
          </a:xfrm>
        </p:grpSpPr>
        <p:grpSp>
          <p:nvGrpSpPr>
            <p:cNvPr id="49" name="组合 48"/>
            <p:cNvGrpSpPr/>
            <p:nvPr/>
          </p:nvGrpSpPr>
          <p:grpSpPr>
            <a:xfrm>
              <a:off x="448120" y="2432407"/>
              <a:ext cx="3384000" cy="793912"/>
              <a:chOff x="448120" y="2432407"/>
              <a:chExt cx="3384000" cy="793912"/>
            </a:xfrm>
          </p:grpSpPr>
          <p:sp>
            <p:nvSpPr>
              <p:cNvPr id="67" name="Line 651"/>
              <p:cNvSpPr>
                <a:spLocks noChangeShapeType="1"/>
              </p:cNvSpPr>
              <p:nvPr/>
            </p:nvSpPr>
            <p:spPr bwMode="auto">
              <a:xfrm>
                <a:off x="898971" y="3046319"/>
                <a:ext cx="0" cy="180000"/>
              </a:xfrm>
              <a:prstGeom prst="line">
                <a:avLst/>
              </a:prstGeom>
              <a:noFill/>
              <a:ln w="19050" cmpd="sng">
                <a:solidFill>
                  <a:srgbClr val="CC3300"/>
                </a:solidFill>
                <a:round/>
                <a:headEnd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652"/>
              <p:cNvSpPr>
                <a:spLocks noChangeShapeType="1"/>
              </p:cNvSpPr>
              <p:nvPr/>
            </p:nvSpPr>
            <p:spPr bwMode="auto">
              <a:xfrm>
                <a:off x="3429111" y="3046319"/>
                <a:ext cx="0" cy="180000"/>
              </a:xfrm>
              <a:prstGeom prst="line">
                <a:avLst/>
              </a:prstGeom>
              <a:noFill/>
              <a:ln w="19050" cmpd="sng">
                <a:solidFill>
                  <a:schemeClr val="accent2"/>
                </a:solidFill>
                <a:round/>
                <a:headEnd type="triangle"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653"/>
              <p:cNvSpPr>
                <a:spLocks noChangeShapeType="1"/>
              </p:cNvSpPr>
              <p:nvPr/>
            </p:nvSpPr>
            <p:spPr bwMode="auto">
              <a:xfrm>
                <a:off x="1556903" y="3046319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654"/>
              <p:cNvSpPr>
                <a:spLocks noChangeShapeType="1"/>
              </p:cNvSpPr>
              <p:nvPr/>
            </p:nvSpPr>
            <p:spPr bwMode="auto">
              <a:xfrm>
                <a:off x="1916943" y="3046319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655"/>
              <p:cNvSpPr>
                <a:spLocks noChangeShapeType="1"/>
              </p:cNvSpPr>
              <p:nvPr/>
            </p:nvSpPr>
            <p:spPr bwMode="auto">
              <a:xfrm>
                <a:off x="2276983" y="3046319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656"/>
              <p:cNvSpPr>
                <a:spLocks noChangeShapeType="1"/>
              </p:cNvSpPr>
              <p:nvPr/>
            </p:nvSpPr>
            <p:spPr bwMode="auto">
              <a:xfrm flipV="1">
                <a:off x="2709031" y="3046319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Text Box 638"/>
              <p:cNvSpPr txBox="1">
                <a:spLocks noChangeArrowheads="1"/>
              </p:cNvSpPr>
              <p:nvPr/>
            </p:nvSpPr>
            <p:spPr bwMode="auto">
              <a:xfrm>
                <a:off x="448120" y="2432407"/>
                <a:ext cx="3384000" cy="612000"/>
              </a:xfrm>
              <a:prstGeom prst="rect">
                <a:avLst/>
              </a:prstGeom>
              <a:solidFill>
                <a:srgbClr val="FFCCFF">
                  <a:alpha val="6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 anchor="b" anchorCtr="0"/>
              <a:lstStyle/>
              <a:p>
                <a:pPr algn="ctr"/>
                <a:r>
                  <a:rPr lang="en-US" altLang="zh-CN" sz="2000" b="1" u="none" dirty="0">
                    <a:latin typeface="宋体" panose="02010600030101010101" pitchFamily="2" charset="-122"/>
                  </a:rPr>
                  <a:t>CPU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>
                    <a:latin typeface="宋体" panose="02010600030101010101" pitchFamily="2" charset="-122"/>
                  </a:rPr>
                  <a:t>如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Intel 8088)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n-1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IO</a:t>
                </a:r>
                <a:r>
                  <a:rPr lang="en-US" altLang="zh-CN" sz="1600" b="1" u="none" dirty="0"/>
                  <a:t>/</a:t>
                </a:r>
                <a:r>
                  <a:rPr lang="en-US" altLang="zh-CN" sz="1600" b="1" u="none" baseline="-25000" dirty="0"/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 RD WR READY D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W-1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4" name="Line 643"/>
              <p:cNvSpPr>
                <a:spLocks noChangeShapeType="1"/>
              </p:cNvSpPr>
              <p:nvPr/>
            </p:nvSpPr>
            <p:spPr bwMode="auto">
              <a:xfrm>
                <a:off x="2134444" y="2812319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646"/>
              <p:cNvSpPr>
                <a:spLocks noChangeShapeType="1"/>
              </p:cNvSpPr>
              <p:nvPr/>
            </p:nvSpPr>
            <p:spPr bwMode="auto">
              <a:xfrm>
                <a:off x="1835644" y="2812319"/>
                <a:ext cx="19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649"/>
              <p:cNvSpPr>
                <a:spLocks noChangeShapeType="1"/>
              </p:cNvSpPr>
              <p:nvPr/>
            </p:nvSpPr>
            <p:spPr bwMode="auto">
              <a:xfrm flipV="1">
                <a:off x="1626844" y="2812319"/>
                <a:ext cx="1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4193668" y="2432335"/>
              <a:ext cx="3528000" cy="793984"/>
              <a:chOff x="159695" y="2415652"/>
              <a:chExt cx="3528000" cy="793984"/>
            </a:xfrm>
          </p:grpSpPr>
          <p:sp>
            <p:nvSpPr>
              <p:cNvPr id="51" name="Line 651"/>
              <p:cNvSpPr>
                <a:spLocks noChangeShapeType="1"/>
              </p:cNvSpPr>
              <p:nvPr/>
            </p:nvSpPr>
            <p:spPr bwMode="auto">
              <a:xfrm>
                <a:off x="610547" y="3029636"/>
                <a:ext cx="0" cy="180000"/>
              </a:xfrm>
              <a:prstGeom prst="line">
                <a:avLst/>
              </a:prstGeom>
              <a:noFill/>
              <a:ln w="19050" cmpd="sng">
                <a:solidFill>
                  <a:srgbClr val="CC3300"/>
                </a:solidFill>
                <a:round/>
                <a:headEnd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652"/>
              <p:cNvSpPr>
                <a:spLocks noChangeShapeType="1"/>
              </p:cNvSpPr>
              <p:nvPr/>
            </p:nvSpPr>
            <p:spPr bwMode="auto">
              <a:xfrm>
                <a:off x="3355186" y="3029636"/>
                <a:ext cx="0" cy="180000"/>
              </a:xfrm>
              <a:prstGeom prst="line">
                <a:avLst/>
              </a:prstGeom>
              <a:noFill/>
              <a:ln w="19050" cmpd="sng">
                <a:solidFill>
                  <a:schemeClr val="accent2"/>
                </a:solidFill>
                <a:round/>
                <a:headEnd type="triangle"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653"/>
              <p:cNvSpPr>
                <a:spLocks noChangeShapeType="1"/>
              </p:cNvSpPr>
              <p:nvPr/>
            </p:nvSpPr>
            <p:spPr bwMode="auto">
              <a:xfrm>
                <a:off x="1266954" y="3029636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654"/>
              <p:cNvSpPr>
                <a:spLocks noChangeShapeType="1"/>
              </p:cNvSpPr>
              <p:nvPr/>
            </p:nvSpPr>
            <p:spPr bwMode="auto">
              <a:xfrm>
                <a:off x="1699002" y="3029636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655"/>
              <p:cNvSpPr>
                <a:spLocks noChangeShapeType="1"/>
              </p:cNvSpPr>
              <p:nvPr/>
            </p:nvSpPr>
            <p:spPr bwMode="auto">
              <a:xfrm>
                <a:off x="2059042" y="3029636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656"/>
              <p:cNvSpPr>
                <a:spLocks noChangeShapeType="1"/>
              </p:cNvSpPr>
              <p:nvPr/>
            </p:nvSpPr>
            <p:spPr bwMode="auto">
              <a:xfrm flipV="1">
                <a:off x="2563098" y="3029636"/>
                <a:ext cx="0" cy="180000"/>
              </a:xfrm>
              <a:prstGeom prst="line">
                <a:avLst/>
              </a:prstGeom>
              <a:noFill/>
              <a:ln w="12700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Text Box 638"/>
              <p:cNvSpPr txBox="1">
                <a:spLocks noChangeArrowheads="1"/>
              </p:cNvSpPr>
              <p:nvPr/>
            </p:nvSpPr>
            <p:spPr bwMode="auto">
              <a:xfrm>
                <a:off x="159695" y="2415652"/>
                <a:ext cx="3528000" cy="612000"/>
              </a:xfrm>
              <a:prstGeom prst="rect">
                <a:avLst/>
              </a:prstGeom>
              <a:solidFill>
                <a:srgbClr val="FFCCFF">
                  <a:alpha val="6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 anchor="b" anchorCtr="0"/>
              <a:lstStyle/>
              <a:p>
                <a:pPr algn="ctr"/>
                <a:r>
                  <a:rPr lang="en-US" altLang="zh-CN" sz="2000" b="1" u="none" dirty="0">
                    <a:latin typeface="宋体" panose="02010600030101010101" pitchFamily="2" charset="-122"/>
                  </a:rPr>
                  <a:t>CPU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>
                    <a:latin typeface="宋体" panose="02010600030101010101" pitchFamily="2" charset="-122"/>
                  </a:rPr>
                  <a:t>如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Intel 80386)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n-1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IO</a:t>
                </a:r>
                <a:r>
                  <a:rPr lang="en-US" altLang="zh-CN" sz="1600" b="1" u="none" dirty="0"/>
                  <a:t>/</a:t>
                </a:r>
                <a:r>
                  <a:rPr lang="en-US" altLang="zh-CN" sz="1600" b="1" u="none" baseline="-25000" dirty="0"/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 W</a:t>
                </a:r>
                <a:r>
                  <a:rPr lang="en-US" altLang="zh-CN" sz="1600" b="1" u="none" dirty="0">
                    <a:latin typeface="+mn-lt"/>
                  </a:rPr>
                  <a:t>/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R ADS READY D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W-1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" name="Line 643"/>
              <p:cNvSpPr>
                <a:spLocks noChangeShapeType="1"/>
              </p:cNvSpPr>
              <p:nvPr/>
            </p:nvSpPr>
            <p:spPr bwMode="auto">
              <a:xfrm>
                <a:off x="1905671" y="2795636"/>
                <a:ext cx="29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646"/>
              <p:cNvSpPr>
                <a:spLocks noChangeShapeType="1"/>
              </p:cNvSpPr>
              <p:nvPr/>
            </p:nvSpPr>
            <p:spPr bwMode="auto">
              <a:xfrm>
                <a:off x="1686071" y="2795636"/>
                <a:ext cx="1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649"/>
              <p:cNvSpPr>
                <a:spLocks noChangeShapeType="1"/>
              </p:cNvSpPr>
              <p:nvPr/>
            </p:nvSpPr>
            <p:spPr bwMode="auto">
              <a:xfrm flipV="1">
                <a:off x="1041671" y="2795636"/>
                <a:ext cx="1968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1188368" y="5059667"/>
            <a:ext cx="6696000" cy="864000"/>
            <a:chOff x="827584" y="2853000"/>
            <a:chExt cx="6696000" cy="864000"/>
          </a:xfrm>
        </p:grpSpPr>
        <p:sp>
          <p:nvSpPr>
            <p:cNvPr id="78" name="Text Box 234"/>
            <p:cNvSpPr txBox="1">
              <a:spLocks noChangeArrowheads="1"/>
            </p:cNvSpPr>
            <p:nvPr/>
          </p:nvSpPr>
          <p:spPr bwMode="auto">
            <a:xfrm>
              <a:off x="827584" y="2853000"/>
              <a:ext cx="6696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5000"/>
                </a:lnSpc>
              </a:pPr>
              <a:r>
                <a:rPr lang="en-US" altLang="zh-CN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8088</a:t>
              </a: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控制线约定：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IO/M—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访问对象类型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低为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MEM)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，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              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RD—MEM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读或外设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In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WR—MEM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写或外设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Out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，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             READY—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对象响应状态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高为就绪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2" name="Line 649"/>
            <p:cNvSpPr>
              <a:spLocks noChangeShapeType="1"/>
            </p:cNvSpPr>
            <p:nvPr/>
          </p:nvSpPr>
          <p:spPr bwMode="auto">
            <a:xfrm flipV="1">
              <a:off x="3041128" y="2878336"/>
              <a:ext cx="12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643"/>
            <p:cNvSpPr>
              <a:spLocks noChangeShapeType="1"/>
            </p:cNvSpPr>
            <p:nvPr/>
          </p:nvSpPr>
          <p:spPr bwMode="auto">
            <a:xfrm>
              <a:off x="5129128" y="3167784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46"/>
            <p:cNvSpPr>
              <a:spLocks noChangeShapeType="1"/>
            </p:cNvSpPr>
            <p:nvPr/>
          </p:nvSpPr>
          <p:spPr bwMode="auto">
            <a:xfrm>
              <a:off x="2947528" y="3166549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" name="Text Box 726"/>
          <p:cNvSpPr txBox="1">
            <a:spLocks noChangeArrowheads="1"/>
          </p:cNvSpPr>
          <p:nvPr/>
        </p:nvSpPr>
        <p:spPr bwMode="auto">
          <a:xfrm>
            <a:off x="899592" y="6021320"/>
            <a:ext cx="42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8088</a:t>
            </a:r>
            <a:r>
              <a:rPr lang="zh-CN" altLang="en-US" sz="1800" spc="-100" dirty="0">
                <a:solidFill>
                  <a:schemeClr val="tx1"/>
                </a:solidFill>
              </a:rPr>
              <a:t>如何表示无操作、有访存操作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6660464" y="6021320"/>
            <a:ext cx="2088000" cy="288000"/>
            <a:chOff x="2843808" y="5893933"/>
            <a:chExt cx="2088000" cy="288000"/>
          </a:xfrm>
        </p:grpSpPr>
        <p:sp>
          <p:nvSpPr>
            <p:cNvPr id="100" name="Text Box 625"/>
            <p:cNvSpPr txBox="1">
              <a:spLocks noChangeArrowheads="1"/>
            </p:cNvSpPr>
            <p:nvPr/>
          </p:nvSpPr>
          <p:spPr bwMode="auto">
            <a:xfrm>
              <a:off x="2843808" y="5893933"/>
              <a:ext cx="208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spAutoFit/>
            </a:bodyPr>
            <a:lstStyle/>
            <a:p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(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RD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</a:t>
              </a:r>
              <a:r>
                <a:rPr lang="en-US" altLang="zh-CN" sz="1800" b="1" u="none" dirty="0">
                  <a:sym typeface="Symbol" panose="05050102010706020507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WR)</a:t>
              </a:r>
              <a:r>
                <a:rPr lang="en-US" altLang="zh-CN" sz="1800" b="1" u="none" dirty="0">
                  <a:latin typeface="+mn-lt"/>
                  <a:sym typeface="Symbol" panose="05050102010706020507"/>
                </a:rPr>
                <a:t>·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IO/</a:t>
              </a:r>
              <a:r>
                <a:rPr lang="en-US" altLang="zh-CN" sz="1800" b="1" u="none" dirty="0">
                  <a:latin typeface="+mn-lt"/>
                  <a:sym typeface="Symbol" panose="05050102010706020507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M</a:t>
              </a:r>
              <a:r>
                <a:rPr lang="en-US" altLang="zh-CN" sz="1800" b="1" u="none" dirty="0">
                  <a:latin typeface="+mn-lt"/>
                  <a:sym typeface="Symbol" panose="05050102010706020507"/>
                </a:rPr>
                <a:t> </a:t>
              </a:r>
              <a:r>
                <a:rPr lang="zh-CN" altLang="en-US" sz="1800" b="1" u="none" dirty="0">
                  <a:latin typeface="宋体" panose="02010600030101010101" pitchFamily="2" charset="-122"/>
                  <a:sym typeface="Symbol" panose="05050102010706020507"/>
                </a:rPr>
                <a:t>＝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1</a:t>
              </a:r>
            </a:p>
          </p:txBody>
        </p:sp>
        <p:cxnSp>
          <p:nvCxnSpPr>
            <p:cNvPr id="101" name="直接连接符 100"/>
            <p:cNvCxnSpPr/>
            <p:nvPr/>
          </p:nvCxnSpPr>
          <p:spPr bwMode="auto">
            <a:xfrm>
              <a:off x="2969592" y="5923584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 bwMode="auto">
            <a:xfrm>
              <a:off x="3495971" y="5923584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>
              <a:off x="4322944" y="5935707"/>
              <a:ext cx="12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/>
          </p:nvCxnSpPr>
          <p:spPr bwMode="auto">
            <a:xfrm>
              <a:off x="3961680" y="5899338"/>
              <a:ext cx="50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5" name="组合 104"/>
          <p:cNvGrpSpPr/>
          <p:nvPr/>
        </p:nvGrpSpPr>
        <p:grpSpPr>
          <a:xfrm>
            <a:off x="5292080" y="6021288"/>
            <a:ext cx="1368000" cy="288000"/>
            <a:chOff x="2843808" y="5323274"/>
            <a:chExt cx="1368000" cy="288000"/>
          </a:xfrm>
        </p:grpSpPr>
        <p:sp>
          <p:nvSpPr>
            <p:cNvPr id="106" name="Text Box 625"/>
            <p:cNvSpPr txBox="1">
              <a:spLocks noChangeArrowheads="1"/>
            </p:cNvSpPr>
            <p:nvPr/>
          </p:nvSpPr>
          <p:spPr bwMode="auto">
            <a:xfrm>
              <a:off x="2843808" y="5323274"/>
              <a:ext cx="136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RD</a:t>
              </a:r>
              <a:r>
                <a:rPr lang="en-US" altLang="zh-CN" sz="1800" b="1" u="none" dirty="0">
                  <a:latin typeface="+mn-lt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</a:t>
              </a:r>
              <a:r>
                <a:rPr lang="en-US" altLang="zh-CN" sz="1800" b="1" u="none" dirty="0">
                  <a:latin typeface="+mn-lt"/>
                  <a:sym typeface="Symbol" panose="05050102010706020507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WR</a:t>
              </a:r>
              <a:r>
                <a:rPr lang="zh-CN" altLang="en-US" sz="1800" b="1" u="none" dirty="0">
                  <a:latin typeface="宋体" panose="02010600030101010101" pitchFamily="2" charset="-122"/>
                  <a:sym typeface="Symbol" panose="05050102010706020507"/>
                </a:rPr>
                <a:t>＝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0</a:t>
              </a:r>
              <a:r>
                <a:rPr lang="zh-CN" altLang="en-US" sz="1800" b="1" u="none" dirty="0">
                  <a:latin typeface="宋体" panose="02010600030101010101" pitchFamily="2" charset="-122"/>
                  <a:sym typeface="Symbol" panose="05050102010706020507"/>
                </a:rPr>
                <a:t>，</a:t>
              </a:r>
              <a:endParaRPr lang="en-US" altLang="zh-CN" sz="1800" b="1" u="none" dirty="0">
                <a:latin typeface="宋体" panose="02010600030101010101" pitchFamily="2" charset="-122"/>
                <a:sym typeface="Symbol" panose="05050102010706020507"/>
              </a:endParaRPr>
            </a:p>
          </p:txBody>
        </p:sp>
        <p:cxnSp>
          <p:nvCxnSpPr>
            <p:cNvPr id="107" name="直接连接符 106"/>
            <p:cNvCxnSpPr/>
            <p:nvPr/>
          </p:nvCxnSpPr>
          <p:spPr bwMode="auto">
            <a:xfrm>
              <a:off x="2874202" y="5350982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/>
          </p:nvCxnSpPr>
          <p:spPr bwMode="auto">
            <a:xfrm>
              <a:off x="3382498" y="5350982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9" name="AutoShape 6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331"/>
          <p:cNvSpPr/>
          <p:nvPr/>
        </p:nvSpPr>
        <p:spPr bwMode="auto">
          <a:xfrm>
            <a:off x="7668496" y="3789040"/>
            <a:ext cx="1368000" cy="252000"/>
          </a:xfrm>
          <a:prstGeom prst="borderCallout2">
            <a:avLst>
              <a:gd name="adj1" fmla="val 46702"/>
              <a:gd name="adj2" fmla="val -651"/>
              <a:gd name="adj3" fmla="val 49260"/>
              <a:gd name="adj4" fmla="val -11775"/>
              <a:gd name="adj5" fmla="val -37895"/>
              <a:gd name="adj6" fmla="val -375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空间大小不变</a:t>
            </a:r>
          </a:p>
        </p:txBody>
      </p:sp>
      <p:sp>
        <p:nvSpPr>
          <p:cNvPr id="59" name="Text Box 726">
            <a:extLst>
              <a:ext uri="{FF2B5EF4-FFF2-40B4-BE49-F238E27FC236}">
                <a16:creationId xmlns:a16="http://schemas.microsoft.com/office/drawing/2014/main" id="{87D6A1C1-51CD-425B-AFA5-F5325C44D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822" y="2998784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CPU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传送</a:t>
            </a:r>
            <a:r>
              <a:rPr lang="zh-CN" altLang="en-US" sz="1800" dirty="0">
                <a:solidFill>
                  <a:schemeClr val="tx1"/>
                </a:solidFill>
              </a:rPr>
              <a:t>地址是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</a:rPr>
              <a:t>/2</a:t>
            </a:r>
            <a:r>
              <a:rPr lang="zh-CN" altLang="en-US" sz="1800" dirty="0">
                <a:solidFill>
                  <a:schemeClr val="tx1"/>
                </a:solidFill>
              </a:rPr>
              <a:t>次？原因？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60" name="Text Box 703">
            <a:extLst>
              <a:ext uri="{FF2B5EF4-FFF2-40B4-BE49-F238E27FC236}">
                <a16:creationId xmlns:a16="http://schemas.microsoft.com/office/drawing/2014/main" id="{4E661A95-F843-455C-BB4C-D39DE87EA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00" y="2998784"/>
            <a:ext cx="3816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90000"/>
              </a:lnSpc>
            </a:pPr>
            <a:r>
              <a:rPr lang="en-US" altLang="zh-CN" sz="1800" b="1" u="none" dirty="0">
                <a:latin typeface="+mn-ea"/>
                <a:ea typeface="+mn-ea"/>
              </a:rPr>
              <a:t>1</a:t>
            </a:r>
            <a:r>
              <a:rPr lang="zh-CN" altLang="en-US" sz="1800" b="1" u="none" dirty="0">
                <a:latin typeface="+mn-ea"/>
                <a:ea typeface="+mn-ea"/>
              </a:rPr>
              <a:t>次，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减少访问延迟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(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时有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DRAMC)</a:t>
            </a:r>
          </a:p>
          <a:p>
            <a:pPr>
              <a:lnSpc>
                <a:spcPct val="100000"/>
              </a:lnSpc>
            </a:pPr>
            <a:r>
              <a:rPr lang="en-US" altLang="zh-CN" sz="1800" b="1" u="none" dirty="0">
                <a:latin typeface="+mn-ea"/>
                <a:ea typeface="+mn-ea"/>
              </a:rPr>
              <a:t>         </a:t>
            </a:r>
            <a:endParaRPr lang="zh-CN" altLang="en-US" sz="18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5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5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  <p:bldP spid="58" grpId="0" bldLvl="0" animBg="1"/>
      <p:bldP spid="59" grpId="0" animBg="1"/>
      <p:bldP spid="60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79333-414E-4186-9003-40B96CD1D372}" type="slidenum">
              <a:rPr lang="en-US" altLang="zh-CN"/>
              <a:t>34</a:t>
            </a:fld>
            <a:endParaRPr lang="en-US" altLang="zh-CN"/>
          </a:p>
        </p:txBody>
      </p:sp>
      <p:sp>
        <p:nvSpPr>
          <p:cNvPr id="221" name="Text Box 768"/>
          <p:cNvSpPr txBox="1">
            <a:spLocks noChangeArrowheads="1"/>
          </p:cNvSpPr>
          <p:nvPr/>
        </p:nvSpPr>
        <p:spPr bwMode="auto">
          <a:xfrm>
            <a:off x="179263" y="4509120"/>
            <a:ext cx="8702137" cy="18093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说明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后续仅讨论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的连接     </a:t>
            </a:r>
            <a:r>
              <a:rPr lang="zh-CN" altLang="en-US" sz="1800" b="1" u="none" dirty="0">
                <a:latin typeface="+mn-ea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简单易懂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*主存在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可寻址空间中的位置：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默认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占用</a:t>
            </a:r>
            <a:r>
              <a:rPr lang="zh-CN" altLang="en-US" sz="2200" b="1" spc="-50" dirty="0">
                <a:latin typeface="宋体" panose="02010600030101010101" pitchFamily="2" charset="-122"/>
              </a:rPr>
              <a:t>可寻址空间的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低端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从</a:t>
            </a:r>
            <a:r>
              <a:rPr lang="en-US" altLang="zh-CN" sz="1800" b="1" u="none" dirty="0">
                <a:latin typeface="宋体" panose="02010600030101010101" pitchFamily="2" charset="-122"/>
              </a:rPr>
              <a:t>0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开始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主存与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的连接：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下页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dirty="0"/>
          </a:p>
        </p:txBody>
      </p:sp>
      <p:sp>
        <p:nvSpPr>
          <p:cNvPr id="106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1" name="Text Box 625"/>
          <p:cNvSpPr txBox="1">
            <a:spLocks noChangeArrowheads="1"/>
          </p:cNvSpPr>
          <p:nvPr/>
        </p:nvSpPr>
        <p:spPr bwMode="auto">
          <a:xfrm>
            <a:off x="179263" y="764704"/>
            <a:ext cx="6336951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主存的接口组织：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(CPU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的地址传送为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次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SRAM—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数据引脚：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地址引脚：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控制引脚：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DRAM—</a:t>
            </a:r>
          </a:p>
        </p:txBody>
      </p:sp>
      <p:sp>
        <p:nvSpPr>
          <p:cNvPr id="113" name="Text Box 625"/>
          <p:cNvSpPr txBox="1">
            <a:spLocks noChangeArrowheads="1"/>
          </p:cNvSpPr>
          <p:nvPr/>
        </p:nvSpPr>
        <p:spPr bwMode="auto">
          <a:xfrm>
            <a:off x="1594935" y="1174502"/>
            <a:ext cx="7286465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  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位数</a:t>
            </a:r>
            <a:r>
              <a:rPr lang="en-US" altLang="zh-CN" sz="2200" b="1" u="none" dirty="0">
                <a:latin typeface="+mn-ea"/>
                <a:ea typeface="+mn-ea"/>
              </a:rPr>
              <a:t>w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</a:rPr>
              <a:t>CPU</a:t>
            </a:r>
            <a:r>
              <a:rPr lang="zh-CN" altLang="en-US" sz="2200" b="1" u="none" dirty="0">
                <a:latin typeface="+mn-ea"/>
                <a:ea typeface="+mn-ea"/>
              </a:rPr>
              <a:t>数据线位数  </a:t>
            </a:r>
            <a:r>
              <a:rPr lang="en-US" altLang="zh-CN" sz="2200" b="1" u="none" dirty="0">
                <a:latin typeface="+mn-ea"/>
                <a:ea typeface="+mn-ea"/>
              </a:rPr>
              <a:t>  </a:t>
            </a:r>
            <a:r>
              <a:rPr lang="zh-CN" altLang="en-US" sz="1800" b="1" u="none" dirty="0">
                <a:latin typeface="+mn-ea"/>
                <a:ea typeface="+mn-ea"/>
              </a:rPr>
              <a:t>←</a:t>
            </a:r>
            <a:r>
              <a:rPr lang="en-US" altLang="zh-CN" sz="1800" b="1" u="none" dirty="0">
                <a:latin typeface="+mn-ea"/>
                <a:ea typeface="+mn-ea"/>
              </a:rPr>
              <a:t>CPU</a:t>
            </a:r>
            <a:r>
              <a:rPr lang="zh-CN" altLang="en-US" sz="1800" b="1" u="none" dirty="0">
                <a:latin typeface="+mn-ea"/>
                <a:ea typeface="+mn-ea"/>
              </a:rPr>
              <a:t>直接访问主存</a:t>
            </a:r>
            <a:endParaRPr lang="en-US" altLang="zh-CN" sz="1800" b="1" u="none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  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位数</a:t>
            </a:r>
            <a:r>
              <a:rPr lang="en-US" altLang="zh-CN" sz="2200" b="1" u="none" dirty="0">
                <a:latin typeface="+mn-ea"/>
                <a:ea typeface="+mn-ea"/>
              </a:rPr>
              <a:t>k</a:t>
            </a:r>
            <a:r>
              <a:rPr lang="zh-CN" altLang="en-US" sz="2200" b="1" u="none" dirty="0">
                <a:latin typeface="+mn-ea"/>
                <a:ea typeface="+mn-ea"/>
              </a:rPr>
              <a:t>＝</a:t>
            </a:r>
            <a:r>
              <a:rPr lang="en-US" altLang="zh-CN" sz="2200" b="1" u="none" dirty="0">
                <a:latin typeface="+mn-ea"/>
                <a:ea typeface="+mn-ea"/>
              </a:rPr>
              <a:t>log</a:t>
            </a:r>
            <a:r>
              <a:rPr lang="en-US" altLang="zh-CN" sz="2200" b="1" u="none" baseline="-26000" dirty="0">
                <a:latin typeface="+mn-ea"/>
                <a:ea typeface="+mn-ea"/>
              </a:rPr>
              <a:t>2</a:t>
            </a:r>
            <a:r>
              <a:rPr lang="en-US" altLang="zh-CN" sz="2200" b="1" u="none" dirty="0">
                <a:latin typeface="+mn-ea"/>
                <a:ea typeface="+mn-ea"/>
              </a:rPr>
              <a:t>(</a:t>
            </a:r>
            <a:r>
              <a:rPr lang="zh-CN" altLang="en-US" sz="2000" b="1" u="none" dirty="0">
                <a:latin typeface="+mn-ea"/>
                <a:ea typeface="+mn-ea"/>
              </a:rPr>
              <a:t>主存容量</a:t>
            </a:r>
            <a:r>
              <a:rPr lang="en-US" altLang="zh-CN" sz="2000" b="1" u="none" dirty="0">
                <a:latin typeface="+mn-ea"/>
                <a:ea typeface="+mn-ea"/>
              </a:rPr>
              <a:t>/w</a:t>
            </a:r>
            <a:r>
              <a:rPr lang="en-US" altLang="zh-CN" sz="2200" b="1" u="none" dirty="0"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solidFill>
                  <a:srgbClr val="FF3399"/>
                </a:solidFill>
                <a:latin typeface="+mn-ea"/>
                <a:ea typeface="+mn-ea"/>
              </a:rPr>
              <a:t>≤</a:t>
            </a:r>
            <a:r>
              <a:rPr lang="en-US" altLang="zh-CN" sz="2200" b="1" u="none" dirty="0">
                <a:latin typeface="+mn-ea"/>
                <a:ea typeface="+mn-ea"/>
              </a:rPr>
              <a:t>CPU</a:t>
            </a:r>
            <a:r>
              <a:rPr lang="zh-CN" altLang="en-US" sz="2200" b="1" u="none" dirty="0">
                <a:latin typeface="+mn-ea"/>
                <a:ea typeface="+mn-ea"/>
              </a:rPr>
              <a:t>地址线数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    </a:t>
            </a:r>
            <a:r>
              <a:rPr lang="en-US" altLang="zh-CN" sz="2200" b="1" u="none" dirty="0">
                <a:latin typeface="+mn-ea"/>
                <a:ea typeface="+mn-ea"/>
              </a:rPr>
              <a:t> </a:t>
            </a:r>
            <a:r>
              <a:rPr lang="zh-CN" altLang="en-US" sz="2200" b="1" u="none" dirty="0">
                <a:latin typeface="+mn-ea"/>
                <a:ea typeface="+mn-ea"/>
              </a:rPr>
              <a:t>片选＝</a:t>
            </a:r>
            <a:r>
              <a:rPr lang="en-US" altLang="zh-CN" sz="2200" b="1" u="none" dirty="0">
                <a:latin typeface="+mn-ea"/>
                <a:ea typeface="+mn-ea"/>
              </a:rPr>
              <a:t>1</a:t>
            </a:r>
            <a:r>
              <a:rPr lang="zh-CN" altLang="en-US" sz="2200" b="1" u="none" dirty="0">
                <a:latin typeface="+mn-ea"/>
                <a:ea typeface="+mn-ea"/>
              </a:rPr>
              <a:t>根，操作控制≥</a:t>
            </a:r>
            <a:r>
              <a:rPr lang="en-US" altLang="zh-CN" sz="2200" b="1" u="none" dirty="0">
                <a:latin typeface="+mn-ea"/>
                <a:ea typeface="+mn-ea"/>
              </a:rPr>
              <a:t>1</a:t>
            </a:r>
            <a:r>
              <a:rPr lang="zh-CN" altLang="en-US" sz="2200" b="1" u="none" dirty="0">
                <a:latin typeface="+mn-ea"/>
                <a:ea typeface="+mn-ea"/>
              </a:rPr>
              <a:t>根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latin typeface="+mn-ea"/>
                <a:ea typeface="+mn-ea"/>
              </a:rPr>
              <a:t>通过</a:t>
            </a:r>
            <a:r>
              <a:rPr lang="en-US" altLang="zh-CN" sz="2200" b="1" u="none" dirty="0">
                <a:latin typeface="+mn-ea"/>
                <a:ea typeface="+mn-ea"/>
              </a:rPr>
              <a:t>DRAMC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接口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同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SRAM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latin typeface="+mn-ea"/>
                <a:ea typeface="+mn-ea"/>
              </a:rPr>
              <a:t>连接外部</a:t>
            </a:r>
            <a:r>
              <a:rPr lang="en-US" altLang="zh-CN" sz="2200" b="1" u="none" dirty="0">
                <a:latin typeface="+mn-ea"/>
                <a:ea typeface="+mn-ea"/>
              </a:rPr>
              <a:t>       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←字扩展用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DRAMC</a:t>
            </a:r>
            <a:r>
              <a:rPr lang="zh-CN" altLang="en-US" sz="1800" b="1" u="none" dirty="0">
                <a:latin typeface="+mn-ea"/>
                <a:ea typeface="+mn-ea"/>
              </a:rPr>
              <a:t>实现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110" name="Text Box 641"/>
          <p:cNvSpPr txBox="1">
            <a:spLocks noChangeArrowheads="1"/>
          </p:cNvSpPr>
          <p:nvPr/>
        </p:nvSpPr>
        <p:spPr bwMode="auto">
          <a:xfrm>
            <a:off x="179388" y="332656"/>
            <a:ext cx="604879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主存与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的连接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主存容量大小需可配置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107" name="AutoShape 3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>
            <a:cxnSpLocks/>
          </p:cNvCxnSpPr>
          <p:nvPr/>
        </p:nvCxnSpPr>
        <p:spPr bwMode="auto">
          <a:xfrm flipH="1">
            <a:off x="4068000" y="1988840"/>
            <a:ext cx="2232192" cy="3096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67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5BAA54E-2BF0-4C31-8821-D6F716646BF1}"/>
              </a:ext>
            </a:extLst>
          </p:cNvPr>
          <p:cNvGrpSpPr/>
          <p:nvPr/>
        </p:nvGrpSpPr>
        <p:grpSpPr>
          <a:xfrm>
            <a:off x="3168000" y="2924944"/>
            <a:ext cx="5040424" cy="1512000"/>
            <a:chOff x="3168000" y="2952000"/>
            <a:chExt cx="5040424" cy="1512000"/>
          </a:xfrm>
        </p:grpSpPr>
        <p:sp>
          <p:nvSpPr>
            <p:cNvPr id="68" name="Line 684">
              <a:extLst>
                <a:ext uri="{FF2B5EF4-FFF2-40B4-BE49-F238E27FC236}">
                  <a16:creationId xmlns:a16="http://schemas.microsoft.com/office/drawing/2014/main" id="{9E87442F-1B6D-4708-B439-3179BDACE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000" y="3204000"/>
              <a:ext cx="1980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21">
              <a:extLst>
                <a:ext uri="{FF2B5EF4-FFF2-40B4-BE49-F238E27FC236}">
                  <a16:creationId xmlns:a16="http://schemas.microsoft.com/office/drawing/2014/main" id="{5131E158-8EF3-4843-A6C2-8E30FBA63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2168" y="4392000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000E2C66-EDC2-491A-B06D-D8A3A7D1838A}"/>
                </a:ext>
              </a:extLst>
            </p:cNvPr>
            <p:cNvGrpSpPr/>
            <p:nvPr/>
          </p:nvGrpSpPr>
          <p:grpSpPr>
            <a:xfrm>
              <a:off x="3168000" y="3312041"/>
              <a:ext cx="1980000" cy="1151959"/>
              <a:chOff x="2843832" y="3312041"/>
              <a:chExt cx="1980000" cy="1151959"/>
            </a:xfrm>
          </p:grpSpPr>
          <p:sp>
            <p:nvSpPr>
              <p:cNvPr id="118" name="Text Box 685">
                <a:extLst>
                  <a:ext uri="{FF2B5EF4-FFF2-40B4-BE49-F238E27FC236}">
                    <a16:creationId xmlns:a16="http://schemas.microsoft.com/office/drawing/2014/main" id="{DCC69600-DA46-4114-AAAB-BB081FA5F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9832" y="3312041"/>
                <a:ext cx="1764000" cy="936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 anchor="t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18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      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8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    </a:t>
                </a: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DRAM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   WE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   </a:t>
                </a: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控制器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RAS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CS CAS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RAS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1600" b="1" u="none" spc="200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CAS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9" name="Line 701">
                <a:extLst>
                  <a:ext uri="{FF2B5EF4-FFF2-40B4-BE49-F238E27FC236}">
                    <a16:creationId xmlns:a16="http://schemas.microsoft.com/office/drawing/2014/main" id="{C1E02999-97FD-4FD1-81ED-953465854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3832" y="4140000"/>
                <a:ext cx="216000" cy="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702">
                <a:extLst>
                  <a:ext uri="{FF2B5EF4-FFF2-40B4-BE49-F238E27FC236}">
                    <a16:creationId xmlns:a16="http://schemas.microsoft.com/office/drawing/2014/main" id="{763542B1-FD43-4FCB-8CED-92B674472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3832" y="3672081"/>
                <a:ext cx="216000" cy="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746">
                <a:extLst>
                  <a:ext uri="{FF2B5EF4-FFF2-40B4-BE49-F238E27FC236}">
                    <a16:creationId xmlns:a16="http://schemas.microsoft.com/office/drawing/2014/main" id="{D31DDA52-4BC2-4C62-8B79-624FE3290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68000" y="4254280"/>
                <a:ext cx="0" cy="144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747">
                <a:extLst>
                  <a:ext uri="{FF2B5EF4-FFF2-40B4-BE49-F238E27FC236}">
                    <a16:creationId xmlns:a16="http://schemas.microsoft.com/office/drawing/2014/main" id="{D04C0161-77CE-49BF-83E6-20C7404FE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000" y="4248000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706">
                <a:extLst>
                  <a:ext uri="{FF2B5EF4-FFF2-40B4-BE49-F238E27FC236}">
                    <a16:creationId xmlns:a16="http://schemas.microsoft.com/office/drawing/2014/main" id="{17382B32-D179-4862-8CD7-8CFBE6CAD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3832" y="3456000"/>
                <a:ext cx="216000" cy="0"/>
              </a:xfrm>
              <a:prstGeom prst="line">
                <a:avLst/>
              </a:prstGeom>
              <a:noFill/>
              <a:ln w="19050" cmpd="sng">
                <a:solidFill>
                  <a:srgbClr val="CC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742">
                <a:extLst>
                  <a:ext uri="{FF2B5EF4-FFF2-40B4-BE49-F238E27FC236}">
                    <a16:creationId xmlns:a16="http://schemas.microsoft.com/office/drawing/2014/main" id="{00FC429E-1019-4D87-A79B-7C2F691EA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0000" y="4014000"/>
                <a:ext cx="360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Line 742">
                <a:extLst>
                  <a:ext uri="{FF2B5EF4-FFF2-40B4-BE49-F238E27FC236}">
                    <a16:creationId xmlns:a16="http://schemas.microsoft.com/office/drawing/2014/main" id="{D404DE96-711F-47B3-89BF-4BFDDBD5B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000" y="4014000"/>
                <a:ext cx="360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Line 742">
                <a:extLst>
                  <a:ext uri="{FF2B5EF4-FFF2-40B4-BE49-F238E27FC236}">
                    <a16:creationId xmlns:a16="http://schemas.microsoft.com/office/drawing/2014/main" id="{28E6767D-282B-4A98-B789-EA71EF619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6400" y="4014000"/>
                <a:ext cx="360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Line 742">
                <a:extLst>
                  <a:ext uri="{FF2B5EF4-FFF2-40B4-BE49-F238E27FC236}">
                    <a16:creationId xmlns:a16="http://schemas.microsoft.com/office/drawing/2014/main" id="{4D95A9A9-D541-4C24-8255-D8576A213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6400" y="3790800"/>
                <a:ext cx="360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Line 699">
                <a:extLst>
                  <a:ext uri="{FF2B5EF4-FFF2-40B4-BE49-F238E27FC236}">
                    <a16:creationId xmlns:a16="http://schemas.microsoft.com/office/drawing/2014/main" id="{E40F8291-6DB1-4100-A252-4203B794A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6000" y="4014000"/>
                <a:ext cx="205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Line 699">
                <a:extLst>
                  <a:ext uri="{FF2B5EF4-FFF2-40B4-BE49-F238E27FC236}">
                    <a16:creationId xmlns:a16="http://schemas.microsoft.com/office/drawing/2014/main" id="{979DF4BA-2494-49FC-B243-A587F470BD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4467" y="3574800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699">
                <a:extLst>
                  <a:ext uri="{FF2B5EF4-FFF2-40B4-BE49-F238E27FC236}">
                    <a16:creationId xmlns:a16="http://schemas.microsoft.com/office/drawing/2014/main" id="{B102DFE0-B986-498F-B86E-BEC455CA8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6000" y="3574800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" name="Line 690">
              <a:extLst>
                <a:ext uri="{FF2B5EF4-FFF2-40B4-BE49-F238E27FC236}">
                  <a16:creationId xmlns:a16="http://schemas.microsoft.com/office/drawing/2014/main" id="{595C0373-B526-4516-87D4-15F454D11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006" y="3672000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91">
              <a:extLst>
                <a:ext uri="{FF2B5EF4-FFF2-40B4-BE49-F238E27FC236}">
                  <a16:creationId xmlns:a16="http://schemas.microsoft.com/office/drawing/2014/main" id="{C379D802-B893-4FFF-BD4C-FE1A19F66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006" y="3456000"/>
              <a:ext cx="57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692">
              <a:extLst>
                <a:ext uri="{FF2B5EF4-FFF2-40B4-BE49-F238E27FC236}">
                  <a16:creationId xmlns:a16="http://schemas.microsoft.com/office/drawing/2014/main" id="{D3D40A76-65D7-44E8-968C-B9E67E290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006" y="3924000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93">
              <a:extLst>
                <a:ext uri="{FF2B5EF4-FFF2-40B4-BE49-F238E27FC236}">
                  <a16:creationId xmlns:a16="http://schemas.microsoft.com/office/drawing/2014/main" id="{8AEBFB8D-F722-4526-8CF7-BF2CEAC2C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006" y="4140000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09">
              <a:extLst>
                <a:ext uri="{FF2B5EF4-FFF2-40B4-BE49-F238E27FC236}">
                  <a16:creationId xmlns:a16="http://schemas.microsoft.com/office/drawing/2014/main" id="{77AB168B-0CCD-4733-8E51-1ABD45485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4000" y="2952001"/>
              <a:ext cx="1512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11">
              <a:extLst>
                <a:ext uri="{FF2B5EF4-FFF2-40B4-BE49-F238E27FC236}">
                  <a16:creationId xmlns:a16="http://schemas.microsoft.com/office/drawing/2014/main" id="{57A7BF4D-C1C9-463C-9036-EBAA8C90C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88" y="3024009"/>
              <a:ext cx="1548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13">
              <a:extLst>
                <a:ext uri="{FF2B5EF4-FFF2-40B4-BE49-F238E27FC236}">
                  <a16:creationId xmlns:a16="http://schemas.microsoft.com/office/drawing/2014/main" id="{D2FB192B-9AA4-4218-AE2C-4EFAAC112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4088" y="3023934"/>
              <a:ext cx="0" cy="432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14">
              <a:extLst>
                <a:ext uri="{FF2B5EF4-FFF2-40B4-BE49-F238E27FC236}">
                  <a16:creationId xmlns:a16="http://schemas.microsoft.com/office/drawing/2014/main" id="{753E5F63-89CF-401E-B221-6590FA95E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4000" y="295200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15">
              <a:extLst>
                <a:ext uri="{FF2B5EF4-FFF2-40B4-BE49-F238E27FC236}">
                  <a16:creationId xmlns:a16="http://schemas.microsoft.com/office/drawing/2014/main" id="{CF340786-4132-4215-8C72-2916F65B3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4000" y="3672000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16">
              <a:extLst>
                <a:ext uri="{FF2B5EF4-FFF2-40B4-BE49-F238E27FC236}">
                  <a16:creationId xmlns:a16="http://schemas.microsoft.com/office/drawing/2014/main" id="{9DE4A49D-1A65-454B-B6BB-E8C241542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44000" y="4320000"/>
              <a:ext cx="13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720">
              <a:extLst>
                <a:ext uri="{FF2B5EF4-FFF2-40B4-BE49-F238E27FC236}">
                  <a16:creationId xmlns:a16="http://schemas.microsoft.com/office/drawing/2014/main" id="{5313A101-087B-4007-A75B-E075EB452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000" y="4392000"/>
              <a:ext cx="183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704">
              <a:extLst>
                <a:ext uri="{FF2B5EF4-FFF2-40B4-BE49-F238E27FC236}">
                  <a16:creationId xmlns:a16="http://schemas.microsoft.com/office/drawing/2014/main" id="{FC9E717A-2926-4CAF-B7EC-D39750B0A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00" y="3204000"/>
              <a:ext cx="576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CC5CEF8-5E36-405D-B775-7903EE50A91E}"/>
                </a:ext>
              </a:extLst>
            </p:cNvPr>
            <p:cNvGrpSpPr/>
            <p:nvPr/>
          </p:nvGrpSpPr>
          <p:grpSpPr>
            <a:xfrm>
              <a:off x="5724000" y="3096153"/>
              <a:ext cx="936000" cy="1152000"/>
              <a:chOff x="5727377" y="3096153"/>
              <a:chExt cx="936000" cy="1152000"/>
            </a:xfrm>
          </p:grpSpPr>
          <p:sp>
            <p:nvSpPr>
              <p:cNvPr id="101" name="Text Box 687">
                <a:extLst>
                  <a:ext uri="{FF2B5EF4-FFF2-40B4-BE49-F238E27FC236}">
                    <a16:creationId xmlns:a16="http://schemas.microsoft.com/office/drawing/2014/main" id="{FCE67F87-DA73-494C-83E9-082F9819C9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377" y="3096153"/>
                <a:ext cx="936000" cy="11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8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   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0#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RAS 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DRAM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CAS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模块</a:t>
                </a:r>
              </a:p>
            </p:txBody>
          </p:sp>
          <p:sp>
            <p:nvSpPr>
              <p:cNvPr id="104" name="Line 696">
                <a:extLst>
                  <a:ext uri="{FF2B5EF4-FFF2-40B4-BE49-F238E27FC236}">
                    <a16:creationId xmlns:a16="http://schemas.microsoft.com/office/drawing/2014/main" id="{5A7DDF83-E848-4D93-945C-4897DD29A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3574800"/>
                <a:ext cx="20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742">
                <a:extLst>
                  <a:ext uri="{FF2B5EF4-FFF2-40B4-BE49-F238E27FC236}">
                    <a16:creationId xmlns:a16="http://schemas.microsoft.com/office/drawing/2014/main" id="{056E880D-E47A-4F48-AC40-40AC36380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4014000"/>
                <a:ext cx="30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742">
                <a:extLst>
                  <a:ext uri="{FF2B5EF4-FFF2-40B4-BE49-F238E27FC236}">
                    <a16:creationId xmlns:a16="http://schemas.microsoft.com/office/drawing/2014/main" id="{8D664EBE-7C9B-449D-8194-4D4F72CC9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3790800"/>
                <a:ext cx="30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Line 704">
              <a:extLst>
                <a:ext uri="{FF2B5EF4-FFF2-40B4-BE49-F238E27FC236}">
                  <a16:creationId xmlns:a16="http://schemas.microsoft.com/office/drawing/2014/main" id="{3C9AFD22-A420-4A9E-88F8-9C092EA2E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6320" y="3204000"/>
              <a:ext cx="216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05">
              <a:extLst>
                <a:ext uri="{FF2B5EF4-FFF2-40B4-BE49-F238E27FC236}">
                  <a16:creationId xmlns:a16="http://schemas.microsoft.com/office/drawing/2014/main" id="{1ACDDD8E-EBF7-4B04-934B-4D576C1DC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6000" y="3672000"/>
              <a:ext cx="39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706">
              <a:extLst>
                <a:ext uri="{FF2B5EF4-FFF2-40B4-BE49-F238E27FC236}">
                  <a16:creationId xmlns:a16="http://schemas.microsoft.com/office/drawing/2014/main" id="{596CD693-B910-426B-A2EA-7623D1A89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2328" y="3456000"/>
              <a:ext cx="360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707">
              <a:extLst>
                <a:ext uri="{FF2B5EF4-FFF2-40B4-BE49-F238E27FC236}">
                  <a16:creationId xmlns:a16="http://schemas.microsoft.com/office/drawing/2014/main" id="{82F3B7CB-BE49-4634-A162-B417D25A9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4000" y="3924000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708">
              <a:extLst>
                <a:ext uri="{FF2B5EF4-FFF2-40B4-BE49-F238E27FC236}">
                  <a16:creationId xmlns:a16="http://schemas.microsoft.com/office/drawing/2014/main" id="{13FDD3A6-A81E-4026-BBA4-8AFE4C59B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000" y="4140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710">
              <a:extLst>
                <a:ext uri="{FF2B5EF4-FFF2-40B4-BE49-F238E27FC236}">
                  <a16:creationId xmlns:a16="http://schemas.microsoft.com/office/drawing/2014/main" id="{BAD2AF1B-9133-420A-92FA-717B32AC1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6296" y="295339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712">
              <a:extLst>
                <a:ext uri="{FF2B5EF4-FFF2-40B4-BE49-F238E27FC236}">
                  <a16:creationId xmlns:a16="http://schemas.microsoft.com/office/drawing/2014/main" id="{5819E307-2715-4E10-A8D4-577B5415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0692" y="3023934"/>
              <a:ext cx="0" cy="432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717">
              <a:extLst>
                <a:ext uri="{FF2B5EF4-FFF2-40B4-BE49-F238E27FC236}">
                  <a16:creationId xmlns:a16="http://schemas.microsoft.com/office/drawing/2014/main" id="{53C2FA3F-1136-4489-8A6A-7A25895AC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6000" y="3672000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718">
              <a:extLst>
                <a:ext uri="{FF2B5EF4-FFF2-40B4-BE49-F238E27FC236}">
                  <a16:creationId xmlns:a16="http://schemas.microsoft.com/office/drawing/2014/main" id="{4A593CB7-238A-4568-9206-67B9D395F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4000" y="3924000"/>
              <a:ext cx="0" cy="46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719">
              <a:extLst>
                <a:ext uri="{FF2B5EF4-FFF2-40B4-BE49-F238E27FC236}">
                  <a16:creationId xmlns:a16="http://schemas.microsoft.com/office/drawing/2014/main" id="{C601B565-06C6-4348-B81B-1B4FA578B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92000" y="4140000"/>
              <a:ext cx="0" cy="32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CEF31566-1AB6-4EAD-B1F8-C24182963578}"/>
                </a:ext>
              </a:extLst>
            </p:cNvPr>
            <p:cNvGrpSpPr/>
            <p:nvPr/>
          </p:nvGrpSpPr>
          <p:grpSpPr>
            <a:xfrm>
              <a:off x="7272424" y="3096000"/>
              <a:ext cx="936000" cy="1152000"/>
              <a:chOff x="5727377" y="3096153"/>
              <a:chExt cx="936000" cy="1152000"/>
            </a:xfrm>
          </p:grpSpPr>
          <p:sp>
            <p:nvSpPr>
              <p:cNvPr id="97" name="Text Box 687">
                <a:extLst>
                  <a:ext uri="{FF2B5EF4-FFF2-40B4-BE49-F238E27FC236}">
                    <a16:creationId xmlns:a16="http://schemas.microsoft.com/office/drawing/2014/main" id="{4059379E-6CF0-4366-A218-F98D733C3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377" y="3096153"/>
                <a:ext cx="936000" cy="11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8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   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1#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RAS 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DRAM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CAS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模块</a:t>
                </a:r>
              </a:p>
            </p:txBody>
          </p:sp>
          <p:sp>
            <p:nvSpPr>
              <p:cNvPr id="98" name="Line 696">
                <a:extLst>
                  <a:ext uri="{FF2B5EF4-FFF2-40B4-BE49-F238E27FC236}">
                    <a16:creationId xmlns:a16="http://schemas.microsoft.com/office/drawing/2014/main" id="{FD76340A-7FA4-4C07-B32F-B29C92778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3574800"/>
                <a:ext cx="20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742">
                <a:extLst>
                  <a:ext uri="{FF2B5EF4-FFF2-40B4-BE49-F238E27FC236}">
                    <a16:creationId xmlns:a16="http://schemas.microsoft.com/office/drawing/2014/main" id="{43B3E105-FCA1-43A4-9FB3-AAA36040B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4014000"/>
                <a:ext cx="30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742">
                <a:extLst>
                  <a:ext uri="{FF2B5EF4-FFF2-40B4-BE49-F238E27FC236}">
                    <a16:creationId xmlns:a16="http://schemas.microsoft.com/office/drawing/2014/main" id="{4AD55EB3-519F-48B6-85C7-E6EAC10A5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3790800"/>
                <a:ext cx="30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5" name="Line 720">
              <a:extLst>
                <a:ext uri="{FF2B5EF4-FFF2-40B4-BE49-F238E27FC236}">
                  <a16:creationId xmlns:a16="http://schemas.microsoft.com/office/drawing/2014/main" id="{B0838101-5387-40BD-8409-BE282C60F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000" y="4464000"/>
              <a:ext cx="19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721">
              <a:extLst>
                <a:ext uri="{FF2B5EF4-FFF2-40B4-BE49-F238E27FC236}">
                  <a16:creationId xmlns:a16="http://schemas.microsoft.com/office/drawing/2014/main" id="{E50AC6A7-E97F-4605-91EA-05C1D305F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4000" y="4464000"/>
              <a:ext cx="12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A5BB5431-9530-4581-AE06-73774975541C}"/>
              </a:ext>
            </a:extLst>
          </p:cNvPr>
          <p:cNvGrpSpPr/>
          <p:nvPr/>
        </p:nvGrpSpPr>
        <p:grpSpPr>
          <a:xfrm>
            <a:off x="1512000" y="3068960"/>
            <a:ext cx="1152000" cy="1152000"/>
            <a:chOff x="1512000" y="3096000"/>
            <a:chExt cx="1152000" cy="1152000"/>
          </a:xfrm>
        </p:grpSpPr>
        <p:sp>
          <p:nvSpPr>
            <p:cNvPr id="179" name="Line 701">
              <a:extLst>
                <a:ext uri="{FF2B5EF4-FFF2-40B4-BE49-F238E27FC236}">
                  <a16:creationId xmlns:a16="http://schemas.microsoft.com/office/drawing/2014/main" id="{8A07BA50-3CC8-44B7-8A69-9DC8C6644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2000" y="4140000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702">
              <a:extLst>
                <a:ext uri="{FF2B5EF4-FFF2-40B4-BE49-F238E27FC236}">
                  <a16:creationId xmlns:a16="http://schemas.microsoft.com/office/drawing/2014/main" id="{376FB5E0-D33D-46A2-A220-A10E3F868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000" y="3672000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706">
              <a:extLst>
                <a:ext uri="{FF2B5EF4-FFF2-40B4-BE49-F238E27FC236}">
                  <a16:creationId xmlns:a16="http://schemas.microsoft.com/office/drawing/2014/main" id="{6CD5D62F-B155-49CA-9603-7BA062426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000" y="3455934"/>
              <a:ext cx="21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706">
              <a:extLst>
                <a:ext uri="{FF2B5EF4-FFF2-40B4-BE49-F238E27FC236}">
                  <a16:creationId xmlns:a16="http://schemas.microsoft.com/office/drawing/2014/main" id="{C5B6DDC2-49BF-4FA2-8903-170388899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000" y="3204000"/>
              <a:ext cx="216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F82EF58C-FBDF-44EF-B7DD-DED19BF03C9A}"/>
                </a:ext>
              </a:extLst>
            </p:cNvPr>
            <p:cNvGrpSpPr/>
            <p:nvPr/>
          </p:nvGrpSpPr>
          <p:grpSpPr>
            <a:xfrm>
              <a:off x="1728000" y="3096000"/>
              <a:ext cx="936000" cy="1152000"/>
              <a:chOff x="5727377" y="3096153"/>
              <a:chExt cx="936000" cy="1152000"/>
            </a:xfrm>
          </p:grpSpPr>
          <p:sp>
            <p:nvSpPr>
              <p:cNvPr id="184" name="Text Box 687">
                <a:extLst>
                  <a:ext uri="{FF2B5EF4-FFF2-40B4-BE49-F238E27FC236}">
                    <a16:creationId xmlns:a16="http://schemas.microsoft.com/office/drawing/2014/main" id="{4D9016E0-EC24-4675-BA49-B6EA9D67ED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377" y="3096153"/>
                <a:ext cx="936000" cy="11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18</a:t>
                </a:r>
                <a:r>
                  <a:rPr lang="en-US" altLang="zh-CN" sz="1600" b="1" u="none" dirty="0"/>
                  <a:t>~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  </a:t>
                </a: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SRAM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 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模块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  <a:endParaRPr lang="zh-CN" altLang="en-US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5" name="Line 696">
                <a:extLst>
                  <a:ext uri="{FF2B5EF4-FFF2-40B4-BE49-F238E27FC236}">
                    <a16:creationId xmlns:a16="http://schemas.microsoft.com/office/drawing/2014/main" id="{43C991CF-1878-4CEA-B748-5E7E3A4B7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3574800"/>
                <a:ext cx="20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Line 742">
                <a:extLst>
                  <a:ext uri="{FF2B5EF4-FFF2-40B4-BE49-F238E27FC236}">
                    <a16:creationId xmlns:a16="http://schemas.microsoft.com/office/drawing/2014/main" id="{640CAE4B-AFFF-49EF-A30E-A52476784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000" y="4014000"/>
                <a:ext cx="205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D3524-2041-4779-B20E-7F4D690D0CDC}" type="slidenum">
              <a:rPr lang="en-US" altLang="zh-CN"/>
              <a:t>35</a:t>
            </a:fld>
            <a:endParaRPr lang="en-US" altLang="zh-CN" dirty="0"/>
          </a:p>
        </p:txBody>
      </p:sp>
      <p:sp>
        <p:nvSpPr>
          <p:cNvPr id="60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7" name="Text Box 142"/>
          <p:cNvSpPr txBox="1">
            <a:spLocks noChangeArrowheads="1"/>
          </p:cNvSpPr>
          <p:nvPr/>
        </p:nvSpPr>
        <p:spPr bwMode="auto">
          <a:xfrm>
            <a:off x="179389" y="332656"/>
            <a:ext cx="3166406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*主存与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的连接：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数据引脚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地址引脚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1800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控制引脚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20" name="Text Box 142"/>
          <p:cNvSpPr txBox="1">
            <a:spLocks noChangeArrowheads="1"/>
          </p:cNvSpPr>
          <p:nvPr/>
        </p:nvSpPr>
        <p:spPr bwMode="auto">
          <a:xfrm>
            <a:off x="2196479" y="764704"/>
            <a:ext cx="6768131" cy="12373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连接</a:t>
            </a:r>
            <a:r>
              <a:rPr lang="en-US" altLang="zh-CN" sz="22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数据线的全部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←两者位数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须相等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连接</a:t>
            </a:r>
            <a:r>
              <a:rPr lang="en-US" altLang="zh-CN" sz="22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地址线的低位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←占用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连续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地址空间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地址线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高位</a:t>
            </a:r>
            <a:r>
              <a:rPr lang="zh-CN" altLang="en-US" sz="1800" b="1" u="none" dirty="0">
                <a:latin typeface="宋体" panose="02010600030101010101" pitchFamily="2" charset="-122"/>
              </a:rPr>
              <a:t>用于判断目标地址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∈主存地址范围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195736" y="1916832"/>
            <a:ext cx="6431915" cy="952184"/>
            <a:chOff x="1763714" y="3421449"/>
            <a:chExt cx="6431915" cy="952184"/>
          </a:xfrm>
        </p:grpSpPr>
        <p:sp>
          <p:nvSpPr>
            <p:cNvPr id="122" name="Text Box 53"/>
            <p:cNvSpPr txBox="1">
              <a:spLocks noChangeArrowheads="1"/>
            </p:cNvSpPr>
            <p:nvPr/>
          </p:nvSpPr>
          <p:spPr bwMode="auto">
            <a:xfrm>
              <a:off x="1763714" y="3421449"/>
              <a:ext cx="6431915" cy="9521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latin typeface="宋体" panose="02010600030101010101" pitchFamily="2" charset="-122"/>
                </a:rPr>
                <a:t>CS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＝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(CPU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MEM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操作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)</a:t>
              </a:r>
              <a:r>
                <a:rPr lang="en-US" altLang="zh-CN" sz="2200" b="1" u="none" dirty="0">
                  <a:latin typeface="+mn-lt"/>
                </a:rPr>
                <a:t>·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目标地址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∈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主存地址范围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)</a:t>
              </a:r>
              <a:endParaRPr lang="en-US" altLang="zh-CN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latin typeface="宋体" panose="02010600030101010101" pitchFamily="2" charset="-122"/>
                </a:rPr>
                <a:t>WE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＝</a:t>
              </a:r>
              <a:r>
                <a:rPr lang="zh-CN" altLang="en-US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操作类型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为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←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WE#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有效表示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写操作</a:t>
              </a:r>
            </a:p>
          </p:txBody>
        </p:sp>
        <p:sp>
          <p:nvSpPr>
            <p:cNvPr id="126" name="Line 643"/>
            <p:cNvSpPr>
              <a:spLocks noChangeShapeType="1"/>
            </p:cNvSpPr>
            <p:nvPr/>
          </p:nvSpPr>
          <p:spPr bwMode="auto">
            <a:xfrm>
              <a:off x="1871714" y="3538617"/>
              <a:ext cx="288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643"/>
            <p:cNvSpPr>
              <a:spLocks noChangeShapeType="1"/>
            </p:cNvSpPr>
            <p:nvPr/>
          </p:nvSpPr>
          <p:spPr bwMode="auto">
            <a:xfrm>
              <a:off x="2524045" y="3538617"/>
              <a:ext cx="53096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43"/>
            <p:cNvSpPr>
              <a:spLocks noChangeShapeType="1"/>
            </p:cNvSpPr>
            <p:nvPr/>
          </p:nvSpPr>
          <p:spPr bwMode="auto">
            <a:xfrm>
              <a:off x="1853714" y="3988617"/>
              <a:ext cx="316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643"/>
            <p:cNvSpPr>
              <a:spLocks noChangeShapeType="1"/>
            </p:cNvSpPr>
            <p:nvPr/>
          </p:nvSpPr>
          <p:spPr bwMode="auto">
            <a:xfrm>
              <a:off x="2573978" y="3988617"/>
              <a:ext cx="21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4788248" y="4149080"/>
            <a:ext cx="3816200" cy="1512168"/>
            <a:chOff x="1403768" y="4437112"/>
            <a:chExt cx="3816200" cy="1512168"/>
          </a:xfrm>
        </p:grpSpPr>
        <p:sp>
          <p:nvSpPr>
            <p:cNvPr id="135" name="Rectangle 145"/>
            <p:cNvSpPr>
              <a:spLocks noChangeArrowheads="1"/>
            </p:cNvSpPr>
            <p:nvPr/>
          </p:nvSpPr>
          <p:spPr bwMode="auto">
            <a:xfrm>
              <a:off x="2627784" y="4509328"/>
              <a:ext cx="1512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150"/>
            <p:cNvSpPr>
              <a:spLocks noChangeShapeType="1"/>
            </p:cNvSpPr>
            <p:nvPr/>
          </p:nvSpPr>
          <p:spPr bwMode="auto">
            <a:xfrm>
              <a:off x="2483024" y="5805264"/>
              <a:ext cx="432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64"/>
            <p:cNvSpPr>
              <a:spLocks noChangeShapeType="1"/>
            </p:cNvSpPr>
            <p:nvPr/>
          </p:nvSpPr>
          <p:spPr bwMode="auto">
            <a:xfrm flipV="1">
              <a:off x="2483024" y="4581128"/>
              <a:ext cx="432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165"/>
            <p:cNvSpPr txBox="1">
              <a:spLocks noChangeArrowheads="1"/>
            </p:cNvSpPr>
            <p:nvPr/>
          </p:nvSpPr>
          <p:spPr bwMode="auto">
            <a:xfrm>
              <a:off x="1403768" y="4437112"/>
              <a:ext cx="1080000" cy="151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t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WR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RD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IO/M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19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Line 182"/>
            <p:cNvSpPr>
              <a:spLocks noChangeShapeType="1"/>
            </p:cNvSpPr>
            <p:nvPr/>
          </p:nvSpPr>
          <p:spPr bwMode="auto">
            <a:xfrm flipV="1">
              <a:off x="2483768" y="5085184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87"/>
            <p:cNvSpPr>
              <a:spLocks noChangeShapeType="1"/>
            </p:cNvSpPr>
            <p:nvPr/>
          </p:nvSpPr>
          <p:spPr bwMode="auto">
            <a:xfrm flipV="1">
              <a:off x="2483768" y="5301208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9"/>
            <p:cNvSpPr>
              <a:spLocks noChangeShapeType="1"/>
            </p:cNvSpPr>
            <p:nvPr/>
          </p:nvSpPr>
          <p:spPr bwMode="auto">
            <a:xfrm>
              <a:off x="4069184" y="5301208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52"/>
            <p:cNvSpPr>
              <a:spLocks noChangeShapeType="1"/>
            </p:cNvSpPr>
            <p:nvPr/>
          </p:nvSpPr>
          <p:spPr bwMode="auto">
            <a:xfrm>
              <a:off x="2483768" y="5589240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79"/>
            <p:cNvSpPr>
              <a:spLocks noChangeShapeType="1"/>
            </p:cNvSpPr>
            <p:nvPr/>
          </p:nvSpPr>
          <p:spPr bwMode="auto">
            <a:xfrm flipV="1">
              <a:off x="4033688" y="4797400"/>
              <a:ext cx="250279" cy="139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Text Box 197"/>
            <p:cNvSpPr txBox="1">
              <a:spLocks noChangeArrowheads="1"/>
            </p:cNvSpPr>
            <p:nvPr/>
          </p:nvSpPr>
          <p:spPr bwMode="auto">
            <a:xfrm>
              <a:off x="1475712" y="4797152"/>
              <a:ext cx="504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8088</a:t>
              </a: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45" name="Text Box 165"/>
            <p:cNvSpPr txBox="1">
              <a:spLocks noChangeArrowheads="1"/>
            </p:cNvSpPr>
            <p:nvPr/>
          </p:nvSpPr>
          <p:spPr bwMode="auto">
            <a:xfrm>
              <a:off x="4283968" y="4437280"/>
              <a:ext cx="936000" cy="151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WE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CS</a:t>
              </a:r>
            </a:p>
            <a:p>
              <a:pPr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6" name="Text Box 197"/>
            <p:cNvSpPr txBox="1">
              <a:spLocks noChangeArrowheads="1"/>
            </p:cNvSpPr>
            <p:nvPr/>
          </p:nvSpPr>
          <p:spPr bwMode="auto">
            <a:xfrm>
              <a:off x="4896064" y="4941224"/>
              <a:ext cx="252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Line 699"/>
            <p:cNvSpPr>
              <a:spLocks noChangeShapeType="1"/>
            </p:cNvSpPr>
            <p:nvPr/>
          </p:nvSpPr>
          <p:spPr bwMode="auto">
            <a:xfrm>
              <a:off x="4316140" y="5217476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699"/>
            <p:cNvSpPr>
              <a:spLocks noChangeShapeType="1"/>
            </p:cNvSpPr>
            <p:nvPr/>
          </p:nvSpPr>
          <p:spPr bwMode="auto">
            <a:xfrm>
              <a:off x="4313278" y="4720347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699"/>
            <p:cNvSpPr>
              <a:spLocks noChangeShapeType="1"/>
            </p:cNvSpPr>
            <p:nvPr/>
          </p:nvSpPr>
          <p:spPr bwMode="auto">
            <a:xfrm>
              <a:off x="2195736" y="4960418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699"/>
            <p:cNvSpPr>
              <a:spLocks noChangeShapeType="1"/>
            </p:cNvSpPr>
            <p:nvPr/>
          </p:nvSpPr>
          <p:spPr bwMode="auto">
            <a:xfrm>
              <a:off x="2195736" y="4713420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699"/>
            <p:cNvSpPr>
              <a:spLocks noChangeShapeType="1"/>
            </p:cNvSpPr>
            <p:nvPr/>
          </p:nvSpPr>
          <p:spPr bwMode="auto">
            <a:xfrm>
              <a:off x="2333412" y="5205752"/>
              <a:ext cx="1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179"/>
            <p:cNvSpPr>
              <a:spLocks noChangeShapeType="1"/>
            </p:cNvSpPr>
            <p:nvPr/>
          </p:nvSpPr>
          <p:spPr bwMode="auto">
            <a:xfrm>
              <a:off x="2476859" y="4795614"/>
              <a:ext cx="438909" cy="317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50"/>
            <p:cNvSpPr>
              <a:spLocks noChangeShapeType="1"/>
            </p:cNvSpPr>
            <p:nvPr/>
          </p:nvSpPr>
          <p:spPr bwMode="auto">
            <a:xfrm>
              <a:off x="4067944" y="5805264"/>
              <a:ext cx="216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64"/>
            <p:cNvSpPr>
              <a:spLocks noChangeShapeType="1"/>
            </p:cNvSpPr>
            <p:nvPr/>
          </p:nvSpPr>
          <p:spPr bwMode="auto">
            <a:xfrm flipV="1">
              <a:off x="3995936" y="4581128"/>
              <a:ext cx="288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" name="Line 150"/>
          <p:cNvSpPr>
            <a:spLocks noChangeShapeType="1"/>
          </p:cNvSpPr>
          <p:nvPr/>
        </p:nvSpPr>
        <p:spPr bwMode="auto">
          <a:xfrm>
            <a:off x="6228288" y="5517232"/>
            <a:ext cx="1224000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150"/>
          <p:cNvSpPr>
            <a:spLocks noChangeShapeType="1"/>
          </p:cNvSpPr>
          <p:nvPr/>
        </p:nvSpPr>
        <p:spPr bwMode="auto">
          <a:xfrm>
            <a:off x="6228288" y="4293096"/>
            <a:ext cx="1224000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7" name="Text Box 52"/>
          <p:cNvSpPr txBox="1">
            <a:spLocks noChangeArrowheads="1"/>
          </p:cNvSpPr>
          <p:nvPr/>
        </p:nvSpPr>
        <p:spPr bwMode="auto">
          <a:xfrm>
            <a:off x="1478099" y="2852936"/>
            <a:ext cx="6334037" cy="1212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示例中：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  <a:ea typeface="+mn-ea"/>
              </a:rPr>
              <a:t>有操作</a:t>
            </a:r>
            <a:r>
              <a:rPr lang="zh-CN" altLang="en-US" sz="2000" b="1" u="none" dirty="0">
                <a:latin typeface="+mn-ea"/>
                <a:ea typeface="+mn-ea"/>
              </a:rPr>
              <a:t>的表示： </a:t>
            </a:r>
            <a:r>
              <a:rPr lang="en-US" altLang="zh-CN" sz="2000" b="1" u="none" dirty="0">
                <a:latin typeface="+mn-ea"/>
                <a:ea typeface="+mn-ea"/>
              </a:rPr>
              <a:t>        </a:t>
            </a:r>
            <a:r>
              <a:rPr lang="zh-CN" altLang="en-US" sz="2000" b="1" u="none" dirty="0">
                <a:latin typeface="+mn-ea"/>
                <a:ea typeface="+mn-ea"/>
              </a:rPr>
              <a:t>，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  <a:ea typeface="+mn-ea"/>
              </a:rPr>
              <a:t>写操作</a:t>
            </a:r>
            <a:r>
              <a:rPr lang="zh-CN" altLang="en-US" sz="2000" b="1" u="none" dirty="0">
                <a:latin typeface="+mn-ea"/>
                <a:ea typeface="+mn-ea"/>
              </a:rPr>
              <a:t>的表示：</a:t>
            </a:r>
            <a:endParaRPr lang="en-US" altLang="zh-CN" sz="2000" b="1" u="none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+mn-ea"/>
              </a:rPr>
              <a:t>        </a:t>
            </a:r>
            <a:r>
              <a:rPr lang="zh-CN" altLang="en-US" sz="2000" b="1" u="none" dirty="0">
                <a:latin typeface="+mn-ea"/>
              </a:rPr>
              <a:t>访问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</a:rPr>
              <a:t>部件为</a:t>
            </a:r>
            <a:r>
              <a:rPr lang="en-US" altLang="zh-CN" sz="2000" b="1" u="none" dirty="0">
                <a:solidFill>
                  <a:srgbClr val="0070C0"/>
                </a:solidFill>
                <a:latin typeface="+mn-ea"/>
              </a:rPr>
              <a:t>MEM</a:t>
            </a:r>
            <a:r>
              <a:rPr lang="zh-CN" altLang="en-US" sz="2000" b="1" u="none" dirty="0">
                <a:latin typeface="+mn-ea"/>
              </a:rPr>
              <a:t>的表示：</a:t>
            </a:r>
            <a:endParaRPr lang="en-US" altLang="zh-CN" sz="2000" b="1" u="none" dirty="0"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2000" b="1" u="none" dirty="0">
                <a:latin typeface="+mn-ea"/>
                <a:ea typeface="+mn-ea"/>
              </a:rPr>
              <a:t>        目标地址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  <a:ea typeface="+mn-ea"/>
              </a:rPr>
              <a:t>∈主存地址范围</a:t>
            </a:r>
            <a:r>
              <a:rPr lang="zh-CN" altLang="en-US" sz="2000" b="1" u="none" dirty="0">
                <a:latin typeface="+mn-ea"/>
                <a:ea typeface="+mn-ea"/>
              </a:rPr>
              <a:t>的表示：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>
            <a:off x="971600" y="4149080"/>
            <a:ext cx="3312008" cy="1548072"/>
            <a:chOff x="1187872" y="4329128"/>
            <a:chExt cx="3312008" cy="1548072"/>
          </a:xfrm>
        </p:grpSpPr>
        <p:sp>
          <p:nvSpPr>
            <p:cNvPr id="159" name="Text Box 194"/>
            <p:cNvSpPr txBox="1">
              <a:spLocks noChangeArrowheads="1"/>
            </p:cNvSpPr>
            <p:nvPr/>
          </p:nvSpPr>
          <p:spPr bwMode="auto">
            <a:xfrm>
              <a:off x="2337795" y="5229200"/>
              <a:ext cx="1008000" cy="6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0" name="Rectangle 198"/>
            <p:cNvSpPr>
              <a:spLocks noChangeArrowheads="1"/>
            </p:cNvSpPr>
            <p:nvPr/>
          </p:nvSpPr>
          <p:spPr bwMode="auto">
            <a:xfrm>
              <a:off x="1547888" y="4581012"/>
              <a:ext cx="180000" cy="129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Rectangle 199"/>
            <p:cNvSpPr>
              <a:spLocks noChangeArrowheads="1"/>
            </p:cNvSpPr>
            <p:nvPr/>
          </p:nvSpPr>
          <p:spPr bwMode="auto">
            <a:xfrm>
              <a:off x="1763912" y="4581086"/>
              <a:ext cx="540000" cy="648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Text Box 200"/>
            <p:cNvSpPr txBox="1">
              <a:spLocks noChangeArrowheads="1"/>
            </p:cNvSpPr>
            <p:nvPr/>
          </p:nvSpPr>
          <p:spPr bwMode="auto">
            <a:xfrm>
              <a:off x="1547888" y="4579995"/>
              <a:ext cx="756000" cy="129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spc="500" dirty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</a:p>
            <a:p>
              <a:pPr>
                <a:lnSpc>
                  <a:spcPct val="80000"/>
                </a:lnSpc>
                <a:spcBef>
                  <a:spcPts val="6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spc="500" dirty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spc="500" dirty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</a:p>
            <a:p>
              <a:pPr>
                <a:lnSpc>
                  <a:spcPct val="80000"/>
                </a:lnSpc>
                <a:spcBef>
                  <a:spcPts val="6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spc="500" dirty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63" name="Text Box 192"/>
            <p:cNvSpPr txBox="1">
              <a:spLocks noChangeArrowheads="1"/>
            </p:cNvSpPr>
            <p:nvPr/>
          </p:nvSpPr>
          <p:spPr bwMode="auto">
            <a:xfrm>
              <a:off x="1475976" y="4329128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19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18</a:t>
              </a: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64" name="Text Box 193"/>
            <p:cNvSpPr txBox="1">
              <a:spLocks noChangeArrowheads="1"/>
            </p:cNvSpPr>
            <p:nvPr/>
          </p:nvSpPr>
          <p:spPr bwMode="auto">
            <a:xfrm>
              <a:off x="2337795" y="4581241"/>
              <a:ext cx="1008000" cy="64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512KB SRAM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96"/>
            <p:cNvSpPr txBox="1">
              <a:spLocks noChangeArrowheads="1"/>
            </p:cNvSpPr>
            <p:nvPr/>
          </p:nvSpPr>
          <p:spPr bwMode="auto">
            <a:xfrm>
              <a:off x="1187872" y="4437112"/>
              <a:ext cx="216000" cy="14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可寻址空间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AutoShape 201"/>
            <p:cNvSpPr/>
            <p:nvPr/>
          </p:nvSpPr>
          <p:spPr bwMode="auto">
            <a:xfrm>
              <a:off x="1402855" y="4559125"/>
              <a:ext cx="73025" cy="1296000"/>
            </a:xfrm>
            <a:prstGeom prst="leftBrace">
              <a:avLst>
                <a:gd name="adj1" fmla="val 7590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Text Box 202"/>
            <p:cNvSpPr txBox="1">
              <a:spLocks noChangeArrowheads="1"/>
            </p:cNvSpPr>
            <p:nvPr/>
          </p:nvSpPr>
          <p:spPr bwMode="auto">
            <a:xfrm>
              <a:off x="1908598" y="4775025"/>
              <a:ext cx="287338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68" name="Text Box 203"/>
            <p:cNvSpPr txBox="1">
              <a:spLocks noChangeArrowheads="1"/>
            </p:cNvSpPr>
            <p:nvPr/>
          </p:nvSpPr>
          <p:spPr bwMode="auto">
            <a:xfrm>
              <a:off x="1908598" y="5445224"/>
              <a:ext cx="287338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69" name="Text Box 194"/>
            <p:cNvSpPr txBox="1">
              <a:spLocks noChangeArrowheads="1"/>
            </p:cNvSpPr>
            <p:nvPr/>
          </p:nvSpPr>
          <p:spPr bwMode="auto">
            <a:xfrm>
              <a:off x="3491880" y="4581160"/>
              <a:ext cx="100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64KB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I/O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197"/>
            <p:cNvSpPr txBox="1">
              <a:spLocks noChangeArrowheads="1"/>
            </p:cNvSpPr>
            <p:nvPr/>
          </p:nvSpPr>
          <p:spPr bwMode="auto">
            <a:xfrm>
              <a:off x="2339752" y="4330736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主存空间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1" name="Text Box 197"/>
            <p:cNvSpPr txBox="1">
              <a:spLocks noChangeArrowheads="1"/>
            </p:cNvSpPr>
            <p:nvPr/>
          </p:nvSpPr>
          <p:spPr bwMode="auto">
            <a:xfrm>
              <a:off x="3491880" y="4330736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空间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2" name="AutoShape 331"/>
            <p:cNvSpPr/>
            <p:nvPr/>
          </p:nvSpPr>
          <p:spPr bwMode="auto">
            <a:xfrm>
              <a:off x="3635976" y="5085184"/>
              <a:ext cx="720000" cy="756000"/>
            </a:xfrm>
            <a:prstGeom prst="borderCallout2">
              <a:avLst>
                <a:gd name="adj1" fmla="val 50061"/>
                <a:gd name="adj2" fmla="val 82"/>
                <a:gd name="adj3" fmla="val 50399"/>
                <a:gd name="adj4" fmla="val -20134"/>
                <a:gd name="adj5" fmla="val -19855"/>
                <a:gd name="adj6" fmla="val -54900"/>
              </a:avLst>
            </a:prstGeom>
            <a:noFill/>
            <a:ln w="12700">
              <a:solidFill>
                <a:srgbClr val="0070C0"/>
              </a:solidFill>
              <a:prstDash val="sysDash"/>
              <a:miter lim="800000"/>
              <a:headEnd type="none" w="sm" len="med"/>
              <a:tailEnd type="arrow" w="sm" len="sm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+mn-ea"/>
                  <a:ea typeface="+mn-ea"/>
                </a:rPr>
                <a:t>配置的</a:t>
              </a:r>
              <a:endParaRPr lang="en-US" altLang="zh-CN" sz="1600" b="1" u="none" dirty="0">
                <a:latin typeface="+mn-ea"/>
                <a:ea typeface="+mn-ea"/>
              </a:endParaRPr>
            </a:p>
            <a:p>
              <a:pPr algn="ctr"/>
              <a:r>
                <a:rPr lang="zh-CN" altLang="en-US" sz="1600" b="1" u="none" dirty="0">
                  <a:latin typeface="+mn-ea"/>
                  <a:ea typeface="+mn-ea"/>
                </a:rPr>
                <a:t>主存</a:t>
              </a:r>
              <a:endParaRPr lang="en-US" altLang="zh-CN" sz="1600" b="1" u="none" dirty="0">
                <a:latin typeface="+mn-ea"/>
                <a:ea typeface="+mn-ea"/>
              </a:endParaRPr>
            </a:p>
            <a:p>
              <a:pPr algn="ctr"/>
              <a:r>
                <a:rPr lang="zh-CN" altLang="en-US" sz="1600" b="1" u="none" dirty="0">
                  <a:latin typeface="+mn-ea"/>
                  <a:ea typeface="+mn-ea"/>
                </a:rPr>
                <a:t>容量</a:t>
              </a: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6084272" y="4509120"/>
            <a:ext cx="1370410" cy="864295"/>
            <a:chOff x="2699792" y="4797152"/>
            <a:chExt cx="1370410" cy="864295"/>
          </a:xfrm>
        </p:grpSpPr>
        <p:sp>
          <p:nvSpPr>
            <p:cNvPr id="174" name="Text Box 181"/>
            <p:cNvSpPr txBox="1">
              <a:spLocks noChangeArrowheads="1"/>
            </p:cNvSpPr>
            <p:nvPr/>
          </p:nvSpPr>
          <p:spPr bwMode="auto">
            <a:xfrm>
              <a:off x="2915692" y="4869160"/>
              <a:ext cx="216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=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5" name="Line 183"/>
            <p:cNvSpPr>
              <a:spLocks noChangeShapeType="1"/>
            </p:cNvSpPr>
            <p:nvPr/>
          </p:nvSpPr>
          <p:spPr bwMode="auto">
            <a:xfrm flipV="1">
              <a:off x="2699792" y="4941168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84"/>
            <p:cNvSpPr>
              <a:spLocks noChangeShapeType="1"/>
            </p:cNvSpPr>
            <p:nvPr/>
          </p:nvSpPr>
          <p:spPr bwMode="auto">
            <a:xfrm>
              <a:off x="2699792" y="47971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85"/>
            <p:cNvSpPr>
              <a:spLocks noChangeShapeType="1"/>
            </p:cNvSpPr>
            <p:nvPr/>
          </p:nvSpPr>
          <p:spPr bwMode="auto">
            <a:xfrm flipV="1">
              <a:off x="3133081" y="5013176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Text Box 186"/>
            <p:cNvSpPr txBox="1">
              <a:spLocks noChangeArrowheads="1"/>
            </p:cNvSpPr>
            <p:nvPr/>
          </p:nvSpPr>
          <p:spPr bwMode="auto">
            <a:xfrm>
              <a:off x="3349105" y="4941168"/>
              <a:ext cx="216000" cy="43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Oval 188"/>
            <p:cNvSpPr>
              <a:spLocks noChangeArrowheads="1"/>
            </p:cNvSpPr>
            <p:nvPr/>
          </p:nvSpPr>
          <p:spPr bwMode="auto">
            <a:xfrm>
              <a:off x="3277097" y="5270234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Oval 151"/>
            <p:cNvSpPr>
              <a:spLocks noChangeArrowheads="1"/>
            </p:cNvSpPr>
            <p:nvPr/>
          </p:nvSpPr>
          <p:spPr bwMode="auto">
            <a:xfrm>
              <a:off x="3997177" y="5270234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Oval 153"/>
            <p:cNvSpPr>
              <a:spLocks noChangeArrowheads="1"/>
            </p:cNvSpPr>
            <p:nvPr/>
          </p:nvSpPr>
          <p:spPr bwMode="auto">
            <a:xfrm>
              <a:off x="3709145" y="5558266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Text Box 154"/>
            <p:cNvSpPr txBox="1">
              <a:spLocks noChangeArrowheads="1"/>
            </p:cNvSpPr>
            <p:nvPr/>
          </p:nvSpPr>
          <p:spPr bwMode="auto">
            <a:xfrm>
              <a:off x="3781153" y="5085184"/>
              <a:ext cx="216000" cy="57626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83" name="Line 178"/>
            <p:cNvSpPr>
              <a:spLocks noChangeShapeType="1"/>
            </p:cNvSpPr>
            <p:nvPr/>
          </p:nvSpPr>
          <p:spPr bwMode="auto">
            <a:xfrm flipV="1">
              <a:off x="3565129" y="5157192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79"/>
            <p:cNvSpPr>
              <a:spLocks noChangeShapeType="1"/>
            </p:cNvSpPr>
            <p:nvPr/>
          </p:nvSpPr>
          <p:spPr bwMode="auto">
            <a:xfrm>
              <a:off x="2843808" y="4798542"/>
              <a:ext cx="1224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79"/>
            <p:cNvSpPr>
              <a:spLocks noChangeShapeType="1"/>
            </p:cNvSpPr>
            <p:nvPr/>
          </p:nvSpPr>
          <p:spPr bwMode="auto">
            <a:xfrm>
              <a:off x="2843808" y="5588992"/>
              <a:ext cx="864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79"/>
            <p:cNvSpPr>
              <a:spLocks noChangeShapeType="1"/>
            </p:cNvSpPr>
            <p:nvPr/>
          </p:nvSpPr>
          <p:spPr bwMode="auto">
            <a:xfrm>
              <a:off x="2843808" y="5301208"/>
              <a:ext cx="432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4283968" y="2864432"/>
            <a:ext cx="4104456" cy="1212640"/>
            <a:chOff x="4283968" y="3008448"/>
            <a:chExt cx="4104456" cy="1212640"/>
          </a:xfrm>
        </p:grpSpPr>
        <p:sp>
          <p:nvSpPr>
            <p:cNvPr id="188" name="Text Box 52"/>
            <p:cNvSpPr txBox="1">
              <a:spLocks noChangeArrowheads="1"/>
            </p:cNvSpPr>
            <p:nvPr/>
          </p:nvSpPr>
          <p:spPr bwMode="auto">
            <a:xfrm>
              <a:off x="4283968" y="3008448"/>
              <a:ext cx="4104456" cy="12126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000" b="1" u="none" dirty="0">
                  <a:latin typeface="+mn-ea"/>
                  <a:ea typeface="+mn-ea"/>
                </a:rPr>
                <a:t>RD</a:t>
              </a:r>
              <a:r>
                <a:rPr lang="en-US" altLang="zh-CN" sz="2000" b="1" u="none" dirty="0"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000" b="1" u="none" dirty="0">
                  <a:latin typeface="+mn-ea"/>
                  <a:ea typeface="+mn-ea"/>
                </a:rPr>
                <a:t>WR</a:t>
              </a:r>
              <a:r>
                <a:rPr lang="zh-CN" altLang="en-US" sz="2000" b="1" u="none" dirty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>
                  <a:latin typeface="+mn-ea"/>
                  <a:ea typeface="+mn-ea"/>
                </a:rPr>
                <a:t>1</a:t>
              </a:r>
              <a:r>
                <a:rPr lang="zh-CN" altLang="en-US" sz="2000" b="1" u="none" dirty="0">
                  <a:solidFill>
                    <a:srgbClr val="0070C0"/>
                  </a:solidFill>
                  <a:latin typeface="+mn-ea"/>
                  <a:ea typeface="+mn-ea"/>
                </a:rPr>
                <a:t>                </a:t>
              </a:r>
              <a:r>
                <a:rPr lang="en-US" altLang="zh-CN" sz="2000" b="1" u="none" dirty="0">
                  <a:latin typeface="+mn-ea"/>
                  <a:ea typeface="+mn-ea"/>
                </a:rPr>
                <a:t>WR</a:t>
              </a:r>
              <a:r>
                <a:rPr lang="zh-CN" altLang="en-US" sz="2000" b="1" u="none" dirty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>
                  <a:latin typeface="+mn-ea"/>
                  <a:ea typeface="+mn-ea"/>
                </a:rPr>
                <a:t>0</a:t>
              </a:r>
            </a:p>
            <a:p>
              <a:pPr>
                <a:lnSpc>
                  <a:spcPct val="125000"/>
                </a:lnSpc>
              </a:pPr>
              <a:r>
                <a:rPr lang="en-US" altLang="zh-CN" sz="2000" b="1" u="none" dirty="0">
                  <a:latin typeface="+mn-ea"/>
                  <a:ea typeface="+mn-ea"/>
                </a:rPr>
                <a:t>       IO/M</a:t>
              </a:r>
              <a:r>
                <a:rPr lang="zh-CN" altLang="en-US" sz="2000" b="1" u="none" dirty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>
                  <a:latin typeface="+mn-ea"/>
                  <a:ea typeface="+mn-ea"/>
                </a:rPr>
                <a:t>0</a:t>
              </a:r>
            </a:p>
            <a:p>
              <a:pPr>
                <a:lnSpc>
                  <a:spcPct val="114000"/>
                </a:lnSpc>
              </a:pPr>
              <a:r>
                <a:rPr lang="en-US" altLang="zh-CN" sz="2000" b="1" u="none" dirty="0">
                  <a:latin typeface="+mn-ea"/>
                  <a:ea typeface="+mn-ea"/>
                </a:rPr>
                <a:t>                A</a:t>
              </a:r>
              <a:r>
                <a:rPr lang="en-US" altLang="zh-CN" sz="2000" b="1" u="none" baseline="-18000" dirty="0">
                  <a:latin typeface="+mn-ea"/>
                  <a:ea typeface="+mn-ea"/>
                </a:rPr>
                <a:t>19</a:t>
              </a:r>
              <a:r>
                <a:rPr lang="zh-CN" altLang="en-US" sz="2000" b="1" u="none" dirty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189" name="Line 643"/>
            <p:cNvSpPr>
              <a:spLocks noChangeShapeType="1"/>
            </p:cNvSpPr>
            <p:nvPr/>
          </p:nvSpPr>
          <p:spPr bwMode="auto">
            <a:xfrm>
              <a:off x="4381693" y="3124816"/>
              <a:ext cx="2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43"/>
            <p:cNvSpPr>
              <a:spLocks noChangeShapeType="1"/>
            </p:cNvSpPr>
            <p:nvPr/>
          </p:nvSpPr>
          <p:spPr bwMode="auto">
            <a:xfrm>
              <a:off x="4824000" y="3124816"/>
              <a:ext cx="2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643"/>
            <p:cNvSpPr>
              <a:spLocks noChangeShapeType="1"/>
            </p:cNvSpPr>
            <p:nvPr/>
          </p:nvSpPr>
          <p:spPr bwMode="auto">
            <a:xfrm>
              <a:off x="5655600" y="3502816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643"/>
            <p:cNvSpPr>
              <a:spLocks noChangeShapeType="1"/>
            </p:cNvSpPr>
            <p:nvPr/>
          </p:nvSpPr>
          <p:spPr bwMode="auto">
            <a:xfrm>
              <a:off x="7524000" y="3124816"/>
              <a:ext cx="2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7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15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92676-1262-4DAD-807E-48E875256232}" type="slidenum">
              <a:rPr lang="en-US" altLang="zh-CN"/>
              <a:t>36</a:t>
            </a:fld>
            <a:endParaRPr lang="en-US" altLang="zh-CN"/>
          </a:p>
        </p:txBody>
      </p:sp>
      <p:grpSp>
        <p:nvGrpSpPr>
          <p:cNvPr id="337326" name="Group 430"/>
          <p:cNvGrpSpPr/>
          <p:nvPr/>
        </p:nvGrpSpPr>
        <p:grpSpPr bwMode="auto">
          <a:xfrm>
            <a:off x="179388" y="344065"/>
            <a:ext cx="8785225" cy="3284538"/>
            <a:chOff x="113" y="81"/>
            <a:chExt cx="5534" cy="2069"/>
          </a:xfrm>
        </p:grpSpPr>
        <p:sp>
          <p:nvSpPr>
            <p:cNvPr id="337312" name="Text Box 416"/>
            <p:cNvSpPr txBox="1">
              <a:spLocks noChangeArrowheads="1"/>
            </p:cNvSpPr>
            <p:nvPr/>
          </p:nvSpPr>
          <p:spPr bwMode="auto">
            <a:xfrm>
              <a:off x="113" y="81"/>
              <a:ext cx="5534" cy="206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例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某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有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16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根地址线、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8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根数据线，控制线为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IO/M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RD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WR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。欲配置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16KB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主存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前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4KB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为只读空间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)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，可用芯片有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2K×8b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ROM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及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4K×4b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SRAM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。⑴主存由几片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ROM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及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RAM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组成？⑵写出主存中各芯片所占空间及其片选逻辑；⑶画出主存内部的连接图；⑷画出主存与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的连接图。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解：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⑴所需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芯片数量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—</a:t>
              </a:r>
            </a:p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       ⑵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芯片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所占空间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—</a:t>
              </a:r>
            </a:p>
            <a:p>
              <a:pPr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  <a:spcBef>
                  <a:spcPts val="300"/>
                </a:spcBef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         芯片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片选逻辑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—</a:t>
              </a:r>
              <a:endParaRPr lang="zh-CN" altLang="en-US" sz="2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323" name="Line 427"/>
            <p:cNvSpPr>
              <a:spLocks noChangeShapeType="1"/>
            </p:cNvSpPr>
            <p:nvPr/>
          </p:nvSpPr>
          <p:spPr bwMode="auto">
            <a:xfrm>
              <a:off x="4513" y="159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4" name="Line 428"/>
            <p:cNvSpPr>
              <a:spLocks noChangeShapeType="1"/>
            </p:cNvSpPr>
            <p:nvPr/>
          </p:nvSpPr>
          <p:spPr bwMode="auto">
            <a:xfrm>
              <a:off x="4787" y="159"/>
              <a:ext cx="16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5" name="Line 429"/>
            <p:cNvSpPr>
              <a:spLocks noChangeShapeType="1"/>
            </p:cNvSpPr>
            <p:nvPr/>
          </p:nvSpPr>
          <p:spPr bwMode="auto">
            <a:xfrm>
              <a:off x="5136" y="159"/>
              <a:ext cx="16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7327" name="Text Box 431"/>
          <p:cNvSpPr txBox="1">
            <a:spLocks noChangeArrowheads="1"/>
          </p:cNvSpPr>
          <p:nvPr/>
        </p:nvSpPr>
        <p:spPr bwMode="auto">
          <a:xfrm>
            <a:off x="3419872" y="2035527"/>
            <a:ext cx="5558097" cy="16106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ROM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块，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6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块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←主存数据线为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8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主存地址线为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14</a:t>
            </a:r>
            <a:r>
              <a:rPr lang="zh-CN" altLang="en-US" sz="2200" b="1" u="none" dirty="0">
                <a:latin typeface="宋体" panose="02010600030101010101" pitchFamily="2" charset="-122"/>
              </a:rPr>
              <a:t>根，芯片所占范围如图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</a:t>
            </a:r>
            <a:r>
              <a:rPr lang="en-US" altLang="zh-CN" sz="1800" u="none" dirty="0">
                <a:latin typeface="宋体" panose="02010600030101010101" pitchFamily="2" charset="-122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800" b="1" u="none" dirty="0">
                <a:latin typeface="宋体" panose="02010600030101010101" pitchFamily="2" charset="-122"/>
              </a:rPr>
              <a:t>CPU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可寻址空间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无关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主存被选中、引脚上地址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∈</a:t>
            </a:r>
            <a:r>
              <a:rPr lang="zh-CN" altLang="en-US" sz="2200" b="1" u="none" dirty="0">
                <a:latin typeface="宋体" panose="02010600030101010101" pitchFamily="2" charset="-122"/>
              </a:rPr>
              <a:t>芯片地址范围时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337473" name="Group 5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336897"/>
              </p:ext>
            </p:extLst>
          </p:nvPr>
        </p:nvGraphicFramePr>
        <p:xfrm>
          <a:off x="5796136" y="3713386"/>
          <a:ext cx="2088232" cy="1731838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30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片选逻辑</a:t>
                      </a:r>
                      <a:r>
                        <a:rPr kumimoji="1" lang="en-US" altLang="zh-CN" sz="16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地址部分</a:t>
                      </a:r>
                      <a:r>
                        <a:rPr kumimoji="1" lang="en-US" altLang="zh-CN" sz="16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600" b="1" i="0" u="none" strike="noStrike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8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=00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2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=01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7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=11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7475" name="AutoShape 57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7499" name="Group 603"/>
          <p:cNvGrpSpPr/>
          <p:nvPr/>
        </p:nvGrpSpPr>
        <p:grpSpPr bwMode="auto">
          <a:xfrm>
            <a:off x="3483769" y="3751143"/>
            <a:ext cx="2017714" cy="1689101"/>
            <a:chOff x="-749" y="2339"/>
            <a:chExt cx="1271" cy="1064"/>
          </a:xfrm>
        </p:grpSpPr>
        <p:sp>
          <p:nvSpPr>
            <p:cNvPr id="337500" name="Text Box 604"/>
            <p:cNvSpPr txBox="1">
              <a:spLocks noChangeArrowheads="1"/>
            </p:cNvSpPr>
            <p:nvPr/>
          </p:nvSpPr>
          <p:spPr bwMode="auto">
            <a:xfrm>
              <a:off x="-749" y="2339"/>
              <a:ext cx="635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337501" name="Rectangle 605"/>
            <p:cNvSpPr>
              <a:spLocks noChangeArrowheads="1"/>
            </p:cNvSpPr>
            <p:nvPr/>
          </p:nvSpPr>
          <p:spPr bwMode="auto">
            <a:xfrm>
              <a:off x="-748" y="2860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1# SRAM</a:t>
              </a:r>
            </a:p>
          </p:txBody>
        </p:sp>
        <p:sp>
          <p:nvSpPr>
            <p:cNvPr id="337502" name="Text Box 606"/>
            <p:cNvSpPr txBox="1">
              <a:spLocks noChangeArrowheads="1"/>
            </p:cNvSpPr>
            <p:nvPr/>
          </p:nvSpPr>
          <p:spPr bwMode="auto">
            <a:xfrm>
              <a:off x="-114" y="2339"/>
              <a:ext cx="635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37503" name="Rectangle 607"/>
            <p:cNvSpPr>
              <a:spLocks noChangeArrowheads="1"/>
            </p:cNvSpPr>
            <p:nvPr/>
          </p:nvSpPr>
          <p:spPr bwMode="auto">
            <a:xfrm>
              <a:off x="-114" y="2860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0# SRAM</a:t>
              </a:r>
            </a:p>
          </p:txBody>
        </p:sp>
        <p:sp>
          <p:nvSpPr>
            <p:cNvPr id="337504" name="Rectangle 608"/>
            <p:cNvSpPr>
              <a:spLocks noChangeArrowheads="1"/>
            </p:cNvSpPr>
            <p:nvPr/>
          </p:nvSpPr>
          <p:spPr bwMode="auto">
            <a:xfrm>
              <a:off x="-748" y="3041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3# SRAM</a:t>
              </a:r>
            </a:p>
          </p:txBody>
        </p:sp>
        <p:sp>
          <p:nvSpPr>
            <p:cNvPr id="337505" name="Rectangle 609"/>
            <p:cNvSpPr>
              <a:spLocks noChangeArrowheads="1"/>
            </p:cNvSpPr>
            <p:nvPr/>
          </p:nvSpPr>
          <p:spPr bwMode="auto">
            <a:xfrm>
              <a:off x="-114" y="3041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2# SRAM</a:t>
              </a:r>
            </a:p>
          </p:txBody>
        </p:sp>
        <p:sp>
          <p:nvSpPr>
            <p:cNvPr id="337506" name="Rectangle 610"/>
            <p:cNvSpPr>
              <a:spLocks noChangeArrowheads="1"/>
            </p:cNvSpPr>
            <p:nvPr/>
          </p:nvSpPr>
          <p:spPr bwMode="auto">
            <a:xfrm>
              <a:off x="-748" y="2497"/>
              <a:ext cx="1270" cy="18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0# ROM</a:t>
              </a:r>
            </a:p>
          </p:txBody>
        </p:sp>
        <p:sp>
          <p:nvSpPr>
            <p:cNvPr id="337507" name="Rectangle 611"/>
            <p:cNvSpPr>
              <a:spLocks noChangeArrowheads="1"/>
            </p:cNvSpPr>
            <p:nvPr/>
          </p:nvSpPr>
          <p:spPr bwMode="auto">
            <a:xfrm>
              <a:off x="-748" y="2674"/>
              <a:ext cx="1270" cy="18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1# ROM</a:t>
              </a:r>
            </a:p>
          </p:txBody>
        </p:sp>
        <p:sp>
          <p:nvSpPr>
            <p:cNvPr id="337508" name="Rectangle 612"/>
            <p:cNvSpPr>
              <a:spLocks noChangeArrowheads="1"/>
            </p:cNvSpPr>
            <p:nvPr/>
          </p:nvSpPr>
          <p:spPr bwMode="auto">
            <a:xfrm>
              <a:off x="-748" y="3222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5# SRAM</a:t>
              </a:r>
            </a:p>
          </p:txBody>
        </p:sp>
        <p:sp>
          <p:nvSpPr>
            <p:cNvPr id="337509" name="Rectangle 613"/>
            <p:cNvSpPr>
              <a:spLocks noChangeArrowheads="1"/>
            </p:cNvSpPr>
            <p:nvPr/>
          </p:nvSpPr>
          <p:spPr bwMode="auto">
            <a:xfrm>
              <a:off x="-114" y="3222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4# SRAM</a:t>
              </a:r>
            </a:p>
          </p:txBody>
        </p:sp>
      </p:grpSp>
      <p:cxnSp>
        <p:nvCxnSpPr>
          <p:cNvPr id="4" name="直接箭头连接符 3"/>
          <p:cNvCxnSpPr>
            <a:cxnSpLocks/>
          </p:cNvCxnSpPr>
          <p:nvPr/>
        </p:nvCxnSpPr>
        <p:spPr bwMode="auto">
          <a:xfrm>
            <a:off x="4355976" y="766800"/>
            <a:ext cx="3636000" cy="140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sm"/>
            <a:tailEnd type="arrow" w="med" len="sm"/>
          </a:ln>
          <a:effectLst/>
        </p:spPr>
      </p:cxnSp>
      <p:grpSp>
        <p:nvGrpSpPr>
          <p:cNvPr id="53" name="组合 52"/>
          <p:cNvGrpSpPr/>
          <p:nvPr/>
        </p:nvGrpSpPr>
        <p:grpSpPr>
          <a:xfrm>
            <a:off x="1691680" y="3751200"/>
            <a:ext cx="1728000" cy="1690218"/>
            <a:chOff x="547315" y="4330910"/>
            <a:chExt cx="1728000" cy="1690218"/>
          </a:xfrm>
        </p:grpSpPr>
        <p:sp>
          <p:nvSpPr>
            <p:cNvPr id="54" name="Text Box 226"/>
            <p:cNvSpPr txBox="1">
              <a:spLocks noChangeArrowheads="1"/>
            </p:cNvSpPr>
            <p:nvPr/>
          </p:nvSpPr>
          <p:spPr bwMode="auto">
            <a:xfrm>
              <a:off x="611560" y="4581128"/>
              <a:ext cx="1656000" cy="14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X XXXXXXXXXX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X XXXXXXXXXX</a:t>
              </a:r>
            </a:p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XX XXXXXXXXXX</a:t>
              </a:r>
            </a:p>
            <a:p>
              <a:pPr algn="ctr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XX XXXXXXXXXX</a:t>
              </a:r>
            </a:p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XX XXXXXXXXXX</a:t>
              </a:r>
            </a:p>
          </p:txBody>
        </p:sp>
        <p:sp>
          <p:nvSpPr>
            <p:cNvPr id="55" name="Text Box 604"/>
            <p:cNvSpPr txBox="1">
              <a:spLocks noChangeArrowheads="1"/>
            </p:cNvSpPr>
            <p:nvPr/>
          </p:nvSpPr>
          <p:spPr bwMode="auto">
            <a:xfrm>
              <a:off x="547315" y="4330910"/>
              <a:ext cx="172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13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10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/>
                <a:t>~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3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7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7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3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13787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+mn-ea"/>
                <a:ea typeface="+mn-ea"/>
              </a:rPr>
              <a:t>   ⑶</a:t>
            </a:r>
            <a:r>
              <a:rPr lang="zh-CN" altLang="en-US" sz="2200" b="1" u="none" dirty="0">
                <a:latin typeface="+mn-ea"/>
                <a:ea typeface="+mn-ea"/>
              </a:rPr>
              <a:t>主存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内部的连接图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先位扩展、后字扩展</a:t>
            </a:r>
          </a:p>
        </p:txBody>
      </p:sp>
      <p:sp>
        <p:nvSpPr>
          <p:cNvPr id="453074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DC092676-1262-4DAD-807E-48E875256232}" type="slidenum">
              <a:rPr lang="en-US" altLang="zh-CN"/>
              <a:t>37</a:t>
            </a:fld>
            <a:endParaRPr lang="en-US" altLang="zh-CN"/>
          </a:p>
        </p:txBody>
      </p:sp>
      <p:sp>
        <p:nvSpPr>
          <p:cNvPr id="156" name="Text Box 77"/>
          <p:cNvSpPr txBox="1">
            <a:spLocks noChangeArrowheads="1"/>
          </p:cNvSpPr>
          <p:nvPr/>
        </p:nvSpPr>
        <p:spPr bwMode="auto">
          <a:xfrm>
            <a:off x="5580000" y="3861048"/>
            <a:ext cx="3348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0" bIns="0" anchor="t" anchorCtr="0">
            <a:noAutofit/>
          </a:bodyPr>
          <a:lstStyle/>
          <a:p>
            <a:pPr marL="628650" indent="-6286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ROM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</a:t>
            </a:r>
            <a:r>
              <a:rPr lang="en-US" altLang="zh-CN" sz="1800" b="1" u="none" dirty="0">
                <a:latin typeface="宋体" panose="02010600030101010101" pitchFamily="2" charset="-122"/>
              </a:rPr>
              <a:t>CS#</a:t>
            </a:r>
            <a:r>
              <a:rPr lang="zh-CN" altLang="en-US" sz="1800" b="1" u="none" dirty="0">
                <a:latin typeface="宋体" panose="02010600030101010101" pitchFamily="2" charset="-122"/>
              </a:rPr>
              <a:t>逻辑可如下吗</a:t>
            </a:r>
            <a:r>
              <a:rPr lang="zh-CN" altLang="en-US" sz="1800" b="1" u="none" dirty="0">
                <a:latin typeface="+mn-ea"/>
              </a:rPr>
              <a:t>？</a:t>
            </a:r>
            <a:endParaRPr lang="en-US" altLang="zh-CN" sz="1800" b="1" u="none" dirty="0">
              <a:latin typeface="+mn-ea"/>
            </a:endParaRPr>
          </a:p>
        </p:txBody>
      </p:sp>
      <p:sp>
        <p:nvSpPr>
          <p:cNvPr id="290" name="Text Box 4">
            <a:extLst>
              <a:ext uri="{FF2B5EF4-FFF2-40B4-BE49-F238E27FC236}">
                <a16:creationId xmlns:a16="http://schemas.microsoft.com/office/drawing/2014/main" id="{21E16B2B-91BC-44FF-9ACB-76C0CE8F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789040"/>
            <a:ext cx="540000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+mn-ea"/>
                <a:ea typeface="+mn-ea"/>
              </a:rPr>
              <a:t>   ⑷</a:t>
            </a:r>
            <a:r>
              <a:rPr lang="zh-CN" altLang="en-US" sz="2200" b="1" u="none" dirty="0">
                <a:latin typeface="+mn-ea"/>
                <a:ea typeface="+mn-ea"/>
              </a:rPr>
              <a:t>主存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与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CPU</a:t>
            </a:r>
            <a:r>
              <a:rPr lang="zh-CN" altLang="en-US" sz="2200" b="1" u="none" dirty="0">
                <a:solidFill>
                  <a:schemeClr val="accent2"/>
                </a:solidFill>
                <a:latin typeface="+mn-ea"/>
                <a:ea typeface="+mn-ea"/>
              </a:rPr>
              <a:t>的连接图</a:t>
            </a:r>
            <a:r>
              <a:rPr lang="en-US" altLang="zh-CN" sz="2200" b="1" u="none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u="none" dirty="0">
                <a:latin typeface="+mn-ea"/>
                <a:ea typeface="+mn-ea"/>
              </a:rPr>
              <a:t>主存从</a:t>
            </a:r>
            <a:r>
              <a:rPr lang="en-US" altLang="zh-CN" sz="2200" b="1" u="none" dirty="0">
                <a:latin typeface="+mn-ea"/>
                <a:ea typeface="+mn-ea"/>
              </a:rPr>
              <a:t>0</a:t>
            </a:r>
            <a:r>
              <a:rPr lang="zh-CN" altLang="en-US" sz="2200" b="1" u="none" dirty="0">
                <a:latin typeface="+mn-ea"/>
                <a:ea typeface="+mn-ea"/>
              </a:rPr>
              <a:t>开始</a:t>
            </a:r>
          </a:p>
        </p:txBody>
      </p: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3E4FACC4-2A6C-4AAA-8782-8B4B4279485B}"/>
              </a:ext>
            </a:extLst>
          </p:cNvPr>
          <p:cNvGrpSpPr/>
          <p:nvPr/>
        </p:nvGrpSpPr>
        <p:grpSpPr>
          <a:xfrm>
            <a:off x="1187624" y="4293096"/>
            <a:ext cx="4176000" cy="1980000"/>
            <a:chOff x="1260000" y="828000"/>
            <a:chExt cx="4176000" cy="1980000"/>
          </a:xfrm>
        </p:grpSpPr>
        <p:sp>
          <p:nvSpPr>
            <p:cNvPr id="293" name="Rectangle 5">
              <a:extLst>
                <a:ext uri="{FF2B5EF4-FFF2-40B4-BE49-F238E27FC236}">
                  <a16:creationId xmlns:a16="http://schemas.microsoft.com/office/drawing/2014/main" id="{27029142-0730-47EB-8928-EB44F2836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000" y="864000"/>
              <a:ext cx="1584000" cy="1872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4" name="组合 293">
              <a:extLst>
                <a:ext uri="{FF2B5EF4-FFF2-40B4-BE49-F238E27FC236}">
                  <a16:creationId xmlns:a16="http://schemas.microsoft.com/office/drawing/2014/main" id="{BE7661B6-D397-4F52-AC9E-ABF6181ED652}"/>
                </a:ext>
              </a:extLst>
            </p:cNvPr>
            <p:cNvGrpSpPr/>
            <p:nvPr/>
          </p:nvGrpSpPr>
          <p:grpSpPr>
            <a:xfrm>
              <a:off x="1260000" y="828000"/>
              <a:ext cx="1080000" cy="1944000"/>
              <a:chOff x="1260000" y="828000"/>
              <a:chExt cx="1080000" cy="1944000"/>
            </a:xfrm>
          </p:grpSpPr>
          <p:sp>
            <p:nvSpPr>
              <p:cNvPr id="300" name="Text Box 47">
                <a:extLst>
                  <a:ext uri="{FF2B5EF4-FFF2-40B4-BE49-F238E27FC236}">
                    <a16:creationId xmlns:a16="http://schemas.microsoft.com/office/drawing/2014/main" id="{8614E10A-9196-4C7B-A96A-CEEE474CD9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0000" y="828000"/>
                <a:ext cx="1080000" cy="194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2000" b="1" u="none" dirty="0">
                    <a:latin typeface="宋体" panose="02010600030101010101" pitchFamily="2" charset="-122"/>
                  </a:rPr>
                  <a:t> CPU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1" name="Text Box 120">
                <a:extLst>
                  <a:ext uri="{FF2B5EF4-FFF2-40B4-BE49-F238E27FC236}">
                    <a16:creationId xmlns:a16="http://schemas.microsoft.com/office/drawing/2014/main" id="{DE3B5603-A43D-4A41-9EC1-BC6370679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8000" y="864000"/>
                <a:ext cx="756000" cy="187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IO/M</a:t>
                </a:r>
              </a:p>
              <a:p>
                <a:pPr algn="r">
                  <a:lnSpc>
                    <a:spcPct val="90000"/>
                  </a:lnSpc>
                  <a:spcBef>
                    <a:spcPts val="100"/>
                  </a:spcBef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RD</a:t>
                </a:r>
              </a:p>
              <a:p>
                <a:pPr algn="r">
                  <a:lnSpc>
                    <a:spcPct val="90000"/>
                  </a:lnSpc>
                  <a:spcBef>
                    <a:spcPts val="100"/>
                  </a:spcBef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WR</a:t>
                </a:r>
              </a:p>
              <a:p>
                <a:pPr algn="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15</a:t>
                </a:r>
              </a:p>
              <a:p>
                <a:pPr algn="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14</a:t>
                </a:r>
              </a:p>
              <a:p>
                <a:pPr algn="r">
                  <a:lnSpc>
                    <a:spcPct val="90000"/>
                  </a:lnSpc>
                  <a:spcBef>
                    <a:spcPts val="900"/>
                  </a:spcBef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13</a:t>
                </a:r>
                <a:r>
                  <a:rPr lang="en-US" altLang="zh-CN" sz="1800" b="1" u="none" dirty="0">
                    <a:latin typeface="+mn-lt"/>
                  </a:rPr>
                  <a:t>~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 algn="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800" b="1" u="none" dirty="0">
                    <a:latin typeface="+mn-lt"/>
                  </a:rPr>
                  <a:t>~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02" name="Line 56">
                <a:extLst>
                  <a:ext uri="{FF2B5EF4-FFF2-40B4-BE49-F238E27FC236}">
                    <a16:creationId xmlns:a16="http://schemas.microsoft.com/office/drawing/2014/main" id="{0D5F5DFB-C96A-40C7-A630-5156B0616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9200" y="114480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" name="Line 59">
                <a:extLst>
                  <a:ext uri="{FF2B5EF4-FFF2-40B4-BE49-F238E27FC236}">
                    <a16:creationId xmlns:a16="http://schemas.microsoft.com/office/drawing/2014/main" id="{5DCD9F5D-A762-4C44-A5A2-0415C0AA1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9200" y="1396800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" name="Line 121">
                <a:extLst>
                  <a:ext uri="{FF2B5EF4-FFF2-40B4-BE49-F238E27FC236}">
                    <a16:creationId xmlns:a16="http://schemas.microsoft.com/office/drawing/2014/main" id="{020EA077-F417-4FF1-8E31-92F6C1DFA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7200" y="882000"/>
                <a:ext cx="1254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6A6AA725-41E2-414F-86C7-FBA520ED62F1}"/>
                </a:ext>
              </a:extLst>
            </p:cNvPr>
            <p:cNvGrpSpPr/>
            <p:nvPr/>
          </p:nvGrpSpPr>
          <p:grpSpPr>
            <a:xfrm>
              <a:off x="4356000" y="1512000"/>
              <a:ext cx="1080000" cy="1296000"/>
              <a:chOff x="5365354" y="1475700"/>
              <a:chExt cx="1080000" cy="1296000"/>
            </a:xfrm>
          </p:grpSpPr>
          <p:sp>
            <p:nvSpPr>
              <p:cNvPr id="296" name="Text Box 13">
                <a:extLst>
                  <a:ext uri="{FF2B5EF4-FFF2-40B4-BE49-F238E27FC236}">
                    <a16:creationId xmlns:a16="http://schemas.microsoft.com/office/drawing/2014/main" id="{A907F169-46F7-4C68-94BB-7F22EFD8F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5354" y="1475700"/>
                <a:ext cx="1080000" cy="1296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72000" bIns="10800" anchor="ctr"/>
              <a:lstStyle/>
              <a:p>
                <a:pPr algn="r"/>
                <a:r>
                  <a:rPr lang="zh-CN" altLang="en-US" sz="2000" b="1" u="none" dirty="0">
                    <a:latin typeface="宋体" panose="02010600030101010101" pitchFamily="2" charset="-122"/>
                  </a:rPr>
                  <a:t>主</a:t>
                </a:r>
              </a:p>
              <a:p>
                <a:pPr algn="r"/>
                <a:r>
                  <a:rPr lang="zh-CN" altLang="en-US" sz="2000" b="1" u="none" dirty="0">
                    <a:latin typeface="宋体" panose="02010600030101010101" pitchFamily="2" charset="-122"/>
                  </a:rPr>
                  <a:t>存</a:t>
                </a:r>
              </a:p>
            </p:txBody>
          </p:sp>
          <p:sp>
            <p:nvSpPr>
              <p:cNvPr id="297" name="Line 16">
                <a:extLst>
                  <a:ext uri="{FF2B5EF4-FFF2-40B4-BE49-F238E27FC236}">
                    <a16:creationId xmlns:a16="http://schemas.microsoft.com/office/drawing/2014/main" id="{5155CD36-0510-4888-87BE-AF6D5B309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8800" y="153000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8" name="Text Box 120">
                <a:extLst>
                  <a:ext uri="{FF2B5EF4-FFF2-40B4-BE49-F238E27FC236}">
                    <a16:creationId xmlns:a16="http://schemas.microsoft.com/office/drawing/2014/main" id="{B7BD5820-ADC6-4333-8185-173BFC2877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0000" y="1512000"/>
                <a:ext cx="756000" cy="122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CS</a:t>
                </a:r>
              </a:p>
              <a:p>
                <a:pPr>
                  <a:lnSpc>
                    <a:spcPct val="90000"/>
                  </a:lnSpc>
                  <a:spcBef>
                    <a:spcPts val="1800"/>
                  </a:spcBef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WE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13</a:t>
                </a:r>
                <a:r>
                  <a:rPr lang="en-US" altLang="zh-CN" sz="1800" b="1" u="none" dirty="0">
                    <a:latin typeface="+mn-lt"/>
                  </a:rPr>
                  <a:t>~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800" b="1" u="none" dirty="0">
                    <a:latin typeface="+mn-lt"/>
                  </a:rPr>
                  <a:t>~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99" name="Line 16">
                <a:extLst>
                  <a:ext uri="{FF2B5EF4-FFF2-40B4-BE49-F238E27FC236}">
                    <a16:creationId xmlns:a16="http://schemas.microsoft.com/office/drawing/2014/main" id="{591D30D6-4995-43C3-A8C8-BF604F6BB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1600" y="2015700"/>
                <a:ext cx="23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05" name="Group 153">
            <a:extLst>
              <a:ext uri="{FF2B5EF4-FFF2-40B4-BE49-F238E27FC236}">
                <a16:creationId xmlns:a16="http://schemas.microsoft.com/office/drawing/2014/main" id="{750E0519-D27F-4F7B-82A0-EC52CF7ABE86}"/>
              </a:ext>
            </a:extLst>
          </p:cNvPr>
          <p:cNvGrpSpPr/>
          <p:nvPr/>
        </p:nvGrpSpPr>
        <p:grpSpPr bwMode="auto">
          <a:xfrm>
            <a:off x="2555227" y="4976739"/>
            <a:ext cx="1728788" cy="647700"/>
            <a:chOff x="1997" y="1051"/>
            <a:chExt cx="1089" cy="408"/>
          </a:xfrm>
        </p:grpSpPr>
        <p:sp>
          <p:nvSpPr>
            <p:cNvPr id="306" name="Line 133">
              <a:extLst>
                <a:ext uri="{FF2B5EF4-FFF2-40B4-BE49-F238E27FC236}">
                  <a16:creationId xmlns:a16="http://schemas.microsoft.com/office/drawing/2014/main" id="{09CA5145-585F-4B92-B8A6-D702629E3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1051"/>
              <a:ext cx="0" cy="408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138">
              <a:extLst>
                <a:ext uri="{FF2B5EF4-FFF2-40B4-BE49-F238E27FC236}">
                  <a16:creationId xmlns:a16="http://schemas.microsoft.com/office/drawing/2014/main" id="{96C155B9-9789-4FF3-94B7-5EA78204A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7" y="1459"/>
              <a:ext cx="1089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8" name="Group 152">
            <a:extLst>
              <a:ext uri="{FF2B5EF4-FFF2-40B4-BE49-F238E27FC236}">
                <a16:creationId xmlns:a16="http://schemas.microsoft.com/office/drawing/2014/main" id="{8AEBB276-B92F-4446-B147-4E76FB576659}"/>
              </a:ext>
            </a:extLst>
          </p:cNvPr>
          <p:cNvGrpSpPr/>
          <p:nvPr/>
        </p:nvGrpSpPr>
        <p:grpSpPr bwMode="auto">
          <a:xfrm>
            <a:off x="2267373" y="4616742"/>
            <a:ext cx="2016125" cy="971550"/>
            <a:chOff x="1905" y="839"/>
            <a:chExt cx="1270" cy="612"/>
          </a:xfrm>
        </p:grpSpPr>
        <p:sp>
          <p:nvSpPr>
            <p:cNvPr id="309" name="Text Box 127">
              <a:extLst>
                <a:ext uri="{FF2B5EF4-FFF2-40B4-BE49-F238E27FC236}">
                  <a16:creationId xmlns:a16="http://schemas.microsoft.com/office/drawing/2014/main" id="{95284D44-AC04-4672-99E4-8D0BD5710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839"/>
              <a:ext cx="159" cy="61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310" name="Line 129">
              <a:extLst>
                <a:ext uri="{FF2B5EF4-FFF2-40B4-BE49-F238E27FC236}">
                  <a16:creationId xmlns:a16="http://schemas.microsoft.com/office/drawing/2014/main" id="{DDD09D4C-8D2E-450F-A7D8-F4ADAB27C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1247"/>
              <a:ext cx="839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142">
              <a:extLst>
                <a:ext uri="{FF2B5EF4-FFF2-40B4-BE49-F238E27FC236}">
                  <a16:creationId xmlns:a16="http://schemas.microsoft.com/office/drawing/2014/main" id="{911C3E74-5934-46B2-B490-80345D6159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1383"/>
              <a:ext cx="839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Oval 143">
              <a:extLst>
                <a:ext uri="{FF2B5EF4-FFF2-40B4-BE49-F238E27FC236}">
                  <a16:creationId xmlns:a16="http://schemas.microsoft.com/office/drawing/2014/main" id="{F376DBB7-11E8-4347-88D0-16404D96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" y="1225"/>
              <a:ext cx="46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" name="Oval 144">
              <a:extLst>
                <a:ext uri="{FF2B5EF4-FFF2-40B4-BE49-F238E27FC236}">
                  <a16:creationId xmlns:a16="http://schemas.microsoft.com/office/drawing/2014/main" id="{93D64AB7-7EA6-4630-BE2A-DC68CE6AF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361"/>
              <a:ext cx="46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Oval 145">
              <a:extLst>
                <a:ext uri="{FF2B5EF4-FFF2-40B4-BE49-F238E27FC236}">
                  <a16:creationId xmlns:a16="http://schemas.microsoft.com/office/drawing/2014/main" id="{C2E956AF-D8D2-4B53-A880-C91A4CC8E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1157"/>
              <a:ext cx="46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" name="Line 146">
              <a:extLst>
                <a:ext uri="{FF2B5EF4-FFF2-40B4-BE49-F238E27FC236}">
                  <a16:creationId xmlns:a16="http://schemas.microsoft.com/office/drawing/2014/main" id="{A73614C0-C62A-43C0-8815-B2123941D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4" y="1179"/>
              <a:ext cx="181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6" name="Line 150">
            <a:extLst>
              <a:ext uri="{FF2B5EF4-FFF2-40B4-BE49-F238E27FC236}">
                <a16:creationId xmlns:a16="http://schemas.microsoft.com/office/drawing/2014/main" id="{635EEC80-8F3A-437E-B84A-3C04777F06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7624" y="5841096"/>
            <a:ext cx="2016000" cy="0"/>
          </a:xfrm>
          <a:prstGeom prst="line">
            <a:avLst/>
          </a:prstGeom>
          <a:noFill/>
          <a:ln w="19050" cmpd="sng">
            <a:solidFill>
              <a:srgbClr val="CC33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" name="Line 150">
            <a:extLst>
              <a:ext uri="{FF2B5EF4-FFF2-40B4-BE49-F238E27FC236}">
                <a16:creationId xmlns:a16="http://schemas.microsoft.com/office/drawing/2014/main" id="{03D0ACBE-6416-446F-AC82-28C1C97EE1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6107" y="6093096"/>
            <a:ext cx="2016000" cy="0"/>
          </a:xfrm>
          <a:prstGeom prst="line">
            <a:avLst/>
          </a:prstGeom>
          <a:noFill/>
          <a:ln w="19050" cmpd="sng">
            <a:solidFill>
              <a:schemeClr val="accent2"/>
            </a:solidFill>
            <a:round/>
            <a:headEnd type="triangle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1E265B60-6ED8-4947-9290-11C368C05D29}"/>
              </a:ext>
            </a:extLst>
          </p:cNvPr>
          <p:cNvGrpSpPr/>
          <p:nvPr/>
        </p:nvGrpSpPr>
        <p:grpSpPr>
          <a:xfrm>
            <a:off x="2267624" y="4401096"/>
            <a:ext cx="1404000" cy="648000"/>
            <a:chOff x="2576557" y="981447"/>
            <a:chExt cx="1404000" cy="648000"/>
          </a:xfrm>
        </p:grpSpPr>
        <p:sp>
          <p:nvSpPr>
            <p:cNvPr id="319" name="Text Box 130">
              <a:extLst>
                <a:ext uri="{FF2B5EF4-FFF2-40B4-BE49-F238E27FC236}">
                  <a16:creationId xmlns:a16="http://schemas.microsoft.com/office/drawing/2014/main" id="{F1E579EB-873A-476C-B738-E63347D02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557" y="1233447"/>
              <a:ext cx="288925" cy="39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sp>
          <p:nvSpPr>
            <p:cNvPr id="320" name="Line 131">
              <a:extLst>
                <a:ext uri="{FF2B5EF4-FFF2-40B4-BE49-F238E27FC236}">
                  <a16:creationId xmlns:a16="http://schemas.microsoft.com/office/drawing/2014/main" id="{575D9E4E-9EA4-45F9-B99E-5A5402E65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6557" y="1305447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134">
              <a:extLst>
                <a:ext uri="{FF2B5EF4-FFF2-40B4-BE49-F238E27FC236}">
                  <a16:creationId xmlns:a16="http://schemas.microsoft.com/office/drawing/2014/main" id="{C3A3FA83-2A07-4E8C-BD5B-2865C6B51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6557" y="1449447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Text Box 135">
              <a:extLst>
                <a:ext uri="{FF2B5EF4-FFF2-40B4-BE49-F238E27FC236}">
                  <a16:creationId xmlns:a16="http://schemas.microsoft.com/office/drawing/2014/main" id="{AEEFBDC8-0322-43C5-85A8-813B73C40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557" y="981447"/>
              <a:ext cx="252000" cy="54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23" name="Line 136">
              <a:extLst>
                <a:ext uri="{FF2B5EF4-FFF2-40B4-BE49-F238E27FC236}">
                  <a16:creationId xmlns:a16="http://schemas.microsoft.com/office/drawing/2014/main" id="{7C027DEC-1E05-4F06-A261-27942F5EE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6557" y="1052884"/>
              <a:ext cx="86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Oval 137">
              <a:extLst>
                <a:ext uri="{FF2B5EF4-FFF2-40B4-BE49-F238E27FC236}">
                  <a16:creationId xmlns:a16="http://schemas.microsoft.com/office/drawing/2014/main" id="{9197D703-6FE7-434A-BA07-FAD12AB70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0557" y="1017447"/>
              <a:ext cx="73025" cy="71437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5" name="Line 139">
              <a:extLst>
                <a:ext uri="{FF2B5EF4-FFF2-40B4-BE49-F238E27FC236}">
                  <a16:creationId xmlns:a16="http://schemas.microsoft.com/office/drawing/2014/main" id="{8B4503BA-0A36-4B73-BA22-8346A2B90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4557" y="1268784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132">
              <a:extLst>
                <a:ext uri="{FF2B5EF4-FFF2-40B4-BE49-F238E27FC236}">
                  <a16:creationId xmlns:a16="http://schemas.microsoft.com/office/drawing/2014/main" id="{E9A4814E-85BC-4B02-9A2A-BDE088157E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6557" y="1557447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7" name="组合 326">
            <a:extLst>
              <a:ext uri="{FF2B5EF4-FFF2-40B4-BE49-F238E27FC236}">
                <a16:creationId xmlns:a16="http://schemas.microsoft.com/office/drawing/2014/main" id="{D08660CC-6628-4C8C-8575-C8F5CC71EEA8}"/>
              </a:ext>
            </a:extLst>
          </p:cNvPr>
          <p:cNvGrpSpPr/>
          <p:nvPr/>
        </p:nvGrpSpPr>
        <p:grpSpPr>
          <a:xfrm>
            <a:off x="5652120" y="5733256"/>
            <a:ext cx="3221698" cy="357190"/>
            <a:chOff x="5238734" y="908422"/>
            <a:chExt cx="3221698" cy="357190"/>
          </a:xfrm>
        </p:grpSpPr>
        <p:sp>
          <p:nvSpPr>
            <p:cNvPr id="328" name="Text Box 237">
              <a:extLst>
                <a:ext uri="{FF2B5EF4-FFF2-40B4-BE49-F238E27FC236}">
                  <a16:creationId xmlns:a16="http://schemas.microsoft.com/office/drawing/2014/main" id="{88854B03-1BCD-4EE8-839A-26287BD22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8734" y="908422"/>
              <a:ext cx="3221698" cy="3571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54000" rIns="18000" bIns="10800" anchor="ctr" anchorCtr="0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CS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((RD⊕WR)</a:t>
              </a:r>
              <a:r>
                <a:rPr lang="en-US" altLang="zh-CN" sz="1800" b="1" u="none" dirty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IO</a:t>
              </a:r>
              <a:r>
                <a:rPr lang="en-US" altLang="zh-CN" sz="1800" b="1" u="none" dirty="0"/>
                <a:t>/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M)</a:t>
              </a:r>
              <a:r>
                <a:rPr lang="en-US" altLang="zh-CN" sz="1800" b="1" u="none" dirty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(A</a:t>
              </a:r>
              <a:r>
                <a:rPr lang="en-US" altLang="zh-CN" sz="2000" b="1" u="none" baseline="-14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u="none" baseline="-14000" dirty="0">
                  <a:latin typeface="宋体" panose="02010600030101010101" pitchFamily="2" charset="-122"/>
                </a:rPr>
                <a:t>14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5F607B2E-962E-4CFB-800D-13C15B68CB5F}"/>
                </a:ext>
              </a:extLst>
            </p:cNvPr>
            <p:cNvCxnSpPr/>
            <p:nvPr/>
          </p:nvCxnSpPr>
          <p:spPr bwMode="auto">
            <a:xfrm>
              <a:off x="5958000" y="977633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26BF0B06-E345-416E-AB1C-A1BAC33147C7}"/>
                </a:ext>
              </a:extLst>
            </p:cNvPr>
            <p:cNvCxnSpPr/>
            <p:nvPr/>
          </p:nvCxnSpPr>
          <p:spPr bwMode="auto">
            <a:xfrm flipV="1">
              <a:off x="7164000" y="995633"/>
              <a:ext cx="121229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FD1B76B7-2B0C-4227-AB82-4BD288A54008}"/>
                </a:ext>
              </a:extLst>
            </p:cNvPr>
            <p:cNvCxnSpPr/>
            <p:nvPr/>
          </p:nvCxnSpPr>
          <p:spPr bwMode="auto">
            <a:xfrm>
              <a:off x="6894000" y="969547"/>
              <a:ext cx="401005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5C67C3C2-85A6-4789-90B2-64BFE4030A11}"/>
                </a:ext>
              </a:extLst>
            </p:cNvPr>
            <p:cNvCxnSpPr/>
            <p:nvPr/>
          </p:nvCxnSpPr>
          <p:spPr bwMode="auto">
            <a:xfrm>
              <a:off x="5760000" y="928906"/>
              <a:ext cx="2628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51C7F41D-EF2A-4BD4-87FE-16BD5ED42C07}"/>
                </a:ext>
              </a:extLst>
            </p:cNvPr>
            <p:cNvCxnSpPr/>
            <p:nvPr/>
          </p:nvCxnSpPr>
          <p:spPr bwMode="auto">
            <a:xfrm flipV="1">
              <a:off x="5264578" y="985550"/>
              <a:ext cx="221624" cy="298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EE7A05B7-1653-4486-A2BA-8E3D752FA018}"/>
                </a:ext>
              </a:extLst>
            </p:cNvPr>
            <p:cNvCxnSpPr/>
            <p:nvPr/>
          </p:nvCxnSpPr>
          <p:spPr bwMode="auto">
            <a:xfrm>
              <a:off x="6408000" y="977633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A0E5B438-4A62-4BA9-9AA7-4E479727EFCA}"/>
                </a:ext>
              </a:extLst>
            </p:cNvPr>
            <p:cNvCxnSpPr/>
            <p:nvPr/>
          </p:nvCxnSpPr>
          <p:spPr bwMode="auto">
            <a:xfrm>
              <a:off x="7632000" y="980755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2093A10A-35D4-4892-81AC-4FE1B298D67C}"/>
                </a:ext>
              </a:extLst>
            </p:cNvPr>
            <p:cNvCxnSpPr/>
            <p:nvPr/>
          </p:nvCxnSpPr>
          <p:spPr bwMode="auto">
            <a:xfrm>
              <a:off x="8028000" y="981549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7" name="AutoShape 331">
            <a:extLst>
              <a:ext uri="{FF2B5EF4-FFF2-40B4-BE49-F238E27FC236}">
                <a16:creationId xmlns:a16="http://schemas.microsoft.com/office/drawing/2014/main" id="{0DFC429E-C087-4C8A-983C-6FCA2B58CC7A}"/>
              </a:ext>
            </a:extLst>
          </p:cNvPr>
          <p:cNvSpPr/>
          <p:nvPr/>
        </p:nvSpPr>
        <p:spPr bwMode="auto">
          <a:xfrm>
            <a:off x="5580264" y="4509120"/>
            <a:ext cx="1368000" cy="540000"/>
          </a:xfrm>
          <a:prstGeom prst="borderCallout2">
            <a:avLst>
              <a:gd name="adj1" fmla="val 49033"/>
              <a:gd name="adj2" fmla="val -1167"/>
              <a:gd name="adj3" fmla="val 48408"/>
              <a:gd name="adj4" fmla="val -19904"/>
              <a:gd name="adj5" fmla="val 128367"/>
              <a:gd name="adj6" fmla="val -43068"/>
            </a:avLst>
          </a:prstGeom>
          <a:solidFill>
            <a:srgbClr val="CCFFFF"/>
          </a:solidFill>
          <a:ln w="12700">
            <a:solidFill>
              <a:srgbClr val="FF3399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连接时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</a:rPr>
              <a:t>不关心</a:t>
            </a:r>
            <a:r>
              <a:rPr lang="zh-CN" altLang="en-US" sz="1600" b="1" u="none" dirty="0">
                <a:latin typeface="+mn-ea"/>
                <a:ea typeface="+mn-ea"/>
              </a:rPr>
              <a:t>内部组成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</a:rPr>
              <a:t>！</a:t>
            </a:r>
          </a:p>
        </p:txBody>
      </p:sp>
      <p:grpSp>
        <p:nvGrpSpPr>
          <p:cNvPr id="338" name="组合 337">
            <a:extLst>
              <a:ext uri="{FF2B5EF4-FFF2-40B4-BE49-F238E27FC236}">
                <a16:creationId xmlns:a16="http://schemas.microsoft.com/office/drawing/2014/main" id="{7DEB5215-017D-470B-9ACF-73B255D81D4D}"/>
              </a:ext>
            </a:extLst>
          </p:cNvPr>
          <p:cNvGrpSpPr/>
          <p:nvPr/>
        </p:nvGrpSpPr>
        <p:grpSpPr>
          <a:xfrm>
            <a:off x="7380312" y="4293096"/>
            <a:ext cx="1368152" cy="1153716"/>
            <a:chOff x="2123728" y="2004592"/>
            <a:chExt cx="1368152" cy="1153716"/>
          </a:xfrm>
        </p:grpSpPr>
        <p:grpSp>
          <p:nvGrpSpPr>
            <p:cNvPr id="339" name="Group 371">
              <a:extLst>
                <a:ext uri="{FF2B5EF4-FFF2-40B4-BE49-F238E27FC236}">
                  <a16:creationId xmlns:a16="http://schemas.microsoft.com/office/drawing/2014/main" id="{08B6CCE8-F2C7-4EEF-A9EA-B9232193E463}"/>
                </a:ext>
              </a:extLst>
            </p:cNvPr>
            <p:cNvGrpSpPr/>
            <p:nvPr/>
          </p:nvGrpSpPr>
          <p:grpSpPr bwMode="auto">
            <a:xfrm>
              <a:off x="2529255" y="2004592"/>
              <a:ext cx="287338" cy="215900"/>
              <a:chOff x="4332" y="2659"/>
              <a:chExt cx="181" cy="136"/>
            </a:xfrm>
          </p:grpSpPr>
          <p:sp>
            <p:nvSpPr>
              <p:cNvPr id="361" name="Text Box 372">
                <a:extLst>
                  <a:ext uri="{FF2B5EF4-FFF2-40B4-BE49-F238E27FC236}">
                    <a16:creationId xmlns:a16="http://schemas.microsoft.com/office/drawing/2014/main" id="{8BA8FA52-EFBA-4DCE-AA59-D7B3B31DCB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2" y="2659"/>
                <a:ext cx="181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>
                    <a:latin typeface="宋体" panose="02010600030101010101" pitchFamily="2" charset="-122"/>
                  </a:rPr>
                  <a:t>Y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62" name="Line 373">
                <a:extLst>
                  <a:ext uri="{FF2B5EF4-FFF2-40B4-BE49-F238E27FC236}">
                    <a16:creationId xmlns:a16="http://schemas.microsoft.com/office/drawing/2014/main" id="{4EE57DDF-00FD-4C09-8179-41CC3C7A4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0" y="2671"/>
                <a:ext cx="1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0" name="Text Box 381">
              <a:extLst>
                <a:ext uri="{FF2B5EF4-FFF2-40B4-BE49-F238E27FC236}">
                  <a16:creationId xmlns:a16="http://schemas.microsoft.com/office/drawing/2014/main" id="{6B256DF6-F6C1-489F-8B79-9E03A294D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736" y="2437161"/>
              <a:ext cx="504603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41" name="Oval 382">
              <a:extLst>
                <a:ext uri="{FF2B5EF4-FFF2-40B4-BE49-F238E27FC236}">
                  <a16:creationId xmlns:a16="http://schemas.microsoft.com/office/drawing/2014/main" id="{0C54138E-200A-4A52-86E2-808DC022F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338" y="2617161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2" name="Line 383">
              <a:extLst>
                <a:ext uri="{FF2B5EF4-FFF2-40B4-BE49-F238E27FC236}">
                  <a16:creationId xmlns:a16="http://schemas.microsoft.com/office/drawing/2014/main" id="{14AC9927-CAA8-4916-A740-7BAD93AFE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744" y="2221161"/>
              <a:ext cx="0" cy="14446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384">
              <a:extLst>
                <a:ext uri="{FF2B5EF4-FFF2-40B4-BE49-F238E27FC236}">
                  <a16:creationId xmlns:a16="http://schemas.microsoft.com/office/drawing/2014/main" id="{22917E8E-DE4E-4BF6-B5B6-9B13D01C3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313" y="2221161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Oval 385">
              <a:extLst>
                <a:ext uri="{FF2B5EF4-FFF2-40B4-BE49-F238E27FC236}">
                  <a16:creationId xmlns:a16="http://schemas.microsoft.com/office/drawing/2014/main" id="{98A56B5E-41F4-4A01-A2C1-762124658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086" y="2365161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5" name="Text Box 386">
              <a:extLst>
                <a:ext uri="{FF2B5EF4-FFF2-40B4-BE49-F238E27FC236}">
                  <a16:creationId xmlns:a16="http://schemas.microsoft.com/office/drawing/2014/main" id="{9C1D87EF-14F2-4FF8-93CF-69ECB2CC4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288" y="2437161"/>
              <a:ext cx="254001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46" name="Oval 387">
              <a:extLst>
                <a:ext uri="{FF2B5EF4-FFF2-40B4-BE49-F238E27FC236}">
                  <a16:creationId xmlns:a16="http://schemas.microsoft.com/office/drawing/2014/main" id="{5BCD4635-D2BC-406E-8A40-FD38A496A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378" y="2617161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7" name="Line 388">
              <a:extLst>
                <a:ext uri="{FF2B5EF4-FFF2-40B4-BE49-F238E27FC236}">
                  <a16:creationId xmlns:a16="http://schemas.microsoft.com/office/drawing/2014/main" id="{CE71A376-D416-4E1F-880B-9E88337DF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716" y="2293161"/>
              <a:ext cx="0" cy="143669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409">
              <a:extLst>
                <a:ext uri="{FF2B5EF4-FFF2-40B4-BE49-F238E27FC236}">
                  <a16:creationId xmlns:a16="http://schemas.microsoft.com/office/drawing/2014/main" id="{2AC71549-058B-46C0-8357-7308EE2E6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5272" y="2293161"/>
              <a:ext cx="0" cy="46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410">
              <a:extLst>
                <a:ext uri="{FF2B5EF4-FFF2-40B4-BE49-F238E27FC236}">
                  <a16:creationId xmlns:a16="http://schemas.microsoft.com/office/drawing/2014/main" id="{E2180D9C-85BE-4810-8997-D6A213C79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808" y="2293161"/>
              <a:ext cx="28870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Oval 468">
              <a:extLst>
                <a:ext uri="{FF2B5EF4-FFF2-40B4-BE49-F238E27FC236}">
                  <a16:creationId xmlns:a16="http://schemas.microsoft.com/office/drawing/2014/main" id="{B7348398-B5D8-48FF-A84F-7D2725634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8" y="2365161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51" name="Line 409">
              <a:extLst>
                <a:ext uri="{FF2B5EF4-FFF2-40B4-BE49-F238E27FC236}">
                  <a16:creationId xmlns:a16="http://schemas.microsoft.com/office/drawing/2014/main" id="{9450B0E5-12FF-4DAF-89E8-131A3B167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2851" y="2761161"/>
              <a:ext cx="36242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64">
              <a:extLst>
                <a:ext uri="{FF2B5EF4-FFF2-40B4-BE49-F238E27FC236}">
                  <a16:creationId xmlns:a16="http://schemas.microsoft.com/office/drawing/2014/main" id="{CC0BC914-8078-4142-86CE-11DFCA020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2851" y="2689161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64">
              <a:extLst>
                <a:ext uri="{FF2B5EF4-FFF2-40B4-BE49-F238E27FC236}">
                  <a16:creationId xmlns:a16="http://schemas.microsoft.com/office/drawing/2014/main" id="{4B910ACC-F872-4DD7-8CC2-BCF8FF464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1716" y="2689161"/>
              <a:ext cx="124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Text Box 322">
              <a:extLst>
                <a:ext uri="{FF2B5EF4-FFF2-40B4-BE49-F238E27FC236}">
                  <a16:creationId xmlns:a16="http://schemas.microsoft.com/office/drawing/2014/main" id="{550D1C4D-B9EC-423C-BBFA-C2C1CF6DC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736" y="2005161"/>
              <a:ext cx="323627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11</a:t>
              </a:r>
            </a:p>
          </p:txBody>
        </p:sp>
        <p:grpSp>
          <p:nvGrpSpPr>
            <p:cNvPr id="355" name="Group 371">
              <a:extLst>
                <a:ext uri="{FF2B5EF4-FFF2-40B4-BE49-F238E27FC236}">
                  <a16:creationId xmlns:a16="http://schemas.microsoft.com/office/drawing/2014/main" id="{024BB801-3379-49C6-846E-C4E3755CC826}"/>
                </a:ext>
              </a:extLst>
            </p:cNvPr>
            <p:cNvGrpSpPr/>
            <p:nvPr/>
          </p:nvGrpSpPr>
          <p:grpSpPr bwMode="auto">
            <a:xfrm>
              <a:off x="2123728" y="2905895"/>
              <a:ext cx="620714" cy="252413"/>
              <a:chOff x="4332" y="2602"/>
              <a:chExt cx="391" cy="159"/>
            </a:xfrm>
          </p:grpSpPr>
          <p:sp>
            <p:nvSpPr>
              <p:cNvPr id="359" name="Text Box 372">
                <a:extLst>
                  <a:ext uri="{FF2B5EF4-FFF2-40B4-BE49-F238E27FC236}">
                    <a16:creationId xmlns:a16="http://schemas.microsoft.com/office/drawing/2014/main" id="{2436729C-A6A1-44EF-AFA7-3DC354F58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2" y="2602"/>
                <a:ext cx="391" cy="15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0#ROM</a:t>
                </a:r>
              </a:p>
            </p:txBody>
          </p:sp>
          <p:sp>
            <p:nvSpPr>
              <p:cNvPr id="360" name="Line 373">
                <a:extLst>
                  <a:ext uri="{FF2B5EF4-FFF2-40B4-BE49-F238E27FC236}">
                    <a16:creationId xmlns:a16="http://schemas.microsoft.com/office/drawing/2014/main" id="{7BCA7BCF-46DE-4810-A2D4-1DF83EE72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0" y="2624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grpSp>
          <p:nvGrpSpPr>
            <p:cNvPr id="356" name="Group 371">
              <a:extLst>
                <a:ext uri="{FF2B5EF4-FFF2-40B4-BE49-F238E27FC236}">
                  <a16:creationId xmlns:a16="http://schemas.microsoft.com/office/drawing/2014/main" id="{8956A0E4-BA19-473C-A456-FE5D8FD18CC4}"/>
                </a:ext>
              </a:extLst>
            </p:cNvPr>
            <p:cNvGrpSpPr/>
            <p:nvPr/>
          </p:nvGrpSpPr>
          <p:grpSpPr bwMode="auto">
            <a:xfrm>
              <a:off x="2871166" y="2905895"/>
              <a:ext cx="620714" cy="252413"/>
              <a:chOff x="4332" y="2602"/>
              <a:chExt cx="391" cy="159"/>
            </a:xfrm>
          </p:grpSpPr>
          <p:sp>
            <p:nvSpPr>
              <p:cNvPr id="357" name="Text Box 372">
                <a:extLst>
                  <a:ext uri="{FF2B5EF4-FFF2-40B4-BE49-F238E27FC236}">
                    <a16:creationId xmlns:a16="http://schemas.microsoft.com/office/drawing/2014/main" id="{D954CA10-3442-49B0-B290-51F0A3725A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2" y="2602"/>
                <a:ext cx="391" cy="15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1#ROM</a:t>
                </a:r>
              </a:p>
            </p:txBody>
          </p:sp>
          <p:sp>
            <p:nvSpPr>
              <p:cNvPr id="358" name="Line 373">
                <a:extLst>
                  <a:ext uri="{FF2B5EF4-FFF2-40B4-BE49-F238E27FC236}">
                    <a16:creationId xmlns:a16="http://schemas.microsoft.com/office/drawing/2014/main" id="{36B22A55-D394-415A-A0FB-290442678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0" y="2624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F5ABC30E-6EC2-4419-9126-A0E890B88AB8}"/>
              </a:ext>
            </a:extLst>
          </p:cNvPr>
          <p:cNvGrpSpPr/>
          <p:nvPr/>
        </p:nvGrpSpPr>
        <p:grpSpPr>
          <a:xfrm>
            <a:off x="971600" y="836712"/>
            <a:ext cx="7596000" cy="2916040"/>
            <a:chOff x="1080000" y="1260000"/>
            <a:chExt cx="7596000" cy="2916040"/>
          </a:xfrm>
        </p:grpSpPr>
        <p:sp>
          <p:nvSpPr>
            <p:cNvPr id="364" name="Text Box 381">
              <a:extLst>
                <a:ext uri="{FF2B5EF4-FFF2-40B4-BE49-F238E27FC236}">
                  <a16:creationId xmlns:a16="http://schemas.microsoft.com/office/drawing/2014/main" id="{438CD78D-2571-45EC-B6C1-44A285972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000" y="2556000"/>
              <a:ext cx="1512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5" name="Text Box 381">
              <a:extLst>
                <a:ext uri="{FF2B5EF4-FFF2-40B4-BE49-F238E27FC236}">
                  <a16:creationId xmlns:a16="http://schemas.microsoft.com/office/drawing/2014/main" id="{F0710576-A039-4181-99CB-9E0F42AF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000" y="2556000"/>
              <a:ext cx="1512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6" name="Text Box 381">
              <a:extLst>
                <a:ext uri="{FF2B5EF4-FFF2-40B4-BE49-F238E27FC236}">
                  <a16:creationId xmlns:a16="http://schemas.microsoft.com/office/drawing/2014/main" id="{016F6E07-5D1D-4F70-BE6C-F08195AF4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2556000"/>
              <a:ext cx="1512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7" name="Rectangle 305">
              <a:extLst>
                <a:ext uri="{FF2B5EF4-FFF2-40B4-BE49-F238E27FC236}">
                  <a16:creationId xmlns:a16="http://schemas.microsoft.com/office/drawing/2014/main" id="{68A31531-82FC-4432-AE50-AE3FF1AFE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000" y="1260000"/>
              <a:ext cx="6840000" cy="28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" name="Text Box 306">
              <a:extLst>
                <a:ext uri="{FF2B5EF4-FFF2-40B4-BE49-F238E27FC236}">
                  <a16:creationId xmlns:a16="http://schemas.microsoft.com/office/drawing/2014/main" id="{8DDB153E-B32D-4880-90F0-DF21D215E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325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ROM</a:t>
              </a:r>
            </a:p>
          </p:txBody>
        </p:sp>
        <p:grpSp>
          <p:nvGrpSpPr>
            <p:cNvPr id="369" name="Group 307">
              <a:extLst>
                <a:ext uri="{FF2B5EF4-FFF2-40B4-BE49-F238E27FC236}">
                  <a16:creationId xmlns:a16="http://schemas.microsoft.com/office/drawing/2014/main" id="{D4E97BF8-BFAA-42F6-B965-29D247D0ACDF}"/>
                </a:ext>
              </a:extLst>
            </p:cNvPr>
            <p:cNvGrpSpPr/>
            <p:nvPr/>
          </p:nvGrpSpPr>
          <p:grpSpPr bwMode="auto">
            <a:xfrm>
              <a:off x="1404579" y="3960140"/>
              <a:ext cx="287338" cy="215900"/>
              <a:chOff x="3542" y="2499"/>
              <a:chExt cx="181" cy="136"/>
            </a:xfrm>
          </p:grpSpPr>
          <p:sp>
            <p:nvSpPr>
              <p:cNvPr id="391" name="Text Box 308">
                <a:extLst>
                  <a:ext uri="{FF2B5EF4-FFF2-40B4-BE49-F238E27FC236}">
                    <a16:creationId xmlns:a16="http://schemas.microsoft.com/office/drawing/2014/main" id="{16E4E75C-6D25-4051-8722-D0E558EB9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2499"/>
                <a:ext cx="181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WE</a:t>
                </a:r>
              </a:p>
            </p:txBody>
          </p:sp>
          <p:sp>
            <p:nvSpPr>
              <p:cNvPr id="392" name="Line 309">
                <a:extLst>
                  <a:ext uri="{FF2B5EF4-FFF2-40B4-BE49-F238E27FC236}">
                    <a16:creationId xmlns:a16="http://schemas.microsoft.com/office/drawing/2014/main" id="{5FC1E8E1-FAC2-4593-8573-326E02B6F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7" y="2506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0" name="Text Box 310">
              <a:extLst>
                <a:ext uri="{FF2B5EF4-FFF2-40B4-BE49-F238E27FC236}">
                  <a16:creationId xmlns:a16="http://schemas.microsoft.com/office/drawing/2014/main" id="{A66F1D1B-D121-4AF2-93D1-85B4695DC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413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ROM</a:t>
              </a:r>
            </a:p>
          </p:txBody>
        </p:sp>
        <p:sp>
          <p:nvSpPr>
            <p:cNvPr id="371" name="Text Box 311">
              <a:extLst>
                <a:ext uri="{FF2B5EF4-FFF2-40B4-BE49-F238E27FC236}">
                  <a16:creationId xmlns:a16="http://schemas.microsoft.com/office/drawing/2014/main" id="{1EDAD088-6FBA-40E0-9565-FB0BA324B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525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2" name="Text Box 312">
              <a:extLst>
                <a:ext uri="{FF2B5EF4-FFF2-40B4-BE49-F238E27FC236}">
                  <a16:creationId xmlns:a16="http://schemas.microsoft.com/office/drawing/2014/main" id="{DCAA5814-B501-497C-BBA6-578DEE458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763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3" name="Text Box 313">
              <a:extLst>
                <a:ext uri="{FF2B5EF4-FFF2-40B4-BE49-F238E27FC236}">
                  <a16:creationId xmlns:a16="http://schemas.microsoft.com/office/drawing/2014/main" id="{2BE0F13B-F3BB-4903-BE6F-120E6E9F4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313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4" name="Text Box 314">
              <a:extLst>
                <a:ext uri="{FF2B5EF4-FFF2-40B4-BE49-F238E27FC236}">
                  <a16:creationId xmlns:a16="http://schemas.microsoft.com/office/drawing/2014/main" id="{2DD090F8-8581-46AD-865E-DFB9D74F5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5963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5" name="Text Box 315">
              <a:extLst>
                <a:ext uri="{FF2B5EF4-FFF2-40B4-BE49-F238E27FC236}">
                  <a16:creationId xmlns:a16="http://schemas.microsoft.com/office/drawing/2014/main" id="{E67E430E-5950-4952-814C-871A991AC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513" y="3061613"/>
              <a:ext cx="612775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6" name="Text Box 316">
              <a:extLst>
                <a:ext uri="{FF2B5EF4-FFF2-40B4-BE49-F238E27FC236}">
                  <a16:creationId xmlns:a16="http://schemas.microsoft.com/office/drawing/2014/main" id="{7422F701-A162-4763-8C51-119EC35DB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4749" y="3061613"/>
              <a:ext cx="720000" cy="50323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</a:p>
          </p:txBody>
        </p:sp>
        <p:sp>
          <p:nvSpPr>
            <p:cNvPr id="377" name="Text Box 317">
              <a:extLst>
                <a:ext uri="{FF2B5EF4-FFF2-40B4-BE49-F238E27FC236}">
                  <a16:creationId xmlns:a16="http://schemas.microsoft.com/office/drawing/2014/main" id="{77FC4E51-54B3-4FFF-827F-56A50945E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628000"/>
              <a:ext cx="612000" cy="39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11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10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78" name="Text Box 318">
              <a:extLst>
                <a:ext uri="{FF2B5EF4-FFF2-40B4-BE49-F238E27FC236}">
                  <a16:creationId xmlns:a16="http://schemas.microsoft.com/office/drawing/2014/main" id="{2B016046-A116-44FB-AEF4-98B0BB305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000" y="3564000"/>
              <a:ext cx="540000" cy="39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379" name="Text Box 320">
              <a:extLst>
                <a:ext uri="{FF2B5EF4-FFF2-40B4-BE49-F238E27FC236}">
                  <a16:creationId xmlns:a16="http://schemas.microsoft.com/office/drawing/2014/main" id="{9D811A36-6B10-49DD-B972-09ED083CE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000" y="1512000"/>
              <a:ext cx="360363" cy="4683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13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12</a:t>
              </a:r>
            </a:p>
          </p:txBody>
        </p:sp>
        <p:grpSp>
          <p:nvGrpSpPr>
            <p:cNvPr id="380" name="Group 323">
              <a:extLst>
                <a:ext uri="{FF2B5EF4-FFF2-40B4-BE49-F238E27FC236}">
                  <a16:creationId xmlns:a16="http://schemas.microsoft.com/office/drawing/2014/main" id="{DD660C39-8889-49D7-B842-82A73DFCCED6}"/>
                </a:ext>
              </a:extLst>
            </p:cNvPr>
            <p:cNvGrpSpPr/>
            <p:nvPr/>
          </p:nvGrpSpPr>
          <p:grpSpPr bwMode="auto">
            <a:xfrm>
              <a:off x="1404578" y="1331237"/>
              <a:ext cx="287338" cy="215900"/>
              <a:chOff x="3542" y="2748"/>
              <a:chExt cx="181" cy="136"/>
            </a:xfrm>
          </p:grpSpPr>
          <p:sp>
            <p:nvSpPr>
              <p:cNvPr id="389" name="Text Box 324">
                <a:extLst>
                  <a:ext uri="{FF2B5EF4-FFF2-40B4-BE49-F238E27FC236}">
                    <a16:creationId xmlns:a16="http://schemas.microsoft.com/office/drawing/2014/main" id="{B7374801-6BE6-4B64-A7F8-FCAEF8CFDC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2748"/>
                <a:ext cx="181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CS</a:t>
                </a:r>
              </a:p>
            </p:txBody>
          </p:sp>
          <p:sp>
            <p:nvSpPr>
              <p:cNvPr id="390" name="Line 325">
                <a:extLst>
                  <a:ext uri="{FF2B5EF4-FFF2-40B4-BE49-F238E27FC236}">
                    <a16:creationId xmlns:a16="http://schemas.microsoft.com/office/drawing/2014/main" id="{7E62E9D6-99FA-4B9C-A99B-D75C6DD1A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7" y="2748"/>
                <a:ext cx="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1" name="Line 326">
              <a:extLst>
                <a:ext uri="{FF2B5EF4-FFF2-40B4-BE49-F238E27FC236}">
                  <a16:creationId xmlns:a16="http://schemas.microsoft.com/office/drawing/2014/main" id="{F8BF693E-A968-4692-9E0F-3B9FAA0D5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000" y="1944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82" name="Line 327">
              <a:extLst>
                <a:ext uri="{FF2B5EF4-FFF2-40B4-BE49-F238E27FC236}">
                  <a16:creationId xmlns:a16="http://schemas.microsoft.com/office/drawing/2014/main" id="{B763BAE6-DE71-4DE9-B1AF-EA97374DC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000" y="1692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28">
              <a:extLst>
                <a:ext uri="{FF2B5EF4-FFF2-40B4-BE49-F238E27FC236}">
                  <a16:creationId xmlns:a16="http://schemas.microsoft.com/office/drawing/2014/main" id="{89D3E2E0-0199-4476-BA2E-F5C1ACF6F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000" y="1440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29">
              <a:extLst>
                <a:ext uri="{FF2B5EF4-FFF2-40B4-BE49-F238E27FC236}">
                  <a16:creationId xmlns:a16="http://schemas.microsoft.com/office/drawing/2014/main" id="{60B6803D-9022-4EC5-BAE6-D99809B41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000" y="3708000"/>
              <a:ext cx="144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30">
              <a:extLst>
                <a:ext uri="{FF2B5EF4-FFF2-40B4-BE49-F238E27FC236}">
                  <a16:creationId xmlns:a16="http://schemas.microsoft.com/office/drawing/2014/main" id="{1BA94DAE-ADCD-4DDC-BEB0-04F8AC011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000" y="3888000"/>
              <a:ext cx="144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31">
              <a:extLst>
                <a:ext uri="{FF2B5EF4-FFF2-40B4-BE49-F238E27FC236}">
                  <a16:creationId xmlns:a16="http://schemas.microsoft.com/office/drawing/2014/main" id="{5B874300-C458-4DEA-BC8A-46FF902E0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000" y="2916000"/>
              <a:ext cx="144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332">
              <a:extLst>
                <a:ext uri="{FF2B5EF4-FFF2-40B4-BE49-F238E27FC236}">
                  <a16:creationId xmlns:a16="http://schemas.microsoft.com/office/drawing/2014/main" id="{DC8986FC-31AC-41DB-B27B-6FC57D474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000" y="2736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333">
              <a:extLst>
                <a:ext uri="{FF2B5EF4-FFF2-40B4-BE49-F238E27FC236}">
                  <a16:creationId xmlns:a16="http://schemas.microsoft.com/office/drawing/2014/main" id="{FCBC0B7F-F465-4EBB-8037-D2BA354B5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000" y="4068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3" name="组合 392">
            <a:extLst>
              <a:ext uri="{FF2B5EF4-FFF2-40B4-BE49-F238E27FC236}">
                <a16:creationId xmlns:a16="http://schemas.microsoft.com/office/drawing/2014/main" id="{CC76F7AA-59C8-491D-AB73-50132534B77D}"/>
              </a:ext>
            </a:extLst>
          </p:cNvPr>
          <p:cNvGrpSpPr/>
          <p:nvPr/>
        </p:nvGrpSpPr>
        <p:grpSpPr>
          <a:xfrm>
            <a:off x="1727600" y="1628712"/>
            <a:ext cx="6552000" cy="2016000"/>
            <a:chOff x="1761763" y="2203551"/>
            <a:chExt cx="6552000" cy="2016000"/>
          </a:xfrm>
        </p:grpSpPr>
        <p:sp>
          <p:nvSpPr>
            <p:cNvPr id="394" name="Line 335">
              <a:extLst>
                <a:ext uri="{FF2B5EF4-FFF2-40B4-BE49-F238E27FC236}">
                  <a16:creationId xmlns:a16="http://schemas.microsoft.com/office/drawing/2014/main" id="{F09DBA27-7C8F-4223-9391-21BC036EE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1763" y="3067551"/>
              <a:ext cx="6372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336">
              <a:extLst>
                <a:ext uri="{FF2B5EF4-FFF2-40B4-BE49-F238E27FC236}">
                  <a16:creationId xmlns:a16="http://schemas.microsoft.com/office/drawing/2014/main" id="{8AF5932B-FE37-4A83-BB56-64E50C66E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2126" y="3859551"/>
              <a:ext cx="5616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337">
              <a:extLst>
                <a:ext uri="{FF2B5EF4-FFF2-40B4-BE49-F238E27FC236}">
                  <a16:creationId xmlns:a16="http://schemas.microsoft.com/office/drawing/2014/main" id="{B17D9857-87EA-4B27-893B-DDC398AA5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20901" y="3715551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338">
              <a:extLst>
                <a:ext uri="{FF2B5EF4-FFF2-40B4-BE49-F238E27FC236}">
                  <a16:creationId xmlns:a16="http://schemas.microsoft.com/office/drawing/2014/main" id="{EDA58C54-5077-492F-A581-66F9AC08F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1763" y="4039551"/>
              <a:ext cx="6372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339">
              <a:extLst>
                <a:ext uri="{FF2B5EF4-FFF2-40B4-BE49-F238E27FC236}">
                  <a16:creationId xmlns:a16="http://schemas.microsoft.com/office/drawing/2014/main" id="{35161D4F-EF08-40F0-994E-C9C6B3FC0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29763" y="371555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340">
              <a:extLst>
                <a:ext uri="{FF2B5EF4-FFF2-40B4-BE49-F238E27FC236}">
                  <a16:creationId xmlns:a16="http://schemas.microsoft.com/office/drawing/2014/main" id="{307A4D1B-8CB3-4396-9FE0-047B7B59F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3763" y="371555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341">
              <a:extLst>
                <a:ext uri="{FF2B5EF4-FFF2-40B4-BE49-F238E27FC236}">
                  <a16:creationId xmlns:a16="http://schemas.microsoft.com/office/drawing/2014/main" id="{2255B96C-C195-4437-98CE-E316F2276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77763" y="3715551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342">
              <a:extLst>
                <a:ext uri="{FF2B5EF4-FFF2-40B4-BE49-F238E27FC236}">
                  <a16:creationId xmlns:a16="http://schemas.microsoft.com/office/drawing/2014/main" id="{9928FCD0-6ECB-4E84-8861-9BD2B6798C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49763" y="371555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343">
              <a:extLst>
                <a:ext uri="{FF2B5EF4-FFF2-40B4-BE49-F238E27FC236}">
                  <a16:creationId xmlns:a16="http://schemas.microsoft.com/office/drawing/2014/main" id="{3FA4B204-2B34-4BA0-B7AB-E768EFD9B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33763" y="3715551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344">
              <a:extLst>
                <a:ext uri="{FF2B5EF4-FFF2-40B4-BE49-F238E27FC236}">
                  <a16:creationId xmlns:a16="http://schemas.microsoft.com/office/drawing/2014/main" id="{B0522EDB-B854-4CC5-AD96-54C68486A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3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345">
              <a:extLst>
                <a:ext uri="{FF2B5EF4-FFF2-40B4-BE49-F238E27FC236}">
                  <a16:creationId xmlns:a16="http://schemas.microsoft.com/office/drawing/2014/main" id="{73FEF9DC-9568-46E6-B350-EE217140C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346">
              <a:extLst>
                <a:ext uri="{FF2B5EF4-FFF2-40B4-BE49-F238E27FC236}">
                  <a16:creationId xmlns:a16="http://schemas.microsoft.com/office/drawing/2014/main" id="{1908AFCC-DD66-4517-B87F-FBAC43CD7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347">
              <a:extLst>
                <a:ext uri="{FF2B5EF4-FFF2-40B4-BE49-F238E27FC236}">
                  <a16:creationId xmlns:a16="http://schemas.microsoft.com/office/drawing/2014/main" id="{F7A2EC28-12AE-4F87-8113-1B722FBA5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9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348">
              <a:extLst>
                <a:ext uri="{FF2B5EF4-FFF2-40B4-BE49-F238E27FC236}">
                  <a16:creationId xmlns:a16="http://schemas.microsoft.com/office/drawing/2014/main" id="{509513C1-689E-480B-99E6-10F828FA0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5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349">
              <a:extLst>
                <a:ext uri="{FF2B5EF4-FFF2-40B4-BE49-F238E27FC236}">
                  <a16:creationId xmlns:a16="http://schemas.microsoft.com/office/drawing/2014/main" id="{649FD565-5EA3-4B78-8387-BC007C7A4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7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350">
              <a:extLst>
                <a:ext uri="{FF2B5EF4-FFF2-40B4-BE49-F238E27FC236}">
                  <a16:creationId xmlns:a16="http://schemas.microsoft.com/office/drawing/2014/main" id="{7C34759C-48D2-4307-8CAC-A5777AACD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6088" y="3715551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351">
              <a:extLst>
                <a:ext uri="{FF2B5EF4-FFF2-40B4-BE49-F238E27FC236}">
                  <a16:creationId xmlns:a16="http://schemas.microsoft.com/office/drawing/2014/main" id="{7144249B-02D0-463B-A473-A75FA18C6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1763" y="371555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352">
              <a:extLst>
                <a:ext uri="{FF2B5EF4-FFF2-40B4-BE49-F238E27FC236}">
                  <a16:creationId xmlns:a16="http://schemas.microsoft.com/office/drawing/2014/main" id="{430AB766-93ED-4B36-9474-2063491C0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3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353">
              <a:extLst>
                <a:ext uri="{FF2B5EF4-FFF2-40B4-BE49-F238E27FC236}">
                  <a16:creationId xmlns:a16="http://schemas.microsoft.com/office/drawing/2014/main" id="{8FE23D86-2F71-4329-9E5E-16D7CA5E6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1763" y="2887551"/>
              <a:ext cx="626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354">
              <a:extLst>
                <a:ext uri="{FF2B5EF4-FFF2-40B4-BE49-F238E27FC236}">
                  <a16:creationId xmlns:a16="http://schemas.microsoft.com/office/drawing/2014/main" id="{5C1A0BDC-93D4-4547-89E1-1DE19307D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1763" y="4219551"/>
              <a:ext cx="65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357">
              <a:extLst>
                <a:ext uri="{FF2B5EF4-FFF2-40B4-BE49-F238E27FC236}">
                  <a16:creationId xmlns:a16="http://schemas.microsoft.com/office/drawing/2014/main" id="{02397A65-710D-43B6-8F1E-C1B4875EE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01763" y="3715551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358">
              <a:extLst>
                <a:ext uri="{FF2B5EF4-FFF2-40B4-BE49-F238E27FC236}">
                  <a16:creationId xmlns:a16="http://schemas.microsoft.com/office/drawing/2014/main" id="{4643F9F9-05C6-4558-955D-C09CDCE7B3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57763" y="3715551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359">
              <a:extLst>
                <a:ext uri="{FF2B5EF4-FFF2-40B4-BE49-F238E27FC236}">
                  <a16:creationId xmlns:a16="http://schemas.microsoft.com/office/drawing/2014/main" id="{3EEDCA91-BDD4-4C01-AF2D-A28592D1D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9763" y="3715551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360">
              <a:extLst>
                <a:ext uri="{FF2B5EF4-FFF2-40B4-BE49-F238E27FC236}">
                  <a16:creationId xmlns:a16="http://schemas.microsoft.com/office/drawing/2014/main" id="{C339C771-C412-4E80-8339-A4DAA88F8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13763" y="3715551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393">
              <a:extLst>
                <a:ext uri="{FF2B5EF4-FFF2-40B4-BE49-F238E27FC236}">
                  <a16:creationId xmlns:a16="http://schemas.microsoft.com/office/drawing/2014/main" id="{5B069D3B-F70A-4B70-A129-250EA22F03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05763" y="3715551"/>
              <a:ext cx="0" cy="32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394">
              <a:extLst>
                <a:ext uri="{FF2B5EF4-FFF2-40B4-BE49-F238E27FC236}">
                  <a16:creationId xmlns:a16="http://schemas.microsoft.com/office/drawing/2014/main" id="{0A8BFA97-54D9-41C8-BE75-2F4028F41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77763" y="371555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395">
              <a:extLst>
                <a:ext uri="{FF2B5EF4-FFF2-40B4-BE49-F238E27FC236}">
                  <a16:creationId xmlns:a16="http://schemas.microsoft.com/office/drawing/2014/main" id="{AC9AC454-94B6-4E78-A928-AEE92449A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5763" y="3715551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Line 396">
              <a:extLst>
                <a:ext uri="{FF2B5EF4-FFF2-40B4-BE49-F238E27FC236}">
                  <a16:creationId xmlns:a16="http://schemas.microsoft.com/office/drawing/2014/main" id="{3FF448DD-DA1F-467A-8E10-294724A27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763" y="3715551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397">
              <a:extLst>
                <a:ext uri="{FF2B5EF4-FFF2-40B4-BE49-F238E27FC236}">
                  <a16:creationId xmlns:a16="http://schemas.microsoft.com/office/drawing/2014/main" id="{526AE84A-C8AD-4115-9A16-5EA4393C5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7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398">
              <a:extLst>
                <a:ext uri="{FF2B5EF4-FFF2-40B4-BE49-F238E27FC236}">
                  <a16:creationId xmlns:a16="http://schemas.microsoft.com/office/drawing/2014/main" id="{24B7BF39-B1A5-4D5C-93D3-B89CAD275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3763" y="3067551"/>
              <a:ext cx="0" cy="14400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Line 401">
              <a:extLst>
                <a:ext uri="{FF2B5EF4-FFF2-40B4-BE49-F238E27FC236}">
                  <a16:creationId xmlns:a16="http://schemas.microsoft.com/office/drawing/2014/main" id="{AE38B715-6B64-40D4-97E8-8B6CF59EA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9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405">
              <a:extLst>
                <a:ext uri="{FF2B5EF4-FFF2-40B4-BE49-F238E27FC236}">
                  <a16:creationId xmlns:a16="http://schemas.microsoft.com/office/drawing/2014/main" id="{848F3FD1-8FBA-454F-89DD-967C8D0D9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97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406">
              <a:extLst>
                <a:ext uri="{FF2B5EF4-FFF2-40B4-BE49-F238E27FC236}">
                  <a16:creationId xmlns:a16="http://schemas.microsoft.com/office/drawing/2014/main" id="{CE899A25-107F-45BE-B1DD-E302ACBCB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1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412">
              <a:extLst>
                <a:ext uri="{FF2B5EF4-FFF2-40B4-BE49-F238E27FC236}">
                  <a16:creationId xmlns:a16="http://schemas.microsoft.com/office/drawing/2014/main" id="{42508DDB-A68F-4F7F-920F-28C76572A0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9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413">
              <a:extLst>
                <a:ext uri="{FF2B5EF4-FFF2-40B4-BE49-F238E27FC236}">
                  <a16:creationId xmlns:a16="http://schemas.microsoft.com/office/drawing/2014/main" id="{145F74AE-DA0E-49CB-8438-3AA73D95D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25763" y="2887551"/>
              <a:ext cx="0" cy="32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Line 361">
              <a:extLst>
                <a:ext uri="{FF2B5EF4-FFF2-40B4-BE49-F238E27FC236}">
                  <a16:creationId xmlns:a16="http://schemas.microsoft.com/office/drawing/2014/main" id="{C786DB72-1FBE-44DD-924B-1CE9D6CF9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3763" y="2203551"/>
              <a:ext cx="0" cy="10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362">
              <a:extLst>
                <a:ext uri="{FF2B5EF4-FFF2-40B4-BE49-F238E27FC236}">
                  <a16:creationId xmlns:a16="http://schemas.microsoft.com/office/drawing/2014/main" id="{FF838ADC-4DCB-4435-992B-4C0058415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7763" y="2779551"/>
              <a:ext cx="0" cy="43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363">
              <a:extLst>
                <a:ext uri="{FF2B5EF4-FFF2-40B4-BE49-F238E27FC236}">
                  <a16:creationId xmlns:a16="http://schemas.microsoft.com/office/drawing/2014/main" id="{EB98BC18-B1D1-4B0D-B248-E3FAA9F6BB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1763" y="2815551"/>
              <a:ext cx="0" cy="39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364">
              <a:extLst>
                <a:ext uri="{FF2B5EF4-FFF2-40B4-BE49-F238E27FC236}">
                  <a16:creationId xmlns:a16="http://schemas.microsoft.com/office/drawing/2014/main" id="{D5066ACE-8D7F-4AE9-8E3B-FA9B6DFD9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763" y="2815551"/>
              <a:ext cx="0" cy="39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365">
              <a:extLst>
                <a:ext uri="{FF2B5EF4-FFF2-40B4-BE49-F238E27FC236}">
                  <a16:creationId xmlns:a16="http://schemas.microsoft.com/office/drawing/2014/main" id="{4A8E1413-0C3E-4437-A648-D737B70D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763" y="2779551"/>
              <a:ext cx="0" cy="43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399">
              <a:extLst>
                <a:ext uri="{FF2B5EF4-FFF2-40B4-BE49-F238E27FC236}">
                  <a16:creationId xmlns:a16="http://schemas.microsoft.com/office/drawing/2014/main" id="{E7253FF8-7D7A-4A4E-AC7A-540A43C3E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763" y="2779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400">
              <a:extLst>
                <a:ext uri="{FF2B5EF4-FFF2-40B4-BE49-F238E27FC236}">
                  <a16:creationId xmlns:a16="http://schemas.microsoft.com/office/drawing/2014/main" id="{1DB9C9DF-0890-4DD6-ACE5-3D9240B8E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7763" y="2203551"/>
              <a:ext cx="0" cy="10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402">
              <a:extLst>
                <a:ext uri="{FF2B5EF4-FFF2-40B4-BE49-F238E27FC236}">
                  <a16:creationId xmlns:a16="http://schemas.microsoft.com/office/drawing/2014/main" id="{6F72627C-DEEF-4E5A-BCD6-8D2F1D92E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9763" y="2779551"/>
              <a:ext cx="0" cy="43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403">
              <a:extLst>
                <a:ext uri="{FF2B5EF4-FFF2-40B4-BE49-F238E27FC236}">
                  <a16:creationId xmlns:a16="http://schemas.microsoft.com/office/drawing/2014/main" id="{E8C75820-9B4B-4959-B2BC-7C55D4595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9763" y="2779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404">
              <a:extLst>
                <a:ext uri="{FF2B5EF4-FFF2-40B4-BE49-F238E27FC236}">
                  <a16:creationId xmlns:a16="http://schemas.microsoft.com/office/drawing/2014/main" id="{347FA912-6A16-4A10-80A7-5B390042B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5763" y="2203551"/>
              <a:ext cx="0" cy="10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411">
              <a:extLst>
                <a:ext uri="{FF2B5EF4-FFF2-40B4-BE49-F238E27FC236}">
                  <a16:creationId xmlns:a16="http://schemas.microsoft.com/office/drawing/2014/main" id="{F61E44AD-5B4B-4AB8-A86A-0084C8025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763" y="2779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357">
              <a:extLst>
                <a:ext uri="{FF2B5EF4-FFF2-40B4-BE49-F238E27FC236}">
                  <a16:creationId xmlns:a16="http://schemas.microsoft.com/office/drawing/2014/main" id="{87666DCB-8E93-448D-8C61-BAE660A37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01763" y="3967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357">
              <a:extLst>
                <a:ext uri="{FF2B5EF4-FFF2-40B4-BE49-F238E27FC236}">
                  <a16:creationId xmlns:a16="http://schemas.microsoft.com/office/drawing/2014/main" id="{C2286E38-651F-487C-B8C5-8A7813EC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29763" y="3967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357">
              <a:extLst>
                <a:ext uri="{FF2B5EF4-FFF2-40B4-BE49-F238E27FC236}">
                  <a16:creationId xmlns:a16="http://schemas.microsoft.com/office/drawing/2014/main" id="{1AA39277-C478-4878-B609-9C9502B37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57763" y="3967551"/>
              <a:ext cx="75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D1460CD3-76B7-41AC-81E6-A929971EE845}"/>
              </a:ext>
            </a:extLst>
          </p:cNvPr>
          <p:cNvGrpSpPr/>
          <p:nvPr/>
        </p:nvGrpSpPr>
        <p:grpSpPr>
          <a:xfrm>
            <a:off x="1727600" y="908712"/>
            <a:ext cx="6732000" cy="1404263"/>
            <a:chOff x="2016000" y="1152000"/>
            <a:chExt cx="6732000" cy="1404263"/>
          </a:xfrm>
        </p:grpSpPr>
        <p:sp>
          <p:nvSpPr>
            <p:cNvPr id="444" name="Text Box 366">
              <a:extLst>
                <a:ext uri="{FF2B5EF4-FFF2-40B4-BE49-F238E27FC236}">
                  <a16:creationId xmlns:a16="http://schemas.microsoft.com/office/drawing/2014/main" id="{087B15DC-18A3-4466-B69E-90A6D8540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000" y="1152000"/>
              <a:ext cx="5868000" cy="7207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GE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B             2:4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译码器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    </a:t>
              </a:r>
              <a:r>
                <a:rPr lang="en-US" altLang="zh-CN" sz="1600" b="1" u="none" spc="-3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   </a:t>
              </a:r>
              <a:r>
                <a:rPr lang="en-US" altLang="zh-CN" sz="1600" b="1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      Y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      Y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3</a:t>
              </a:r>
              <a:endParaRPr lang="zh-CN" altLang="en-US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45" name="Line 370">
              <a:extLst>
                <a:ext uri="{FF2B5EF4-FFF2-40B4-BE49-F238E27FC236}">
                  <a16:creationId xmlns:a16="http://schemas.microsoft.com/office/drawing/2014/main" id="{BE70CCE2-BCD9-44DE-BE30-11A682D80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776" y="1182163"/>
              <a:ext cx="198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373">
              <a:extLst>
                <a:ext uri="{FF2B5EF4-FFF2-40B4-BE49-F238E27FC236}">
                  <a16:creationId xmlns:a16="http://schemas.microsoft.com/office/drawing/2014/main" id="{3E6BC6E0-9A60-4AF2-B7E9-C3E26DF09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2800" y="1638000"/>
              <a:ext cx="158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376">
              <a:extLst>
                <a:ext uri="{FF2B5EF4-FFF2-40B4-BE49-F238E27FC236}">
                  <a16:creationId xmlns:a16="http://schemas.microsoft.com/office/drawing/2014/main" id="{9F934151-DC2B-4282-982F-8180EA6CE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0000" y="1638000"/>
              <a:ext cx="158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Line 377">
              <a:extLst>
                <a:ext uri="{FF2B5EF4-FFF2-40B4-BE49-F238E27FC236}">
                  <a16:creationId xmlns:a16="http://schemas.microsoft.com/office/drawing/2014/main" id="{A7EB168E-3471-4F6D-B3BD-370BF9A72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000" y="1261538"/>
              <a:ext cx="86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Line 380">
              <a:extLst>
                <a:ext uri="{FF2B5EF4-FFF2-40B4-BE49-F238E27FC236}">
                  <a16:creationId xmlns:a16="http://schemas.microsoft.com/office/drawing/2014/main" id="{F21A5523-0D34-4D84-A4E2-D31817FD7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000" y="1638000"/>
              <a:ext cx="158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Text Box 381">
              <a:extLst>
                <a:ext uri="{FF2B5EF4-FFF2-40B4-BE49-F238E27FC236}">
                  <a16:creationId xmlns:a16="http://schemas.microsoft.com/office/drawing/2014/main" id="{9BBC99CE-6013-4A57-A467-ED9F70398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000" y="2232000"/>
              <a:ext cx="360363" cy="17938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51" name="Oval 382">
              <a:extLst>
                <a:ext uri="{FF2B5EF4-FFF2-40B4-BE49-F238E27FC236}">
                  <a16:creationId xmlns:a16="http://schemas.microsoft.com/office/drawing/2014/main" id="{C8F9A6D1-96DB-4FEB-A78C-3037F40FB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000" y="2412000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" name="Line 383">
              <a:extLst>
                <a:ext uri="{FF2B5EF4-FFF2-40B4-BE49-F238E27FC236}">
                  <a16:creationId xmlns:a16="http://schemas.microsoft.com/office/drawing/2014/main" id="{D236641C-CE60-42A3-8F11-21EC27286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000" y="1979999"/>
              <a:ext cx="0" cy="180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Line 384">
              <a:extLst>
                <a:ext uri="{FF2B5EF4-FFF2-40B4-BE49-F238E27FC236}">
                  <a16:creationId xmlns:a16="http://schemas.microsoft.com/office/drawing/2014/main" id="{E9A8E4E2-2DE0-4374-87AC-2E4078FE5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000" y="1980000"/>
              <a:ext cx="0" cy="1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Oval 385">
              <a:extLst>
                <a:ext uri="{FF2B5EF4-FFF2-40B4-BE49-F238E27FC236}">
                  <a16:creationId xmlns:a16="http://schemas.microsoft.com/office/drawing/2014/main" id="{0158356C-57E1-4D23-931C-CEEDD9A02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000" y="2160000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5" name="Text Box 386">
              <a:extLst>
                <a:ext uri="{FF2B5EF4-FFF2-40B4-BE49-F238E27FC236}">
                  <a16:creationId xmlns:a16="http://schemas.microsoft.com/office/drawing/2014/main" id="{F87AD6A9-DA6D-4D48-AD2C-20208DA65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000" y="2232000"/>
              <a:ext cx="360363" cy="17938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56" name="Oval 387">
              <a:extLst>
                <a:ext uri="{FF2B5EF4-FFF2-40B4-BE49-F238E27FC236}">
                  <a16:creationId xmlns:a16="http://schemas.microsoft.com/office/drawing/2014/main" id="{F50DEEF9-4F14-408C-8CCD-73A5272FB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000" y="2412000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" name="Line 388">
              <a:extLst>
                <a:ext uri="{FF2B5EF4-FFF2-40B4-BE49-F238E27FC236}">
                  <a16:creationId xmlns:a16="http://schemas.microsoft.com/office/drawing/2014/main" id="{475FB8B3-C53A-4C4A-ADE7-A50799E94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000" y="2052000"/>
              <a:ext cx="0" cy="180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Line 389">
              <a:extLst>
                <a:ext uri="{FF2B5EF4-FFF2-40B4-BE49-F238E27FC236}">
                  <a16:creationId xmlns:a16="http://schemas.microsoft.com/office/drawing/2014/main" id="{CAC06F12-ABA6-4F20-A237-56D34DBA5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000" y="1872725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" name="Line 390">
              <a:extLst>
                <a:ext uri="{FF2B5EF4-FFF2-40B4-BE49-F238E27FC236}">
                  <a16:creationId xmlns:a16="http://schemas.microsoft.com/office/drawing/2014/main" id="{8C78CDE6-D6E1-47B3-9C7A-FEE6F817E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000" y="1980675"/>
              <a:ext cx="82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Line 391">
              <a:extLst>
                <a:ext uri="{FF2B5EF4-FFF2-40B4-BE49-F238E27FC236}">
                  <a16:creationId xmlns:a16="http://schemas.microsoft.com/office/drawing/2014/main" id="{7CE082EC-D71B-40F6-A0BE-80C02DBE4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000" y="1513950"/>
              <a:ext cx="86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Line 392">
              <a:extLst>
                <a:ext uri="{FF2B5EF4-FFF2-40B4-BE49-F238E27FC236}">
                  <a16:creationId xmlns:a16="http://schemas.microsoft.com/office/drawing/2014/main" id="{10A687CC-699A-46B4-9154-B78F0DB62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000" y="1764775"/>
              <a:ext cx="86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Line 407">
              <a:extLst>
                <a:ext uri="{FF2B5EF4-FFF2-40B4-BE49-F238E27FC236}">
                  <a16:creationId xmlns:a16="http://schemas.microsoft.com/office/drawing/2014/main" id="{E87FC7AF-DBAC-4613-AD10-16E9E5398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000" y="1980000"/>
              <a:ext cx="0" cy="57626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" name="Line 408">
              <a:extLst>
                <a:ext uri="{FF2B5EF4-FFF2-40B4-BE49-F238E27FC236}">
                  <a16:creationId xmlns:a16="http://schemas.microsoft.com/office/drawing/2014/main" id="{E4EE6B70-66C4-4E00-9CE4-889713995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000" y="1980000"/>
              <a:ext cx="2159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Line 409">
              <a:extLst>
                <a:ext uri="{FF2B5EF4-FFF2-40B4-BE49-F238E27FC236}">
                  <a16:creationId xmlns:a16="http://schemas.microsoft.com/office/drawing/2014/main" id="{A365B502-28F5-46BA-9C4C-2D87934A8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2000" y="2052000"/>
              <a:ext cx="0" cy="50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Line 410">
              <a:extLst>
                <a:ext uri="{FF2B5EF4-FFF2-40B4-BE49-F238E27FC236}">
                  <a16:creationId xmlns:a16="http://schemas.microsoft.com/office/drawing/2014/main" id="{A914FF31-04E0-4676-9385-19FF78868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000" y="2052000"/>
              <a:ext cx="2174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Line 416">
              <a:extLst>
                <a:ext uri="{FF2B5EF4-FFF2-40B4-BE49-F238E27FC236}">
                  <a16:creationId xmlns:a16="http://schemas.microsoft.com/office/drawing/2014/main" id="{0CF5F723-9D0D-4893-8CE2-F1C2765E7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0800" y="1638000"/>
              <a:ext cx="158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Oval 468">
              <a:extLst>
                <a:ext uri="{FF2B5EF4-FFF2-40B4-BE49-F238E27FC236}">
                  <a16:creationId xmlns:a16="http://schemas.microsoft.com/office/drawing/2014/main" id="{258A0D6C-A760-42C4-95EE-422D02E2C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000" y="2160000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8" name="Oval 469">
              <a:extLst>
                <a:ext uri="{FF2B5EF4-FFF2-40B4-BE49-F238E27FC236}">
                  <a16:creationId xmlns:a16="http://schemas.microsoft.com/office/drawing/2014/main" id="{B1352726-3EEC-4F83-AA30-7A8291722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000" y="2160000"/>
              <a:ext cx="73025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290" grpId="0"/>
      <p:bldP spid="316" grpId="0" animBg="1"/>
      <p:bldP spid="317" grpId="0" animBg="1"/>
      <p:bldP spid="3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762B-1201-4EBA-A120-C0B41B94483E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454774" name="Text Box 118"/>
          <p:cNvSpPr txBox="1">
            <a:spLocks noChangeArrowheads="1"/>
          </p:cNvSpPr>
          <p:nvPr/>
        </p:nvSpPr>
        <p:spPr bwMode="auto">
          <a:xfrm>
            <a:off x="179388" y="404664"/>
            <a:ext cx="8785225" cy="3155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</a:rPr>
              <a:t>某</a:t>
            </a:r>
            <a:r>
              <a:rPr lang="en-US" altLang="zh-CN" sz="2000" b="1" u="none" dirty="0">
                <a:latin typeface="宋体" panose="02010600030101010101" pitchFamily="2" charset="-122"/>
              </a:rPr>
              <a:t>16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中，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</a:rPr>
              <a:t>按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字</a:t>
            </a:r>
            <a:r>
              <a:rPr lang="zh-CN" altLang="en-US" sz="2000" b="1" dirty="0">
                <a:latin typeface="宋体" panose="02010600030101010101" pitchFamily="2" charset="-122"/>
              </a:rPr>
              <a:t>编址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，可寻址空间为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20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位，数据引脚宽度等于存储单元长度，控制信号同</a:t>
            </a:r>
            <a:r>
              <a:rPr lang="en-US" altLang="zh-CN" sz="2000" b="1" u="none" dirty="0">
                <a:latin typeface="宋体" panose="02010600030101010101" pitchFamily="2" charset="-122"/>
              </a:rPr>
              <a:t>8088 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。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欲配置</a:t>
            </a:r>
            <a:r>
              <a:rPr lang="en-US" altLang="zh-CN" sz="2000" b="1" u="none" dirty="0">
                <a:latin typeface="宋体" panose="02010600030101010101" pitchFamily="2" charset="-122"/>
              </a:rPr>
              <a:t>512KB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主存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前</a:t>
            </a:r>
            <a:r>
              <a:rPr lang="en-US" altLang="zh-CN" sz="2000" b="1" u="none" dirty="0">
                <a:latin typeface="宋体" panose="02010600030101010101" pitchFamily="2" charset="-122"/>
              </a:rPr>
              <a:t>128KB</a:t>
            </a:r>
            <a:r>
              <a:rPr lang="zh-CN" altLang="en-US" sz="2000" b="1" u="none" dirty="0">
                <a:latin typeface="宋体" panose="02010600030101010101" pitchFamily="2" charset="-122"/>
              </a:rPr>
              <a:t>只读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，可使用的芯片有</a:t>
            </a:r>
            <a:r>
              <a:rPr lang="en-US" altLang="zh-CN" sz="2000" b="1" u="none" dirty="0">
                <a:latin typeface="宋体" panose="02010600030101010101" pitchFamily="2" charset="-122"/>
              </a:rPr>
              <a:t>64K×8b ROM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64K×16b SRAM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。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画出主存中各芯片所占主存空间图、主存内部的芯片连接图，以及主存与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的连接图。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准备：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①与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相关的字长均指机器字长，按字编址即</a:t>
            </a:r>
            <a:r>
              <a:rPr lang="zh-CN" altLang="en-US" sz="2000" b="1" dirty="0">
                <a:latin typeface="宋体" panose="02010600030101010101" pitchFamily="2" charset="-122"/>
              </a:rPr>
              <a:t>按机器字长编址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②主存单元长度、地址位数各是多少？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←否则不要做题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71" name="Text Box 77"/>
          <p:cNvSpPr txBox="1">
            <a:spLocks noChangeArrowheads="1"/>
          </p:cNvSpPr>
          <p:nvPr/>
        </p:nvSpPr>
        <p:spPr bwMode="auto">
          <a:xfrm>
            <a:off x="1009673" y="3675147"/>
            <a:ext cx="61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主存</a:t>
            </a:r>
            <a:r>
              <a:rPr lang="en-US" altLang="zh-CN" sz="1800" b="1" u="none" dirty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</a:rPr>
              <a:t>总线连接和主存</a:t>
            </a:r>
            <a:r>
              <a:rPr lang="en-US" altLang="zh-CN" sz="1800" b="1" u="none" dirty="0">
                <a:latin typeface="宋体" panose="02010600030101010101" pitchFamily="2" charset="-122"/>
              </a:rPr>
              <a:t>-CPU</a:t>
            </a:r>
            <a:r>
              <a:rPr lang="zh-CN" altLang="en-US" sz="1800" b="1" u="none" dirty="0">
                <a:latin typeface="宋体" panose="02010600030101010101" pitchFamily="2" charset="-122"/>
              </a:rPr>
              <a:t>连接，接线上有什么差别</a:t>
            </a:r>
            <a:r>
              <a:rPr lang="zh-CN" altLang="en-US" sz="1800" b="1" u="none" dirty="0">
                <a:latin typeface="+mn-ea"/>
              </a:rPr>
              <a:t>？</a:t>
            </a:r>
            <a:endParaRPr lang="en-US" altLang="zh-CN" sz="1800" b="1" u="none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4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4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571"/>
          <p:cNvSpPr txBox="1">
            <a:spLocks noChangeArrowheads="1"/>
          </p:cNvSpPr>
          <p:nvPr/>
        </p:nvSpPr>
        <p:spPr bwMode="auto">
          <a:xfrm>
            <a:off x="179387" y="1988840"/>
            <a:ext cx="8713093" cy="37146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(1)FPM 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（</a:t>
            </a:r>
            <a:r>
              <a:rPr lang="en-US" altLang="zh-CN" sz="1800" u="none" dirty="0">
                <a:latin typeface="+mn-lt"/>
              </a:rPr>
              <a:t>Fast </a:t>
            </a:r>
            <a:r>
              <a:rPr lang="en-US" altLang="zh-CN" sz="1800" u="none" dirty="0">
                <a:solidFill>
                  <a:srgbClr val="990099"/>
                </a:solidFill>
                <a:latin typeface="+mn-lt"/>
              </a:rPr>
              <a:t>Page</a:t>
            </a:r>
            <a:r>
              <a:rPr lang="en-US" altLang="zh-CN" sz="1800" u="none" dirty="0">
                <a:latin typeface="+mn-lt"/>
              </a:rPr>
              <a:t> Mode</a:t>
            </a:r>
            <a:r>
              <a:rPr lang="en-US" altLang="zh-CN" sz="1800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）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--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优化方法</a:t>
            </a:r>
            <a:r>
              <a:rPr lang="en-US" altLang="zh-CN" sz="1800" b="1" u="none" dirty="0">
                <a:latin typeface="宋体" panose="02010600030101010101" pitchFamily="2" charset="-122"/>
              </a:rPr>
              <a:t>1(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改进工艺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←指阵列同一行的所有单元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优化原理：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性能分析：</a:t>
            </a:r>
            <a:r>
              <a:rPr lang="en-US" altLang="zh-CN" sz="2200" b="1" u="none" dirty="0">
                <a:latin typeface="+mn-ea"/>
              </a:rPr>
              <a:t>T</a:t>
            </a:r>
            <a:r>
              <a:rPr lang="en-US" altLang="zh-CN" sz="2200" b="1" u="none" baseline="-18000" dirty="0">
                <a:latin typeface="+mn-ea"/>
              </a:rPr>
              <a:t>DRAM</a:t>
            </a:r>
            <a:r>
              <a:rPr lang="zh-CN" altLang="en-US" sz="2200" b="1" u="none" dirty="0">
                <a:latin typeface="+mn-ea"/>
              </a:rPr>
              <a:t>＝</a:t>
            </a:r>
            <a:r>
              <a:rPr lang="en-US" altLang="zh-CN" sz="2200" b="1" u="none" dirty="0">
                <a:solidFill>
                  <a:srgbClr val="990099"/>
                </a:solidFill>
                <a:latin typeface="+mn-ea"/>
              </a:rPr>
              <a:t>n</a:t>
            </a:r>
            <a:r>
              <a:rPr lang="en-US" altLang="zh-CN" sz="2200" b="1" u="none" dirty="0">
                <a:solidFill>
                  <a:srgbClr val="990099"/>
                </a:solidFill>
              </a:rPr>
              <a:t>·</a:t>
            </a:r>
            <a:r>
              <a:rPr lang="en-US" altLang="zh-CN" sz="2200" b="1" u="none" dirty="0">
                <a:latin typeface="+mn-ea"/>
              </a:rPr>
              <a:t>(</a:t>
            </a:r>
            <a:r>
              <a:rPr lang="en-US" altLang="zh-CN" sz="2200" b="1" u="none" dirty="0" err="1">
                <a:solidFill>
                  <a:srgbClr val="990099"/>
                </a:solidFill>
                <a:latin typeface="+mn-ea"/>
              </a:rPr>
              <a:t>t</a:t>
            </a:r>
            <a:r>
              <a:rPr lang="en-US" altLang="zh-CN" sz="2200" b="1" u="none" baseline="-18000" dirty="0" err="1">
                <a:solidFill>
                  <a:srgbClr val="990099"/>
                </a:solidFill>
                <a:latin typeface="+mn-ea"/>
              </a:rPr>
              <a:t>RCL</a:t>
            </a:r>
            <a:r>
              <a:rPr lang="en-US" altLang="zh-CN" sz="2200" b="1" u="none" dirty="0" err="1">
                <a:latin typeface="+mn-ea"/>
              </a:rPr>
              <a:t>+t</a:t>
            </a:r>
            <a:r>
              <a:rPr lang="en-US" altLang="zh-CN" sz="2200" b="1" u="none" baseline="-18000" dirty="0" err="1">
                <a:latin typeface="+mn-ea"/>
              </a:rPr>
              <a:t>CAC</a:t>
            </a:r>
            <a:r>
              <a:rPr lang="en-US" altLang="zh-CN" sz="2200" b="1" u="none" dirty="0" err="1">
                <a:latin typeface="+mn-ea"/>
              </a:rPr>
              <a:t>+t</a:t>
            </a:r>
            <a:r>
              <a:rPr lang="zh-CN" altLang="en-US" sz="2200" b="1" u="none" baseline="-18000" dirty="0">
                <a:latin typeface="+mn-ea"/>
              </a:rPr>
              <a:t>传送</a:t>
            </a:r>
            <a:r>
              <a:rPr lang="en-US" altLang="zh-CN" sz="2200" b="1" u="none" dirty="0">
                <a:latin typeface="+mn-ea"/>
              </a:rPr>
              <a:t>)</a:t>
            </a:r>
            <a:r>
              <a:rPr lang="zh-CN" altLang="en-US" sz="2200" b="1" u="none" dirty="0">
                <a:latin typeface="+mn-ea"/>
              </a:rPr>
              <a:t>   </a:t>
            </a:r>
            <a:r>
              <a:rPr lang="zh-CN" altLang="en-US" sz="1600" b="1" u="none" dirty="0">
                <a:latin typeface="+mn-ea"/>
              </a:rPr>
              <a:t> </a:t>
            </a:r>
            <a:r>
              <a:rPr lang="zh-CN" altLang="en-US" sz="1800" b="1" u="none" dirty="0">
                <a:latin typeface="+mn-ea"/>
              </a:rPr>
              <a:t>←每次接收行地址、列地址</a:t>
            </a:r>
            <a:endParaRPr lang="en-US" altLang="zh-CN" sz="2200" b="1" u="none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+mn-ea"/>
              </a:rPr>
              <a:t>            T</a:t>
            </a:r>
            <a:r>
              <a:rPr lang="en-US" altLang="zh-CN" sz="2200" b="1" u="none" baseline="-18000" dirty="0">
                <a:latin typeface="+mn-ea"/>
              </a:rPr>
              <a:t>FPM</a:t>
            </a:r>
            <a:r>
              <a:rPr lang="zh-CN" altLang="en-US" sz="2200" b="1" u="none" dirty="0">
                <a:latin typeface="+mn-ea"/>
              </a:rPr>
              <a:t>＝</a:t>
            </a:r>
            <a:endParaRPr lang="zh-CN" altLang="en-US" sz="2200" b="1" u="none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5FBBE-7F63-43A3-A0BB-BD5DE415E0B6}" type="slidenum">
              <a:rPr lang="en-US" altLang="zh-CN"/>
              <a:t>39</a:t>
            </a:fld>
            <a:endParaRPr lang="en-US" altLang="zh-CN"/>
          </a:p>
        </p:txBody>
      </p:sp>
      <p:sp>
        <p:nvSpPr>
          <p:cNvPr id="455813" name="AutoShape 133">
            <a:hlinkClick r:id="rId6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1926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" name="AutoShape 133">
            <a:hlinkClick r:id="rId6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1941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" name="Text Box 70"/>
          <p:cNvSpPr txBox="1">
            <a:spLocks noChangeArrowheads="1"/>
          </p:cNvSpPr>
          <p:nvPr/>
        </p:nvSpPr>
        <p:spPr bwMode="auto">
          <a:xfrm>
            <a:off x="179388" y="260648"/>
            <a:ext cx="6049489" cy="16715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、提高访存速度的技术    </a:t>
            </a:r>
            <a:r>
              <a:rPr lang="en-US" altLang="zh-CN" sz="1800" b="1" u="none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主存的优化设计</a:t>
            </a:r>
            <a:endParaRPr lang="en-US" altLang="zh-CN" b="1" u="none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访存需求：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优化方法：</a:t>
            </a:r>
            <a:endParaRPr lang="zh-CN" altLang="en-US" sz="2200" u="none" dirty="0">
              <a:latin typeface="宋体" panose="02010600030101010101" pitchFamily="2" charset="-122"/>
            </a:endParaRPr>
          </a:p>
        </p:txBody>
      </p:sp>
      <p:sp>
        <p:nvSpPr>
          <p:cNvPr id="141" name="Text Box 70"/>
          <p:cNvSpPr txBox="1">
            <a:spLocks noChangeArrowheads="1"/>
          </p:cNvSpPr>
          <p:nvPr/>
        </p:nvSpPr>
        <p:spPr bwMode="auto">
          <a:xfrm>
            <a:off x="1885840" y="692696"/>
            <a:ext cx="7150656" cy="12291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小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一次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多个连续单元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多次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访存的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地址连续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数据长度＝</a:t>
            </a:r>
            <a:r>
              <a:rPr lang="en-US" altLang="zh-CN" sz="1800" b="1" u="none" dirty="0">
                <a:latin typeface="+mn-ea"/>
                <a:ea typeface="+mn-ea"/>
              </a:rPr>
              <a:t>x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个单元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程序访问局部性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改进工艺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、并行处理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多个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、层次结构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多种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46" name="Text Box 571"/>
          <p:cNvSpPr txBox="1">
            <a:spLocks noChangeArrowheads="1"/>
          </p:cNvSpPr>
          <p:nvPr/>
        </p:nvSpPr>
        <p:spPr bwMode="auto">
          <a:xfrm>
            <a:off x="1907704" y="2708920"/>
            <a:ext cx="6769001" cy="4766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同一行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的访问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列地址可不连续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共用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RAS#</a:t>
            </a:r>
            <a:r>
              <a:rPr lang="zh-CN" altLang="en-US" sz="2200" b="1" u="none" dirty="0">
                <a:latin typeface="宋体" panose="02010600030101010101" pitchFamily="2" charset="-122"/>
              </a:rPr>
              <a:t>信号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48" name="Text Box 69"/>
          <p:cNvSpPr txBox="1">
            <a:spLocks noChangeArrowheads="1"/>
          </p:cNvSpPr>
          <p:nvPr/>
        </p:nvSpPr>
        <p:spPr bwMode="auto">
          <a:xfrm>
            <a:off x="2606169" y="5229200"/>
            <a:ext cx="5926271" cy="472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err="1">
                <a:solidFill>
                  <a:srgbClr val="990099"/>
                </a:solidFill>
                <a:latin typeface="+mn-ea"/>
                <a:ea typeface="+mn-ea"/>
              </a:rPr>
              <a:t>t</a:t>
            </a:r>
            <a:r>
              <a:rPr lang="en-US" altLang="zh-CN" sz="2200" b="1" u="none" baseline="-18000" dirty="0" err="1">
                <a:solidFill>
                  <a:srgbClr val="990099"/>
                </a:solidFill>
                <a:latin typeface="+mn-ea"/>
                <a:ea typeface="+mn-ea"/>
              </a:rPr>
              <a:t>RCL</a:t>
            </a:r>
            <a:r>
              <a:rPr lang="en-US" altLang="zh-CN" sz="2200" b="1" u="none" dirty="0" err="1">
                <a:solidFill>
                  <a:srgbClr val="990099"/>
                </a:solidFill>
                <a:latin typeface="+mn-ea"/>
                <a:ea typeface="+mn-ea"/>
              </a:rPr>
              <a:t>+</a:t>
            </a:r>
            <a:r>
              <a:rPr lang="en-US" altLang="zh-CN" sz="2200" b="1" u="none" dirty="0" err="1">
                <a:latin typeface="+mn-ea"/>
                <a:ea typeface="+mn-ea"/>
              </a:rPr>
              <a:t>n</a:t>
            </a:r>
            <a:r>
              <a:rPr lang="en-US" altLang="zh-CN" sz="2200" b="1" u="none" dirty="0">
                <a:latin typeface="+mn-lt"/>
                <a:ea typeface="+mn-ea"/>
              </a:rPr>
              <a:t>·</a:t>
            </a:r>
            <a:r>
              <a:rPr lang="en-US" altLang="zh-CN" sz="2200" b="1" u="none" dirty="0">
                <a:latin typeface="+mn-ea"/>
                <a:ea typeface="+mn-ea"/>
              </a:rPr>
              <a:t>(</a:t>
            </a:r>
            <a:r>
              <a:rPr lang="en-US" altLang="zh-CN" sz="2200" b="1" u="none" dirty="0" err="1">
                <a:solidFill>
                  <a:srgbClr val="990099"/>
                </a:solidFill>
                <a:latin typeface="+mn-ea"/>
                <a:ea typeface="+mn-ea"/>
              </a:rPr>
              <a:t>t</a:t>
            </a:r>
            <a:r>
              <a:rPr lang="en-US" altLang="zh-CN" sz="2200" b="1" u="none" baseline="-18000" dirty="0" err="1">
                <a:solidFill>
                  <a:srgbClr val="990099"/>
                </a:solidFill>
                <a:latin typeface="+mn-ea"/>
                <a:ea typeface="+mn-ea"/>
              </a:rPr>
              <a:t>CAC</a:t>
            </a:r>
            <a:r>
              <a:rPr lang="en-US" altLang="zh-CN" sz="2200" b="1" u="none" dirty="0" err="1">
                <a:latin typeface="+mn-ea"/>
                <a:ea typeface="+mn-ea"/>
              </a:rPr>
              <a:t>+t</a:t>
            </a:r>
            <a:r>
              <a:rPr lang="zh-CN" altLang="en-US" sz="2200" b="1" u="none" baseline="-18000" dirty="0">
                <a:latin typeface="+mn-ea"/>
                <a:ea typeface="+mn-ea"/>
              </a:rPr>
              <a:t>传送</a:t>
            </a:r>
            <a:r>
              <a:rPr lang="en-US" altLang="zh-CN" sz="2200" b="1" u="none" dirty="0"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latin typeface="+mn-ea"/>
                <a:ea typeface="+mn-ea"/>
              </a:rPr>
              <a:t>    </a:t>
            </a:r>
            <a:r>
              <a:rPr lang="zh-CN" altLang="en-US" sz="1800" b="1" u="none" dirty="0">
                <a:latin typeface="+mn-ea"/>
                <a:ea typeface="+mn-ea"/>
              </a:rPr>
              <a:t>←其余次仅接收列地址</a:t>
            </a:r>
            <a:endParaRPr lang="en-US" altLang="zh-CN" sz="1800" u="none" dirty="0">
              <a:latin typeface="+mn-ea"/>
              <a:ea typeface="+mn-ea"/>
              <a:sym typeface="+mn-ea"/>
            </a:endParaRPr>
          </a:p>
        </p:txBody>
      </p:sp>
      <p:sp>
        <p:nvSpPr>
          <p:cNvPr id="221" name="AutoShape 62">
            <a:hlinkClick r:id="rId66" action="ppaction://hlinksldjump"/>
            <a:extLst>
              <a:ext uri="{FF2B5EF4-FFF2-40B4-BE49-F238E27FC236}">
                <a16:creationId xmlns:a16="http://schemas.microsoft.com/office/drawing/2014/main" id="{FC9510A6-BF04-46F6-A5B1-BD1C3AAF5EF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22" name="Text Box 726">
            <a:extLst>
              <a:ext uri="{FF2B5EF4-FFF2-40B4-BE49-F238E27FC236}">
                <a16:creationId xmlns:a16="http://schemas.microsoft.com/office/drawing/2014/main" id="{CA365F76-54CC-431D-A688-B70CDA2D0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72" y="5733256"/>
            <a:ext cx="42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269875" indent="-269875"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上图其余次访问较快，如何实现？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23" name="Text Box 707">
            <a:extLst>
              <a:ext uri="{FF2B5EF4-FFF2-40B4-BE49-F238E27FC236}">
                <a16:creationId xmlns:a16="http://schemas.microsoft.com/office/drawing/2014/main" id="{88ACDE73-0A12-4EC9-9BE7-9172749D2F5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91680" y="6093296"/>
            <a:ext cx="586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增设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行缓冲器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，首次访问</a:t>
            </a:r>
            <a:r>
              <a:rPr lang="zh-CN" altLang="en-US" sz="1600" b="1" dirty="0">
                <a:latin typeface="宋体" panose="02010600030101010101" pitchFamily="2" charset="-122"/>
              </a:rPr>
              <a:t>阵列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写缓冲器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，其余次访问</a:t>
            </a:r>
            <a:r>
              <a:rPr lang="zh-CN" altLang="en-US" sz="1600" b="1" dirty="0">
                <a:latin typeface="宋体" panose="02010600030101010101" pitchFamily="2" charset="-122"/>
              </a:rPr>
              <a:t>行缓存器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18E85F64-C70F-4207-AF8D-E098B32EA33F}"/>
              </a:ext>
            </a:extLst>
          </p:cNvPr>
          <p:cNvGrpSpPr/>
          <p:nvPr/>
        </p:nvGrpSpPr>
        <p:grpSpPr>
          <a:xfrm>
            <a:off x="1224000" y="3284984"/>
            <a:ext cx="6997625" cy="1477379"/>
            <a:chOff x="1224000" y="3527156"/>
            <a:chExt cx="6997625" cy="1477379"/>
          </a:xfrm>
        </p:grpSpPr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4F2DE1F3-E1F7-44E7-8875-04366B36B94A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2268000" y="4031555"/>
              <a:ext cx="55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67">
              <a:extLst>
                <a:ext uri="{FF2B5EF4-FFF2-40B4-BE49-F238E27FC236}">
                  <a16:creationId xmlns:a16="http://schemas.microsoft.com/office/drawing/2014/main" id="{9AE9B3EC-3808-407F-8FD3-0DF9203A518B}"/>
                </a:ext>
              </a:extLst>
            </p:cNvPr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3204000" y="3635950"/>
              <a:ext cx="1332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73">
              <a:extLst>
                <a:ext uri="{FF2B5EF4-FFF2-40B4-BE49-F238E27FC236}">
                  <a16:creationId xmlns:a16="http://schemas.microsoft.com/office/drawing/2014/main" id="{79006A92-03A1-459A-A427-46C3C58008B5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2844000" y="4391600"/>
              <a:ext cx="493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274">
              <a:extLst>
                <a:ext uri="{FF2B5EF4-FFF2-40B4-BE49-F238E27FC236}">
                  <a16:creationId xmlns:a16="http://schemas.microsoft.com/office/drawing/2014/main" id="{8A3AAAAB-3D41-4CAF-AC13-F54FBEC9D9C6}"/>
                </a:ext>
              </a:extLst>
            </p:cNvPr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V="1">
              <a:off x="3996000" y="4103945"/>
              <a:ext cx="144000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275">
              <a:extLst>
                <a:ext uri="{FF2B5EF4-FFF2-40B4-BE49-F238E27FC236}">
                  <a16:creationId xmlns:a16="http://schemas.microsoft.com/office/drawing/2014/main" id="{E6263E50-2D8E-4AFC-B1E6-B083A68FA15F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140000" y="4104000"/>
              <a:ext cx="46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273">
              <a:extLst>
                <a:ext uri="{FF2B5EF4-FFF2-40B4-BE49-F238E27FC236}">
                  <a16:creationId xmlns:a16="http://schemas.microsoft.com/office/drawing/2014/main" id="{A3381695-7C53-456B-BB45-ADBF4714E6DE}"/>
                </a:ext>
              </a:extLst>
            </p:cNvPr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4752000" y="4320000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318">
              <a:extLst>
                <a:ext uri="{FF2B5EF4-FFF2-40B4-BE49-F238E27FC236}">
                  <a16:creationId xmlns:a16="http://schemas.microsoft.com/office/drawing/2014/main" id="{A9D91200-31FB-4452-8328-5F2CE634DD5E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4607960" y="4105215"/>
              <a:ext cx="144000" cy="21717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358">
              <a:extLst>
                <a:ext uri="{FF2B5EF4-FFF2-40B4-BE49-F238E27FC236}">
                  <a16:creationId xmlns:a16="http://schemas.microsoft.com/office/drawing/2014/main" id="{83EDCF03-9127-41D7-B752-83B41FB2320A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4679968" y="3744535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272">
              <a:extLst>
                <a:ext uri="{FF2B5EF4-FFF2-40B4-BE49-F238E27FC236}">
                  <a16:creationId xmlns:a16="http://schemas.microsoft.com/office/drawing/2014/main" id="{00BC5321-202B-4DEE-B06A-19471CEB5642}"/>
                </a:ext>
              </a:extLst>
            </p:cNvPr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356000" y="4896000"/>
              <a:ext cx="8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67">
              <a:extLst>
                <a:ext uri="{FF2B5EF4-FFF2-40B4-BE49-F238E27FC236}">
                  <a16:creationId xmlns:a16="http://schemas.microsoft.com/office/drawing/2014/main" id="{5DE318FB-269E-438A-AF49-E3BC67ABE492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5112000" y="3635950"/>
              <a:ext cx="68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72">
              <a:extLst>
                <a:ext uri="{FF2B5EF4-FFF2-40B4-BE49-F238E27FC236}">
                  <a16:creationId xmlns:a16="http://schemas.microsoft.com/office/drawing/2014/main" id="{802B32D2-F6A7-41FE-8276-4A6DA9C5403E}"/>
                </a:ext>
              </a:extLst>
            </p:cNvPr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5592265" y="4896000"/>
              <a:ext cx="8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67">
              <a:extLst>
                <a:ext uri="{FF2B5EF4-FFF2-40B4-BE49-F238E27FC236}">
                  <a16:creationId xmlns:a16="http://schemas.microsoft.com/office/drawing/2014/main" id="{1A9FB958-B009-4F4B-810D-CCEA0DEDB933}"/>
                </a:ext>
              </a:extLst>
            </p:cNvPr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6372000" y="3635950"/>
              <a:ext cx="68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72">
              <a:extLst>
                <a:ext uri="{FF2B5EF4-FFF2-40B4-BE49-F238E27FC236}">
                  <a16:creationId xmlns:a16="http://schemas.microsoft.com/office/drawing/2014/main" id="{A31366C4-601A-48EA-8965-6FC1451120A3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6840000" y="4896000"/>
              <a:ext cx="8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358">
              <a:extLst>
                <a:ext uri="{FF2B5EF4-FFF2-40B4-BE49-F238E27FC236}">
                  <a16:creationId xmlns:a16="http://schemas.microsoft.com/office/drawing/2014/main" id="{ECAB1B23-1F3F-4D64-85B3-2066D5A17040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5940000" y="3744535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358">
              <a:extLst>
                <a:ext uri="{FF2B5EF4-FFF2-40B4-BE49-F238E27FC236}">
                  <a16:creationId xmlns:a16="http://schemas.microsoft.com/office/drawing/2014/main" id="{B9BA0833-792A-4396-B037-CAD5868F28AE}"/>
                </a:ext>
              </a:extLst>
            </p:cNvPr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7200000" y="3744535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74">
              <a:extLst>
                <a:ext uri="{FF2B5EF4-FFF2-40B4-BE49-F238E27FC236}">
                  <a16:creationId xmlns:a16="http://schemas.microsoft.com/office/drawing/2014/main" id="{EE3BD9FF-E528-44AE-85A8-336253E71D67}"/>
                </a:ext>
              </a:extLst>
            </p:cNvPr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5256000" y="4104000"/>
              <a:ext cx="144145" cy="2159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75">
              <a:extLst>
                <a:ext uri="{FF2B5EF4-FFF2-40B4-BE49-F238E27FC236}">
                  <a16:creationId xmlns:a16="http://schemas.microsoft.com/office/drawing/2014/main" id="{471EE6FC-6984-4D81-A608-4B950C5E3D6B}"/>
                </a:ext>
              </a:extLst>
            </p:cNvPr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5400000" y="4104000"/>
              <a:ext cx="46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318">
              <a:extLst>
                <a:ext uri="{FF2B5EF4-FFF2-40B4-BE49-F238E27FC236}">
                  <a16:creationId xmlns:a16="http://schemas.microsoft.com/office/drawing/2014/main" id="{405FD3BB-A2BB-4378-9D67-143B9E1CCBB6}"/>
                </a:ext>
              </a:extLst>
            </p:cNvPr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5868000" y="4104000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358">
              <a:extLst>
                <a:ext uri="{FF2B5EF4-FFF2-40B4-BE49-F238E27FC236}">
                  <a16:creationId xmlns:a16="http://schemas.microsoft.com/office/drawing/2014/main" id="{A00F87C3-7D1B-43EB-BE6C-E029294E15BC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4068000" y="4104000"/>
              <a:ext cx="0" cy="6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358">
              <a:extLst>
                <a:ext uri="{FF2B5EF4-FFF2-40B4-BE49-F238E27FC236}">
                  <a16:creationId xmlns:a16="http://schemas.microsoft.com/office/drawing/2014/main" id="{2762B85F-105D-4597-9239-29C45D7CD262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5328000" y="4103945"/>
              <a:ext cx="0" cy="6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73">
              <a:extLst>
                <a:ext uri="{FF2B5EF4-FFF2-40B4-BE49-F238E27FC236}">
                  <a16:creationId xmlns:a16="http://schemas.microsoft.com/office/drawing/2014/main" id="{B4D03AF9-7D18-402F-9ABB-018FE6EB695B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6012000" y="4320000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74">
              <a:extLst>
                <a:ext uri="{FF2B5EF4-FFF2-40B4-BE49-F238E27FC236}">
                  <a16:creationId xmlns:a16="http://schemas.microsoft.com/office/drawing/2014/main" id="{45283C6C-2041-4553-9497-2E12FD441E08}"/>
                </a:ext>
              </a:extLst>
            </p:cNvPr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6516000" y="4104000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75">
              <a:extLst>
                <a:ext uri="{FF2B5EF4-FFF2-40B4-BE49-F238E27FC236}">
                  <a16:creationId xmlns:a16="http://schemas.microsoft.com/office/drawing/2014/main" id="{B76BF91E-BE45-43AE-92BF-1A7D1CAF7E23}"/>
                </a:ext>
              </a:extLst>
            </p:cNvPr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6660000" y="4105215"/>
              <a:ext cx="46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318">
              <a:extLst>
                <a:ext uri="{FF2B5EF4-FFF2-40B4-BE49-F238E27FC236}">
                  <a16:creationId xmlns:a16="http://schemas.microsoft.com/office/drawing/2014/main" id="{1E398A99-D288-4A05-8F80-A1EEE79608BE}"/>
                </a:ext>
              </a:extLst>
            </p:cNvPr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7128000" y="4104000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358">
              <a:extLst>
                <a:ext uri="{FF2B5EF4-FFF2-40B4-BE49-F238E27FC236}">
                  <a16:creationId xmlns:a16="http://schemas.microsoft.com/office/drawing/2014/main" id="{0D43B131-4359-4F6D-90F1-2294AEF7AD13}"/>
                </a:ext>
              </a:extLst>
            </p:cNvPr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6588000" y="4104000"/>
              <a:ext cx="0" cy="6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73">
              <a:extLst>
                <a:ext uri="{FF2B5EF4-FFF2-40B4-BE49-F238E27FC236}">
                  <a16:creationId xmlns:a16="http://schemas.microsoft.com/office/drawing/2014/main" id="{F38CD2CF-C22D-46EA-A508-1F17CBF4D64F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7272000" y="4320000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74">
              <a:extLst>
                <a:ext uri="{FF2B5EF4-FFF2-40B4-BE49-F238E27FC236}">
                  <a16:creationId xmlns:a16="http://schemas.microsoft.com/office/drawing/2014/main" id="{8AE82C5D-FA74-4BE3-AD41-BA7876628ADB}"/>
                </a:ext>
              </a:extLst>
            </p:cNvPr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7776000" y="4105850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75">
              <a:extLst>
                <a:ext uri="{FF2B5EF4-FFF2-40B4-BE49-F238E27FC236}">
                  <a16:creationId xmlns:a16="http://schemas.microsoft.com/office/drawing/2014/main" id="{413EC017-AF52-45AB-9F84-4EABB2CAB6D7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7920000" y="4110295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358">
              <a:extLst>
                <a:ext uri="{FF2B5EF4-FFF2-40B4-BE49-F238E27FC236}">
                  <a16:creationId xmlns:a16="http://schemas.microsoft.com/office/drawing/2014/main" id="{10603207-8729-40F4-8AB0-81450ED0B0A6}"/>
                </a:ext>
              </a:extLst>
            </p:cNvPr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7848000" y="3816000"/>
              <a:ext cx="0" cy="97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74">
              <a:extLst>
                <a:ext uri="{FF2B5EF4-FFF2-40B4-BE49-F238E27FC236}">
                  <a16:creationId xmlns:a16="http://schemas.microsoft.com/office/drawing/2014/main" id="{9DCE9764-1CD1-4A9E-AA8A-F2E02846E784}"/>
                </a:ext>
              </a:extLst>
            </p:cNvPr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7776000" y="3815655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75">
              <a:extLst>
                <a:ext uri="{FF2B5EF4-FFF2-40B4-BE49-F238E27FC236}">
                  <a16:creationId xmlns:a16="http://schemas.microsoft.com/office/drawing/2014/main" id="{CBB6669A-B686-42D0-AAFF-743AE6E17D71}"/>
                </a:ext>
              </a:extLst>
            </p:cNvPr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7920000" y="3816000"/>
              <a:ext cx="3016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318">
              <a:extLst>
                <a:ext uri="{FF2B5EF4-FFF2-40B4-BE49-F238E27FC236}">
                  <a16:creationId xmlns:a16="http://schemas.microsoft.com/office/drawing/2014/main" id="{E6115184-1423-4152-83E9-CB4E783D8332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7776000" y="4391600"/>
              <a:ext cx="14414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75">
              <a:extLst>
                <a:ext uri="{FF2B5EF4-FFF2-40B4-BE49-F238E27FC236}">
                  <a16:creationId xmlns:a16="http://schemas.microsoft.com/office/drawing/2014/main" id="{F6BB2FE9-19B1-435A-AC8C-D9F7ED1469B2}"/>
                </a:ext>
              </a:extLst>
            </p:cNvPr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7920000" y="4611310"/>
              <a:ext cx="28829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72">
              <a:extLst>
                <a:ext uri="{FF2B5EF4-FFF2-40B4-BE49-F238E27FC236}">
                  <a16:creationId xmlns:a16="http://schemas.microsoft.com/office/drawing/2014/main" id="{AA1E9735-8784-4274-B46D-DF63853CFD01}"/>
                </a:ext>
              </a:extLst>
            </p:cNvPr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8100000" y="4896000"/>
              <a:ext cx="10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67">
              <a:extLst>
                <a:ext uri="{FF2B5EF4-FFF2-40B4-BE49-F238E27FC236}">
                  <a16:creationId xmlns:a16="http://schemas.microsoft.com/office/drawing/2014/main" id="{5A1C30E8-3FA5-4903-9A27-89518754F462}"/>
                </a:ext>
              </a:extLst>
            </p:cNvPr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7632000" y="3636000"/>
              <a:ext cx="576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六边形 125">
              <a:extLst>
                <a:ext uri="{FF2B5EF4-FFF2-40B4-BE49-F238E27FC236}">
                  <a16:creationId xmlns:a16="http://schemas.microsoft.com/office/drawing/2014/main" id="{B58DC388-B08E-464E-9216-F457BEE1E1E0}"/>
                </a:ext>
              </a:extLst>
            </p:cNvPr>
            <p:cNvSpPr/>
            <p:nvPr/>
          </p:nvSpPr>
          <p:spPr bwMode="auto">
            <a:xfrm>
              <a:off x="4536000" y="3528000"/>
              <a:ext cx="576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列</a:t>
              </a: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B4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7" name="六边形 126">
              <a:extLst>
                <a:ext uri="{FF2B5EF4-FFF2-40B4-BE49-F238E27FC236}">
                  <a16:creationId xmlns:a16="http://schemas.microsoft.com/office/drawing/2014/main" id="{5B219BDC-C81C-4A6E-AB23-64B551903A96}"/>
                </a:ext>
              </a:extLst>
            </p:cNvPr>
            <p:cNvSpPr/>
            <p:nvPr/>
          </p:nvSpPr>
          <p:spPr bwMode="auto">
            <a:xfrm>
              <a:off x="5796000" y="3528000"/>
              <a:ext cx="576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列</a:t>
              </a: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B2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8" name="六边形 127">
              <a:extLst>
                <a:ext uri="{FF2B5EF4-FFF2-40B4-BE49-F238E27FC236}">
                  <a16:creationId xmlns:a16="http://schemas.microsoft.com/office/drawing/2014/main" id="{AC8170A2-BD47-49A9-A68D-F7B1CA97CC3B}"/>
                </a:ext>
              </a:extLst>
            </p:cNvPr>
            <p:cNvSpPr/>
            <p:nvPr/>
          </p:nvSpPr>
          <p:spPr bwMode="auto">
            <a:xfrm>
              <a:off x="7056000" y="3528000"/>
              <a:ext cx="576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列</a:t>
              </a: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A3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9" name="Line 271">
              <a:extLst>
                <a:ext uri="{FF2B5EF4-FFF2-40B4-BE49-F238E27FC236}">
                  <a16:creationId xmlns:a16="http://schemas.microsoft.com/office/drawing/2014/main" id="{BDACC176-5B6A-48BC-AD41-A873D8AB6C47}"/>
                </a:ext>
              </a:extLst>
            </p:cNvPr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V="1">
              <a:off x="1834170" y="3815655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72">
              <a:extLst>
                <a:ext uri="{FF2B5EF4-FFF2-40B4-BE49-F238E27FC236}">
                  <a16:creationId xmlns:a16="http://schemas.microsoft.com/office/drawing/2014/main" id="{E9D26A21-96D2-4FFD-8CBA-B37FB1A8DCC5}"/>
                </a:ext>
              </a:extLst>
            </p:cNvPr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V="1">
              <a:off x="1836000" y="4896000"/>
              <a:ext cx="208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404">
              <a:extLst>
                <a:ext uri="{FF2B5EF4-FFF2-40B4-BE49-F238E27FC236}">
                  <a16:creationId xmlns:a16="http://schemas.microsoft.com/office/drawing/2014/main" id="{7DC11F88-4ED7-41ED-9597-66AF92BA34E2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328710" y="3817560"/>
              <a:ext cx="431800" cy="2139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RAS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2" name="Line 405">
              <a:extLst>
                <a:ext uri="{FF2B5EF4-FFF2-40B4-BE49-F238E27FC236}">
                  <a16:creationId xmlns:a16="http://schemas.microsoft.com/office/drawing/2014/main" id="{D0E5BDF2-7A16-43DF-BF87-138DA9A63D34}"/>
                </a:ext>
              </a:extLst>
            </p:cNvPr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1400400" y="3805200"/>
              <a:ext cx="34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37">
              <a:extLst>
                <a:ext uri="{FF2B5EF4-FFF2-40B4-BE49-F238E27FC236}">
                  <a16:creationId xmlns:a16="http://schemas.microsoft.com/office/drawing/2014/main" id="{F85BBD0B-6E38-4DE7-8CDF-81D5C6D2408E}"/>
                </a:ext>
              </a:extLst>
            </p:cNvPr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flipV="1">
              <a:off x="1494000" y="4388400"/>
              <a:ext cx="2317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34" name="Line 358">
              <a:extLst>
                <a:ext uri="{FF2B5EF4-FFF2-40B4-BE49-F238E27FC236}">
                  <a16:creationId xmlns:a16="http://schemas.microsoft.com/office/drawing/2014/main" id="{92D52C1B-AE68-4194-AADE-5FFEEF6A8F36}"/>
                </a:ext>
              </a:extLst>
            </p:cNvPr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H="1">
              <a:off x="2196000" y="3744000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71">
              <a:extLst>
                <a:ext uri="{FF2B5EF4-FFF2-40B4-BE49-F238E27FC236}">
                  <a16:creationId xmlns:a16="http://schemas.microsoft.com/office/drawing/2014/main" id="{5B5C19B2-2FD2-4340-9645-EE899DE12E7D}"/>
                </a:ext>
              </a:extLst>
            </p:cNvPr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1836000" y="4107755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73">
              <a:extLst>
                <a:ext uri="{FF2B5EF4-FFF2-40B4-BE49-F238E27FC236}">
                  <a16:creationId xmlns:a16="http://schemas.microsoft.com/office/drawing/2014/main" id="{6BCF0334-D1F8-41E1-941F-74DE2834D96C}"/>
                </a:ext>
              </a:extLst>
            </p:cNvPr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flipV="1">
              <a:off x="2844000" y="4323655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318">
              <a:extLst>
                <a:ext uri="{FF2B5EF4-FFF2-40B4-BE49-F238E27FC236}">
                  <a16:creationId xmlns:a16="http://schemas.microsoft.com/office/drawing/2014/main" id="{57137B23-D992-43C3-AD32-20DC5B12698A}"/>
                </a:ext>
              </a:extLst>
            </p:cNvPr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2700000" y="4105850"/>
              <a:ext cx="144000" cy="21717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404">
              <a:extLst>
                <a:ext uri="{FF2B5EF4-FFF2-40B4-BE49-F238E27FC236}">
                  <a16:creationId xmlns:a16="http://schemas.microsoft.com/office/drawing/2014/main" id="{40C82C92-5707-473D-A1A4-FC05716D92C4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328710" y="4107755"/>
              <a:ext cx="431800" cy="2139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9" name="Line 405">
              <a:extLst>
                <a:ext uri="{FF2B5EF4-FFF2-40B4-BE49-F238E27FC236}">
                  <a16:creationId xmlns:a16="http://schemas.microsoft.com/office/drawing/2014/main" id="{CED68720-8D25-40AC-A9C9-A9C11E42BA28}"/>
                </a:ext>
              </a:extLst>
            </p:cNvPr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1400400" y="4096800"/>
              <a:ext cx="34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71">
              <a:extLst>
                <a:ext uri="{FF2B5EF4-FFF2-40B4-BE49-F238E27FC236}">
                  <a16:creationId xmlns:a16="http://schemas.microsoft.com/office/drawing/2014/main" id="{44342310-E756-4E53-965C-47FF6EC197A6}"/>
                </a:ext>
              </a:extLst>
            </p:cNvPr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1836000" y="4608000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Text Box 404">
              <a:extLst>
                <a:ext uri="{FF2B5EF4-FFF2-40B4-BE49-F238E27FC236}">
                  <a16:creationId xmlns:a16="http://schemas.microsoft.com/office/drawing/2014/main" id="{F0866A8B-906C-4387-BFC9-E0618C8FB7AD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472855" y="4397315"/>
              <a:ext cx="278130" cy="2139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WE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691">
              <a:extLst>
                <a:ext uri="{FF2B5EF4-FFF2-40B4-BE49-F238E27FC236}">
                  <a16:creationId xmlns:a16="http://schemas.microsoft.com/office/drawing/2014/main" id="{22753921-9D6A-49FA-B03D-3D1A4B33896A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224000" y="4788000"/>
              <a:ext cx="548005" cy="2165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24" name="Line 358">
              <a:extLst>
                <a:ext uri="{FF2B5EF4-FFF2-40B4-BE49-F238E27FC236}">
                  <a16:creationId xmlns:a16="http://schemas.microsoft.com/office/drawing/2014/main" id="{CC190E50-6F42-4920-865D-EDD76C0E9C88}"/>
                </a:ext>
              </a:extLst>
            </p:cNvPr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H="1">
              <a:off x="2772000" y="3744535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74">
              <a:extLst>
                <a:ext uri="{FF2B5EF4-FFF2-40B4-BE49-F238E27FC236}">
                  <a16:creationId xmlns:a16="http://schemas.microsoft.com/office/drawing/2014/main" id="{54B6F6E4-0DF7-4AE5-B173-A6B8648D53C3}"/>
                </a:ext>
              </a:extLst>
            </p:cNvPr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V="1">
              <a:off x="2700000" y="4393505"/>
              <a:ext cx="144000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318">
              <a:extLst>
                <a:ext uri="{FF2B5EF4-FFF2-40B4-BE49-F238E27FC236}">
                  <a16:creationId xmlns:a16="http://schemas.microsoft.com/office/drawing/2014/main" id="{AB7BE87F-C7CF-4B47-A8B9-92FA1AE1484A}"/>
                </a:ext>
              </a:extLst>
            </p:cNvPr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2124000" y="3816000"/>
              <a:ext cx="144000" cy="21717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Text Box 326">
              <a:extLst>
                <a:ext uri="{FF2B5EF4-FFF2-40B4-BE49-F238E27FC236}">
                  <a16:creationId xmlns:a16="http://schemas.microsoft.com/office/drawing/2014/main" id="{E8E5F64C-BC6B-4A0C-92DF-CDC5C9728FAF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04000" y="4628455"/>
              <a:ext cx="431800" cy="1955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28" name="Line 327">
              <a:extLst>
                <a:ext uri="{FF2B5EF4-FFF2-40B4-BE49-F238E27FC236}">
                  <a16:creationId xmlns:a16="http://schemas.microsoft.com/office/drawing/2014/main" id="{34067C88-917D-4976-A5D7-1433D503C85E}"/>
                </a:ext>
              </a:extLst>
            </p:cNvPr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flipV="1">
              <a:off x="3600000" y="4751645"/>
              <a:ext cx="39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328">
              <a:extLst>
                <a:ext uri="{FF2B5EF4-FFF2-40B4-BE49-F238E27FC236}">
                  <a16:creationId xmlns:a16="http://schemas.microsoft.com/office/drawing/2014/main" id="{1E6302B2-4D05-484E-929C-CA78031E6933}"/>
                </a:ext>
              </a:extLst>
            </p:cNvPr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flipH="1" flipV="1">
              <a:off x="2771999" y="4751645"/>
              <a:ext cx="39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358">
              <a:extLst>
                <a:ext uri="{FF2B5EF4-FFF2-40B4-BE49-F238E27FC236}">
                  <a16:creationId xmlns:a16="http://schemas.microsoft.com/office/drawing/2014/main" id="{6E6AD80B-F9D4-4B4B-9D7B-1F4CA5BBBF6E}"/>
                </a:ext>
              </a:extLst>
            </p:cNvPr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flipH="1">
              <a:off x="3996000" y="4679890"/>
              <a:ext cx="0" cy="1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Text Box 326">
              <a:extLst>
                <a:ext uri="{FF2B5EF4-FFF2-40B4-BE49-F238E27FC236}">
                  <a16:creationId xmlns:a16="http://schemas.microsoft.com/office/drawing/2014/main" id="{15F555AE-199F-4285-A87F-96B7FA75E7C4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322000" y="4644000"/>
              <a:ext cx="360680" cy="1955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32" name="Line 327">
              <a:extLst>
                <a:ext uri="{FF2B5EF4-FFF2-40B4-BE49-F238E27FC236}">
                  <a16:creationId xmlns:a16="http://schemas.microsoft.com/office/drawing/2014/main" id="{B8C33E29-7D6F-4BBD-A80C-54599001A3A9}"/>
                </a:ext>
              </a:extLst>
            </p:cNvPr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 flipV="1">
              <a:off x="2663999" y="4751645"/>
              <a:ext cx="10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328">
              <a:extLst>
                <a:ext uri="{FF2B5EF4-FFF2-40B4-BE49-F238E27FC236}">
                  <a16:creationId xmlns:a16="http://schemas.microsoft.com/office/drawing/2014/main" id="{F64AE1AD-9F68-4990-9AE3-F1154018BF56}"/>
                </a:ext>
              </a:extLst>
            </p:cNvPr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H="1" flipV="1">
              <a:off x="2196000" y="4751645"/>
              <a:ext cx="1263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六边形 233">
              <a:extLst>
                <a:ext uri="{FF2B5EF4-FFF2-40B4-BE49-F238E27FC236}">
                  <a16:creationId xmlns:a16="http://schemas.microsoft.com/office/drawing/2014/main" id="{82717A95-6010-4492-925F-C93AD885CA51}"/>
                </a:ext>
              </a:extLst>
            </p:cNvPr>
            <p:cNvSpPr/>
            <p:nvPr/>
          </p:nvSpPr>
          <p:spPr bwMode="auto">
            <a:xfrm>
              <a:off x="3924000" y="47880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D1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235" name="六边形 234">
              <a:extLst>
                <a:ext uri="{FF2B5EF4-FFF2-40B4-BE49-F238E27FC236}">
                  <a16:creationId xmlns:a16="http://schemas.microsoft.com/office/drawing/2014/main" id="{12C13A7C-7B6D-4B9A-9BEA-CD3A11B047AB}"/>
                </a:ext>
              </a:extLst>
            </p:cNvPr>
            <p:cNvSpPr/>
            <p:nvPr/>
          </p:nvSpPr>
          <p:spPr bwMode="auto">
            <a:xfrm>
              <a:off x="5184000" y="47880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D4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236" name="六边形 235">
              <a:extLst>
                <a:ext uri="{FF2B5EF4-FFF2-40B4-BE49-F238E27FC236}">
                  <a16:creationId xmlns:a16="http://schemas.microsoft.com/office/drawing/2014/main" id="{B0A864F2-6600-4BE7-B3D9-BB566DE4B392}"/>
                </a:ext>
              </a:extLst>
            </p:cNvPr>
            <p:cNvSpPr/>
            <p:nvPr/>
          </p:nvSpPr>
          <p:spPr bwMode="auto">
            <a:xfrm>
              <a:off x="6408000" y="47880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D2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237" name="六边形 236">
              <a:extLst>
                <a:ext uri="{FF2B5EF4-FFF2-40B4-BE49-F238E27FC236}">
                  <a16:creationId xmlns:a16="http://schemas.microsoft.com/office/drawing/2014/main" id="{16F864BA-BF6D-42FB-AB37-E2A7DFB1B38E}"/>
                </a:ext>
              </a:extLst>
            </p:cNvPr>
            <p:cNvSpPr/>
            <p:nvPr/>
          </p:nvSpPr>
          <p:spPr bwMode="auto">
            <a:xfrm>
              <a:off x="7668000" y="47880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D3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238" name="AutoShape 215">
              <a:extLst>
                <a:ext uri="{FF2B5EF4-FFF2-40B4-BE49-F238E27FC236}">
                  <a16:creationId xmlns:a16="http://schemas.microsoft.com/office/drawing/2014/main" id="{44ED9DA3-6959-40A6-B07E-8585F7197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000" y="3527156"/>
              <a:ext cx="576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列</a:t>
              </a:r>
              <a:r>
                <a:rPr lang="en-US" altLang="zh-CN" sz="1600" b="1" u="none" dirty="0">
                  <a:latin typeface="+mn-ea"/>
                  <a:ea typeface="+mn-ea"/>
                </a:rPr>
                <a:t>B1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39" name="AutoShape 215">
              <a:extLst>
                <a:ext uri="{FF2B5EF4-FFF2-40B4-BE49-F238E27FC236}">
                  <a16:creationId xmlns:a16="http://schemas.microsoft.com/office/drawing/2014/main" id="{E93B4000-C53D-4C43-995D-E6D31F76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000" y="3528000"/>
              <a:ext cx="576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行</a:t>
              </a:r>
              <a:r>
                <a:rPr lang="en-US" altLang="zh-CN" sz="1600" b="1" u="none" dirty="0">
                  <a:latin typeface="+mn-ea"/>
                  <a:ea typeface="+mn-ea"/>
                </a:rPr>
                <a:t>A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40" name="AutoShape 215">
              <a:extLst>
                <a:ext uri="{FF2B5EF4-FFF2-40B4-BE49-F238E27FC236}">
                  <a16:creationId xmlns:a16="http://schemas.microsoft.com/office/drawing/2014/main" id="{552C4A91-D8A7-4BF2-8AC4-C105A8AD7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20" y="3528000"/>
              <a:ext cx="288000" cy="216024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41" name="Text Box 691">
              <a:extLst>
                <a:ext uri="{FF2B5EF4-FFF2-40B4-BE49-F238E27FC236}">
                  <a16:creationId xmlns:a16="http://schemas.microsoft.com/office/drawing/2014/main" id="{14CE1C20-E8D2-4731-9259-8A73B980F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346" y="3528000"/>
              <a:ext cx="108000" cy="216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42" name="Text Box 691">
              <a:extLst>
                <a:ext uri="{FF2B5EF4-FFF2-40B4-BE49-F238E27FC236}">
                  <a16:creationId xmlns:a16="http://schemas.microsoft.com/office/drawing/2014/main" id="{53F7782A-E773-4E89-B44C-B9FD4A95DE91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224000" y="3528000"/>
              <a:ext cx="540000" cy="2165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6000" dirty="0"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8" grpId="0" bldLvl="0"/>
      <p:bldP spid="222" grpId="0" bldLvl="0" animBg="1"/>
      <p:bldP spid="223" grpId="0" bldLvl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40</a:t>
            </a:fld>
            <a:endParaRPr lang="en-US" altLang="zh-CN" dirty="0"/>
          </a:p>
        </p:txBody>
      </p:sp>
      <p:sp>
        <p:nvSpPr>
          <p:cNvPr id="251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076404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47" name="Text Box 426">
            <a:extLst>
              <a:ext uri="{FF2B5EF4-FFF2-40B4-BE49-F238E27FC236}">
                <a16:creationId xmlns:a16="http://schemas.microsoft.com/office/drawing/2014/main" id="{C7876A00-880E-4001-AFE9-A5A1C74F6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2656"/>
            <a:ext cx="4032224" cy="53564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(2)SDRAM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（</a:t>
            </a:r>
            <a:r>
              <a:rPr lang="en-US" altLang="zh-CN" sz="1800" u="none" dirty="0">
                <a:latin typeface="+mn-lt"/>
              </a:rPr>
              <a:t>Synchronous</a:t>
            </a:r>
            <a:r>
              <a:rPr lang="en-US" altLang="zh-CN" sz="1800" b="1" u="none" dirty="0">
                <a:latin typeface="宋体" panose="02010600030101010101" pitchFamily="2" charset="-122"/>
              </a:rPr>
              <a:t> 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）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优化原理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*优化原理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>
              <a:latin typeface="宋体" panose="02010600030101010101" pitchFamily="2" charset="-122"/>
            </a:endParaRPr>
          </a:p>
        </p:txBody>
      </p:sp>
      <p:sp>
        <p:nvSpPr>
          <p:cNvPr id="448" name="Text Box 726">
            <a:extLst>
              <a:ext uri="{FF2B5EF4-FFF2-40B4-BE49-F238E27FC236}">
                <a16:creationId xmlns:a16="http://schemas.microsoft.com/office/drawing/2014/main" id="{1B20D43F-E7A7-40C6-B371-8762E5AC4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1" y="836712"/>
            <a:ext cx="3312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900113" indent="-900113">
              <a:lnSpc>
                <a:spcPct val="100000"/>
              </a:lnSpc>
            </a:pPr>
            <a:r>
              <a:rPr lang="zh-CN" altLang="en-US" sz="1800" dirty="0"/>
              <a:t>思考①：</a:t>
            </a:r>
            <a:r>
              <a:rPr lang="en-US" altLang="zh-CN" sz="1800" dirty="0">
                <a:solidFill>
                  <a:schemeClr val="tx1"/>
                </a:solidFill>
              </a:rPr>
              <a:t>CPU</a:t>
            </a:r>
            <a:r>
              <a:rPr lang="zh-CN" altLang="en-US" sz="1800" dirty="0">
                <a:solidFill>
                  <a:schemeClr val="tx1"/>
                </a:solidFill>
              </a:rPr>
              <a:t>读</a:t>
            </a:r>
            <a:r>
              <a:rPr lang="en-US" altLang="zh-CN" sz="1800" dirty="0">
                <a:solidFill>
                  <a:schemeClr val="tx1"/>
                </a:solidFill>
              </a:rPr>
              <a:t>MEM</a:t>
            </a:r>
            <a:r>
              <a:rPr lang="zh-CN" altLang="en-US" sz="1800" dirty="0">
                <a:solidFill>
                  <a:schemeClr val="tx1"/>
                </a:solidFill>
              </a:rPr>
              <a:t>有哪些环节？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900113" indent="-900113"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如何感知</a:t>
            </a:r>
            <a:r>
              <a:rPr lang="en-US" altLang="zh-CN" sz="1800" dirty="0">
                <a:solidFill>
                  <a:schemeClr val="tx1"/>
                </a:solidFill>
              </a:rPr>
              <a:t>MEM</a:t>
            </a:r>
            <a:r>
              <a:rPr lang="zh-CN" altLang="en-US" sz="1800" dirty="0">
                <a:solidFill>
                  <a:schemeClr val="tx1"/>
                </a:solidFill>
              </a:rPr>
              <a:t>的时延？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49" name="Text Box 409">
            <a:extLst>
              <a:ext uri="{FF2B5EF4-FFF2-40B4-BE49-F238E27FC236}">
                <a16:creationId xmlns:a16="http://schemas.microsoft.com/office/drawing/2014/main" id="{15779FA1-C44E-4077-9DC7-41659BF0E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0" y="1772816"/>
            <a:ext cx="7161583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采用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同步工作</a:t>
            </a:r>
            <a:r>
              <a:rPr lang="zh-CN" altLang="en-US" sz="2200" b="1" u="none" dirty="0">
                <a:latin typeface="宋体" panose="02010600030101010101" pitchFamily="2" charset="-122"/>
              </a:rPr>
              <a:t>方式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同步于</a:t>
            </a:r>
            <a:r>
              <a:rPr lang="zh-CN" altLang="en-US" sz="1800" b="1" dirty="0">
                <a:latin typeface="宋体" panose="02010600030101010101" pitchFamily="2" charset="-122"/>
              </a:rPr>
              <a:t>时钟信号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，可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简化</a:t>
            </a:r>
            <a:r>
              <a:rPr lang="zh-CN" altLang="en-US" sz="2200" b="1" u="none" dirty="0">
                <a:latin typeface="宋体" panose="02010600030101010101" pitchFamily="2" charset="-122"/>
              </a:rPr>
              <a:t>操作控制</a:t>
            </a:r>
            <a:endParaRPr lang="en-US" altLang="zh-CN" sz="22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u="none" dirty="0">
                <a:latin typeface="宋体" panose="02010600030101010101" pitchFamily="2" charset="-122"/>
              </a:rPr>
              <a:t>   </a:t>
            </a:r>
            <a:r>
              <a:rPr lang="zh-CN" altLang="en-US" sz="1800" u="none" dirty="0">
                <a:latin typeface="宋体" panose="02010600030101010101" pitchFamily="2" charset="-122"/>
              </a:rPr>
              <a:t>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内部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锁存</a:t>
            </a:r>
            <a:r>
              <a:rPr lang="en-US" altLang="zh-CN" sz="1800" b="1" u="none" dirty="0">
                <a:latin typeface="宋体" panose="02010600030101010101" pitchFamily="2" charset="-122"/>
              </a:rPr>
              <a:t>I/O</a:t>
            </a:r>
            <a:r>
              <a:rPr lang="zh-CN" altLang="en-US" sz="1800" b="1" u="none" dirty="0">
                <a:latin typeface="宋体" panose="02010600030101010101" pitchFamily="2" charset="-122"/>
              </a:rPr>
              <a:t>信号→</a:t>
            </a:r>
            <a:r>
              <a:rPr lang="zh-CN" altLang="en-US" sz="1800" u="none" dirty="0">
                <a:latin typeface="宋体" panose="02010600030101010101" pitchFamily="2" charset="-122"/>
              </a:rPr>
              <a:t>┴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→时延可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约定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←信号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无需保持</a:t>
            </a:r>
            <a:endParaRPr lang="en-US" altLang="zh-CN" sz="18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450" name="Text Box 726">
            <a:extLst>
              <a:ext uri="{FF2B5EF4-FFF2-40B4-BE49-F238E27FC236}">
                <a16:creationId xmlns:a16="http://schemas.microsoft.com/office/drawing/2014/main" id="{4EA1066E-7765-4C65-879B-31876BBE9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2708920"/>
            <a:ext cx="2664000" cy="59406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900113" indent="-900113">
              <a:lnSpc>
                <a:spcPct val="90000"/>
              </a:lnSpc>
            </a:pPr>
            <a:r>
              <a:rPr lang="zh-CN" altLang="en-US" sz="1800" dirty="0"/>
              <a:t>思考②：</a:t>
            </a:r>
            <a:r>
              <a:rPr lang="zh-CN" altLang="en-US" sz="1800" u="sng" dirty="0">
                <a:solidFill>
                  <a:schemeClr val="tx1"/>
                </a:solidFill>
              </a:rPr>
              <a:t>同步控制方式</a:t>
            </a:r>
            <a:r>
              <a:rPr lang="zh-CN" altLang="en-US" sz="1800" dirty="0">
                <a:solidFill>
                  <a:schemeClr val="tx1"/>
                </a:solidFill>
              </a:rPr>
              <a:t>对操作者的好处？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51" name="Text Box 707">
            <a:extLst>
              <a:ext uri="{FF2B5EF4-FFF2-40B4-BE49-F238E27FC236}">
                <a16:creationId xmlns:a16="http://schemas.microsoft.com/office/drawing/2014/main" id="{57191FF5-3FE2-458C-96D8-BCC99484C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6" y="3356992"/>
            <a:ext cx="2772000" cy="82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中途可离开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做其他工作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marL="269875" indent="-269875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 类比：</a:t>
            </a:r>
            <a:r>
              <a:rPr lang="zh-CN" altLang="en-US" sz="1600" b="1" u="none" dirty="0">
                <a:latin typeface="宋体" panose="02010600030101010101" pitchFamily="2" charset="-122"/>
              </a:rPr>
              <a:t>我在教室，请同学帮忙去拿东西，期间我干嘛？</a:t>
            </a:r>
          </a:p>
        </p:txBody>
      </p:sp>
      <p:sp>
        <p:nvSpPr>
          <p:cNvPr id="452" name="Text Box 409">
            <a:extLst>
              <a:ext uri="{FF2B5EF4-FFF2-40B4-BE49-F238E27FC236}">
                <a16:creationId xmlns:a16="http://schemas.microsoft.com/office/drawing/2014/main" id="{AB6BE296-CFD2-4982-8EE1-6782D4153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4437112"/>
            <a:ext cx="6891020" cy="7736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支持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突发传输</a:t>
            </a:r>
            <a:r>
              <a:rPr lang="zh-CN" altLang="en-US" sz="2200" b="1" u="none" dirty="0">
                <a:latin typeface="宋体" panose="02010600030101010101" pitchFamily="2" charset="-122"/>
              </a:rPr>
              <a:t>模式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地址连续的数据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，可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提高</a:t>
            </a:r>
            <a:r>
              <a:rPr lang="en-US" altLang="zh-CN" sz="2200" b="1" u="none" dirty="0"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</a:rPr>
              <a:t>带宽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u="none" dirty="0">
                <a:latin typeface="宋体" panose="02010600030101010101" pitchFamily="2" charset="-122"/>
              </a:rPr>
              <a:t>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基于</a:t>
            </a:r>
            <a:r>
              <a:rPr lang="zh-CN" altLang="en-US" sz="1800" b="1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同步控制</a:t>
            </a:r>
            <a:r>
              <a:rPr lang="zh-CN" altLang="en-US" sz="1800" b="1" u="none" dirty="0">
                <a:latin typeface="宋体" panose="02010600030101010101" pitchFamily="2" charset="-122"/>
              </a:rPr>
              <a:t>方式→</a:t>
            </a:r>
            <a:r>
              <a:rPr lang="zh-CN" altLang="en-US" sz="1800" u="none" dirty="0">
                <a:latin typeface="宋体" panose="02010600030101010101" pitchFamily="2" charset="-122"/>
              </a:rPr>
              <a:t>┴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←内部用计数器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改变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列地址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453" name="组合 452">
            <a:extLst>
              <a:ext uri="{FF2B5EF4-FFF2-40B4-BE49-F238E27FC236}">
                <a16:creationId xmlns:a16="http://schemas.microsoft.com/office/drawing/2014/main" id="{0CE7B3EF-6B71-4AA4-841E-10448347F683}"/>
              </a:ext>
            </a:extLst>
          </p:cNvPr>
          <p:cNvGrpSpPr/>
          <p:nvPr/>
        </p:nvGrpSpPr>
        <p:grpSpPr>
          <a:xfrm>
            <a:off x="3419872" y="2636912"/>
            <a:ext cx="2448272" cy="1800000"/>
            <a:chOff x="3528000" y="2340000"/>
            <a:chExt cx="2448272" cy="1800000"/>
          </a:xfrm>
        </p:grpSpPr>
        <p:sp>
          <p:nvSpPr>
            <p:cNvPr id="454" name="Text Box 691">
              <a:extLst>
                <a:ext uri="{FF2B5EF4-FFF2-40B4-BE49-F238E27FC236}">
                  <a16:creationId xmlns:a16="http://schemas.microsoft.com/office/drawing/2014/main" id="{58634B4D-1ED6-402B-86F9-01EE19E44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6260" y="2592024"/>
              <a:ext cx="108000" cy="180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5" name="Text Box 691">
              <a:extLst>
                <a:ext uri="{FF2B5EF4-FFF2-40B4-BE49-F238E27FC236}">
                  <a16:creationId xmlns:a16="http://schemas.microsoft.com/office/drawing/2014/main" id="{83DAC4DA-3EC7-4A9C-8A1E-DA77675C5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228" y="3600000"/>
              <a:ext cx="72000" cy="18000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6" name="Text Box 691">
              <a:extLst>
                <a:ext uri="{FF2B5EF4-FFF2-40B4-BE49-F238E27FC236}">
                  <a16:creationId xmlns:a16="http://schemas.microsoft.com/office/drawing/2014/main" id="{B5AB5225-1E5C-4421-8A73-1E4F4C123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722" y="3600000"/>
              <a:ext cx="72000" cy="180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7" name="Text Box 691">
              <a:extLst>
                <a:ext uri="{FF2B5EF4-FFF2-40B4-BE49-F238E27FC236}">
                  <a16:creationId xmlns:a16="http://schemas.microsoft.com/office/drawing/2014/main" id="{D970EA47-9716-43C2-9390-6DEB34CEA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6252" y="3348000"/>
              <a:ext cx="108000" cy="180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8" name="Text Box 691">
              <a:extLst>
                <a:ext uri="{FF2B5EF4-FFF2-40B4-BE49-F238E27FC236}">
                  <a16:creationId xmlns:a16="http://schemas.microsoft.com/office/drawing/2014/main" id="{7263C52A-B13A-44DA-9954-33D9F7AF2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8228" y="2592048"/>
              <a:ext cx="108000" cy="180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9" name="Line 661">
              <a:extLst>
                <a:ext uri="{FF2B5EF4-FFF2-40B4-BE49-F238E27FC236}">
                  <a16:creationId xmlns:a16="http://schemas.microsoft.com/office/drawing/2014/main" id="{58FF7431-D3BF-4FFA-A027-47430803B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032" y="3690000"/>
              <a:ext cx="12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Line 665">
              <a:extLst>
                <a:ext uri="{FF2B5EF4-FFF2-40B4-BE49-F238E27FC236}">
                  <a16:creationId xmlns:a16="http://schemas.microsoft.com/office/drawing/2014/main" id="{2F194D8D-228A-43B7-8EF2-2379DD867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5289" y="3600000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Line 666">
              <a:extLst>
                <a:ext uri="{FF2B5EF4-FFF2-40B4-BE49-F238E27FC236}">
                  <a16:creationId xmlns:a16="http://schemas.microsoft.com/office/drawing/2014/main" id="{324D4483-497B-448D-AC03-4F0BE0716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5289" y="3780000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Line 675">
              <a:extLst>
                <a:ext uri="{FF2B5EF4-FFF2-40B4-BE49-F238E27FC236}">
                  <a16:creationId xmlns:a16="http://schemas.microsoft.com/office/drawing/2014/main" id="{B2EDE907-DC9C-4A07-ABC6-134C5FDB7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3968" y="25930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" name="Line 676">
              <a:extLst>
                <a:ext uri="{FF2B5EF4-FFF2-40B4-BE49-F238E27FC236}">
                  <a16:creationId xmlns:a16="http://schemas.microsoft.com/office/drawing/2014/main" id="{C4CC8B6F-759F-4B6A-AA3C-E0DB6555D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6200" y="2682000"/>
              <a:ext cx="79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Line 678">
              <a:extLst>
                <a:ext uri="{FF2B5EF4-FFF2-40B4-BE49-F238E27FC236}">
                  <a16:creationId xmlns:a16="http://schemas.microsoft.com/office/drawing/2014/main" id="{A1EA256F-FC0D-4624-8244-350699AD7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2064" y="2520016"/>
              <a:ext cx="0" cy="126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Text Box 691">
              <a:extLst>
                <a:ext uri="{FF2B5EF4-FFF2-40B4-BE49-F238E27FC236}">
                  <a16:creationId xmlns:a16="http://schemas.microsoft.com/office/drawing/2014/main" id="{A0BCA670-52E7-47DF-872C-EDCD6A4CE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600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6" name="Line 692">
              <a:extLst>
                <a:ext uri="{FF2B5EF4-FFF2-40B4-BE49-F238E27FC236}">
                  <a16:creationId xmlns:a16="http://schemas.microsoft.com/office/drawing/2014/main" id="{E809BA5B-D476-4F50-B3BA-29F84DC96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032" y="3348000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Text Box 694">
              <a:extLst>
                <a:ext uri="{FF2B5EF4-FFF2-40B4-BE49-F238E27FC236}">
                  <a16:creationId xmlns:a16="http://schemas.microsoft.com/office/drawing/2014/main" id="{7BAD0DB2-08B0-4BE1-B66F-028B8379D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542" y="3348000"/>
              <a:ext cx="287338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68" name="Line 695">
              <a:extLst>
                <a:ext uri="{FF2B5EF4-FFF2-40B4-BE49-F238E27FC236}">
                  <a16:creationId xmlns:a16="http://schemas.microsoft.com/office/drawing/2014/main" id="{8E98C5F4-A14D-4769-B908-B106F5449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848" y="3348000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Line 706">
              <a:extLst>
                <a:ext uri="{FF2B5EF4-FFF2-40B4-BE49-F238E27FC236}">
                  <a16:creationId xmlns:a16="http://schemas.microsoft.com/office/drawing/2014/main" id="{4AEEC8EC-7FB6-41CA-AC14-7021C9A03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010" y="2520016"/>
              <a:ext cx="0" cy="12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" name="Text Box 715">
              <a:extLst>
                <a:ext uri="{FF2B5EF4-FFF2-40B4-BE49-F238E27FC236}">
                  <a16:creationId xmlns:a16="http://schemas.microsoft.com/office/drawing/2014/main" id="{B2B3F9DE-4EF6-456B-8B17-4C60A91FF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24" y="3600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</a:p>
          </p:txBody>
        </p:sp>
        <p:sp>
          <p:nvSpPr>
            <p:cNvPr id="471" name="Text Box 691">
              <a:extLst>
                <a:ext uri="{FF2B5EF4-FFF2-40B4-BE49-F238E27FC236}">
                  <a16:creationId xmlns:a16="http://schemas.microsoft.com/office/drawing/2014/main" id="{39E27DCD-4528-4094-AA43-6657F9888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2592892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472" name="Line 660">
              <a:extLst>
                <a:ext uri="{FF2B5EF4-FFF2-40B4-BE49-F238E27FC236}">
                  <a16:creationId xmlns:a16="http://schemas.microsoft.com/office/drawing/2014/main" id="{4955EAEA-B140-4758-B6F4-2FB7EA444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36" y="3528000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" name="Line 663">
              <a:extLst>
                <a:ext uri="{FF2B5EF4-FFF2-40B4-BE49-F238E27FC236}">
                  <a16:creationId xmlns:a16="http://schemas.microsoft.com/office/drawing/2014/main" id="{740F034B-6E2C-4D36-BB0D-47CDAFEAC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2024" y="3600000"/>
              <a:ext cx="72000" cy="9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" name="Line 663">
              <a:extLst>
                <a:ext uri="{FF2B5EF4-FFF2-40B4-BE49-F238E27FC236}">
                  <a16:creationId xmlns:a16="http://schemas.microsoft.com/office/drawing/2014/main" id="{DA00439F-7102-486B-912E-C54A6E0D3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92024" y="3690000"/>
              <a:ext cx="72000" cy="9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" name="Line 699">
              <a:extLst>
                <a:ext uri="{FF2B5EF4-FFF2-40B4-BE49-F238E27FC236}">
                  <a16:creationId xmlns:a16="http://schemas.microsoft.com/office/drawing/2014/main" id="{58B40730-6441-4C0C-9A93-4428AAD9A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4048" y="2682000"/>
              <a:ext cx="72000" cy="9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6" name="Line 700">
              <a:extLst>
                <a:ext uri="{FF2B5EF4-FFF2-40B4-BE49-F238E27FC236}">
                  <a16:creationId xmlns:a16="http://schemas.microsoft.com/office/drawing/2014/main" id="{66FE8455-3259-42B0-9986-C8633847A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048" y="2592024"/>
              <a:ext cx="72000" cy="9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" name="Line 660">
              <a:extLst>
                <a:ext uri="{FF2B5EF4-FFF2-40B4-BE49-F238E27FC236}">
                  <a16:creationId xmlns:a16="http://schemas.microsoft.com/office/drawing/2014/main" id="{F2BCD74E-02CE-48BA-91FB-2627C53E9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64" y="3528000"/>
              <a:ext cx="72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" name="Line 714">
              <a:extLst>
                <a:ext uri="{FF2B5EF4-FFF2-40B4-BE49-F238E27FC236}">
                  <a16:creationId xmlns:a16="http://schemas.microsoft.com/office/drawing/2014/main" id="{6B9E9772-8AE8-4FDB-BE46-958939155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048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Line 680">
              <a:extLst>
                <a:ext uri="{FF2B5EF4-FFF2-40B4-BE49-F238E27FC236}">
                  <a16:creationId xmlns:a16="http://schemas.microsoft.com/office/drawing/2014/main" id="{76330083-9609-477E-BD6D-1535AB9B6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32" y="2520016"/>
              <a:ext cx="0" cy="12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Line 663">
              <a:extLst>
                <a:ext uri="{FF2B5EF4-FFF2-40B4-BE49-F238E27FC236}">
                  <a16:creationId xmlns:a16="http://schemas.microsoft.com/office/drawing/2014/main" id="{9F7E98BC-5BD2-44C7-B580-44C35D5BB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9125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Line 678">
              <a:extLst>
                <a:ext uri="{FF2B5EF4-FFF2-40B4-BE49-F238E27FC236}">
                  <a16:creationId xmlns:a16="http://schemas.microsoft.com/office/drawing/2014/main" id="{0F6A195E-52D3-4BD7-ADC2-D8B08C6A7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9936" y="2520016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Line 656">
              <a:extLst>
                <a:ext uri="{FF2B5EF4-FFF2-40B4-BE49-F238E27FC236}">
                  <a16:creationId xmlns:a16="http://schemas.microsoft.com/office/drawing/2014/main" id="{2FFF6B5E-6A8F-45CE-839E-CD155AAB4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029" y="252001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Line 656">
              <a:extLst>
                <a:ext uri="{FF2B5EF4-FFF2-40B4-BE49-F238E27FC236}">
                  <a16:creationId xmlns:a16="http://schemas.microsoft.com/office/drawing/2014/main" id="{7AE53708-E758-4077-815E-6DF2AB693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1904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Line 656">
              <a:extLst>
                <a:ext uri="{FF2B5EF4-FFF2-40B4-BE49-F238E27FC236}">
                  <a16:creationId xmlns:a16="http://schemas.microsoft.com/office/drawing/2014/main" id="{6C223040-F23C-4F41-8FF7-429058519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904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Line 656">
              <a:extLst>
                <a:ext uri="{FF2B5EF4-FFF2-40B4-BE49-F238E27FC236}">
                  <a16:creationId xmlns:a16="http://schemas.microsoft.com/office/drawing/2014/main" id="{B898615C-1EFD-44E3-B546-1FEACCA1F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5920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Line 656">
              <a:extLst>
                <a:ext uri="{FF2B5EF4-FFF2-40B4-BE49-F238E27FC236}">
                  <a16:creationId xmlns:a16="http://schemas.microsoft.com/office/drawing/2014/main" id="{CAE86C41-DD03-46D1-8967-A5BBD4336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920" y="25284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Line 656">
              <a:extLst>
                <a:ext uri="{FF2B5EF4-FFF2-40B4-BE49-F238E27FC236}">
                  <a16:creationId xmlns:a16="http://schemas.microsoft.com/office/drawing/2014/main" id="{4E9DBB3C-22E2-4345-BAB0-1D7B44996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9936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Line 656">
              <a:extLst>
                <a:ext uri="{FF2B5EF4-FFF2-40B4-BE49-F238E27FC236}">
                  <a16:creationId xmlns:a16="http://schemas.microsoft.com/office/drawing/2014/main" id="{DFA62FCE-AE05-4ABA-B4EA-90FAC53CF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936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" name="Line 656">
              <a:extLst>
                <a:ext uri="{FF2B5EF4-FFF2-40B4-BE49-F238E27FC236}">
                  <a16:creationId xmlns:a16="http://schemas.microsoft.com/office/drawing/2014/main" id="{7B0EE71A-9DC9-448F-9EFC-8DCEAC8005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3952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" name="Line 656">
              <a:extLst>
                <a:ext uri="{FF2B5EF4-FFF2-40B4-BE49-F238E27FC236}">
                  <a16:creationId xmlns:a16="http://schemas.microsoft.com/office/drawing/2014/main" id="{9551CF9B-78E4-4D17-9E80-70239D504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952" y="25284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Line 656">
              <a:extLst>
                <a:ext uri="{FF2B5EF4-FFF2-40B4-BE49-F238E27FC236}">
                  <a16:creationId xmlns:a16="http://schemas.microsoft.com/office/drawing/2014/main" id="{3615C917-C964-4B7A-9A30-F7655BEB3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9109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" name="Line 656">
              <a:extLst>
                <a:ext uri="{FF2B5EF4-FFF2-40B4-BE49-F238E27FC236}">
                  <a16:creationId xmlns:a16="http://schemas.microsoft.com/office/drawing/2014/main" id="{87237FFC-7328-4F2F-9FDA-CFEDBB768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9109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" name="Line 656">
              <a:extLst>
                <a:ext uri="{FF2B5EF4-FFF2-40B4-BE49-F238E27FC236}">
                  <a16:creationId xmlns:a16="http://schemas.microsoft.com/office/drawing/2014/main" id="{E9D83B50-31CA-4763-AB4F-2C5686FB1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125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" name="Line 656">
              <a:extLst>
                <a:ext uri="{FF2B5EF4-FFF2-40B4-BE49-F238E27FC236}">
                  <a16:creationId xmlns:a16="http://schemas.microsoft.com/office/drawing/2014/main" id="{7C828253-91A4-4DF6-957E-BD236DFC0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125" y="25284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5" name="Line 656">
              <a:extLst>
                <a:ext uri="{FF2B5EF4-FFF2-40B4-BE49-F238E27FC236}">
                  <a16:creationId xmlns:a16="http://schemas.microsoft.com/office/drawing/2014/main" id="{846BB876-80C2-466D-A4F5-D31E64D20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7141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" name="Line 656">
              <a:extLst>
                <a:ext uri="{FF2B5EF4-FFF2-40B4-BE49-F238E27FC236}">
                  <a16:creationId xmlns:a16="http://schemas.microsoft.com/office/drawing/2014/main" id="{7946C3A1-1614-49BF-9749-09669AFFB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141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Line 656">
              <a:extLst>
                <a:ext uri="{FF2B5EF4-FFF2-40B4-BE49-F238E27FC236}">
                  <a16:creationId xmlns:a16="http://schemas.microsoft.com/office/drawing/2014/main" id="{89FA74B6-88FF-4DD1-82ED-3F3244A6F6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1157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" name="Line 656">
              <a:extLst>
                <a:ext uri="{FF2B5EF4-FFF2-40B4-BE49-F238E27FC236}">
                  <a16:creationId xmlns:a16="http://schemas.microsoft.com/office/drawing/2014/main" id="{28A59F12-6534-45F3-B679-ADB556284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1157" y="25284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9" name="Line 656">
              <a:extLst>
                <a:ext uri="{FF2B5EF4-FFF2-40B4-BE49-F238E27FC236}">
                  <a16:creationId xmlns:a16="http://schemas.microsoft.com/office/drawing/2014/main" id="{4B466A00-A21C-49DF-9F98-44C688764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4032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0" name="Line 656">
              <a:extLst>
                <a:ext uri="{FF2B5EF4-FFF2-40B4-BE49-F238E27FC236}">
                  <a16:creationId xmlns:a16="http://schemas.microsoft.com/office/drawing/2014/main" id="{A7EF9F22-CE11-4D7A-BCA2-BA5CF6A60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32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" name="Line 656">
              <a:extLst>
                <a:ext uri="{FF2B5EF4-FFF2-40B4-BE49-F238E27FC236}">
                  <a16:creationId xmlns:a16="http://schemas.microsoft.com/office/drawing/2014/main" id="{3DFA3512-DBFE-4662-AC01-026D06D72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8048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Line 656">
              <a:extLst>
                <a:ext uri="{FF2B5EF4-FFF2-40B4-BE49-F238E27FC236}">
                  <a16:creationId xmlns:a16="http://schemas.microsoft.com/office/drawing/2014/main" id="{7D483591-2D5E-4809-9822-B8147D332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48" y="25284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Line 656">
              <a:extLst>
                <a:ext uri="{FF2B5EF4-FFF2-40B4-BE49-F238E27FC236}">
                  <a16:creationId xmlns:a16="http://schemas.microsoft.com/office/drawing/2014/main" id="{46F19D09-0456-46CD-9141-49B10DFFB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53205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Line 656">
              <a:extLst>
                <a:ext uri="{FF2B5EF4-FFF2-40B4-BE49-F238E27FC236}">
                  <a16:creationId xmlns:a16="http://schemas.microsoft.com/office/drawing/2014/main" id="{913E9E4B-2944-4450-87D5-802D3E8EB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6080" y="2520016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Line 656">
              <a:extLst>
                <a:ext uri="{FF2B5EF4-FFF2-40B4-BE49-F238E27FC236}">
                  <a16:creationId xmlns:a16="http://schemas.microsoft.com/office/drawing/2014/main" id="{4210B1B3-3D24-489B-BDB3-BE63E19B4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3968" y="277200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Line 663">
              <a:extLst>
                <a:ext uri="{FF2B5EF4-FFF2-40B4-BE49-F238E27FC236}">
                  <a16:creationId xmlns:a16="http://schemas.microsoft.com/office/drawing/2014/main" id="{B64752A5-1C0D-44C6-AA65-F8DB206A0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5109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Line 663">
              <a:extLst>
                <a:ext uri="{FF2B5EF4-FFF2-40B4-BE49-F238E27FC236}">
                  <a16:creationId xmlns:a16="http://schemas.microsoft.com/office/drawing/2014/main" id="{96683CEB-CFB3-4E3E-8956-37797BD28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093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Line 714">
              <a:extLst>
                <a:ext uri="{FF2B5EF4-FFF2-40B4-BE49-F238E27FC236}">
                  <a16:creationId xmlns:a16="http://schemas.microsoft.com/office/drawing/2014/main" id="{4620C270-BA22-42EB-8D12-2F5F89949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64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" name="Line 714">
              <a:extLst>
                <a:ext uri="{FF2B5EF4-FFF2-40B4-BE49-F238E27FC236}">
                  <a16:creationId xmlns:a16="http://schemas.microsoft.com/office/drawing/2014/main" id="{1E6A4B1F-AB99-4F22-843D-088047EB5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80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" name="Line 714">
              <a:extLst>
                <a:ext uri="{FF2B5EF4-FFF2-40B4-BE49-F238E27FC236}">
                  <a16:creationId xmlns:a16="http://schemas.microsoft.com/office/drawing/2014/main" id="{2CD601E7-1233-4390-A35E-422767E11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6096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1" name="Line 714">
              <a:extLst>
                <a:ext uri="{FF2B5EF4-FFF2-40B4-BE49-F238E27FC236}">
                  <a16:creationId xmlns:a16="http://schemas.microsoft.com/office/drawing/2014/main" id="{C2DD99E7-F959-4687-8EA0-6FA4ED979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0112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" name="Line 714">
              <a:extLst>
                <a:ext uri="{FF2B5EF4-FFF2-40B4-BE49-F238E27FC236}">
                  <a16:creationId xmlns:a16="http://schemas.microsoft.com/office/drawing/2014/main" id="{19BD3BA2-65F7-470F-AF5F-B1ED32C84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4128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" name="Line 656">
              <a:extLst>
                <a:ext uri="{FF2B5EF4-FFF2-40B4-BE49-F238E27FC236}">
                  <a16:creationId xmlns:a16="http://schemas.microsoft.com/office/drawing/2014/main" id="{6715B59F-0EB1-4D74-A0CE-4AF3AF855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2064" y="234000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" name="Line 656">
              <a:extLst>
                <a:ext uri="{FF2B5EF4-FFF2-40B4-BE49-F238E27FC236}">
                  <a16:creationId xmlns:a16="http://schemas.microsoft.com/office/drawing/2014/main" id="{AEDD0960-042D-4AE0-B1F2-B4B496674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6080" y="234000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Text Box 707">
              <a:extLst>
                <a:ext uri="{FF2B5EF4-FFF2-40B4-BE49-F238E27FC236}">
                  <a16:creationId xmlns:a16="http://schemas.microsoft.com/office/drawing/2014/main" id="{4310A331-848D-4744-B84E-FDE22E71B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852000"/>
              <a:ext cx="244827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同步控制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信号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无需保持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16" name="Text Box 691">
              <a:extLst>
                <a:ext uri="{FF2B5EF4-FFF2-40B4-BE49-F238E27FC236}">
                  <a16:creationId xmlns:a16="http://schemas.microsoft.com/office/drawing/2014/main" id="{4D9A7F75-38CA-4ED0-A0B7-2AB8D64E9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000" y="2340000"/>
              <a:ext cx="432000" cy="180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sp>
          <p:nvSpPr>
            <p:cNvPr id="517" name="Line 692">
              <a:extLst>
                <a:ext uri="{FF2B5EF4-FFF2-40B4-BE49-F238E27FC236}">
                  <a16:creationId xmlns:a16="http://schemas.microsoft.com/office/drawing/2014/main" id="{656C0AC8-16D8-4982-9034-7FE468E0B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016" y="2844000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Line 660">
              <a:extLst>
                <a:ext uri="{FF2B5EF4-FFF2-40B4-BE49-F238E27FC236}">
                  <a16:creationId xmlns:a16="http://schemas.microsoft.com/office/drawing/2014/main" id="{804ED6F8-DBA8-4919-9ADE-6880B28B3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45" y="2844000"/>
              <a:ext cx="216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Line 714">
              <a:extLst>
                <a:ext uri="{FF2B5EF4-FFF2-40B4-BE49-F238E27FC236}">
                  <a16:creationId xmlns:a16="http://schemas.microsoft.com/office/drawing/2014/main" id="{379FEC24-639A-43BE-93A4-97AB88224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3968" y="2844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Line 663">
              <a:extLst>
                <a:ext uri="{FF2B5EF4-FFF2-40B4-BE49-F238E27FC236}">
                  <a16:creationId xmlns:a16="http://schemas.microsoft.com/office/drawing/2014/main" id="{416F6219-7431-424A-98B0-D42DFCF9D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2844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Line 692">
              <a:extLst>
                <a:ext uri="{FF2B5EF4-FFF2-40B4-BE49-F238E27FC236}">
                  <a16:creationId xmlns:a16="http://schemas.microsoft.com/office/drawing/2014/main" id="{0CA829CF-75B1-42E8-8BB2-4C86F9D11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016" y="327600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Line 660">
              <a:extLst>
                <a:ext uri="{FF2B5EF4-FFF2-40B4-BE49-F238E27FC236}">
                  <a16:creationId xmlns:a16="http://schemas.microsoft.com/office/drawing/2014/main" id="{557FF32A-445C-4334-A34D-B5E5FC9B5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45" y="3096000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Line 714">
              <a:extLst>
                <a:ext uri="{FF2B5EF4-FFF2-40B4-BE49-F238E27FC236}">
                  <a16:creationId xmlns:a16="http://schemas.microsoft.com/office/drawing/2014/main" id="{D9E872BB-FD30-47A1-A0D6-AAD746E1E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3096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Line 663">
              <a:extLst>
                <a:ext uri="{FF2B5EF4-FFF2-40B4-BE49-F238E27FC236}">
                  <a16:creationId xmlns:a16="http://schemas.microsoft.com/office/drawing/2014/main" id="{97BB3D5F-6BAD-453C-B098-7DCEC762B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4048" y="3096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Text Box 694">
              <a:extLst>
                <a:ext uri="{FF2B5EF4-FFF2-40B4-BE49-F238E27FC236}">
                  <a16:creationId xmlns:a16="http://schemas.microsoft.com/office/drawing/2014/main" id="{5DA69C17-210C-4BE4-9159-F422315D7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2844000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6" name="Text Box 694">
              <a:extLst>
                <a:ext uri="{FF2B5EF4-FFF2-40B4-BE49-F238E27FC236}">
                  <a16:creationId xmlns:a16="http://schemas.microsoft.com/office/drawing/2014/main" id="{0457D1A2-748E-4DA4-A4DB-673F6811C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7" y="3096000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7" name="Line 695">
              <a:extLst>
                <a:ext uri="{FF2B5EF4-FFF2-40B4-BE49-F238E27FC236}">
                  <a16:creationId xmlns:a16="http://schemas.microsoft.com/office/drawing/2014/main" id="{C9B293C0-CBBA-4F1F-BE9D-D82FB293B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896" y="2844000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Line 695">
              <a:extLst>
                <a:ext uri="{FF2B5EF4-FFF2-40B4-BE49-F238E27FC236}">
                  <a16:creationId xmlns:a16="http://schemas.microsoft.com/office/drawing/2014/main" id="{A174A3C9-B504-4E38-966B-255006EEF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897" y="3096000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Line 656">
              <a:extLst>
                <a:ext uri="{FF2B5EF4-FFF2-40B4-BE49-F238E27FC236}">
                  <a16:creationId xmlns:a16="http://schemas.microsoft.com/office/drawing/2014/main" id="{69898251-BDAF-45A5-8E05-2AEE4B799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000" y="2592024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" name="Line 657">
              <a:extLst>
                <a:ext uri="{FF2B5EF4-FFF2-40B4-BE49-F238E27FC236}">
                  <a16:creationId xmlns:a16="http://schemas.microsoft.com/office/drawing/2014/main" id="{38127A61-FF8F-4171-897A-1E5742AA6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000" y="277200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Line 699">
              <a:extLst>
                <a:ext uri="{FF2B5EF4-FFF2-40B4-BE49-F238E27FC236}">
                  <a16:creationId xmlns:a16="http://schemas.microsoft.com/office/drawing/2014/main" id="{19AB0600-0403-4808-8D8C-F17E1CF1B4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093" y="2592048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700">
              <a:extLst>
                <a:ext uri="{FF2B5EF4-FFF2-40B4-BE49-F238E27FC236}">
                  <a16:creationId xmlns:a16="http://schemas.microsoft.com/office/drawing/2014/main" id="{766F17D2-642F-432A-8F07-887FA8AAD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093" y="2592048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Line 699">
              <a:extLst>
                <a:ext uri="{FF2B5EF4-FFF2-40B4-BE49-F238E27FC236}">
                  <a16:creationId xmlns:a16="http://schemas.microsoft.com/office/drawing/2014/main" id="{07B28C63-A908-4CCC-846B-F5FF99D10A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2592024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Line 700">
              <a:extLst>
                <a:ext uri="{FF2B5EF4-FFF2-40B4-BE49-F238E27FC236}">
                  <a16:creationId xmlns:a16="http://schemas.microsoft.com/office/drawing/2014/main" id="{39C3BB97-0C11-4C45-AEA7-683D68917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2592024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Line 675">
              <a:extLst>
                <a:ext uri="{FF2B5EF4-FFF2-40B4-BE49-F238E27FC236}">
                  <a16:creationId xmlns:a16="http://schemas.microsoft.com/office/drawing/2014/main" id="{14FFD1AA-4564-4561-9D56-78E5A0CAA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016" y="259202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656">
              <a:extLst>
                <a:ext uri="{FF2B5EF4-FFF2-40B4-BE49-F238E27FC236}">
                  <a16:creationId xmlns:a16="http://schemas.microsoft.com/office/drawing/2014/main" id="{0CEC7EAC-7E16-4E63-A131-1FC598109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016" y="277200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Line 678">
              <a:extLst>
                <a:ext uri="{FF2B5EF4-FFF2-40B4-BE49-F238E27FC236}">
                  <a16:creationId xmlns:a16="http://schemas.microsoft.com/office/drawing/2014/main" id="{7BDBC012-00E2-4513-AAB6-CF859DF56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024" y="2520016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8" name="Line 660">
              <a:extLst>
                <a:ext uri="{FF2B5EF4-FFF2-40B4-BE49-F238E27FC236}">
                  <a16:creationId xmlns:a16="http://schemas.microsoft.com/office/drawing/2014/main" id="{7D3B87BE-83DC-4086-B19D-FE33BAE0E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984" y="3024000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Line 692">
              <a:extLst>
                <a:ext uri="{FF2B5EF4-FFF2-40B4-BE49-F238E27FC236}">
                  <a16:creationId xmlns:a16="http://schemas.microsoft.com/office/drawing/2014/main" id="{5A68D92F-9F31-4557-AD06-05AD3619A2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184" y="3096000"/>
              <a:ext cx="72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663">
              <a:extLst>
                <a:ext uri="{FF2B5EF4-FFF2-40B4-BE49-F238E27FC236}">
                  <a16:creationId xmlns:a16="http://schemas.microsoft.com/office/drawing/2014/main" id="{36533489-1555-4E9A-8BA8-2D9CC2245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3141" y="334800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1" name="组合 540">
            <a:extLst>
              <a:ext uri="{FF2B5EF4-FFF2-40B4-BE49-F238E27FC236}">
                <a16:creationId xmlns:a16="http://schemas.microsoft.com/office/drawing/2014/main" id="{D7E0661A-DD82-4EA0-B636-5BC0E177A380}"/>
              </a:ext>
            </a:extLst>
          </p:cNvPr>
          <p:cNvGrpSpPr/>
          <p:nvPr/>
        </p:nvGrpSpPr>
        <p:grpSpPr>
          <a:xfrm>
            <a:off x="4283968" y="692696"/>
            <a:ext cx="4680000" cy="828000"/>
            <a:chOff x="3996000" y="468000"/>
            <a:chExt cx="4680000" cy="828000"/>
          </a:xfrm>
        </p:grpSpPr>
        <p:sp>
          <p:nvSpPr>
            <p:cNvPr id="542" name="Text Box 509">
              <a:extLst>
                <a:ext uri="{FF2B5EF4-FFF2-40B4-BE49-F238E27FC236}">
                  <a16:creationId xmlns:a16="http://schemas.microsoft.com/office/drawing/2014/main" id="{E7E755FC-9B41-403C-87C6-F57E3BF13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000" y="1044000"/>
              <a:ext cx="1512000" cy="21600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543" name="Line 514">
              <a:extLst>
                <a:ext uri="{FF2B5EF4-FFF2-40B4-BE49-F238E27FC236}">
                  <a16:creationId xmlns:a16="http://schemas.microsoft.com/office/drawing/2014/main" id="{C447B332-F2DF-44C1-864A-AADE277AD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8000" y="1296000"/>
              <a:ext cx="417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0" tIns="10800" rIns="0" bIns="10800"/>
            <a:lstStyle/>
            <a:p>
              <a:endParaRPr lang="zh-CN" altLang="en-US"/>
            </a:p>
          </p:txBody>
        </p:sp>
        <p:sp>
          <p:nvSpPr>
            <p:cNvPr id="544" name="Text Box 509">
              <a:extLst>
                <a:ext uri="{FF2B5EF4-FFF2-40B4-BE49-F238E27FC236}">
                  <a16:creationId xmlns:a16="http://schemas.microsoft.com/office/drawing/2014/main" id="{60FD0AEA-873E-4F51-B861-9E18B0355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000" y="468000"/>
              <a:ext cx="43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</a:p>
            <a:p>
              <a:pPr algn="ctr">
                <a:lnSpc>
                  <a:spcPct val="90000"/>
                </a:lnSpc>
                <a:spcBef>
                  <a:spcPts val="4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BUS</a:t>
              </a:r>
            </a:p>
            <a:p>
              <a:pPr algn="ctr">
                <a:lnSpc>
                  <a:spcPct val="90000"/>
                </a:lnSpc>
                <a:spcBef>
                  <a:spcPts val="400"/>
                </a:spcBef>
              </a:pP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MEM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5" name="Text Box 509">
              <a:extLst>
                <a:ext uri="{FF2B5EF4-FFF2-40B4-BE49-F238E27FC236}">
                  <a16:creationId xmlns:a16="http://schemas.microsoft.com/office/drawing/2014/main" id="{07AAB5D9-570D-47BB-A949-F0B2D3B36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1044000"/>
              <a:ext cx="1008000" cy="21600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响应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</a:t>
              </a:r>
            </a:p>
          </p:txBody>
        </p:sp>
        <p:sp>
          <p:nvSpPr>
            <p:cNvPr id="546" name="Text Box 509">
              <a:extLst>
                <a:ext uri="{FF2B5EF4-FFF2-40B4-BE49-F238E27FC236}">
                  <a16:creationId xmlns:a16="http://schemas.microsoft.com/office/drawing/2014/main" id="{0B177A32-6322-4156-A2C4-1D208C970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480" y="756000"/>
              <a:ext cx="374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传输</a:t>
              </a:r>
            </a:p>
          </p:txBody>
        </p:sp>
        <p:sp>
          <p:nvSpPr>
            <p:cNvPr id="547" name="Text Box 509">
              <a:extLst>
                <a:ext uri="{FF2B5EF4-FFF2-40B4-BE49-F238E27FC236}">
                  <a16:creationId xmlns:a16="http://schemas.microsoft.com/office/drawing/2014/main" id="{BB5974F4-C8A4-4B32-B11B-4CD586A17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480" y="468000"/>
              <a:ext cx="158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发送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</a:p>
          </p:txBody>
        </p:sp>
        <p:sp>
          <p:nvSpPr>
            <p:cNvPr id="548" name="Text Box 509">
              <a:extLst>
                <a:ext uri="{FF2B5EF4-FFF2-40B4-BE49-F238E27FC236}">
                  <a16:creationId xmlns:a16="http://schemas.microsoft.com/office/drawing/2014/main" id="{96D06B0D-C2CB-4356-8143-50797302C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000" y="468000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撤销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信号</a:t>
              </a:r>
            </a:p>
          </p:txBody>
        </p:sp>
        <p:sp>
          <p:nvSpPr>
            <p:cNvPr id="549" name="Text Box 509">
              <a:extLst>
                <a:ext uri="{FF2B5EF4-FFF2-40B4-BE49-F238E27FC236}">
                  <a16:creationId xmlns:a16="http://schemas.microsoft.com/office/drawing/2014/main" id="{4B7C5B90-8CB2-4F37-9B08-F94D4416F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4000" y="468000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550" name="Text Box 509">
              <a:extLst>
                <a:ext uri="{FF2B5EF4-FFF2-40B4-BE49-F238E27FC236}">
                  <a16:creationId xmlns:a16="http://schemas.microsoft.com/office/drawing/2014/main" id="{29652B7C-B61C-4A17-A9DA-401BB817D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8000" y="1044000"/>
              <a:ext cx="936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结束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</a:t>
              </a:r>
            </a:p>
          </p:txBody>
        </p:sp>
        <p:sp>
          <p:nvSpPr>
            <p:cNvPr id="551" name="Text Box 509">
              <a:extLst>
                <a:ext uri="{FF2B5EF4-FFF2-40B4-BE49-F238E27FC236}">
                  <a16:creationId xmlns:a16="http://schemas.microsoft.com/office/drawing/2014/main" id="{4382EEE7-49D6-42EF-BD1F-895EE9591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4000" y="756000"/>
              <a:ext cx="252000" cy="2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闲</a:t>
              </a:r>
            </a:p>
          </p:txBody>
        </p:sp>
        <p:sp>
          <p:nvSpPr>
            <p:cNvPr id="552" name="Text Box 509">
              <a:extLst>
                <a:ext uri="{FF2B5EF4-FFF2-40B4-BE49-F238E27FC236}">
                  <a16:creationId xmlns:a16="http://schemas.microsoft.com/office/drawing/2014/main" id="{93205D1A-65A0-46A0-BA83-C63D29A23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756000"/>
              <a:ext cx="252000" cy="2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闲</a:t>
              </a:r>
            </a:p>
          </p:txBody>
        </p:sp>
        <p:sp>
          <p:nvSpPr>
            <p:cNvPr id="553" name="Line 306">
              <a:extLst>
                <a:ext uri="{FF2B5EF4-FFF2-40B4-BE49-F238E27FC236}">
                  <a16:creationId xmlns:a16="http://schemas.microsoft.com/office/drawing/2014/main" id="{662C3BF5-CF2C-42BD-8E02-E84EFA9F8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000" y="684000"/>
              <a:ext cx="288000" cy="36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" name="Line 306">
              <a:extLst>
                <a:ext uri="{FF2B5EF4-FFF2-40B4-BE49-F238E27FC236}">
                  <a16:creationId xmlns:a16="http://schemas.microsoft.com/office/drawing/2014/main" id="{F9709B29-9DB9-41A4-BC0F-11C534A2C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5521" y="684000"/>
              <a:ext cx="288000" cy="36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Line 306">
              <a:extLst>
                <a:ext uri="{FF2B5EF4-FFF2-40B4-BE49-F238E27FC236}">
                  <a16:creationId xmlns:a16="http://schemas.microsoft.com/office/drawing/2014/main" id="{97DAEBAA-68CB-4C02-8049-8592B69C8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0000" y="684000"/>
              <a:ext cx="288000" cy="36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6" name="组合 555">
            <a:extLst>
              <a:ext uri="{FF2B5EF4-FFF2-40B4-BE49-F238E27FC236}">
                <a16:creationId xmlns:a16="http://schemas.microsoft.com/office/drawing/2014/main" id="{2B456A90-7A51-4A0B-AE32-82E0BB77201D}"/>
              </a:ext>
            </a:extLst>
          </p:cNvPr>
          <p:cNvGrpSpPr/>
          <p:nvPr/>
        </p:nvGrpSpPr>
        <p:grpSpPr>
          <a:xfrm>
            <a:off x="4284000" y="1556792"/>
            <a:ext cx="3528360" cy="216000"/>
            <a:chOff x="3959640" y="1322875"/>
            <a:chExt cx="3528360" cy="216000"/>
          </a:xfrm>
        </p:grpSpPr>
        <p:sp>
          <p:nvSpPr>
            <p:cNvPr id="557" name="Line 274">
              <a:extLst>
                <a:ext uri="{FF2B5EF4-FFF2-40B4-BE49-F238E27FC236}">
                  <a16:creationId xmlns:a16="http://schemas.microsoft.com/office/drawing/2014/main" id="{5A002D53-1285-41A5-BB68-038B38AEE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66875" y="1368000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Line 352">
              <a:extLst>
                <a:ext uri="{FF2B5EF4-FFF2-40B4-BE49-F238E27FC236}">
                  <a16:creationId xmlns:a16="http://schemas.microsoft.com/office/drawing/2014/main" id="{A7BC2667-BAE5-4CF0-A6F9-2CD49031A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4000" y="1368000"/>
              <a:ext cx="14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352">
              <a:extLst>
                <a:ext uri="{FF2B5EF4-FFF2-40B4-BE49-F238E27FC236}">
                  <a16:creationId xmlns:a16="http://schemas.microsoft.com/office/drawing/2014/main" id="{CB516EE4-30B1-447A-BFC2-668B6A569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875" y="1512000"/>
              <a:ext cx="100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Line 274">
              <a:extLst>
                <a:ext uri="{FF2B5EF4-FFF2-40B4-BE49-F238E27FC236}">
                  <a16:creationId xmlns:a16="http://schemas.microsoft.com/office/drawing/2014/main" id="{57A5B4E1-54C0-4323-9EAD-7709363DA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6000" y="1368000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Line 352">
              <a:extLst>
                <a:ext uri="{FF2B5EF4-FFF2-40B4-BE49-F238E27FC236}">
                  <a16:creationId xmlns:a16="http://schemas.microsoft.com/office/drawing/2014/main" id="{6E57F885-090B-4746-A0D3-1439780B34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6000" y="1368000"/>
              <a:ext cx="1512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2" name="Text Box 509">
              <a:extLst>
                <a:ext uri="{FF2B5EF4-FFF2-40B4-BE49-F238E27FC236}">
                  <a16:creationId xmlns:a16="http://schemas.microsoft.com/office/drawing/2014/main" id="{F627EBE3-51C8-4346-B510-4C468A1DC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640" y="1322875"/>
              <a:ext cx="82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状态</a:t>
              </a:r>
            </a:p>
          </p:txBody>
        </p:sp>
      </p:grpSp>
      <p:sp>
        <p:nvSpPr>
          <p:cNvPr id="563" name="Text Box 509">
            <a:extLst>
              <a:ext uri="{FF2B5EF4-FFF2-40B4-BE49-F238E27FC236}">
                <a16:creationId xmlns:a16="http://schemas.microsoft.com/office/drawing/2014/main" id="{80A75F1C-9B36-4DEA-AE19-CC9BF3EA9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484784"/>
            <a:ext cx="298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10800" rIns="0" bIns="1080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u="none" dirty="0">
                <a:latin typeface="宋体" panose="02010600030101010101" pitchFamily="2" charset="-122"/>
              </a:rPr>
              <a:t>时延用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状态线</a:t>
            </a:r>
            <a:r>
              <a:rPr lang="zh-CN" altLang="en-US" sz="1600" b="1" u="none" dirty="0">
                <a:latin typeface="宋体" panose="02010600030101010101" pitchFamily="2" charset="-122"/>
              </a:rPr>
              <a:t>表示，或口头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约定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564" name="组合 563">
            <a:extLst>
              <a:ext uri="{FF2B5EF4-FFF2-40B4-BE49-F238E27FC236}">
                <a16:creationId xmlns:a16="http://schemas.microsoft.com/office/drawing/2014/main" id="{36987C98-B4BE-4035-8967-94C48BE0E76B}"/>
              </a:ext>
            </a:extLst>
          </p:cNvPr>
          <p:cNvGrpSpPr/>
          <p:nvPr/>
        </p:nvGrpSpPr>
        <p:grpSpPr>
          <a:xfrm>
            <a:off x="791848" y="2564904"/>
            <a:ext cx="2412000" cy="1836000"/>
            <a:chOff x="936000" y="3060000"/>
            <a:chExt cx="2412000" cy="1836000"/>
          </a:xfrm>
        </p:grpSpPr>
        <p:sp>
          <p:nvSpPr>
            <p:cNvPr id="565" name="Line 706">
              <a:extLst>
                <a:ext uri="{FF2B5EF4-FFF2-40B4-BE49-F238E27FC236}">
                  <a16:creationId xmlns:a16="http://schemas.microsoft.com/office/drawing/2014/main" id="{1BBF895D-C131-459F-BD56-58066CFDB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3178" y="3060000"/>
              <a:ext cx="0" cy="136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Text Box 707">
              <a:extLst>
                <a:ext uri="{FF2B5EF4-FFF2-40B4-BE49-F238E27FC236}">
                  <a16:creationId xmlns:a16="http://schemas.microsoft.com/office/drawing/2014/main" id="{E7FAC260-8C33-456C-8790-9C70E37FD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399" y="327600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67" name="Line 708">
              <a:extLst>
                <a:ext uri="{FF2B5EF4-FFF2-40B4-BE49-F238E27FC236}">
                  <a16:creationId xmlns:a16="http://schemas.microsoft.com/office/drawing/2014/main" id="{2A0B0205-AF38-48A5-B85E-D52782803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000" y="3384000"/>
              <a:ext cx="3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709">
              <a:extLst>
                <a:ext uri="{FF2B5EF4-FFF2-40B4-BE49-F238E27FC236}">
                  <a16:creationId xmlns:a16="http://schemas.microsoft.com/office/drawing/2014/main" id="{E3D83334-D7C7-407F-A9C4-F640A77F6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7223" y="3384000"/>
              <a:ext cx="3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Text Box 691">
              <a:extLst>
                <a:ext uri="{FF2B5EF4-FFF2-40B4-BE49-F238E27FC236}">
                  <a16:creationId xmlns:a16="http://schemas.microsoft.com/office/drawing/2014/main" id="{E9F3AFD1-90AA-442F-A753-F86E5F48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464" y="3078000"/>
              <a:ext cx="46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570" name="Line 680">
              <a:extLst>
                <a:ext uri="{FF2B5EF4-FFF2-40B4-BE49-F238E27FC236}">
                  <a16:creationId xmlns:a16="http://schemas.microsoft.com/office/drawing/2014/main" id="{13C04CDF-D56A-4A67-8DB8-1B8CDA4BC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200" y="3312000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678">
              <a:extLst>
                <a:ext uri="{FF2B5EF4-FFF2-40B4-BE49-F238E27FC236}">
                  <a16:creationId xmlns:a16="http://schemas.microsoft.com/office/drawing/2014/main" id="{CC79443F-FD24-4445-80AB-7972AADAE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464" y="3312000"/>
              <a:ext cx="0" cy="97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2" name="Line 680">
              <a:extLst>
                <a:ext uri="{FF2B5EF4-FFF2-40B4-BE49-F238E27FC236}">
                  <a16:creationId xmlns:a16="http://schemas.microsoft.com/office/drawing/2014/main" id="{DDD9D3B0-EC63-4419-B7ED-0DA8FBCAA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232" y="3312000"/>
              <a:ext cx="0" cy="1044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" name="Text Box 707">
              <a:extLst>
                <a:ext uri="{FF2B5EF4-FFF2-40B4-BE49-F238E27FC236}">
                  <a16:creationId xmlns:a16="http://schemas.microsoft.com/office/drawing/2014/main" id="{5017CE07-7465-4AB9-8CD4-B58EA3833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327600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zh-CN" altLang="en-US" sz="1600" b="1" u="none" baseline="-18000" dirty="0">
                  <a:latin typeface="宋体" panose="02010600030101010101" pitchFamily="2" charset="-122"/>
                </a:rPr>
                <a:t>传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74" name="Text Box 691">
              <a:extLst>
                <a:ext uri="{FF2B5EF4-FFF2-40B4-BE49-F238E27FC236}">
                  <a16:creationId xmlns:a16="http://schemas.microsoft.com/office/drawing/2014/main" id="{9156688E-B7F9-4DAD-BD18-053509BC8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524" y="4356000"/>
              <a:ext cx="108000" cy="18000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75" name="Text Box 715">
              <a:extLst>
                <a:ext uri="{FF2B5EF4-FFF2-40B4-BE49-F238E27FC236}">
                  <a16:creationId xmlns:a16="http://schemas.microsoft.com/office/drawing/2014/main" id="{16F4190F-01B2-421C-B72C-7F356612A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192" y="4356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</a:p>
          </p:txBody>
        </p:sp>
        <p:sp>
          <p:nvSpPr>
            <p:cNvPr id="576" name="Line 661">
              <a:extLst>
                <a:ext uri="{FF2B5EF4-FFF2-40B4-BE49-F238E27FC236}">
                  <a16:creationId xmlns:a16="http://schemas.microsoft.com/office/drawing/2014/main" id="{EAEEA45E-F411-4E40-8391-72229A42B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464" y="4446000"/>
              <a:ext cx="12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Line 665">
              <a:extLst>
                <a:ext uri="{FF2B5EF4-FFF2-40B4-BE49-F238E27FC236}">
                  <a16:creationId xmlns:a16="http://schemas.microsoft.com/office/drawing/2014/main" id="{DB409A23-DC45-474E-BBDF-18E614EBC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457" y="4356000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0" name="Line 666">
              <a:extLst>
                <a:ext uri="{FF2B5EF4-FFF2-40B4-BE49-F238E27FC236}">
                  <a16:creationId xmlns:a16="http://schemas.microsoft.com/office/drawing/2014/main" id="{5B1FCAD2-7A47-423C-8FF1-AEA9AC671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7457" y="4536000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9" name="Text Box 691">
              <a:extLst>
                <a:ext uri="{FF2B5EF4-FFF2-40B4-BE49-F238E27FC236}">
                  <a16:creationId xmlns:a16="http://schemas.microsoft.com/office/drawing/2014/main" id="{5AE63F6F-5A0C-477B-B698-77851D732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464" y="4356000"/>
              <a:ext cx="46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0" name="Line 663">
              <a:extLst>
                <a:ext uri="{FF2B5EF4-FFF2-40B4-BE49-F238E27FC236}">
                  <a16:creationId xmlns:a16="http://schemas.microsoft.com/office/drawing/2014/main" id="{6C5665C1-11D4-47AE-BE1B-186DC3644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192" y="4356000"/>
              <a:ext cx="72000" cy="9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1" name="Line 663">
              <a:extLst>
                <a:ext uri="{FF2B5EF4-FFF2-40B4-BE49-F238E27FC236}">
                  <a16:creationId xmlns:a16="http://schemas.microsoft.com/office/drawing/2014/main" id="{67FBA5B4-AEEC-4B08-B3AF-3BBF11D08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64192" y="4446000"/>
              <a:ext cx="72000" cy="9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Text Box 707">
              <a:extLst>
                <a:ext uri="{FF2B5EF4-FFF2-40B4-BE49-F238E27FC236}">
                  <a16:creationId xmlns:a16="http://schemas.microsoft.com/office/drawing/2014/main" id="{DCCAE742-54B3-4318-8061-CE2305475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000" y="4608000"/>
              <a:ext cx="241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异步控制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信号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一直保持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693" name="Text Box 694">
              <a:extLst>
                <a:ext uri="{FF2B5EF4-FFF2-40B4-BE49-F238E27FC236}">
                  <a16:creationId xmlns:a16="http://schemas.microsoft.com/office/drawing/2014/main" id="{8B6418DD-1AEF-4007-A469-F242B9D6A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464" y="3834000"/>
              <a:ext cx="287338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94" name="Line 695">
              <a:extLst>
                <a:ext uri="{FF2B5EF4-FFF2-40B4-BE49-F238E27FC236}">
                  <a16:creationId xmlns:a16="http://schemas.microsoft.com/office/drawing/2014/main" id="{03CB881B-290B-4292-806D-694506B27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464" y="3834000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Text Box 694">
              <a:extLst>
                <a:ext uri="{FF2B5EF4-FFF2-40B4-BE49-F238E27FC236}">
                  <a16:creationId xmlns:a16="http://schemas.microsoft.com/office/drawing/2014/main" id="{5B28A2A0-AD2A-45D0-A49A-9E763C014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464" y="3330000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96" name="Text Box 694">
              <a:extLst>
                <a:ext uri="{FF2B5EF4-FFF2-40B4-BE49-F238E27FC236}">
                  <a16:creationId xmlns:a16="http://schemas.microsoft.com/office/drawing/2014/main" id="{4F211CFB-1977-44E8-A4F7-60A318AD9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464" y="3582000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97" name="Line 695">
              <a:extLst>
                <a:ext uri="{FF2B5EF4-FFF2-40B4-BE49-F238E27FC236}">
                  <a16:creationId xmlns:a16="http://schemas.microsoft.com/office/drawing/2014/main" id="{9804483A-3425-4380-993D-24046B0B7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464" y="3330000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" name="Line 695">
              <a:extLst>
                <a:ext uri="{FF2B5EF4-FFF2-40B4-BE49-F238E27FC236}">
                  <a16:creationId xmlns:a16="http://schemas.microsoft.com/office/drawing/2014/main" id="{DFA65321-C42F-4857-8331-F28721E62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464" y="3582000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Line 656">
              <a:extLst>
                <a:ext uri="{FF2B5EF4-FFF2-40B4-BE49-F238E27FC236}">
                  <a16:creationId xmlns:a16="http://schemas.microsoft.com/office/drawing/2014/main" id="{34021042-4477-4180-BFCF-9625858A2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464" y="306000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Line 658">
              <a:extLst>
                <a:ext uri="{FF2B5EF4-FFF2-40B4-BE49-F238E27FC236}">
                  <a16:creationId xmlns:a16="http://schemas.microsoft.com/office/drawing/2014/main" id="{7B9C735C-6604-4BC5-BCE7-BAF6D0D28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336" y="3060000"/>
              <a:ext cx="936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Line 659">
              <a:extLst>
                <a:ext uri="{FF2B5EF4-FFF2-40B4-BE49-F238E27FC236}">
                  <a16:creationId xmlns:a16="http://schemas.microsoft.com/office/drawing/2014/main" id="{7DFE52EA-074A-4703-85F7-7229B3703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336" y="3239980"/>
              <a:ext cx="936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Line 675">
              <a:extLst>
                <a:ext uri="{FF2B5EF4-FFF2-40B4-BE49-F238E27FC236}">
                  <a16:creationId xmlns:a16="http://schemas.microsoft.com/office/drawing/2014/main" id="{92CB0AC5-3D7A-4E8B-8044-F669951989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7694" y="306000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Line 676">
              <a:extLst>
                <a:ext uri="{FF2B5EF4-FFF2-40B4-BE49-F238E27FC236}">
                  <a16:creationId xmlns:a16="http://schemas.microsoft.com/office/drawing/2014/main" id="{2D1892DF-2F17-4DB2-AA79-F730B0389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264" y="323998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Line 692">
              <a:extLst>
                <a:ext uri="{FF2B5EF4-FFF2-40B4-BE49-F238E27FC236}">
                  <a16:creationId xmlns:a16="http://schemas.microsoft.com/office/drawing/2014/main" id="{75624C3C-0BFE-4932-9D8E-6AAAA929C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3946" y="3815980"/>
              <a:ext cx="93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Line 699">
              <a:extLst>
                <a:ext uri="{FF2B5EF4-FFF2-40B4-BE49-F238E27FC236}">
                  <a16:creationId xmlns:a16="http://schemas.microsoft.com/office/drawing/2014/main" id="{15810FBB-B089-4A40-8A11-2A822C7B9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3205" y="3060024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Line 700">
              <a:extLst>
                <a:ext uri="{FF2B5EF4-FFF2-40B4-BE49-F238E27FC236}">
                  <a16:creationId xmlns:a16="http://schemas.microsoft.com/office/drawing/2014/main" id="{5F00BC18-BBFC-4FB3-872A-CF95AFDF6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3205" y="3060024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Line 660">
              <a:extLst>
                <a:ext uri="{FF2B5EF4-FFF2-40B4-BE49-F238E27FC236}">
                  <a16:creationId xmlns:a16="http://schemas.microsoft.com/office/drawing/2014/main" id="{1B80EF76-E296-4DDC-9F66-AE8FC60D9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464" y="3995980"/>
              <a:ext cx="43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" name="Line 699">
              <a:extLst>
                <a:ext uri="{FF2B5EF4-FFF2-40B4-BE49-F238E27FC236}">
                  <a16:creationId xmlns:a16="http://schemas.microsoft.com/office/drawing/2014/main" id="{0B871B6D-4626-46FC-BA90-9A9AB04AC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819" y="3060868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9" name="Line 700">
              <a:extLst>
                <a:ext uri="{FF2B5EF4-FFF2-40B4-BE49-F238E27FC236}">
                  <a16:creationId xmlns:a16="http://schemas.microsoft.com/office/drawing/2014/main" id="{FC26D742-CC58-4F88-9A39-55F4F73C6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819" y="3060868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0" name="Line 660">
              <a:extLst>
                <a:ext uri="{FF2B5EF4-FFF2-40B4-BE49-F238E27FC236}">
                  <a16:creationId xmlns:a16="http://schemas.microsoft.com/office/drawing/2014/main" id="{89941246-6EF1-465F-8C7D-9E4907637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296" y="3995980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1" name="Line 714">
              <a:extLst>
                <a:ext uri="{FF2B5EF4-FFF2-40B4-BE49-F238E27FC236}">
                  <a16:creationId xmlns:a16="http://schemas.microsoft.com/office/drawing/2014/main" id="{2EF41584-9410-4BEC-8EAB-D5284617C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280" y="3815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" name="Line 663">
              <a:extLst>
                <a:ext uri="{FF2B5EF4-FFF2-40B4-BE49-F238E27FC236}">
                  <a16:creationId xmlns:a16="http://schemas.microsoft.com/office/drawing/2014/main" id="{61DA9B1C-5EDA-48CC-8260-22AFE6207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802" y="3815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3" name="Line 692">
              <a:extLst>
                <a:ext uri="{FF2B5EF4-FFF2-40B4-BE49-F238E27FC236}">
                  <a16:creationId xmlns:a16="http://schemas.microsoft.com/office/drawing/2014/main" id="{13505FC1-88D9-406F-8C02-F5E00365DA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661" y="349198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4" name="Line 660">
              <a:extLst>
                <a:ext uri="{FF2B5EF4-FFF2-40B4-BE49-F238E27FC236}">
                  <a16:creationId xmlns:a16="http://schemas.microsoft.com/office/drawing/2014/main" id="{60D39A3F-CF81-4DFE-AFEE-05A0B0979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464" y="331198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5" name="Line 660">
              <a:extLst>
                <a:ext uri="{FF2B5EF4-FFF2-40B4-BE49-F238E27FC236}">
                  <a16:creationId xmlns:a16="http://schemas.microsoft.com/office/drawing/2014/main" id="{6B77EDE4-E371-4DB3-9026-E6F075619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296" y="3311980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" name="Line 714">
              <a:extLst>
                <a:ext uri="{FF2B5EF4-FFF2-40B4-BE49-F238E27FC236}">
                  <a16:creationId xmlns:a16="http://schemas.microsoft.com/office/drawing/2014/main" id="{27E3F9DE-D916-44FD-8BED-F49213B85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5786" y="3311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" name="Line 663">
              <a:extLst>
                <a:ext uri="{FF2B5EF4-FFF2-40B4-BE49-F238E27FC236}">
                  <a16:creationId xmlns:a16="http://schemas.microsoft.com/office/drawing/2014/main" id="{5C172540-04D1-462A-B7D5-67A13D6E2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2280" y="3311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" name="Line 692">
              <a:extLst>
                <a:ext uri="{FF2B5EF4-FFF2-40B4-BE49-F238E27FC236}">
                  <a16:creationId xmlns:a16="http://schemas.microsoft.com/office/drawing/2014/main" id="{1FBF6282-1B02-4690-AF6C-56FAF5C2CB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7962" y="3743980"/>
              <a:ext cx="7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" name="Line 660">
              <a:extLst>
                <a:ext uri="{FF2B5EF4-FFF2-40B4-BE49-F238E27FC236}">
                  <a16:creationId xmlns:a16="http://schemas.microsoft.com/office/drawing/2014/main" id="{39E66447-4243-4B4A-A7B5-4B0F5C849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464" y="356398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" name="Line 660">
              <a:extLst>
                <a:ext uri="{FF2B5EF4-FFF2-40B4-BE49-F238E27FC236}">
                  <a16:creationId xmlns:a16="http://schemas.microsoft.com/office/drawing/2014/main" id="{5ED18293-6806-4FEF-A121-50479698D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296" y="3563980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" name="Line 714">
              <a:extLst>
                <a:ext uri="{FF2B5EF4-FFF2-40B4-BE49-F238E27FC236}">
                  <a16:creationId xmlns:a16="http://schemas.microsoft.com/office/drawing/2014/main" id="{93604E20-FE9D-43AE-BBC6-F4D2C488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959" y="3563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" name="Line 663">
              <a:extLst>
                <a:ext uri="{FF2B5EF4-FFF2-40B4-BE49-F238E27FC236}">
                  <a16:creationId xmlns:a16="http://schemas.microsoft.com/office/drawing/2014/main" id="{BC8D9AE8-8449-4C15-A667-D4A027F3E9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2280" y="3563980"/>
              <a:ext cx="142875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" name="Line 657">
              <a:extLst>
                <a:ext uri="{FF2B5EF4-FFF2-40B4-BE49-F238E27FC236}">
                  <a16:creationId xmlns:a16="http://schemas.microsoft.com/office/drawing/2014/main" id="{99D2F9E5-DC27-4321-9AF2-F7D53B638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464" y="323998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" name="Line 675">
              <a:extLst>
                <a:ext uri="{FF2B5EF4-FFF2-40B4-BE49-F238E27FC236}">
                  <a16:creationId xmlns:a16="http://schemas.microsoft.com/office/drawing/2014/main" id="{55B48A21-5CD6-4B83-9BE5-2A8E20FF29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6136" y="30610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" name="Line 656">
              <a:extLst>
                <a:ext uri="{FF2B5EF4-FFF2-40B4-BE49-F238E27FC236}">
                  <a16:creationId xmlns:a16="http://schemas.microsoft.com/office/drawing/2014/main" id="{C086BB8D-E216-4292-9FA3-8B53B2B8F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136" y="323998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" name="Line 699">
              <a:extLst>
                <a:ext uri="{FF2B5EF4-FFF2-40B4-BE49-F238E27FC236}">
                  <a16:creationId xmlns:a16="http://schemas.microsoft.com/office/drawing/2014/main" id="{53ED2ABA-72F9-4FB2-A761-F515B7795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4168" y="3060000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" name="Line 700">
              <a:extLst>
                <a:ext uri="{FF2B5EF4-FFF2-40B4-BE49-F238E27FC236}">
                  <a16:creationId xmlns:a16="http://schemas.microsoft.com/office/drawing/2014/main" id="{7A1FC678-6751-41C8-8914-C2572DC25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168" y="3060000"/>
              <a:ext cx="142875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" name="Line 678">
              <a:extLst>
                <a:ext uri="{FF2B5EF4-FFF2-40B4-BE49-F238E27FC236}">
                  <a16:creationId xmlns:a16="http://schemas.microsoft.com/office/drawing/2014/main" id="{5CF53DB3-EAFA-49FE-9982-ECD1171AD6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8464" y="356400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" name="Text Box 691">
              <a:extLst>
                <a:ext uri="{FF2B5EF4-FFF2-40B4-BE49-F238E27FC236}">
                  <a16:creationId xmlns:a16="http://schemas.microsoft.com/office/drawing/2014/main" id="{C5F552A9-92F3-44A4-B782-FF1AA0440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4041088"/>
              <a:ext cx="468000" cy="180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0" name="Line 692">
              <a:extLst>
                <a:ext uri="{FF2B5EF4-FFF2-40B4-BE49-F238E27FC236}">
                  <a16:creationId xmlns:a16="http://schemas.microsoft.com/office/drawing/2014/main" id="{DD4D85DB-54E0-42A9-9E52-1B10868C4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4000" y="4284000"/>
              <a:ext cx="72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" name="Line 660">
              <a:extLst>
                <a:ext uri="{FF2B5EF4-FFF2-40B4-BE49-F238E27FC236}">
                  <a16:creationId xmlns:a16="http://schemas.microsoft.com/office/drawing/2014/main" id="{6ECE16D3-F641-47C0-A34D-93A643026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000" y="410400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" name="Line 660">
              <a:extLst>
                <a:ext uri="{FF2B5EF4-FFF2-40B4-BE49-F238E27FC236}">
                  <a16:creationId xmlns:a16="http://schemas.microsoft.com/office/drawing/2014/main" id="{D2438B5F-40B9-45B0-B83C-EEBBDE745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000" y="4104000"/>
              <a:ext cx="432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" name="Line 714">
              <a:extLst>
                <a:ext uri="{FF2B5EF4-FFF2-40B4-BE49-F238E27FC236}">
                  <a16:creationId xmlns:a16="http://schemas.microsoft.com/office/drawing/2014/main" id="{A16AFD56-4E00-47C8-8861-762C24976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0000" y="4104000"/>
              <a:ext cx="142875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" name="Line 663">
              <a:extLst>
                <a:ext uri="{FF2B5EF4-FFF2-40B4-BE49-F238E27FC236}">
                  <a16:creationId xmlns:a16="http://schemas.microsoft.com/office/drawing/2014/main" id="{829E2DF2-43B4-468D-B4E3-6720088101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000" y="4104000"/>
              <a:ext cx="142875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" name="Line 708">
              <a:extLst>
                <a:ext uri="{FF2B5EF4-FFF2-40B4-BE49-F238E27FC236}">
                  <a16:creationId xmlns:a16="http://schemas.microsoft.com/office/drawing/2014/main" id="{33D96C2B-09E3-4771-B8AD-3D75CD032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4032000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6" name="Line 709">
              <a:extLst>
                <a:ext uri="{FF2B5EF4-FFF2-40B4-BE49-F238E27FC236}">
                  <a16:creationId xmlns:a16="http://schemas.microsoft.com/office/drawing/2014/main" id="{D173FA31-2775-4C57-B363-87C523DD8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000" y="4032000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" name="Text Box 707">
              <a:extLst>
                <a:ext uri="{FF2B5EF4-FFF2-40B4-BE49-F238E27FC236}">
                  <a16:creationId xmlns:a16="http://schemas.microsoft.com/office/drawing/2014/main" id="{C4B1CED6-8173-404A-BF85-6A55D1CF5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833" y="3919624"/>
              <a:ext cx="3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38" name="组合 737">
            <a:extLst>
              <a:ext uri="{FF2B5EF4-FFF2-40B4-BE49-F238E27FC236}">
                <a16:creationId xmlns:a16="http://schemas.microsoft.com/office/drawing/2014/main" id="{D5F80825-0D14-4785-92C2-74F325C4C29D}"/>
              </a:ext>
            </a:extLst>
          </p:cNvPr>
          <p:cNvGrpSpPr/>
          <p:nvPr/>
        </p:nvGrpSpPr>
        <p:grpSpPr>
          <a:xfrm>
            <a:off x="1080032" y="5301208"/>
            <a:ext cx="3780000" cy="1080000"/>
            <a:chOff x="1080032" y="3636000"/>
            <a:chExt cx="3780000" cy="1080000"/>
          </a:xfrm>
        </p:grpSpPr>
        <p:sp>
          <p:nvSpPr>
            <p:cNvPr id="739" name="Line 461">
              <a:extLst>
                <a:ext uri="{FF2B5EF4-FFF2-40B4-BE49-F238E27FC236}">
                  <a16:creationId xmlns:a16="http://schemas.microsoft.com/office/drawing/2014/main" id="{DBA5954D-DED7-4063-9A58-F87642619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761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0" name="Line 466">
              <a:extLst>
                <a:ext uri="{FF2B5EF4-FFF2-40B4-BE49-F238E27FC236}">
                  <a16:creationId xmlns:a16="http://schemas.microsoft.com/office/drawing/2014/main" id="{95C5062B-83C2-4034-88C2-0D7DFAB9E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3600" y="3816024"/>
              <a:ext cx="142875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1" name="Line 467">
              <a:extLst>
                <a:ext uri="{FF2B5EF4-FFF2-40B4-BE49-F238E27FC236}">
                  <a16:creationId xmlns:a16="http://schemas.microsoft.com/office/drawing/2014/main" id="{C095DA7A-72E3-4730-A6D1-0235CA39A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2" name="Line 514">
              <a:extLst>
                <a:ext uri="{FF2B5EF4-FFF2-40B4-BE49-F238E27FC236}">
                  <a16:creationId xmlns:a16="http://schemas.microsoft.com/office/drawing/2014/main" id="{DFEF2DF8-164E-432F-A10A-869C18637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640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3" name="Line 467">
              <a:extLst>
                <a:ext uri="{FF2B5EF4-FFF2-40B4-BE49-F238E27FC236}">
                  <a16:creationId xmlns:a16="http://schemas.microsoft.com/office/drawing/2014/main" id="{649A1BFB-764D-4145-A0CA-78FD5348CE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06324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4" name="Line 514">
              <a:extLst>
                <a:ext uri="{FF2B5EF4-FFF2-40B4-BE49-F238E27FC236}">
                  <a16:creationId xmlns:a16="http://schemas.microsoft.com/office/drawing/2014/main" id="{C01E9444-1976-4378-B315-0FF665B21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5" name="Line 461">
              <a:extLst>
                <a:ext uri="{FF2B5EF4-FFF2-40B4-BE49-F238E27FC236}">
                  <a16:creationId xmlns:a16="http://schemas.microsoft.com/office/drawing/2014/main" id="{420A0425-EE25-4A88-9C3D-F90C8C06E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8032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6" name="Line 461">
              <a:extLst>
                <a:ext uri="{FF2B5EF4-FFF2-40B4-BE49-F238E27FC236}">
                  <a16:creationId xmlns:a16="http://schemas.microsoft.com/office/drawing/2014/main" id="{A12DF624-9645-4225-9761-AFDB29802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85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" name="Line 461">
              <a:extLst>
                <a:ext uri="{FF2B5EF4-FFF2-40B4-BE49-F238E27FC236}">
                  <a16:creationId xmlns:a16="http://schemas.microsoft.com/office/drawing/2014/main" id="{861A5695-2DB3-447A-B48D-AE5256609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97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" name="Line 514">
              <a:extLst>
                <a:ext uri="{FF2B5EF4-FFF2-40B4-BE49-F238E27FC236}">
                  <a16:creationId xmlns:a16="http://schemas.microsoft.com/office/drawing/2014/main" id="{E6D5ADF8-2E40-4C13-88E4-704FD4D3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032" y="3636000"/>
              <a:ext cx="72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9" name="六边形 748">
              <a:extLst>
                <a:ext uri="{FF2B5EF4-FFF2-40B4-BE49-F238E27FC236}">
                  <a16:creationId xmlns:a16="http://schemas.microsoft.com/office/drawing/2014/main" id="{41B41319-8922-4162-A58A-F92B9E9F64CE}"/>
                </a:ext>
              </a:extLst>
            </p:cNvPr>
            <p:cNvSpPr/>
            <p:nvPr/>
          </p:nvSpPr>
          <p:spPr bwMode="auto">
            <a:xfrm>
              <a:off x="1906475" y="3888032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A1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750" name="Line 514">
              <a:extLst>
                <a:ext uri="{FF2B5EF4-FFF2-40B4-BE49-F238E27FC236}">
                  <a16:creationId xmlns:a16="http://schemas.microsoft.com/office/drawing/2014/main" id="{3A009AA9-D07C-4D20-AA57-6FFA1BE45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3600" y="3996032"/>
              <a:ext cx="1453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1" name="Line 514">
              <a:extLst>
                <a:ext uri="{FF2B5EF4-FFF2-40B4-BE49-F238E27FC236}">
                  <a16:creationId xmlns:a16="http://schemas.microsoft.com/office/drawing/2014/main" id="{2C300EAC-A584-4CE8-98AF-FD13A6326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032" y="3996032"/>
              <a:ext cx="10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2" name="六边形 751">
              <a:extLst>
                <a:ext uri="{FF2B5EF4-FFF2-40B4-BE49-F238E27FC236}">
                  <a16:creationId xmlns:a16="http://schemas.microsoft.com/office/drawing/2014/main" id="{A7612BB2-5401-4B25-9CBA-719A7877ACAA}"/>
                </a:ext>
              </a:extLst>
            </p:cNvPr>
            <p:cNvSpPr/>
            <p:nvPr/>
          </p:nvSpPr>
          <p:spPr bwMode="auto">
            <a:xfrm>
              <a:off x="3347856" y="3888032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A2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753" name="Line 514">
              <a:extLst>
                <a:ext uri="{FF2B5EF4-FFF2-40B4-BE49-F238E27FC236}">
                  <a16:creationId xmlns:a16="http://schemas.microsoft.com/office/drawing/2014/main" id="{73AC174E-5AD9-4BA9-8E30-666A34696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896" y="3996032"/>
              <a:ext cx="11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4" name="Text Box 509">
              <a:extLst>
                <a:ext uri="{FF2B5EF4-FFF2-40B4-BE49-F238E27FC236}">
                  <a16:creationId xmlns:a16="http://schemas.microsoft.com/office/drawing/2014/main" id="{DCFBF05D-FECA-46E2-87E9-AB3EFA797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32" y="3636000"/>
              <a:ext cx="720000" cy="792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CLK</a:t>
              </a:r>
            </a:p>
            <a:p>
              <a:pPr algn="ctr">
                <a:lnSpc>
                  <a:spcPct val="125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地址线</a:t>
              </a:r>
            </a:p>
            <a:p>
              <a:pPr algn="ctr">
                <a:lnSpc>
                  <a:spcPct val="125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数据线</a:t>
              </a:r>
            </a:p>
          </p:txBody>
        </p:sp>
        <p:sp>
          <p:nvSpPr>
            <p:cNvPr id="755" name="六边形 754">
              <a:extLst>
                <a:ext uri="{FF2B5EF4-FFF2-40B4-BE49-F238E27FC236}">
                  <a16:creationId xmlns:a16="http://schemas.microsoft.com/office/drawing/2014/main" id="{C61F7CAC-FEA6-4794-B6DF-23D6DA51FD97}"/>
                </a:ext>
              </a:extLst>
            </p:cNvPr>
            <p:cNvSpPr/>
            <p:nvPr/>
          </p:nvSpPr>
          <p:spPr bwMode="auto">
            <a:xfrm>
              <a:off x="2988032" y="4176024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D1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756" name="六边形 755">
              <a:extLst>
                <a:ext uri="{FF2B5EF4-FFF2-40B4-BE49-F238E27FC236}">
                  <a16:creationId xmlns:a16="http://schemas.microsoft.com/office/drawing/2014/main" id="{82BBE54A-20CB-435F-B820-362445A210FC}"/>
                </a:ext>
              </a:extLst>
            </p:cNvPr>
            <p:cNvSpPr/>
            <p:nvPr/>
          </p:nvSpPr>
          <p:spPr bwMode="auto">
            <a:xfrm>
              <a:off x="4427976" y="4176000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D2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757" name="Line 514">
              <a:extLst>
                <a:ext uri="{FF2B5EF4-FFF2-40B4-BE49-F238E27FC236}">
                  <a16:creationId xmlns:a16="http://schemas.microsoft.com/office/drawing/2014/main" id="{81E4DCB2-22CD-4382-97D5-CB5C93465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3600" y="4284000"/>
              <a:ext cx="12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" name="Line 514">
              <a:extLst>
                <a:ext uri="{FF2B5EF4-FFF2-40B4-BE49-F238E27FC236}">
                  <a16:creationId xmlns:a16="http://schemas.microsoft.com/office/drawing/2014/main" id="{D8B12D7A-8500-4D2D-BE42-83C64F799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856" y="4284000"/>
              <a:ext cx="10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" name="Line 514">
              <a:extLst>
                <a:ext uri="{FF2B5EF4-FFF2-40B4-BE49-F238E27FC236}">
                  <a16:creationId xmlns:a16="http://schemas.microsoft.com/office/drawing/2014/main" id="{FC010DA8-3B13-4077-A37B-345BAE8AB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016" y="4284000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0" name="Text Box 533">
              <a:extLst>
                <a:ext uri="{FF2B5EF4-FFF2-40B4-BE49-F238E27FC236}">
                  <a16:creationId xmlns:a16="http://schemas.microsoft.com/office/drawing/2014/main" id="{CF3CAC1E-AF7B-413F-8BB1-1BB1BF29D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000" y="4068000"/>
              <a:ext cx="288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61" name="Line 461">
              <a:extLst>
                <a:ext uri="{FF2B5EF4-FFF2-40B4-BE49-F238E27FC236}">
                  <a16:creationId xmlns:a16="http://schemas.microsoft.com/office/drawing/2014/main" id="{4F15A6BF-091D-4D51-B13A-463E05717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000" y="41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2" name="Line 461">
              <a:extLst>
                <a:ext uri="{FF2B5EF4-FFF2-40B4-BE49-F238E27FC236}">
                  <a16:creationId xmlns:a16="http://schemas.microsoft.com/office/drawing/2014/main" id="{75D3618E-47DE-4BAB-BAF9-959506BC6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7914" y="41760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3" name="Text Box 533">
              <a:extLst>
                <a:ext uri="{FF2B5EF4-FFF2-40B4-BE49-F238E27FC236}">
                  <a16:creationId xmlns:a16="http://schemas.microsoft.com/office/drawing/2014/main" id="{C437DA5F-1CF1-4245-B0AC-A45D0BF01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00" y="4068000"/>
              <a:ext cx="288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64" name="Line 461">
              <a:extLst>
                <a:ext uri="{FF2B5EF4-FFF2-40B4-BE49-F238E27FC236}">
                  <a16:creationId xmlns:a16="http://schemas.microsoft.com/office/drawing/2014/main" id="{81D53E44-D2A1-427E-A6E1-F01E16ADD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000" y="41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5" name="Line 461">
              <a:extLst>
                <a:ext uri="{FF2B5EF4-FFF2-40B4-BE49-F238E27FC236}">
                  <a16:creationId xmlns:a16="http://schemas.microsoft.com/office/drawing/2014/main" id="{C3AD1419-6659-4B76-822E-37CFA05E3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7856" y="41760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6" name="Text Box 509">
              <a:extLst>
                <a:ext uri="{FF2B5EF4-FFF2-40B4-BE49-F238E27FC236}">
                  <a16:creationId xmlns:a16="http://schemas.microsoft.com/office/drawing/2014/main" id="{00FF0723-DD0C-4111-9BC7-2DAA282DF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000" y="4428000"/>
              <a:ext cx="2736000" cy="288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>
                  <a:solidFill>
                    <a:srgbClr val="990099"/>
                  </a:solidFill>
                  <a:latin typeface="+mn-ea"/>
                  <a:ea typeface="+mn-ea"/>
                </a:rPr>
                <a:t>常规传输模式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zh-CN" altLang="en-US" sz="1600" b="1" u="none" dirty="0">
                  <a:latin typeface="+mn-ea"/>
                  <a:ea typeface="+mn-ea"/>
                </a:rPr>
                <a:t>带宽＝</a:t>
              </a:r>
              <a:r>
                <a:rPr lang="en-US" altLang="zh-CN" sz="1600" b="1" u="none" dirty="0">
                  <a:solidFill>
                    <a:srgbClr val="0070C0"/>
                  </a:solidFill>
                  <a:latin typeface="+mn-ea"/>
                  <a:ea typeface="+mn-ea"/>
                </a:rPr>
                <a:t>w/T</a:t>
              </a:r>
              <a:r>
                <a:rPr lang="en-US" altLang="zh-CN" sz="1600" b="1" u="none" baseline="-18000" dirty="0">
                  <a:solidFill>
                    <a:srgbClr val="0070C0"/>
                  </a:solidFill>
                  <a:latin typeface="+mn-ea"/>
                  <a:ea typeface="+mn-ea"/>
                </a:rPr>
                <a:t>M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767" name="Line 461">
              <a:extLst>
                <a:ext uri="{FF2B5EF4-FFF2-40B4-BE49-F238E27FC236}">
                  <a16:creationId xmlns:a16="http://schemas.microsoft.com/office/drawing/2014/main" id="{8AE3A81D-E3FF-4ADA-B755-4678861BD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01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" name="Line 467">
              <a:extLst>
                <a:ext uri="{FF2B5EF4-FFF2-40B4-BE49-F238E27FC236}">
                  <a16:creationId xmlns:a16="http://schemas.microsoft.com/office/drawing/2014/main" id="{B2E6C0B7-9111-466F-ACCE-538C25401D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4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9" name="Line 514">
              <a:extLst>
                <a:ext uri="{FF2B5EF4-FFF2-40B4-BE49-F238E27FC236}">
                  <a16:creationId xmlns:a16="http://schemas.microsoft.com/office/drawing/2014/main" id="{2ECF1F0E-1476-4288-8E95-695810910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" name="Line 467">
              <a:extLst>
                <a:ext uri="{FF2B5EF4-FFF2-40B4-BE49-F238E27FC236}">
                  <a16:creationId xmlns:a16="http://schemas.microsoft.com/office/drawing/2014/main" id="{9FFB8A96-EF9D-458E-A677-5A0E52163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6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" name="Line 514">
              <a:extLst>
                <a:ext uri="{FF2B5EF4-FFF2-40B4-BE49-F238E27FC236}">
                  <a16:creationId xmlns:a16="http://schemas.microsoft.com/office/drawing/2014/main" id="{C88186A6-F9CA-4CF0-A77C-5F7738827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2" name="Line 467">
              <a:extLst>
                <a:ext uri="{FF2B5EF4-FFF2-40B4-BE49-F238E27FC236}">
                  <a16:creationId xmlns:a16="http://schemas.microsoft.com/office/drawing/2014/main" id="{375D8114-46DD-48CA-8AC9-A8A7CCBD1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3" name="Line 514">
              <a:extLst>
                <a:ext uri="{FF2B5EF4-FFF2-40B4-BE49-F238E27FC236}">
                  <a16:creationId xmlns:a16="http://schemas.microsoft.com/office/drawing/2014/main" id="{83FAB496-136C-474B-B66F-101ACEC62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4" name="Line 467">
              <a:extLst>
                <a:ext uri="{FF2B5EF4-FFF2-40B4-BE49-F238E27FC236}">
                  <a16:creationId xmlns:a16="http://schemas.microsoft.com/office/drawing/2014/main" id="{FD9D303D-F290-4D1D-A078-ED585A3E4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2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5" name="Line 514">
              <a:extLst>
                <a:ext uri="{FF2B5EF4-FFF2-40B4-BE49-F238E27FC236}">
                  <a16:creationId xmlns:a16="http://schemas.microsoft.com/office/drawing/2014/main" id="{2D8971DC-9495-4435-B9DF-E2CC6A80A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6" name="Line 467">
              <a:extLst>
                <a:ext uri="{FF2B5EF4-FFF2-40B4-BE49-F238E27FC236}">
                  <a16:creationId xmlns:a16="http://schemas.microsoft.com/office/drawing/2014/main" id="{BC80A1D2-427C-4506-B6D7-986653C9F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7" name="Line 514">
              <a:extLst>
                <a:ext uri="{FF2B5EF4-FFF2-40B4-BE49-F238E27FC236}">
                  <a16:creationId xmlns:a16="http://schemas.microsoft.com/office/drawing/2014/main" id="{BF6E2EB7-3D25-432F-BA1A-887E9B01A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" name="Line 467">
              <a:extLst>
                <a:ext uri="{FF2B5EF4-FFF2-40B4-BE49-F238E27FC236}">
                  <a16:creationId xmlns:a16="http://schemas.microsoft.com/office/drawing/2014/main" id="{27C3AD6D-C233-45B9-B195-A3D638A2A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" name="Line 514">
              <a:extLst>
                <a:ext uri="{FF2B5EF4-FFF2-40B4-BE49-F238E27FC236}">
                  <a16:creationId xmlns:a16="http://schemas.microsoft.com/office/drawing/2014/main" id="{79ED93AB-3C15-408D-B8B0-46ED8863D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0" name="Line 467">
              <a:extLst>
                <a:ext uri="{FF2B5EF4-FFF2-40B4-BE49-F238E27FC236}">
                  <a16:creationId xmlns:a16="http://schemas.microsoft.com/office/drawing/2014/main" id="{CCF9E917-0BFF-40EB-AEC6-1C5F46CC9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2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1" name="Line 514">
              <a:extLst>
                <a:ext uri="{FF2B5EF4-FFF2-40B4-BE49-F238E27FC236}">
                  <a16:creationId xmlns:a16="http://schemas.microsoft.com/office/drawing/2014/main" id="{7DF5BC69-7192-437F-8826-AAD1DE23C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17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2" name="Line 467">
              <a:extLst>
                <a:ext uri="{FF2B5EF4-FFF2-40B4-BE49-F238E27FC236}">
                  <a16:creationId xmlns:a16="http://schemas.microsoft.com/office/drawing/2014/main" id="{F9E4BD10-6648-4B54-9850-65827EF887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4785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3" name="Line 514">
              <a:extLst>
                <a:ext uri="{FF2B5EF4-FFF2-40B4-BE49-F238E27FC236}">
                  <a16:creationId xmlns:a16="http://schemas.microsoft.com/office/drawing/2014/main" id="{DA83700A-688A-48F2-8D41-5DEA1B7B2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4" name="Line 467">
              <a:extLst>
                <a:ext uri="{FF2B5EF4-FFF2-40B4-BE49-F238E27FC236}">
                  <a16:creationId xmlns:a16="http://schemas.microsoft.com/office/drawing/2014/main" id="{D084AB2E-9E17-4BD7-8A94-529E6897C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5" name="Line 514">
              <a:extLst>
                <a:ext uri="{FF2B5EF4-FFF2-40B4-BE49-F238E27FC236}">
                  <a16:creationId xmlns:a16="http://schemas.microsoft.com/office/drawing/2014/main" id="{771D96FB-308F-4F20-A38E-D635500F4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6" name="Line 467">
              <a:extLst>
                <a:ext uri="{FF2B5EF4-FFF2-40B4-BE49-F238E27FC236}">
                  <a16:creationId xmlns:a16="http://schemas.microsoft.com/office/drawing/2014/main" id="{FAC8C2E3-E16D-4E48-9E7C-C642D2CD4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0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7" name="Line 514">
              <a:extLst>
                <a:ext uri="{FF2B5EF4-FFF2-40B4-BE49-F238E27FC236}">
                  <a16:creationId xmlns:a16="http://schemas.microsoft.com/office/drawing/2014/main" id="{ABA4BE1D-6236-484E-90ED-70C6C8473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" name="Line 467">
              <a:extLst>
                <a:ext uri="{FF2B5EF4-FFF2-40B4-BE49-F238E27FC236}">
                  <a16:creationId xmlns:a16="http://schemas.microsoft.com/office/drawing/2014/main" id="{109301E5-00DF-4D1B-8F9D-FF466A74B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" name="Line 514">
              <a:extLst>
                <a:ext uri="{FF2B5EF4-FFF2-40B4-BE49-F238E27FC236}">
                  <a16:creationId xmlns:a16="http://schemas.microsoft.com/office/drawing/2014/main" id="{9B279974-10D7-4297-BA70-801CDB64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0" name="Line 467">
              <a:extLst>
                <a:ext uri="{FF2B5EF4-FFF2-40B4-BE49-F238E27FC236}">
                  <a16:creationId xmlns:a16="http://schemas.microsoft.com/office/drawing/2014/main" id="{5D71A6E7-A45F-4480-ADAB-F79B69352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6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1" name="Line 514">
              <a:extLst>
                <a:ext uri="{FF2B5EF4-FFF2-40B4-BE49-F238E27FC236}">
                  <a16:creationId xmlns:a16="http://schemas.microsoft.com/office/drawing/2014/main" id="{943E8319-6037-4B76-8C73-0B4FA9DAD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2" name="Line 467">
              <a:extLst>
                <a:ext uri="{FF2B5EF4-FFF2-40B4-BE49-F238E27FC236}">
                  <a16:creationId xmlns:a16="http://schemas.microsoft.com/office/drawing/2014/main" id="{37A79D3C-A2B0-4117-ADD3-285F612CE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3" name="Line 514">
              <a:extLst>
                <a:ext uri="{FF2B5EF4-FFF2-40B4-BE49-F238E27FC236}">
                  <a16:creationId xmlns:a16="http://schemas.microsoft.com/office/drawing/2014/main" id="{9E4C817A-5EDE-4A8E-932E-F16D1ECC4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80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4" name="Line 467">
              <a:extLst>
                <a:ext uri="{FF2B5EF4-FFF2-40B4-BE49-F238E27FC236}">
                  <a16:creationId xmlns:a16="http://schemas.microsoft.com/office/drawing/2014/main" id="{62426704-88D1-4085-80C5-89D07E6583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5" name="Line 514">
              <a:extLst>
                <a:ext uri="{FF2B5EF4-FFF2-40B4-BE49-F238E27FC236}">
                  <a16:creationId xmlns:a16="http://schemas.microsoft.com/office/drawing/2014/main" id="{0D69D8AD-029B-4410-8A03-F5ACFF2D0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03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6" name="Line 467">
              <a:extLst>
                <a:ext uri="{FF2B5EF4-FFF2-40B4-BE49-F238E27FC236}">
                  <a16:creationId xmlns:a16="http://schemas.microsoft.com/office/drawing/2014/main" id="{87148DC0-1E4C-4473-9B24-7A22639526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8803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7" name="组合 796">
            <a:extLst>
              <a:ext uri="{FF2B5EF4-FFF2-40B4-BE49-F238E27FC236}">
                <a16:creationId xmlns:a16="http://schemas.microsoft.com/office/drawing/2014/main" id="{D34036D3-1F94-4E67-99E1-BEF29F0334FC}"/>
              </a:ext>
            </a:extLst>
          </p:cNvPr>
          <p:cNvGrpSpPr/>
          <p:nvPr/>
        </p:nvGrpSpPr>
        <p:grpSpPr>
          <a:xfrm>
            <a:off x="5220000" y="5301208"/>
            <a:ext cx="2880392" cy="1080000"/>
            <a:chOff x="5220000" y="3636000"/>
            <a:chExt cx="2880392" cy="1080000"/>
          </a:xfrm>
        </p:grpSpPr>
        <p:sp>
          <p:nvSpPr>
            <p:cNvPr id="798" name="Line 461">
              <a:extLst>
                <a:ext uri="{FF2B5EF4-FFF2-40B4-BE49-F238E27FC236}">
                  <a16:creationId xmlns:a16="http://schemas.microsoft.com/office/drawing/2014/main" id="{11CCB686-8D66-4E76-AF96-C1FFE1E1E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401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" name="Line 466">
              <a:extLst>
                <a:ext uri="{FF2B5EF4-FFF2-40B4-BE49-F238E27FC236}">
                  <a16:creationId xmlns:a16="http://schemas.microsoft.com/office/drawing/2014/main" id="{DF95FBA1-1D64-4F21-B3A0-961DFDD05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00" y="3816024"/>
              <a:ext cx="142875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0" name="Line 467">
              <a:extLst>
                <a:ext uri="{FF2B5EF4-FFF2-40B4-BE49-F238E27FC236}">
                  <a16:creationId xmlns:a16="http://schemas.microsoft.com/office/drawing/2014/main" id="{FA806CDE-7C1D-4432-B133-FFDD292A89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4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1" name="六边形 800">
              <a:extLst>
                <a:ext uri="{FF2B5EF4-FFF2-40B4-BE49-F238E27FC236}">
                  <a16:creationId xmlns:a16="http://schemas.microsoft.com/office/drawing/2014/main" id="{8C994CEF-0884-470C-8491-E60A37D73455}"/>
                </a:ext>
              </a:extLst>
            </p:cNvPr>
            <p:cNvSpPr/>
            <p:nvPr/>
          </p:nvSpPr>
          <p:spPr bwMode="auto">
            <a:xfrm>
              <a:off x="5362875" y="3888032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A1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802" name="Line 514">
              <a:extLst>
                <a:ext uri="{FF2B5EF4-FFF2-40B4-BE49-F238E27FC236}">
                  <a16:creationId xmlns:a16="http://schemas.microsoft.com/office/drawing/2014/main" id="{EB8000A0-5038-451E-BE48-AFEC36C26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00" y="3996032"/>
              <a:ext cx="1453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3" name="Line 514">
              <a:extLst>
                <a:ext uri="{FF2B5EF4-FFF2-40B4-BE49-F238E27FC236}">
                  <a16:creationId xmlns:a16="http://schemas.microsoft.com/office/drawing/2014/main" id="{85BF50B8-86CF-443B-BE0E-AA25972B1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40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4" name="六边形 803">
              <a:extLst>
                <a:ext uri="{FF2B5EF4-FFF2-40B4-BE49-F238E27FC236}">
                  <a16:creationId xmlns:a16="http://schemas.microsoft.com/office/drawing/2014/main" id="{8DBD65E6-24CE-4F20-B0BF-D641C6F55E2E}"/>
                </a:ext>
              </a:extLst>
            </p:cNvPr>
            <p:cNvSpPr/>
            <p:nvPr/>
          </p:nvSpPr>
          <p:spPr bwMode="auto">
            <a:xfrm>
              <a:off x="6444216" y="4176088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D1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805" name="Line 467">
              <a:extLst>
                <a:ext uri="{FF2B5EF4-FFF2-40B4-BE49-F238E27FC236}">
                  <a16:creationId xmlns:a16="http://schemas.microsoft.com/office/drawing/2014/main" id="{921EFB77-299B-44ED-AC92-2218F4297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62724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6" name="Line 514">
              <a:extLst>
                <a:ext uri="{FF2B5EF4-FFF2-40B4-BE49-F238E27FC236}">
                  <a16:creationId xmlns:a16="http://schemas.microsoft.com/office/drawing/2014/main" id="{C62DB3ED-00FA-40D0-9C8F-2EC2B961B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7" name="Line 514">
              <a:extLst>
                <a:ext uri="{FF2B5EF4-FFF2-40B4-BE49-F238E27FC236}">
                  <a16:creationId xmlns:a16="http://schemas.microsoft.com/office/drawing/2014/main" id="{EEF8EC07-5722-45D6-A0B4-E19E18C76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3992" y="3996032"/>
              <a:ext cx="22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8" name="Line 461">
              <a:extLst>
                <a:ext uri="{FF2B5EF4-FFF2-40B4-BE49-F238E27FC236}">
                  <a16:creationId xmlns:a16="http://schemas.microsoft.com/office/drawing/2014/main" id="{76F780CA-7E6C-4C29-A7A7-A4EC8B491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3992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" name="Line 461">
              <a:extLst>
                <a:ext uri="{FF2B5EF4-FFF2-40B4-BE49-F238E27FC236}">
                  <a16:creationId xmlns:a16="http://schemas.microsoft.com/office/drawing/2014/main" id="{FDAC22B4-9E7A-4DA1-9294-6989CD13C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25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0" name="六边形 809">
              <a:extLst>
                <a:ext uri="{FF2B5EF4-FFF2-40B4-BE49-F238E27FC236}">
                  <a16:creationId xmlns:a16="http://schemas.microsoft.com/office/drawing/2014/main" id="{EDA8498C-8072-44A7-99DB-E05346E5910F}"/>
                </a:ext>
              </a:extLst>
            </p:cNvPr>
            <p:cNvSpPr/>
            <p:nvPr/>
          </p:nvSpPr>
          <p:spPr bwMode="auto">
            <a:xfrm>
              <a:off x="6804256" y="4176064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D2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811" name="Line 514">
              <a:extLst>
                <a:ext uri="{FF2B5EF4-FFF2-40B4-BE49-F238E27FC236}">
                  <a16:creationId xmlns:a16="http://schemas.microsoft.com/office/drawing/2014/main" id="{CE13ABEC-88C4-4285-B05D-3FEC1C559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5644" y="3636000"/>
              <a:ext cx="72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2" name="Line 514">
              <a:extLst>
                <a:ext uri="{FF2B5EF4-FFF2-40B4-BE49-F238E27FC236}">
                  <a16:creationId xmlns:a16="http://schemas.microsoft.com/office/drawing/2014/main" id="{1058905C-D61E-4AAC-AE3C-436A6EDC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00" y="4284064"/>
              <a:ext cx="12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3" name="Line 514">
              <a:extLst>
                <a:ext uri="{FF2B5EF4-FFF2-40B4-BE49-F238E27FC236}">
                  <a16:creationId xmlns:a16="http://schemas.microsoft.com/office/drawing/2014/main" id="{D349E65E-ADAA-416B-BF9D-A22BFC01B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4376" y="4284064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4" name="Text Box 533">
              <a:extLst>
                <a:ext uri="{FF2B5EF4-FFF2-40B4-BE49-F238E27FC236}">
                  <a16:creationId xmlns:a16="http://schemas.microsoft.com/office/drawing/2014/main" id="{41CF2C50-EA0A-4E10-8EAC-63AE228A7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6000" y="4068000"/>
              <a:ext cx="288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15" name="Line 461">
              <a:extLst>
                <a:ext uri="{FF2B5EF4-FFF2-40B4-BE49-F238E27FC236}">
                  <a16:creationId xmlns:a16="http://schemas.microsoft.com/office/drawing/2014/main" id="{085A4A0E-8CA6-4390-BE57-38692C3CB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4000" y="41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6" name="Line 461">
              <a:extLst>
                <a:ext uri="{FF2B5EF4-FFF2-40B4-BE49-F238E27FC236}">
                  <a16:creationId xmlns:a16="http://schemas.microsoft.com/office/drawing/2014/main" id="{C9FFE0E7-7A54-43D4-B00A-5C1972541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4314" y="41760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7" name="Text Box 509">
              <a:extLst>
                <a:ext uri="{FF2B5EF4-FFF2-40B4-BE49-F238E27FC236}">
                  <a16:creationId xmlns:a16="http://schemas.microsoft.com/office/drawing/2014/main" id="{40841725-66B0-4408-8251-EAF8C2EB6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80" y="4428000"/>
              <a:ext cx="288031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>
                  <a:solidFill>
                    <a:srgbClr val="990099"/>
                  </a:solidFill>
                  <a:latin typeface="+mn-ea"/>
                  <a:ea typeface="+mn-ea"/>
                </a:rPr>
                <a:t>突发传输模式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zh-CN" altLang="en-US" sz="1600" b="1" u="none" dirty="0">
                  <a:latin typeface="+mn-ea"/>
                  <a:ea typeface="+mn-ea"/>
                </a:rPr>
                <a:t>带宽＝</a:t>
              </a:r>
              <a:r>
                <a:rPr lang="en-US" altLang="zh-CN" sz="1600" b="1" u="none" dirty="0" err="1">
                  <a:solidFill>
                    <a:srgbClr val="0070C0"/>
                  </a:solidFill>
                  <a:latin typeface="+mn-ea"/>
                  <a:ea typeface="+mn-ea"/>
                </a:rPr>
                <a:t>n</a:t>
              </a:r>
              <a:r>
                <a:rPr lang="en-US" altLang="zh-CN" sz="1600" b="1" u="none" dirty="0" err="1">
                  <a:solidFill>
                    <a:srgbClr val="0070C0"/>
                  </a:solidFill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1600" b="1" u="none" dirty="0" err="1">
                  <a:solidFill>
                    <a:srgbClr val="0070C0"/>
                  </a:solidFill>
                  <a:latin typeface="+mn-ea"/>
                  <a:ea typeface="+mn-ea"/>
                </a:rPr>
                <a:t>w</a:t>
              </a:r>
              <a:r>
                <a:rPr lang="en-US" altLang="zh-CN" sz="1600" b="1" u="none" dirty="0">
                  <a:solidFill>
                    <a:srgbClr val="0070C0"/>
                  </a:solidFill>
                  <a:latin typeface="+mn-ea"/>
                  <a:ea typeface="+mn-ea"/>
                </a:rPr>
                <a:t>/T</a:t>
              </a:r>
              <a:r>
                <a:rPr lang="en-US" altLang="zh-CN" sz="1600" b="1" u="none" baseline="-18000" dirty="0">
                  <a:solidFill>
                    <a:srgbClr val="0070C0"/>
                  </a:solidFill>
                  <a:latin typeface="+mn-ea"/>
                  <a:ea typeface="+mn-ea"/>
                </a:rPr>
                <a:t>M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818" name="Line 461">
              <a:extLst>
                <a:ext uri="{FF2B5EF4-FFF2-40B4-BE49-F238E27FC236}">
                  <a16:creationId xmlns:a16="http://schemas.microsoft.com/office/drawing/2014/main" id="{A6B4003E-8E68-4C72-B589-C0410321F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4376" y="3816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" name="Line 467">
              <a:extLst>
                <a:ext uri="{FF2B5EF4-FFF2-40B4-BE49-F238E27FC236}">
                  <a16:creationId xmlns:a16="http://schemas.microsoft.com/office/drawing/2014/main" id="{2546FC56-9A52-45C6-B05E-9D84AE7EF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0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" name="Line 514">
              <a:extLst>
                <a:ext uri="{FF2B5EF4-FFF2-40B4-BE49-F238E27FC236}">
                  <a16:creationId xmlns:a16="http://schemas.microsoft.com/office/drawing/2014/main" id="{522410C9-015A-4498-94CE-6020FD251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545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" name="Line 467">
              <a:extLst>
                <a:ext uri="{FF2B5EF4-FFF2-40B4-BE49-F238E27FC236}">
                  <a16:creationId xmlns:a16="http://schemas.microsoft.com/office/drawing/2014/main" id="{4B4966C5-4BED-47DD-ACCF-E63AF18185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413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" name="Line 514">
              <a:extLst>
                <a:ext uri="{FF2B5EF4-FFF2-40B4-BE49-F238E27FC236}">
                  <a16:creationId xmlns:a16="http://schemas.microsoft.com/office/drawing/2014/main" id="{2A5BDEA5-176E-4957-8EEB-218DA56FF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" name="Line 467">
              <a:extLst>
                <a:ext uri="{FF2B5EF4-FFF2-40B4-BE49-F238E27FC236}">
                  <a16:creationId xmlns:a16="http://schemas.microsoft.com/office/drawing/2014/main" id="{0755C59D-37D9-4E41-86CC-0F5F31F85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6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" name="Line 514">
              <a:extLst>
                <a:ext uri="{FF2B5EF4-FFF2-40B4-BE49-F238E27FC236}">
                  <a16:creationId xmlns:a16="http://schemas.microsoft.com/office/drawing/2014/main" id="{7DC8D99C-46DA-4639-AA8B-BA4B7DFBD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549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" name="Line 467">
              <a:extLst>
                <a:ext uri="{FF2B5EF4-FFF2-40B4-BE49-F238E27FC236}">
                  <a16:creationId xmlns:a16="http://schemas.microsoft.com/office/drawing/2014/main" id="{5E028903-2693-4B8F-B3AD-94250E5E1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8417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" name="Line 514">
              <a:extLst>
                <a:ext uri="{FF2B5EF4-FFF2-40B4-BE49-F238E27FC236}">
                  <a16:creationId xmlns:a16="http://schemas.microsoft.com/office/drawing/2014/main" id="{B666D035-DE07-40C9-A794-E81BAF677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" name="Line 467">
              <a:extLst>
                <a:ext uri="{FF2B5EF4-FFF2-40B4-BE49-F238E27FC236}">
                  <a16:creationId xmlns:a16="http://schemas.microsoft.com/office/drawing/2014/main" id="{C32A1687-699C-4C91-90FA-89DD30340F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2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" name="Line 514">
              <a:extLst>
                <a:ext uri="{FF2B5EF4-FFF2-40B4-BE49-F238E27FC236}">
                  <a16:creationId xmlns:a16="http://schemas.microsoft.com/office/drawing/2014/main" id="{A753748E-0BB0-4914-9E57-3632F98C9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553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" name="Line 467">
              <a:extLst>
                <a:ext uri="{FF2B5EF4-FFF2-40B4-BE49-F238E27FC236}">
                  <a16:creationId xmlns:a16="http://schemas.microsoft.com/office/drawing/2014/main" id="{563E1DEF-38B1-476A-87F3-6B6F8847F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421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" name="Line 514">
              <a:extLst>
                <a:ext uri="{FF2B5EF4-FFF2-40B4-BE49-F238E27FC236}">
                  <a16:creationId xmlns:a16="http://schemas.microsoft.com/office/drawing/2014/main" id="{43BFBBF7-ACE8-4BBB-B3F1-E1B59DF07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" name="Line 467">
              <a:extLst>
                <a:ext uri="{FF2B5EF4-FFF2-40B4-BE49-F238E27FC236}">
                  <a16:creationId xmlns:a16="http://schemas.microsoft.com/office/drawing/2014/main" id="{6337D1F0-B23C-4E63-816B-23BCBB0CDB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8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" name="Line 514">
              <a:extLst>
                <a:ext uri="{FF2B5EF4-FFF2-40B4-BE49-F238E27FC236}">
                  <a16:creationId xmlns:a16="http://schemas.microsoft.com/office/drawing/2014/main" id="{19487102-BCB6-4A28-B7CF-1074AC823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557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" name="Line 467">
              <a:extLst>
                <a:ext uri="{FF2B5EF4-FFF2-40B4-BE49-F238E27FC236}">
                  <a16:creationId xmlns:a16="http://schemas.microsoft.com/office/drawing/2014/main" id="{8FDE4D0D-CB1C-4F05-87E3-DBA5F6C34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0425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" name="Line 514">
              <a:extLst>
                <a:ext uri="{FF2B5EF4-FFF2-40B4-BE49-F238E27FC236}">
                  <a16:creationId xmlns:a16="http://schemas.microsoft.com/office/drawing/2014/main" id="{8A30E34F-74A9-4CEA-8A9E-7A2787164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" name="Line 467">
              <a:extLst>
                <a:ext uri="{FF2B5EF4-FFF2-40B4-BE49-F238E27FC236}">
                  <a16:creationId xmlns:a16="http://schemas.microsoft.com/office/drawing/2014/main" id="{42FFED68-5EC5-4773-A32E-AB1CCE2CB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" name="Line 514">
              <a:extLst>
                <a:ext uri="{FF2B5EF4-FFF2-40B4-BE49-F238E27FC236}">
                  <a16:creationId xmlns:a16="http://schemas.microsoft.com/office/drawing/2014/main" id="{4AADC1B2-99F9-4A21-83C2-8CFBF5DEB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561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" name="Line 467">
              <a:extLst>
                <a:ext uri="{FF2B5EF4-FFF2-40B4-BE49-F238E27FC236}">
                  <a16:creationId xmlns:a16="http://schemas.microsoft.com/office/drawing/2014/main" id="{442B4813-3A64-4A13-B321-02AAA9E44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6429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" name="Line 514">
              <a:extLst>
                <a:ext uri="{FF2B5EF4-FFF2-40B4-BE49-F238E27FC236}">
                  <a16:creationId xmlns:a16="http://schemas.microsoft.com/office/drawing/2014/main" id="{AC529AAA-AA52-468A-9FDC-0D82DE951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" name="Line 467">
              <a:extLst>
                <a:ext uri="{FF2B5EF4-FFF2-40B4-BE49-F238E27FC236}">
                  <a16:creationId xmlns:a16="http://schemas.microsoft.com/office/drawing/2014/main" id="{4AF2A5B2-62E7-4229-8E52-083EE62DC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3992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" name="Line 514">
              <a:extLst>
                <a:ext uri="{FF2B5EF4-FFF2-40B4-BE49-F238E27FC236}">
                  <a16:creationId xmlns:a16="http://schemas.microsoft.com/office/drawing/2014/main" id="{2887F49F-0927-470A-9365-C5F397C2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5652" y="3636000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" name="Line 467">
              <a:extLst>
                <a:ext uri="{FF2B5EF4-FFF2-40B4-BE49-F238E27FC236}">
                  <a16:creationId xmlns:a16="http://schemas.microsoft.com/office/drawing/2014/main" id="{49AFC122-9893-40D1-9787-5D3AA743D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2433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" name="Line 514">
              <a:extLst>
                <a:ext uri="{FF2B5EF4-FFF2-40B4-BE49-F238E27FC236}">
                  <a16:creationId xmlns:a16="http://schemas.microsoft.com/office/drawing/2014/main" id="{D83399D5-57DD-4D1E-A394-4FF1CCA00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3992" y="3816024"/>
              <a:ext cx="180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" name="Line 467">
              <a:extLst>
                <a:ext uri="{FF2B5EF4-FFF2-40B4-BE49-F238E27FC236}">
                  <a16:creationId xmlns:a16="http://schemas.microsoft.com/office/drawing/2014/main" id="{06BD1F79-6695-47CD-9E28-6A85EC510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84376" y="3636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" name="六边形 843">
              <a:extLst>
                <a:ext uri="{FF2B5EF4-FFF2-40B4-BE49-F238E27FC236}">
                  <a16:creationId xmlns:a16="http://schemas.microsoft.com/office/drawing/2014/main" id="{F2F9B7D5-6D78-464B-AEFF-74B7A771A710}"/>
                </a:ext>
              </a:extLst>
            </p:cNvPr>
            <p:cNvSpPr/>
            <p:nvPr/>
          </p:nvSpPr>
          <p:spPr bwMode="auto">
            <a:xfrm>
              <a:off x="7164296" y="4176088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D3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845" name="六边形 844">
              <a:extLst>
                <a:ext uri="{FF2B5EF4-FFF2-40B4-BE49-F238E27FC236}">
                  <a16:creationId xmlns:a16="http://schemas.microsoft.com/office/drawing/2014/main" id="{E27DAA15-AB65-41E2-9BB0-8FB8D7BCAEF9}"/>
                </a:ext>
              </a:extLst>
            </p:cNvPr>
            <p:cNvSpPr/>
            <p:nvPr/>
          </p:nvSpPr>
          <p:spPr bwMode="auto">
            <a:xfrm>
              <a:off x="7524336" y="4176064"/>
              <a:ext cx="360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D4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 bldLvl="0" animBg="1"/>
      <p:bldP spid="451" grpId="0" bldLvl="0"/>
      <p:bldP spid="56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409"/>
          <p:cNvSpPr txBox="1">
            <a:spLocks noChangeArrowheads="1"/>
          </p:cNvSpPr>
          <p:nvPr/>
        </p:nvSpPr>
        <p:spPr bwMode="auto">
          <a:xfrm>
            <a:off x="179388" y="332656"/>
            <a:ext cx="8208838" cy="4193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*SDRAM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的组成：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基于</a:t>
            </a:r>
            <a:r>
              <a:rPr lang="en-US" altLang="zh-CN" sz="22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，增设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锁存器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计数器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可选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等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同步工作原理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数据传送方式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操作过程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优化：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440000" y="836712"/>
            <a:ext cx="6660515" cy="1260475"/>
            <a:chOff x="1983" y="4932"/>
            <a:chExt cx="10489" cy="1985"/>
          </a:xfrm>
        </p:grpSpPr>
        <p:sp>
          <p:nvSpPr>
            <p:cNvPr id="3" name="Rectangle 34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947" y="4933"/>
              <a:ext cx="8561" cy="1984"/>
            </a:xfrm>
            <a:prstGeom prst="rect">
              <a:avLst/>
            </a:prstGeom>
            <a:solidFill>
              <a:srgbClr val="CCFFFF">
                <a:alpha val="6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Text Box 37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10" y="4932"/>
              <a:ext cx="567" cy="153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CLKCE</a:t>
              </a: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</a:p>
          </p:txBody>
        </p:sp>
        <p:sp>
          <p:nvSpPr>
            <p:cNvPr id="5" name="Text Box 37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83" y="6463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52" name="直接箭头连接符 51"/>
            <p:cNvCxnSpPr/>
            <p:nvPr>
              <p:custDataLst>
                <p:tags r:id="rId6"/>
              </p:custDataLst>
            </p:nvPr>
          </p:nvCxnSpPr>
          <p:spPr bwMode="auto">
            <a:xfrm>
              <a:off x="2833" y="5103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7"/>
              </p:custDataLst>
            </p:nvPr>
          </p:nvCxnSpPr>
          <p:spPr bwMode="auto">
            <a:xfrm>
              <a:off x="2834" y="6634"/>
              <a:ext cx="2665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8"/>
              </p:custDataLst>
            </p:nvPr>
          </p:nvCxnSpPr>
          <p:spPr bwMode="auto">
            <a:xfrm>
              <a:off x="2833" y="5386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9"/>
              </p:custDataLst>
            </p:nvPr>
          </p:nvCxnSpPr>
          <p:spPr bwMode="auto">
            <a:xfrm>
              <a:off x="2833" y="567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10"/>
              </p:custDataLst>
            </p:nvPr>
          </p:nvCxnSpPr>
          <p:spPr bwMode="auto">
            <a:xfrm>
              <a:off x="2833" y="601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1"/>
              </p:custDataLst>
            </p:nvPr>
          </p:nvCxnSpPr>
          <p:spPr bwMode="auto">
            <a:xfrm>
              <a:off x="2835" y="6293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266" y="6151"/>
              <a:ext cx="48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266" y="5839"/>
              <a:ext cx="48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437" y="553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437" y="5244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6" name="Text Box 34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309" y="5046"/>
              <a:ext cx="737" cy="136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工作方式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7" name="Text Box 3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622" y="5669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+mn-lt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" name="Text Box 389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175" y="5046"/>
              <a:ext cx="794" cy="1361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>
                  <a:latin typeface="宋体" panose="02010600030101010101" pitchFamily="2" charset="-122"/>
                </a:rPr>
                <a:t>控制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>
                  <a:latin typeface="宋体" panose="02010600030101010101" pitchFamily="2" charset="-122"/>
                </a:rPr>
                <a:t>逻辑</a:t>
              </a:r>
            </a:p>
          </p:txBody>
        </p:sp>
        <p:cxnSp>
          <p:nvCxnSpPr>
            <p:cNvPr id="9" name="直接箭头连接符 8"/>
            <p:cNvCxnSpPr/>
            <p:nvPr>
              <p:custDataLst>
                <p:tags r:id="rId19"/>
              </p:custDataLst>
            </p:nvPr>
          </p:nvCxnSpPr>
          <p:spPr bwMode="auto">
            <a:xfrm>
              <a:off x="11339" y="5839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0" name="Text Box 34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498" y="6463"/>
              <a:ext cx="204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行地址锁存器</a:t>
              </a:r>
            </a:p>
          </p:txBody>
        </p:sp>
        <p:sp>
          <p:nvSpPr>
            <p:cNvPr id="11" name="Text Box 34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498" y="5842"/>
              <a:ext cx="204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列地址锁存器</a:t>
              </a:r>
            </a:p>
          </p:txBody>
        </p:sp>
        <p:sp>
          <p:nvSpPr>
            <p:cNvPr id="13" name="Text Box 35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673" y="6010"/>
              <a:ext cx="1928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1M×8b DRAM</a:t>
              </a:r>
            </a:p>
          </p:txBody>
        </p:sp>
        <p:sp>
          <p:nvSpPr>
            <p:cNvPr id="18" name="Text Box 35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80" y="6010"/>
              <a:ext cx="794" cy="79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行译码器</a:t>
              </a:r>
            </a:p>
          </p:txBody>
        </p:sp>
        <p:sp>
          <p:nvSpPr>
            <p:cNvPr id="19" name="Text Box 35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676" y="5048"/>
              <a:ext cx="1928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列译码器</a:t>
              </a:r>
            </a:p>
          </p:txBody>
        </p:sp>
        <p:sp>
          <p:nvSpPr>
            <p:cNvPr id="20" name="Text Box 359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673" y="5670"/>
              <a:ext cx="1928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读放和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门</a:t>
              </a:r>
            </a:p>
          </p:txBody>
        </p:sp>
        <p:sp>
          <p:nvSpPr>
            <p:cNvPr id="21" name="Text Box 36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942" y="5046"/>
              <a:ext cx="397" cy="158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25" name="Text Box 40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498" y="5046"/>
              <a:ext cx="238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成组传送计数器</a:t>
              </a:r>
            </a:p>
          </p:txBody>
        </p:sp>
        <p:sp>
          <p:nvSpPr>
            <p:cNvPr id="26" name="Text Box 3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467" y="5387"/>
              <a:ext cx="454" cy="2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43" name="直接箭头连接符 42"/>
            <p:cNvCxnSpPr/>
            <p:nvPr>
              <p:custDataLst>
                <p:tags r:id="rId29"/>
              </p:custDataLst>
            </p:nvPr>
          </p:nvCxnSpPr>
          <p:spPr bwMode="auto">
            <a:xfrm>
              <a:off x="10601" y="5840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5216" y="6011"/>
              <a:ext cx="0" cy="62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31"/>
              </p:custDataLst>
            </p:nvPr>
          </p:nvCxnSpPr>
          <p:spPr bwMode="auto">
            <a:xfrm>
              <a:off x="9297" y="5387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32"/>
              </p:custDataLst>
            </p:nvPr>
          </p:nvCxnSpPr>
          <p:spPr bwMode="auto">
            <a:xfrm>
              <a:off x="10091" y="5387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33"/>
              </p:custDataLst>
            </p:nvPr>
          </p:nvCxnSpPr>
          <p:spPr bwMode="auto">
            <a:xfrm>
              <a:off x="7540" y="6633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575" y="538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35"/>
              </p:custDataLst>
            </p:nvPr>
          </p:nvCxnSpPr>
          <p:spPr bwMode="auto">
            <a:xfrm>
              <a:off x="7880" y="5216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36"/>
              </p:custDataLst>
            </p:nvPr>
          </p:nvCxnSpPr>
          <p:spPr bwMode="auto">
            <a:xfrm>
              <a:off x="5216" y="6010"/>
              <a:ext cx="283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4649" y="640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38"/>
              </p:custDataLst>
            </p:nvPr>
          </p:nvCxnSpPr>
          <p:spPr bwMode="auto">
            <a:xfrm>
              <a:off x="3970" y="574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41</a:t>
            </a:fld>
            <a:endParaRPr lang="en-US" altLang="zh-CN" dirty="0"/>
          </a:p>
        </p:txBody>
      </p:sp>
      <p:sp>
        <p:nvSpPr>
          <p:cNvPr id="144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 Box 409"/>
          <p:cNvSpPr txBox="1">
            <a:spLocks noChangeArrowheads="1"/>
          </p:cNvSpPr>
          <p:nvPr/>
        </p:nvSpPr>
        <p:spPr bwMode="auto">
          <a:xfrm>
            <a:off x="2195736" y="2132856"/>
            <a:ext cx="6768876" cy="30389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同步于</a:t>
            </a:r>
            <a:r>
              <a:rPr lang="en-US" altLang="zh-CN" sz="2200" b="1" u="none" dirty="0">
                <a:latin typeface="宋体" panose="02010600030101010101" pitchFamily="2" charset="-122"/>
              </a:rPr>
              <a:t>CLK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</a:rPr>
              <a:t>内部操作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异步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→需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锁存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latin typeface="宋体" panose="02010600030101010101" pitchFamily="2" charset="-122"/>
              </a:rPr>
              <a:t>命令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←地址本来已锁存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仅支持</a:t>
            </a:r>
            <a:r>
              <a:rPr lang="zh-CN" altLang="en-US" sz="2200" b="1" u="none" dirty="0">
                <a:latin typeface="宋体" panose="02010600030101010101" pitchFamily="2" charset="-122"/>
              </a:rPr>
              <a:t>突发传输方式，列地址用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sz="2200" b="1" u="none" dirty="0">
                <a:latin typeface="宋体" panose="02010600030101010101" pitchFamily="2" charset="-122"/>
              </a:rPr>
              <a:t>改变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</a:rPr>
              <a:t>BL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en-US" altLang="zh-CN" sz="1600" u="none" dirty="0"/>
              <a:t>Burst Length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有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几种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，常规传输时</a:t>
            </a:r>
            <a:r>
              <a:rPr lang="en-US" altLang="zh-CN" sz="1800" b="1" u="none" dirty="0">
                <a:latin typeface="宋体" panose="02010600030101010101" pitchFamily="2" charset="-122"/>
              </a:rPr>
              <a:t>BL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1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①设置</a:t>
            </a:r>
            <a:r>
              <a:rPr lang="en-US" altLang="zh-CN" sz="2200" b="1" u="none" dirty="0">
                <a:latin typeface="宋体" panose="02010600030101010101" pitchFamily="2" charset="-122"/>
              </a:rPr>
              <a:t>BL</a:t>
            </a:r>
            <a:r>
              <a:rPr lang="zh-CN" altLang="en-US" sz="2200" b="1" u="none" dirty="0">
                <a:latin typeface="宋体" panose="02010600030101010101" pitchFamily="2" charset="-122"/>
              </a:rPr>
              <a:t> ②启动操作 ③传送数据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仅②③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①、②③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作为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个操作，本次与上次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BL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相同时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缺省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①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              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←操作者自知</a:t>
            </a:r>
            <a:endParaRPr lang="en-US" altLang="zh-CN" sz="1800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b="1" u="none" dirty="0">
              <a:latin typeface="宋体" panose="02010600030101010101" pitchFamily="2" charset="-122"/>
            </a:endParaRPr>
          </a:p>
        </p:txBody>
      </p:sp>
      <p:sp>
        <p:nvSpPr>
          <p:cNvPr id="58" name="Text Box 726"/>
          <p:cNvSpPr txBox="1">
            <a:spLocks noChangeArrowheads="1"/>
          </p:cNvSpPr>
          <p:nvPr/>
        </p:nvSpPr>
        <p:spPr bwMode="auto">
          <a:xfrm>
            <a:off x="1259632" y="5229200"/>
            <a:ext cx="482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思考②：</a:t>
            </a:r>
            <a:r>
              <a:rPr lang="zh-CN" altLang="en-US" sz="1800" dirty="0">
                <a:solidFill>
                  <a:schemeClr val="tx1"/>
                </a:solidFill>
              </a:rPr>
              <a:t>①可能缺省，</a:t>
            </a:r>
            <a:r>
              <a:rPr lang="en-US" altLang="zh-CN" sz="1800" dirty="0">
                <a:solidFill>
                  <a:schemeClr val="tx1"/>
                </a:solidFill>
              </a:rPr>
              <a:t>SDRAM</a:t>
            </a:r>
            <a:r>
              <a:rPr lang="zh-CN" altLang="en-US" sz="1800" dirty="0">
                <a:solidFill>
                  <a:schemeClr val="tx1"/>
                </a:solidFill>
              </a:rPr>
              <a:t>如何知道当前</a:t>
            </a:r>
            <a:r>
              <a:rPr lang="en-US" altLang="zh-CN" sz="1800" dirty="0">
                <a:solidFill>
                  <a:schemeClr val="tx1"/>
                </a:solidFill>
              </a:rPr>
              <a:t>BL=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70" name="Text Box 707"/>
          <p:cNvSpPr txBox="1">
            <a:spLocks noChangeArrowheads="1"/>
          </p:cNvSpPr>
          <p:nvPr/>
        </p:nvSpPr>
        <p:spPr bwMode="auto">
          <a:xfrm>
            <a:off x="6156176" y="5229200"/>
            <a:ext cx="2520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BL</a:t>
            </a:r>
            <a:r>
              <a:rPr lang="zh-CN" altLang="en-US" sz="1800" b="1" u="none" dirty="0">
                <a:latin typeface="宋体" panose="02010600030101010101" pitchFamily="2" charset="-122"/>
              </a:rPr>
              <a:t>保存在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工作方式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中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37" name="Text Box 72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60000" y="5661248"/>
            <a:ext cx="43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思考③：</a:t>
            </a:r>
            <a:r>
              <a:rPr lang="en-US" altLang="zh-CN" sz="1800" dirty="0">
                <a:solidFill>
                  <a:schemeClr val="tx1"/>
                </a:solidFill>
              </a:rPr>
              <a:t>SDRAM</a:t>
            </a:r>
            <a:r>
              <a:rPr lang="zh-CN" sz="1800" dirty="0">
                <a:solidFill>
                  <a:schemeClr val="tx1"/>
                </a:solidFill>
              </a:rPr>
              <a:t>必须支持突发传输模式吗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38" name="Text Box 70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88000" y="5679358"/>
            <a:ext cx="3348000" cy="252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可不</a:t>
            </a:r>
            <a:r>
              <a:rPr lang="zh-CN" sz="1800" b="1" u="none" dirty="0">
                <a:latin typeface="宋体" panose="02010600030101010101" pitchFamily="2" charset="-122"/>
              </a:rPr>
              <a:t>支持！</a:t>
            </a:r>
            <a:r>
              <a:rPr 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需设置</a:t>
            </a:r>
            <a:r>
              <a:rPr lang="zh-CN" sz="1800" b="1" u="none" dirty="0">
                <a:latin typeface="宋体" panose="02010600030101010101" pitchFamily="2" charset="-122"/>
              </a:rPr>
              <a:t>计数器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BL</a:t>
            </a:r>
          </a:p>
        </p:txBody>
      </p:sp>
      <p:sp>
        <p:nvSpPr>
          <p:cNvPr id="50" name="Text Box 726">
            <a:extLst>
              <a:ext uri="{FF2B5EF4-FFF2-40B4-BE49-F238E27FC236}">
                <a16:creationId xmlns:a16="http://schemas.microsoft.com/office/drawing/2014/main" id="{46CE578F-FD7D-48A4-A386-05999F8F7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797152"/>
            <a:ext cx="30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思考①：</a:t>
            </a:r>
            <a:r>
              <a:rPr lang="zh-CN" altLang="en-US" sz="1800" dirty="0">
                <a:solidFill>
                  <a:schemeClr val="tx1"/>
                </a:solidFill>
              </a:rPr>
              <a:t>①所用的控制信号？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1" name="Text Box 707">
            <a:extLst>
              <a:ext uri="{FF2B5EF4-FFF2-40B4-BE49-F238E27FC236}">
                <a16:creationId xmlns:a16="http://schemas.microsoft.com/office/drawing/2014/main" id="{0BE4F063-CBFB-41EF-A566-C3B79C97C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4797152"/>
            <a:ext cx="428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增设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引脚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区分设置</a:t>
            </a:r>
            <a:r>
              <a:rPr lang="en-US" altLang="zh-CN" sz="1800" b="1" u="none" dirty="0">
                <a:latin typeface="宋体" panose="02010600030101010101" pitchFamily="2" charset="-122"/>
              </a:rPr>
              <a:t>BL</a:t>
            </a:r>
            <a:r>
              <a:rPr lang="en-US" altLang="zh-CN" sz="1800" b="1" u="none" dirty="0">
                <a:latin typeface="+mn-lt"/>
              </a:rPr>
              <a:t>~</a:t>
            </a:r>
            <a:r>
              <a:rPr lang="zh-CN" altLang="en-US" sz="1800" b="1" u="none" dirty="0">
                <a:latin typeface="宋体" panose="02010600030101010101" pitchFamily="2" charset="-122"/>
              </a:rPr>
              <a:t>访问数据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，如</a:t>
            </a:r>
            <a:r>
              <a:rPr lang="en-US" altLang="zh-CN" sz="1800" b="1" u="none" dirty="0">
                <a:latin typeface="宋体" panose="02010600030101010101" pitchFamily="2" charset="-122"/>
              </a:rPr>
              <a:t>CE#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70" grpId="0" bldLvl="0"/>
      <p:bldP spid="37" grpId="0" bldLvl="0" animBg="1"/>
      <p:bldP spid="38" grpId="0" bldLvl="0"/>
      <p:bldP spid="50" grpId="0" bldLvl="0" animBg="1"/>
      <p:bldP spid="51" grpId="0" bldLvl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42</a:t>
            </a:fld>
            <a:endParaRPr lang="en-US" altLang="zh-CN" dirty="0"/>
          </a:p>
        </p:txBody>
      </p:sp>
      <p:sp>
        <p:nvSpPr>
          <p:cNvPr id="3" name="Text Box 301"/>
          <p:cNvSpPr txBox="1">
            <a:spLocks noChangeArrowheads="1"/>
          </p:cNvSpPr>
          <p:nvPr/>
        </p:nvSpPr>
        <p:spPr bwMode="auto">
          <a:xfrm>
            <a:off x="179388" y="332656"/>
            <a:ext cx="8785225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(3)DDR SDRAM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（</a:t>
            </a:r>
            <a:r>
              <a:rPr lang="en-US" altLang="zh-CN" sz="1800" u="none" dirty="0">
                <a:latin typeface="+mn-lt"/>
              </a:rPr>
              <a:t>Double Data Rate </a:t>
            </a:r>
            <a:r>
              <a:rPr lang="en-US" altLang="zh-CN" sz="1800" b="1" u="none" dirty="0">
                <a:latin typeface="+mn-ea"/>
                <a:ea typeface="+mn-ea"/>
              </a:rPr>
              <a:t>SDRAM</a:t>
            </a:r>
            <a:r>
              <a:rPr lang="zh-CN" altLang="en-US" sz="1800" b="1" u="none" dirty="0">
                <a:latin typeface="+mn-ea"/>
                <a:ea typeface="+mn-ea"/>
              </a:rPr>
              <a:t>）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优化原理：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*DDR SDRAM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4" name="Text Box 303"/>
          <p:cNvSpPr txBox="1">
            <a:spLocks noChangeArrowheads="1"/>
          </p:cNvSpPr>
          <p:nvPr/>
        </p:nvSpPr>
        <p:spPr bwMode="auto">
          <a:xfrm>
            <a:off x="755576" y="764704"/>
            <a:ext cx="8209036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CLK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上升沿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及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下降沿</a:t>
            </a:r>
            <a:r>
              <a:rPr lang="zh-CN" altLang="en-US" sz="2200" b="1" u="none" dirty="0">
                <a:latin typeface="宋体" panose="02010600030101010101" pitchFamily="2" charset="-122"/>
              </a:rPr>
              <a:t>都</a:t>
            </a: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</a:rPr>
              <a:t>SDRAM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仅上升沿</a:t>
            </a:r>
            <a:r>
              <a:rPr lang="en-US" altLang="zh-CN" sz="1800" b="1" u="none" dirty="0">
                <a:latin typeface="宋体" panose="02010600030101010101" pitchFamily="2" charset="-122"/>
              </a:rPr>
              <a:t>I/O</a:t>
            </a: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存储矩阵中</a:t>
            </a:r>
            <a:r>
              <a:rPr lang="zh-CN" altLang="en-US" sz="2200" b="1" dirty="0">
                <a:latin typeface="宋体" panose="02010600030101010101" pitchFamily="2" charset="-122"/>
              </a:rPr>
              <a:t>单元宽度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是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宽度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倍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拆分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数据；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工作频率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2200" b="1" u="none" dirty="0">
                <a:latin typeface="宋体" panose="02010600030101010101" pitchFamily="2" charset="-122"/>
              </a:rPr>
              <a:t>核心频率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</a:p>
        </p:txBody>
      </p:sp>
      <p:sp>
        <p:nvSpPr>
          <p:cNvPr id="112" name="Text Box 303"/>
          <p:cNvSpPr txBox="1">
            <a:spLocks noChangeArrowheads="1"/>
          </p:cNvSpPr>
          <p:nvPr/>
        </p:nvSpPr>
        <p:spPr bwMode="auto">
          <a:xfrm>
            <a:off x="179512" y="4077072"/>
            <a:ext cx="8785100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*DDR2 SDRAM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存储矩阵中</a:t>
            </a:r>
            <a:r>
              <a:rPr lang="zh-CN" altLang="en-US" sz="2200" b="1" dirty="0">
                <a:latin typeface="宋体" panose="02010600030101010101" pitchFamily="2" charset="-122"/>
              </a:rPr>
              <a:t>单元宽度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是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宽度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倍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拆分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数据；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工作频率＝核心频率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×2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5004048" y="2492896"/>
            <a:ext cx="3600000" cy="1512000"/>
            <a:chOff x="4716416" y="2419232"/>
            <a:chExt cx="3600000" cy="1512000"/>
          </a:xfrm>
        </p:grpSpPr>
        <p:sp>
          <p:nvSpPr>
            <p:cNvPr id="123" name="Text Box 392"/>
            <p:cNvSpPr txBox="1">
              <a:spLocks noChangeArrowheads="1"/>
            </p:cNvSpPr>
            <p:nvPr/>
          </p:nvSpPr>
          <p:spPr bwMode="auto">
            <a:xfrm>
              <a:off x="4716416" y="2419232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(100MHz)</a:t>
              </a:r>
              <a:r>
                <a:rPr lang="zh-CN" altLang="en-US" sz="1600" b="1" u="none" dirty="0">
                  <a:latin typeface="+mn-ea"/>
                  <a:ea typeface="+mn-ea"/>
                </a:rPr>
                <a:t>  工作频率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+mn-ea"/>
                  <a:ea typeface="+mn-ea"/>
                </a:rPr>
                <a:t>100MHz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24" name="Line 397"/>
            <p:cNvSpPr>
              <a:spLocks noChangeShapeType="1"/>
            </p:cNvSpPr>
            <p:nvPr/>
          </p:nvSpPr>
          <p:spPr bwMode="auto">
            <a:xfrm>
              <a:off x="5509100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5" name="Line 400"/>
            <p:cNvSpPr>
              <a:spLocks noChangeShapeType="1"/>
            </p:cNvSpPr>
            <p:nvPr/>
          </p:nvSpPr>
          <p:spPr bwMode="auto">
            <a:xfrm>
              <a:off x="4930956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6" name="Line 401"/>
            <p:cNvSpPr>
              <a:spLocks noChangeShapeType="1"/>
            </p:cNvSpPr>
            <p:nvPr/>
          </p:nvSpPr>
          <p:spPr bwMode="auto">
            <a:xfrm>
              <a:off x="5221068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7" name="Line 402"/>
            <p:cNvSpPr>
              <a:spLocks noChangeShapeType="1"/>
            </p:cNvSpPr>
            <p:nvPr/>
          </p:nvSpPr>
          <p:spPr bwMode="auto">
            <a:xfrm flipH="1" flipV="1">
              <a:off x="4931826" y="27089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8" name="Line 404"/>
            <p:cNvSpPr>
              <a:spLocks noChangeShapeType="1"/>
            </p:cNvSpPr>
            <p:nvPr/>
          </p:nvSpPr>
          <p:spPr bwMode="auto">
            <a:xfrm>
              <a:off x="7164688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9" name="Line 405"/>
            <p:cNvSpPr>
              <a:spLocks noChangeShapeType="1"/>
            </p:cNvSpPr>
            <p:nvPr/>
          </p:nvSpPr>
          <p:spPr bwMode="auto">
            <a:xfrm flipH="1">
              <a:off x="6876656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0" name="Line 406"/>
            <p:cNvSpPr>
              <a:spLocks noChangeShapeType="1"/>
            </p:cNvSpPr>
            <p:nvPr/>
          </p:nvSpPr>
          <p:spPr bwMode="auto">
            <a:xfrm flipH="1">
              <a:off x="7164688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1" name="Line 407"/>
            <p:cNvSpPr>
              <a:spLocks noChangeShapeType="1"/>
            </p:cNvSpPr>
            <p:nvPr/>
          </p:nvSpPr>
          <p:spPr bwMode="auto">
            <a:xfrm flipH="1">
              <a:off x="7740752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2" name="Line 408"/>
            <p:cNvSpPr>
              <a:spLocks noChangeShapeType="1"/>
            </p:cNvSpPr>
            <p:nvPr/>
          </p:nvSpPr>
          <p:spPr bwMode="auto">
            <a:xfrm flipH="1">
              <a:off x="6805439" y="2924944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3" name="Line 409"/>
            <p:cNvSpPr>
              <a:spLocks noChangeShapeType="1"/>
            </p:cNvSpPr>
            <p:nvPr/>
          </p:nvSpPr>
          <p:spPr bwMode="auto">
            <a:xfrm flipH="1">
              <a:off x="7452720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4" name="Rectangle 414"/>
            <p:cNvSpPr>
              <a:spLocks noChangeArrowheads="1"/>
            </p:cNvSpPr>
            <p:nvPr/>
          </p:nvSpPr>
          <p:spPr bwMode="auto">
            <a:xfrm>
              <a:off x="4716416" y="2994818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5" name="Text Box 415"/>
            <p:cNvSpPr txBox="1">
              <a:spLocks noChangeArrowheads="1"/>
            </p:cNvSpPr>
            <p:nvPr/>
          </p:nvSpPr>
          <p:spPr bwMode="auto">
            <a:xfrm>
              <a:off x="5508104" y="3643232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>
                  <a:highlight>
                    <a:srgbClr val="FFFF00"/>
                  </a:highlight>
                  <a:latin typeface="+mn-ea"/>
                  <a:ea typeface="+mn-ea"/>
                </a:rPr>
                <a:t>DDR SDRAM</a:t>
              </a:r>
            </a:p>
          </p:txBody>
        </p:sp>
        <p:sp>
          <p:nvSpPr>
            <p:cNvPr id="136" name="Text Box 416"/>
            <p:cNvSpPr txBox="1">
              <a:spLocks noChangeArrowheads="1"/>
            </p:cNvSpPr>
            <p:nvPr/>
          </p:nvSpPr>
          <p:spPr bwMode="auto">
            <a:xfrm>
              <a:off x="4790357" y="3068067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存储矩阵</a:t>
              </a:r>
              <a:endParaRPr lang="en-US" altLang="zh-CN" sz="1800" b="1" u="none" dirty="0">
                <a:latin typeface="+mn-ea"/>
                <a:ea typeface="+mn-ea"/>
              </a:endParaRPr>
            </a:p>
            <a:p>
              <a:pPr algn="ctr"/>
              <a:r>
                <a:rPr lang="en-US" altLang="zh-CN" sz="2000" b="1" u="none" dirty="0">
                  <a:solidFill>
                    <a:srgbClr val="CC3300"/>
                  </a:solidFill>
                  <a:latin typeface="+mn-ea"/>
                  <a:ea typeface="+mn-ea"/>
                </a:rPr>
                <a:t> </a:t>
              </a:r>
              <a:endParaRPr lang="zh-CN" altLang="en-US" sz="2000" b="1" u="none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137" name="Text Box 417"/>
            <p:cNvSpPr txBox="1">
              <a:spLocks noChangeArrowheads="1"/>
            </p:cNvSpPr>
            <p:nvPr/>
          </p:nvSpPr>
          <p:spPr bwMode="auto">
            <a:xfrm>
              <a:off x="6588624" y="3068067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+mn-ea"/>
                  <a:ea typeface="+mn-ea"/>
                </a:rPr>
                <a:t>I/O</a:t>
              </a:r>
            </a:p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缓冲</a:t>
              </a:r>
            </a:p>
          </p:txBody>
        </p:sp>
        <p:sp>
          <p:nvSpPr>
            <p:cNvPr id="138" name="Line 418"/>
            <p:cNvSpPr>
              <a:spLocks noChangeShapeType="1"/>
            </p:cNvSpPr>
            <p:nvPr/>
          </p:nvSpPr>
          <p:spPr bwMode="auto">
            <a:xfrm flipV="1">
              <a:off x="5868544" y="3427313"/>
              <a:ext cx="72000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9" name="Line 422"/>
            <p:cNvSpPr>
              <a:spLocks noChangeShapeType="1"/>
            </p:cNvSpPr>
            <p:nvPr/>
          </p:nvSpPr>
          <p:spPr bwMode="auto">
            <a:xfrm flipH="1">
              <a:off x="4860432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0" name="Line 423"/>
            <p:cNvSpPr>
              <a:spLocks noChangeShapeType="1"/>
            </p:cNvSpPr>
            <p:nvPr/>
          </p:nvSpPr>
          <p:spPr bwMode="auto">
            <a:xfrm flipH="1">
              <a:off x="5221067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1" name="Line 429"/>
            <p:cNvSpPr>
              <a:spLocks noChangeShapeType="1"/>
            </p:cNvSpPr>
            <p:nvPr/>
          </p:nvSpPr>
          <p:spPr bwMode="auto">
            <a:xfrm flipH="1">
              <a:off x="6300762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2" name="Line 436"/>
            <p:cNvSpPr>
              <a:spLocks noChangeShapeType="1"/>
            </p:cNvSpPr>
            <p:nvPr/>
          </p:nvSpPr>
          <p:spPr bwMode="auto">
            <a:xfrm flipH="1">
              <a:off x="7560800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3" name="Line 632"/>
            <p:cNvSpPr>
              <a:spLocks noChangeShapeType="1"/>
            </p:cNvSpPr>
            <p:nvPr/>
          </p:nvSpPr>
          <p:spPr bwMode="auto">
            <a:xfrm>
              <a:off x="5797131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4" name="Line 633"/>
            <p:cNvSpPr>
              <a:spLocks noChangeShapeType="1"/>
            </p:cNvSpPr>
            <p:nvPr/>
          </p:nvSpPr>
          <p:spPr bwMode="auto">
            <a:xfrm flipH="1">
              <a:off x="5509099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5" name="Line 413"/>
            <p:cNvSpPr>
              <a:spLocks noChangeShapeType="1"/>
            </p:cNvSpPr>
            <p:nvPr/>
          </p:nvSpPr>
          <p:spPr bwMode="auto">
            <a:xfrm>
              <a:off x="7164688" y="3426519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6" name="Line 422"/>
            <p:cNvSpPr>
              <a:spLocks noChangeShapeType="1"/>
            </p:cNvSpPr>
            <p:nvPr/>
          </p:nvSpPr>
          <p:spPr bwMode="auto">
            <a:xfrm flipH="1">
              <a:off x="5798247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9" name="Line 408"/>
            <p:cNvSpPr>
              <a:spLocks noChangeShapeType="1"/>
            </p:cNvSpPr>
            <p:nvPr/>
          </p:nvSpPr>
          <p:spPr bwMode="auto">
            <a:xfrm flipH="1" flipV="1">
              <a:off x="7740752" y="2924944"/>
              <a:ext cx="7200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8" name="Line 404"/>
            <p:cNvSpPr>
              <a:spLocks noChangeShapeType="1"/>
            </p:cNvSpPr>
            <p:nvPr/>
          </p:nvSpPr>
          <p:spPr bwMode="auto">
            <a:xfrm>
              <a:off x="6876656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9" name="Line 410"/>
            <p:cNvSpPr>
              <a:spLocks noChangeShapeType="1"/>
            </p:cNvSpPr>
            <p:nvPr/>
          </p:nvSpPr>
          <p:spPr bwMode="auto">
            <a:xfrm>
              <a:off x="6876656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0" name="Line 404"/>
            <p:cNvSpPr>
              <a:spLocks noChangeShapeType="1"/>
            </p:cNvSpPr>
            <p:nvPr/>
          </p:nvSpPr>
          <p:spPr bwMode="auto">
            <a:xfrm>
              <a:off x="7452720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1" name="Line 410"/>
            <p:cNvSpPr>
              <a:spLocks noChangeShapeType="1"/>
            </p:cNvSpPr>
            <p:nvPr/>
          </p:nvSpPr>
          <p:spPr bwMode="auto">
            <a:xfrm>
              <a:off x="7452720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2" name="Text Box 424"/>
            <p:cNvSpPr txBox="1">
              <a:spLocks noChangeArrowheads="1"/>
            </p:cNvSpPr>
            <p:nvPr/>
          </p:nvSpPr>
          <p:spPr bwMode="auto">
            <a:xfrm>
              <a:off x="7416808" y="3177000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w</a:t>
              </a:r>
            </a:p>
          </p:txBody>
        </p:sp>
        <p:sp>
          <p:nvSpPr>
            <p:cNvPr id="183" name="Line 412"/>
            <p:cNvSpPr>
              <a:spLocks noChangeShapeType="1"/>
            </p:cNvSpPr>
            <p:nvPr/>
          </p:nvSpPr>
          <p:spPr bwMode="auto">
            <a:xfrm flipV="1">
              <a:off x="7164288" y="2708920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4" name="Line 412"/>
            <p:cNvSpPr>
              <a:spLocks noChangeShapeType="1"/>
            </p:cNvSpPr>
            <p:nvPr/>
          </p:nvSpPr>
          <p:spPr bwMode="auto">
            <a:xfrm flipV="1">
              <a:off x="7740352" y="2708920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1188024" y="2492896"/>
            <a:ext cx="3600000" cy="1512000"/>
            <a:chOff x="827584" y="2419232"/>
            <a:chExt cx="3600000" cy="1512000"/>
          </a:xfrm>
        </p:grpSpPr>
        <p:sp>
          <p:nvSpPr>
            <p:cNvPr id="186" name="Text Box 392"/>
            <p:cNvSpPr txBox="1">
              <a:spLocks noChangeArrowheads="1"/>
            </p:cNvSpPr>
            <p:nvPr/>
          </p:nvSpPr>
          <p:spPr bwMode="auto">
            <a:xfrm>
              <a:off x="827584" y="2419232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(100MHz)</a:t>
              </a:r>
              <a:r>
                <a:rPr lang="zh-CN" altLang="en-US" sz="1600" b="1" u="none" dirty="0">
                  <a:latin typeface="+mn-ea"/>
                  <a:ea typeface="+mn-ea"/>
                </a:rPr>
                <a:t>  工作频率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(100MHz)</a:t>
              </a:r>
            </a:p>
          </p:txBody>
        </p:sp>
        <p:sp>
          <p:nvSpPr>
            <p:cNvPr id="187" name="Line 397"/>
            <p:cNvSpPr>
              <a:spLocks noChangeShapeType="1"/>
            </p:cNvSpPr>
            <p:nvPr/>
          </p:nvSpPr>
          <p:spPr bwMode="auto">
            <a:xfrm>
              <a:off x="1620268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8" name="Line 400"/>
            <p:cNvSpPr>
              <a:spLocks noChangeShapeType="1"/>
            </p:cNvSpPr>
            <p:nvPr/>
          </p:nvSpPr>
          <p:spPr bwMode="auto">
            <a:xfrm>
              <a:off x="1042124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9" name="Line 401"/>
            <p:cNvSpPr>
              <a:spLocks noChangeShapeType="1"/>
            </p:cNvSpPr>
            <p:nvPr/>
          </p:nvSpPr>
          <p:spPr bwMode="auto">
            <a:xfrm>
              <a:off x="1332236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0" name="Line 402"/>
            <p:cNvSpPr>
              <a:spLocks noChangeShapeType="1"/>
            </p:cNvSpPr>
            <p:nvPr/>
          </p:nvSpPr>
          <p:spPr bwMode="auto">
            <a:xfrm flipH="1" flipV="1">
              <a:off x="1042994" y="27089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1" name="Line 404"/>
            <p:cNvSpPr>
              <a:spLocks noChangeShapeType="1"/>
            </p:cNvSpPr>
            <p:nvPr/>
          </p:nvSpPr>
          <p:spPr bwMode="auto">
            <a:xfrm>
              <a:off x="3275856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2" name="Line 405"/>
            <p:cNvSpPr>
              <a:spLocks noChangeShapeType="1"/>
            </p:cNvSpPr>
            <p:nvPr/>
          </p:nvSpPr>
          <p:spPr bwMode="auto">
            <a:xfrm flipH="1">
              <a:off x="2987824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3" name="Line 406"/>
            <p:cNvSpPr>
              <a:spLocks noChangeShapeType="1"/>
            </p:cNvSpPr>
            <p:nvPr/>
          </p:nvSpPr>
          <p:spPr bwMode="auto">
            <a:xfrm flipH="1">
              <a:off x="3275856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4" name="Line 407"/>
            <p:cNvSpPr>
              <a:spLocks noChangeShapeType="1"/>
            </p:cNvSpPr>
            <p:nvPr/>
          </p:nvSpPr>
          <p:spPr bwMode="auto">
            <a:xfrm flipH="1">
              <a:off x="3851920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5" name="Line 408"/>
            <p:cNvSpPr>
              <a:spLocks noChangeShapeType="1"/>
            </p:cNvSpPr>
            <p:nvPr/>
          </p:nvSpPr>
          <p:spPr bwMode="auto">
            <a:xfrm flipH="1">
              <a:off x="2916607" y="2924944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6" name="Line 409"/>
            <p:cNvSpPr>
              <a:spLocks noChangeShapeType="1"/>
            </p:cNvSpPr>
            <p:nvPr/>
          </p:nvSpPr>
          <p:spPr bwMode="auto">
            <a:xfrm flipH="1">
              <a:off x="3563888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7" name="Rectangle 414"/>
            <p:cNvSpPr>
              <a:spLocks noChangeArrowheads="1"/>
            </p:cNvSpPr>
            <p:nvPr/>
          </p:nvSpPr>
          <p:spPr bwMode="auto">
            <a:xfrm>
              <a:off x="827584" y="2994818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8" name="Text Box 415"/>
            <p:cNvSpPr txBox="1">
              <a:spLocks noChangeArrowheads="1"/>
            </p:cNvSpPr>
            <p:nvPr/>
          </p:nvSpPr>
          <p:spPr bwMode="auto">
            <a:xfrm>
              <a:off x="1619672" y="3643232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>
                  <a:highlight>
                    <a:srgbClr val="FFFF00"/>
                  </a:highlight>
                  <a:latin typeface="+mn-ea"/>
                  <a:ea typeface="+mn-ea"/>
                </a:rPr>
                <a:t>基本</a:t>
              </a:r>
              <a:r>
                <a:rPr lang="en-US" altLang="zh-CN" sz="1800" b="1" u="none" dirty="0">
                  <a:highlight>
                    <a:srgbClr val="FFFF00"/>
                  </a:highlight>
                  <a:latin typeface="+mn-ea"/>
                  <a:ea typeface="+mn-ea"/>
                </a:rPr>
                <a:t>SDRAM</a:t>
              </a:r>
            </a:p>
          </p:txBody>
        </p:sp>
        <p:sp>
          <p:nvSpPr>
            <p:cNvPr id="199" name="Text Box 416"/>
            <p:cNvSpPr txBox="1">
              <a:spLocks noChangeArrowheads="1"/>
            </p:cNvSpPr>
            <p:nvPr/>
          </p:nvSpPr>
          <p:spPr bwMode="auto">
            <a:xfrm>
              <a:off x="901525" y="3068067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存储矩阵</a:t>
              </a:r>
              <a:endParaRPr lang="en-US" altLang="zh-CN" sz="1800" b="1" u="none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800" b="1" u="none" baseline="30000" dirty="0">
                  <a:solidFill>
                    <a:srgbClr val="CC3300"/>
                  </a:solidFill>
                  <a:latin typeface="+mn-ea"/>
                  <a:ea typeface="+mn-ea"/>
                </a:rPr>
                <a:t>n</a:t>
              </a:r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×w</a:t>
              </a:r>
              <a:endParaRPr lang="zh-CN" altLang="en-US" sz="1800" b="1" u="none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Text Box 417"/>
            <p:cNvSpPr txBox="1">
              <a:spLocks noChangeArrowheads="1"/>
            </p:cNvSpPr>
            <p:nvPr/>
          </p:nvSpPr>
          <p:spPr bwMode="auto">
            <a:xfrm>
              <a:off x="2699792" y="3068067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+mn-ea"/>
                  <a:ea typeface="+mn-ea"/>
                </a:rPr>
                <a:t>I/O</a:t>
              </a:r>
            </a:p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缓冲</a:t>
              </a:r>
            </a:p>
          </p:txBody>
        </p:sp>
        <p:sp>
          <p:nvSpPr>
            <p:cNvPr id="201" name="Line 418"/>
            <p:cNvSpPr>
              <a:spLocks noChangeShapeType="1"/>
            </p:cNvSpPr>
            <p:nvPr/>
          </p:nvSpPr>
          <p:spPr bwMode="auto">
            <a:xfrm flipV="1">
              <a:off x="1979712" y="3427313"/>
              <a:ext cx="7200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2" name="Line 422"/>
            <p:cNvSpPr>
              <a:spLocks noChangeShapeType="1"/>
            </p:cNvSpPr>
            <p:nvPr/>
          </p:nvSpPr>
          <p:spPr bwMode="auto">
            <a:xfrm flipH="1">
              <a:off x="971600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3" name="Line 423"/>
            <p:cNvSpPr>
              <a:spLocks noChangeShapeType="1"/>
            </p:cNvSpPr>
            <p:nvPr/>
          </p:nvSpPr>
          <p:spPr bwMode="auto">
            <a:xfrm flipH="1">
              <a:off x="1332235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4" name="Text Box 424"/>
            <p:cNvSpPr txBox="1">
              <a:spLocks noChangeArrowheads="1"/>
            </p:cNvSpPr>
            <p:nvPr/>
          </p:nvSpPr>
          <p:spPr bwMode="auto">
            <a:xfrm>
              <a:off x="2195736" y="3177000"/>
              <a:ext cx="2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w</a:t>
              </a:r>
            </a:p>
          </p:txBody>
        </p:sp>
        <p:sp>
          <p:nvSpPr>
            <p:cNvPr id="205" name="Line 429"/>
            <p:cNvSpPr>
              <a:spLocks noChangeShapeType="1"/>
            </p:cNvSpPr>
            <p:nvPr/>
          </p:nvSpPr>
          <p:spPr bwMode="auto">
            <a:xfrm flipH="1">
              <a:off x="2412330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6" name="Line 436"/>
            <p:cNvSpPr>
              <a:spLocks noChangeShapeType="1"/>
            </p:cNvSpPr>
            <p:nvPr/>
          </p:nvSpPr>
          <p:spPr bwMode="auto">
            <a:xfrm flipH="1">
              <a:off x="3671968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7" name="Line 632"/>
            <p:cNvSpPr>
              <a:spLocks noChangeShapeType="1"/>
            </p:cNvSpPr>
            <p:nvPr/>
          </p:nvSpPr>
          <p:spPr bwMode="auto">
            <a:xfrm>
              <a:off x="1908299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8" name="Line 633"/>
            <p:cNvSpPr>
              <a:spLocks noChangeShapeType="1"/>
            </p:cNvSpPr>
            <p:nvPr/>
          </p:nvSpPr>
          <p:spPr bwMode="auto">
            <a:xfrm flipH="1">
              <a:off x="1620267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9" name="Line 413"/>
            <p:cNvSpPr>
              <a:spLocks noChangeShapeType="1"/>
            </p:cNvSpPr>
            <p:nvPr/>
          </p:nvSpPr>
          <p:spPr bwMode="auto">
            <a:xfrm>
              <a:off x="3275856" y="3426519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2" name="Line 422"/>
            <p:cNvSpPr>
              <a:spLocks noChangeShapeType="1"/>
            </p:cNvSpPr>
            <p:nvPr/>
          </p:nvSpPr>
          <p:spPr bwMode="auto">
            <a:xfrm flipH="1">
              <a:off x="1909415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6" name="Line 408"/>
            <p:cNvSpPr>
              <a:spLocks noChangeShapeType="1"/>
            </p:cNvSpPr>
            <p:nvPr/>
          </p:nvSpPr>
          <p:spPr bwMode="auto">
            <a:xfrm flipH="1" flipV="1">
              <a:off x="3851920" y="2924944"/>
              <a:ext cx="7200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7" name="Line 404"/>
            <p:cNvSpPr>
              <a:spLocks noChangeShapeType="1"/>
            </p:cNvSpPr>
            <p:nvPr/>
          </p:nvSpPr>
          <p:spPr bwMode="auto">
            <a:xfrm>
              <a:off x="2987824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8" name="Line 410"/>
            <p:cNvSpPr>
              <a:spLocks noChangeShapeType="1"/>
            </p:cNvSpPr>
            <p:nvPr/>
          </p:nvSpPr>
          <p:spPr bwMode="auto">
            <a:xfrm>
              <a:off x="2987824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58" name="Line 404"/>
            <p:cNvSpPr>
              <a:spLocks noChangeShapeType="1"/>
            </p:cNvSpPr>
            <p:nvPr/>
          </p:nvSpPr>
          <p:spPr bwMode="auto">
            <a:xfrm>
              <a:off x="3563888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" name="Line 410"/>
            <p:cNvSpPr>
              <a:spLocks noChangeShapeType="1"/>
            </p:cNvSpPr>
            <p:nvPr/>
          </p:nvSpPr>
          <p:spPr bwMode="auto">
            <a:xfrm>
              <a:off x="3563888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2" name="Text Box 424"/>
            <p:cNvSpPr txBox="1">
              <a:spLocks noChangeArrowheads="1"/>
            </p:cNvSpPr>
            <p:nvPr/>
          </p:nvSpPr>
          <p:spPr bwMode="auto">
            <a:xfrm>
              <a:off x="3527976" y="3177000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w</a:t>
              </a: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5074236" y="3250664"/>
            <a:ext cx="1585596" cy="424567"/>
            <a:chOff x="5004048" y="3177000"/>
            <a:chExt cx="1585596" cy="424567"/>
          </a:xfrm>
        </p:grpSpPr>
        <p:sp>
          <p:nvSpPr>
            <p:cNvPr id="295" name="Text Box 424"/>
            <p:cNvSpPr txBox="1">
              <a:spLocks noChangeArrowheads="1"/>
            </p:cNvSpPr>
            <p:nvPr/>
          </p:nvSpPr>
          <p:spPr bwMode="auto">
            <a:xfrm>
              <a:off x="5004048" y="3385567"/>
              <a:ext cx="100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800" b="1" u="none" baseline="38000" dirty="0">
                  <a:solidFill>
                    <a:srgbClr val="CC3300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×2w</a:t>
              </a:r>
              <a:endParaRPr lang="zh-CN" altLang="en-US" sz="1800" b="1" u="none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297" name="Text Box 424"/>
            <p:cNvSpPr txBox="1">
              <a:spLocks noChangeArrowheads="1"/>
            </p:cNvSpPr>
            <p:nvPr/>
          </p:nvSpPr>
          <p:spPr bwMode="auto">
            <a:xfrm>
              <a:off x="6229644" y="3177000"/>
              <a:ext cx="36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2w</a:t>
              </a:r>
            </a:p>
          </p:txBody>
        </p:sp>
      </p:grpSp>
      <p:grpSp>
        <p:nvGrpSpPr>
          <p:cNvPr id="298" name="组合 297"/>
          <p:cNvGrpSpPr/>
          <p:nvPr/>
        </p:nvGrpSpPr>
        <p:grpSpPr>
          <a:xfrm>
            <a:off x="5004048" y="5013176"/>
            <a:ext cx="3600000" cy="1512136"/>
            <a:chOff x="827584" y="4149112"/>
            <a:chExt cx="3600000" cy="1512136"/>
          </a:xfrm>
        </p:grpSpPr>
        <p:sp>
          <p:nvSpPr>
            <p:cNvPr id="299" name="Text Box 392"/>
            <p:cNvSpPr txBox="1">
              <a:spLocks noChangeArrowheads="1"/>
            </p:cNvSpPr>
            <p:nvPr/>
          </p:nvSpPr>
          <p:spPr bwMode="auto">
            <a:xfrm>
              <a:off x="827584" y="4149112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(100MHz)</a:t>
              </a:r>
              <a:r>
                <a:rPr lang="zh-CN" altLang="en-US" sz="1600" b="1" u="none" dirty="0">
                  <a:latin typeface="+mn-ea"/>
                  <a:ea typeface="+mn-ea"/>
                </a:rPr>
                <a:t>  工作频率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+mn-ea"/>
                  <a:ea typeface="+mn-ea"/>
                </a:rPr>
                <a:t>200MHz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300" name="Line 397"/>
            <p:cNvSpPr>
              <a:spLocks noChangeShapeType="1"/>
            </p:cNvSpPr>
            <p:nvPr/>
          </p:nvSpPr>
          <p:spPr bwMode="auto">
            <a:xfrm>
              <a:off x="1620268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1" name="Line 400"/>
            <p:cNvSpPr>
              <a:spLocks noChangeShapeType="1"/>
            </p:cNvSpPr>
            <p:nvPr/>
          </p:nvSpPr>
          <p:spPr bwMode="auto">
            <a:xfrm>
              <a:off x="1042124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2" name="Line 401"/>
            <p:cNvSpPr>
              <a:spLocks noChangeShapeType="1"/>
            </p:cNvSpPr>
            <p:nvPr/>
          </p:nvSpPr>
          <p:spPr bwMode="auto">
            <a:xfrm>
              <a:off x="1332236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3" name="Line 402"/>
            <p:cNvSpPr>
              <a:spLocks noChangeShapeType="1"/>
            </p:cNvSpPr>
            <p:nvPr/>
          </p:nvSpPr>
          <p:spPr bwMode="auto">
            <a:xfrm flipH="1" flipV="1">
              <a:off x="1042994" y="44371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4" name="Line 404"/>
            <p:cNvSpPr>
              <a:spLocks noChangeShapeType="1"/>
            </p:cNvSpPr>
            <p:nvPr/>
          </p:nvSpPr>
          <p:spPr bwMode="auto">
            <a:xfrm>
              <a:off x="3131840" y="443711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5" name="Line 405"/>
            <p:cNvSpPr>
              <a:spLocks noChangeShapeType="1"/>
            </p:cNvSpPr>
            <p:nvPr/>
          </p:nvSpPr>
          <p:spPr bwMode="auto">
            <a:xfrm flipH="1">
              <a:off x="2987824" y="4434688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6" name="Line 406"/>
            <p:cNvSpPr>
              <a:spLocks noChangeShapeType="1"/>
            </p:cNvSpPr>
            <p:nvPr/>
          </p:nvSpPr>
          <p:spPr bwMode="auto">
            <a:xfrm flipH="1">
              <a:off x="3131840" y="4654946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7" name="Line 408"/>
            <p:cNvSpPr>
              <a:spLocks noChangeShapeType="1"/>
            </p:cNvSpPr>
            <p:nvPr/>
          </p:nvSpPr>
          <p:spPr bwMode="auto">
            <a:xfrm flipH="1">
              <a:off x="2916607" y="4653168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8" name="Rectangle 414"/>
            <p:cNvSpPr>
              <a:spLocks noChangeArrowheads="1"/>
            </p:cNvSpPr>
            <p:nvPr/>
          </p:nvSpPr>
          <p:spPr bwMode="auto">
            <a:xfrm>
              <a:off x="827584" y="4723042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9" name="Text Box 415"/>
            <p:cNvSpPr txBox="1">
              <a:spLocks noChangeArrowheads="1"/>
            </p:cNvSpPr>
            <p:nvPr/>
          </p:nvSpPr>
          <p:spPr bwMode="auto">
            <a:xfrm>
              <a:off x="1619672" y="5373248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>
                  <a:highlight>
                    <a:srgbClr val="FFFF00"/>
                  </a:highlight>
                  <a:latin typeface="+mn-ea"/>
                  <a:ea typeface="+mn-ea"/>
                </a:rPr>
                <a:t>DDR2 SDRAM</a:t>
              </a:r>
            </a:p>
          </p:txBody>
        </p:sp>
        <p:sp>
          <p:nvSpPr>
            <p:cNvPr id="310" name="Text Box 416"/>
            <p:cNvSpPr txBox="1">
              <a:spLocks noChangeArrowheads="1"/>
            </p:cNvSpPr>
            <p:nvPr/>
          </p:nvSpPr>
          <p:spPr bwMode="auto">
            <a:xfrm>
              <a:off x="901525" y="4796291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存储矩阵</a:t>
              </a:r>
              <a:endParaRPr lang="en-US" altLang="zh-CN" sz="1800" b="1" u="none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800" b="1" u="none" baseline="38000" dirty="0">
                  <a:solidFill>
                    <a:srgbClr val="CC3300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1800" b="1" u="none" dirty="0">
                  <a:solidFill>
                    <a:srgbClr val="CC3300"/>
                  </a:solidFill>
                  <a:latin typeface="+mn-ea"/>
                  <a:ea typeface="+mn-ea"/>
                </a:rPr>
                <a:t>×4w</a:t>
              </a:r>
              <a:endParaRPr lang="zh-CN" altLang="en-US" sz="1800" b="1" u="none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Text Box 417"/>
            <p:cNvSpPr txBox="1">
              <a:spLocks noChangeArrowheads="1"/>
            </p:cNvSpPr>
            <p:nvPr/>
          </p:nvSpPr>
          <p:spPr bwMode="auto">
            <a:xfrm>
              <a:off x="2699792" y="4796291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+mn-ea"/>
                  <a:ea typeface="+mn-ea"/>
                </a:rPr>
                <a:t>I/O</a:t>
              </a:r>
            </a:p>
            <a:p>
              <a:pPr algn="ctr"/>
              <a:r>
                <a:rPr lang="zh-CN" altLang="en-US" sz="1800" b="1" u="none" dirty="0">
                  <a:latin typeface="+mn-ea"/>
                  <a:ea typeface="+mn-ea"/>
                </a:rPr>
                <a:t>缓冲</a:t>
              </a:r>
            </a:p>
          </p:txBody>
        </p:sp>
        <p:sp>
          <p:nvSpPr>
            <p:cNvPr id="312" name="Line 418"/>
            <p:cNvSpPr>
              <a:spLocks noChangeShapeType="1"/>
            </p:cNvSpPr>
            <p:nvPr/>
          </p:nvSpPr>
          <p:spPr bwMode="auto">
            <a:xfrm flipV="1">
              <a:off x="1979712" y="5155537"/>
              <a:ext cx="720000" cy="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3" name="Line 422"/>
            <p:cNvSpPr>
              <a:spLocks noChangeShapeType="1"/>
            </p:cNvSpPr>
            <p:nvPr/>
          </p:nvSpPr>
          <p:spPr bwMode="auto">
            <a:xfrm flipH="1">
              <a:off x="971600" y="4653168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4" name="Line 423"/>
            <p:cNvSpPr>
              <a:spLocks noChangeShapeType="1"/>
            </p:cNvSpPr>
            <p:nvPr/>
          </p:nvSpPr>
          <p:spPr bwMode="auto">
            <a:xfrm flipH="1">
              <a:off x="1332235" y="4653168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5" name="Text Box 424"/>
            <p:cNvSpPr txBox="1">
              <a:spLocks noChangeArrowheads="1"/>
            </p:cNvSpPr>
            <p:nvPr/>
          </p:nvSpPr>
          <p:spPr bwMode="auto">
            <a:xfrm>
              <a:off x="2123768" y="4905224"/>
              <a:ext cx="36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4w</a:t>
              </a:r>
            </a:p>
          </p:txBody>
        </p:sp>
        <p:sp>
          <p:nvSpPr>
            <p:cNvPr id="316" name="Line 429"/>
            <p:cNvSpPr>
              <a:spLocks noChangeShapeType="1"/>
            </p:cNvSpPr>
            <p:nvPr/>
          </p:nvSpPr>
          <p:spPr bwMode="auto">
            <a:xfrm flipH="1">
              <a:off x="2412330" y="5083876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7" name="Line 436"/>
            <p:cNvSpPr>
              <a:spLocks noChangeShapeType="1"/>
            </p:cNvSpPr>
            <p:nvPr/>
          </p:nvSpPr>
          <p:spPr bwMode="auto">
            <a:xfrm flipH="1">
              <a:off x="3671968" y="5083876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" name="Line 632"/>
            <p:cNvSpPr>
              <a:spLocks noChangeShapeType="1"/>
            </p:cNvSpPr>
            <p:nvPr/>
          </p:nvSpPr>
          <p:spPr bwMode="auto">
            <a:xfrm>
              <a:off x="1908299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" name="Line 633"/>
            <p:cNvSpPr>
              <a:spLocks noChangeShapeType="1"/>
            </p:cNvSpPr>
            <p:nvPr/>
          </p:nvSpPr>
          <p:spPr bwMode="auto">
            <a:xfrm flipH="1">
              <a:off x="1620267" y="4434688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" name="Line 413"/>
            <p:cNvSpPr>
              <a:spLocks noChangeShapeType="1"/>
            </p:cNvSpPr>
            <p:nvPr/>
          </p:nvSpPr>
          <p:spPr bwMode="auto">
            <a:xfrm>
              <a:off x="3275856" y="5154743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1" name="Line 422"/>
            <p:cNvSpPr>
              <a:spLocks noChangeShapeType="1"/>
            </p:cNvSpPr>
            <p:nvPr/>
          </p:nvSpPr>
          <p:spPr bwMode="auto">
            <a:xfrm flipH="1">
              <a:off x="1909415" y="4653168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" name="Line 404"/>
            <p:cNvSpPr>
              <a:spLocks noChangeShapeType="1"/>
            </p:cNvSpPr>
            <p:nvPr/>
          </p:nvSpPr>
          <p:spPr bwMode="auto">
            <a:xfrm>
              <a:off x="2987824" y="443714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" name="Line 410"/>
            <p:cNvSpPr>
              <a:spLocks noChangeShapeType="1"/>
            </p:cNvSpPr>
            <p:nvPr/>
          </p:nvSpPr>
          <p:spPr bwMode="auto">
            <a:xfrm>
              <a:off x="2987824" y="4507713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" name="Text Box 424"/>
            <p:cNvSpPr txBox="1">
              <a:spLocks noChangeArrowheads="1"/>
            </p:cNvSpPr>
            <p:nvPr/>
          </p:nvSpPr>
          <p:spPr bwMode="auto">
            <a:xfrm>
              <a:off x="3527976" y="4905224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chemeClr val="accent2"/>
                  </a:solidFill>
                  <a:latin typeface="+mn-ea"/>
                  <a:ea typeface="+mn-ea"/>
                </a:rPr>
                <a:t>w</a:t>
              </a:r>
            </a:p>
          </p:txBody>
        </p:sp>
        <p:sp>
          <p:nvSpPr>
            <p:cNvPr id="325" name="Line 412"/>
            <p:cNvSpPr>
              <a:spLocks noChangeShapeType="1"/>
            </p:cNvSpPr>
            <p:nvPr/>
          </p:nvSpPr>
          <p:spPr bwMode="auto">
            <a:xfrm flipV="1">
              <a:off x="3131840" y="4437112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6" name="Line 404"/>
            <p:cNvSpPr>
              <a:spLocks noChangeShapeType="1"/>
            </p:cNvSpPr>
            <p:nvPr/>
          </p:nvSpPr>
          <p:spPr bwMode="auto">
            <a:xfrm>
              <a:off x="3419888" y="4439536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7" name="Line 405"/>
            <p:cNvSpPr>
              <a:spLocks noChangeShapeType="1"/>
            </p:cNvSpPr>
            <p:nvPr/>
          </p:nvSpPr>
          <p:spPr bwMode="auto">
            <a:xfrm flipH="1">
              <a:off x="3275872" y="4437112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" name="Line 406"/>
            <p:cNvSpPr>
              <a:spLocks noChangeShapeType="1"/>
            </p:cNvSpPr>
            <p:nvPr/>
          </p:nvSpPr>
          <p:spPr bwMode="auto">
            <a:xfrm flipH="1">
              <a:off x="3419888" y="4657370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9" name="Line 404"/>
            <p:cNvSpPr>
              <a:spLocks noChangeShapeType="1"/>
            </p:cNvSpPr>
            <p:nvPr/>
          </p:nvSpPr>
          <p:spPr bwMode="auto">
            <a:xfrm>
              <a:off x="3275872" y="443956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" name="Line 410"/>
            <p:cNvSpPr>
              <a:spLocks noChangeShapeType="1"/>
            </p:cNvSpPr>
            <p:nvPr/>
          </p:nvSpPr>
          <p:spPr bwMode="auto">
            <a:xfrm>
              <a:off x="3275872" y="4510137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1" name="Line 412"/>
            <p:cNvSpPr>
              <a:spLocks noChangeShapeType="1"/>
            </p:cNvSpPr>
            <p:nvPr/>
          </p:nvSpPr>
          <p:spPr bwMode="auto">
            <a:xfrm flipV="1">
              <a:off x="3419888" y="4439536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" name="Line 404"/>
            <p:cNvSpPr>
              <a:spLocks noChangeShapeType="1"/>
            </p:cNvSpPr>
            <p:nvPr/>
          </p:nvSpPr>
          <p:spPr bwMode="auto">
            <a:xfrm>
              <a:off x="3707904" y="4439536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3" name="Line 405"/>
            <p:cNvSpPr>
              <a:spLocks noChangeShapeType="1"/>
            </p:cNvSpPr>
            <p:nvPr/>
          </p:nvSpPr>
          <p:spPr bwMode="auto">
            <a:xfrm flipH="1">
              <a:off x="3563888" y="4437112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4" name="Line 406"/>
            <p:cNvSpPr>
              <a:spLocks noChangeShapeType="1"/>
            </p:cNvSpPr>
            <p:nvPr/>
          </p:nvSpPr>
          <p:spPr bwMode="auto">
            <a:xfrm flipH="1">
              <a:off x="3707904" y="4657370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5" name="Line 404"/>
            <p:cNvSpPr>
              <a:spLocks noChangeShapeType="1"/>
            </p:cNvSpPr>
            <p:nvPr/>
          </p:nvSpPr>
          <p:spPr bwMode="auto">
            <a:xfrm>
              <a:off x="3563888" y="443956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6" name="Line 410"/>
            <p:cNvSpPr>
              <a:spLocks noChangeShapeType="1"/>
            </p:cNvSpPr>
            <p:nvPr/>
          </p:nvSpPr>
          <p:spPr bwMode="auto">
            <a:xfrm>
              <a:off x="3563888" y="4510137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7" name="Line 412"/>
            <p:cNvSpPr>
              <a:spLocks noChangeShapeType="1"/>
            </p:cNvSpPr>
            <p:nvPr/>
          </p:nvSpPr>
          <p:spPr bwMode="auto">
            <a:xfrm flipV="1">
              <a:off x="3707904" y="4439536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8" name="Line 405"/>
            <p:cNvSpPr>
              <a:spLocks noChangeShapeType="1"/>
            </p:cNvSpPr>
            <p:nvPr/>
          </p:nvSpPr>
          <p:spPr bwMode="auto">
            <a:xfrm flipH="1">
              <a:off x="3851936" y="4439536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9" name="Line 404"/>
            <p:cNvSpPr>
              <a:spLocks noChangeShapeType="1"/>
            </p:cNvSpPr>
            <p:nvPr/>
          </p:nvSpPr>
          <p:spPr bwMode="auto">
            <a:xfrm>
              <a:off x="3851936" y="444199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0" name="Line 410"/>
            <p:cNvSpPr>
              <a:spLocks noChangeShapeType="1"/>
            </p:cNvSpPr>
            <p:nvPr/>
          </p:nvSpPr>
          <p:spPr bwMode="auto">
            <a:xfrm>
              <a:off x="3851936" y="4512561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30" name="Text Box 72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4000" y="5877272"/>
            <a:ext cx="327570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DDR3 SDRAM</a:t>
            </a:r>
            <a:r>
              <a:rPr lang="zh-CN" altLang="en-US" sz="1800" dirty="0">
                <a:solidFill>
                  <a:schemeClr val="tx1"/>
                </a:solidFill>
              </a:rPr>
              <a:t>的内部结构？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230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77"/>
          <p:cNvSpPr txBox="1">
            <a:spLocks noChangeArrowheads="1"/>
          </p:cNvSpPr>
          <p:nvPr/>
        </p:nvSpPr>
        <p:spPr bwMode="auto">
          <a:xfrm>
            <a:off x="179705" y="1196752"/>
            <a:ext cx="6409230" cy="4716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多体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的编址方式：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应用选择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6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交叉编址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的工作方式： 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指不同体的启动时机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有交叉访问方式、并行访问方式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077684" y="6451896"/>
            <a:ext cx="1040904" cy="360040"/>
          </a:xfrm>
        </p:spPr>
        <p:txBody>
          <a:bodyPr/>
          <a:lstStyle/>
          <a:p>
            <a:fld id="{AD0B46FB-961D-45CD-932A-737035D922E0}" type="slidenum">
              <a:rPr lang="en-US" altLang="zh-CN" smtClean="0"/>
              <a:t>43</a:t>
            </a:fld>
            <a:endParaRPr lang="en-US" altLang="zh-CN"/>
          </a:p>
        </p:txBody>
      </p:sp>
      <p:sp>
        <p:nvSpPr>
          <p:cNvPr id="4" name="Text Box 75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多体交叉存储器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优化方法</a:t>
            </a:r>
            <a:r>
              <a:rPr lang="en-US" altLang="zh-CN" sz="1800" b="1" u="none" dirty="0">
                <a:latin typeface="宋体" panose="02010600030101010101" pitchFamily="2" charset="-122"/>
              </a:rPr>
              <a:t>2(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并行处理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MEM])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存储体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spc="-30" dirty="0">
                <a:latin typeface="宋体" panose="02010600030101010101" pitchFamily="2" charset="-122"/>
              </a:rPr>
              <a:t>指具有存储矩阵、译码电路、读写电路的</a:t>
            </a:r>
            <a:r>
              <a:rPr lang="zh-CN" altLang="en-US" sz="2200" b="1" spc="-30" dirty="0">
                <a:solidFill>
                  <a:srgbClr val="0070C0"/>
                </a:solidFill>
                <a:latin typeface="宋体" panose="02010600030101010101" pitchFamily="2" charset="-122"/>
              </a:rPr>
              <a:t>存储模块</a:t>
            </a:r>
            <a:endParaRPr lang="en-US" altLang="zh-CN" sz="2200" b="1" spc="-3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63" name="Text Box 76"/>
          <p:cNvSpPr txBox="1">
            <a:spLocks noChangeArrowheads="1"/>
          </p:cNvSpPr>
          <p:nvPr/>
        </p:nvSpPr>
        <p:spPr bwMode="auto">
          <a:xfrm>
            <a:off x="755576" y="3861048"/>
            <a:ext cx="8136904" cy="12041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</a:rPr>
              <a:t>容量扩展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时为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顺序编址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；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←减少功耗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访问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个存储体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</a:rPr>
              <a:t>性能优化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时为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交叉编址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←提高带宽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访问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多个连续</a:t>
            </a:r>
            <a:r>
              <a:rPr lang="zh-CN" altLang="en-US" sz="1600" b="1" u="none" dirty="0">
                <a:latin typeface="宋体" panose="02010600030101010101" pitchFamily="2" charset="-122"/>
              </a:rPr>
              <a:t>单元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                         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各体同一单元</a:t>
            </a:r>
            <a:r>
              <a:rPr lang="zh-CN" altLang="en-US" sz="1600" b="1" dirty="0">
                <a:latin typeface="宋体" panose="02010600030101010101" pitchFamily="2" charset="-122"/>
              </a:rPr>
              <a:t>地址连续</a:t>
            </a:r>
            <a:r>
              <a:rPr lang="en-US" altLang="zh-CN" sz="1600" b="1" u="none" dirty="0">
                <a:latin typeface="宋体" panose="02010600030101010101" pitchFamily="2" charset="-122"/>
              </a:rPr>
              <a:t>) </a:t>
            </a:r>
          </a:p>
        </p:txBody>
      </p:sp>
      <p:sp>
        <p:nvSpPr>
          <p:cNvPr id="76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AutoShape 62">
            <a:hlinkClick r:id="rId5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0" name="AutoShape 62">
            <a:hlinkClick r:id="rId5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2" name="Text Box 76"/>
          <p:cNvSpPr txBox="1">
            <a:spLocks noChangeArrowheads="1"/>
          </p:cNvSpPr>
          <p:nvPr/>
        </p:nvSpPr>
        <p:spPr bwMode="auto">
          <a:xfrm>
            <a:off x="1620384" y="3501008"/>
            <a:ext cx="64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交叉编址方式时，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的内部连线与顺序编址有何不同？</a:t>
            </a:r>
            <a:endParaRPr lang="en-US" altLang="zh-CN" sz="1800" b="1" u="none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4BC24DA-5F14-4439-A72C-67D0D022F408}"/>
              </a:ext>
            </a:extLst>
          </p:cNvPr>
          <p:cNvGrpSpPr/>
          <p:nvPr/>
        </p:nvGrpSpPr>
        <p:grpSpPr>
          <a:xfrm>
            <a:off x="1331861" y="1628800"/>
            <a:ext cx="6840539" cy="1797325"/>
            <a:chOff x="1331861" y="1628656"/>
            <a:chExt cx="6840539" cy="1797325"/>
          </a:xfrm>
        </p:grpSpPr>
        <p:sp>
          <p:nvSpPr>
            <p:cNvPr id="77" name="Text Box 79">
              <a:extLst>
                <a:ext uri="{FF2B5EF4-FFF2-40B4-BE49-F238E27FC236}">
                  <a16:creationId xmlns:a16="http://schemas.microsoft.com/office/drawing/2014/main" id="{02475444-E39A-4370-9AD6-D7EB524C2816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340000" y="3137056"/>
              <a:ext cx="51480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(a)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顺序编址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方式       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(b)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交叉编址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方式    </a:t>
              </a:r>
            </a:p>
          </p:txBody>
        </p:sp>
        <p:sp>
          <p:nvSpPr>
            <p:cNvPr id="78" name="Text Box 80">
              <a:extLst>
                <a:ext uri="{FF2B5EF4-FFF2-40B4-BE49-F238E27FC236}">
                  <a16:creationId xmlns:a16="http://schemas.microsoft.com/office/drawing/2014/main" id="{8D6CBCA8-CAB6-403D-9302-280E8521B434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03720" y="2858056"/>
              <a:ext cx="11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模块地址：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81">
              <a:extLst>
                <a:ext uri="{FF2B5EF4-FFF2-40B4-BE49-F238E27FC236}">
                  <a16:creationId xmlns:a16="http://schemas.microsoft.com/office/drawing/2014/main" id="{7D6432B3-B44F-454E-B52A-AA8553EB6B9F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156248" y="2858056"/>
              <a:ext cx="165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体内地址  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体号</a:t>
              </a:r>
            </a:p>
          </p:txBody>
        </p:sp>
        <p:sp>
          <p:nvSpPr>
            <p:cNvPr id="81" name="Line 85">
              <a:extLst>
                <a:ext uri="{FF2B5EF4-FFF2-40B4-BE49-F238E27FC236}">
                  <a16:creationId xmlns:a16="http://schemas.microsoft.com/office/drawing/2014/main" id="{C0BEF4E4-1875-4A14-9AA7-C51B396F3B1B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7236000" y="2858056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86">
              <a:extLst>
                <a:ext uri="{FF2B5EF4-FFF2-40B4-BE49-F238E27FC236}">
                  <a16:creationId xmlns:a16="http://schemas.microsoft.com/office/drawing/2014/main" id="{1B46E4B0-27CF-4F9E-931F-9F31EE267261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669162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83" name="Line 87">
              <a:extLst>
                <a:ext uri="{FF2B5EF4-FFF2-40B4-BE49-F238E27FC236}">
                  <a16:creationId xmlns:a16="http://schemas.microsoft.com/office/drawing/2014/main" id="{FA692F34-B85C-406F-8670-9C5599AA971B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665987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8">
              <a:extLst>
                <a:ext uri="{FF2B5EF4-FFF2-40B4-BE49-F238E27FC236}">
                  <a16:creationId xmlns:a16="http://schemas.microsoft.com/office/drawing/2014/main" id="{1710DBC1-BDAB-418A-BA1F-7C5E8576DF8B}"/>
                </a:ext>
              </a:extLst>
            </p:cNvPr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7665987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9">
              <a:extLst>
                <a:ext uri="{FF2B5EF4-FFF2-40B4-BE49-F238E27FC236}">
                  <a16:creationId xmlns:a16="http://schemas.microsoft.com/office/drawing/2014/main" id="{1750031A-3960-4015-9B17-067640094BAB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7665987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90">
              <a:extLst>
                <a:ext uri="{FF2B5EF4-FFF2-40B4-BE49-F238E27FC236}">
                  <a16:creationId xmlns:a16="http://schemas.microsoft.com/office/drawing/2014/main" id="{3A479602-F7C4-45CD-8EA0-3EAF1A587EE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77000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87" name="Line 91">
              <a:extLst>
                <a:ext uri="{FF2B5EF4-FFF2-40B4-BE49-F238E27FC236}">
                  <a16:creationId xmlns:a16="http://schemas.microsoft.com/office/drawing/2014/main" id="{FF17BDDA-553F-4524-B124-62FB55CFACB1}"/>
                </a:ext>
              </a:extLst>
            </p:cNvPr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6877000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92">
              <a:extLst>
                <a:ext uri="{FF2B5EF4-FFF2-40B4-BE49-F238E27FC236}">
                  <a16:creationId xmlns:a16="http://schemas.microsoft.com/office/drawing/2014/main" id="{2F8DB5D9-3E5B-41F7-BC11-712003AA2016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6877000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93">
              <a:extLst>
                <a:ext uri="{FF2B5EF4-FFF2-40B4-BE49-F238E27FC236}">
                  <a16:creationId xmlns:a16="http://schemas.microsoft.com/office/drawing/2014/main" id="{CE00103D-4D06-4D6F-9201-22B6E1685C3E}"/>
                </a:ext>
              </a:extLst>
            </p:cNvPr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6877000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94">
              <a:extLst>
                <a:ext uri="{FF2B5EF4-FFF2-40B4-BE49-F238E27FC236}">
                  <a16:creationId xmlns:a16="http://schemas.microsoft.com/office/drawing/2014/main" id="{E242CFAD-DA89-4B1E-B130-BE419F8CE39C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84837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91" name="Line 95">
              <a:extLst>
                <a:ext uri="{FF2B5EF4-FFF2-40B4-BE49-F238E27FC236}">
                  <a16:creationId xmlns:a16="http://schemas.microsoft.com/office/drawing/2014/main" id="{AD283D51-8DFB-4DDC-9BD6-CC7232562E2A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6084837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6">
              <a:extLst>
                <a:ext uri="{FF2B5EF4-FFF2-40B4-BE49-F238E27FC236}">
                  <a16:creationId xmlns:a16="http://schemas.microsoft.com/office/drawing/2014/main" id="{E074B310-4C0B-4207-872B-BB21508F0C31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6084837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7">
              <a:extLst>
                <a:ext uri="{FF2B5EF4-FFF2-40B4-BE49-F238E27FC236}">
                  <a16:creationId xmlns:a16="http://schemas.microsoft.com/office/drawing/2014/main" id="{228EF50E-2EDB-428E-87FE-BE34B75E062F}"/>
                </a:ext>
              </a:extLst>
            </p:cNvPr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084837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Box 98">
              <a:extLst>
                <a:ext uri="{FF2B5EF4-FFF2-40B4-BE49-F238E27FC236}">
                  <a16:creationId xmlns:a16="http://schemas.microsoft.com/office/drawing/2014/main" id="{300FCA37-C94A-40E4-9212-5E092816CF84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292674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95" name="Line 99">
              <a:extLst>
                <a:ext uri="{FF2B5EF4-FFF2-40B4-BE49-F238E27FC236}">
                  <a16:creationId xmlns:a16="http://schemas.microsoft.com/office/drawing/2014/main" id="{0920B4DD-64AC-47A6-805A-42595B297D6F}"/>
                </a:ext>
              </a:extLst>
            </p:cNvPr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5292674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100">
              <a:extLst>
                <a:ext uri="{FF2B5EF4-FFF2-40B4-BE49-F238E27FC236}">
                  <a16:creationId xmlns:a16="http://schemas.microsoft.com/office/drawing/2014/main" id="{E9E4E95D-F014-4DBC-AC37-ED50DD7E2824}"/>
                </a:ext>
              </a:extLst>
            </p:cNvPr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5292674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101">
              <a:extLst>
                <a:ext uri="{FF2B5EF4-FFF2-40B4-BE49-F238E27FC236}">
                  <a16:creationId xmlns:a16="http://schemas.microsoft.com/office/drawing/2014/main" id="{C76524BD-0099-42BE-B60C-953B043C3D7A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5292674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 Box 102">
              <a:extLst>
                <a:ext uri="{FF2B5EF4-FFF2-40B4-BE49-F238E27FC236}">
                  <a16:creationId xmlns:a16="http://schemas.microsoft.com/office/drawing/2014/main" id="{199DA975-C6E2-4A3A-A014-AF43A8F88189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292674" y="1628656"/>
              <a:ext cx="2879726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800" b="1" u="none" dirty="0"/>
                <a:t>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03" name="Text Box 103">
              <a:extLst>
                <a:ext uri="{FF2B5EF4-FFF2-40B4-BE49-F238E27FC236}">
                  <a16:creationId xmlns:a16="http://schemas.microsoft.com/office/drawing/2014/main" id="{73FC3A2F-BA4D-43B6-A80B-1D04EEB91AEC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380237" y="1879407"/>
              <a:ext cx="288925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4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8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12</a:t>
              </a:r>
            </a:p>
          </p:txBody>
        </p:sp>
        <p:sp>
          <p:nvSpPr>
            <p:cNvPr id="108" name="Text Box 104">
              <a:extLst>
                <a:ext uri="{FF2B5EF4-FFF2-40B4-BE49-F238E27FC236}">
                  <a16:creationId xmlns:a16="http://schemas.microsoft.com/office/drawing/2014/main" id="{B2EE3BA1-0B26-46FF-BE8E-52483C3E48F4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588075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5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9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13</a:t>
              </a:r>
            </a:p>
          </p:txBody>
        </p:sp>
        <p:sp>
          <p:nvSpPr>
            <p:cNvPr id="109" name="Text Box 105">
              <a:extLst>
                <a:ext uri="{FF2B5EF4-FFF2-40B4-BE49-F238E27FC236}">
                  <a16:creationId xmlns:a16="http://schemas.microsoft.com/office/drawing/2014/main" id="{6A13D779-5179-4901-891F-EB97D8CB5651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795912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6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14</a:t>
              </a:r>
            </a:p>
          </p:txBody>
        </p:sp>
        <p:sp>
          <p:nvSpPr>
            <p:cNvPr id="110" name="Text Box 106">
              <a:extLst>
                <a:ext uri="{FF2B5EF4-FFF2-40B4-BE49-F238E27FC236}">
                  <a16:creationId xmlns:a16="http://schemas.microsoft.com/office/drawing/2014/main" id="{3BB203FC-1E18-4A56-955E-189DAD4F10FA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932312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3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7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15</a:t>
              </a:r>
            </a:p>
          </p:txBody>
        </p:sp>
        <p:sp>
          <p:nvSpPr>
            <p:cNvPr id="111" name="Text Box 107">
              <a:extLst>
                <a:ext uri="{FF2B5EF4-FFF2-40B4-BE49-F238E27FC236}">
                  <a16:creationId xmlns:a16="http://schemas.microsoft.com/office/drawing/2014/main" id="{82137957-698C-442B-9DC6-F32E2467CBA3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555849" y="2858056"/>
              <a:ext cx="165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体号 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体内地址</a:t>
              </a:r>
            </a:p>
          </p:txBody>
        </p:sp>
        <p:sp>
          <p:nvSpPr>
            <p:cNvPr id="112" name="Line 111">
              <a:extLst>
                <a:ext uri="{FF2B5EF4-FFF2-40B4-BE49-F238E27FC236}">
                  <a16:creationId xmlns:a16="http://schemas.microsoft.com/office/drawing/2014/main" id="{B2B16722-4D2B-429B-BF06-B59ED6B48C08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3131912" y="2858056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12">
              <a:extLst>
                <a:ext uri="{FF2B5EF4-FFF2-40B4-BE49-F238E27FC236}">
                  <a16:creationId xmlns:a16="http://schemas.microsoft.com/office/drawing/2014/main" id="{8C80B0AB-29E3-4214-BCC2-7BF347344CCE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068711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14" name="Line 113">
              <a:extLst>
                <a:ext uri="{FF2B5EF4-FFF2-40B4-BE49-F238E27FC236}">
                  <a16:creationId xmlns:a16="http://schemas.microsoft.com/office/drawing/2014/main" id="{969F8B7F-A25A-4C35-B3D1-A77B46DFC88D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4065536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14">
              <a:extLst>
                <a:ext uri="{FF2B5EF4-FFF2-40B4-BE49-F238E27FC236}">
                  <a16:creationId xmlns:a16="http://schemas.microsoft.com/office/drawing/2014/main" id="{163D5B90-C185-41AE-9233-65406830349A}"/>
                </a:ext>
              </a:extLst>
            </p:cNvPr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065536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15">
              <a:extLst>
                <a:ext uri="{FF2B5EF4-FFF2-40B4-BE49-F238E27FC236}">
                  <a16:creationId xmlns:a16="http://schemas.microsoft.com/office/drawing/2014/main" id="{109F6267-51C5-436C-A300-58E9DBAEB466}"/>
                </a:ext>
              </a:extLst>
            </p:cNvPr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065536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116">
              <a:extLst>
                <a:ext uri="{FF2B5EF4-FFF2-40B4-BE49-F238E27FC236}">
                  <a16:creationId xmlns:a16="http://schemas.microsoft.com/office/drawing/2014/main" id="{81D42BB1-4C30-43EF-828F-4003939B2D8C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276549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18" name="Line 117">
              <a:extLst>
                <a:ext uri="{FF2B5EF4-FFF2-40B4-BE49-F238E27FC236}">
                  <a16:creationId xmlns:a16="http://schemas.microsoft.com/office/drawing/2014/main" id="{DD44E870-8C3D-49AB-A87E-0B5C3522B21D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3276549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118">
              <a:extLst>
                <a:ext uri="{FF2B5EF4-FFF2-40B4-BE49-F238E27FC236}">
                  <a16:creationId xmlns:a16="http://schemas.microsoft.com/office/drawing/2014/main" id="{72CB113A-E88A-4A64-B76E-F2D1466ADF7D}"/>
                </a:ext>
              </a:extLst>
            </p:cNvPr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3276549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19">
              <a:extLst>
                <a:ext uri="{FF2B5EF4-FFF2-40B4-BE49-F238E27FC236}">
                  <a16:creationId xmlns:a16="http://schemas.microsoft.com/office/drawing/2014/main" id="{C1B5A6C5-D909-4B33-89FE-216B8A94BA30}"/>
                </a:ext>
              </a:extLst>
            </p:cNvPr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276549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120">
              <a:extLst>
                <a:ext uri="{FF2B5EF4-FFF2-40B4-BE49-F238E27FC236}">
                  <a16:creationId xmlns:a16="http://schemas.microsoft.com/office/drawing/2014/main" id="{59C103C2-FE90-4F3E-B7A6-753F8083E95E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484386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72" name="Line 121">
              <a:extLst>
                <a:ext uri="{FF2B5EF4-FFF2-40B4-BE49-F238E27FC236}">
                  <a16:creationId xmlns:a16="http://schemas.microsoft.com/office/drawing/2014/main" id="{F15D33FE-7384-4731-AFDE-DEF8C4DE5895}"/>
                </a:ext>
              </a:extLst>
            </p:cNvPr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2484386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22">
              <a:extLst>
                <a:ext uri="{FF2B5EF4-FFF2-40B4-BE49-F238E27FC236}">
                  <a16:creationId xmlns:a16="http://schemas.microsoft.com/office/drawing/2014/main" id="{FD66C6A5-51BE-4587-B998-B0FD41B5BB66}"/>
                </a:ext>
              </a:extLst>
            </p:cNvPr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2484386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23">
              <a:extLst>
                <a:ext uri="{FF2B5EF4-FFF2-40B4-BE49-F238E27FC236}">
                  <a16:creationId xmlns:a16="http://schemas.microsoft.com/office/drawing/2014/main" id="{BA73EBE6-1B9D-4E43-8CAB-2118EE940C3E}"/>
                </a:ext>
              </a:extLst>
            </p:cNvPr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484386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Text Box 124">
              <a:extLst>
                <a:ext uri="{FF2B5EF4-FFF2-40B4-BE49-F238E27FC236}">
                  <a16:creationId xmlns:a16="http://schemas.microsoft.com/office/drawing/2014/main" id="{975AECE2-4FDC-441C-84F1-823819905296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692223" y="1879407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6" name="Line 125">
              <a:extLst>
                <a:ext uri="{FF2B5EF4-FFF2-40B4-BE49-F238E27FC236}">
                  <a16:creationId xmlns:a16="http://schemas.microsoft.com/office/drawing/2014/main" id="{AF39D803-986F-4E19-98FF-F91130BB9C07}"/>
                </a:ext>
              </a:extLst>
            </p:cNvPr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1692223" y="20953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26">
              <a:extLst>
                <a:ext uri="{FF2B5EF4-FFF2-40B4-BE49-F238E27FC236}">
                  <a16:creationId xmlns:a16="http://schemas.microsoft.com/office/drawing/2014/main" id="{D18867B2-5491-469B-8209-CEC378F9B1C4}"/>
                </a:ext>
              </a:extLst>
            </p:cNvPr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1692223" y="231120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27">
              <a:extLst>
                <a:ext uri="{FF2B5EF4-FFF2-40B4-BE49-F238E27FC236}">
                  <a16:creationId xmlns:a16="http://schemas.microsoft.com/office/drawing/2014/main" id="{4CB9C7F7-4F5E-4382-985A-402B43358B34}"/>
                </a:ext>
              </a:extLst>
            </p:cNvPr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1692223" y="2528694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Text Box 128">
              <a:extLst>
                <a:ext uri="{FF2B5EF4-FFF2-40B4-BE49-F238E27FC236}">
                  <a16:creationId xmlns:a16="http://schemas.microsoft.com/office/drawing/2014/main" id="{2CD90138-38F0-41AC-B4E1-E1F1D5532E37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692223" y="1634044"/>
              <a:ext cx="2879726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800" b="1" u="none" dirty="0"/>
                <a:t>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80" name="Text Box 129">
              <a:extLst>
                <a:ext uri="{FF2B5EF4-FFF2-40B4-BE49-F238E27FC236}">
                  <a16:creationId xmlns:a16="http://schemas.microsoft.com/office/drawing/2014/main" id="{6E93C797-B803-47B8-A8C4-9EB133597279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779786" y="1879407"/>
              <a:ext cx="288925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181" name="Text Box 130">
              <a:extLst>
                <a:ext uri="{FF2B5EF4-FFF2-40B4-BE49-F238E27FC236}">
                  <a16:creationId xmlns:a16="http://schemas.microsoft.com/office/drawing/2014/main" id="{B4500CC9-CE86-48CB-AC22-B870C390CCE0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987624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4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5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7</a:t>
              </a:r>
            </a:p>
          </p:txBody>
        </p:sp>
        <p:sp>
          <p:nvSpPr>
            <p:cNvPr id="182" name="Text Box 131">
              <a:extLst>
                <a:ext uri="{FF2B5EF4-FFF2-40B4-BE49-F238E27FC236}">
                  <a16:creationId xmlns:a16="http://schemas.microsoft.com/office/drawing/2014/main" id="{2173B065-0946-46F9-A47F-57EF4D304E56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195461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8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9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183" name="Text Box 132">
              <a:extLst>
                <a:ext uri="{FF2B5EF4-FFF2-40B4-BE49-F238E27FC236}">
                  <a16:creationId xmlns:a16="http://schemas.microsoft.com/office/drawing/2014/main" id="{E8D84072-8D17-4A93-B1F6-9B5F4D1292B4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331861" y="1879407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12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13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14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15</a:t>
              </a:r>
            </a:p>
          </p:txBody>
        </p:sp>
        <p:sp>
          <p:nvSpPr>
            <p:cNvPr id="184" name="Text Box 80">
              <a:extLst>
                <a:ext uri="{FF2B5EF4-FFF2-40B4-BE49-F238E27FC236}">
                  <a16:creationId xmlns:a16="http://schemas.microsoft.com/office/drawing/2014/main" id="{0705D293-4A14-4280-A766-D839F9AA3335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004293" y="2858056"/>
              <a:ext cx="11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模块地址：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81">
              <a:extLst>
                <a:ext uri="{FF2B5EF4-FFF2-40B4-BE49-F238E27FC236}">
                  <a16:creationId xmlns:a16="http://schemas.microsoft.com/office/drawing/2014/main" id="{1A5388B5-5517-495F-88A9-283A2A584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000" y="2113200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6" name="Text Box 81">
              <a:extLst>
                <a:ext uri="{FF2B5EF4-FFF2-40B4-BE49-F238E27FC236}">
                  <a16:creationId xmlns:a16="http://schemas.microsoft.com/office/drawing/2014/main" id="{54781674-874A-4E91-9DBE-DCBD00E57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000" y="2113114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7" name="Text Box 81">
              <a:extLst>
                <a:ext uri="{FF2B5EF4-FFF2-40B4-BE49-F238E27FC236}">
                  <a16:creationId xmlns:a16="http://schemas.microsoft.com/office/drawing/2014/main" id="{AEEC386F-4F20-4399-B442-9B24576E2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2000" y="2114289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u="none" dirty="0">
                  <a:latin typeface="宋体" panose="02010600030101010101" pitchFamily="2" charset="-122"/>
                </a:rPr>
                <a:t>   </a:t>
              </a:r>
              <a:endParaRPr lang="zh-CN" altLang="en-US" sz="1800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8" name="Text Box 81">
              <a:extLst>
                <a:ext uri="{FF2B5EF4-FFF2-40B4-BE49-F238E27FC236}">
                  <a16:creationId xmlns:a16="http://schemas.microsoft.com/office/drawing/2014/main" id="{D0CCE2C6-984E-4FAB-A268-6076563F9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4000" y="2113200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9" name="Text Box 81">
              <a:extLst>
                <a:ext uri="{FF2B5EF4-FFF2-40B4-BE49-F238E27FC236}">
                  <a16:creationId xmlns:a16="http://schemas.microsoft.com/office/drawing/2014/main" id="{47813539-6401-41AA-BD92-9030FB2B8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000" y="2545200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0" name="Text Box 81">
              <a:extLst>
                <a:ext uri="{FF2B5EF4-FFF2-40B4-BE49-F238E27FC236}">
                  <a16:creationId xmlns:a16="http://schemas.microsoft.com/office/drawing/2014/main" id="{322DFC40-553A-4ED7-A0B0-E0FDBFD76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000" y="2329200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1" name="Text Box 81">
              <a:extLst>
                <a:ext uri="{FF2B5EF4-FFF2-40B4-BE49-F238E27FC236}">
                  <a16:creationId xmlns:a16="http://schemas.microsoft.com/office/drawing/2014/main" id="{48BB1B2C-E8CC-421F-B4BA-46948CCEE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000" y="1895714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u="none" dirty="0">
                  <a:latin typeface="宋体" panose="02010600030101010101" pitchFamily="2" charset="-122"/>
                </a:rPr>
                <a:t>   </a:t>
              </a:r>
              <a:endParaRPr lang="zh-CN" altLang="en-US" sz="1800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2" name="Text Box 81">
              <a:extLst>
                <a:ext uri="{FF2B5EF4-FFF2-40B4-BE49-F238E27FC236}">
                  <a16:creationId xmlns:a16="http://schemas.microsoft.com/office/drawing/2014/main" id="{A6822E42-3867-44E5-8832-D9F35EB57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000" y="2113200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3" name="Text Box 81">
              <a:extLst>
                <a:ext uri="{FF2B5EF4-FFF2-40B4-BE49-F238E27FC236}">
                  <a16:creationId xmlns:a16="http://schemas.microsoft.com/office/drawing/2014/main" id="{3753822C-3021-4582-9980-C8473421F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984" y="2098800"/>
              <a:ext cx="108000" cy="19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44</a:t>
            </a:fld>
            <a:endParaRPr lang="en-US" altLang="zh-CN"/>
          </a:p>
        </p:txBody>
      </p:sp>
      <p:sp>
        <p:nvSpPr>
          <p:cNvPr id="339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13395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4970145" cy="5634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交叉访问方式：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优化思路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MEM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性能分析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的连接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7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1720" y="764704"/>
            <a:ext cx="6912575" cy="12098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访问各个体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，各个体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分时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突发传输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←有重叠，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800" b="1" u="none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mT</a:t>
            </a:r>
            <a:r>
              <a:rPr lang="en-US" altLang="zh-CN" sz="1800" b="1" u="none" baseline="-18000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u="none" baseline="-16000" dirty="0" err="1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数据引脚</a:t>
            </a:r>
            <a:r>
              <a:rPr lang="zh-CN" altLang="en-US" sz="2200" b="1" u="none" dirty="0">
                <a:latin typeface="宋体" panose="02010600030101010101" pitchFamily="2" charset="-122"/>
                <a:sym typeface="Symbol" panose="05050102010706020507"/>
              </a:rPr>
              <a:t>为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位，其余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接口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403648" y="1988840"/>
            <a:ext cx="3780155" cy="1656295"/>
            <a:chOff x="2608" y="4309"/>
            <a:chExt cx="5953" cy="2608"/>
          </a:xfrm>
        </p:grpSpPr>
        <p:sp>
          <p:nvSpPr>
            <p:cNvPr id="8" name="Text Box 140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3572" y="4309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9" name="Rectangle 141"/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665" y="4706"/>
              <a:ext cx="5783" cy="221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62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8107" y="4309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11" name="Text Box 164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3005" y="4876"/>
              <a:ext cx="5159" cy="3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存储器控制部件</a:t>
              </a:r>
            </a:p>
          </p:txBody>
        </p:sp>
        <p:sp>
          <p:nvSpPr>
            <p:cNvPr id="12" name="Text Box 140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2608" y="4309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3" name="Text Box 140"/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4649" y="4309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4" name="Text Box 162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7427" y="4309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15" name="Text Box 162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5839" y="4309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16" name="直接箭头连接符 15"/>
            <p:cNvCxnSpPr/>
            <p:nvPr>
              <p:custDataLst>
                <p:tags r:id="rId129"/>
              </p:custDataLst>
            </p:nvPr>
          </p:nvCxnSpPr>
          <p:spPr bwMode="auto">
            <a:xfrm>
              <a:off x="2778" y="6803"/>
              <a:ext cx="4535" cy="2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146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3004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143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2891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cxnSp>
          <p:nvCxnSpPr>
            <p:cNvPr id="121" name="直接箭头连接符 120"/>
            <p:cNvCxnSpPr/>
            <p:nvPr>
              <p:custDataLst>
                <p:tags r:id="rId132"/>
              </p:custDataLst>
            </p:nvPr>
          </p:nvCxnSpPr>
          <p:spPr bwMode="auto">
            <a:xfrm flipH="1">
              <a:off x="3230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33"/>
              </p:custDataLst>
            </p:nvPr>
          </p:nvCxnSpPr>
          <p:spPr bwMode="auto">
            <a:xfrm>
              <a:off x="3287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34"/>
              </p:custDataLst>
            </p:nvPr>
          </p:nvCxnSpPr>
          <p:spPr bwMode="auto">
            <a:xfrm>
              <a:off x="3969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35"/>
              </p:custDataLst>
            </p:nvPr>
          </p:nvCxnSpPr>
          <p:spPr bwMode="auto">
            <a:xfrm flipH="1" flipV="1">
              <a:off x="3231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6"/>
              </p:custDataLst>
            </p:nvPr>
          </p:nvCxnSpPr>
          <p:spPr bwMode="auto">
            <a:xfrm>
              <a:off x="3969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37"/>
              </p:custDataLst>
            </p:nvPr>
          </p:nvCxnSpPr>
          <p:spPr bwMode="auto">
            <a:xfrm flipV="1">
              <a:off x="3769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3769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139"/>
              </p:custDataLst>
            </p:nvPr>
          </p:nvCxnSpPr>
          <p:spPr bwMode="auto">
            <a:xfrm>
              <a:off x="3969" y="6690"/>
              <a:ext cx="4365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140"/>
              </p:custDataLst>
            </p:nvPr>
          </p:nvCxnSpPr>
          <p:spPr bwMode="auto">
            <a:xfrm>
              <a:off x="2778" y="4592"/>
              <a:ext cx="0" cy="2211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Text Box 146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4364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9" name="Text Box 143"/>
            <p:cNvSpPr txBox="1"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4252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cxnSp>
          <p:nvCxnSpPr>
            <p:cNvPr id="30" name="直接箭头连接符 29"/>
            <p:cNvCxnSpPr/>
            <p:nvPr>
              <p:custDataLst>
                <p:tags r:id="rId143"/>
              </p:custDataLst>
            </p:nvPr>
          </p:nvCxnSpPr>
          <p:spPr bwMode="auto">
            <a:xfrm flipH="1">
              <a:off x="4591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144"/>
              </p:custDataLst>
            </p:nvPr>
          </p:nvCxnSpPr>
          <p:spPr bwMode="auto">
            <a:xfrm>
              <a:off x="4648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45"/>
              </p:custDataLst>
            </p:nvPr>
          </p:nvCxnSpPr>
          <p:spPr bwMode="auto">
            <a:xfrm>
              <a:off x="5330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146"/>
              </p:custDataLst>
            </p:nvPr>
          </p:nvCxnSpPr>
          <p:spPr bwMode="auto">
            <a:xfrm flipH="1" flipV="1">
              <a:off x="4592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147"/>
              </p:custDataLst>
            </p:nvPr>
          </p:nvCxnSpPr>
          <p:spPr bwMode="auto">
            <a:xfrm>
              <a:off x="5330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5130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149"/>
              </p:custDataLst>
            </p:nvPr>
          </p:nvCxnSpPr>
          <p:spPr bwMode="auto">
            <a:xfrm flipV="1">
              <a:off x="5130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8" name="Text Box 146"/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5725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43"/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5613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cxnSp>
          <p:nvCxnSpPr>
            <p:cNvPr id="40" name="直接箭头连接符 39"/>
            <p:cNvCxnSpPr/>
            <p:nvPr>
              <p:custDataLst>
                <p:tags r:id="rId152"/>
              </p:custDataLst>
            </p:nvPr>
          </p:nvCxnSpPr>
          <p:spPr bwMode="auto">
            <a:xfrm flipH="1">
              <a:off x="5952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53"/>
              </p:custDataLst>
            </p:nvPr>
          </p:nvCxnSpPr>
          <p:spPr bwMode="auto">
            <a:xfrm>
              <a:off x="6008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154"/>
              </p:custDataLst>
            </p:nvPr>
          </p:nvCxnSpPr>
          <p:spPr bwMode="auto">
            <a:xfrm>
              <a:off x="6691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155"/>
              </p:custDataLst>
            </p:nvPr>
          </p:nvCxnSpPr>
          <p:spPr bwMode="auto">
            <a:xfrm flipH="1" flipV="1">
              <a:off x="5953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156"/>
              </p:custDataLst>
            </p:nvPr>
          </p:nvCxnSpPr>
          <p:spPr bwMode="auto">
            <a:xfrm>
              <a:off x="6691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45" name="直接箭头连接符 44"/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6490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6490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 Box 146"/>
            <p:cNvSpPr txBox="1"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7085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43"/>
            <p:cNvSpPr txBox="1"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6973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cxnSp>
          <p:nvCxnSpPr>
            <p:cNvPr id="49" name="直接箭头连接符 48"/>
            <p:cNvCxnSpPr/>
            <p:nvPr>
              <p:custDataLst>
                <p:tags r:id="rId161"/>
              </p:custDataLst>
            </p:nvPr>
          </p:nvCxnSpPr>
          <p:spPr bwMode="auto">
            <a:xfrm flipH="1">
              <a:off x="7312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62"/>
              </p:custDataLst>
            </p:nvPr>
          </p:nvCxnSpPr>
          <p:spPr bwMode="auto">
            <a:xfrm>
              <a:off x="7369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63"/>
              </p:custDataLst>
            </p:nvPr>
          </p:nvCxnSpPr>
          <p:spPr bwMode="auto">
            <a:xfrm>
              <a:off x="8051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164"/>
              </p:custDataLst>
            </p:nvPr>
          </p:nvCxnSpPr>
          <p:spPr bwMode="auto">
            <a:xfrm flipH="1" flipV="1">
              <a:off x="7313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165"/>
              </p:custDataLst>
            </p:nvPr>
          </p:nvCxnSpPr>
          <p:spPr bwMode="auto">
            <a:xfrm>
              <a:off x="8051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166"/>
              </p:custDataLst>
            </p:nvPr>
          </p:nvCxnSpPr>
          <p:spPr bwMode="auto">
            <a:xfrm flipV="1">
              <a:off x="7851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7851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168"/>
              </p:custDataLst>
            </p:nvPr>
          </p:nvCxnSpPr>
          <p:spPr bwMode="auto">
            <a:xfrm>
              <a:off x="8334" y="4592"/>
              <a:ext cx="0" cy="209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169"/>
              </p:custDataLst>
            </p:nvPr>
          </p:nvCxnSpPr>
          <p:spPr bwMode="auto">
            <a:xfrm>
              <a:off x="3912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70"/>
              </p:custDataLst>
            </p:nvPr>
          </p:nvCxnSpPr>
          <p:spPr bwMode="auto">
            <a:xfrm>
              <a:off x="4989" y="459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171"/>
              </p:custDataLst>
            </p:nvPr>
          </p:nvCxnSpPr>
          <p:spPr bwMode="auto">
            <a:xfrm>
              <a:off x="6093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72"/>
              </p:custDataLst>
            </p:nvPr>
          </p:nvCxnSpPr>
          <p:spPr bwMode="auto">
            <a:xfrm>
              <a:off x="7654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73"/>
              </p:custDataLst>
            </p:nvPr>
          </p:nvCxnSpPr>
          <p:spPr bwMode="auto">
            <a:xfrm flipV="1">
              <a:off x="7483" y="430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174"/>
              </p:custDataLst>
            </p:nvPr>
          </p:nvCxnSpPr>
          <p:spPr bwMode="auto">
            <a:xfrm flipV="1">
              <a:off x="8164" y="430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64" name="Text Box 146"/>
            <p:cNvSpPr txBox="1">
              <a:spLocks noChangeArrowheads="1"/>
            </p:cNvSpPr>
            <p:nvPr>
              <p:custDataLst>
                <p:tags r:id="rId175"/>
              </p:custDataLst>
            </p:nvPr>
          </p:nvSpPr>
          <p:spPr bwMode="auto">
            <a:xfrm>
              <a:off x="4706" y="464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176"/>
              </p:custDataLst>
            </p:nvPr>
          </p:nvCxnSpPr>
          <p:spPr bwMode="auto">
            <a:xfrm flipH="1">
              <a:off x="4932" y="4706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</p:grpSp>
      <p:sp>
        <p:nvSpPr>
          <p:cNvPr id="66" name="Text Box 7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7624" y="3717032"/>
            <a:ext cx="493141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同步工作方式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</a:rPr>
              <a:t>每隔</a:t>
            </a:r>
            <a:r>
              <a:rPr lang="en-US" altLang="zh-CN" sz="2200" b="1" u="sng" dirty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latin typeface="宋体" panose="02010600030101010101" pitchFamily="2" charset="-122"/>
              </a:rPr>
              <a:t>M</a:t>
            </a:r>
            <a:r>
              <a:rPr lang="en-US" altLang="zh-CN" sz="2200" b="1" u="sng" dirty="0">
                <a:latin typeface="宋体" panose="02010600030101010101" pitchFamily="2" charset="-122"/>
              </a:rPr>
              <a:t>/m</a:t>
            </a:r>
            <a:r>
              <a:rPr lang="zh-CN" altLang="en-US" sz="2200" b="1" dirty="0">
                <a:latin typeface="宋体" panose="02010600030101010101" pitchFamily="2" charset="-122"/>
              </a:rPr>
              <a:t>启动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一个体</a:t>
            </a:r>
            <a:r>
              <a:rPr lang="en-US" altLang="zh-CN" sz="1800" b="1" u="none" dirty="0">
                <a:latin typeface="宋体" panose="02010600030101010101" pitchFamily="2" charset="-122"/>
              </a:rPr>
              <a:t>(T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后即可</a:t>
            </a:r>
            <a:r>
              <a:rPr lang="en-US" altLang="zh-CN" sz="1800" b="1" u="none" dirty="0">
                <a:latin typeface="宋体" panose="02010600030101010101" pitchFamily="2" charset="-122"/>
              </a:rPr>
              <a:t>I/O)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采用</a:t>
            </a:r>
            <a:r>
              <a:rPr lang="zh-CN" altLang="en-US" sz="2200" b="1" u="sng" dirty="0">
                <a:latin typeface="宋体" panose="02010600030101010101" pitchFamily="2" charset="-122"/>
              </a:rPr>
              <a:t>突发传输</a:t>
            </a:r>
            <a:r>
              <a:rPr lang="zh-CN" altLang="en-US" sz="2200" b="1" u="none" dirty="0">
                <a:latin typeface="宋体" panose="02010600030101010101" pitchFamily="2" charset="-122"/>
              </a:rPr>
              <a:t>方式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间隔＝启动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(2-1/m)*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6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22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m*B</a:t>
            </a:r>
            <a:r>
              <a:rPr lang="en-US" altLang="zh-CN" sz="22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endParaRPr lang="zh-CN" altLang="en-US" sz="2200" b="1" u="none" baseline="-180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与同步</a:t>
            </a:r>
            <a:r>
              <a:rPr lang="en-US" altLang="zh-CN" sz="2200" b="1" u="none" dirty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相同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5796871" y="3896992"/>
            <a:ext cx="3094355" cy="1475740"/>
            <a:chOff x="2327" y="3515"/>
            <a:chExt cx="4873" cy="2324"/>
          </a:xfrm>
        </p:grpSpPr>
        <p:sp>
          <p:nvSpPr>
            <p:cNvPr id="127" name="六边形 126"/>
            <p:cNvSpPr/>
            <p:nvPr>
              <p:custDataLst>
                <p:tags r:id="rId100"/>
              </p:custDataLst>
            </p:nvPr>
          </p:nvSpPr>
          <p:spPr bwMode="auto">
            <a:xfrm>
              <a:off x="5216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D0</a:t>
              </a:r>
            </a:p>
          </p:txBody>
        </p:sp>
        <p:sp>
          <p:nvSpPr>
            <p:cNvPr id="128" name="六边形 127"/>
            <p:cNvSpPr/>
            <p:nvPr>
              <p:custDataLst>
                <p:tags r:id="rId101"/>
              </p:custDataLst>
            </p:nvPr>
          </p:nvSpPr>
          <p:spPr bwMode="auto">
            <a:xfrm>
              <a:off x="5669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D1</a:t>
              </a:r>
            </a:p>
          </p:txBody>
        </p:sp>
        <p:sp>
          <p:nvSpPr>
            <p:cNvPr id="129" name="六边形 128"/>
            <p:cNvSpPr/>
            <p:nvPr>
              <p:custDataLst>
                <p:tags r:id="rId102"/>
              </p:custDataLst>
            </p:nvPr>
          </p:nvSpPr>
          <p:spPr bwMode="auto">
            <a:xfrm>
              <a:off x="6123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D2</a:t>
              </a:r>
            </a:p>
          </p:txBody>
        </p:sp>
        <p:sp>
          <p:nvSpPr>
            <p:cNvPr id="130" name="六边形 129"/>
            <p:cNvSpPr/>
            <p:nvPr>
              <p:custDataLst>
                <p:tags r:id="rId103"/>
              </p:custDataLst>
            </p:nvPr>
          </p:nvSpPr>
          <p:spPr bwMode="auto">
            <a:xfrm>
              <a:off x="6576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D3</a:t>
              </a:r>
            </a:p>
          </p:txBody>
        </p:sp>
        <p:sp>
          <p:nvSpPr>
            <p:cNvPr id="131" name="Text Box 252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2327" y="5159"/>
              <a:ext cx="84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输出</a:t>
              </a:r>
              <a:endPara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输入</a:t>
              </a:r>
            </a:p>
          </p:txBody>
        </p:sp>
        <p:sp>
          <p:nvSpPr>
            <p:cNvPr id="132" name="六边形 131"/>
            <p:cNvSpPr/>
            <p:nvPr>
              <p:custDataLst>
                <p:tags r:id="rId105"/>
              </p:custDataLst>
            </p:nvPr>
          </p:nvSpPr>
          <p:spPr bwMode="auto">
            <a:xfrm>
              <a:off x="3402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D0</a:t>
              </a:r>
            </a:p>
          </p:txBody>
        </p:sp>
        <p:sp>
          <p:nvSpPr>
            <p:cNvPr id="133" name="六边形 132"/>
            <p:cNvSpPr/>
            <p:nvPr>
              <p:custDataLst>
                <p:tags r:id="rId106"/>
              </p:custDataLst>
            </p:nvPr>
          </p:nvSpPr>
          <p:spPr bwMode="auto">
            <a:xfrm>
              <a:off x="3855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D1</a:t>
              </a:r>
            </a:p>
          </p:txBody>
        </p:sp>
        <p:sp>
          <p:nvSpPr>
            <p:cNvPr id="134" name="六边形 133"/>
            <p:cNvSpPr/>
            <p:nvPr>
              <p:custDataLst>
                <p:tags r:id="rId107"/>
              </p:custDataLst>
            </p:nvPr>
          </p:nvSpPr>
          <p:spPr bwMode="auto">
            <a:xfrm>
              <a:off x="4309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D2</a:t>
              </a:r>
            </a:p>
          </p:txBody>
        </p:sp>
        <p:sp>
          <p:nvSpPr>
            <p:cNvPr id="135" name="六边形 134"/>
            <p:cNvSpPr/>
            <p:nvPr>
              <p:custDataLst>
                <p:tags r:id="rId108"/>
              </p:custDataLst>
            </p:nvPr>
          </p:nvSpPr>
          <p:spPr bwMode="auto">
            <a:xfrm>
              <a:off x="4762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D3</a:t>
              </a:r>
            </a:p>
          </p:txBody>
        </p:sp>
        <p:cxnSp>
          <p:nvCxnSpPr>
            <p:cNvPr id="136" name="直接连接符 135"/>
            <p:cNvCxnSpPr/>
            <p:nvPr>
              <p:custDataLst>
                <p:tags r:id="rId109"/>
              </p:custDataLst>
            </p:nvPr>
          </p:nvCxnSpPr>
          <p:spPr>
            <a:xfrm>
              <a:off x="3231" y="5698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110"/>
              </p:custDataLst>
            </p:nvPr>
          </p:nvCxnSpPr>
          <p:spPr>
            <a:xfrm>
              <a:off x="3231" y="5301"/>
              <a:ext cx="198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11"/>
              </p:custDataLst>
            </p:nvPr>
          </p:nvCxnSpPr>
          <p:spPr>
            <a:xfrm>
              <a:off x="7030" y="5301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112"/>
              </p:custDataLst>
            </p:nvPr>
          </p:nvCxnSpPr>
          <p:spPr>
            <a:xfrm>
              <a:off x="5216" y="5698"/>
              <a:ext cx="198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113"/>
              </p:custDataLst>
            </p:nvPr>
          </p:nvCxnSpPr>
          <p:spPr>
            <a:xfrm>
              <a:off x="5218" y="351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114"/>
              </p:custDataLst>
            </p:nvPr>
          </p:nvCxnSpPr>
          <p:spPr>
            <a:xfrm>
              <a:off x="5443" y="3515"/>
              <a:ext cx="0" cy="164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>
              <p:custDataLst>
                <p:tags r:id="rId115"/>
              </p:custDataLst>
            </p:nvPr>
          </p:nvCxnSpPr>
          <p:spPr>
            <a:xfrm>
              <a:off x="5669" y="385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116"/>
              </p:custDataLst>
            </p:nvPr>
          </p:nvCxnSpPr>
          <p:spPr>
            <a:xfrm>
              <a:off x="5896" y="3855"/>
              <a:ext cx="0" cy="130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117"/>
              </p:custDataLst>
            </p:nvPr>
          </p:nvCxnSpPr>
          <p:spPr>
            <a:xfrm>
              <a:off x="6123" y="419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118"/>
              </p:custDataLst>
            </p:nvPr>
          </p:nvCxnSpPr>
          <p:spPr>
            <a:xfrm>
              <a:off x="6350" y="4195"/>
              <a:ext cx="0" cy="96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>
              <p:custDataLst>
                <p:tags r:id="rId119"/>
              </p:custDataLst>
            </p:nvPr>
          </p:nvCxnSpPr>
          <p:spPr>
            <a:xfrm>
              <a:off x="6576" y="453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>
              <p:custDataLst>
                <p:tags r:id="rId120"/>
              </p:custDataLst>
            </p:nvPr>
          </p:nvCxnSpPr>
          <p:spPr>
            <a:xfrm>
              <a:off x="6803" y="4535"/>
              <a:ext cx="0" cy="62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组合 147"/>
          <p:cNvGrpSpPr/>
          <p:nvPr/>
        </p:nvGrpSpPr>
        <p:grpSpPr>
          <a:xfrm>
            <a:off x="5940871" y="3356992"/>
            <a:ext cx="3095625" cy="1511935"/>
            <a:chOff x="2551" y="2665"/>
            <a:chExt cx="4875" cy="2381"/>
          </a:xfrm>
        </p:grpSpPr>
        <p:sp>
          <p:nvSpPr>
            <p:cNvPr id="149" name="Rectangle 78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04" y="340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u="none" dirty="0"/>
                <a:t>响应</a:t>
              </a:r>
            </a:p>
          </p:txBody>
        </p:sp>
        <p:sp>
          <p:nvSpPr>
            <p:cNvPr id="150" name="Rectangle 78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55" y="374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400" u="none" dirty="0"/>
            </a:p>
          </p:txBody>
        </p:sp>
        <p:sp>
          <p:nvSpPr>
            <p:cNvPr id="151" name="Rectangle 78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309" y="408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400" u="none" dirty="0"/>
            </a:p>
          </p:txBody>
        </p:sp>
        <p:sp>
          <p:nvSpPr>
            <p:cNvPr id="152" name="Rectangle 78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762" y="442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400" u="none" dirty="0"/>
            </a:p>
          </p:txBody>
        </p:sp>
        <p:sp>
          <p:nvSpPr>
            <p:cNvPr id="153" name="Text Box 10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51" y="2665"/>
              <a:ext cx="680" cy="2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体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4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体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4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体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4000" dirty="0">
                  <a:latin typeface="宋体" panose="02010600030101010101" pitchFamily="2" charset="-122"/>
                </a:rPr>
                <a:t>2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体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4000" dirty="0">
                  <a:latin typeface="宋体" panose="02010600030101010101" pitchFamily="2" charset="-122"/>
                </a:rPr>
                <a:t>3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cxnSp>
          <p:nvCxnSpPr>
            <p:cNvPr id="154" name="直接连接符 153"/>
            <p:cNvCxnSpPr/>
            <p:nvPr>
              <p:custDataLst>
                <p:tags r:id="rId13"/>
              </p:custDataLst>
            </p:nvPr>
          </p:nvCxnSpPr>
          <p:spPr>
            <a:xfrm>
              <a:off x="7030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>
              <p:custDataLst>
                <p:tags r:id="rId14"/>
              </p:custDataLst>
            </p:nvPr>
          </p:nvCxnSpPr>
          <p:spPr>
            <a:xfrm>
              <a:off x="3401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>
              <p:custDataLst>
                <p:tags r:id="rId15"/>
              </p:custDataLst>
            </p:nvPr>
          </p:nvCxnSpPr>
          <p:spPr>
            <a:xfrm>
              <a:off x="5216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>
              <p:custDataLst>
                <p:tags r:id="rId16"/>
              </p:custDataLst>
            </p:nvPr>
          </p:nvCxnSpPr>
          <p:spPr>
            <a:xfrm>
              <a:off x="3855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>
              <p:custDataLst>
                <p:tags r:id="rId17"/>
              </p:custDataLst>
            </p:nvPr>
          </p:nvCxnSpPr>
          <p:spPr>
            <a:xfrm>
              <a:off x="3401" y="362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>
              <p:custDataLst>
                <p:tags r:id="rId18"/>
              </p:custDataLst>
            </p:nvPr>
          </p:nvCxnSpPr>
          <p:spPr>
            <a:xfrm>
              <a:off x="3401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>
              <p:custDataLst>
                <p:tags r:id="rId19"/>
              </p:custDataLst>
            </p:nvPr>
          </p:nvCxnSpPr>
          <p:spPr>
            <a:xfrm>
              <a:off x="3229" y="3402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>
              <p:custDataLst>
                <p:tags r:id="rId20"/>
              </p:custDataLst>
            </p:nvPr>
          </p:nvCxnSpPr>
          <p:spPr>
            <a:xfrm>
              <a:off x="3855" y="340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>
              <p:custDataLst>
                <p:tags r:id="rId21"/>
              </p:custDataLst>
            </p:nvPr>
          </p:nvCxnSpPr>
          <p:spPr>
            <a:xfrm>
              <a:off x="5216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>
              <p:custDataLst>
                <p:tags r:id="rId22"/>
              </p:custDataLst>
            </p:nvPr>
          </p:nvCxnSpPr>
          <p:spPr>
            <a:xfrm>
              <a:off x="5669" y="3402"/>
              <a:ext cx="1531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>
              <p:custDataLst>
                <p:tags r:id="rId23"/>
              </p:custDataLst>
            </p:nvPr>
          </p:nvCxnSpPr>
          <p:spPr>
            <a:xfrm>
              <a:off x="5669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>
              <p:custDataLst>
                <p:tags r:id="rId24"/>
              </p:custDataLst>
            </p:nvPr>
          </p:nvCxnSpPr>
          <p:spPr>
            <a:xfrm>
              <a:off x="5216" y="362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>
              <p:custDataLst>
                <p:tags r:id="rId25"/>
              </p:custDataLst>
            </p:nvPr>
          </p:nvCxnSpPr>
          <p:spPr>
            <a:xfrm>
              <a:off x="3229" y="2949"/>
              <a:ext cx="17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>
              <p:custDataLst>
                <p:tags r:id="rId26"/>
              </p:custDataLst>
            </p:nvPr>
          </p:nvCxnSpPr>
          <p:spPr>
            <a:xfrm>
              <a:off x="3628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>
              <p:custDataLst>
                <p:tags r:id="rId27"/>
              </p:custDataLst>
            </p:nvPr>
          </p:nvCxnSpPr>
          <p:spPr>
            <a:xfrm>
              <a:off x="3401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>
              <p:custDataLst>
                <p:tags r:id="rId28"/>
              </p:custDataLst>
            </p:nvPr>
          </p:nvCxnSpPr>
          <p:spPr>
            <a:xfrm>
              <a:off x="3401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>
              <p:custDataLst>
                <p:tags r:id="rId29"/>
              </p:custDataLst>
            </p:nvPr>
          </p:nvCxnSpPr>
          <p:spPr>
            <a:xfrm>
              <a:off x="3628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>
              <p:custDataLst>
                <p:tags r:id="rId30"/>
              </p:custDataLst>
            </p:nvPr>
          </p:nvCxnSpPr>
          <p:spPr>
            <a:xfrm>
              <a:off x="4082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>
              <p:custDataLst>
                <p:tags r:id="rId31"/>
              </p:custDataLst>
            </p:nvPr>
          </p:nvCxnSpPr>
          <p:spPr>
            <a:xfrm>
              <a:off x="3855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>
              <p:custDataLst>
                <p:tags r:id="rId32"/>
              </p:custDataLst>
            </p:nvPr>
          </p:nvCxnSpPr>
          <p:spPr>
            <a:xfrm>
              <a:off x="3855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>
              <p:custDataLst>
                <p:tags r:id="rId33"/>
              </p:custDataLst>
            </p:nvPr>
          </p:nvCxnSpPr>
          <p:spPr>
            <a:xfrm>
              <a:off x="4082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>
              <p:custDataLst>
                <p:tags r:id="rId34"/>
              </p:custDataLst>
            </p:nvPr>
          </p:nvCxnSpPr>
          <p:spPr>
            <a:xfrm>
              <a:off x="4535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>
              <p:custDataLst>
                <p:tags r:id="rId35"/>
              </p:custDataLst>
            </p:nvPr>
          </p:nvCxnSpPr>
          <p:spPr>
            <a:xfrm>
              <a:off x="4308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>
              <p:custDataLst>
                <p:tags r:id="rId36"/>
              </p:custDataLst>
            </p:nvPr>
          </p:nvCxnSpPr>
          <p:spPr>
            <a:xfrm>
              <a:off x="4308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>
              <p:custDataLst>
                <p:tags r:id="rId37"/>
              </p:custDataLst>
            </p:nvPr>
          </p:nvCxnSpPr>
          <p:spPr>
            <a:xfrm>
              <a:off x="4535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>
              <p:custDataLst>
                <p:tags r:id="rId38"/>
              </p:custDataLst>
            </p:nvPr>
          </p:nvCxnSpPr>
          <p:spPr>
            <a:xfrm>
              <a:off x="4989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>
              <p:custDataLst>
                <p:tags r:id="rId39"/>
              </p:custDataLst>
            </p:nvPr>
          </p:nvCxnSpPr>
          <p:spPr>
            <a:xfrm>
              <a:off x="4759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>
              <p:custDataLst>
                <p:tags r:id="rId40"/>
              </p:custDataLst>
            </p:nvPr>
          </p:nvCxnSpPr>
          <p:spPr>
            <a:xfrm>
              <a:off x="4759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>
              <p:custDataLst>
                <p:tags r:id="rId41"/>
              </p:custDataLst>
            </p:nvPr>
          </p:nvCxnSpPr>
          <p:spPr>
            <a:xfrm>
              <a:off x="4989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>
              <p:custDataLst>
                <p:tags r:id="rId42"/>
              </p:custDataLst>
            </p:nvPr>
          </p:nvCxnSpPr>
          <p:spPr>
            <a:xfrm>
              <a:off x="5443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>
              <p:custDataLst>
                <p:tags r:id="rId43"/>
              </p:custDataLst>
            </p:nvPr>
          </p:nvCxnSpPr>
          <p:spPr>
            <a:xfrm>
              <a:off x="5216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>
              <p:custDataLst>
                <p:tags r:id="rId44"/>
              </p:custDataLst>
            </p:nvPr>
          </p:nvCxnSpPr>
          <p:spPr>
            <a:xfrm>
              <a:off x="5216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>
              <p:custDataLst>
                <p:tags r:id="rId45"/>
              </p:custDataLst>
            </p:nvPr>
          </p:nvCxnSpPr>
          <p:spPr>
            <a:xfrm>
              <a:off x="5443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>
              <p:custDataLst>
                <p:tags r:id="rId46"/>
              </p:custDataLst>
            </p:nvPr>
          </p:nvCxnSpPr>
          <p:spPr>
            <a:xfrm>
              <a:off x="5897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>
              <p:custDataLst>
                <p:tags r:id="rId47"/>
              </p:custDataLst>
            </p:nvPr>
          </p:nvCxnSpPr>
          <p:spPr>
            <a:xfrm>
              <a:off x="5670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>
              <p:custDataLst>
                <p:tags r:id="rId48"/>
              </p:custDataLst>
            </p:nvPr>
          </p:nvCxnSpPr>
          <p:spPr>
            <a:xfrm>
              <a:off x="567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49"/>
              </p:custDataLst>
            </p:nvPr>
          </p:nvCxnSpPr>
          <p:spPr>
            <a:xfrm>
              <a:off x="5897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50"/>
              </p:custDataLst>
            </p:nvPr>
          </p:nvCxnSpPr>
          <p:spPr>
            <a:xfrm>
              <a:off x="635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>
              <p:custDataLst>
                <p:tags r:id="rId51"/>
              </p:custDataLst>
            </p:nvPr>
          </p:nvCxnSpPr>
          <p:spPr>
            <a:xfrm>
              <a:off x="6123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52"/>
              </p:custDataLst>
            </p:nvPr>
          </p:nvCxnSpPr>
          <p:spPr>
            <a:xfrm>
              <a:off x="6123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>
              <p:custDataLst>
                <p:tags r:id="rId53"/>
              </p:custDataLst>
            </p:nvPr>
          </p:nvCxnSpPr>
          <p:spPr>
            <a:xfrm>
              <a:off x="6350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>
              <p:custDataLst>
                <p:tags r:id="rId54"/>
              </p:custDataLst>
            </p:nvPr>
          </p:nvCxnSpPr>
          <p:spPr>
            <a:xfrm>
              <a:off x="6804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>
              <p:custDataLst>
                <p:tags r:id="rId55"/>
              </p:custDataLst>
            </p:nvPr>
          </p:nvCxnSpPr>
          <p:spPr>
            <a:xfrm>
              <a:off x="6574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56"/>
              </p:custDataLst>
            </p:nvPr>
          </p:nvCxnSpPr>
          <p:spPr>
            <a:xfrm>
              <a:off x="6574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57"/>
              </p:custDataLst>
            </p:nvPr>
          </p:nvCxnSpPr>
          <p:spPr>
            <a:xfrm>
              <a:off x="6804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58"/>
              </p:custDataLst>
            </p:nvPr>
          </p:nvCxnSpPr>
          <p:spPr>
            <a:xfrm>
              <a:off x="703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59"/>
              </p:custDataLst>
            </p:nvPr>
          </p:nvCxnSpPr>
          <p:spPr>
            <a:xfrm>
              <a:off x="7030" y="2722"/>
              <a:ext cx="17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60"/>
              </p:custDataLst>
            </p:nvPr>
          </p:nvCxnSpPr>
          <p:spPr>
            <a:xfrm>
              <a:off x="4311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61"/>
              </p:custDataLst>
            </p:nvPr>
          </p:nvCxnSpPr>
          <p:spPr>
            <a:xfrm>
              <a:off x="3857" y="396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62"/>
              </p:custDataLst>
            </p:nvPr>
          </p:nvCxnSpPr>
          <p:spPr>
            <a:xfrm>
              <a:off x="3857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>
              <p:custDataLst>
                <p:tags r:id="rId63"/>
              </p:custDataLst>
            </p:nvPr>
          </p:nvCxnSpPr>
          <p:spPr>
            <a:xfrm>
              <a:off x="3233" y="3742"/>
              <a:ext cx="62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64"/>
              </p:custDataLst>
            </p:nvPr>
          </p:nvCxnSpPr>
          <p:spPr>
            <a:xfrm>
              <a:off x="4311" y="374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65"/>
              </p:custDataLst>
            </p:nvPr>
          </p:nvCxnSpPr>
          <p:spPr>
            <a:xfrm>
              <a:off x="5672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>
              <p:custDataLst>
                <p:tags r:id="rId66"/>
              </p:custDataLst>
            </p:nvPr>
          </p:nvCxnSpPr>
          <p:spPr>
            <a:xfrm>
              <a:off x="6125" y="3742"/>
              <a:ext cx="1077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67"/>
              </p:custDataLst>
            </p:nvPr>
          </p:nvCxnSpPr>
          <p:spPr>
            <a:xfrm>
              <a:off x="6125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68"/>
              </p:custDataLst>
            </p:nvPr>
          </p:nvCxnSpPr>
          <p:spPr>
            <a:xfrm>
              <a:off x="5672" y="396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69"/>
              </p:custDataLst>
            </p:nvPr>
          </p:nvCxnSpPr>
          <p:spPr>
            <a:xfrm>
              <a:off x="4765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>
              <p:custDataLst>
                <p:tags r:id="rId70"/>
              </p:custDataLst>
            </p:nvPr>
          </p:nvCxnSpPr>
          <p:spPr>
            <a:xfrm>
              <a:off x="4311" y="430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>
              <p:custDataLst>
                <p:tags r:id="rId71"/>
              </p:custDataLst>
            </p:nvPr>
          </p:nvCxnSpPr>
          <p:spPr>
            <a:xfrm>
              <a:off x="4311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72"/>
              </p:custDataLst>
            </p:nvPr>
          </p:nvCxnSpPr>
          <p:spPr>
            <a:xfrm>
              <a:off x="3235" y="4082"/>
              <a:ext cx="1077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73"/>
              </p:custDataLst>
            </p:nvPr>
          </p:nvCxnSpPr>
          <p:spPr>
            <a:xfrm>
              <a:off x="4765" y="408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>
              <p:custDataLst>
                <p:tags r:id="rId74"/>
              </p:custDataLst>
            </p:nvPr>
          </p:nvCxnSpPr>
          <p:spPr>
            <a:xfrm>
              <a:off x="6126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>
              <p:custDataLst>
                <p:tags r:id="rId75"/>
              </p:custDataLst>
            </p:nvPr>
          </p:nvCxnSpPr>
          <p:spPr>
            <a:xfrm>
              <a:off x="6579" y="4082"/>
              <a:ext cx="62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>
              <p:custDataLst>
                <p:tags r:id="rId76"/>
              </p:custDataLst>
            </p:nvPr>
          </p:nvCxnSpPr>
          <p:spPr>
            <a:xfrm>
              <a:off x="6579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>
              <p:custDataLst>
                <p:tags r:id="rId77"/>
              </p:custDataLst>
            </p:nvPr>
          </p:nvCxnSpPr>
          <p:spPr>
            <a:xfrm>
              <a:off x="6126" y="430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>
              <p:custDataLst>
                <p:tags r:id="rId78"/>
              </p:custDataLst>
            </p:nvPr>
          </p:nvCxnSpPr>
          <p:spPr>
            <a:xfrm>
              <a:off x="5218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>
              <p:custDataLst>
                <p:tags r:id="rId79"/>
              </p:custDataLst>
            </p:nvPr>
          </p:nvCxnSpPr>
          <p:spPr>
            <a:xfrm>
              <a:off x="4764" y="464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80"/>
              </p:custDataLst>
            </p:nvPr>
          </p:nvCxnSpPr>
          <p:spPr>
            <a:xfrm>
              <a:off x="4764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81"/>
              </p:custDataLst>
            </p:nvPr>
          </p:nvCxnSpPr>
          <p:spPr>
            <a:xfrm>
              <a:off x="3236" y="4422"/>
              <a:ext cx="153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2"/>
              </p:custDataLst>
            </p:nvPr>
          </p:nvCxnSpPr>
          <p:spPr>
            <a:xfrm>
              <a:off x="5218" y="442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3"/>
              </p:custDataLst>
            </p:nvPr>
          </p:nvCxnSpPr>
          <p:spPr>
            <a:xfrm>
              <a:off x="6579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84"/>
              </p:custDataLst>
            </p:nvPr>
          </p:nvCxnSpPr>
          <p:spPr>
            <a:xfrm>
              <a:off x="7032" y="4422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>
              <p:custDataLst>
                <p:tags r:id="rId85"/>
              </p:custDataLst>
            </p:nvPr>
          </p:nvCxnSpPr>
          <p:spPr>
            <a:xfrm>
              <a:off x="7032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6"/>
              </p:custDataLst>
            </p:nvPr>
          </p:nvCxnSpPr>
          <p:spPr>
            <a:xfrm>
              <a:off x="6579" y="464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7"/>
              </p:custDataLst>
            </p:nvPr>
          </p:nvCxnSpPr>
          <p:spPr>
            <a:xfrm>
              <a:off x="3231" y="4706"/>
              <a:ext cx="396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 Box 213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4139" y="4763"/>
              <a:ext cx="2381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</a:t>
              </a:r>
              <a:r>
                <a:rPr lang="en-US" altLang="zh-CN" sz="1600" b="1" u="none" dirty="0"/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M</a:t>
              </a:r>
            </a:p>
          </p:txBody>
        </p:sp>
        <p:cxnSp>
          <p:nvCxnSpPr>
            <p:cNvPr id="96" name="直接连接符 95"/>
            <p:cNvCxnSpPr/>
            <p:nvPr>
              <p:custDataLst>
                <p:tags r:id="rId89"/>
              </p:custDataLst>
            </p:nvPr>
          </p:nvCxnSpPr>
          <p:spPr>
            <a:xfrm>
              <a:off x="4535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90"/>
              </p:custDataLst>
            </p:nvPr>
          </p:nvCxnSpPr>
          <p:spPr>
            <a:xfrm flipH="1">
              <a:off x="3401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91"/>
              </p:custDataLst>
            </p:nvPr>
          </p:nvCxnSpPr>
          <p:spPr>
            <a:xfrm>
              <a:off x="6350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92"/>
              </p:custDataLst>
            </p:nvPr>
          </p:nvCxnSpPr>
          <p:spPr>
            <a:xfrm flipH="1">
              <a:off x="5216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 Box 23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7200" y="4535"/>
              <a:ext cx="226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+mn-ea"/>
                  <a:ea typeface="+mn-ea"/>
                </a:rPr>
                <a:t>t</a:t>
              </a:r>
            </a:p>
          </p:txBody>
        </p:sp>
        <p:cxnSp>
          <p:nvCxnSpPr>
            <p:cNvPr id="101" name="直接连接符 100"/>
            <p:cNvCxnSpPr/>
            <p:nvPr>
              <p:custDataLst>
                <p:tags r:id="rId94"/>
              </p:custDataLst>
            </p:nvPr>
          </p:nvCxnSpPr>
          <p:spPr>
            <a:xfrm>
              <a:off x="7030" y="3061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>
              <p:custDataLst>
                <p:tags r:id="rId95"/>
              </p:custDataLst>
            </p:nvPr>
          </p:nvCxnSpPr>
          <p:spPr>
            <a:xfrm>
              <a:off x="3402" y="3288"/>
              <a:ext cx="3628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96"/>
              </p:custDataLst>
            </p:nvPr>
          </p:nvCxnSpPr>
          <p:spPr>
            <a:xfrm>
              <a:off x="3402" y="3061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97"/>
              </p:custDataLst>
            </p:nvPr>
          </p:nvCxnSpPr>
          <p:spPr>
            <a:xfrm>
              <a:off x="3231" y="3061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98"/>
              </p:custDataLst>
            </p:nvPr>
          </p:nvCxnSpPr>
          <p:spPr>
            <a:xfrm>
              <a:off x="7030" y="3061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>
              <p:custDataLst>
                <p:tags r:id="rId99"/>
              </p:custDataLst>
            </p:nvPr>
          </p:nvCxnSpPr>
          <p:spPr>
            <a:xfrm>
              <a:off x="2891" y="3033"/>
              <a:ext cx="283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1" name="Text Box 77">
            <a:extLst>
              <a:ext uri="{FF2B5EF4-FFF2-40B4-BE49-F238E27FC236}">
                <a16:creationId xmlns:a16="http://schemas.microsoft.com/office/drawing/2014/main" id="{7B780D6E-F732-466E-AA8D-5889E826BA8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89863" y="2060848"/>
            <a:ext cx="34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如何实现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个体的访问？</a:t>
            </a:r>
            <a:endParaRPr lang="en-US" altLang="zh-CN" sz="1800" b="1" u="none" dirty="0">
              <a:latin typeface="+mn-ea"/>
            </a:endParaRPr>
          </a:p>
        </p:txBody>
      </p:sp>
      <p:sp>
        <p:nvSpPr>
          <p:cNvPr id="193" name="Text Box 707">
            <a:extLst>
              <a:ext uri="{FF2B5EF4-FFF2-40B4-BE49-F238E27FC236}">
                <a16:creationId xmlns:a16="http://schemas.microsoft.com/office/drawing/2014/main" id="{606B0D77-B1EF-43EE-9678-438BBC1EB87C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87030" y="2420888"/>
            <a:ext cx="3276000" cy="82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首个体号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1600" b="1" u="none" dirty="0">
                <a:latin typeface="宋体" panose="02010600030101010101" pitchFamily="2" charset="-122"/>
              </a:rPr>
              <a:t>地址低位表示，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 marL="808038" indent="-808038">
              <a:spcBef>
                <a:spcPts val="30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突发个数</a:t>
            </a:r>
            <a:r>
              <a:rPr lang="zh-CN" altLang="en-US" sz="1600" b="1" u="none" dirty="0">
                <a:latin typeface="宋体" panose="02010600030101010101" pitchFamily="2" charset="-122"/>
              </a:rPr>
              <a:t>用存控部件中的</a:t>
            </a:r>
            <a:r>
              <a:rPr lang="en-US" altLang="zh-CN" sz="1600" b="1" u="none" dirty="0">
                <a:latin typeface="宋体" panose="02010600030101010101" pitchFamily="2" charset="-122"/>
              </a:rPr>
              <a:t>BL&amp;</a:t>
            </a:r>
            <a:r>
              <a:rPr lang="zh-CN" altLang="en-US" sz="1600" b="1" u="none" dirty="0">
                <a:latin typeface="宋体" panose="02010600030101010101" pitchFamily="2" charset="-122"/>
              </a:rPr>
              <a:t>计数器控制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600" b="1" u="none" dirty="0">
                <a:latin typeface="宋体" panose="02010600030101010101" pitchFamily="2" charset="-122"/>
              </a:rPr>
              <a:t>SDRAM)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6A5B6B8-01CE-429F-976D-C2C1FD1D8EFD}"/>
              </a:ext>
            </a:extLst>
          </p:cNvPr>
          <p:cNvGrpSpPr/>
          <p:nvPr/>
        </p:nvGrpSpPr>
        <p:grpSpPr>
          <a:xfrm>
            <a:off x="3996000" y="1198800"/>
            <a:ext cx="2412000" cy="431800"/>
            <a:chOff x="3888096" y="1198800"/>
            <a:chExt cx="2412000" cy="431800"/>
          </a:xfrm>
        </p:grpSpPr>
        <p:cxnSp>
          <p:nvCxnSpPr>
            <p:cNvPr id="107" name="直接箭头连接符 106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5292096" y="1198800"/>
              <a:ext cx="1008000" cy="4318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8674C2EB-7FB4-4836-8098-2C62B40EBECE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3888096" y="1198800"/>
              <a:ext cx="2412000" cy="4318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bldLvl="0" animBg="1"/>
      <p:bldP spid="193" grpId="0" bldLvl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45</a:t>
            </a:fld>
            <a:endParaRPr lang="en-US" altLang="zh-CN" dirty="0"/>
          </a:p>
        </p:txBody>
      </p:sp>
      <p:sp>
        <p:nvSpPr>
          <p:cNvPr id="108" name="Text Box 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4000"/>
            <a:ext cx="4824730" cy="46338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并行访问方式：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优化原理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MEM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的连接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76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1720" y="764704"/>
            <a:ext cx="7056784" cy="14695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访问各个体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，各个体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常规传输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←并行，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18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m*B</a:t>
            </a:r>
            <a:r>
              <a:rPr lang="en-US" altLang="zh-CN" sz="1800" b="1" u="none" baseline="-1800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endParaRPr lang="en-US" altLang="zh-CN" sz="1800" b="1" baseline="-18000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数据引脚</a:t>
            </a:r>
            <a:r>
              <a:rPr lang="zh-CN" altLang="en-US" sz="2200" b="1" u="none" dirty="0">
                <a:latin typeface="宋体" panose="02010600030101010101" pitchFamily="2" charset="-122"/>
                <a:sym typeface="Symbol" panose="05050102010706020507"/>
              </a:rPr>
              <a:t>为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Symbol" panose="05050102010706020507"/>
              </a:rPr>
              <a:t>m*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zh-CN" altLang="en-US" sz="2200" b="1" u="none" dirty="0">
                <a:latin typeface="宋体" panose="02010600030101010101" pitchFamily="2" charset="-122"/>
              </a:rPr>
              <a:t>增设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数据掩码</a:t>
            </a:r>
            <a:r>
              <a:rPr lang="zh-CN" altLang="en-US" sz="2200" b="1" u="none" dirty="0">
                <a:latin typeface="宋体" panose="02010600030101010101" pitchFamily="2" charset="-122"/>
              </a:rPr>
              <a:t>引脚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写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体号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        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所</a:t>
            </a:r>
            <a:r>
              <a:rPr lang="zh-CN" altLang="en-US" sz="1800" b="1" u="none" dirty="0">
                <a:highlight>
                  <a:srgbClr val="FFFF00"/>
                </a:highlight>
                <a:latin typeface="+mn-ea"/>
                <a:sym typeface="+mn-ea"/>
              </a:rPr>
              <a:t>读</a:t>
            </a:r>
            <a:r>
              <a:rPr lang="zh-CN" altLang="en-US" sz="1800" b="1" u="none" dirty="0">
                <a:latin typeface="+mn-ea"/>
                <a:sym typeface="+mn-ea"/>
              </a:rPr>
              <a:t>体号在</a:t>
            </a:r>
            <a:r>
              <a:rPr lang="en-US" altLang="zh-CN" sz="1800" b="1" u="none" dirty="0">
                <a:solidFill>
                  <a:srgbClr val="0070C0"/>
                </a:solidFill>
                <a:latin typeface="+mn-ea"/>
                <a:sym typeface="+mn-ea"/>
              </a:rPr>
              <a:t>CPU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  <a:sym typeface="+mn-ea"/>
              </a:rPr>
              <a:t>中</a:t>
            </a:r>
            <a:r>
              <a:rPr lang="zh-CN" altLang="en-US" sz="1800" b="1" u="none" dirty="0">
                <a:latin typeface="+mn-ea"/>
                <a:sym typeface="+mn-ea"/>
              </a:rPr>
              <a:t>处理</a:t>
            </a:r>
            <a:r>
              <a:rPr lang="en-US" altLang="zh-CN" sz="1800" b="1" u="none" dirty="0">
                <a:latin typeface="+mn-ea"/>
                <a:sym typeface="+mn-ea"/>
              </a:rPr>
              <a:t>←</a:t>
            </a:r>
            <a:r>
              <a:rPr lang="en-US" altLang="zh-CN" sz="1800" u="none" dirty="0">
                <a:latin typeface="+mn-ea"/>
                <a:sym typeface="+mn-ea"/>
              </a:rPr>
              <a:t>┴</a:t>
            </a:r>
            <a:r>
              <a:rPr lang="en-US" altLang="zh-CN" sz="1800" b="1" u="none" dirty="0">
                <a:latin typeface="+mn-ea"/>
                <a:sym typeface="+mn-ea"/>
              </a:rPr>
              <a:t>←</a:t>
            </a:r>
            <a:r>
              <a:rPr lang="zh-CN" altLang="en-US" sz="1800" b="1" u="none" dirty="0">
                <a:latin typeface="+mn-ea"/>
                <a:sym typeface="+mn-ea"/>
              </a:rPr>
              <a:t>提高速度</a:t>
            </a:r>
            <a:endParaRPr lang="zh-CN" altLang="en-US" sz="1800" u="none" dirty="0">
              <a:latin typeface="+mn-ea"/>
              <a:sym typeface="+mn-ea"/>
            </a:endParaRPr>
          </a:p>
        </p:txBody>
      </p:sp>
      <p:grpSp>
        <p:nvGrpSpPr>
          <p:cNvPr id="453" name="组合 452"/>
          <p:cNvGrpSpPr/>
          <p:nvPr/>
        </p:nvGrpSpPr>
        <p:grpSpPr>
          <a:xfrm>
            <a:off x="683568" y="2132856"/>
            <a:ext cx="4679950" cy="1656080"/>
            <a:chOff x="1304" y="6463"/>
            <a:chExt cx="7370" cy="2608"/>
          </a:xfrm>
        </p:grpSpPr>
        <p:sp>
          <p:nvSpPr>
            <p:cNvPr id="109" name="Rectangle 141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2326" y="6860"/>
              <a:ext cx="5783" cy="221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Text Box 162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220" y="680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111" name="Text Box 140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304" y="703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12" name="Text Box 140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6746" y="646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13" name="Text Box 162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218" y="725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114" name="直接箭头连接符 113"/>
            <p:cNvCxnSpPr/>
            <p:nvPr>
              <p:custDataLst>
                <p:tags r:id="rId71"/>
              </p:custDataLst>
            </p:nvPr>
          </p:nvCxnSpPr>
          <p:spPr bwMode="auto">
            <a:xfrm>
              <a:off x="2439" y="8957"/>
              <a:ext cx="4535" cy="2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5" name="Text Box 14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2665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143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2552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117" name="直接箭头连接符 116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2891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75"/>
              </p:custDataLst>
            </p:nvPr>
          </p:nvCxnSpPr>
          <p:spPr bwMode="auto">
            <a:xfrm>
              <a:off x="2948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76"/>
              </p:custDataLst>
            </p:nvPr>
          </p:nvCxnSpPr>
          <p:spPr bwMode="auto">
            <a:xfrm>
              <a:off x="3572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77"/>
              </p:custDataLst>
            </p:nvPr>
          </p:nvCxnSpPr>
          <p:spPr bwMode="auto">
            <a:xfrm flipH="1" flipV="1">
              <a:off x="2892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78"/>
              </p:custDataLst>
            </p:nvPr>
          </p:nvCxnSpPr>
          <p:spPr bwMode="auto">
            <a:xfrm>
              <a:off x="3630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3430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3430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81"/>
              </p:custDataLst>
            </p:nvPr>
          </p:nvCxnSpPr>
          <p:spPr bwMode="auto">
            <a:xfrm>
              <a:off x="3630" y="8844"/>
              <a:ext cx="4365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82"/>
              </p:custDataLst>
            </p:nvPr>
          </p:nvCxnSpPr>
          <p:spPr bwMode="auto">
            <a:xfrm>
              <a:off x="2439" y="7143"/>
              <a:ext cx="0" cy="1814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 Box 146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025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913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128" name="直接箭头连接符 127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4252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86"/>
              </p:custDataLst>
            </p:nvPr>
          </p:nvCxnSpPr>
          <p:spPr bwMode="auto">
            <a:xfrm>
              <a:off x="4309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87"/>
              </p:custDataLst>
            </p:nvPr>
          </p:nvCxnSpPr>
          <p:spPr bwMode="auto">
            <a:xfrm>
              <a:off x="4932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88"/>
              </p:custDataLst>
            </p:nvPr>
          </p:nvCxnSpPr>
          <p:spPr bwMode="auto">
            <a:xfrm flipH="1" flipV="1">
              <a:off x="4253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89"/>
              </p:custDataLst>
            </p:nvPr>
          </p:nvCxnSpPr>
          <p:spPr bwMode="auto">
            <a:xfrm>
              <a:off x="4991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4791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4791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5" name="Text Box 146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5386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43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274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137" name="直接箭头连接符 136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5613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95"/>
              </p:custDataLst>
            </p:nvPr>
          </p:nvCxnSpPr>
          <p:spPr bwMode="auto">
            <a:xfrm>
              <a:off x="5669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96"/>
              </p:custDataLst>
            </p:nvPr>
          </p:nvCxnSpPr>
          <p:spPr bwMode="auto">
            <a:xfrm>
              <a:off x="6293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5614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98"/>
              </p:custDataLst>
            </p:nvPr>
          </p:nvCxnSpPr>
          <p:spPr bwMode="auto">
            <a:xfrm>
              <a:off x="6352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6151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6151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44" name="Text Box 146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6746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143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6634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</a:p>
          </p:txBody>
        </p:sp>
        <p:cxnSp>
          <p:nvCxnSpPr>
            <p:cNvPr id="146" name="直接箭头连接符 145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6973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104"/>
              </p:custDataLst>
            </p:nvPr>
          </p:nvCxnSpPr>
          <p:spPr bwMode="auto">
            <a:xfrm>
              <a:off x="7030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105"/>
              </p:custDataLst>
            </p:nvPr>
          </p:nvCxnSpPr>
          <p:spPr bwMode="auto">
            <a:xfrm>
              <a:off x="7654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106"/>
              </p:custDataLst>
            </p:nvPr>
          </p:nvCxnSpPr>
          <p:spPr bwMode="auto">
            <a:xfrm flipH="1" flipV="1">
              <a:off x="6974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107"/>
              </p:custDataLst>
            </p:nvPr>
          </p:nvCxnSpPr>
          <p:spPr bwMode="auto">
            <a:xfrm>
              <a:off x="7712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7512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7512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110"/>
              </p:custDataLst>
            </p:nvPr>
          </p:nvCxnSpPr>
          <p:spPr bwMode="auto">
            <a:xfrm>
              <a:off x="7995" y="7370"/>
              <a:ext cx="0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箭头连接符 216"/>
            <p:cNvCxnSpPr/>
            <p:nvPr>
              <p:custDataLst>
                <p:tags r:id="rId111"/>
              </p:custDataLst>
            </p:nvPr>
          </p:nvCxnSpPr>
          <p:spPr bwMode="auto">
            <a:xfrm flipH="1" flipV="1">
              <a:off x="7994" y="7370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直接箭头连接符 217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8274" y="7254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9" name="直接箭头连接符 218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8277" y="6802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0" name="直接箭头连接符 339"/>
            <p:cNvCxnSpPr/>
            <p:nvPr>
              <p:custDataLst>
                <p:tags r:id="rId114"/>
              </p:custDataLst>
            </p:nvPr>
          </p:nvCxnSpPr>
          <p:spPr bwMode="auto">
            <a:xfrm>
              <a:off x="3458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6" name="Text Box 381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3345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54" name="Oval 382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3515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" name="Oval 382"/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3402" y="7087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61" name="直接箭头连接符 360"/>
            <p:cNvCxnSpPr/>
            <p:nvPr>
              <p:custDataLst>
                <p:tags r:id="rId118"/>
              </p:custDataLst>
            </p:nvPr>
          </p:nvCxnSpPr>
          <p:spPr bwMode="auto">
            <a:xfrm>
              <a:off x="4819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362" name="Text Box 381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4706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63" name="Oval 382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4875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4" name="Oval 382"/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4762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66" name="直接箭头连接符 365"/>
            <p:cNvCxnSpPr/>
            <p:nvPr>
              <p:custDataLst>
                <p:tags r:id="rId122"/>
              </p:custDataLst>
            </p:nvPr>
          </p:nvCxnSpPr>
          <p:spPr bwMode="auto">
            <a:xfrm>
              <a:off x="6180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367" name="Text Box 381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6066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68" name="Oval 382"/>
            <p:cNvSpPr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6236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3" name="Oval 382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6123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36" name="直接箭头连接符 435"/>
            <p:cNvCxnSpPr/>
            <p:nvPr>
              <p:custDataLst>
                <p:tags r:id="rId126"/>
              </p:custDataLst>
            </p:nvPr>
          </p:nvCxnSpPr>
          <p:spPr bwMode="auto">
            <a:xfrm>
              <a:off x="7541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437" name="Text Box 381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7427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38" name="Oval 382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7597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" name="Oval 382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7484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40" name="直接箭头连接符 439"/>
            <p:cNvCxnSpPr/>
            <p:nvPr>
              <p:custDataLst>
                <p:tags r:id="rId130"/>
              </p:custDataLst>
            </p:nvPr>
          </p:nvCxnSpPr>
          <p:spPr bwMode="auto">
            <a:xfrm>
              <a:off x="3458" y="6973"/>
              <a:ext cx="4762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1" name="直接箭头连接符 440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2211" y="7143"/>
              <a:ext cx="22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2" name="Text Box 140"/>
            <p:cNvSpPr txBox="1"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7540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443" name="直接箭头连接符 442"/>
            <p:cNvCxnSpPr/>
            <p:nvPr>
              <p:custDataLst>
                <p:tags r:id="rId133"/>
              </p:custDataLst>
            </p:nvPr>
          </p:nvCxnSpPr>
          <p:spPr bwMode="auto">
            <a:xfrm>
              <a:off x="7767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4" name="Text Box 140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5329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8</a:t>
              </a:r>
            </a:p>
          </p:txBody>
        </p:sp>
        <p:sp>
          <p:nvSpPr>
            <p:cNvPr id="445" name="Text Box 140"/>
            <p:cNvSpPr txBox="1"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6180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446" name="直接箭头连接符 445"/>
            <p:cNvCxnSpPr/>
            <p:nvPr>
              <p:custDataLst>
                <p:tags r:id="rId136"/>
              </p:custDataLst>
            </p:nvPr>
          </p:nvCxnSpPr>
          <p:spPr bwMode="auto">
            <a:xfrm>
              <a:off x="6406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7" name="Text Box 140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3855" y="6463"/>
              <a:ext cx="102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23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16</a:t>
              </a:r>
            </a:p>
          </p:txBody>
        </p:sp>
        <p:sp>
          <p:nvSpPr>
            <p:cNvPr id="448" name="Text Box 140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4819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449" name="直接箭头连接符 448"/>
            <p:cNvCxnSpPr/>
            <p:nvPr>
              <p:custDataLst>
                <p:tags r:id="rId139"/>
              </p:custDataLst>
            </p:nvPr>
          </p:nvCxnSpPr>
          <p:spPr bwMode="auto">
            <a:xfrm>
              <a:off x="5046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0" name="Text Box 140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2324" y="6463"/>
              <a:ext cx="102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24</a:t>
              </a:r>
            </a:p>
          </p:txBody>
        </p:sp>
        <p:sp>
          <p:nvSpPr>
            <p:cNvPr id="451" name="Text Box 140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3345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452" name="直接箭头连接符 451"/>
            <p:cNvCxnSpPr/>
            <p:nvPr>
              <p:custDataLst>
                <p:tags r:id="rId142"/>
              </p:custDataLst>
            </p:nvPr>
          </p:nvCxnSpPr>
          <p:spPr bwMode="auto">
            <a:xfrm>
              <a:off x="3685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55" name="Group 32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59538918"/>
              </p:ext>
            </p:extLst>
          </p:nvPr>
        </p:nvGraphicFramePr>
        <p:xfrm>
          <a:off x="5580112" y="2276872"/>
          <a:ext cx="3240360" cy="1277280"/>
        </p:xfrm>
        <a:graphic>
          <a:graphicData uri="http://schemas.openxmlformats.org/drawingml/2006/table">
            <a:tbl>
              <a:tblPr/>
              <a:tblGrid>
                <a:gridCol w="8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33462125"/>
                    </a:ext>
                  </a:extLst>
                </a:gridCol>
              </a:tblGrid>
              <a:tr h="25463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写长度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读长度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4B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个体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(CPU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处理起始体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2B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kern="1200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个体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2B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kern="1200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个体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某位为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1B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仅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kern="1200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r>
                        <a:rPr kumimoji="1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1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个体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7" name="Text Box 7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80112" y="3645024"/>
            <a:ext cx="28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为何没有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</a:t>
            </a:r>
            <a:r>
              <a:rPr lang="zh-CN" sz="1800" b="1" u="none" dirty="0">
                <a:latin typeface="宋体" panose="02010600030101010101" pitchFamily="2" charset="-122"/>
              </a:rPr>
              <a:t>低位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2B5A578E-268D-4AEC-A8E9-95BBD845E80B}"/>
              </a:ext>
            </a:extLst>
          </p:cNvPr>
          <p:cNvSpPr txBox="1"/>
          <p:nvPr/>
        </p:nvSpPr>
        <p:spPr>
          <a:xfrm>
            <a:off x="2195736" y="4005064"/>
            <a:ext cx="6768557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同时启动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各个体，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常规传输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方式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CPU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DRAMC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的引脚相应改变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数据、掩码、地址低位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C0013198-1465-49DF-B3CB-F8046A106E77}"/>
              </a:ext>
            </a:extLst>
          </p:cNvPr>
          <p:cNvGrpSpPr/>
          <p:nvPr/>
        </p:nvGrpSpPr>
        <p:grpSpPr>
          <a:xfrm>
            <a:off x="2411760" y="4941168"/>
            <a:ext cx="4356100" cy="1583690"/>
            <a:chOff x="3175" y="7710"/>
            <a:chExt cx="6860" cy="2494"/>
          </a:xfrm>
        </p:grpSpPr>
        <p:sp>
          <p:nvSpPr>
            <p:cNvPr id="245" name="Text Box 368">
              <a:extLst>
                <a:ext uri="{FF2B5EF4-FFF2-40B4-BE49-F238E27FC236}">
                  <a16:creationId xmlns:a16="http://schemas.microsoft.com/office/drawing/2014/main" id="{BFDA80C7-60D6-499C-B214-EB28B47900A1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674" y="7823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0# BANK</a:t>
              </a: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47" name="Text Box 369">
              <a:extLst>
                <a:ext uri="{FF2B5EF4-FFF2-40B4-BE49-F238E27FC236}">
                  <a16:creationId xmlns:a16="http://schemas.microsoft.com/office/drawing/2014/main" id="{098BD594-CC6D-41FF-8625-E01B9C132D50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674" y="9070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1# BANK</a:t>
              </a: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48" name="Text Box 385">
              <a:extLst>
                <a:ext uri="{FF2B5EF4-FFF2-40B4-BE49-F238E27FC236}">
                  <a16:creationId xmlns:a16="http://schemas.microsoft.com/office/drawing/2014/main" id="{A1DE2329-D400-4A36-970D-717D336A0FD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23" y="7823"/>
              <a:ext cx="1247" cy="23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36195" bIns="10800" anchor="t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249" name="Text Box 197">
              <a:extLst>
                <a:ext uri="{FF2B5EF4-FFF2-40B4-BE49-F238E27FC236}">
                  <a16:creationId xmlns:a16="http://schemas.microsoft.com/office/drawing/2014/main" id="{6EBA1C8A-B245-4B8D-BC73-0A11B946FDC0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180" y="8562"/>
              <a:ext cx="340" cy="15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DRAMC</a:t>
              </a:r>
            </a:p>
          </p:txBody>
        </p: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30949848-DA1E-4619-A0BB-42C418FE52B4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7370" y="7993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0C4C751E-6E80-473C-86DE-5645F7868376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8164" y="9524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C7C32292-1BB1-4204-8706-0E10C6A9841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8447" y="7937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67002369-D012-4B7C-B1A2-8257F6EAA553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8447" y="7710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A9880A2C-8F46-495D-98C0-8BAA664BBB04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8447" y="9184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6FD45EDB-EFC0-41EA-AF55-37F515A7E3D7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7710" y="8617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13826197-9207-4432-A6DA-99E7743A641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7937" y="8787"/>
              <a:ext cx="73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5FDDBA4F-84E5-4303-B258-F59CD1A5C116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7370" y="10034"/>
              <a:ext cx="130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E1A957B7-95A6-4F7A-A2C3-5F6820CAF198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8164" y="7993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43795D7D-968E-439B-9CA9-8242063F7FCE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937" y="8787"/>
              <a:ext cx="0" cy="124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92D547DC-07C6-49D7-89F0-DA3C6FD7DEB1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7710" y="9694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038B5C1E-4592-40C4-BA6D-67F0C58E5F93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7370" y="8674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C92E98A5-679A-4D8D-91DC-E617D9577A6E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7370" y="901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EC7CE98D-A73D-452A-BBA9-D20241207F46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7710" y="8617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3D5957BF-DB1F-45C3-AABD-DEB7041DC1C1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7597" y="844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CCB42EBB-6F8D-47A2-A058-A836B83631AB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5046" y="7710"/>
              <a:ext cx="3402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EBE55C08-812A-46BE-A46E-4E89B37B696A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4762" y="799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76E78A3A-3C4A-44D8-921C-0DBF669201D6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5046" y="771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F06DD612-A2EC-4238-854C-871D10F360A3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7597" y="9864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8CA20419-9FF2-4C4B-ACA4-6EE61B58B64E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7597" y="844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33D56B04-3180-4278-8454-6C065881B92B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8334" y="9354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01180EDC-DDA4-479D-9CCD-EA361182DF74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7597" y="810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91ABBF10-CC8F-4ED6-AF4F-CC8E9B8C70F4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8164" y="8277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E40308F2-A99C-4DC9-9F83-DAFDA208EA1F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7370" y="8333"/>
              <a:ext cx="22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03704FA6-7CBA-4CDF-AF4A-AAFBDF4274D4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8334" y="8107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DA39B4A6-C428-4A89-99E0-3FF727C69586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7597" y="810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F0ACE5EE-2FBC-47F7-B714-392A1BFF6AC3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7370" y="935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FE944358-EFF3-4C26-826E-345C70C13E11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7370" y="975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9A04E841-FC9C-47F7-AD8C-6907F71F36FF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7597" y="975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4C31072E-7E3E-4588-90B2-B0BA93C94A37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7710" y="9354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243E375B-42A8-4F06-A26B-8B55FFCDE403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5669" y="100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4837E6A6-3E30-48CF-A648-8B1788875567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5669" y="969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123E9DF0-3669-40EE-9C0A-7BAF7C5CF431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5669" y="935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DA63EA93-4F50-4913-8AAD-E3EDCF57F371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5669" y="8333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B896709A-FBB4-4806-AEF3-3EC3E439A095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5669" y="8674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6A1E8DC5-C7F3-4D7F-B4DA-A054CEAE5D5C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990" y="9909"/>
              <a:ext cx="31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237F125A-8752-4D57-81F9-F50E3D076C30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6718" y="9566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9" name="直接箭头连接符 288">
              <a:extLst>
                <a:ext uri="{FF2B5EF4-FFF2-40B4-BE49-F238E27FC236}">
                  <a16:creationId xmlns:a16="http://schemas.microsoft.com/office/drawing/2014/main" id="{6911758C-A16F-4C3F-9DDB-78965C670708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6718" y="9226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DC75C2C1-58B6-442E-9A11-DAEFAB4C405D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6718" y="887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A2D3D0CF-0636-467A-B140-02E06C2C9455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6718" y="8528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2F3F5B02-C9DF-4CEB-996C-293FDE05C9AC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293" y="8165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AFBED3F8-28DF-4B95-9D7F-FEF0A3072369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888" y="8165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94" name="Text Box 110">
              <a:extLst>
                <a:ext uri="{FF2B5EF4-FFF2-40B4-BE49-F238E27FC236}">
                  <a16:creationId xmlns:a16="http://schemas.microsoft.com/office/drawing/2014/main" id="{E5502F60-EF12-47CD-A052-0FA28E0376DA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175" y="7823"/>
              <a:ext cx="1587" cy="23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D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18000" dirty="0">
                  <a:latin typeface="宋体" panose="02010600030101010101" pitchFamily="2" charset="-122"/>
                  <a:sym typeface="+mn-ea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31</a:t>
              </a:r>
              <a:r>
                <a:rPr lang="en-US" altLang="zh-CN" sz="1600" b="1" u="none" dirty="0">
                  <a:sym typeface="+mn-ea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2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ADS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M/IO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W/R</a:t>
              </a:r>
              <a:endPara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5" name="Text Box 197">
              <a:extLst>
                <a:ext uri="{FF2B5EF4-FFF2-40B4-BE49-F238E27FC236}">
                  <a16:creationId xmlns:a16="http://schemas.microsoft.com/office/drawing/2014/main" id="{ECE9F9C9-CD5F-4AE2-8BC7-2503DE4A0464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32" y="8900"/>
              <a:ext cx="90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80386</a:t>
              </a: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0E5321F0-977C-43A1-BCFE-A034DD09C879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4536" y="9894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4DF9E11D-C6E6-40A3-B094-897404549079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4422" y="9537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457A9049-91EC-4B48-8C7C-83042EA1ED84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4241" y="9197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447009E2-D8A8-4298-A162-5C75FA73309D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3685" y="8148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AF57522E-8F07-4E20-877D-1E1E14F5E529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4281" y="8148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01" name="Rectangle 5">
              <a:extLst>
                <a:ext uri="{FF2B5EF4-FFF2-40B4-BE49-F238E27FC236}">
                  <a16:creationId xmlns:a16="http://schemas.microsoft.com/office/drawing/2014/main" id="{09C00CD9-7F96-4F52-839B-FA6B32310CFF}"/>
                </a:ext>
              </a:extLst>
            </p:cNvPr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216" y="8220"/>
              <a:ext cx="454" cy="192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zh-CN" altLang="en-US" sz="1600" b="1" u="none" dirty="0"/>
                <a:t>连接电路</a:t>
              </a:r>
            </a:p>
          </p:txBody>
        </p: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D465E211-6E20-4AB4-85E3-BC0F40836062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4762" y="1003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E58FA59C-71DD-4497-B953-AE75FCBCE671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4762" y="969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4315F5E6-BD46-403C-9FC4-ED6C26EBFF9E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4762" y="935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8C771097-F51C-4371-8549-DE6F41D3D7CC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4762" y="83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529BA3CB-271A-4B21-85C0-259E4DDD9AAF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>
              <a:off x="4762" y="8675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CF72BBD-04CA-4F61-89A5-2C67BF670B90}"/>
              </a:ext>
            </a:extLst>
          </p:cNvPr>
          <p:cNvGrpSpPr/>
          <p:nvPr/>
        </p:nvGrpSpPr>
        <p:grpSpPr>
          <a:xfrm>
            <a:off x="4499991" y="1196751"/>
            <a:ext cx="1962379" cy="360001"/>
            <a:chOff x="4499991" y="1196751"/>
            <a:chExt cx="1962379" cy="360001"/>
          </a:xfrm>
        </p:grpSpPr>
        <p:cxnSp>
          <p:nvCxnSpPr>
            <p:cNvPr id="288" name="直接箭头连接符 287"/>
            <p:cNvCxnSpPr>
              <a:cxnSpLocks/>
            </p:cNvCxnSpPr>
            <p:nvPr>
              <p:custDataLst>
                <p:tags r:id="rId5"/>
              </p:custDataLst>
            </p:nvPr>
          </p:nvCxnSpPr>
          <p:spPr bwMode="auto">
            <a:xfrm>
              <a:off x="4499991" y="1196752"/>
              <a:ext cx="1116000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CAC179F-DFB0-48FB-ACA7-D351A9CFAA18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669627" y="1196751"/>
              <a:ext cx="792743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BC1B-969B-43BB-8BE4-C288F023884C}" type="slidenum">
              <a:rPr lang="en-US" altLang="zh-CN"/>
              <a:t>46</a:t>
            </a:fld>
            <a:endParaRPr lang="en-US" altLang="zh-CN"/>
          </a:p>
        </p:txBody>
      </p:sp>
      <p:sp>
        <p:nvSpPr>
          <p:cNvPr id="192656" name="Text Box 144"/>
          <p:cNvSpPr txBox="1">
            <a:spLocks noChangeArrowheads="1"/>
          </p:cNvSpPr>
          <p:nvPr/>
        </p:nvSpPr>
        <p:spPr bwMode="auto">
          <a:xfrm>
            <a:off x="899469" y="5949280"/>
            <a:ext cx="3420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3-2</a:t>
            </a:r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>
                <a:latin typeface="宋体" panose="02010600030101010101" pitchFamily="2" charset="-122"/>
              </a:rPr>
              <a:t>P137—13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17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20</a:t>
            </a:r>
          </a:p>
        </p:txBody>
      </p:sp>
      <p:sp>
        <p:nvSpPr>
          <p:cNvPr id="91" name="AutoShape 62">
            <a:hlinkClick r:id="rId8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4" name="AutoShape 62">
            <a:hlinkClick r:id="rId8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8640768" cy="38813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(5)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双端口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MEM      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优化方法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2(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并行处理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多个操作并行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优化原理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冲突检测逻辑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510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3225" y="764704"/>
            <a:ext cx="6911223" cy="9019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处理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个访问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请求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1800" b="1" u="none" baseline="-18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2B</a:t>
            </a:r>
            <a:r>
              <a:rPr lang="en-US" altLang="zh-CN" sz="1800" b="1" u="none" baseline="-1800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增设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除存储阵列外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的电路，增加冲突判断电路</a:t>
            </a:r>
            <a:endParaRPr lang="zh-CN" altLang="en-US" sz="2200" b="1" u="none" dirty="0">
              <a:latin typeface="+mn-ea"/>
              <a:sym typeface="+mn-ea"/>
            </a:endParaRPr>
          </a:p>
        </p:txBody>
      </p:sp>
      <p:grpSp>
        <p:nvGrpSpPr>
          <p:cNvPr id="511" name="组合 510"/>
          <p:cNvGrpSpPr/>
          <p:nvPr/>
        </p:nvGrpSpPr>
        <p:grpSpPr>
          <a:xfrm>
            <a:off x="1513205" y="1700808"/>
            <a:ext cx="5831840" cy="1871980"/>
            <a:chOff x="2835" y="1757"/>
            <a:chExt cx="9184" cy="2948"/>
          </a:xfrm>
        </p:grpSpPr>
        <p:sp>
          <p:nvSpPr>
            <p:cNvPr id="2" name="Rectangle 10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82" y="1757"/>
              <a:ext cx="6690" cy="294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Text Box 6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520" y="2948"/>
              <a:ext cx="1814" cy="90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2K×8</a:t>
              </a: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SRAM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阵列</a:t>
              </a:r>
            </a:p>
          </p:txBody>
        </p:sp>
        <p:sp>
          <p:nvSpPr>
            <p:cNvPr id="4" name="Text Box 7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520" y="3969"/>
              <a:ext cx="1814" cy="45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判断逻辑</a:t>
              </a:r>
            </a:p>
          </p:txBody>
        </p:sp>
        <p:sp>
          <p:nvSpPr>
            <p:cNvPr id="5" name="Text Box 7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03" y="2211"/>
              <a:ext cx="1474" cy="452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6" name="Text Box 8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80" y="1871"/>
              <a:ext cx="124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列选择</a:t>
              </a:r>
            </a:p>
          </p:txBody>
        </p:sp>
        <p:sp>
          <p:nvSpPr>
            <p:cNvPr id="7" name="Text Box 9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05" y="2211"/>
              <a:ext cx="1248" cy="452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>
                  <a:latin typeface="宋体" panose="02010600030101010101" pitchFamily="2" charset="-122"/>
                </a:rPr>
                <a:t>电路</a:t>
              </a:r>
            </a:p>
          </p:txBody>
        </p:sp>
        <p:sp>
          <p:nvSpPr>
            <p:cNvPr id="8" name="Text Box 9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427" y="1871"/>
              <a:ext cx="124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列选择</a:t>
              </a:r>
            </a:p>
          </p:txBody>
        </p:sp>
        <p:cxnSp>
          <p:nvCxnSpPr>
            <p:cNvPr id="512" name="直接箭头连接符 511"/>
            <p:cNvCxnSpPr/>
            <p:nvPr>
              <p:custDataLst>
                <p:tags r:id="rId12"/>
              </p:custDataLst>
            </p:nvPr>
          </p:nvCxnSpPr>
          <p:spPr bwMode="auto">
            <a:xfrm>
              <a:off x="6577" y="2436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3" name="直接箭头连接符 512"/>
            <p:cNvCxnSpPr/>
            <p:nvPr>
              <p:custDataLst>
                <p:tags r:id="rId13"/>
              </p:custDataLst>
            </p:nvPr>
          </p:nvCxnSpPr>
          <p:spPr bwMode="auto">
            <a:xfrm>
              <a:off x="5613" y="192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4" name="直接箭头连接符 513"/>
            <p:cNvCxnSpPr/>
            <p:nvPr>
              <p:custDataLst>
                <p:tags r:id="rId14"/>
              </p:custDataLst>
            </p:nvPr>
          </p:nvCxnSpPr>
          <p:spPr bwMode="auto">
            <a:xfrm>
              <a:off x="4535" y="2268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5" name="直接箭头连接符 514"/>
            <p:cNvCxnSpPr/>
            <p:nvPr>
              <p:custDataLst>
                <p:tags r:id="rId15"/>
              </p:custDataLst>
            </p:nvPr>
          </p:nvCxnSpPr>
          <p:spPr bwMode="auto">
            <a:xfrm>
              <a:off x="4195" y="2608"/>
              <a:ext cx="90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6" name="直接箭头连接符 515"/>
            <p:cNvCxnSpPr/>
            <p:nvPr>
              <p:custDataLst>
                <p:tags r:id="rId16"/>
              </p:custDataLst>
            </p:nvPr>
          </p:nvCxnSpPr>
          <p:spPr bwMode="auto">
            <a:xfrm>
              <a:off x="3969" y="2438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7" name="直接箭头连接符 5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4365" y="2041"/>
              <a:ext cx="181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8" name="直接箭头连接符 517"/>
            <p:cNvCxnSpPr/>
            <p:nvPr>
              <p:custDataLst>
                <p:tags r:id="rId18"/>
              </p:custDataLst>
            </p:nvPr>
          </p:nvCxnSpPr>
          <p:spPr bwMode="auto">
            <a:xfrm>
              <a:off x="10488" y="2041"/>
              <a:ext cx="0" cy="198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19" name="直接箭头连接符 518"/>
            <p:cNvCxnSpPr/>
            <p:nvPr>
              <p:custDataLst>
                <p:tags r:id="rId19"/>
              </p:custDataLst>
            </p:nvPr>
          </p:nvCxnSpPr>
          <p:spPr bwMode="auto">
            <a:xfrm>
              <a:off x="7143" y="266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0" name="直接箭头连接符 519"/>
            <p:cNvCxnSpPr/>
            <p:nvPr>
              <p:custDataLst>
                <p:tags r:id="rId20"/>
              </p:custDataLst>
            </p:nvPr>
          </p:nvCxnSpPr>
          <p:spPr bwMode="auto">
            <a:xfrm>
              <a:off x="7710" y="266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1" name="Text Box 14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200" y="2665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22" name="Text Box 7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277" y="2211"/>
              <a:ext cx="1474" cy="45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读写电路</a:t>
              </a:r>
            </a:p>
          </p:txBody>
        </p:sp>
        <p:cxnSp>
          <p:nvCxnSpPr>
            <p:cNvPr id="523" name="直接箭头连接符 522"/>
            <p:cNvCxnSpPr/>
            <p:nvPr>
              <p:custDataLst>
                <p:tags r:id="rId23"/>
              </p:custDataLst>
            </p:nvPr>
          </p:nvCxnSpPr>
          <p:spPr bwMode="auto">
            <a:xfrm>
              <a:off x="3969" y="1928"/>
              <a:ext cx="164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24" name="组合 523"/>
            <p:cNvGrpSpPr/>
            <p:nvPr/>
          </p:nvGrpSpPr>
          <p:grpSpPr>
            <a:xfrm>
              <a:off x="5669" y="2778"/>
              <a:ext cx="851" cy="1076"/>
              <a:chOff x="5669" y="2778"/>
              <a:chExt cx="851" cy="1076"/>
            </a:xfrm>
          </p:grpSpPr>
          <p:sp>
            <p:nvSpPr>
              <p:cNvPr id="9" name="Text Box 81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5669" y="2778"/>
                <a:ext cx="398" cy="107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18000" tIns="10800" rIns="18000" bIns="10800" anchor="ctr"/>
              <a:lstStyle/>
              <a:p>
                <a:pPr algn="ctr"/>
                <a:r>
                  <a:rPr lang="zh-CN" altLang="en-US" sz="1600" b="1" u="none">
                    <a:latin typeface="宋体" panose="02010600030101010101" pitchFamily="2" charset="-122"/>
                  </a:rPr>
                  <a:t>行选择</a:t>
                </a:r>
              </a:p>
            </p:txBody>
          </p:sp>
          <p:sp>
            <p:nvSpPr>
              <p:cNvPr id="10" name="Text Box 140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6122" y="3175"/>
                <a:ext cx="340" cy="45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36195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>
                    <a:latin typeface="宋体" panose="02010600030101010101" pitchFamily="2" charset="-122"/>
                  </a:rPr>
                  <a:t>…</a:t>
                </a:r>
                <a:endParaRPr lang="en-US" altLang="zh-CN" sz="1600" b="1" u="none" baseline="-2000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25" name="直接箭头连接符 524"/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6066" y="3118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26" name="直接箭头连接符 525"/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6066" y="3685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cxnSp>
          <p:nvCxnSpPr>
            <p:cNvPr id="527" name="直接箭头连接符 526"/>
            <p:cNvCxnSpPr/>
            <p:nvPr>
              <p:custDataLst>
                <p:tags r:id="rId24"/>
              </p:custDataLst>
            </p:nvPr>
          </p:nvCxnSpPr>
          <p:spPr bwMode="auto">
            <a:xfrm>
              <a:off x="3969" y="3288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528" name="组合 527"/>
            <p:cNvGrpSpPr/>
            <p:nvPr/>
          </p:nvGrpSpPr>
          <p:grpSpPr>
            <a:xfrm>
              <a:off x="8334" y="2778"/>
              <a:ext cx="851" cy="1077"/>
              <a:chOff x="6066" y="2778"/>
              <a:chExt cx="851" cy="1077"/>
            </a:xfrm>
          </p:grpSpPr>
          <p:sp>
            <p:nvSpPr>
              <p:cNvPr id="529" name="Text Box 81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519" y="2778"/>
                <a:ext cx="398" cy="107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18000" tIns="10800" rIns="18000" bIns="10800" anchor="ctr"/>
              <a:lstStyle/>
              <a:p>
                <a:pPr algn="ctr"/>
                <a:r>
                  <a:rPr lang="zh-CN" altLang="en-US" sz="1600" b="1" u="none">
                    <a:latin typeface="宋体" panose="02010600030101010101" pitchFamily="2" charset="-122"/>
                  </a:rPr>
                  <a:t>行选择</a:t>
                </a:r>
              </a:p>
            </p:txBody>
          </p:sp>
          <p:sp>
            <p:nvSpPr>
              <p:cNvPr id="530" name="Text Box 140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6122" y="3175"/>
                <a:ext cx="340" cy="45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36195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>
                    <a:latin typeface="宋体" panose="02010600030101010101" pitchFamily="2" charset="-122"/>
                  </a:rPr>
                  <a:t>…</a:t>
                </a:r>
                <a:endParaRPr lang="en-US" altLang="zh-CN" sz="1600" b="1" u="none" baseline="-2000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31" name="直接箭头连接符 530"/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6066" y="3118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532" name="直接箭头连接符 531"/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6066" y="3685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</p:grpSp>
        <p:cxnSp>
          <p:nvCxnSpPr>
            <p:cNvPr id="533" name="直接箭头连接符 532"/>
            <p:cNvCxnSpPr/>
            <p:nvPr>
              <p:custDataLst>
                <p:tags r:id="rId25"/>
              </p:custDataLst>
            </p:nvPr>
          </p:nvCxnSpPr>
          <p:spPr bwMode="auto">
            <a:xfrm>
              <a:off x="8050" y="2438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8675" y="2041"/>
              <a:ext cx="181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9865" y="2268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6" name="直接箭头连接符 535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9751" y="2608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7" name="直接箭头连接符 536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9751" y="2438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8" name="直接箭头连接符 537"/>
            <p:cNvCxnSpPr/>
            <p:nvPr>
              <p:custDataLst>
                <p:tags r:id="rId30"/>
              </p:custDataLst>
            </p:nvPr>
          </p:nvCxnSpPr>
          <p:spPr bwMode="auto">
            <a:xfrm>
              <a:off x="9298" y="192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9" name="直接箭头连接符 538"/>
            <p:cNvCxnSpPr/>
            <p:nvPr>
              <p:custDataLst>
                <p:tags r:id="rId31"/>
              </p:custDataLst>
            </p:nvPr>
          </p:nvCxnSpPr>
          <p:spPr bwMode="auto">
            <a:xfrm>
              <a:off x="9298" y="1928"/>
              <a:ext cx="158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0" name="直接箭头连接符 539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9184" y="3288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1" name="直接箭头连接符 540"/>
            <p:cNvCxnSpPr/>
            <p:nvPr>
              <p:custDataLst>
                <p:tags r:id="rId33"/>
              </p:custDataLst>
            </p:nvPr>
          </p:nvCxnSpPr>
          <p:spPr bwMode="auto">
            <a:xfrm>
              <a:off x="3969" y="4025"/>
              <a:ext cx="255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2" name="直接箭头连接符 541"/>
            <p:cNvCxnSpPr/>
            <p:nvPr>
              <p:custDataLst>
                <p:tags r:id="rId34"/>
              </p:custDataLst>
            </p:nvPr>
          </p:nvCxnSpPr>
          <p:spPr bwMode="auto">
            <a:xfrm>
              <a:off x="4876" y="4195"/>
              <a:ext cx="164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3" name="直接箭头连接符 542"/>
            <p:cNvCxnSpPr/>
            <p:nvPr>
              <p:custDataLst>
                <p:tags r:id="rId35"/>
              </p:custDataLst>
            </p:nvPr>
          </p:nvCxnSpPr>
          <p:spPr bwMode="auto">
            <a:xfrm>
              <a:off x="4706" y="4365"/>
              <a:ext cx="181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4" name="直接箭头连接符 543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8334" y="4195"/>
              <a:ext cx="164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5" name="直接箭头连接符 544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8334" y="4365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6" name="直接箭头连接符 545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8334" y="4025"/>
              <a:ext cx="255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7" name="直接箭头连接符 546"/>
            <p:cNvCxnSpPr/>
            <p:nvPr>
              <p:custDataLst>
                <p:tags r:id="rId39"/>
              </p:custDataLst>
            </p:nvPr>
          </p:nvCxnSpPr>
          <p:spPr bwMode="auto">
            <a:xfrm>
              <a:off x="6917" y="442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8" name="直接箭头连接符 547"/>
            <p:cNvCxnSpPr/>
            <p:nvPr>
              <p:custDataLst>
                <p:tags r:id="rId40"/>
              </p:custDataLst>
            </p:nvPr>
          </p:nvCxnSpPr>
          <p:spPr bwMode="auto">
            <a:xfrm>
              <a:off x="3969" y="4592"/>
              <a:ext cx="2948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9" name="直接箭头连接符 548"/>
            <p:cNvCxnSpPr/>
            <p:nvPr>
              <p:custDataLst>
                <p:tags r:id="rId41"/>
              </p:custDataLst>
            </p:nvPr>
          </p:nvCxnSpPr>
          <p:spPr bwMode="auto">
            <a:xfrm>
              <a:off x="7994" y="442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42"/>
              </p:custDataLst>
            </p:nvPr>
          </p:nvCxnSpPr>
          <p:spPr bwMode="auto">
            <a:xfrm>
              <a:off x="7994" y="4592"/>
              <a:ext cx="289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1" name="直接箭头连接符 550"/>
            <p:cNvCxnSpPr/>
            <p:nvPr>
              <p:custDataLst>
                <p:tags r:id="rId43"/>
              </p:custDataLst>
            </p:nvPr>
          </p:nvCxnSpPr>
          <p:spPr bwMode="auto">
            <a:xfrm>
              <a:off x="9978" y="2610"/>
              <a:ext cx="0" cy="158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2" name="直接箭头连接符 551"/>
            <p:cNvCxnSpPr/>
            <p:nvPr>
              <p:custDataLst>
                <p:tags r:id="rId44"/>
              </p:custDataLst>
            </p:nvPr>
          </p:nvCxnSpPr>
          <p:spPr bwMode="auto">
            <a:xfrm>
              <a:off x="10148" y="2438"/>
              <a:ext cx="0" cy="192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3" name="直接箭头连接符 552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318" y="2268"/>
              <a:ext cx="0" cy="232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554" name="直接箭头连接符 553"/>
            <p:cNvCxnSpPr/>
            <p:nvPr>
              <p:custDataLst>
                <p:tags r:id="rId46"/>
              </p:custDataLst>
            </p:nvPr>
          </p:nvCxnSpPr>
          <p:spPr bwMode="auto">
            <a:xfrm>
              <a:off x="4365" y="2041"/>
              <a:ext cx="0" cy="198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55" name="直接箭头连接符 554"/>
            <p:cNvCxnSpPr/>
            <p:nvPr>
              <p:custDataLst>
                <p:tags r:id="rId47"/>
              </p:custDataLst>
            </p:nvPr>
          </p:nvCxnSpPr>
          <p:spPr bwMode="auto">
            <a:xfrm>
              <a:off x="4876" y="2608"/>
              <a:ext cx="0" cy="158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6" name="直接箭头连接符 555"/>
            <p:cNvCxnSpPr/>
            <p:nvPr>
              <p:custDataLst>
                <p:tags r:id="rId48"/>
              </p:custDataLst>
            </p:nvPr>
          </p:nvCxnSpPr>
          <p:spPr bwMode="auto">
            <a:xfrm>
              <a:off x="4706" y="2438"/>
              <a:ext cx="0" cy="192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49"/>
              </p:custDataLst>
            </p:nvPr>
          </p:nvCxnSpPr>
          <p:spPr bwMode="auto">
            <a:xfrm>
              <a:off x="4535" y="2268"/>
              <a:ext cx="0" cy="232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50"/>
              </p:custDataLst>
            </p:nvPr>
          </p:nvCxnSpPr>
          <p:spPr bwMode="auto">
            <a:xfrm>
              <a:off x="4195" y="260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59" name="Oval 382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4989" y="2211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60" name="直接箭头连接符 559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3969" y="289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61" name="Oval 382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9751" y="2211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62" name="直接箭头连接符 561"/>
            <p:cNvCxnSpPr/>
            <p:nvPr>
              <p:custDataLst>
                <p:tags r:id="rId54"/>
              </p:custDataLst>
            </p:nvPr>
          </p:nvCxnSpPr>
          <p:spPr bwMode="auto">
            <a:xfrm>
              <a:off x="10658" y="260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63" name="直接箭头连接符 562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10658" y="289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" name="Text Box 6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948" y="3855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0L</a:t>
              </a:r>
            </a:p>
          </p:txBody>
        </p:sp>
        <p:sp>
          <p:nvSpPr>
            <p:cNvPr id="12" name="Text Box 7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948" y="181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7L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0L</a:t>
              </a:r>
            </a:p>
          </p:txBody>
        </p:sp>
        <p:sp>
          <p:nvSpPr>
            <p:cNvPr id="13" name="Text Box 74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458" y="2721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WE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14" name="Text Box 7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118" y="4365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BUSY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15" name="Text Box 84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835" y="3118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10L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4L</a:t>
              </a:r>
            </a:p>
          </p:txBody>
        </p:sp>
        <p:sp>
          <p:nvSpPr>
            <p:cNvPr id="16" name="Text Box 116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458" y="2248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CS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</a:p>
          </p:txBody>
        </p:sp>
        <p:cxnSp>
          <p:nvCxnSpPr>
            <p:cNvPr id="564" name="直接箭头连接符 563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3487" y="2750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5" name="直接箭头连接符 564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3487" y="2268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66" name="Text Box 6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885" y="3855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0R</a:t>
              </a:r>
            </a:p>
          </p:txBody>
        </p:sp>
        <p:sp>
          <p:nvSpPr>
            <p:cNvPr id="567" name="Text Box 7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0885" y="181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7R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0R</a:t>
              </a:r>
            </a:p>
          </p:txBody>
        </p:sp>
        <p:sp>
          <p:nvSpPr>
            <p:cNvPr id="568" name="Text Box 74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0885" y="2721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WE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569" name="Text Box 77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885" y="4365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BUSY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570" name="Text Box 84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885" y="3118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10R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4R</a:t>
              </a:r>
            </a:p>
          </p:txBody>
        </p:sp>
        <p:sp>
          <p:nvSpPr>
            <p:cNvPr id="571" name="Text Box 11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0885" y="2248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CS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572" name="直接箭头连接符 571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10913" y="2750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0913" y="2268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574" name="Text Box 14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08168" y="3645024"/>
            <a:ext cx="586828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u="none" baseline="-25000" dirty="0">
                <a:latin typeface="宋体" panose="02010600030101010101" pitchFamily="2" charset="-122"/>
                <a:sym typeface="+mn-ea"/>
              </a:rPr>
              <a:t>列</a:t>
            </a:r>
            <a:r>
              <a:rPr lang="en-US" altLang="zh-CN" sz="2200" b="1" u="none" baseline="-25000" dirty="0">
                <a:latin typeface="宋体" panose="02010600030101010101" pitchFamily="2" charset="-122"/>
                <a:sym typeface="+mn-ea"/>
              </a:rPr>
              <a:t>L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u="none" baseline="-25000" dirty="0">
                <a:latin typeface="宋体" panose="02010600030101010101" pitchFamily="2" charset="-122"/>
                <a:sym typeface="+mn-ea"/>
              </a:rPr>
              <a:t>列</a:t>
            </a:r>
            <a:r>
              <a:rPr lang="en-US" altLang="zh-CN" sz="2200" b="1" u="none" baseline="-25000" dirty="0">
                <a:latin typeface="宋体" panose="02010600030101010101" pitchFamily="2" charset="-122"/>
                <a:sym typeface="+mn-ea"/>
              </a:rPr>
              <a:t>R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时有冲突，某个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BUSY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有效</a:t>
            </a:r>
          </a:p>
        </p:txBody>
      </p:sp>
      <p:sp>
        <p:nvSpPr>
          <p:cNvPr id="88" name="Text Box 301">
            <a:extLst>
              <a:ext uri="{FF2B5EF4-FFF2-40B4-BE49-F238E27FC236}">
                <a16:creationId xmlns:a16="http://schemas.microsoft.com/office/drawing/2014/main" id="{6D921B42-83DB-4DB7-87C6-E70848F414E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4221088"/>
            <a:ext cx="878497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提高访存速度技术小结：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9" name="表格 6">
            <a:extLst>
              <a:ext uri="{FF2B5EF4-FFF2-40B4-BE49-F238E27FC236}">
                <a16:creationId xmlns:a16="http://schemas.microsoft.com/office/drawing/2014/main" id="{081637A6-FB52-43F0-BFC1-104CE736C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100798"/>
              </p:ext>
            </p:extLst>
          </p:nvPr>
        </p:nvGraphicFramePr>
        <p:xfrm>
          <a:off x="899592" y="4725144"/>
          <a:ext cx="5688632" cy="89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169313573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16504949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30864709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197377910"/>
                    </a:ext>
                  </a:extLst>
                </a:gridCol>
              </a:tblGrid>
              <a:tr h="3124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需求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altLang="zh-CN" sz="1800" b="1" u="none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一次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多个连续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单元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多次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访存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地址连续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962338"/>
                  </a:ext>
                </a:extLst>
              </a:tr>
              <a:tr h="5032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优化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FPM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SDRAM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DDR SDRAM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，</a:t>
                      </a:r>
                      <a:endParaRPr lang="en-US" altLang="zh-CN" sz="1800" b="1" u="none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多体交叉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MEM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双端口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，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层次结构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(Cache)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92915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656" grpId="0" bldLvl="0" animBg="1"/>
      <p:bldP spid="8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47</a:t>
            </a:fld>
            <a:endParaRPr lang="en-US" altLang="zh-CN" dirty="0"/>
          </a:p>
        </p:txBody>
      </p:sp>
      <p:sp>
        <p:nvSpPr>
          <p:cNvPr id="453803" name="Text Box 17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8639810" cy="5713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现代计算机的主存子系统组成：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不考，科普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①DRAMC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支持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有限数量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主存模块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solidFill>
                  <a:srgbClr val="0070C0"/>
                </a:solidFill>
                <a:latin typeface="+mn-ea"/>
                <a:sym typeface="+mn-ea"/>
              </a:rPr>
              <a:t>DRAM</a:t>
            </a:r>
            <a:r>
              <a:rPr lang="zh-CN" altLang="en-US" sz="1600" b="1" u="none" dirty="0">
                <a:solidFill>
                  <a:srgbClr val="0070C0"/>
                </a:solidFill>
                <a:latin typeface="+mn-ea"/>
                <a:sym typeface="+mn-ea"/>
              </a:rPr>
              <a:t>字扩展</a:t>
            </a:r>
            <a:r>
              <a:rPr lang="zh-CN" altLang="en-US" sz="1600" b="1" u="none" dirty="0">
                <a:latin typeface="+mn-ea"/>
                <a:sym typeface="+mn-ea"/>
              </a:rPr>
              <a:t>方法所致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≤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BANK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插槽数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 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内存条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       </a:t>
            </a:r>
            <a:r>
              <a:rPr lang="en-US" altLang="zh-CN" sz="1600" b="1" u="none" baseline="-25000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←容量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可选配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所致</a:t>
            </a:r>
          </a:p>
          <a:p>
            <a:pPr>
              <a:lnSpc>
                <a:spcPct val="105000"/>
              </a:lnSpc>
            </a:pPr>
            <a:endParaRPr lang="zh-CN" altLang="en-US" sz="20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20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20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②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主存模块的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接口统一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容量可变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←提高灵活性、容量可配置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←早期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168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线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DIMM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、目前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288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线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DIMM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，均支持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多体交叉</a:t>
            </a:r>
            <a:r>
              <a:rPr lang="en-US" altLang="zh-CN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MEM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③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系统启动时，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BIOS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软件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检测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内存条容量、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分配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内存条地址范围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硬件支持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容量检测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地址分配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 marL="5381625" indent="-5381625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④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系统工作时，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DRAMC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根据访问地址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内存条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使</a:t>
            </a:r>
            <a:r>
              <a:rPr lang="en-US" altLang="zh-CN" sz="1600" b="1" u="none" dirty="0" err="1">
                <a:latin typeface="宋体" panose="02010600030101010101" pitchFamily="2" charset="-122"/>
                <a:sym typeface="+mn-ea"/>
              </a:rPr>
              <a:t>RAS</a:t>
            </a:r>
            <a:r>
              <a:rPr lang="en-US" altLang="zh-CN" sz="1600" b="1" u="none" baseline="-16000" dirty="0" err="1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有效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中转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操作</a:t>
            </a:r>
            <a:endParaRPr lang="en-US" altLang="zh-CN" sz="1600" b="1" u="none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5146530" y="1548000"/>
            <a:ext cx="647900" cy="1584325"/>
            <a:chOff x="7427" y="5216"/>
            <a:chExt cx="1020" cy="2495"/>
          </a:xfrm>
        </p:grpSpPr>
        <p:sp>
          <p:nvSpPr>
            <p:cNvPr id="453869" name="Text Box 237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107" y="5216"/>
              <a:ext cx="340" cy="24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系统管理总线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SMB</a:t>
              </a:r>
              <a:endParaRPr lang="en-US" altLang="zh-CN" sz="1600" b="1" u="none" baseline="-20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5" name="直接箭头连接符 154"/>
            <p:cNvCxnSpPr/>
            <p:nvPr>
              <p:custDataLst>
                <p:tags r:id="rId70"/>
              </p:custDataLst>
            </p:nvPr>
          </p:nvCxnSpPr>
          <p:spPr bwMode="auto">
            <a:xfrm>
              <a:off x="7427" y="5669"/>
              <a:ext cx="283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箭头连接符 182"/>
            <p:cNvCxnSpPr/>
            <p:nvPr>
              <p:custDataLst>
                <p:tags r:id="rId71"/>
              </p:custDataLst>
            </p:nvPr>
          </p:nvCxnSpPr>
          <p:spPr bwMode="auto">
            <a:xfrm>
              <a:off x="7427" y="5953"/>
              <a:ext cx="62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72"/>
              </p:custDataLst>
            </p:nvPr>
          </p:nvCxnSpPr>
          <p:spPr bwMode="auto">
            <a:xfrm>
              <a:off x="7427" y="6917"/>
              <a:ext cx="39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73"/>
              </p:custDataLst>
            </p:nvPr>
          </p:nvCxnSpPr>
          <p:spPr bwMode="auto">
            <a:xfrm>
              <a:off x="7427" y="7143"/>
              <a:ext cx="62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7710" y="5272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52" name="直接箭头连接符 251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7824" y="5272"/>
              <a:ext cx="0" cy="164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76"/>
              </p:custDataLst>
            </p:nvPr>
          </p:nvCxnSpPr>
          <p:spPr bwMode="auto">
            <a:xfrm>
              <a:off x="8050" y="5272"/>
              <a:ext cx="0" cy="2381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453905" name="Picture 27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8" cstate="print"/>
          <a:srcRect/>
          <a:stretch>
            <a:fillRect/>
          </a:stretch>
        </p:blipFill>
        <p:spPr bwMode="auto">
          <a:xfrm>
            <a:off x="6264275" y="1484784"/>
            <a:ext cx="1835785" cy="935990"/>
          </a:xfrm>
          <a:prstGeom prst="rect">
            <a:avLst/>
          </a:prstGeom>
          <a:noFill/>
        </p:spPr>
      </p:pic>
      <p:pic>
        <p:nvPicPr>
          <p:cNvPr id="453904" name="Picture 27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9" cstate="print"/>
          <a:srcRect/>
          <a:stretch>
            <a:fillRect/>
          </a:stretch>
        </p:blipFill>
        <p:spPr bwMode="auto">
          <a:xfrm>
            <a:off x="6224905" y="2564904"/>
            <a:ext cx="2578022" cy="540000"/>
          </a:xfrm>
          <a:prstGeom prst="rect">
            <a:avLst/>
          </a:prstGeom>
          <a:noFill/>
        </p:spPr>
      </p:pic>
      <p:sp>
        <p:nvSpPr>
          <p:cNvPr id="343306" name="Text Box 26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68855" y="4149080"/>
            <a:ext cx="4340225" cy="1440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内存条中含</a:t>
            </a:r>
            <a:r>
              <a:rPr lang="en-US" altLang="zh-CN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SPD</a:t>
            </a:r>
            <a:r>
              <a:rPr lang="zh-CN" altLang="en-US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、连接</a:t>
            </a:r>
            <a:r>
              <a:rPr lang="en-US" altLang="zh-CN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SMB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依次</a:t>
            </a:r>
            <a:r>
              <a:rPr lang="zh-CN" altLang="en-US" sz="20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读取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BANK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中内存条的容量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←轮流选中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SPD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芯片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上图桃红色线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按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BANK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顺序</a:t>
            </a:r>
            <a:r>
              <a:rPr lang="zh-CN" altLang="en-US" sz="2000" b="1" u="none" spc="-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各内存条的地址范围</a:t>
            </a:r>
            <a:endParaRPr lang="zh-CN" altLang="en-US" sz="2000" b="1" u="none" spc="-50" dirty="0">
              <a:latin typeface="宋体" panose="02010600030101010101" pitchFamily="2" charset="-122"/>
            </a:endParaRPr>
          </a:p>
        </p:txBody>
      </p:sp>
      <p:sp>
        <p:nvSpPr>
          <p:cNvPr id="255" name="Text Box 14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90310" y="4217035"/>
            <a:ext cx="2700000" cy="46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SPD—</a:t>
            </a:r>
            <a:r>
              <a:rPr lang="en-US" sz="1600" u="none" dirty="0">
                <a:latin typeface="+mn-lt"/>
                <a:sym typeface="+mn-ea"/>
              </a:rPr>
              <a:t>Serial Presence Detect</a:t>
            </a:r>
            <a:endParaRPr lang="en-US" sz="1600" dirty="0">
              <a:latin typeface="+mn-lt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spc="-100" dirty="0">
                <a:solidFill>
                  <a:srgbClr val="C00000"/>
                </a:solidFill>
                <a:latin typeface="宋体" panose="02010600030101010101" pitchFamily="2" charset="-122"/>
              </a:rPr>
              <a:t>SMB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u="none" dirty="0">
                <a:latin typeface="+mn-lt"/>
                <a:sym typeface="+mn-ea"/>
              </a:rPr>
              <a:t>System Management Bus</a:t>
            </a:r>
            <a:endParaRPr lang="en-US" altLang="zh-CN" sz="1600" b="1" u="none" spc="-100" dirty="0">
              <a:solidFill>
                <a:srgbClr val="C00000"/>
              </a:solidFill>
              <a:latin typeface="+mn-lt"/>
              <a:sym typeface="+mn-ea"/>
            </a:endParaRPr>
          </a:p>
        </p:txBody>
      </p:sp>
      <p:sp>
        <p:nvSpPr>
          <p:cNvPr id="3" name="Text Box 12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99343" y="6063426"/>
            <a:ext cx="7631883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引子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还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不满意主存速度时，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可采用优化方法</a:t>
            </a:r>
            <a:r>
              <a:rPr lang="en-US" altLang="zh-CN" sz="1800" b="1" u="none" dirty="0">
                <a:latin typeface="宋体" panose="02010600030101010101" pitchFamily="2" charset="-122"/>
              </a:rPr>
              <a:t>3(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多种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层次结构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])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67851" y="4895850"/>
            <a:ext cx="2808605" cy="368935"/>
            <a:chOff x="9013" y="7710"/>
            <a:chExt cx="4423" cy="581"/>
          </a:xfrm>
        </p:grpSpPr>
        <p:cxnSp>
          <p:nvCxnSpPr>
            <p:cNvPr id="4" name="直接箭头连接符 3"/>
            <p:cNvCxnSpPr/>
            <p:nvPr>
              <p:custDataLst>
                <p:tags r:id="rId66"/>
              </p:custDataLst>
            </p:nvPr>
          </p:nvCxnSpPr>
          <p:spPr bwMode="auto">
            <a:xfrm>
              <a:off x="9014" y="7781"/>
              <a:ext cx="1247" cy="114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" name="直接箭头连接符 4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9013" y="8008"/>
              <a:ext cx="1247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" name="Text Box 140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261" y="7710"/>
              <a:ext cx="3175" cy="454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54000" tIns="10800" rIns="54000" bIns="108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+mn-ea"/>
                </a:rPr>
                <a:t>写入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ea"/>
                </a:rPr>
                <a:t>DRAMC</a:t>
              </a:r>
              <a:r>
                <a:rPr lang="zh-CN" altLang="en-US" sz="1600" b="1" u="none" dirty="0">
                  <a:solidFill>
                    <a:schemeClr val="tx1"/>
                  </a:solidFill>
                  <a:latin typeface="+mn-ea"/>
                </a:rPr>
                <a:t>相应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ea"/>
                </a:rPr>
                <a:t>REG</a:t>
              </a:r>
              <a:r>
                <a:rPr lang="zh-CN" altLang="en-US" sz="1600" b="1" u="none" dirty="0">
                  <a:solidFill>
                    <a:schemeClr val="tx1"/>
                  </a:solidFill>
                  <a:latin typeface="+mn-ea"/>
                </a:rPr>
                <a:t>中</a:t>
              </a:r>
              <a:endParaRPr lang="zh-CN" altLang="en-US" sz="1600" b="1" u="none" spc="-100" dirty="0">
                <a:solidFill>
                  <a:schemeClr val="tx1"/>
                </a:solidFill>
                <a:latin typeface="+mn-ea"/>
                <a:sym typeface="+mn-ea"/>
              </a:endParaRPr>
            </a:p>
          </p:txBody>
        </p:sp>
      </p:grpSp>
      <p:cxnSp>
        <p:nvCxnSpPr>
          <p:cNvPr id="8" name="直接箭头连接符 7"/>
          <p:cNvCxnSpPr/>
          <p:nvPr/>
        </p:nvCxnSpPr>
        <p:spPr bwMode="auto">
          <a:xfrm flipH="1">
            <a:off x="5112000" y="5184145"/>
            <a:ext cx="1548000" cy="540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7267DB3-F8B7-4BF8-9ED7-C8643CD3F234}"/>
              </a:ext>
            </a:extLst>
          </p:cNvPr>
          <p:cNvGrpSpPr/>
          <p:nvPr/>
        </p:nvGrpSpPr>
        <p:grpSpPr>
          <a:xfrm>
            <a:off x="791964" y="1484784"/>
            <a:ext cx="4356100" cy="1583690"/>
            <a:chOff x="3175" y="7710"/>
            <a:chExt cx="6860" cy="2494"/>
          </a:xfrm>
        </p:grpSpPr>
        <p:sp>
          <p:nvSpPr>
            <p:cNvPr id="78" name="Text Box 368">
              <a:extLst>
                <a:ext uri="{FF2B5EF4-FFF2-40B4-BE49-F238E27FC236}">
                  <a16:creationId xmlns:a16="http://schemas.microsoft.com/office/drawing/2014/main" id="{CB66048B-6ADB-42BF-8E6B-8DAA2AAE206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674" y="7823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0# BANK</a:t>
              </a: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79" name="Text Box 369">
              <a:extLst>
                <a:ext uri="{FF2B5EF4-FFF2-40B4-BE49-F238E27FC236}">
                  <a16:creationId xmlns:a16="http://schemas.microsoft.com/office/drawing/2014/main" id="{74024809-4E0C-4C5C-8ADD-967A9E464423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674" y="9070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1# BANK</a:t>
              </a: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0" name="Text Box 385">
              <a:extLst>
                <a:ext uri="{FF2B5EF4-FFF2-40B4-BE49-F238E27FC236}">
                  <a16:creationId xmlns:a16="http://schemas.microsoft.com/office/drawing/2014/main" id="{D96B4EC9-EFBE-4ED5-9A83-982372C47738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23" y="7823"/>
              <a:ext cx="1247" cy="23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36195" bIns="10800" anchor="t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81" name="Text Box 197">
              <a:extLst>
                <a:ext uri="{FF2B5EF4-FFF2-40B4-BE49-F238E27FC236}">
                  <a16:creationId xmlns:a16="http://schemas.microsoft.com/office/drawing/2014/main" id="{835ED3F3-D065-421F-A8A7-61FA1B2AAD68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180" y="8562"/>
              <a:ext cx="340" cy="15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DRAMC</a:t>
              </a: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267B1922-1239-4FE3-A4AC-7BB3BAAFE665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7370" y="7993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0CD1D2A-5F01-4EEF-9584-A66FCD58DCF9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8164" y="9524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D24CAAE6-1566-40CD-A0D7-4CA36862DD84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8447" y="7937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A1761071-AB1C-49BA-A3D4-3FB416A233A8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8447" y="7710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BACB0B23-1C4C-42BD-A9DC-F33987517802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8447" y="9184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1CB10D52-6E4D-4A35-85EC-288A7D425919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7710" y="8617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27B85B82-C818-47AC-B3A0-F78AD3F10D7C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7937" y="8787"/>
              <a:ext cx="73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C6A1DE4-8B45-4F40-810A-5A57C11F2E08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7370" y="10034"/>
              <a:ext cx="130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C5FFAB14-1A05-4412-951B-C2555660A023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8164" y="7993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6A06632F-5112-4329-8952-BEB930161081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937" y="8787"/>
              <a:ext cx="0" cy="124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AB08AD98-87C9-4443-8133-564E94EE3BD0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7710" y="9694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3801201A-22EB-4D71-9098-5B5095BC05C9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7370" y="8674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BAFD5DA-F54F-43C7-B28B-541D8FE46B47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7370" y="901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AB421F48-1B54-473C-B100-F7E4E633F6C6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7710" y="8617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B7481D89-49FE-417F-88B8-9C1E768AAEE8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7597" y="844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145A3E1D-5526-4E5F-819B-EF12927392A7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5046" y="7710"/>
              <a:ext cx="3402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A6FBF4F0-1C82-41DC-9DDC-AEDC0ADE5692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4762" y="799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D84A449E-CADF-4568-A590-EF682D1B42C1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5046" y="771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B51CB130-18BA-459A-895F-685DF65C6DD7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7597" y="9864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31E7E790-3B47-4EEB-B7AB-1073864E4756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7597" y="844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989E601E-B592-4B11-B59F-1A438773BBBC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8334" y="9354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EC61C6EB-1B7C-499A-A21A-9150F7E0559F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7597" y="810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67BBF8D3-61E8-48B3-A9C1-ECAEF44754B5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8164" y="8277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581AE407-B11C-47D3-88AD-FAFCD71DCD3E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7370" y="8333"/>
              <a:ext cx="22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E9ECE390-AADC-4A0E-A891-779AC8029E2C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8334" y="8107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989FF39-2DDF-4696-A61B-B53606700C94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7597" y="810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317BB18F-D6EC-4340-8009-AB7DCBBB25B4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7370" y="935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DCD66AA8-C2AB-4CAC-8793-B36B86EFB18C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7370" y="975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A0E186D8-4E37-4B1B-83E9-44B7DA239C34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7597" y="975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5054D3E4-3E3F-4511-AFF3-8800EA19145A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7710" y="9354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C76B2C59-E2E7-42F9-995A-2ADFE20144DD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5669" y="100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4CA97E5D-2B9E-4BA6-B04F-407DF4B73CA4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5669" y="969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159AB0D0-D1FB-4243-8DD7-46B1024B5360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5669" y="935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CE1A824F-7FA1-48A5-878F-32A2A6FD73B0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5669" y="8333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7500274B-3D06-4A43-B13E-CEB54662CBC2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5669" y="8674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5FEF3446-34FB-4BB9-96AD-2540B7CB95A2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990" y="9909"/>
              <a:ext cx="31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35370F58-07D5-4293-BFA6-487DADC9EE86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6718" y="9566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FB1EAD77-F690-45F2-988B-5FD28A38E375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6718" y="9226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39897D4F-B3DF-4E13-94D1-6FDDB3488709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6718" y="887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6E7E5A76-21FD-42F4-B3D7-801CFEC6D074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6718" y="8528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C9D89AF-7173-4BBD-8955-3216A49209D3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293" y="8165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63D92E1F-0EF4-4425-B334-7C31D5F2A6EB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888" y="8165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26" name="Text Box 110">
              <a:extLst>
                <a:ext uri="{FF2B5EF4-FFF2-40B4-BE49-F238E27FC236}">
                  <a16:creationId xmlns:a16="http://schemas.microsoft.com/office/drawing/2014/main" id="{63B24D28-DAF8-4C3C-AD76-2EE449228583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175" y="7823"/>
              <a:ext cx="1587" cy="23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D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2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18000" dirty="0">
                  <a:latin typeface="宋体" panose="02010600030101010101" pitchFamily="2" charset="-122"/>
                  <a:sym typeface="+mn-ea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31</a:t>
              </a:r>
              <a:r>
                <a:rPr lang="en-US" altLang="zh-CN" sz="1600" b="1" u="none" dirty="0">
                  <a:sym typeface="+mn-ea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12000" dirty="0">
                  <a:latin typeface="宋体" panose="02010600030101010101" pitchFamily="2" charset="-122"/>
                  <a:sym typeface="+mn-ea"/>
                </a:rPr>
                <a:t>2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ADS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M/IO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W/R</a:t>
              </a:r>
              <a:endPara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" name="Text Box 197">
              <a:extLst>
                <a:ext uri="{FF2B5EF4-FFF2-40B4-BE49-F238E27FC236}">
                  <a16:creationId xmlns:a16="http://schemas.microsoft.com/office/drawing/2014/main" id="{3E31CD02-EFC6-4343-850D-546750034762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32" y="8900"/>
              <a:ext cx="90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80386</a:t>
              </a: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C3D05F17-077E-477B-9D67-CF42AB10F127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4536" y="9894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EED05C9A-73A8-4082-81AB-3BEBE63F7D1F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4422" y="9537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D7157F7D-5AF0-41AD-BEF5-5E7EFA42C7B2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4241" y="9197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F0C54FAD-2644-49C1-8AD9-DC4FBD1332D9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3685" y="8148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4F6D01D-3EE8-42E6-9413-6D43D4436ED7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4281" y="8148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3" name="Rectangle 5">
              <a:extLst>
                <a:ext uri="{FF2B5EF4-FFF2-40B4-BE49-F238E27FC236}">
                  <a16:creationId xmlns:a16="http://schemas.microsoft.com/office/drawing/2014/main" id="{B2616705-2585-4DAB-8335-F1D26758A564}"/>
                </a:ext>
              </a:extLst>
            </p:cNvPr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216" y="8220"/>
              <a:ext cx="454" cy="192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zh-CN" altLang="en-US" sz="1600" b="1" u="none" dirty="0"/>
                <a:t>连接电路</a:t>
              </a:r>
            </a:p>
          </p:txBody>
        </p: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3CA7AB79-F0A4-411D-9752-49ABBEFA5284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4762" y="1003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4EBD7A6E-BE9F-427D-93D5-C21BA64EAF4B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4762" y="969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F2E851EA-64C3-4DD9-BF2F-670B9F73578A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4762" y="935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C0700B3A-9EBB-422F-8530-BA32DFEE7F8A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4762" y="83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4F201A96-C3CB-498F-9D02-2A855EE2AACD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>
              <a:off x="4762" y="8675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3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3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3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3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5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53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3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3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538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4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43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43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43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538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ldLvl="0" animBg="1"/>
      <p:bldP spid="3" grpId="0" bldLvl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2852936"/>
            <a:ext cx="3129655" cy="30766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uFillTx/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uFillTx/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uFillTx/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b="1" u="none" dirty="0">
                <a:solidFill>
                  <a:srgbClr val="FF3399"/>
                </a:solidFill>
                <a:uFillTx/>
                <a:latin typeface="宋体" panose="02010600030101010101" pitchFamily="2" charset="-122"/>
                <a:sym typeface="+mn-ea"/>
              </a:rPr>
              <a:t>的基本原理</a:t>
            </a:r>
            <a:endParaRPr lang="en-US" altLang="zh-CN" b="1" u="none" dirty="0">
              <a:solidFill>
                <a:srgbClr val="FF3399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外部接口：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性能指标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命中率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平均访问时间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48</a:t>
            </a:fld>
            <a:endParaRPr lang="en-US" altLang="zh-CN" dirty="0"/>
          </a:p>
        </p:txBody>
      </p:sp>
      <p:sp>
        <p:nvSpPr>
          <p:cNvPr id="5183" name="Text Box 6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4" y="1196752"/>
            <a:ext cx="3939411" cy="16171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*MEM</a:t>
            </a:r>
            <a:r>
              <a:rPr lang="zh-CN" altLang="en-US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的层次结构回顾：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Cache-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主存层次的目标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18801" name="Text Box 1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5650" y="1196752"/>
            <a:ext cx="8263255" cy="16171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按速度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分层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级联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，各层之间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协调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透明地传递信息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M(i)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&lt;&lt;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M(i+1)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M(i)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&lt;&lt;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M(i+1)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中信息为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副本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改后需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写回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endParaRPr lang="en-US" altLang="zh-CN" sz="1800" b="1" u="none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提高访存</a:t>
            </a:r>
            <a:r>
              <a:rPr 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速度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地址变换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层间管理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1800" b="1" u="none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1" name="Rectangle 41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9135" y="3860984"/>
            <a:ext cx="2952000" cy="972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zh-CN" u="none"/>
          </a:p>
        </p:txBody>
      </p:sp>
      <p:grpSp>
        <p:nvGrpSpPr>
          <p:cNvPr id="74" name="组合 73"/>
          <p:cNvGrpSpPr/>
          <p:nvPr/>
        </p:nvGrpSpPr>
        <p:grpSpPr>
          <a:xfrm>
            <a:off x="1655445" y="3787514"/>
            <a:ext cx="6372225" cy="1151890"/>
            <a:chOff x="2268" y="3855"/>
            <a:chExt cx="10035" cy="1814"/>
          </a:xfrm>
        </p:grpSpPr>
        <p:sp>
          <p:nvSpPr>
            <p:cNvPr id="75" name="Rectangle 41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649" y="3855"/>
              <a:ext cx="7654" cy="18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zh-CN" u="none"/>
            </a:p>
          </p:txBody>
        </p:sp>
        <p:sp>
          <p:nvSpPr>
            <p:cNvPr id="76" name="Rectangle 42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386" y="4989"/>
              <a:ext cx="3402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存储体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u="none" dirty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SRAM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77" name="Rectangle 428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932" y="4139"/>
              <a:ext cx="4309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控制器</a:t>
              </a:r>
              <a:r>
                <a:rPr lang="en-US" altLang="zh-CN" sz="1600" b="1" u="none" dirty="0">
                  <a:latin typeface="+mn-ea"/>
                  <a:ea typeface="+mn-ea"/>
                </a:rPr>
                <a:t>(</a:t>
              </a:r>
              <a:r>
                <a:rPr lang="zh-CN" altLang="en-US" sz="1600" b="1" u="none" dirty="0">
                  <a:latin typeface="+mn-ea"/>
                  <a:ea typeface="+mn-ea"/>
                </a:rPr>
                <a:t>地址变换</a:t>
              </a:r>
              <a:r>
                <a:rPr lang="en-US" altLang="zh-CN" sz="1600" b="1" u="none" dirty="0">
                  <a:latin typeface="+mn-ea"/>
                  <a:ea typeface="+mn-ea"/>
                </a:rPr>
                <a:t>+</a:t>
              </a:r>
              <a:r>
                <a:rPr lang="zh-CN" altLang="en-US" sz="1600" b="1" u="none" dirty="0">
                  <a:latin typeface="+mn-ea"/>
                  <a:ea typeface="+mn-ea"/>
                </a:rPr>
                <a:t>层次管理</a:t>
              </a:r>
              <a:r>
                <a:rPr lang="en-US" altLang="zh-CN" sz="1600" b="1" u="none" dirty="0">
                  <a:latin typeface="+mn-ea"/>
                  <a:ea typeface="+mn-ea"/>
                </a:rPr>
                <a:t>)</a:t>
              </a:r>
              <a:endParaRPr lang="zh-CN" altLang="en-US" sz="1800" b="1" u="none" dirty="0">
                <a:latin typeface="+mn-ea"/>
                <a:ea typeface="+mn-ea"/>
              </a:endParaRPr>
            </a:p>
          </p:txBody>
        </p:sp>
        <p:sp>
          <p:nvSpPr>
            <p:cNvPr id="78" name="Text Box 43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443" y="4607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79" name="Text Box 43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268" y="4003"/>
              <a:ext cx="794" cy="79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80" name="Text Box 43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942" y="4139"/>
              <a:ext cx="1247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(DRAM)</a:t>
              </a:r>
            </a:p>
          </p:txBody>
        </p:sp>
        <p:sp>
          <p:nvSpPr>
            <p:cNvPr id="81" name="Text Box 45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175" y="3912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82" name="Text Box 45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411" y="3912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cxnSp>
          <p:nvCxnSpPr>
            <p:cNvPr id="83" name="直接箭头连接符 82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7087" y="4592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7313" y="459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061" y="4252"/>
              <a:ext cx="187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24"/>
              </p:custDataLst>
            </p:nvPr>
          </p:nvCxnSpPr>
          <p:spPr bwMode="auto">
            <a:xfrm>
              <a:off x="3061" y="4479"/>
              <a:ext cx="1871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箭头连接符 86"/>
            <p:cNvCxnSpPr/>
            <p:nvPr>
              <p:custDataLst>
                <p:tags r:id="rId25"/>
              </p:custDataLst>
            </p:nvPr>
          </p:nvCxnSpPr>
          <p:spPr bwMode="auto">
            <a:xfrm>
              <a:off x="9241" y="4252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26"/>
              </p:custDataLst>
            </p:nvPr>
          </p:nvCxnSpPr>
          <p:spPr bwMode="auto">
            <a:xfrm>
              <a:off x="9241" y="4479"/>
              <a:ext cx="1701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89" y="470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28"/>
              </p:custDataLst>
            </p:nvPr>
          </p:nvCxnSpPr>
          <p:spPr bwMode="auto">
            <a:xfrm>
              <a:off x="3061" y="4706"/>
              <a:ext cx="1928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1" name="直接箭头连接符 90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4989" y="5216"/>
              <a:ext cx="39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30"/>
              </p:custDataLst>
            </p:nvPr>
          </p:nvCxnSpPr>
          <p:spPr bwMode="auto">
            <a:xfrm>
              <a:off x="9184" y="470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31"/>
              </p:custDataLst>
            </p:nvPr>
          </p:nvCxnSpPr>
          <p:spPr bwMode="auto">
            <a:xfrm>
              <a:off x="8787" y="5216"/>
              <a:ext cx="39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9184" y="4706"/>
              <a:ext cx="175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59217" name="Text Box 46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8175" y="5013176"/>
            <a:ext cx="7057390" cy="1276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/(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+N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MM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次数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访存总次数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 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en-US" altLang="zh-CN" sz="2200" u="none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+(1-H)(T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MM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+(1-H)T</a:t>
            </a:r>
            <a:r>
              <a:rPr lang="en-US" altLang="zh-CN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MM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命中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+(1-H)T</a:t>
            </a:r>
            <a:r>
              <a:rPr lang="zh-CN" altLang="en-US" sz="22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缺失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u="none" baseline="-16000" dirty="0">
                <a:latin typeface="宋体" panose="02010600030101010101" pitchFamily="2" charset="-122"/>
                <a:cs typeface="宋体" panose="02010600030101010101" pitchFamily="2" charset="-122"/>
              </a:rPr>
              <a:t>缺失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停顿时间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如调入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写回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grpSp>
        <p:nvGrpSpPr>
          <p:cNvPr id="99" name="组合 98"/>
          <p:cNvGrpSpPr/>
          <p:nvPr/>
        </p:nvGrpSpPr>
        <p:grpSpPr>
          <a:xfrm>
            <a:off x="3456305" y="4724984"/>
            <a:ext cx="2699974" cy="864000"/>
            <a:chOff x="5443" y="7483"/>
            <a:chExt cx="4251" cy="1374"/>
          </a:xfrm>
        </p:grpSpPr>
        <p:cxnSp>
          <p:nvCxnSpPr>
            <p:cNvPr id="97" name="直接箭头连接符 96"/>
            <p:cNvCxnSpPr/>
            <p:nvPr>
              <p:custDataLst>
                <p:tags r:id="rId11"/>
              </p:custDataLst>
            </p:nvPr>
          </p:nvCxnSpPr>
          <p:spPr bwMode="auto">
            <a:xfrm>
              <a:off x="5443" y="7483"/>
              <a:ext cx="737" cy="1374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直接箭头连接符 97"/>
            <p:cNvCxnSpPr/>
            <p:nvPr>
              <p:custDataLst>
                <p:tags r:id="rId12"/>
              </p:custDataLst>
            </p:nvPr>
          </p:nvCxnSpPr>
          <p:spPr bwMode="auto">
            <a:xfrm>
              <a:off x="9354" y="7483"/>
              <a:ext cx="340" cy="1374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59156" name="Text Box 40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§3.4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高速缓冲存储器</a:t>
            </a:r>
          </a:p>
        </p:txBody>
      </p:sp>
      <p:sp>
        <p:nvSpPr>
          <p:cNvPr id="33" name="Text Box 52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9512" y="764704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的组成、工作流程、实现技术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映射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替换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37" name="线形标注 2 36"/>
          <p:cNvSpPr/>
          <p:nvPr>
            <p:custDataLst>
              <p:tags r:id="rId8"/>
            </p:custDataLst>
          </p:nvPr>
        </p:nvSpPr>
        <p:spPr bwMode="auto">
          <a:xfrm>
            <a:off x="6043143" y="6309320"/>
            <a:ext cx="1404000" cy="252000"/>
          </a:xfrm>
          <a:prstGeom prst="borderCallout2">
            <a:avLst>
              <a:gd name="adj1" fmla="val 49976"/>
              <a:gd name="adj2" fmla="val -540"/>
              <a:gd name="adj3" fmla="val 44398"/>
              <a:gd name="adj4" fmla="val -20718"/>
              <a:gd name="adj5" fmla="val -182223"/>
              <a:gd name="adj6" fmla="val -38379"/>
            </a:avLst>
          </a:prstGeom>
          <a:noFill/>
          <a:ln w="12700" cap="flat" cmpd="sng" algn="ctr">
            <a:solidFill>
              <a:srgbClr val="990099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/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层间级联所致</a:t>
            </a:r>
          </a:p>
        </p:txBody>
      </p:sp>
      <p:sp>
        <p:nvSpPr>
          <p:cNvPr id="4" name="Text Box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907703" y="3284984"/>
            <a:ext cx="7111202" cy="4402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SRAM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保证速度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</a:t>
            </a:r>
            <a:r>
              <a:rPr 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主存地址</a:t>
            </a:r>
            <a:r>
              <a:rPr 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访问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不影响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1800" b="1" u="none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869CEE7-4AF5-41B7-B128-93E1D0BF8116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 flipH="1">
            <a:off x="7236296" y="2036459"/>
            <a:ext cx="324240" cy="456437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8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8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5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5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ldLvl="0" animBg="1"/>
      <p:bldP spid="37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49</a:t>
            </a:fld>
            <a:endParaRPr lang="en-US" altLang="zh-CN" dirty="0"/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984" y="332656"/>
            <a:ext cx="4189095" cy="3255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(1)Cache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的基本结构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与主存的信息交换单位：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结果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存储空间管理：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编址单位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交换管理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10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81978" y="764704"/>
            <a:ext cx="7454518" cy="19687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目标是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+(1-H)T</a:t>
            </a:r>
            <a:r>
              <a:rPr lang="zh-CN" altLang="en-US" sz="18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相邻信息一起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交换，可提高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、可减少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利用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访问局部性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←采用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突发传输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方式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块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u="none" dirty="0">
                <a:cs typeface="Times New Roman" panose="02020603050405020304" pitchFamily="18" charset="0"/>
                <a:sym typeface="+mn-ea"/>
              </a:rPr>
              <a:t>Block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，块大小＝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个主存字，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为常数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←如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32×1B</a:t>
            </a:r>
            <a:endParaRPr lang="zh-CN" altLang="en-US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需求是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访问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与主存交换</a:t>
            </a:r>
          </a:p>
        </p:txBody>
      </p:sp>
      <p:sp>
        <p:nvSpPr>
          <p:cNvPr id="462855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57288" y="2708920"/>
            <a:ext cx="6984008" cy="14888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同主存       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←面向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访问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主存与</a:t>
            </a:r>
            <a:r>
              <a:rPr lang="en-US" altLang="zh-CN" sz="2200" b="1" u="none" spc="-50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都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按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块大小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</a:rPr>
              <a:t>划分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成若干区域，支持块交换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②Cache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每行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有效位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(V)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标记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(Tag)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，表明存储状态</a:t>
            </a:r>
            <a:endParaRPr lang="en-US" altLang="zh-CN" sz="1800" b="1" u="none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是</a:t>
            </a:r>
            <a:r>
              <a:rPr lang="en-US" altLang="zh-CN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否有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来自哪个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主存块</a:t>
            </a:r>
            <a:endParaRPr lang="zh-CN" altLang="en-US" sz="1600" b="1" u="none" spc="-50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151105" y="4230168"/>
            <a:ext cx="935990" cy="1258570"/>
            <a:chOff x="4252" y="1531"/>
            <a:chExt cx="1474" cy="1982"/>
          </a:xfrm>
        </p:grpSpPr>
        <p:sp>
          <p:nvSpPr>
            <p:cNvPr id="143" name="Text Box 283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252" y="1531"/>
              <a:ext cx="1474" cy="34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有效</a:t>
              </a:r>
              <a:r>
                <a:rPr lang="zh-CN" altLang="en-US" sz="1600" b="1" u="none" dirty="0"/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</a:p>
          </p:txBody>
        </p:sp>
        <p:sp>
          <p:nvSpPr>
            <p:cNvPr id="144" name="Text Box 284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876" y="1871"/>
              <a:ext cx="794" cy="2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28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4422" y="1871"/>
              <a:ext cx="454" cy="28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6" name="Text Box 286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870" y="2801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284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4876" y="3231"/>
              <a:ext cx="794" cy="2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" name="Text Box 285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422" y="3231"/>
              <a:ext cx="454" cy="28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463142" name="Text Box 29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67105" y="4438800"/>
            <a:ext cx="576000" cy="180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0" tIns="10800" rIns="18000" bIns="0" anchor="ctr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solidFill>
                  <a:srgbClr val="FF3300"/>
                </a:solidFill>
                <a:latin typeface="宋体" panose="02010600030101010101" pitchFamily="2" charset="-122"/>
              </a:rPr>
              <a:t>1   </a:t>
            </a:r>
            <a:r>
              <a:rPr lang="en-US" altLang="zh-CN" sz="1600" b="1" u="none" dirty="0" err="1">
                <a:solidFill>
                  <a:srgbClr val="FF3300"/>
                </a:solidFill>
                <a:latin typeface="宋体" panose="02010600030101010101" pitchFamily="2" charset="-122"/>
              </a:rPr>
              <a:t>i</a:t>
            </a:r>
            <a:endParaRPr lang="en-US" altLang="zh-CN" sz="1600" b="1" u="none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0" name="Text Box 16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20472" y="4365104"/>
            <a:ext cx="2844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257175" indent="-257175" algn="l"/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思考①：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主存块内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2#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单元在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Cache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行中是几号单元？</a:t>
            </a:r>
          </a:p>
        </p:txBody>
      </p:sp>
      <p:sp>
        <p:nvSpPr>
          <p:cNvPr id="92" name="Text Box 16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20472" y="5120984"/>
            <a:ext cx="2808000" cy="86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264160" indent="-264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思考②：</a:t>
            </a: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若</a:t>
            </a:r>
            <a:r>
              <a:rPr lang="en-US" altLang="zh-CN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CPU</a:t>
            </a: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访存地址为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&lt;</a:t>
            </a:r>
            <a:r>
              <a:rPr lang="en-US" altLang="zh-CN" sz="1800" b="1" u="none" dirty="0" err="1">
                <a:latin typeface="+mn-ea"/>
                <a:ea typeface="+mn-ea"/>
                <a:sym typeface="+mn-ea"/>
              </a:rPr>
              <a:t>a,</a:t>
            </a:r>
            <a:r>
              <a:rPr lang="en-US" altLang="zh-CN" sz="1800" b="1" u="none" dirty="0" err="1">
                <a:solidFill>
                  <a:schemeClr val="tx1"/>
                </a:solidFill>
                <a:latin typeface="+mn-ea"/>
                <a:ea typeface="+mn-ea"/>
                <a:sym typeface="+mn-ea"/>
              </a:rPr>
              <a:t>b</a:t>
            </a:r>
            <a:r>
              <a:rPr lang="en-US" altLang="zh-CN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&gt;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，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Cache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如何判断是</a:t>
            </a:r>
            <a:r>
              <a:rPr lang="en-US" altLang="zh-CN" sz="1800" b="1" u="none" dirty="0">
                <a:latin typeface="+mn-ea"/>
                <a:ea typeface="+mn-ea"/>
                <a:sym typeface="+mn-ea"/>
              </a:rPr>
              <a:t>/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否命中？</a:t>
            </a:r>
          </a:p>
        </p:txBody>
      </p:sp>
      <p:sp>
        <p:nvSpPr>
          <p:cNvPr id="226" name="AutoShape 466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A7924516-B101-42E1-B3AA-3A6BFA5B35F6}"/>
              </a:ext>
            </a:extLst>
          </p:cNvPr>
          <p:cNvGrpSpPr/>
          <p:nvPr/>
        </p:nvGrpSpPr>
        <p:grpSpPr>
          <a:xfrm>
            <a:off x="395536" y="4221088"/>
            <a:ext cx="5579745" cy="2124075"/>
            <a:chOff x="3231" y="1530"/>
            <a:chExt cx="8787" cy="3345"/>
          </a:xfrm>
        </p:grpSpPr>
        <p:sp>
          <p:nvSpPr>
            <p:cNvPr id="85" name="Text Box 162">
              <a:extLst>
                <a:ext uri="{FF2B5EF4-FFF2-40B4-BE49-F238E27FC236}">
                  <a16:creationId xmlns:a16="http://schemas.microsoft.com/office/drawing/2014/main" id="{84B60EB6-E4B9-40E9-8EFD-C69047DC8EB2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87" y="2040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6" name="Text Box 163">
              <a:extLst>
                <a:ext uri="{FF2B5EF4-FFF2-40B4-BE49-F238E27FC236}">
                  <a16:creationId xmlns:a16="http://schemas.microsoft.com/office/drawing/2014/main" id="{21ADD52A-D22A-4E7B-BEE3-69D8C3492057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87" y="3287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6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87" name="AutoShape 175">
              <a:extLst>
                <a:ext uri="{FF2B5EF4-FFF2-40B4-BE49-F238E27FC236}">
                  <a16:creationId xmlns:a16="http://schemas.microsoft.com/office/drawing/2014/main" id="{AC269C9D-9371-4877-B44D-0EE146B9D6B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4307" y="1871"/>
              <a:ext cx="113" cy="680"/>
            </a:xfrm>
            <a:prstGeom prst="leftBrace">
              <a:avLst>
                <a:gd name="adj1" fmla="val 288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Text Box 164">
              <a:extLst>
                <a:ext uri="{FF2B5EF4-FFF2-40B4-BE49-F238E27FC236}">
                  <a16:creationId xmlns:a16="http://schemas.microsoft.com/office/drawing/2014/main" id="{49FC3667-E51A-4FE8-9B44-C9B49A327975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840" y="1530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Cache</a:t>
              </a:r>
              <a:endParaRPr lang="en-US" altLang="zh-CN" sz="1600" b="1" u="none" baseline="-2000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Text Box 166">
              <a:extLst>
                <a:ext uri="{FF2B5EF4-FFF2-40B4-BE49-F238E27FC236}">
                  <a16:creationId xmlns:a16="http://schemas.microsoft.com/office/drawing/2014/main" id="{238C5F09-89E7-4DE7-A214-3AFDC728365E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065" y="1871"/>
              <a:ext cx="1134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91" name="Text Box 169">
              <a:extLst>
                <a:ext uri="{FF2B5EF4-FFF2-40B4-BE49-F238E27FC236}">
                  <a16:creationId xmlns:a16="http://schemas.microsoft.com/office/drawing/2014/main" id="{2DD8AEE8-5CDE-459A-9319-4D632C554E1F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199" y="1871"/>
              <a:ext cx="62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</a:p>
            <a:p>
              <a:pPr algn="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7151134-CD21-4630-9E0E-BBFB4A7329F8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6065" y="2069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FE193E4-D895-4EDB-A957-A6978B7AF3CE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6065" y="2346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66">
              <a:extLst>
                <a:ext uri="{FF2B5EF4-FFF2-40B4-BE49-F238E27FC236}">
                  <a16:creationId xmlns:a16="http://schemas.microsoft.com/office/drawing/2014/main" id="{6C019F2B-8D39-4EF1-A7D3-BA4C70D23786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065" y="2550"/>
              <a:ext cx="1134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96" name="Text Box 166">
              <a:extLst>
                <a:ext uri="{FF2B5EF4-FFF2-40B4-BE49-F238E27FC236}">
                  <a16:creationId xmlns:a16="http://schemas.microsoft.com/office/drawing/2014/main" id="{4FA09C95-0392-409B-8D9B-113A40550A42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065" y="3117"/>
              <a:ext cx="1134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97" name="Text Box 169">
              <a:extLst>
                <a:ext uri="{FF2B5EF4-FFF2-40B4-BE49-F238E27FC236}">
                  <a16:creationId xmlns:a16="http://schemas.microsoft.com/office/drawing/2014/main" id="{944F227F-E941-4679-84C1-68205D4AA08F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199" y="3117"/>
              <a:ext cx="62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</a:p>
            <a:p>
              <a:pPr algn="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B920273-36F5-456C-9501-15E18EF0FBFA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6065" y="3316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20B2AC34-B89A-4767-975B-1EDDBFA4E603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6065" y="3599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0" name="AutoShape 175">
              <a:extLst>
                <a:ext uri="{FF2B5EF4-FFF2-40B4-BE49-F238E27FC236}">
                  <a16:creationId xmlns:a16="http://schemas.microsoft.com/office/drawing/2014/main" id="{2D1F7EAE-B53D-4E86-A657-345E7A5A31E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4307" y="3117"/>
              <a:ext cx="113" cy="680"/>
            </a:xfrm>
            <a:prstGeom prst="leftBrace">
              <a:avLst>
                <a:gd name="adj1" fmla="val 3182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Text Box 268">
              <a:extLst>
                <a:ext uri="{FF2B5EF4-FFF2-40B4-BE49-F238E27FC236}">
                  <a16:creationId xmlns:a16="http://schemas.microsoft.com/office/drawing/2014/main" id="{C9609301-1F31-4044-81A4-778A46D74F13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762" y="4591"/>
              <a:ext cx="2154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c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位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      </a:t>
              </a:r>
              <a:r>
                <a:rPr lang="en-US" altLang="zh-CN" sz="1400" b="1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位</a:t>
              </a:r>
            </a:p>
          </p:txBody>
        </p:sp>
        <p:sp>
          <p:nvSpPr>
            <p:cNvPr id="102" name="Text Box 274">
              <a:extLst>
                <a:ext uri="{FF2B5EF4-FFF2-40B4-BE49-F238E27FC236}">
                  <a16:creationId xmlns:a16="http://schemas.microsoft.com/office/drawing/2014/main" id="{6DABADEC-267B-445A-9505-1EA506AB1D82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31" y="4081"/>
              <a:ext cx="907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03" name="Text Box 275">
              <a:extLst>
                <a:ext uri="{FF2B5EF4-FFF2-40B4-BE49-F238E27FC236}">
                  <a16:creationId xmlns:a16="http://schemas.microsoft.com/office/drawing/2014/main" id="{F45A0F3F-E71D-4DD4-84F3-5F923205B3D0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138" y="4251"/>
              <a:ext cx="1701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行号</a:t>
              </a:r>
            </a:p>
          </p:txBody>
        </p:sp>
        <p:sp>
          <p:nvSpPr>
            <p:cNvPr id="104" name="Text Box 276">
              <a:extLst>
                <a:ext uri="{FF2B5EF4-FFF2-40B4-BE49-F238E27FC236}">
                  <a16:creationId xmlns:a16="http://schemas.microsoft.com/office/drawing/2014/main" id="{07A74EFE-9154-4533-8E39-9FEC95623375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838" y="4251"/>
              <a:ext cx="141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770B1BE3-3BC0-4DDD-B101-CBC5632DB5EE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4139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5D9C0889-86C2-4F4D-AA7E-959AD1B82054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5840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0E1AD17E-D3CC-488F-8BBA-1E49C442DA5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7256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612E4F1-E957-48D9-85EF-209F4EA2EC9E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6859" y="4761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39A7A452-35DB-4226-923E-F369FB50681A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840" y="47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842D08F1-0389-41B5-B0E6-6DF59EF60D7C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5272" y="4761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7603C6E4-4F00-4C2A-A91F-4DDA55B1DE52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138" y="4761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2" name="Text Box 164">
              <a:extLst>
                <a:ext uri="{FF2B5EF4-FFF2-40B4-BE49-F238E27FC236}">
                  <a16:creationId xmlns:a16="http://schemas.microsoft.com/office/drawing/2014/main" id="{28DAAD8C-BBE4-410A-A09F-1CE14BD1BAA1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070" y="1530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16" name="Text Box 166">
              <a:extLst>
                <a:ext uri="{FF2B5EF4-FFF2-40B4-BE49-F238E27FC236}">
                  <a16:creationId xmlns:a16="http://schemas.microsoft.com/office/drawing/2014/main" id="{5EA1B101-30F2-4A34-B8F9-EA6E9C6BC72D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071" y="1872"/>
              <a:ext cx="1134" cy="68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17" name="Text Box 169">
              <a:extLst>
                <a:ext uri="{FF2B5EF4-FFF2-40B4-BE49-F238E27FC236}">
                  <a16:creationId xmlns:a16="http://schemas.microsoft.com/office/drawing/2014/main" id="{BBBBD3FC-3AD6-49CB-B9BE-CD0641C3F2DF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205" y="1872"/>
              <a:ext cx="62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</a:p>
            <a:p>
              <a:pPr algn="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5C4C4278-9037-4C19-A897-1725FA2C1D19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9071" y="2069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5A9FB62A-4C0F-4EF2-9CFA-34D69AD26F33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9070" y="2352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Text Box 166">
              <a:extLst>
                <a:ext uri="{FF2B5EF4-FFF2-40B4-BE49-F238E27FC236}">
                  <a16:creationId xmlns:a16="http://schemas.microsoft.com/office/drawing/2014/main" id="{C54310BE-8B5F-4401-8701-318D97683A40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071" y="2550"/>
              <a:ext cx="1134" cy="79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21" name="Text Box 166">
              <a:extLst>
                <a:ext uri="{FF2B5EF4-FFF2-40B4-BE49-F238E27FC236}">
                  <a16:creationId xmlns:a16="http://schemas.microsoft.com/office/drawing/2014/main" id="{DDCEEAC8-BE7F-48D0-B5B4-FF1502E67B98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071" y="3344"/>
              <a:ext cx="1134" cy="68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22" name="Text Box 169">
              <a:extLst>
                <a:ext uri="{FF2B5EF4-FFF2-40B4-BE49-F238E27FC236}">
                  <a16:creationId xmlns:a16="http://schemas.microsoft.com/office/drawing/2014/main" id="{FA145A9B-6F3C-4451-B93A-93819A5B9FC7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205" y="3344"/>
              <a:ext cx="62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</a:p>
            <a:p>
              <a:pPr algn="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CCF38BCD-6DB1-49BE-9D78-220CA031E98E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9071" y="3543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46B572A0-5B6B-4FC2-B87C-B79D32E93E57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9071" y="3826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5" name="Text Box 180">
              <a:extLst>
                <a:ext uri="{FF2B5EF4-FFF2-40B4-BE49-F238E27FC236}">
                  <a16:creationId xmlns:a16="http://schemas.microsoft.com/office/drawing/2014/main" id="{717B5066-8A2F-41BF-A933-90B77DC8E030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0998" y="2040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6" name="Text Box 181">
              <a:extLst>
                <a:ext uri="{FF2B5EF4-FFF2-40B4-BE49-F238E27FC236}">
                  <a16:creationId xmlns:a16="http://schemas.microsoft.com/office/drawing/2014/main" id="{07FB7ED2-8204-45D3-B5A5-9F27A54F3B47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0998" y="3514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6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27" name="AutoShape 193">
              <a:extLst>
                <a:ext uri="{FF2B5EF4-FFF2-40B4-BE49-F238E27FC236}">
                  <a16:creationId xmlns:a16="http://schemas.microsoft.com/office/drawing/2014/main" id="{F833FBD1-0788-4EE0-9EB9-173015C39A9A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 bwMode="auto">
            <a:xfrm>
              <a:off x="10884" y="1870"/>
              <a:ext cx="113" cy="680"/>
            </a:xfrm>
            <a:prstGeom prst="rightBrace">
              <a:avLst>
                <a:gd name="adj1" fmla="val 2297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AutoShape 194">
              <a:extLst>
                <a:ext uri="{FF2B5EF4-FFF2-40B4-BE49-F238E27FC236}">
                  <a16:creationId xmlns:a16="http://schemas.microsoft.com/office/drawing/2014/main" id="{A7235C34-39C2-442E-97CE-6127C51B1F3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 bwMode="auto">
            <a:xfrm>
              <a:off x="10885" y="3344"/>
              <a:ext cx="113" cy="680"/>
            </a:xfrm>
            <a:prstGeom prst="rightBrace">
              <a:avLst>
                <a:gd name="adj1" fmla="val 4129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Text Box 268">
              <a:extLst>
                <a:ext uri="{FF2B5EF4-FFF2-40B4-BE49-F238E27FC236}">
                  <a16:creationId xmlns:a16="http://schemas.microsoft.com/office/drawing/2014/main" id="{2CD7D763-F93B-4F5C-AA88-5301EB9A6D9B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184" y="4591"/>
              <a:ext cx="2154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m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位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      </a:t>
              </a:r>
              <a:r>
                <a:rPr lang="en-US" altLang="zh-CN" sz="1400" b="1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位</a:t>
              </a:r>
            </a:p>
          </p:txBody>
        </p:sp>
        <p:sp>
          <p:nvSpPr>
            <p:cNvPr id="130" name="Text Box 274">
              <a:extLst>
                <a:ext uri="{FF2B5EF4-FFF2-40B4-BE49-F238E27FC236}">
                  <a16:creationId xmlns:a16="http://schemas.microsoft.com/office/drawing/2014/main" id="{F9F4FA28-BBDC-495B-ACAA-286898AD3634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824" y="4081"/>
              <a:ext cx="737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31" name="Text Box 275">
              <a:extLst>
                <a:ext uri="{FF2B5EF4-FFF2-40B4-BE49-F238E27FC236}">
                  <a16:creationId xmlns:a16="http://schemas.microsoft.com/office/drawing/2014/main" id="{044B57A3-8BDA-4581-A24A-0FEEDE500FE1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8561" y="4251"/>
              <a:ext cx="1701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号</a:t>
              </a:r>
            </a:p>
          </p:txBody>
        </p:sp>
        <p:sp>
          <p:nvSpPr>
            <p:cNvPr id="133" name="Text Box 276">
              <a:extLst>
                <a:ext uri="{FF2B5EF4-FFF2-40B4-BE49-F238E27FC236}">
                  <a16:creationId xmlns:a16="http://schemas.microsoft.com/office/drawing/2014/main" id="{E988959D-B235-45E2-9190-1785C6530A48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261" y="4251"/>
              <a:ext cx="141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BA589923-5315-4519-A54B-EE5B756CC8E9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>
              <a:off x="8561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67F9B56D-196A-41D4-95CA-22340EE97745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10262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C87AA20E-4516-4E56-8B46-40694C536B11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11678" y="464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DF2050C0-310B-45DA-BA76-6FBD0A892068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>
              <a:off x="11281" y="4761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50366586-C674-4136-A418-D2A16F265F79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10262" y="47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F4712D43-4CF5-4167-B5F4-86DCC988C7D6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>
              <a:off x="9694" y="4761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53486D9C-6252-4284-9084-BA7FE2006239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8561" y="4761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63141" name="Rectangle 29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995695" y="5004168"/>
            <a:ext cx="720000" cy="432000"/>
          </a:xfrm>
          <a:prstGeom prst="rect">
            <a:avLst/>
          </a:prstGeom>
          <a:solidFill>
            <a:srgbClr val="99CCFF">
              <a:alpha val="80000"/>
            </a:srgbClr>
          </a:solidFill>
          <a:ln w="15875">
            <a:solidFill>
              <a:schemeClr val="tx1"/>
            </a:solidFill>
            <a:miter lim="800000"/>
            <a:tailEnd type="none" w="sm" len="med"/>
          </a:ln>
          <a:effectLst/>
        </p:spPr>
        <p:txBody>
          <a:bodyPr wrap="none" anchor="ctr"/>
          <a:lstStyle/>
          <a:p>
            <a:pPr algn="ctr"/>
            <a:r>
              <a:rPr lang="zh-CN" altLang="en-US" sz="2000" b="1" u="none" dirty="0">
                <a:latin typeface="+mn-ea"/>
                <a:ea typeface="+mn-ea"/>
              </a:rPr>
              <a:t>块</a:t>
            </a:r>
            <a:r>
              <a:rPr lang="en-US" altLang="zh-CN" sz="2000" b="1" u="none" dirty="0" err="1">
                <a:latin typeface="+mn-ea"/>
                <a:ea typeface="+mn-ea"/>
              </a:rPr>
              <a:t>i</a:t>
            </a:r>
            <a:endParaRPr lang="zh-CN" altLang="en-US" b="1" u="none" dirty="0">
              <a:latin typeface="+mn-ea"/>
              <a:ea typeface="+mn-ea"/>
            </a:endParaRPr>
          </a:p>
        </p:txBody>
      </p:sp>
      <p:sp>
        <p:nvSpPr>
          <p:cNvPr id="71" name="Text Box 726">
            <a:extLst>
              <a:ext uri="{FF2B5EF4-FFF2-40B4-BE49-F238E27FC236}">
                <a16:creationId xmlns:a16="http://schemas.microsoft.com/office/drawing/2014/main" id="{35D57A73-47FA-4B9C-B575-2B1FC80B9C3F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370069" y="6039093"/>
            <a:ext cx="1800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某行的</a:t>
            </a:r>
            <a:r>
              <a:rPr lang="en-US" altLang="zh-CN" sz="1600" dirty="0">
                <a:solidFill>
                  <a:schemeClr val="tx1"/>
                </a:solidFill>
              </a:rPr>
              <a:t>V=1</a:t>
            </a:r>
            <a:r>
              <a:rPr lang="zh-CN" altLang="en-US" sz="1600" dirty="0">
                <a:solidFill>
                  <a:schemeClr val="tx1"/>
                </a:solidFill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</a:rPr>
              <a:t>Tag=a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6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46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19722 -0.08264 " pathEditMode="relative" rAng="0" ptsTypes="AA">
                                      <p:cBhvr>
                                        <p:cTn id="54" dur="1500" fill="hold"/>
                                        <p:tgtEl>
                                          <p:spTgt spid="463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78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6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142" grpId="0" bldLvl="0" animBg="1"/>
      <p:bldP spid="90" grpId="0" bldLvl="0" animBg="1"/>
      <p:bldP spid="92" grpId="0" bldLvl="0" animBg="1"/>
      <p:bldP spid="463141" grpId="0" bldLvl="0" animBg="1"/>
      <p:bldP spid="463141" grpId="1" bldLvl="0" animBg="1"/>
      <p:bldP spid="71" grpId="0" bldLvl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50</a:t>
            </a:fld>
            <a:endParaRPr lang="en-US" altLang="zh-CN" dirty="0"/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8784783" cy="59274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结构抽象：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所有信息＝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行的数组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，每行信息＝缓存块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管理信息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                                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←大小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编址均都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同主存块</a:t>
            </a:r>
            <a:endParaRPr lang="zh-CN" altLang="en-US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②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基本结构＝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所有信息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操作处理机构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查找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替换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读写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                          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数据访问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层间管理</a:t>
            </a:r>
            <a:endParaRPr lang="zh-CN" altLang="en-US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189062" y="1556792"/>
            <a:ext cx="5760728" cy="1368000"/>
            <a:chOff x="1331640" y="1365626"/>
            <a:chExt cx="5760728" cy="1368000"/>
          </a:xfrm>
        </p:grpSpPr>
        <p:sp>
          <p:nvSpPr>
            <p:cNvPr id="512099" name="Rectangle 9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268368" y="1365626"/>
              <a:ext cx="4824000" cy="136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u="none"/>
            </a:p>
          </p:txBody>
        </p:sp>
        <p:sp>
          <p:nvSpPr>
            <p:cNvPr id="512100" name="Text Box 10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33427" y="1437482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</a:p>
          </p:txBody>
        </p:sp>
        <p:sp>
          <p:nvSpPr>
            <p:cNvPr id="512101" name="Text Box 10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340372" y="1437482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</a:p>
          </p:txBody>
        </p:sp>
        <p:sp>
          <p:nvSpPr>
            <p:cNvPr id="512103" name="Text Box 10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069531" y="1437482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</a:p>
          </p:txBody>
        </p:sp>
        <p:sp>
          <p:nvSpPr>
            <p:cNvPr id="512104" name="Text Box 10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131840" y="1786401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</a:p>
          </p:txBody>
        </p:sp>
        <p:sp>
          <p:nvSpPr>
            <p:cNvPr id="512105" name="Text Box 10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338784" y="1786401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</a:p>
          </p:txBody>
        </p:sp>
        <p:sp>
          <p:nvSpPr>
            <p:cNvPr id="512107" name="Text Box 10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067944" y="1786401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</a:p>
          </p:txBody>
        </p:sp>
        <p:sp>
          <p:nvSpPr>
            <p:cNvPr id="512108" name="Text Box 10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131840" y="2432886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</a:p>
          </p:txBody>
        </p:sp>
        <p:sp>
          <p:nvSpPr>
            <p:cNvPr id="512109" name="Text Box 10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338784" y="2432886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</a:p>
          </p:txBody>
        </p:sp>
        <p:sp>
          <p:nvSpPr>
            <p:cNvPr id="512110" name="Text Box 11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932040" y="2434473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</a:p>
          </p:txBody>
        </p:sp>
        <p:sp>
          <p:nvSpPr>
            <p:cNvPr id="512111" name="Text Box 11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67944" y="2432886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</a:p>
          </p:txBody>
        </p:sp>
        <p:sp>
          <p:nvSpPr>
            <p:cNvPr id="512112" name="Text Box 11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491880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3" name="Text Box 11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26122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4" name="Text Box 114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355976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/>
                <a:t>…</a:t>
              </a:r>
              <a:endParaRPr lang="en-US" altLang="zh-CN" sz="1800" b="1" u="none" baseline="-20000"/>
            </a:p>
          </p:txBody>
        </p:sp>
        <p:sp>
          <p:nvSpPr>
            <p:cNvPr id="512115" name="Text Box 11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796136" y="2085554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7" name="Text Box 11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475736" y="1437482"/>
              <a:ext cx="720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</a:p>
          </p:txBody>
        </p:sp>
        <p:sp>
          <p:nvSpPr>
            <p:cNvPr id="512118" name="Text Box 1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331640" y="2409618"/>
              <a:ext cx="86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</a:p>
          </p:txBody>
        </p:sp>
        <p:sp>
          <p:nvSpPr>
            <p:cNvPr id="512121" name="Text Box 12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5215" y="1439070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</a:p>
          </p:txBody>
        </p:sp>
        <p:sp>
          <p:nvSpPr>
            <p:cNvPr id="512122" name="Text Box 12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932272" y="1761546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125339" y="1583020"/>
            <a:ext cx="4824115" cy="1692000"/>
            <a:chOff x="2267917" y="1365474"/>
            <a:chExt cx="4824115" cy="1692000"/>
          </a:xfrm>
        </p:grpSpPr>
        <p:cxnSp>
          <p:nvCxnSpPr>
            <p:cNvPr id="75" name="直接连接符 74"/>
            <p:cNvCxnSpPr/>
            <p:nvPr>
              <p:custDataLst>
                <p:tags r:id="rId7"/>
              </p:custDataLst>
            </p:nvPr>
          </p:nvCxnSpPr>
          <p:spPr bwMode="auto">
            <a:xfrm>
              <a:off x="4860032" y="1365474"/>
              <a:ext cx="0" cy="13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6" name="Text Box 18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650578" y="284147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数据区</a:t>
              </a:r>
            </a:p>
          </p:txBody>
        </p:sp>
        <p:sp>
          <p:nvSpPr>
            <p:cNvPr id="77" name="Text Box 18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094578" y="2841474"/>
              <a:ext cx="151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管理区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目录表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78" name="AutoShape 28"/>
            <p:cNvSpPr/>
            <p:nvPr>
              <p:custDataLst>
                <p:tags r:id="rId10"/>
              </p:custDataLst>
            </p:nvPr>
          </p:nvSpPr>
          <p:spPr bwMode="auto">
            <a:xfrm rot="16200000">
              <a:off x="5940032" y="1674429"/>
              <a:ext cx="72000" cy="2232000"/>
            </a:xfrm>
            <a:prstGeom prst="rightBrace">
              <a:avLst>
                <a:gd name="adj1" fmla="val 7667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 u="none"/>
            </a:p>
          </p:txBody>
        </p:sp>
        <p:sp>
          <p:nvSpPr>
            <p:cNvPr id="79" name="AutoShape 28"/>
            <p:cNvSpPr/>
            <p:nvPr>
              <p:custDataLst>
                <p:tags r:id="rId11"/>
              </p:custDataLst>
            </p:nvPr>
          </p:nvSpPr>
          <p:spPr bwMode="auto">
            <a:xfrm rot="16200000">
              <a:off x="3509917" y="1516459"/>
              <a:ext cx="72000" cy="2556000"/>
            </a:xfrm>
            <a:prstGeom prst="rightBrace">
              <a:avLst>
                <a:gd name="adj1" fmla="val 86438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 u="none"/>
            </a:p>
          </p:txBody>
        </p:sp>
      </p:grpSp>
      <p:sp>
        <p:nvSpPr>
          <p:cNvPr id="81" name="Text Box 1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2945" y="3717032"/>
            <a:ext cx="4788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Cache</a:t>
            </a:r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容量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u="none" dirty="0">
                <a:latin typeface="宋体" panose="02010600030101010101" pitchFamily="2" charset="-122"/>
              </a:rPr>
              <a:t>指</a:t>
            </a:r>
            <a:r>
              <a:rPr lang="en-US" altLang="zh-CN" sz="16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</a:rPr>
              <a:t>数据区的容量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总容量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u="none" dirty="0">
                <a:latin typeface="宋体" panose="02010600030101010101" pitchFamily="2" charset="-122"/>
              </a:rPr>
              <a:t>指</a:t>
            </a:r>
            <a:r>
              <a:rPr lang="en-US" altLang="zh-CN" sz="16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</a:rPr>
              <a:t>数据区＋管理区的容量之和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37" name="AutoShape 331"/>
          <p:cNvSpPr/>
          <p:nvPr>
            <p:custDataLst>
              <p:tags r:id="rId3"/>
            </p:custDataLst>
          </p:nvPr>
        </p:nvSpPr>
        <p:spPr bwMode="auto">
          <a:xfrm>
            <a:off x="5005739" y="3322800"/>
            <a:ext cx="2016000" cy="252000"/>
          </a:xfrm>
          <a:prstGeom prst="borderCallout2">
            <a:avLst>
              <a:gd name="adj1" fmla="val 50645"/>
              <a:gd name="adj2" fmla="val -304"/>
              <a:gd name="adj3" fmla="val 52610"/>
              <a:gd name="adj4" fmla="val -8222"/>
              <a:gd name="adj5" fmla="val -221660"/>
              <a:gd name="adj6" fmla="val -2291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solidFill>
                  <a:srgbClr val="C00000"/>
                </a:solidFill>
                <a:latin typeface="+mn-ea"/>
                <a:ea typeface="+mn-ea"/>
              </a:rPr>
              <a:t>层间管理</a:t>
            </a:r>
            <a:r>
              <a:rPr lang="zh-CN" altLang="en-US" sz="1600" b="1" u="none" dirty="0">
                <a:latin typeface="+mn-ea"/>
                <a:ea typeface="+mn-ea"/>
              </a:rPr>
              <a:t>的其余信息</a:t>
            </a:r>
          </a:p>
        </p:txBody>
      </p:sp>
      <p:sp>
        <p:nvSpPr>
          <p:cNvPr id="3" name="AutoShape 233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87824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E154F165-940A-4E7F-AFD3-FD237759EF3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15616" y="4365104"/>
            <a:ext cx="7776767" cy="1038436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spAutoFit/>
          </a:bodyPr>
          <a:lstStyle/>
          <a:p>
            <a:pPr marL="271463" indent="-2714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u="none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示例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主存按字节编址、地址空间为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1M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，主存块大小为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容量为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8KB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。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的行数＝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行，行号＝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zh-CN" altLang="zh-CN" sz="2000" b="1" u="none" dirty="0">
                <a:latin typeface="宋体" panose="02010600030101010101" pitchFamily="2" charset="-122"/>
                <a:sym typeface="+mn-ea"/>
              </a:rPr>
              <a:t>块内地址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位。</a:t>
            </a:r>
            <a:endParaRPr lang="en-US" altLang="zh-CN" sz="2000" b="1" u="none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5" name="Text Box 163">
            <a:extLst>
              <a:ext uri="{FF2B5EF4-FFF2-40B4-BE49-F238E27FC236}">
                <a16:creationId xmlns:a16="http://schemas.microsoft.com/office/drawing/2014/main" id="{DC7AD19F-BE76-4E4B-9E81-952FAD4F78B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663992" y="4690800"/>
            <a:ext cx="6048672" cy="684493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spAutoFit/>
          </a:bodyPr>
          <a:lstStyle/>
          <a:p>
            <a:pPr marL="756000" indent="-75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ea typeface="+mn-ea"/>
                <a:sym typeface="+mn-ea"/>
              </a:rPr>
              <a:t>            8KB/16B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ea typeface="+mn-ea"/>
                <a:sym typeface="+mn-ea"/>
              </a:rPr>
              <a:t>512</a:t>
            </a:r>
            <a:r>
              <a:rPr lang="zh-CN" altLang="en-US" sz="2000" b="1" u="none" dirty="0">
                <a:latin typeface="宋体" panose="02010600030101010101" pitchFamily="2" charset="-122"/>
                <a:ea typeface="+mn-ea"/>
                <a:sym typeface="+mn-ea"/>
              </a:rPr>
              <a:t>        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512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9</a:t>
            </a:r>
          </a:p>
          <a:p>
            <a:pPr marL="756000" indent="-75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(16B/1B)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4</a:t>
            </a:r>
            <a:endParaRPr lang="en-US" altLang="zh-CN" sz="2000" b="1" u="none" dirty="0">
              <a:latin typeface="宋体" panose="02010600030101010101" pitchFamily="2" charset="-122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34" grpId="0" bldLvl="0"/>
      <p:bldP spid="35" grpId="0" bldLvl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E1D3-7BEF-40B7-B6BC-F12FCC1EE449}" type="slidenum">
              <a:rPr lang="en-US" altLang="zh-CN"/>
              <a:t>51</a:t>
            </a:fld>
            <a:endParaRPr lang="en-US" altLang="zh-CN"/>
          </a:p>
        </p:txBody>
      </p:sp>
      <p:sp>
        <p:nvSpPr>
          <p:cNvPr id="64" name="AutoShape 97">
            <a:hlinkClick r:id="rId78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 Box 1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3096467" cy="50663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(2)Cache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的工作原理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操作过程：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*实现技术：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11023" y="764656"/>
            <a:ext cx="6120144" cy="7554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地址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变换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，②数据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，③数据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写回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+mn-ea"/>
              </a:rPr>
              <a:t> (</a:t>
            </a:r>
            <a:r>
              <a:rPr lang="zh-CN" altLang="en-US" sz="1800" b="1" u="none" dirty="0">
                <a:latin typeface="+mn-ea"/>
              </a:rPr>
              <a:t>查找目标行</a:t>
            </a:r>
            <a:r>
              <a:rPr lang="en-US" altLang="zh-CN" sz="1800" b="1" u="none" dirty="0">
                <a:latin typeface="+mn-ea"/>
              </a:rPr>
              <a:t>)  (</a:t>
            </a:r>
            <a:r>
              <a:rPr lang="zh-CN" altLang="en-US" sz="1800" b="1" u="none" dirty="0">
                <a:latin typeface="+mn-ea"/>
              </a:rPr>
              <a:t>访问块中数据</a:t>
            </a:r>
            <a:r>
              <a:rPr lang="en-US" altLang="zh-CN" sz="1800" b="1" u="none" dirty="0">
                <a:latin typeface="+mn-ea"/>
              </a:rPr>
              <a:t>)  (</a:t>
            </a:r>
            <a:r>
              <a:rPr lang="zh-CN" altLang="en-US" sz="1800" b="1" u="none" dirty="0">
                <a:latin typeface="+mn-ea"/>
              </a:rPr>
              <a:t>保持层次间一致性</a:t>
            </a:r>
            <a:r>
              <a:rPr lang="en-US" altLang="zh-CN" sz="1800" b="1" u="none" dirty="0">
                <a:latin typeface="+mn-ea"/>
              </a:rPr>
              <a:t>)</a:t>
            </a:r>
            <a:endParaRPr lang="en-US" altLang="zh-CN" sz="1800" b="1" u="none" dirty="0">
              <a:latin typeface="+mn-ea"/>
              <a:ea typeface="+mn-ea"/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092280" y="1628800"/>
            <a:ext cx="1872208" cy="504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  <a:tabLst>
                <a:tab pos="85725" algn="l"/>
              </a:tabLst>
            </a:pPr>
            <a:r>
              <a:rPr lang="zh-CN" altLang="en-US" sz="1600" b="1" u="none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类比：</a:t>
            </a:r>
            <a:r>
              <a:rPr lang="zh-CN" altLang="en-US" sz="1600" b="1" u="none" dirty="0">
                <a:latin typeface="+mn-ea"/>
                <a:ea typeface="+mn-ea"/>
                <a:cs typeface="Times New Roman" panose="02020603050405020304" pitchFamily="18" charset="0"/>
              </a:rPr>
              <a:t>学生迟到时，</a:t>
            </a:r>
            <a:endParaRPr lang="en-US" altLang="zh-CN" sz="1600" b="1" u="none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tabLst>
                <a:tab pos="85725" algn="l"/>
              </a:tabLst>
            </a:pPr>
            <a:r>
              <a:rPr lang="en-US" altLang="zh-CN" sz="1600" b="1" u="none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1600" b="1" u="none" dirty="0">
                <a:latin typeface="+mn-ea"/>
                <a:ea typeface="+mn-ea"/>
                <a:cs typeface="Times New Roman" panose="02020603050405020304" pitchFamily="18" charset="0"/>
              </a:rPr>
              <a:t>如何安排座位？</a:t>
            </a:r>
            <a:endParaRPr lang="en-US" altLang="zh-CN" sz="1600" b="1" u="none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1560" y="1916832"/>
            <a:ext cx="1682984" cy="1152128"/>
            <a:chOff x="296728" y="1844824"/>
            <a:chExt cx="1682984" cy="1152128"/>
          </a:xfrm>
        </p:grpSpPr>
        <p:sp>
          <p:nvSpPr>
            <p:cNvPr id="7" name="Text Box 10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29627" y="2060848"/>
              <a:ext cx="913879" cy="64807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453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26203" y="1844824"/>
              <a:ext cx="720725" cy="196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9" name="Text Box 10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29628" y="2060848"/>
              <a:ext cx="122388" cy="64878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0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52015" y="2060848"/>
              <a:ext cx="215230" cy="64807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10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868038" y="2060848"/>
              <a:ext cx="143665" cy="648072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0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12054" y="2060848"/>
              <a:ext cx="431452" cy="648072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65"/>
              </p:custDataLst>
            </p:nvPr>
          </p:nvCxnSpPr>
          <p:spPr bwMode="auto">
            <a:xfrm>
              <a:off x="529627" y="2189624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66"/>
              </p:custDataLst>
            </p:nvPr>
          </p:nvCxnSpPr>
          <p:spPr bwMode="auto">
            <a:xfrm>
              <a:off x="530223" y="2318400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67"/>
              </p:custDataLst>
            </p:nvPr>
          </p:nvCxnSpPr>
          <p:spPr bwMode="auto">
            <a:xfrm>
              <a:off x="530858" y="2574176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10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748548" y="2077576"/>
              <a:ext cx="231164" cy="60703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8" name="Line 420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 flipV="1">
              <a:off x="301941" y="2348880"/>
              <a:ext cx="222471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422"/>
            <p:cNvSpPr>
              <a:spLocks noChangeShapeType="1"/>
            </p:cNvSpPr>
            <p:nvPr>
              <p:custDataLst>
                <p:tags r:id="rId70"/>
              </p:custDataLst>
            </p:nvPr>
          </p:nvSpPr>
          <p:spPr bwMode="auto">
            <a:xfrm>
              <a:off x="301942" y="2420888"/>
              <a:ext cx="221239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22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>
              <a:off x="296728" y="2492896"/>
              <a:ext cx="221239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20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flipV="1">
              <a:off x="1444737" y="2348880"/>
              <a:ext cx="303811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22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>
              <a:off x="1443506" y="2420888"/>
              <a:ext cx="303811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22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>
              <a:off x="1449150" y="2492896"/>
              <a:ext cx="292953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453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778603" y="2800693"/>
              <a:ext cx="1085527" cy="196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层次结构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1933" y="3429000"/>
            <a:ext cx="1106626" cy="381315"/>
            <a:chOff x="6084168" y="1845320"/>
            <a:chExt cx="1106626" cy="381315"/>
          </a:xfrm>
        </p:grpSpPr>
        <p:sp>
          <p:nvSpPr>
            <p:cNvPr id="26" name="Text Box 148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6084168" y="1845320"/>
              <a:ext cx="792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写策略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箭头连接符 66"/>
            <p:cNvCxnSpPr>
              <a:cxnSpLocks/>
            </p:cNvCxnSpPr>
            <p:nvPr>
              <p:custDataLst>
                <p:tags r:id="rId58"/>
              </p:custDataLst>
            </p:nvPr>
          </p:nvCxnSpPr>
          <p:spPr bwMode="auto">
            <a:xfrm>
              <a:off x="6876168" y="1955120"/>
              <a:ext cx="314626" cy="27151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28" name="直接箭头连接符 166"/>
          <p:cNvCxnSpPr/>
          <p:nvPr>
            <p:custDataLst>
              <p:tags r:id="rId4"/>
            </p:custDataLst>
          </p:nvPr>
        </p:nvCxnSpPr>
        <p:spPr bwMode="auto">
          <a:xfrm rot="5400000">
            <a:off x="7236376" y="2348856"/>
            <a:ext cx="936000" cy="504000"/>
          </a:xfrm>
          <a:prstGeom prst="bentConnector3">
            <a:avLst>
              <a:gd name="adj1" fmla="val 100094"/>
            </a:avLst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arrow" w="sm" len="sm"/>
            <a:tailEnd type="arrow" w="sm" len="sm"/>
          </a:ln>
          <a:effectLst/>
        </p:spPr>
      </p:cxnSp>
      <p:grpSp>
        <p:nvGrpSpPr>
          <p:cNvPr id="29" name="组合 28"/>
          <p:cNvGrpSpPr/>
          <p:nvPr/>
        </p:nvGrpSpPr>
        <p:grpSpPr>
          <a:xfrm>
            <a:off x="2915990" y="1628800"/>
            <a:ext cx="1584002" cy="2952304"/>
            <a:chOff x="2843807" y="1415572"/>
            <a:chExt cx="1584002" cy="2952304"/>
          </a:xfrm>
        </p:grpSpPr>
        <p:sp>
          <p:nvSpPr>
            <p:cNvPr id="30" name="AutoShape 141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843807" y="1415572"/>
              <a:ext cx="1584000" cy="216000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" name="AutoShape 145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843809" y="4151876"/>
              <a:ext cx="1584000" cy="216000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55"/>
              </p:custDataLst>
            </p:nvPr>
          </p:nvCxnSpPr>
          <p:spPr bwMode="auto">
            <a:xfrm>
              <a:off x="3635897" y="1631572"/>
              <a:ext cx="0" cy="21748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56"/>
              </p:custDataLst>
            </p:nvPr>
          </p:nvCxnSpPr>
          <p:spPr bwMode="auto">
            <a:xfrm>
              <a:off x="3635897" y="3071732"/>
              <a:ext cx="1017" cy="10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4" name="组合 33"/>
          <p:cNvGrpSpPr/>
          <p:nvPr/>
        </p:nvGrpSpPr>
        <p:grpSpPr>
          <a:xfrm>
            <a:off x="2844304" y="2060800"/>
            <a:ext cx="4608016" cy="2520072"/>
            <a:chOff x="2771993" y="2311405"/>
            <a:chExt cx="4608016" cy="2520072"/>
          </a:xfrm>
        </p:grpSpPr>
        <p:sp>
          <p:nvSpPr>
            <p:cNvPr id="35" name="Rectangle 111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644009" y="2959477"/>
              <a:ext cx="2736000" cy="187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6" name="Text Box 132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247689" y="267146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3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843809" y="2311405"/>
              <a:ext cx="194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8" name="AutoShape 134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059832" y="2743453"/>
              <a:ext cx="1152000" cy="288000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600" b="1" u="none" dirty="0"/>
                <a:t>命中？</a:t>
              </a:r>
            </a:p>
          </p:txBody>
        </p:sp>
        <p:sp>
          <p:nvSpPr>
            <p:cNvPr id="39" name="Text Box 139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491897" y="303150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0" name="Text Box 143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771993" y="3319541"/>
              <a:ext cx="172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目标行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>
              <a:stCxn id="38" idx="2"/>
              <a:endCxn id="40" idx="0"/>
            </p:cNvCxnSpPr>
            <p:nvPr>
              <p:custDataLst>
                <p:tags r:id="rId48"/>
              </p:custDataLst>
            </p:nvPr>
          </p:nvCxnSpPr>
          <p:spPr bwMode="auto">
            <a:xfrm>
              <a:off x="3635832" y="3031453"/>
              <a:ext cx="161" cy="28808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>
              <a:cxnSpLocks/>
            </p:cNvCxnSpPr>
            <p:nvPr>
              <p:custDataLst>
                <p:tags r:id="rId49"/>
              </p:custDataLst>
            </p:nvPr>
          </p:nvCxnSpPr>
          <p:spPr bwMode="auto">
            <a:xfrm flipH="1">
              <a:off x="3635689" y="2527405"/>
              <a:ext cx="0" cy="216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64"/>
            <p:cNvCxnSpPr/>
            <p:nvPr>
              <p:custDataLst>
                <p:tags r:id="rId50"/>
              </p:custDataLst>
            </p:nvPr>
          </p:nvCxnSpPr>
          <p:spPr bwMode="auto">
            <a:xfrm>
              <a:off x="4211961" y="2887469"/>
              <a:ext cx="1512000" cy="216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Line 140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H="1" flipV="1">
              <a:off x="3635897" y="3175501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5" name="Text Box 12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804249" y="4327629"/>
              <a:ext cx="504056" cy="43204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处理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88024" y="2780800"/>
            <a:ext cx="2592288" cy="1728200"/>
            <a:chOff x="5292079" y="2707449"/>
            <a:chExt cx="2592288" cy="1728200"/>
          </a:xfrm>
        </p:grpSpPr>
        <p:sp>
          <p:nvSpPr>
            <p:cNvPr id="47" name="AutoShape 114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508279" y="2779457"/>
              <a:ext cx="1584000" cy="288000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空闲行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1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436095" y="4075601"/>
              <a:ext cx="172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目标块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到行</a:t>
              </a:r>
              <a:r>
                <a:rPr lang="en-US" altLang="zh-CN" sz="14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1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331550" y="3101993"/>
              <a:ext cx="936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假设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=</a:t>
              </a:r>
              <a:r>
                <a:rPr lang="en-US" altLang="zh-CN" sz="14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 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Line 11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5292079" y="2851649"/>
              <a:ext cx="694" cy="158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Box 12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092279" y="270744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12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516215" y="3139521"/>
              <a:ext cx="136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选出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牺牲行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en-US" altLang="zh-CN" sz="14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/>
            <p:cNvCxnSpPr>
              <a:stCxn id="47" idx="2"/>
              <a:endCxn id="48" idx="0"/>
            </p:cNvCxnSpPr>
            <p:nvPr>
              <p:custDataLst>
                <p:tags r:id="rId34"/>
              </p:custDataLst>
            </p:nvPr>
          </p:nvCxnSpPr>
          <p:spPr bwMode="auto">
            <a:xfrm flipH="1">
              <a:off x="6300095" y="3067457"/>
              <a:ext cx="184" cy="10081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75"/>
            <p:cNvCxnSpPr>
              <a:stCxn id="47" idx="3"/>
              <a:endCxn id="52" idx="0"/>
            </p:cNvCxnSpPr>
            <p:nvPr>
              <p:custDataLst>
                <p:tags r:id="rId35"/>
              </p:custDataLst>
            </p:nvPr>
          </p:nvCxnSpPr>
          <p:spPr bwMode="auto">
            <a:xfrm>
              <a:off x="7092279" y="2923457"/>
              <a:ext cx="107936" cy="216064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>
              <a:stCxn id="52" idx="2"/>
              <a:endCxn id="60" idx="0"/>
            </p:cNvCxnSpPr>
            <p:nvPr>
              <p:custDataLst>
                <p:tags r:id="rId36"/>
              </p:custDataLst>
            </p:nvPr>
          </p:nvCxnSpPr>
          <p:spPr bwMode="auto">
            <a:xfrm>
              <a:off x="7200215" y="3355521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81"/>
            <p:cNvCxnSpPr>
              <a:stCxn id="60" idx="2"/>
            </p:cNvCxnSpPr>
            <p:nvPr>
              <p:custDataLst>
                <p:tags r:id="rId37"/>
              </p:custDataLst>
            </p:nvPr>
          </p:nvCxnSpPr>
          <p:spPr bwMode="auto">
            <a:xfrm rot="5400000">
              <a:off x="6678215" y="3409545"/>
              <a:ext cx="144000" cy="900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81"/>
            <p:cNvCxnSpPr>
              <a:stCxn id="48" idx="2"/>
            </p:cNvCxnSpPr>
            <p:nvPr>
              <p:custDataLst>
                <p:tags r:id="rId38"/>
              </p:custDataLst>
            </p:nvPr>
          </p:nvCxnSpPr>
          <p:spPr bwMode="auto">
            <a:xfrm rot="5400000">
              <a:off x="5724090" y="3859596"/>
              <a:ext cx="144000" cy="100801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8" name="Text Box 12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516215" y="3571569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12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200367" y="3571545"/>
              <a:ext cx="684000" cy="216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2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516215" y="3571545"/>
              <a:ext cx="1368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腾空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行中内容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979864" y="3284800"/>
            <a:ext cx="2376112" cy="858431"/>
            <a:chOff x="2019721" y="3470480"/>
            <a:chExt cx="2376112" cy="858431"/>
          </a:xfrm>
        </p:grpSpPr>
        <p:sp>
          <p:nvSpPr>
            <p:cNvPr id="62" name="Text Box 10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019721" y="4010480"/>
              <a:ext cx="1368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63" name="Text Box 10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919857" y="3614520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82"/>
            <p:cNvCxnSpPr>
              <a:stCxn id="69" idx="1"/>
              <a:endCxn id="62" idx="0"/>
            </p:cNvCxnSpPr>
            <p:nvPr>
              <p:custDataLst>
                <p:tags r:id="rId23"/>
              </p:custDataLst>
            </p:nvPr>
          </p:nvCxnSpPr>
          <p:spPr bwMode="auto">
            <a:xfrm rot="10800000" flipV="1">
              <a:off x="2703682" y="3830490"/>
              <a:ext cx="396240" cy="179705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66" name="Text Box 13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567857" y="3974568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129"/>
            <p:cNvCxnSpPr>
              <a:stCxn id="62" idx="2"/>
            </p:cNvCxnSpPr>
            <p:nvPr>
              <p:custDataLst>
                <p:tags r:id="rId25"/>
              </p:custDataLst>
            </p:nvPr>
          </p:nvCxnSpPr>
          <p:spPr bwMode="auto">
            <a:xfrm rot="16200000" flipH="1">
              <a:off x="3174452" y="3755642"/>
              <a:ext cx="102538" cy="1044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>
              <a:endCxn id="69" idx="0"/>
            </p:cNvCxnSpPr>
            <p:nvPr>
              <p:custDataLst>
                <p:tags r:id="rId26"/>
              </p:custDataLst>
            </p:nvPr>
          </p:nvCxnSpPr>
          <p:spPr bwMode="auto">
            <a:xfrm>
              <a:off x="3747833" y="3470480"/>
              <a:ext cx="0" cy="2160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AutoShape 103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099833" y="3686536"/>
              <a:ext cx="1296000" cy="288000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/>
                <a:t>写？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584272" y="1844824"/>
            <a:ext cx="936000" cy="1045976"/>
            <a:chOff x="6079975" y="2060848"/>
            <a:chExt cx="936000" cy="1045976"/>
          </a:xfrm>
        </p:grpSpPr>
        <p:sp>
          <p:nvSpPr>
            <p:cNvPr id="71" name="Text Box 14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079975" y="2060848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映射规则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箭头连接符 71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6660231" y="2314824"/>
              <a:ext cx="1" cy="79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3" name="组合 72"/>
          <p:cNvGrpSpPr/>
          <p:nvPr/>
        </p:nvGrpSpPr>
        <p:grpSpPr>
          <a:xfrm>
            <a:off x="6372304" y="2204864"/>
            <a:ext cx="936000" cy="971999"/>
            <a:chOff x="5984497" y="1845320"/>
            <a:chExt cx="936000" cy="971999"/>
          </a:xfrm>
        </p:grpSpPr>
        <p:sp>
          <p:nvSpPr>
            <p:cNvPr id="74" name="Text Box 1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984497" y="1845320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替换算法</a:t>
              </a:r>
            </a:p>
          </p:txBody>
        </p:sp>
        <p:cxnSp>
          <p:nvCxnSpPr>
            <p:cNvPr id="76" name="直接箭头连接符 75"/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>
              <a:off x="6488449" y="2097319"/>
              <a:ext cx="0" cy="72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7" name="组合 76"/>
          <p:cNvGrpSpPr/>
          <p:nvPr/>
        </p:nvGrpSpPr>
        <p:grpSpPr>
          <a:xfrm>
            <a:off x="7263096" y="3538800"/>
            <a:ext cx="701076" cy="862224"/>
            <a:chOff x="5796137" y="1272929"/>
            <a:chExt cx="701076" cy="862224"/>
          </a:xfrm>
        </p:grpSpPr>
        <p:sp>
          <p:nvSpPr>
            <p:cNvPr id="78" name="Text Box 14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209213" y="1272929"/>
              <a:ext cx="288000" cy="862224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写策略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66"/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5796137" y="1667185"/>
              <a:ext cx="413076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80" name="组合 79"/>
          <p:cNvGrpSpPr/>
          <p:nvPr/>
        </p:nvGrpSpPr>
        <p:grpSpPr>
          <a:xfrm>
            <a:off x="4860000" y="1988840"/>
            <a:ext cx="1152000" cy="900104"/>
            <a:chOff x="5004016" y="1988840"/>
            <a:chExt cx="1152000" cy="900104"/>
          </a:xfrm>
        </p:grpSpPr>
        <p:cxnSp>
          <p:nvCxnSpPr>
            <p:cNvPr id="81" name="直接箭头连接符 80"/>
            <p:cNvCxnSpPr/>
            <p:nvPr>
              <p:custDataLst>
                <p:tags r:id="rId11"/>
              </p:custDataLst>
            </p:nvPr>
          </p:nvCxnSpPr>
          <p:spPr bwMode="auto">
            <a:xfrm flipH="1" flipV="1">
              <a:off x="5004016" y="2186840"/>
              <a:ext cx="21600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sp>
          <p:nvSpPr>
            <p:cNvPr id="82" name="Text Box 14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20016" y="2204864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查找方法</a:t>
              </a:r>
            </a:p>
          </p:txBody>
        </p:sp>
        <p:cxnSp>
          <p:nvCxnSpPr>
            <p:cNvPr id="83" name="直接箭头连接符 82"/>
            <p:cNvCxnSpPr/>
            <p:nvPr>
              <p:custDataLst>
                <p:tags r:id="rId13"/>
              </p:custDataLst>
            </p:nvPr>
          </p:nvCxnSpPr>
          <p:spPr bwMode="auto">
            <a:xfrm>
              <a:off x="5580112" y="2456944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5544016" y="1988840"/>
              <a:ext cx="18000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86" name="组合 85"/>
          <p:cNvGrpSpPr/>
          <p:nvPr/>
        </p:nvGrpSpPr>
        <p:grpSpPr>
          <a:xfrm>
            <a:off x="467544" y="1628800"/>
            <a:ext cx="1728456" cy="792000"/>
            <a:chOff x="467544" y="1412800"/>
            <a:chExt cx="1728456" cy="792000"/>
          </a:xfrm>
        </p:grpSpPr>
        <p:sp>
          <p:nvSpPr>
            <p:cNvPr id="95" name="Text Box 22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7544" y="1412800"/>
              <a:ext cx="864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主存块号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22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32000" y="1412800"/>
              <a:ext cx="86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b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" name="Line 42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683568" y="1628800"/>
              <a:ext cx="0" cy="57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" name="Text Box 15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7961" y="4941168"/>
            <a:ext cx="4320223" cy="1214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映射规则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块可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调入哪些行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800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└──</a:t>
            </a:r>
            <a:r>
              <a:rPr lang="zh-CN" altLang="en-US" sz="18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→常放在一起处理←</a:t>
            </a:r>
            <a:r>
              <a:rPr lang="zh-CN" altLang="en-US" sz="1800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──┘</a:t>
            </a:r>
            <a:endParaRPr lang="zh-CN" altLang="en-US" sz="1800" b="1" u="none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替换算法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如何选择</a:t>
            </a:r>
            <a:r>
              <a:rPr lang="zh-CN" altLang="en-US" sz="1800" b="1" u="none" dirty="0">
                <a:latin typeface="宋体" panose="02010600030101010101" pitchFamily="2" charset="-122"/>
              </a:rPr>
              <a:t>牺牲行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99" name="Text Box 15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66558" y="4941168"/>
            <a:ext cx="3437890" cy="11575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查找方法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如何找到</a:t>
            </a:r>
            <a:r>
              <a:rPr lang="zh-CN" altLang="en-US" sz="1800" b="1" u="none" dirty="0">
                <a:latin typeface="宋体" panose="02010600030101010101" pitchFamily="2" charset="-122"/>
              </a:rPr>
              <a:t>目标行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 marL="3048000" indent="-3048000">
              <a:lnSpc>
                <a:spcPct val="100000"/>
              </a:lnSpc>
              <a:spcBef>
                <a:spcPts val="0"/>
              </a:spcBef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写策略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何时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如何写回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主存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100" name="AutoShape 331"/>
          <p:cNvSpPr/>
          <p:nvPr/>
        </p:nvSpPr>
        <p:spPr bwMode="auto">
          <a:xfrm>
            <a:off x="4860000" y="4725144"/>
            <a:ext cx="1152000" cy="252000"/>
          </a:xfrm>
          <a:prstGeom prst="borderCallout2">
            <a:avLst>
              <a:gd name="adj1" fmla="val 50645"/>
              <a:gd name="adj2" fmla="val -304"/>
              <a:gd name="adj3" fmla="val 47102"/>
              <a:gd name="adj4" fmla="val -21738"/>
              <a:gd name="adj5" fmla="val 132019"/>
              <a:gd name="adj6" fmla="val -295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称为候选行</a:t>
            </a:r>
          </a:p>
        </p:txBody>
      </p:sp>
      <p:sp>
        <p:nvSpPr>
          <p:cNvPr id="158018" name="AutoShape 322">
            <a:hlinkClick r:id="rId79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4067945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AutoShape 331">
            <a:extLst>
              <a:ext uri="{FF2B5EF4-FFF2-40B4-BE49-F238E27FC236}">
                <a16:creationId xmlns:a16="http://schemas.microsoft.com/office/drawing/2014/main" id="{50D5B8BD-2191-43FA-AB02-F3C7CAF0AA30}"/>
              </a:ext>
            </a:extLst>
          </p:cNvPr>
          <p:cNvSpPr/>
          <p:nvPr/>
        </p:nvSpPr>
        <p:spPr bwMode="auto">
          <a:xfrm>
            <a:off x="7020424" y="4725144"/>
            <a:ext cx="1368000" cy="252000"/>
          </a:xfrm>
          <a:prstGeom prst="borderCallout2">
            <a:avLst>
              <a:gd name="adj1" fmla="val 50645"/>
              <a:gd name="adj2" fmla="val -304"/>
              <a:gd name="adj3" fmla="val 51048"/>
              <a:gd name="adj4" fmla="val -12792"/>
              <a:gd name="adj5" fmla="val 148233"/>
              <a:gd name="adj6" fmla="val -2191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在候选行中找</a:t>
            </a:r>
          </a:p>
        </p:txBody>
      </p:sp>
      <p:sp>
        <p:nvSpPr>
          <p:cNvPr id="93" name="AutoShape 331">
            <a:extLst>
              <a:ext uri="{FF2B5EF4-FFF2-40B4-BE49-F238E27FC236}">
                <a16:creationId xmlns:a16="http://schemas.microsoft.com/office/drawing/2014/main" id="{2C85C105-3D4D-48B5-9370-16C9E7E17214}"/>
              </a:ext>
            </a:extLst>
          </p:cNvPr>
          <p:cNvSpPr/>
          <p:nvPr/>
        </p:nvSpPr>
        <p:spPr bwMode="auto">
          <a:xfrm>
            <a:off x="3918702" y="6111104"/>
            <a:ext cx="1368000" cy="252000"/>
          </a:xfrm>
          <a:prstGeom prst="borderCallout2">
            <a:avLst>
              <a:gd name="adj1" fmla="val 50645"/>
              <a:gd name="adj2" fmla="val -304"/>
              <a:gd name="adj3" fmla="val 51048"/>
              <a:gd name="adj4" fmla="val -12792"/>
              <a:gd name="adj5" fmla="val -31789"/>
              <a:gd name="adj6" fmla="val -2191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在候选行中选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0" grpId="0" animBg="1"/>
      <p:bldP spid="92" grpId="0" animBg="1"/>
      <p:bldP spid="9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52</a:t>
            </a:fld>
            <a:endParaRPr lang="en-US" altLang="zh-CN" dirty="0"/>
          </a:p>
        </p:txBody>
      </p:sp>
      <p:sp>
        <p:nvSpPr>
          <p:cNvPr id="14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8770622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(3)Cache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的基本组成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*基本组成：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存储体＋控制器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映射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含查找</a:t>
            </a:r>
            <a:r>
              <a:rPr lang="en-US" altLang="zh-CN" sz="1800" b="1" u="none" dirty="0">
                <a:latin typeface="宋体" panose="02010600030101010101" pitchFamily="2" charset="-122"/>
              </a:rPr>
              <a:t>]+</a:t>
            </a:r>
            <a:r>
              <a:rPr lang="zh-CN" altLang="en-US" sz="1800" b="1" u="none" dirty="0">
                <a:latin typeface="宋体" panose="02010600030101010101" pitchFamily="2" charset="-122"/>
              </a:rPr>
              <a:t>替换</a:t>
            </a:r>
            <a:r>
              <a:rPr lang="en-US" altLang="zh-CN" sz="1800" b="1" u="none" dirty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读写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67" name="Text Box 189"/>
          <p:cNvSpPr txBox="1">
            <a:spLocks noChangeArrowheads="1"/>
          </p:cNvSpPr>
          <p:nvPr/>
        </p:nvSpPr>
        <p:spPr bwMode="auto">
          <a:xfrm>
            <a:off x="165100" y="3933056"/>
            <a:ext cx="5149850" cy="23040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操作的处理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3048000" indent="-3048000"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控制器组成：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稍后的实现环节讨论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124" name="表格 12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7535064"/>
              </p:ext>
            </p:extLst>
          </p:nvPr>
        </p:nvGraphicFramePr>
        <p:xfrm>
          <a:off x="1469469" y="4437112"/>
          <a:ext cx="6774939" cy="1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80">
                <a:tc gridSpan="3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命中</a:t>
                      </a: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      ③无效、④无效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缺失</a:t>
                      </a: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需调入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空闲行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、③无效、④</a:t>
                      </a:r>
                      <a:r>
                        <a:rPr lang="zh-CN" altLang="en-US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空闲行</a:t>
                      </a: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需替换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牺牲块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改过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、③无效、④</a:t>
                      </a:r>
                      <a:r>
                        <a:rPr lang="zh-CN" altLang="en-US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牺牲块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改过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</a:t>
                      </a:r>
                      <a:r>
                        <a:rPr lang="zh-CN" altLang="en-US" sz="1800" b="1" u="none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、④</a:t>
                      </a:r>
                      <a:r>
                        <a:rPr lang="zh-CN" altLang="en-US" sz="1800" b="1" u="none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zh-CN" altLang="en-US" sz="1800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1" name="组合 60">
            <a:extLst>
              <a:ext uri="{FF2B5EF4-FFF2-40B4-BE49-F238E27FC236}">
                <a16:creationId xmlns:a16="http://schemas.microsoft.com/office/drawing/2014/main" id="{FE859A66-7F73-434D-9343-D6E395A21542}"/>
              </a:ext>
            </a:extLst>
          </p:cNvPr>
          <p:cNvGrpSpPr/>
          <p:nvPr/>
        </p:nvGrpSpPr>
        <p:grpSpPr>
          <a:xfrm>
            <a:off x="1044000" y="1260000"/>
            <a:ext cx="7596087" cy="2664064"/>
            <a:chOff x="1044000" y="1260000"/>
            <a:chExt cx="7596087" cy="2664064"/>
          </a:xfrm>
        </p:grpSpPr>
        <p:sp>
          <p:nvSpPr>
            <p:cNvPr id="62" name="Rectangle 193">
              <a:extLst>
                <a:ext uri="{FF2B5EF4-FFF2-40B4-BE49-F238E27FC236}">
                  <a16:creationId xmlns:a16="http://schemas.microsoft.com/office/drawing/2014/main" id="{0B44D4C3-4DC6-475C-BF18-32DF20B24598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924000" y="1260000"/>
              <a:ext cx="3456000" cy="16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Rectangle 193">
              <a:extLst>
                <a:ext uri="{FF2B5EF4-FFF2-40B4-BE49-F238E27FC236}">
                  <a16:creationId xmlns:a16="http://schemas.microsoft.com/office/drawing/2014/main" id="{8BC43F15-F13F-40A8-AD1D-7CB2572B8711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808000" y="1260000"/>
              <a:ext cx="4572000" cy="165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Rectangle 194">
              <a:extLst>
                <a:ext uri="{FF2B5EF4-FFF2-40B4-BE49-F238E27FC236}">
                  <a16:creationId xmlns:a16="http://schemas.microsoft.com/office/drawing/2014/main" id="{6073F484-B530-45B9-8A8A-9A3B6CFA3DB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296000" y="1872000"/>
              <a:ext cx="602499" cy="36031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CPU</a:t>
              </a:r>
              <a:endParaRPr lang="en-US" altLang="zh-CN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195">
              <a:extLst>
                <a:ext uri="{FF2B5EF4-FFF2-40B4-BE49-F238E27FC236}">
                  <a16:creationId xmlns:a16="http://schemas.microsoft.com/office/drawing/2014/main" id="{9B80698E-E41C-44FF-AEA6-8D5D70E9AC0B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28000" y="1476000"/>
              <a:ext cx="864791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66" name="Text Box 196">
              <a:extLst>
                <a:ext uri="{FF2B5EF4-FFF2-40B4-BE49-F238E27FC236}">
                  <a16:creationId xmlns:a16="http://schemas.microsoft.com/office/drawing/2014/main" id="{8F5EED99-312E-4035-8B14-D1F32E986CA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752000" y="3024000"/>
              <a:ext cx="97231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系统总线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1" name="Rectangle 197">
              <a:extLst>
                <a:ext uri="{FF2B5EF4-FFF2-40B4-BE49-F238E27FC236}">
                  <a16:creationId xmlns:a16="http://schemas.microsoft.com/office/drawing/2014/main" id="{CF15D40E-E947-4055-AF5C-147EE407BDB2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916000" y="1656000"/>
              <a:ext cx="864000" cy="93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存储体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(SRAM)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5" name="Rectangle 199">
              <a:extLst>
                <a:ext uri="{FF2B5EF4-FFF2-40B4-BE49-F238E27FC236}">
                  <a16:creationId xmlns:a16="http://schemas.microsoft.com/office/drawing/2014/main" id="{7C571332-4BBA-45BB-9D24-C35DCBF8B54D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896000" y="1548000"/>
              <a:ext cx="1656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地址映射机构</a:t>
              </a:r>
            </a:p>
          </p:txBody>
        </p:sp>
        <p:sp>
          <p:nvSpPr>
            <p:cNvPr id="126" name="Text Box 201">
              <a:extLst>
                <a:ext uri="{FF2B5EF4-FFF2-40B4-BE49-F238E27FC236}">
                  <a16:creationId xmlns:a16="http://schemas.microsoft.com/office/drawing/2014/main" id="{7EBA8548-4BE8-40B4-B37D-C21C02AD77FB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80000" y="1800000"/>
              <a:ext cx="792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27" name="Rectangle 212">
              <a:extLst>
                <a:ext uri="{FF2B5EF4-FFF2-40B4-BE49-F238E27FC236}">
                  <a16:creationId xmlns:a16="http://schemas.microsoft.com/office/drawing/2014/main" id="{CBB86387-E402-478F-9C96-699FDB141843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848000" y="1404000"/>
              <a:ext cx="792087" cy="1511968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(DRAM)</a:t>
              </a:r>
            </a:p>
          </p:txBody>
        </p:sp>
        <p:sp>
          <p:nvSpPr>
            <p:cNvPr id="128" name="Rectangle 215">
              <a:extLst>
                <a:ext uri="{FF2B5EF4-FFF2-40B4-BE49-F238E27FC236}">
                  <a16:creationId xmlns:a16="http://schemas.microsoft.com/office/drawing/2014/main" id="{D974CFE8-5608-4BA0-885C-A720CF5CB9CC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616000" y="2448000"/>
              <a:ext cx="936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替换机构</a:t>
              </a:r>
            </a:p>
          </p:txBody>
        </p:sp>
        <p:sp>
          <p:nvSpPr>
            <p:cNvPr id="129" name="Text Box 231">
              <a:extLst>
                <a:ext uri="{FF2B5EF4-FFF2-40B4-BE49-F238E27FC236}">
                  <a16:creationId xmlns:a16="http://schemas.microsoft.com/office/drawing/2014/main" id="{0590549E-67BB-4D48-9CA9-D01EDCC895A5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44000" y="1476000"/>
              <a:ext cx="468000" cy="215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</a:p>
          </p:txBody>
        </p:sp>
        <p:sp>
          <p:nvSpPr>
            <p:cNvPr id="130" name="Text Box 232">
              <a:extLst>
                <a:ext uri="{FF2B5EF4-FFF2-40B4-BE49-F238E27FC236}">
                  <a16:creationId xmlns:a16="http://schemas.microsoft.com/office/drawing/2014/main" id="{971F79F8-6602-47A5-9128-F94D906F5CDE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08000" y="2952000"/>
              <a:ext cx="12954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31" name="Text Box 233">
              <a:extLst>
                <a:ext uri="{FF2B5EF4-FFF2-40B4-BE49-F238E27FC236}">
                  <a16:creationId xmlns:a16="http://schemas.microsoft.com/office/drawing/2014/main" id="{7A0F9938-06F3-486E-80D4-D30DF5926EA3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516000" y="2952000"/>
              <a:ext cx="50524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32" name="Text Box 234">
              <a:extLst>
                <a:ext uri="{FF2B5EF4-FFF2-40B4-BE49-F238E27FC236}">
                  <a16:creationId xmlns:a16="http://schemas.microsoft.com/office/drawing/2014/main" id="{117C5F4B-96ED-4F29-92A9-166A53B1E05F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236000" y="2952000"/>
              <a:ext cx="5032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</a:p>
          </p:txBody>
        </p:sp>
        <p:cxnSp>
          <p:nvCxnSpPr>
            <p:cNvPr id="133" name="直接箭头连接符 192">
              <a:extLst>
                <a:ext uri="{FF2B5EF4-FFF2-40B4-BE49-F238E27FC236}">
                  <a16:creationId xmlns:a16="http://schemas.microsoft.com/office/drawing/2014/main" id="{6333672D-9219-40DB-A78B-150A5A5351BC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5256000" y="219600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92">
              <a:extLst>
                <a:ext uri="{FF2B5EF4-FFF2-40B4-BE49-F238E27FC236}">
                  <a16:creationId xmlns:a16="http://schemas.microsoft.com/office/drawing/2014/main" id="{3447C009-A68C-4785-92BB-A1A427FCCD09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4248000" y="2376000"/>
              <a:ext cx="75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92">
              <a:extLst>
                <a:ext uri="{FF2B5EF4-FFF2-40B4-BE49-F238E27FC236}">
                  <a16:creationId xmlns:a16="http://schemas.microsoft.com/office/drawing/2014/main" id="{E49D0659-21DE-495F-BF41-9CF0F71C3833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4248000" y="1692004"/>
              <a:ext cx="64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6" name="Text Box 235">
              <a:extLst>
                <a:ext uri="{FF2B5EF4-FFF2-40B4-BE49-F238E27FC236}">
                  <a16:creationId xmlns:a16="http://schemas.microsoft.com/office/drawing/2014/main" id="{C864E876-250E-4520-BDA0-425EA016596F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356000" y="1440000"/>
              <a:ext cx="468052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命中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137" name="直接箭头连接符 192">
              <a:extLst>
                <a:ext uri="{FF2B5EF4-FFF2-40B4-BE49-F238E27FC236}">
                  <a16:creationId xmlns:a16="http://schemas.microsoft.com/office/drawing/2014/main" id="{6B9C8156-A4AD-4483-8176-31A7C02917D6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256000" y="2556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92">
              <a:extLst>
                <a:ext uri="{FF2B5EF4-FFF2-40B4-BE49-F238E27FC236}">
                  <a16:creationId xmlns:a16="http://schemas.microsoft.com/office/drawing/2014/main" id="{C07F643D-498F-4D26-B7ED-B3D7FDC68F6D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6408000" y="1800000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139" name="Text Box 235">
              <a:extLst>
                <a:ext uri="{FF2B5EF4-FFF2-40B4-BE49-F238E27FC236}">
                  <a16:creationId xmlns:a16="http://schemas.microsoft.com/office/drawing/2014/main" id="{C25EA648-69E5-48A7-848A-BD9BF4539FE6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688000" y="1836000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候选行</a:t>
              </a:r>
            </a:p>
          </p:txBody>
        </p:sp>
        <p:cxnSp>
          <p:nvCxnSpPr>
            <p:cNvPr id="140" name="直接箭头连接符 192">
              <a:extLst>
                <a:ext uri="{FF2B5EF4-FFF2-40B4-BE49-F238E27FC236}">
                  <a16:creationId xmlns:a16="http://schemas.microsoft.com/office/drawing/2014/main" id="{DAB60020-5F35-4CFD-925D-FBE2929D5192}"/>
                </a:ext>
              </a:extLst>
            </p:cNvPr>
            <p:cNvCxnSpPr>
              <a:cxnSpLocks/>
            </p:cNvCxnSpPr>
            <p:nvPr>
              <p:custDataLst>
                <p:tags r:id="rId24"/>
              </p:custDataLst>
            </p:nvPr>
          </p:nvCxnSpPr>
          <p:spPr bwMode="auto">
            <a:xfrm>
              <a:off x="5112000" y="1799999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1" name="直接箭头连接符 192">
              <a:extLst>
                <a:ext uri="{FF2B5EF4-FFF2-40B4-BE49-F238E27FC236}">
                  <a16:creationId xmlns:a16="http://schemas.microsoft.com/office/drawing/2014/main" id="{5F8D5229-A7E2-4807-8623-F00559A6A08C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3780000" y="205200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3" name="Text Box 235">
              <a:extLst>
                <a:ext uri="{FF2B5EF4-FFF2-40B4-BE49-F238E27FC236}">
                  <a16:creationId xmlns:a16="http://schemas.microsoft.com/office/drawing/2014/main" id="{38049745-4259-43DA-9CFC-E09477C74A89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356000" y="2124000"/>
              <a:ext cx="468052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所选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44" name="Rectangle 199">
              <a:extLst>
                <a:ext uri="{FF2B5EF4-FFF2-40B4-BE49-F238E27FC236}">
                  <a16:creationId xmlns:a16="http://schemas.microsoft.com/office/drawing/2014/main" id="{B7FB40C5-149B-4616-BFE2-D12FD371B19E}"/>
                </a:ext>
              </a:extLst>
            </p:cNvPr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984000" y="1944000"/>
              <a:ext cx="288000" cy="900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u="none" dirty="0"/>
                <a:t>读写机构</a:t>
              </a:r>
            </a:p>
          </p:txBody>
        </p:sp>
        <p:cxnSp>
          <p:nvCxnSpPr>
            <p:cNvPr id="145" name="直接箭头连接符 192">
              <a:extLst>
                <a:ext uri="{FF2B5EF4-FFF2-40B4-BE49-F238E27FC236}">
                  <a16:creationId xmlns:a16="http://schemas.microsoft.com/office/drawing/2014/main" id="{14538236-779D-469B-B474-E67EC2A865FA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552000" y="2592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6" name="直接箭头连接符 192">
              <a:extLst>
                <a:ext uri="{FF2B5EF4-FFF2-40B4-BE49-F238E27FC236}">
                  <a16:creationId xmlns:a16="http://schemas.microsoft.com/office/drawing/2014/main" id="{D5AED831-7973-4904-9879-E554BF775E28}"/>
                </a:ext>
              </a:extLst>
            </p:cNvPr>
            <p:cNvCxnSpPr>
              <a:cxnSpLocks/>
            </p:cNvCxnSpPr>
            <p:nvPr>
              <p:custDataLst>
                <p:tags r:id="rId29"/>
              </p:custDataLst>
            </p:nvPr>
          </p:nvCxnSpPr>
          <p:spPr bwMode="auto">
            <a:xfrm>
              <a:off x="5508000" y="2772000"/>
              <a:ext cx="147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47" name="直接箭头连接符 192">
              <a:extLst>
                <a:ext uri="{FF2B5EF4-FFF2-40B4-BE49-F238E27FC236}">
                  <a16:creationId xmlns:a16="http://schemas.microsoft.com/office/drawing/2014/main" id="{C1B530D2-21FF-46E7-969A-69F1A1320777}"/>
                </a:ext>
              </a:extLst>
            </p:cNvPr>
            <p:cNvCxnSpPr>
              <a:cxnSpLocks/>
            </p:cNvCxnSpPr>
            <p:nvPr>
              <p:custDataLst>
                <p:tags r:id="rId30"/>
              </p:custDataLst>
            </p:nvPr>
          </p:nvCxnSpPr>
          <p:spPr bwMode="auto">
            <a:xfrm>
              <a:off x="7200000" y="1332000"/>
              <a:ext cx="0" cy="61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92">
              <a:extLst>
                <a:ext uri="{FF2B5EF4-FFF2-40B4-BE49-F238E27FC236}">
                  <a16:creationId xmlns:a16="http://schemas.microsoft.com/office/drawing/2014/main" id="{40B4D23D-686F-4BE0-8B8B-3FBA872D6B67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7200000" y="2844000"/>
              <a:ext cx="0" cy="43224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92">
              <a:extLst>
                <a:ext uri="{FF2B5EF4-FFF2-40B4-BE49-F238E27FC236}">
                  <a16:creationId xmlns:a16="http://schemas.microsoft.com/office/drawing/2014/main" id="{A6E25C1C-D9A5-40A2-8271-B8725213A4D3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7056000" y="2844000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92">
              <a:extLst>
                <a:ext uri="{FF2B5EF4-FFF2-40B4-BE49-F238E27FC236}">
                  <a16:creationId xmlns:a16="http://schemas.microsoft.com/office/drawing/2014/main" id="{9FC6CEF9-433E-4D05-962F-1BA46A177285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5893977" y="1404000"/>
              <a:ext cx="0" cy="14471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1" name="直接箭头连接符 192">
              <a:extLst>
                <a:ext uri="{FF2B5EF4-FFF2-40B4-BE49-F238E27FC236}">
                  <a16:creationId xmlns:a16="http://schemas.microsoft.com/office/drawing/2014/main" id="{8EF974D8-1A36-407E-AAC7-86F7DF6A6E5F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1548000" y="1332000"/>
              <a:ext cx="1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92">
              <a:extLst>
                <a:ext uri="{FF2B5EF4-FFF2-40B4-BE49-F238E27FC236}">
                  <a16:creationId xmlns:a16="http://schemas.microsoft.com/office/drawing/2014/main" id="{37BA398A-F001-47B9-944B-F12FE49B1300}"/>
                </a:ext>
              </a:extLst>
            </p:cNvPr>
            <p:cNvCxnSpPr>
              <a:cxnSpLocks/>
            </p:cNvCxnSpPr>
            <p:nvPr>
              <p:custDataLst>
                <p:tags r:id="rId35"/>
              </p:custDataLst>
            </p:nvPr>
          </p:nvCxnSpPr>
          <p:spPr bwMode="auto">
            <a:xfrm flipH="1">
              <a:off x="3312000" y="2592000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3" name="直接箭头连接符 192">
              <a:extLst>
                <a:ext uri="{FF2B5EF4-FFF2-40B4-BE49-F238E27FC236}">
                  <a16:creationId xmlns:a16="http://schemas.microsoft.com/office/drawing/2014/main" id="{E206D616-C825-4FE0-A797-1FDB4A3A9BB1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244000" y="291600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92">
              <a:extLst>
                <a:ext uri="{FF2B5EF4-FFF2-40B4-BE49-F238E27FC236}">
                  <a16:creationId xmlns:a16="http://schemas.microsoft.com/office/drawing/2014/main" id="{C3D7BC79-5057-4188-A44B-D49F279A551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8064000" y="291600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92">
              <a:extLst>
                <a:ext uri="{FF2B5EF4-FFF2-40B4-BE49-F238E27FC236}">
                  <a16:creationId xmlns:a16="http://schemas.microsoft.com/office/drawing/2014/main" id="{DC2C3E90-BE0F-4011-A1B6-F303B050A6EB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8424000" y="291600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6" name="直接箭头连接符 192">
              <a:extLst>
                <a:ext uri="{FF2B5EF4-FFF2-40B4-BE49-F238E27FC236}">
                  <a16:creationId xmlns:a16="http://schemas.microsoft.com/office/drawing/2014/main" id="{E975F581-20B6-4D9D-8B70-3B3A01F666B7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2808000" y="3276000"/>
              <a:ext cx="5832000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7" name="直接箭头连接符 192">
              <a:extLst>
                <a:ext uri="{FF2B5EF4-FFF2-40B4-BE49-F238E27FC236}">
                  <a16:creationId xmlns:a16="http://schemas.microsoft.com/office/drawing/2014/main" id="{C07F8476-8825-4DDE-9394-1F5C3C51B810}"/>
                </a:ext>
              </a:extLst>
            </p:cNvPr>
            <p:cNvCxnSpPr>
              <a:cxnSpLocks/>
            </p:cNvCxnSpPr>
            <p:nvPr>
              <p:custDataLst>
                <p:tags r:id="rId40"/>
              </p:custDataLst>
            </p:nvPr>
          </p:nvCxnSpPr>
          <p:spPr bwMode="auto">
            <a:xfrm>
              <a:off x="1908000" y="2052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8" name="直接箭头连接符 192">
              <a:extLst>
                <a:ext uri="{FF2B5EF4-FFF2-40B4-BE49-F238E27FC236}">
                  <a16:creationId xmlns:a16="http://schemas.microsoft.com/office/drawing/2014/main" id="{B34410B0-C4B5-4A43-962E-9BC5AB8EA21D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1692000" y="1404000"/>
              <a:ext cx="694" cy="46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92">
              <a:extLst>
                <a:ext uri="{FF2B5EF4-FFF2-40B4-BE49-F238E27FC236}">
                  <a16:creationId xmlns:a16="http://schemas.microsoft.com/office/drawing/2014/main" id="{B2193B8F-44E5-4C73-A3DC-ED8704DC48C3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400000" y="2124000"/>
              <a:ext cx="15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160" name="Text Box 235">
              <a:extLst>
                <a:ext uri="{FF2B5EF4-FFF2-40B4-BE49-F238E27FC236}">
                  <a16:creationId xmlns:a16="http://schemas.microsoft.com/office/drawing/2014/main" id="{8619FDB7-72D6-4E6C-8299-A268A1ACFFFB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368000" y="3348000"/>
              <a:ext cx="7128792" cy="5760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>
                  <a:latin typeface="宋体" panose="02010600030101010101" pitchFamily="2" charset="-122"/>
                </a:rPr>
                <a:t>图注：①是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否命中  ②是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否有空行  ③是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否需写回  ④是否需调入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spcBef>
                  <a:spcPts val="300"/>
                </a:spcBef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      ■、□表示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MUX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控制端信号为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所选择的入端</a:t>
              </a:r>
            </a:p>
          </p:txBody>
        </p:sp>
        <p:cxnSp>
          <p:nvCxnSpPr>
            <p:cNvPr id="161" name="直接箭头连接符 192">
              <a:extLst>
                <a:ext uri="{FF2B5EF4-FFF2-40B4-BE49-F238E27FC236}">
                  <a16:creationId xmlns:a16="http://schemas.microsoft.com/office/drawing/2014/main" id="{8D34AFAB-C45E-45D1-8FD9-3E4FF9D63074}"/>
                </a:ext>
              </a:extLst>
            </p:cNvPr>
            <p:cNvCxnSpPr>
              <a:cxnSpLocks/>
            </p:cNvCxnSpPr>
            <p:nvPr>
              <p:custDataLst>
                <p:tags r:id="rId44"/>
              </p:custDataLst>
            </p:nvPr>
          </p:nvCxnSpPr>
          <p:spPr bwMode="auto">
            <a:xfrm flipV="1">
              <a:off x="4104000" y="2412000"/>
              <a:ext cx="0" cy="36016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62" name="Text Box 235">
              <a:extLst>
                <a:ext uri="{FF2B5EF4-FFF2-40B4-BE49-F238E27FC236}">
                  <a16:creationId xmlns:a16="http://schemas.microsoft.com/office/drawing/2014/main" id="{4BB54B00-C68F-4AA8-84A0-570A1B5B0DC6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860000" y="1836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163" name="Text Box 235">
              <a:extLst>
                <a:ext uri="{FF2B5EF4-FFF2-40B4-BE49-F238E27FC236}">
                  <a16:creationId xmlns:a16="http://schemas.microsoft.com/office/drawing/2014/main" id="{98C7643F-5817-4E95-8E3D-6C97C480D46D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624000" y="2376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</a:p>
          </p:txBody>
        </p:sp>
        <p:sp>
          <p:nvSpPr>
            <p:cNvPr id="164" name="Text Box 235">
              <a:extLst>
                <a:ext uri="{FF2B5EF4-FFF2-40B4-BE49-F238E27FC236}">
                  <a16:creationId xmlns:a16="http://schemas.microsoft.com/office/drawing/2014/main" id="{03EEC1DB-5040-4B29-B705-3D0DBD28AD75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624000" y="1908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165" name="Text Box 235">
              <a:extLst>
                <a:ext uri="{FF2B5EF4-FFF2-40B4-BE49-F238E27FC236}">
                  <a16:creationId xmlns:a16="http://schemas.microsoft.com/office/drawing/2014/main" id="{4783EA9A-B099-42B6-9A52-BDEB67A5E2FE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104000" y="2520000"/>
              <a:ext cx="25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</a:p>
          </p:txBody>
        </p:sp>
        <p:cxnSp>
          <p:nvCxnSpPr>
            <p:cNvPr id="166" name="直接箭头连接符 192">
              <a:extLst>
                <a:ext uri="{FF2B5EF4-FFF2-40B4-BE49-F238E27FC236}">
                  <a16:creationId xmlns:a16="http://schemas.microsoft.com/office/drawing/2014/main" id="{06048C55-5269-4D62-A4BC-99E7AC61898A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3924000" y="1260000"/>
              <a:ext cx="0" cy="165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92">
              <a:extLst>
                <a:ext uri="{FF2B5EF4-FFF2-40B4-BE49-F238E27FC236}">
                  <a16:creationId xmlns:a16="http://schemas.microsoft.com/office/drawing/2014/main" id="{C065FE8C-19FC-4D3C-97F2-9DBF89C3B7E0}"/>
                </a:ext>
              </a:extLst>
            </p:cNvPr>
            <p:cNvCxnSpPr>
              <a:cxnSpLocks/>
            </p:cNvCxnSpPr>
            <p:nvPr>
              <p:custDataLst>
                <p:tags r:id="rId50"/>
              </p:custDataLst>
            </p:nvPr>
          </p:nvCxnSpPr>
          <p:spPr bwMode="auto">
            <a:xfrm>
              <a:off x="5400000" y="1800000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8" name="直接箭头连接符 192">
              <a:extLst>
                <a:ext uri="{FF2B5EF4-FFF2-40B4-BE49-F238E27FC236}">
                  <a16:creationId xmlns:a16="http://schemas.microsoft.com/office/drawing/2014/main" id="{4783D5A2-D584-4FE6-A136-B8A2FDB5B7CA}"/>
                </a:ext>
              </a:extLst>
            </p:cNvPr>
            <p:cNvCxnSpPr>
              <a:cxnSpLocks/>
            </p:cNvCxnSpPr>
            <p:nvPr>
              <p:custDataLst>
                <p:tags r:id="rId51"/>
              </p:custDataLst>
            </p:nvPr>
          </p:nvCxnSpPr>
          <p:spPr bwMode="auto">
            <a:xfrm flipV="1">
              <a:off x="1548000" y="1332000"/>
              <a:ext cx="565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92">
              <a:extLst>
                <a:ext uri="{FF2B5EF4-FFF2-40B4-BE49-F238E27FC236}">
                  <a16:creationId xmlns:a16="http://schemas.microsoft.com/office/drawing/2014/main" id="{BAD2BB37-5452-451D-8E3C-AA1B8D9D1DB7}"/>
                </a:ext>
              </a:extLst>
            </p:cNvPr>
            <p:cNvCxnSpPr>
              <a:cxnSpLocks/>
            </p:cNvCxnSpPr>
            <p:nvPr>
              <p:custDataLst>
                <p:tags r:id="rId52"/>
              </p:custDataLst>
            </p:nvPr>
          </p:nvCxnSpPr>
          <p:spPr bwMode="auto">
            <a:xfrm flipV="1">
              <a:off x="1692000" y="1404000"/>
              <a:ext cx="536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92">
              <a:extLst>
                <a:ext uri="{FF2B5EF4-FFF2-40B4-BE49-F238E27FC236}">
                  <a16:creationId xmlns:a16="http://schemas.microsoft.com/office/drawing/2014/main" id="{527C9EE8-F409-462C-BE93-AEC09F231799}"/>
                </a:ext>
              </a:extLst>
            </p:cNvPr>
            <p:cNvCxnSpPr>
              <a:cxnSpLocks/>
            </p:cNvCxnSpPr>
            <p:nvPr>
              <p:custDataLst>
                <p:tags r:id="rId53"/>
              </p:custDataLst>
            </p:nvPr>
          </p:nvCxnSpPr>
          <p:spPr bwMode="auto">
            <a:xfrm>
              <a:off x="7056000" y="1404000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92">
              <a:extLst>
                <a:ext uri="{FF2B5EF4-FFF2-40B4-BE49-F238E27FC236}">
                  <a16:creationId xmlns:a16="http://schemas.microsoft.com/office/drawing/2014/main" id="{2611B559-5C4A-4CCA-A88D-2C81A62DBE97}"/>
                </a:ext>
              </a:extLst>
            </p:cNvPr>
            <p:cNvCxnSpPr>
              <a:cxnSpLocks/>
            </p:cNvCxnSpPr>
            <p:nvPr>
              <p:custDataLst>
                <p:tags r:id="rId54"/>
              </p:custDataLst>
            </p:nvPr>
          </p:nvCxnSpPr>
          <p:spPr bwMode="auto">
            <a:xfrm flipH="1" flipV="1">
              <a:off x="4104000" y="2772000"/>
              <a:ext cx="12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2" name="Rectangle 194">
              <a:extLst>
                <a:ext uri="{FF2B5EF4-FFF2-40B4-BE49-F238E27FC236}">
                  <a16:creationId xmlns:a16="http://schemas.microsoft.com/office/drawing/2014/main" id="{752E101B-AE76-434B-A5C3-5A330119C5E8}"/>
                </a:ext>
              </a:extLst>
            </p:cNvPr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996000" y="1656000"/>
              <a:ext cx="252000" cy="75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MUX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3" name="Rectangle 194">
              <a:extLst>
                <a:ext uri="{FF2B5EF4-FFF2-40B4-BE49-F238E27FC236}">
                  <a16:creationId xmlns:a16="http://schemas.microsoft.com/office/drawing/2014/main" id="{1489A3FF-F2A3-4BDD-AFB4-38955349878F}"/>
                </a:ext>
              </a:extLst>
            </p:cNvPr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004048" y="2160000"/>
              <a:ext cx="252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MUX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3ED6A39A-3360-4AD8-8923-F48358AD27D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4176000" y="1656000"/>
              <a:ext cx="72000" cy="72008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CFD6A1B3-4CAF-47A6-940F-5ABCF32F20A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 bwMode="auto">
            <a:xfrm>
              <a:off x="4176000" y="2340000"/>
              <a:ext cx="72000" cy="720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572A79A8-A9C8-4A6A-B50D-9EFE70DE7B0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 bwMode="auto">
            <a:xfrm>
              <a:off x="5184000" y="2160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E10952D1-3EAE-46AF-B8DE-B078AC4107B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 bwMode="auto">
            <a:xfrm>
              <a:off x="5184000" y="2520000"/>
              <a:ext cx="72000" cy="720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8" name="直接箭头连接符 192">
              <a:extLst>
                <a:ext uri="{FF2B5EF4-FFF2-40B4-BE49-F238E27FC236}">
                  <a16:creationId xmlns:a16="http://schemas.microsoft.com/office/drawing/2014/main" id="{B2FD46C6-E0DB-48D7-BF5D-D14905BBAF6D}"/>
                </a:ext>
              </a:extLst>
            </p:cNvPr>
            <p:cNvCxnSpPr>
              <a:cxnSpLocks/>
            </p:cNvCxnSpPr>
            <p:nvPr>
              <p:custDataLst>
                <p:tags r:id="rId61"/>
              </p:custDataLst>
            </p:nvPr>
          </p:nvCxnSpPr>
          <p:spPr bwMode="auto">
            <a:xfrm>
              <a:off x="5544000" y="1800000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92">
              <a:extLst>
                <a:ext uri="{FF2B5EF4-FFF2-40B4-BE49-F238E27FC236}">
                  <a16:creationId xmlns:a16="http://schemas.microsoft.com/office/drawing/2014/main" id="{FF029166-B672-47D3-99B3-0A2A7686A99B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5508000" y="2556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53</a:t>
            </a:fld>
            <a:endParaRPr lang="en-US" altLang="zh-CN"/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Text Box 128"/>
          <p:cNvSpPr txBox="1">
            <a:spLocks noChangeArrowheads="1"/>
          </p:cNvSpPr>
          <p:nvPr/>
        </p:nvSpPr>
        <p:spPr bwMode="auto">
          <a:xfrm>
            <a:off x="179705" y="332656"/>
            <a:ext cx="4678776" cy="61047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的地址映射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</a:p>
          <a:p>
            <a:pPr>
              <a:lnSpc>
                <a:spcPct val="90000"/>
              </a:lnSpc>
            </a:pPr>
            <a:endParaRPr lang="zh-CN" altLang="en-US" sz="18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映射方式：</a:t>
            </a:r>
            <a:endParaRPr lang="zh-CN" altLang="en-US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查找的组织：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划分地址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②比较标记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34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27785" y="836712"/>
            <a:ext cx="7635240" cy="25295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10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确定一个主存块可放到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哪些行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，主存块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如何查找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                     </a:t>
            </a: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└←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取决于</a:t>
            </a:r>
            <a:r>
              <a:rPr lang="zh-CN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映射方式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┘</a:t>
            </a:r>
            <a:endParaRPr lang="zh-CN" altLang="en-US" sz="1800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、全相联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所有行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、组相联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候选行数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不同</a:t>
            </a:r>
            <a:endParaRPr lang="zh-CN" altLang="en-US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候选行地址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含在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主存块号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中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主存块号＝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标记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在候选行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索引指定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中比较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5722620" y="1988840"/>
            <a:ext cx="3348355" cy="2087880"/>
            <a:chOff x="8334" y="4365"/>
            <a:chExt cx="5273" cy="3288"/>
          </a:xfrm>
        </p:grpSpPr>
        <p:cxnSp>
          <p:nvCxnSpPr>
            <p:cNvPr id="50" name="直接箭头连接符 49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11055" y="4875"/>
              <a:ext cx="567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11056" y="5443"/>
              <a:ext cx="567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2" name="Rectangle 38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9241" y="5215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3" name="Text Box 39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8334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G-1</a:t>
              </a:r>
            </a:p>
          </p:txBody>
        </p:sp>
        <p:sp>
          <p:nvSpPr>
            <p:cNvPr id="54" name="Text Box 40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9239" y="5212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44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9581" y="4869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57" name="Text Box 49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8334" y="584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58" name="Text Box 50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8334" y="521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59" name="直接箭头连接符 58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9241" y="5514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9240" y="5840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9240" y="612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9240" y="646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81"/>
              </p:custDataLst>
            </p:nvPr>
          </p:nvCxnSpPr>
          <p:spPr bwMode="auto">
            <a:xfrm flipH="1" flipV="1">
              <a:off x="11056" y="5386"/>
              <a:ext cx="567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65" name="组合 64"/>
            <p:cNvGrpSpPr/>
            <p:nvPr/>
          </p:nvGrpSpPr>
          <p:grpSpPr>
            <a:xfrm>
              <a:off x="11622" y="4365"/>
              <a:ext cx="1985" cy="3288"/>
              <a:chOff x="11735" y="4365"/>
              <a:chExt cx="1985" cy="3288"/>
            </a:xfrm>
          </p:grpSpPr>
          <p:sp>
            <p:nvSpPr>
              <p:cNvPr id="66" name="Text Box 276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11736" y="6406"/>
                <a:ext cx="964" cy="39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126" name="Text Box 277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11736" y="4365"/>
                <a:ext cx="96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主存</a:t>
                </a:r>
              </a:p>
            </p:txBody>
          </p:sp>
          <p:sp>
            <p:nvSpPr>
              <p:cNvPr id="127" name="AutoShape 297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12699" y="6803"/>
                <a:ext cx="113" cy="850"/>
              </a:xfrm>
              <a:prstGeom prst="rightBrace">
                <a:avLst>
                  <a:gd name="adj1" fmla="val 41944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Text Box 298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12756" y="7029"/>
                <a:ext cx="96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lstStyle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M-1</a:t>
                </a:r>
              </a:p>
            </p:txBody>
          </p:sp>
          <p:sp>
            <p:nvSpPr>
              <p:cNvPr id="133" name="AutoShape 274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12699" y="4691"/>
                <a:ext cx="113" cy="850"/>
              </a:xfrm>
              <a:prstGeom prst="rightBrace">
                <a:avLst>
                  <a:gd name="adj1" fmla="val 42037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Text Box 275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12756" y="4932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lstStyle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69" name="Text Box 292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11735" y="4705"/>
                <a:ext cx="961" cy="850"/>
              </a:xfrm>
              <a:prstGeom prst="rect">
                <a:avLst/>
              </a:prstGeom>
              <a:solidFill>
                <a:srgbClr val="FFCC99">
                  <a:alpha val="7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lstStyle/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4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0" name="直接箭头连接符 169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11736" y="4988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接箭头连接符 170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11735" y="5272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2" name="AutoShape 274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12699" y="5555"/>
                <a:ext cx="113" cy="850"/>
              </a:xfrm>
              <a:prstGeom prst="rightBrace">
                <a:avLst>
                  <a:gd name="adj1" fmla="val 42037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Text Box 275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12756" y="5796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lstStyle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74" name="Text Box 292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11735" y="5555"/>
                <a:ext cx="961" cy="85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lstStyle/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4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5" name="直接箭头连接符 174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11736" y="5852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6" name="直接箭头连接符 175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11735" y="6136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7" name="Text Box 292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11735" y="6803"/>
                <a:ext cx="961" cy="850"/>
              </a:xfrm>
              <a:prstGeom prst="rect">
                <a:avLst/>
              </a:prstGeom>
              <a:solidFill>
                <a:srgbClr val="FFCC99">
                  <a:alpha val="7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lstStyle/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4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4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4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8" name="直接箭头连接符 177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11736" y="7086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" name="直接箭头连接符 178"/>
              <p:cNvCxnSpPr/>
              <p:nvPr>
                <p:custDataLst>
                  <p:tags r:id="rId98"/>
                </p:custDataLst>
              </p:nvPr>
            </p:nvCxnSpPr>
            <p:spPr bwMode="auto">
              <a:xfrm flipV="1">
                <a:off x="11735" y="7370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81" name="Text Box 39"/>
          <p:cNvSpPr txBox="1">
            <a:spLocks noChangeArrowheads="1"/>
          </p:cNvSpPr>
          <p:nvPr/>
        </p:nvSpPr>
        <p:spPr bwMode="auto">
          <a:xfrm>
            <a:off x="6064885" y="3538865"/>
            <a:ext cx="1619885" cy="50419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36195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u="none" dirty="0">
                <a:latin typeface="宋体" panose="02010600030101010101" pitchFamily="2" charset="-122"/>
              </a:rPr>
              <a:t>主存块号＝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&lt;</a:t>
            </a:r>
            <a:r>
              <a:rPr lang="zh-CN" altLang="en-US" sz="1600" b="1" u="none" dirty="0">
                <a:latin typeface="宋体" panose="02010600030101010101" pitchFamily="2" charset="-122"/>
              </a:rPr>
              <a:t>区号</a:t>
            </a:r>
            <a:r>
              <a:rPr lang="en-US" altLang="zh-CN" sz="1600" b="1" u="none" dirty="0">
                <a:latin typeface="宋体" panose="02010600030101010101" pitchFamily="2" charset="-122"/>
              </a:rPr>
              <a:t>,</a:t>
            </a:r>
            <a:r>
              <a:rPr lang="zh-CN" altLang="en-US" sz="1600" b="1" u="none" dirty="0">
                <a:highlight>
                  <a:srgbClr val="FFFF00"/>
                </a:highlight>
                <a:latin typeface="宋体" panose="02010600030101010101" pitchFamily="2" charset="-122"/>
              </a:rPr>
              <a:t>区内块号</a:t>
            </a:r>
            <a:r>
              <a:rPr lang="en-US" altLang="zh-CN" sz="1600" b="1" u="none" dirty="0">
                <a:latin typeface="宋体" panose="02010600030101010101" pitchFamily="2" charset="-122"/>
              </a:rPr>
              <a:t>&gt;</a:t>
            </a:r>
          </a:p>
        </p:txBody>
      </p:sp>
      <p:grpSp>
        <p:nvGrpSpPr>
          <p:cNvPr id="241" name="组合 240"/>
          <p:cNvGrpSpPr/>
          <p:nvPr/>
        </p:nvGrpSpPr>
        <p:grpSpPr>
          <a:xfrm>
            <a:off x="1152000" y="3861000"/>
            <a:ext cx="2780385" cy="1224000"/>
            <a:chOff x="1979711" y="3429016"/>
            <a:chExt cx="2780385" cy="1224000"/>
          </a:xfrm>
        </p:grpSpPr>
        <p:cxnSp>
          <p:nvCxnSpPr>
            <p:cNvPr id="242" name="直接箭头连接符 158"/>
            <p:cNvCxnSpPr/>
            <p:nvPr>
              <p:custDataLst>
                <p:tags r:id="rId64"/>
              </p:custDataLst>
            </p:nvPr>
          </p:nvCxnSpPr>
          <p:spPr bwMode="auto">
            <a:xfrm rot="16200000" flipH="1">
              <a:off x="1637711" y="3987009"/>
              <a:ext cx="828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3" name="Text Box 309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190151" y="4293016"/>
              <a:ext cx="648000" cy="360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/>
            </a:p>
          </p:txBody>
        </p:sp>
        <p:sp>
          <p:nvSpPr>
            <p:cNvPr id="244" name="AutoShape 178"/>
            <p:cNvSpPr/>
            <p:nvPr>
              <p:custDataLst>
                <p:tags r:id="rId66"/>
              </p:custDataLst>
            </p:nvPr>
          </p:nvSpPr>
          <p:spPr bwMode="auto">
            <a:xfrm>
              <a:off x="2123728" y="4293016"/>
              <a:ext cx="72008" cy="360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9525">
              <a:solidFill>
                <a:srgbClr val="C00000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" name="Line 121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H="1">
              <a:off x="1988096" y="3645016"/>
              <a:ext cx="2772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121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flipH="1">
              <a:off x="4751711" y="3429016"/>
              <a:ext cx="0" cy="216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2268000" y="3429000"/>
            <a:ext cx="2952000" cy="432024"/>
            <a:chOff x="3312907" y="1844824"/>
            <a:chExt cx="2952000" cy="432024"/>
          </a:xfrm>
        </p:grpSpPr>
        <p:sp>
          <p:nvSpPr>
            <p:cNvPr id="248" name="Text Box 382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328907" y="1844848"/>
              <a:ext cx="936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9" name="Text Box 383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312907" y="1844848"/>
              <a:ext cx="540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250" name="Text Box 25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851920" y="1844824"/>
              <a:ext cx="147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2808000" y="3645000"/>
            <a:ext cx="1476375" cy="215900"/>
            <a:chOff x="6066" y="5041"/>
            <a:chExt cx="2325" cy="340"/>
          </a:xfrm>
        </p:grpSpPr>
        <p:sp>
          <p:nvSpPr>
            <p:cNvPr id="252" name="Text Box 384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7200" y="5041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u="none" dirty="0">
                  <a:latin typeface="宋体" panose="02010600030101010101" pitchFamily="2" charset="-122"/>
                </a:rPr>
                <a:t>索引</a:t>
              </a:r>
            </a:p>
          </p:txBody>
        </p:sp>
        <p:sp>
          <p:nvSpPr>
            <p:cNvPr id="253" name="Text Box 38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066" y="5041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u="none" dirty="0">
                  <a:latin typeface="宋体" panose="02010600030101010101" pitchFamily="2" charset="-122"/>
                </a:rPr>
                <a:t>标记</a:t>
              </a: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1477932" y="4113000"/>
            <a:ext cx="4104417" cy="1296173"/>
            <a:chOff x="2195735" y="3645048"/>
            <a:chExt cx="4104417" cy="1296173"/>
          </a:xfrm>
        </p:grpSpPr>
        <p:sp>
          <p:nvSpPr>
            <p:cNvPr id="183" name="Text Box 27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195735" y="3861072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84" name="Text Box 27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195736" y="4725144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85" name="Text Box 27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195736" y="4293096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186" name="Text Box 290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499992" y="3861048"/>
              <a:ext cx="576000" cy="1080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87" name="Text Box 27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916461" y="3861048"/>
              <a:ext cx="648000" cy="10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88" name="Text Box 279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916152" y="3645048"/>
              <a:ext cx="338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有效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标记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状态    缓存块</a:t>
              </a:r>
            </a:p>
          </p:txBody>
        </p:sp>
        <p:sp>
          <p:nvSpPr>
            <p:cNvPr id="189" name="Text Box 28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147593" y="3861048"/>
              <a:ext cx="1152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190" name="Line 281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5148064" y="407707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282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5148064" y="4293096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283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5148064" y="4509120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284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5148064" y="4725144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85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5364088" y="3861221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286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6084168" y="3861168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Text Box 29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563984" y="3861048"/>
              <a:ext cx="936000" cy="1080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97" name="Line 291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2916461" y="4077072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92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V="1">
              <a:off x="2916461" y="4293096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93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V="1">
              <a:off x="2916461" y="4509120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94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2916461" y="4725144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Text Box 29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923960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232" name="Text Box 29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132361" y="3861048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       a      s3</a:t>
              </a:r>
            </a:p>
          </p:txBody>
        </p:sp>
        <p:sp>
          <p:nvSpPr>
            <p:cNvPr id="233" name="Text Box 29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132361" y="4293096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s0</a:t>
              </a:r>
            </a:p>
          </p:txBody>
        </p:sp>
        <p:sp>
          <p:nvSpPr>
            <p:cNvPr id="236" name="Text Box 299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132361" y="4725144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b      s1</a:t>
              </a:r>
            </a:p>
          </p:txBody>
        </p:sp>
        <p:sp>
          <p:nvSpPr>
            <p:cNvPr id="238" name="Text Box 295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923928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239" name="Text Box 29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5652152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240" name="Text Box 295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652152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</p:grpSp>
      <p:sp>
        <p:nvSpPr>
          <p:cNvPr id="267" name="Text Box 16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56176" y="4292640"/>
            <a:ext cx="2626975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269875" indent="-269875"/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思考①：</a:t>
            </a: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命中时如何访问块内数据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？</a:t>
            </a:r>
          </a:p>
        </p:txBody>
      </p:sp>
      <p:grpSp>
        <p:nvGrpSpPr>
          <p:cNvPr id="285" name="组合 284"/>
          <p:cNvGrpSpPr/>
          <p:nvPr/>
        </p:nvGrpSpPr>
        <p:grpSpPr>
          <a:xfrm>
            <a:off x="4788000" y="3860510"/>
            <a:ext cx="1908079" cy="2124375"/>
            <a:chOff x="7540" y="6180"/>
            <a:chExt cx="3005" cy="3345"/>
          </a:xfrm>
        </p:grpSpPr>
        <p:sp>
          <p:nvSpPr>
            <p:cNvPr id="269" name="Line 12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7767" y="8618"/>
              <a:ext cx="0" cy="56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等腰三角形 269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7654" y="8787"/>
              <a:ext cx="227" cy="227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1" name="Line 12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7767" y="9185"/>
              <a:ext cx="62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154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9241" y="6406"/>
              <a:ext cx="0" cy="23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Text Box 30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391" y="8731"/>
              <a:ext cx="227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3" name="Line 31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8391" y="8930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311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8391" y="9302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Text Box 12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058" y="8731"/>
              <a:ext cx="340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6" name="Text Box 13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618" y="895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77" name="Line 12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8618" y="8844"/>
              <a:ext cx="45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12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8617" y="9411"/>
              <a:ext cx="45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Text Box 32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751" y="8957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81" name="Line 121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9411" y="9127"/>
              <a:ext cx="34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12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7540" y="6180"/>
              <a:ext cx="0" cy="227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12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7540" y="6406"/>
              <a:ext cx="1701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1007745" y="3860810"/>
            <a:ext cx="3887470" cy="1997075"/>
            <a:chOff x="1587" y="6180"/>
            <a:chExt cx="6122" cy="3145"/>
          </a:xfrm>
        </p:grpSpPr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742" y="8788"/>
              <a:ext cx="1247" cy="51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4763" y="7768"/>
              <a:ext cx="0" cy="102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4139" y="7768"/>
              <a:ext cx="0" cy="10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58" name="直接箭头连接符 69"/>
            <p:cNvCxnSpPr/>
            <p:nvPr>
              <p:custDataLst>
                <p:tags r:id="rId9"/>
              </p:custDataLst>
            </p:nvPr>
          </p:nvCxnSpPr>
          <p:spPr bwMode="auto">
            <a:xfrm>
              <a:off x="4989" y="8902"/>
              <a:ext cx="272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9" name="Line 12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587" y="9128"/>
              <a:ext cx="2154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12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 flipV="1">
              <a:off x="1587" y="6407"/>
              <a:ext cx="0" cy="272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12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5046" y="6180"/>
              <a:ext cx="0" cy="22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121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1587" y="6407"/>
              <a:ext cx="345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36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3345" y="8901"/>
              <a:ext cx="3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Text Box 27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118" y="878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86" name="Line 36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4989" y="9241"/>
              <a:ext cx="68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363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4989" y="9071"/>
              <a:ext cx="68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Text Box 329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669" y="8589"/>
              <a:ext cx="1644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无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空闲行</a:t>
              </a: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1907999" y="6021288"/>
            <a:ext cx="6768453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 b="1" u="none" spc="-100" dirty="0">
                <a:latin typeface="宋体" panose="02010600030101010101" pitchFamily="2" charset="-122"/>
                <a:sym typeface="+mn-ea"/>
              </a:rPr>
              <a:t>块调入的</a:t>
            </a:r>
            <a:r>
              <a:rPr lang="zh-CN" altLang="en-US" sz="2200" b="1" spc="-100" dirty="0">
                <a:solidFill>
                  <a:srgbClr val="990099"/>
                </a:solidFill>
                <a:sym typeface="+mn-ea"/>
              </a:rPr>
              <a:t>冲突率</a:t>
            </a:r>
            <a:r>
              <a:rPr lang="en-US" altLang="zh-CN" sz="1600" b="1" u="none" spc="-10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≠命中率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指访问时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600" b="1" u="none" spc="-100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spc="-100" dirty="0">
                <a:sym typeface="+mn-ea"/>
              </a:rPr>
              <a:t>，查找的</a:t>
            </a:r>
            <a:r>
              <a:rPr lang="zh-CN" altLang="en-US" sz="2200" b="1" u="none" spc="-100" dirty="0">
                <a:solidFill>
                  <a:srgbClr val="990099"/>
                </a:solidFill>
                <a:sym typeface="+mn-ea"/>
              </a:rPr>
              <a:t>速度与成本</a:t>
            </a:r>
          </a:p>
        </p:txBody>
      </p:sp>
      <p:sp>
        <p:nvSpPr>
          <p:cNvPr id="291" name="AutoShape 62">
            <a:hlinkClick r:id="rId101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2" name="AutoShape 16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 bwMode="auto">
          <a:xfrm flipH="1" flipV="1">
            <a:off x="3348000" y="2278837"/>
            <a:ext cx="1440000" cy="324000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4" name="AutoShape 331"/>
          <p:cNvSpPr/>
          <p:nvPr/>
        </p:nvSpPr>
        <p:spPr bwMode="auto">
          <a:xfrm>
            <a:off x="6012160" y="5084930"/>
            <a:ext cx="720000" cy="252000"/>
          </a:xfrm>
          <a:prstGeom prst="borderCallout2">
            <a:avLst>
              <a:gd name="adj1" fmla="val 50645"/>
              <a:gd name="adj2" fmla="val -304"/>
              <a:gd name="adj3" fmla="val 49956"/>
              <a:gd name="adj4" fmla="val -31817"/>
              <a:gd name="adj5" fmla="val 178504"/>
              <a:gd name="adj6" fmla="val -13781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三态门</a:t>
            </a:r>
          </a:p>
        </p:txBody>
      </p:sp>
      <p:sp>
        <p:nvSpPr>
          <p:cNvPr id="119" name="Text Box 163">
            <a:extLst>
              <a:ext uri="{FF2B5EF4-FFF2-40B4-BE49-F238E27FC236}">
                <a16:creationId xmlns:a16="http://schemas.microsoft.com/office/drawing/2014/main" id="{60C8A063-00A0-41E9-B020-FD8A5B0D195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76256" y="5021694"/>
            <a:ext cx="2160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267335" indent="-267335"/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思考②：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索引为什么放</a:t>
            </a: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在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块地址</a:t>
            </a:r>
            <a:r>
              <a:rPr lang="zh-CN" altLang="en-US" sz="18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低位</a:t>
            </a:r>
            <a:r>
              <a:rPr lang="zh-CN" altLang="en-US" sz="1800" b="1" u="none" dirty="0">
                <a:latin typeface="+mn-ea"/>
                <a:ea typeface="+mn-ea"/>
                <a:sym typeface="+mn-ea"/>
              </a:rPr>
              <a:t>？</a:t>
            </a:r>
          </a:p>
        </p:txBody>
      </p:sp>
      <p:sp>
        <p:nvSpPr>
          <p:cNvPr id="115" name="AutoShape 331">
            <a:extLst>
              <a:ext uri="{FF2B5EF4-FFF2-40B4-BE49-F238E27FC236}">
                <a16:creationId xmlns:a16="http://schemas.microsoft.com/office/drawing/2014/main" id="{374C34A5-AACF-4C17-A37A-A702F30E950B}"/>
              </a:ext>
            </a:extLst>
          </p:cNvPr>
          <p:cNvSpPr/>
          <p:nvPr/>
        </p:nvSpPr>
        <p:spPr bwMode="auto">
          <a:xfrm>
            <a:off x="719696" y="3429000"/>
            <a:ext cx="1116000" cy="252000"/>
          </a:xfrm>
          <a:prstGeom prst="borderCallout2">
            <a:avLst>
              <a:gd name="adj1" fmla="val 50645"/>
              <a:gd name="adj2" fmla="val -304"/>
              <a:gd name="adj3" fmla="val 49956"/>
              <a:gd name="adj4" fmla="val -22925"/>
              <a:gd name="adj5" fmla="val -265926"/>
              <a:gd name="adj6" fmla="val 827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确定候选行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animBg="1"/>
      <p:bldP spid="267" grpId="0" bldLvl="0" animBg="1"/>
      <p:bldP spid="290" grpId="0"/>
      <p:bldP spid="4" grpId="0" animBg="1"/>
      <p:bldP spid="119" grpId="0" animBg="1"/>
      <p:bldP spid="1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013C-6D66-4466-93B5-267E3532D361}" type="slidenum">
              <a:rPr lang="en-US" altLang="zh-CN"/>
              <a:t>54</a:t>
            </a:fld>
            <a:endParaRPr lang="en-US" altLang="zh-CN" dirty="0"/>
          </a:p>
        </p:txBody>
      </p:sp>
      <p:sp>
        <p:nvSpPr>
          <p:cNvPr id="158017" name="AutoShape 3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018" name="AutoShape 322">
            <a:hlinkClick r:id="rId49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207"/>
          <p:cNvSpPr txBox="1">
            <a:spLocks noChangeArrowheads="1"/>
          </p:cNvSpPr>
          <p:nvPr/>
        </p:nvSpPr>
        <p:spPr bwMode="auto">
          <a:xfrm>
            <a:off x="179388" y="332656"/>
            <a:ext cx="8497068" cy="3014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直接映射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en-US" altLang="zh-CN" sz="1800" u="none" dirty="0">
                <a:latin typeface="+mn-lt"/>
              </a:rPr>
              <a:t>Direct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>
                <a:latin typeface="+mn-lt"/>
              </a:rPr>
              <a:t>mapping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endParaRPr lang="zh-CN" altLang="en-US" sz="1800" b="1" u="none" dirty="0">
              <a:solidFill>
                <a:srgbClr val="FF3399"/>
              </a:solidFill>
              <a:latin typeface="+mn-ea"/>
              <a:ea typeface="+mn-ea"/>
            </a:endParaRPr>
          </a:p>
          <a:p>
            <a:pPr marL="2060575" indent="-2060575"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*映射规则：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主存块</a:t>
            </a:r>
            <a:r>
              <a:rPr lang="en-US" altLang="zh-CN" sz="2200" b="1" u="none" spc="-50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可放到</a:t>
            </a:r>
            <a:r>
              <a:rPr lang="en-US" altLang="zh-CN" sz="2200" b="1" u="none" spc="-50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的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某个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50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中，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mod</a:t>
            </a:r>
            <a:r>
              <a:rPr lang="en-US" altLang="zh-CN" sz="2200" b="1" u="none" dirty="0">
                <a:latin typeface="宋体" panose="02010600030101010101" pitchFamily="2" charset="-122"/>
              </a:rPr>
              <a:t> G</a:t>
            </a: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地址划分：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索引＝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标记＝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1620000" y="2385881"/>
            <a:ext cx="2952328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区内块号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(=log</a:t>
            </a:r>
            <a:r>
              <a:rPr lang="en-US" altLang="zh-CN" sz="1800" b="1" u="none" baseline="-22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G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区号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(=log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M-log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G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" name="Text Box 27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95510" y="1273801"/>
            <a:ext cx="1584000" cy="28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 marL="0" indent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latin typeface="宋体" panose="02010600030101010101" pitchFamily="2" charset="-122"/>
              </a:rPr>
              <a:t>候选行数＝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5435600" y="1237576"/>
            <a:ext cx="3599815" cy="2087880"/>
            <a:chOff x="8334" y="4365"/>
            <a:chExt cx="5669" cy="3288"/>
          </a:xfrm>
        </p:grpSpPr>
        <p:cxnSp>
          <p:nvCxnSpPr>
            <p:cNvPr id="134" name="直接箭头连接符 133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11055" y="4875"/>
              <a:ext cx="68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11056" y="5443"/>
              <a:ext cx="679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6" name="Rectangle 3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241" y="5215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7" name="Text Box 3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334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G-1</a:t>
              </a:r>
            </a:p>
          </p:txBody>
        </p:sp>
        <p:sp>
          <p:nvSpPr>
            <p:cNvPr id="138" name="Text Box 4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239" y="5212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</p:txBody>
        </p:sp>
        <p:sp>
          <p:nvSpPr>
            <p:cNvPr id="139" name="Text Box 4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581" y="4876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4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334" y="584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142" name="Text Box 5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334" y="521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43" name="直接箭头连接符 142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9241" y="5514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9240" y="5840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9240" y="612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9240" y="646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29"/>
              </p:custDataLst>
            </p:nvPr>
          </p:nvCxnSpPr>
          <p:spPr bwMode="auto">
            <a:xfrm flipH="1" flipV="1">
              <a:off x="11056" y="5386"/>
              <a:ext cx="679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9" name="Text Box 27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736" y="6406"/>
              <a:ext cx="964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50" name="Text Box 27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1736" y="4365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51" name="AutoShape 297"/>
            <p:cNvSpPr/>
            <p:nvPr>
              <p:custDataLst>
                <p:tags r:id="rId32"/>
              </p:custDataLst>
            </p:nvPr>
          </p:nvSpPr>
          <p:spPr bwMode="auto">
            <a:xfrm>
              <a:off x="12699" y="6803"/>
              <a:ext cx="113" cy="850"/>
            </a:xfrm>
            <a:prstGeom prst="righ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Text Box 29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2756" y="7029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M/G-1</a:t>
              </a:r>
            </a:p>
          </p:txBody>
        </p:sp>
        <p:sp>
          <p:nvSpPr>
            <p:cNvPr id="153" name="AutoShape 274"/>
            <p:cNvSpPr/>
            <p:nvPr>
              <p:custDataLst>
                <p:tags r:id="rId34"/>
              </p:custDataLst>
            </p:nvPr>
          </p:nvSpPr>
          <p:spPr bwMode="auto">
            <a:xfrm>
              <a:off x="12699" y="4691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Text Box 275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2756" y="493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55" name="Text Box 29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735" y="4705"/>
              <a:ext cx="961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56" name="直接箭头连接符 155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11736" y="4988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11735" y="5272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AutoShape 274"/>
            <p:cNvSpPr/>
            <p:nvPr>
              <p:custDataLst>
                <p:tags r:id="rId39"/>
              </p:custDataLst>
            </p:nvPr>
          </p:nvSpPr>
          <p:spPr bwMode="auto">
            <a:xfrm>
              <a:off x="12699" y="5555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Text Box 27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2756" y="5796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60" name="Text Box 29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1735" y="5555"/>
              <a:ext cx="961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1" name="直接箭头连接符 160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1736" y="5852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1735" y="6136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 Box 292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1735" y="6803"/>
              <a:ext cx="961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4" name="直接箭头连接符 163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11736" y="7086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箭头连接符 164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1735" y="7370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组合 76"/>
          <p:cNvGrpSpPr/>
          <p:nvPr/>
        </p:nvGrpSpPr>
        <p:grpSpPr>
          <a:xfrm>
            <a:off x="1872000" y="1412656"/>
            <a:ext cx="3383915" cy="935990"/>
            <a:chOff x="680" y="6463"/>
            <a:chExt cx="5329" cy="1474"/>
          </a:xfrm>
        </p:grpSpPr>
        <p:sp>
          <p:nvSpPr>
            <p:cNvPr id="78" name="Text Box 24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22" y="6463"/>
              <a:ext cx="158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79" name="Text Box 25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0" y="6463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80" name="Text Box 25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08" y="6803"/>
              <a:ext cx="181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区内块号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81" name="Text Box 25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474" y="6803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区号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82" name="Text Box 2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22" y="7597"/>
              <a:ext cx="158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87" name="Text Box 2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08" y="7597"/>
              <a:ext cx="181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2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21" y="7597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23" name="Text Box 26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103" y="7200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</a:p>
          </p:txBody>
        </p:sp>
        <p:sp>
          <p:nvSpPr>
            <p:cNvPr id="124" name="Text Box 3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74" y="6463"/>
              <a:ext cx="2948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15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主存块号   </a:t>
              </a:r>
            </a:p>
          </p:txBody>
        </p:sp>
        <p:cxnSp>
          <p:nvCxnSpPr>
            <p:cNvPr id="126" name="直接箭头连接符 125"/>
            <p:cNvCxnSpPr/>
            <p:nvPr>
              <p:custDataLst>
                <p:tags r:id="rId16"/>
              </p:custDataLst>
            </p:nvPr>
          </p:nvCxnSpPr>
          <p:spPr bwMode="auto">
            <a:xfrm>
              <a:off x="5103" y="7143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27" name="组合 126"/>
          <p:cNvGrpSpPr/>
          <p:nvPr/>
        </p:nvGrpSpPr>
        <p:grpSpPr>
          <a:xfrm>
            <a:off x="3595370" y="1844656"/>
            <a:ext cx="504190" cy="504190"/>
            <a:chOff x="3402" y="7143"/>
            <a:chExt cx="794" cy="794"/>
          </a:xfrm>
        </p:grpSpPr>
        <p:sp>
          <p:nvSpPr>
            <p:cNvPr id="129" name="Text Box 26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02" y="7200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1" name="Text Box 26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98" y="7597"/>
              <a:ext cx="34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>
              <p:custDataLst>
                <p:tags r:id="rId6"/>
              </p:custDataLst>
            </p:nvPr>
          </p:nvCxnSpPr>
          <p:spPr bwMode="auto">
            <a:xfrm>
              <a:off x="3402" y="7143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76" name="Text Box 70"/>
          <p:cNvSpPr txBox="1">
            <a:spLocks noChangeArrowheads="1"/>
          </p:cNvSpPr>
          <p:nvPr/>
        </p:nvSpPr>
        <p:spPr bwMode="auto">
          <a:xfrm>
            <a:off x="394653" y="3320656"/>
            <a:ext cx="8532000" cy="3076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主存按字节编址、地址空间为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1M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，主存块大小</a:t>
            </a:r>
            <a:r>
              <a:rPr lang="en-US" altLang="zh-CN" sz="2000" b="1" u="none" dirty="0">
                <a:latin typeface="宋体" panose="02010600030101010101" pitchFamily="2" charset="-122"/>
              </a:rPr>
              <a:t>16B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容量为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8KB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。采用直接映射方式时，⑴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行的标记</a:t>
            </a:r>
            <a:r>
              <a:rPr lang="en-US" altLang="zh-CN" sz="2000" b="1" u="none" dirty="0">
                <a:latin typeface="宋体" panose="02010600030101010101" pitchFamily="2" charset="-122"/>
              </a:rPr>
              <a:t>(Tag)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为几位？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访存地址为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</a:rPr>
              <a:t>时，可能命中的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行号？命中时目标行的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V(</a:t>
            </a:r>
            <a:r>
              <a:rPr lang="zh-CN" altLang="en-US" sz="2000" b="1" u="none" dirty="0">
                <a:latin typeface="宋体" panose="02010600030101010101" pitchFamily="2" charset="-122"/>
              </a:rPr>
              <a:t>有效位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的值？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⑴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主存地址为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位，块内地址为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位，</a:t>
            </a:r>
            <a:endParaRPr lang="en-US" altLang="zh-CN" sz="2000" b="1" u="none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行号为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zh-CN" altLang="en-US" sz="2000" b="1" u="none" dirty="0">
                <a:latin typeface="+mn-ea"/>
                <a:ea typeface="+mn-ea"/>
                <a:sym typeface="+mn-ea"/>
              </a:rPr>
              <a:t>标记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位；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⑵访存地址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0011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0110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0100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0101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0100</a:t>
            </a:r>
            <a:r>
              <a:rPr lang="en-US" altLang="zh-CN" sz="2000" b="1" u="none" baseline="-18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可能命中的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行号＝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命中时目标行的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。</a:t>
            </a:r>
          </a:p>
        </p:txBody>
      </p:sp>
      <p:sp>
        <p:nvSpPr>
          <p:cNvPr id="6" name="Text Box 16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52115" y="4364951"/>
            <a:ext cx="5535930" cy="2014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spc="-50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(1M)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20                log</a:t>
            </a:r>
            <a:r>
              <a:rPr lang="en-US" altLang="zh-CN" sz="2000" b="1" u="none" spc="-50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(16B/1B)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4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(8KB/16B)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9           20-4-9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7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16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solidFill>
                  <a:srgbClr val="CC3300"/>
                </a:solidFill>
              </a:rPr>
              <a:t> 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2000" b="1" u="none" dirty="0">
                <a:solidFill>
                  <a:srgbClr val="CC3300"/>
                </a:solidFill>
              </a:rPr>
              <a:t> 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0101B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045H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     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0011</a:t>
            </a:r>
            <a:r>
              <a:rPr lang="en-US" altLang="zh-CN" sz="2000" b="1" u="none" dirty="0">
                <a:solidFill>
                  <a:srgbClr val="990099"/>
                </a:solidFill>
                <a:sym typeface="+mn-ea"/>
              </a:rPr>
              <a:t> 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011B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1BH</a:t>
            </a:r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514800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AutoShape 331">
            <a:extLst>
              <a:ext uri="{FF2B5EF4-FFF2-40B4-BE49-F238E27FC236}">
                <a16:creationId xmlns:a16="http://schemas.microsoft.com/office/drawing/2014/main" id="{55F33DC3-9581-4DF5-AA6E-E2ADD4237893}"/>
              </a:ext>
            </a:extLst>
          </p:cNvPr>
          <p:cNvSpPr/>
          <p:nvPr/>
        </p:nvSpPr>
        <p:spPr bwMode="auto">
          <a:xfrm>
            <a:off x="4265533" y="2532976"/>
            <a:ext cx="990381" cy="252730"/>
          </a:xfrm>
          <a:prstGeom prst="borderCallout2">
            <a:avLst>
              <a:gd name="adj1" fmla="val 50645"/>
              <a:gd name="adj2" fmla="val -304"/>
              <a:gd name="adj3" fmla="val 49956"/>
              <a:gd name="adj4" fmla="val -21797"/>
              <a:gd name="adj5" fmla="val -59897"/>
              <a:gd name="adj6" fmla="val -3045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>
                <a:latin typeface="+mn-ea"/>
                <a:ea typeface="+mn-ea"/>
              </a:rPr>
              <a:t>区大小</a:t>
            </a:r>
            <a:r>
              <a:rPr lang="en-US" altLang="zh-CN" sz="1600" b="1" u="none" dirty="0">
                <a:latin typeface="+mn-ea"/>
                <a:ea typeface="+mn-ea"/>
              </a:rPr>
              <a:t>=G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16C3A-F5DB-4C6B-A704-10B2F3A2938D}" type="slidenum">
              <a:rPr lang="en-US" altLang="zh-CN"/>
              <a:t>55</a:t>
            </a:fld>
            <a:endParaRPr lang="en-US" altLang="zh-CN"/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1651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9132" name="AutoShape 1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740"/>
            <a:ext cx="4149725" cy="5361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地址变换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候选行只有</a:t>
            </a:r>
            <a:r>
              <a:rPr lang="en-US" altLang="zh-CN" sz="1800" b="1" u="none" dirty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查找方法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查找处理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数据访问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映射性能：</a:t>
            </a:r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905" y="764540"/>
            <a:ext cx="6800215" cy="13048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比较器进行比较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命中条件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为候选行的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＝主存地址中区号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有空闲行条件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候选行的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空闲行号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＝候选行号</a:t>
            </a:r>
          </a:p>
        </p:txBody>
      </p:sp>
      <p:sp>
        <p:nvSpPr>
          <p:cNvPr id="7" name="Text Box 37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8980" y="4716000"/>
            <a:ext cx="6663055" cy="12757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324225" indent="-3324225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latin typeface="宋体" panose="02010600030101010101" pitchFamily="2" charset="-122"/>
              </a:rPr>
              <a:t>变换时</a:t>
            </a:r>
            <a:r>
              <a:rPr lang="zh-CN" altLang="en-US" sz="2200" b="1" u="none" dirty="0">
                <a:latin typeface="宋体" panose="02010600030101010101" pitchFamily="2" charset="-122"/>
              </a:rPr>
              <a:t>读缓存块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仅</a:t>
            </a:r>
            <a:r>
              <a:rPr lang="en-US" altLang="zh-CN" sz="1600" b="1" u="none" dirty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个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变换后</a:t>
            </a:r>
            <a:r>
              <a:rPr lang="zh-CN" altLang="en-US" sz="2200" b="1" u="none" dirty="0">
                <a:latin typeface="宋体" panose="02010600030101010101" pitchFamily="2" charset="-122"/>
              </a:rPr>
              <a:t>读</a:t>
            </a:r>
            <a:r>
              <a:rPr lang="en-US" altLang="zh-CN" sz="2200" b="1" u="none" dirty="0">
                <a:latin typeface="宋体" panose="02010600030101010101" pitchFamily="2" charset="-122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</a:rPr>
              <a:t>写存储单元</a:t>
            </a:r>
          </a:p>
          <a:p>
            <a:pPr marL="3324225" indent="-3324225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冲突率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最高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，地址变换速度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最快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、成本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最低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</a:p>
          <a:p>
            <a:pPr marL="3324225" indent="-3324225">
              <a:lnSpc>
                <a:spcPct val="125000"/>
              </a:lnSpc>
            </a:pP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为什么？怎么优化？</a:t>
            </a:r>
            <a:endParaRPr lang="zh-CN" altLang="en-US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07703" y="2556000"/>
            <a:ext cx="3176385" cy="1224136"/>
            <a:chOff x="1979711" y="3357016"/>
            <a:chExt cx="3176385" cy="1224136"/>
          </a:xfrm>
        </p:grpSpPr>
        <p:cxnSp>
          <p:nvCxnSpPr>
            <p:cNvPr id="9" name="直接箭头连接符 158"/>
            <p:cNvCxnSpPr/>
            <p:nvPr>
              <p:custDataLst>
                <p:tags r:id="rId64"/>
              </p:custDataLst>
            </p:nvPr>
          </p:nvCxnSpPr>
          <p:spPr bwMode="auto">
            <a:xfrm rot="16200000" flipH="1">
              <a:off x="1637711" y="3987009"/>
              <a:ext cx="828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309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190151" y="4365152"/>
              <a:ext cx="64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/>
            </a:p>
          </p:txBody>
        </p:sp>
        <p:sp>
          <p:nvSpPr>
            <p:cNvPr id="11" name="AutoShape 178"/>
            <p:cNvSpPr/>
            <p:nvPr>
              <p:custDataLst>
                <p:tags r:id="rId66"/>
              </p:custDataLst>
            </p:nvPr>
          </p:nvSpPr>
          <p:spPr bwMode="auto">
            <a:xfrm>
              <a:off x="2123728" y="4365152"/>
              <a:ext cx="72008" cy="216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21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H="1">
              <a:off x="1988096" y="3645048"/>
              <a:ext cx="3168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1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flipH="1">
              <a:off x="5148064" y="3357016"/>
              <a:ext cx="0" cy="288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123727" y="2916000"/>
            <a:ext cx="4104417" cy="1296173"/>
            <a:chOff x="2195735" y="3645048"/>
            <a:chExt cx="4104417" cy="1296173"/>
          </a:xfrm>
        </p:grpSpPr>
        <p:sp>
          <p:nvSpPr>
            <p:cNvPr id="15" name="Text Box 27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195735" y="3861072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6" name="Text Box 27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195736" y="4725144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7" name="Text Box 27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195736" y="4293096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18" name="Text Box 29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499992" y="3861048"/>
              <a:ext cx="576000" cy="1080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9" name="Text Box 27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916461" y="3861048"/>
              <a:ext cx="648000" cy="10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0" name="Text Box 279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916152" y="3645048"/>
              <a:ext cx="338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有效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标记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状态    缓存块</a:t>
              </a:r>
            </a:p>
          </p:txBody>
        </p:sp>
        <p:sp>
          <p:nvSpPr>
            <p:cNvPr id="21" name="Text Box 28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147593" y="3861048"/>
              <a:ext cx="1152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22" name="Line 281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5148064" y="407707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82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5148064" y="4293096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83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5148064" y="4509120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84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>
              <a:off x="5148064" y="4725144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85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5364088" y="3861221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86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6084168" y="3861168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290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563984" y="3861048"/>
              <a:ext cx="936000" cy="1080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9" name="Line 291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2916461" y="4077072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92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V="1">
              <a:off x="2916461" y="4293096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93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flipV="1">
              <a:off x="2916461" y="4509120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94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>
              <a:off x="2916461" y="4725144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29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923960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34" name="Text Box 297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132361" y="3861048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       a      s3</a:t>
              </a:r>
            </a:p>
          </p:txBody>
        </p:sp>
        <p:sp>
          <p:nvSpPr>
            <p:cNvPr id="35" name="Text Box 29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132361" y="4293096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s0</a:t>
              </a:r>
            </a:p>
          </p:txBody>
        </p:sp>
        <p:sp>
          <p:nvSpPr>
            <p:cNvPr id="36" name="Text Box 299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132361" y="4725144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b      s1</a:t>
              </a:r>
            </a:p>
          </p:txBody>
        </p:sp>
        <p:sp>
          <p:nvSpPr>
            <p:cNvPr id="37" name="Text Box 295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923928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38" name="Text Box 29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5652152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  <p:sp>
          <p:nvSpPr>
            <p:cNvPr id="39" name="Text Box 29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652152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305707" y="2124000"/>
            <a:ext cx="3498541" cy="648048"/>
            <a:chOff x="3305707" y="1844824"/>
            <a:chExt cx="3498541" cy="648048"/>
          </a:xfrm>
        </p:grpSpPr>
        <p:sp>
          <p:nvSpPr>
            <p:cNvPr id="41" name="Text Box 38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24248" y="1844848"/>
              <a:ext cx="1080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42" name="Text Box 38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305707" y="1844848"/>
              <a:ext cx="546151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43" name="Text Box 38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571904" y="2060824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区内块号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44" name="Text Box 385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852184" y="2060824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区号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45" name="Text Box 25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851920" y="1844824"/>
              <a:ext cx="187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块号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255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148064" y="2276824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索引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25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139952" y="2276872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508200" y="2556000"/>
            <a:ext cx="2303800" cy="2160240"/>
            <a:chOff x="5508200" y="2204864"/>
            <a:chExt cx="2303800" cy="2160240"/>
          </a:xfrm>
        </p:grpSpPr>
        <p:sp>
          <p:nvSpPr>
            <p:cNvPr id="49" name="Line 1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5580040" y="3861056"/>
              <a:ext cx="0" cy="360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等腰三角形 49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08200" y="4005080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12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5580208" y="4221040"/>
              <a:ext cx="864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30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444208" y="3861104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3" name="Line 31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6444223" y="3987387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11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6444223" y="4224155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2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868144" y="3861048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6" name="Text Box 13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588320" y="4005008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57" name="Line 121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6588328" y="3933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21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6588296" y="429304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329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308000" y="4004928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60" name="Line 154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6984256" y="2348880"/>
              <a:ext cx="0" cy="1512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2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V="1">
              <a:off x="7092296" y="4113048"/>
              <a:ext cx="216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21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6228280" y="2204864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21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6228184" y="2348880"/>
              <a:ext cx="756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1797050" y="2556050"/>
            <a:ext cx="3743960" cy="2105660"/>
            <a:chOff x="1587" y="6010"/>
            <a:chExt cx="5896" cy="3316"/>
          </a:xfrm>
        </p:grpSpPr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42" y="8788"/>
              <a:ext cx="1247" cy="51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4763" y="7768"/>
              <a:ext cx="0" cy="102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139" y="7768"/>
              <a:ext cx="0" cy="10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58" name="直接箭头连接符 69"/>
            <p:cNvCxnSpPr/>
            <p:nvPr>
              <p:custDataLst>
                <p:tags r:id="rId7"/>
              </p:custDataLst>
            </p:nvPr>
          </p:nvCxnSpPr>
          <p:spPr bwMode="auto">
            <a:xfrm>
              <a:off x="4989" y="8902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9" name="Line 12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1587" y="9128"/>
              <a:ext cx="2154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12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H="1" flipV="1">
              <a:off x="1587" y="6237"/>
              <a:ext cx="0" cy="289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12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5277" y="6010"/>
              <a:ext cx="0" cy="22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12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587" y="6237"/>
              <a:ext cx="3685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36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3345" y="8901"/>
              <a:ext cx="3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Text Box 27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18" y="878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86" name="Line 36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4989" y="9241"/>
              <a:ext cx="68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sysDash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36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4989" y="9071"/>
              <a:ext cx="68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Text Box 32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669" y="8589"/>
              <a:ext cx="1644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无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空闲行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2E60-756F-4736-B14E-A4E3BB6D91AA}" type="slidenum">
              <a:rPr lang="en-US" altLang="zh-CN"/>
              <a:t>56</a:t>
            </a:fld>
            <a:endParaRPr lang="en-US" altLang="zh-CN"/>
          </a:p>
        </p:txBody>
      </p:sp>
      <p:sp>
        <p:nvSpPr>
          <p:cNvPr id="129" name="AutoShape 1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164">
            <a:hlinkClick r:id="rId110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8785100" cy="6073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全相联映射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u="none" dirty="0"/>
              <a:t>Fully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associate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mapping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映射规则：</a:t>
            </a:r>
          </a:p>
          <a:p>
            <a:pPr marL="2060575" indent="-2060575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地址划分：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索引＝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u="none" baseline="-250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标记＝</a:t>
            </a: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地址变换：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候选行有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G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[=Cache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行数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查找方法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查找处理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数据访问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映射性能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85315" y="746721"/>
            <a:ext cx="675068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060575" indent="-2060575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主存块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可放到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任意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</a:t>
            </a:r>
            <a:r>
              <a:rPr lang="en-US" altLang="zh-CN" sz="2200" b="1" u="none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2200" b="1" u="none" dirty="0">
                <a:latin typeface="宋体" panose="02010600030101010101" pitchFamily="2" charset="-122"/>
              </a:rPr>
              <a:t>{0,1,…,G-1}</a:t>
            </a: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572080" y="1700656"/>
            <a:ext cx="720000" cy="360000"/>
            <a:chOff x="3059832" y="4066654"/>
            <a:chExt cx="720000" cy="360000"/>
          </a:xfrm>
        </p:grpSpPr>
        <p:sp>
          <p:nvSpPr>
            <p:cNvPr id="21" name="Text Box 267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3059832" y="4138686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无关联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Line 266"/>
            <p:cNvSpPr>
              <a:spLocks noChangeShapeType="1"/>
            </p:cNvSpPr>
            <p:nvPr>
              <p:custDataLst>
                <p:tags r:id="rId107"/>
              </p:custDataLst>
            </p:nvPr>
          </p:nvSpPr>
          <p:spPr bwMode="auto">
            <a:xfrm flipH="1">
              <a:off x="3059832" y="406665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headEnd type="triangl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20713" y="1662682"/>
            <a:ext cx="7415780" cy="1694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无</a:t>
            </a:r>
            <a:r>
              <a:rPr lang="en-US" altLang="zh-CN" sz="1800" b="1" u="none" dirty="0">
                <a:latin typeface="宋体" panose="02010600030101010101" pitchFamily="2" charset="-122"/>
              </a:rPr>
              <a:t>(=0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主存块号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(=m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比较器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比较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←满足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6000" dirty="0">
                <a:latin typeface="宋体" panose="02010600030101010101" pitchFamily="2" charset="-122"/>
                <a:sym typeface="+mn-ea"/>
              </a:rPr>
              <a:t>比较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u="none" dirty="0" err="1">
                <a:sym typeface="+mn-ea"/>
              </a:rPr>
              <a:t>∆</a:t>
            </a:r>
            <a:r>
              <a:rPr lang="en-US" altLang="zh-CN" sz="1800" b="1" u="none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，肉疼；串行时太慢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2700362" y="4003552"/>
            <a:ext cx="4896544" cy="468000"/>
            <a:chOff x="2555776" y="1519328"/>
            <a:chExt cx="4896544" cy="468000"/>
          </a:xfrm>
        </p:grpSpPr>
        <p:sp>
          <p:nvSpPr>
            <p:cNvPr id="92" name="Text Box 8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2555816" y="1735328"/>
              <a:ext cx="36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93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2915816" y="1735328"/>
              <a:ext cx="72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94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3635896" y="1735328"/>
              <a:ext cx="1080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110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4860032" y="1735328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08" name="Text Box 85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292240" y="1735328"/>
              <a:ext cx="36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93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5652240" y="1735328"/>
              <a:ext cx="72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94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6372320" y="1735328"/>
              <a:ext cx="1080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324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3420120" y="1519328"/>
              <a:ext cx="4318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12" name="Text Box 325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6084232" y="1519328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G-1</a:t>
              </a:r>
            </a:p>
          </p:txBody>
        </p:sp>
        <p:sp>
          <p:nvSpPr>
            <p:cNvPr id="113" name="Line 327"/>
            <p:cNvSpPr>
              <a:spLocks noChangeShapeType="1"/>
            </p:cNvSpPr>
            <p:nvPr>
              <p:custDataLst>
                <p:tags r:id="rId98"/>
              </p:custDataLst>
            </p:nvPr>
          </p:nvSpPr>
          <p:spPr bwMode="auto">
            <a:xfrm>
              <a:off x="2559753" y="151932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328"/>
            <p:cNvSpPr>
              <a:spLocks noChangeShapeType="1"/>
            </p:cNvSpPr>
            <p:nvPr>
              <p:custDataLst>
                <p:tags r:id="rId99"/>
              </p:custDataLst>
            </p:nvPr>
          </p:nvSpPr>
          <p:spPr bwMode="auto">
            <a:xfrm>
              <a:off x="4716016" y="151932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329"/>
            <p:cNvSpPr>
              <a:spLocks noChangeShapeType="1"/>
            </p:cNvSpPr>
            <p:nvPr>
              <p:custDataLst>
                <p:tags r:id="rId100"/>
              </p:custDataLst>
            </p:nvPr>
          </p:nvSpPr>
          <p:spPr bwMode="auto">
            <a:xfrm>
              <a:off x="3888016" y="1627328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331"/>
            <p:cNvSpPr>
              <a:spLocks noChangeShapeType="1"/>
            </p:cNvSpPr>
            <p:nvPr>
              <p:custDataLst>
                <p:tags r:id="rId101"/>
              </p:custDataLst>
            </p:nvPr>
          </p:nvSpPr>
          <p:spPr bwMode="auto">
            <a:xfrm flipH="1">
              <a:off x="5292080" y="151932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32"/>
            <p:cNvSpPr>
              <a:spLocks noChangeShapeType="1"/>
            </p:cNvSpPr>
            <p:nvPr>
              <p:custDataLst>
                <p:tags r:id="rId102"/>
              </p:custDataLst>
            </p:nvPr>
          </p:nvSpPr>
          <p:spPr bwMode="auto">
            <a:xfrm>
              <a:off x="7452320" y="151932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333"/>
            <p:cNvSpPr>
              <a:spLocks noChangeShapeType="1"/>
            </p:cNvSpPr>
            <p:nvPr>
              <p:custDataLst>
                <p:tags r:id="rId103"/>
              </p:custDataLst>
            </p:nvPr>
          </p:nvSpPr>
          <p:spPr bwMode="auto">
            <a:xfrm>
              <a:off x="6732240" y="1627328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334"/>
            <p:cNvSpPr>
              <a:spLocks noChangeShapeType="1"/>
            </p:cNvSpPr>
            <p:nvPr>
              <p:custDataLst>
                <p:tags r:id="rId104"/>
              </p:custDataLst>
            </p:nvPr>
          </p:nvSpPr>
          <p:spPr bwMode="auto">
            <a:xfrm flipH="1">
              <a:off x="5292080" y="1627328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334"/>
            <p:cNvSpPr>
              <a:spLocks noChangeShapeType="1"/>
            </p:cNvSpPr>
            <p:nvPr>
              <p:custDataLst>
                <p:tags r:id="rId105"/>
              </p:custDataLst>
            </p:nvPr>
          </p:nvSpPr>
          <p:spPr bwMode="auto">
            <a:xfrm flipH="1">
              <a:off x="2555776" y="1627328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2988362" y="3501008"/>
            <a:ext cx="3815725" cy="432048"/>
            <a:chOff x="612259" y="3068960"/>
            <a:chExt cx="3815725" cy="432048"/>
          </a:xfrm>
        </p:grpSpPr>
        <p:sp>
          <p:nvSpPr>
            <p:cNvPr id="24" name="Text Box 13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348484" y="3070424"/>
              <a:ext cx="107950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23" name="Text Box 2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548259" y="3070424"/>
              <a:ext cx="1800225" cy="2159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27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612259" y="3068960"/>
              <a:ext cx="936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125" name="Text Box 255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2555776" y="3285008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2520362" y="3717008"/>
            <a:ext cx="4680264" cy="1368000"/>
            <a:chOff x="2375936" y="1808816"/>
            <a:chExt cx="4680264" cy="1368000"/>
          </a:xfrm>
        </p:grpSpPr>
        <p:sp>
          <p:nvSpPr>
            <p:cNvPr id="127" name="Text Box 35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2699896" y="270881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128" name="Line 360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H="1">
              <a:off x="3491880" y="2492928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61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>
              <a:off x="2807415" y="2493032"/>
              <a:ext cx="0" cy="216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0" name="直接箭头连接符 69"/>
            <p:cNvCxnSpPr/>
            <p:nvPr>
              <p:custDataLst>
                <p:tags r:id="rId69"/>
              </p:custDataLst>
            </p:nvPr>
          </p:nvCxnSpPr>
          <p:spPr bwMode="auto">
            <a:xfrm>
              <a:off x="3635952" y="278081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1" name="Line 121"/>
            <p:cNvSpPr>
              <a:spLocks noChangeShapeType="1"/>
            </p:cNvSpPr>
            <p:nvPr>
              <p:custDataLst>
                <p:tags r:id="rId70"/>
              </p:custDataLst>
            </p:nvPr>
          </p:nvSpPr>
          <p:spPr bwMode="auto">
            <a:xfrm flipH="1">
              <a:off x="2375936" y="3176816"/>
              <a:ext cx="3888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21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flipH="1" flipV="1">
              <a:off x="2375936" y="1952816"/>
              <a:ext cx="0" cy="122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21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flipH="1">
              <a:off x="4752200" y="1808816"/>
              <a:ext cx="0" cy="14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21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 flipH="1">
              <a:off x="2375936" y="1952816"/>
              <a:ext cx="237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60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 flipH="1" flipV="1">
              <a:off x="3491880" y="2924816"/>
              <a:ext cx="0" cy="25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360"/>
            <p:cNvSpPr>
              <a:spLocks noChangeShapeType="1"/>
            </p:cNvSpPr>
            <p:nvPr>
              <p:custDataLst>
                <p:tags r:id="rId75"/>
              </p:custDataLst>
            </p:nvPr>
          </p:nvSpPr>
          <p:spPr bwMode="auto">
            <a:xfrm flipH="1" flipV="1">
              <a:off x="2807984" y="29248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Text Box 276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2447944" y="2960816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38" name="Line 360"/>
            <p:cNvSpPr>
              <a:spLocks noChangeShapeType="1"/>
            </p:cNvSpPr>
            <p:nvPr>
              <p:custDataLst>
                <p:tags r:id="rId77"/>
              </p:custDataLst>
            </p:nvPr>
          </p:nvSpPr>
          <p:spPr bwMode="auto">
            <a:xfrm flipV="1">
              <a:off x="2591960" y="3068816"/>
              <a:ext cx="29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Text Box 358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5436096" y="270881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140" name="Line 360"/>
            <p:cNvSpPr>
              <a:spLocks noChangeShapeType="1"/>
            </p:cNvSpPr>
            <p:nvPr>
              <p:custDataLst>
                <p:tags r:id="rId79"/>
              </p:custDataLst>
            </p:nvPr>
          </p:nvSpPr>
          <p:spPr bwMode="auto">
            <a:xfrm flipH="1">
              <a:off x="6264112" y="2492896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361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>
              <a:off x="5579647" y="2493000"/>
              <a:ext cx="0" cy="216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360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 flipH="1" flipV="1">
              <a:off x="6263936" y="2924816"/>
              <a:ext cx="0" cy="25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360"/>
            <p:cNvSpPr>
              <a:spLocks noChangeShapeType="1"/>
            </p:cNvSpPr>
            <p:nvPr>
              <p:custDataLst>
                <p:tags r:id="rId82"/>
              </p:custDataLst>
            </p:nvPr>
          </p:nvSpPr>
          <p:spPr bwMode="auto">
            <a:xfrm flipH="1" flipV="1">
              <a:off x="5580216" y="29248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4" name="直接箭头连接符 69"/>
            <p:cNvCxnSpPr/>
            <p:nvPr>
              <p:custDataLst>
                <p:tags r:id="rId83"/>
              </p:custDataLst>
            </p:nvPr>
          </p:nvCxnSpPr>
          <p:spPr bwMode="auto">
            <a:xfrm>
              <a:off x="6372200" y="278081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5" name="Text Box 110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860032" y="270881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4428362" y="3717008"/>
            <a:ext cx="4392110" cy="1980232"/>
            <a:chOff x="4283984" y="1880816"/>
            <a:chExt cx="4392110" cy="1980232"/>
          </a:xfrm>
        </p:grpSpPr>
        <p:sp>
          <p:nvSpPr>
            <p:cNvPr id="155" name="Line 121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>
              <a:off x="4355824" y="2636816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等腰三角形 155"/>
            <p:cNvSpPr/>
            <p:nvPr>
              <p:custDataLst>
                <p:tags r:id="rId50"/>
              </p:custDataLst>
            </p:nvPr>
          </p:nvSpPr>
          <p:spPr bwMode="auto">
            <a:xfrm rot="5400000">
              <a:off x="4283984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121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4356072" y="3572968"/>
              <a:ext cx="2952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Text Box 30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308304" y="3357048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9" name="Line 311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7308319" y="3483331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311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7308319" y="372009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 Box 120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732240" y="3356992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62" name="Text Box 13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452416" y="350095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63" name="Line 121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>
              <a:off x="7452424" y="342894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21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7452392" y="378898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Text Box 329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172094" y="35008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166" name="Line 154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H="1">
              <a:off x="7848448" y="2024817"/>
              <a:ext cx="0" cy="1332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121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V="1">
              <a:off x="7956392" y="3608992"/>
              <a:ext cx="216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121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H="1">
              <a:off x="7092128" y="2636816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等腰三角形 168"/>
            <p:cNvSpPr/>
            <p:nvPr>
              <p:custDataLst>
                <p:tags r:id="rId63"/>
              </p:custDataLst>
            </p:nvPr>
          </p:nvSpPr>
          <p:spPr bwMode="auto">
            <a:xfrm rot="5400000">
              <a:off x="7020288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Line 121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H="1">
              <a:off x="6228280" y="1880816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21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>
              <a:off x="6228184" y="2024817"/>
              <a:ext cx="162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852362" y="4689008"/>
            <a:ext cx="2808312" cy="1116000"/>
            <a:chOff x="2951640" y="3501016"/>
            <a:chExt cx="2808312" cy="1116000"/>
          </a:xfrm>
        </p:grpSpPr>
        <p:cxnSp>
          <p:nvCxnSpPr>
            <p:cNvPr id="178" name="直接箭头连接符 157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3023645" y="3501016"/>
              <a:ext cx="3" cy="61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79" name="Text Box 32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951640" y="4113016"/>
              <a:ext cx="504056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80" name="Line 12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3383688" y="3969016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Text Box 13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095656" y="3897016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82" name="Line 121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H="1">
              <a:off x="3383896" y="3969016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21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5759952" y="3501016"/>
              <a:ext cx="0" cy="46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21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3167664" y="4329016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Text Box 329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239672" y="4401016"/>
              <a:ext cx="100811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命中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缺失</a:t>
              </a:r>
            </a:p>
          </p:txBody>
        </p:sp>
      </p:grpSp>
      <p:sp>
        <p:nvSpPr>
          <p:cNvPr id="445" name="Text Box 37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35150" y="5877272"/>
            <a:ext cx="605917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324225" indent="-3324225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冲突率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最低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，地址变换速度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较快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、成本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最高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6157153" y="1340656"/>
            <a:ext cx="2807335" cy="1548765"/>
            <a:chOff x="9581" y="1984"/>
            <a:chExt cx="4421" cy="2439"/>
          </a:xfrm>
        </p:grpSpPr>
        <p:sp>
          <p:nvSpPr>
            <p:cNvPr id="70" name="Text Box 2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982" y="2042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71" name="Text Box 3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982" y="2382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3" name="Text Box 3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982" y="4083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baseline="30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74" name="Text Box 3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982" y="2722"/>
              <a:ext cx="1020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>
                  <a:latin typeface="Times New Roman" panose="02020603050405020304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2982" y="3516"/>
              <a:ext cx="1020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>
                  <a:latin typeface="Times New Roman" panose="02020603050405020304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6" name="Text Box 3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2982" y="3175"/>
              <a:ext cx="1020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12302" y="3005"/>
              <a:ext cx="68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箭头连接符 77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12302" y="3346"/>
              <a:ext cx="68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9" name="Rectangle 38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488" y="2833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0" name="Text Box 3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581" y="408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G-1</a:t>
              </a:r>
            </a:p>
          </p:txBody>
        </p:sp>
        <p:sp>
          <p:nvSpPr>
            <p:cNvPr id="81" name="Text Box 4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486" y="2830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 …</a:t>
              </a:r>
            </a:p>
          </p:txBody>
        </p:sp>
        <p:sp>
          <p:nvSpPr>
            <p:cNvPr id="82" name="Text Box 44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828" y="2494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4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581" y="3458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59" name="Text Box 50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9581" y="2829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60" name="直接箭头连接符 59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10488" y="3132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0487" y="3458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10487" y="3741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10487" y="4081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12302" y="3345"/>
              <a:ext cx="68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6" name="Text Box 27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144" y="1984"/>
              <a:ext cx="2494" cy="454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候选行数＝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G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行</a:t>
              </a:r>
            </a:p>
          </p:txBody>
        </p:sp>
      </p:grpSp>
      <p:sp>
        <p:nvSpPr>
          <p:cNvPr id="232" name="Text Box 7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5536" y="3861048"/>
            <a:ext cx="1915795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21615" indent="-221615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可能有多行命中吗？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6" name="Text Box 7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5536" y="4653136"/>
            <a:ext cx="1915795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21615" indent="-221615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有空闲行的条件？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406800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75"/>
          <p:cNvGrpSpPr/>
          <p:nvPr/>
        </p:nvGrpSpPr>
        <p:grpSpPr bwMode="auto">
          <a:xfrm>
            <a:off x="3131840" y="1268657"/>
            <a:ext cx="3024188" cy="1082676"/>
            <a:chOff x="3560" y="799"/>
            <a:chExt cx="1905" cy="682"/>
          </a:xfrm>
        </p:grpSpPr>
        <p:sp>
          <p:nvSpPr>
            <p:cNvPr id="7" name="Line 1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5102" y="1072"/>
              <a:ext cx="0" cy="226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1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02" y="1118"/>
              <a:ext cx="31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</a:p>
          </p:txBody>
        </p:sp>
        <p:sp>
          <p:nvSpPr>
            <p:cNvPr id="9" name="Text Box 1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830" y="936"/>
              <a:ext cx="635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0" name="Line 1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830" y="823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4512" y="86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2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60" y="890"/>
              <a:ext cx="317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877" y="936"/>
              <a:ext cx="952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Line 22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877" y="823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2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85" y="799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16" name="Line 2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 flipV="1">
              <a:off x="3877" y="86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2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30" y="1299"/>
              <a:ext cx="635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8" name="Text Box 2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95" y="1299"/>
              <a:ext cx="635" cy="13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</a:p>
          </p:txBody>
        </p:sp>
        <p:sp>
          <p:nvSpPr>
            <p:cNvPr id="19" name="Text Box 2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09" y="1209"/>
              <a:ext cx="386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</a:p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 bldLvl="0" animBg="1"/>
      <p:bldP spid="232" grpId="0" bldLvl="0" animBg="1"/>
      <p:bldP spid="26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FE12-8909-4749-9FB5-57793371441A}" type="slidenum">
              <a:rPr lang="en-US" altLang="zh-CN"/>
              <a:t>57</a:t>
            </a:fld>
            <a:endParaRPr lang="en-US" altLang="zh-CN"/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251521" y="404664"/>
            <a:ext cx="8639766" cy="15206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同例</a:t>
            </a:r>
            <a:r>
              <a:rPr lang="en-US" altLang="zh-CN" sz="2000" b="1" u="none" dirty="0">
                <a:latin typeface="宋体" panose="02010600030101010101" pitchFamily="2" charset="-122"/>
              </a:rPr>
              <a:t>1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（存储器按字节编址，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可寻址空间为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1M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，主存块大小为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16B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数据区容量为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8KB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）。采用全相联映射方式时，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⑴主存地址如何划分？⑵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行的标记</a:t>
            </a:r>
            <a:r>
              <a:rPr lang="en-US" altLang="zh-CN" sz="2000" b="1" u="none" dirty="0">
                <a:latin typeface="宋体" panose="02010600030101010101" pitchFamily="2" charset="-122"/>
              </a:rPr>
              <a:t>(Tag)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为几位？⑶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访存地址为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</a:rPr>
              <a:t>时，则命中时目标行的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V(</a:t>
            </a:r>
            <a:r>
              <a:rPr lang="zh-CN" altLang="en-US" sz="2000" b="1" u="none" dirty="0">
                <a:latin typeface="宋体" panose="02010600030101010101" pitchFamily="2" charset="-122"/>
              </a:rPr>
              <a:t>有效位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的值？</a:t>
            </a:r>
          </a:p>
        </p:txBody>
      </p:sp>
      <p:sp>
        <p:nvSpPr>
          <p:cNvPr id="380991" name="Text Box 63"/>
          <p:cNvSpPr txBox="1">
            <a:spLocks noChangeArrowheads="1"/>
          </p:cNvSpPr>
          <p:nvPr/>
        </p:nvSpPr>
        <p:spPr bwMode="auto">
          <a:xfrm>
            <a:off x="251272" y="3140968"/>
            <a:ext cx="8497192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⑴</a:t>
            </a:r>
            <a:r>
              <a:rPr lang="zh-CN" altLang="en-US" sz="2000" b="1" u="none" spc="-50" dirty="0">
                <a:latin typeface="宋体" panose="02010600030101010101" pitchFamily="2" charset="-122"/>
              </a:rPr>
              <a:t>主存地址</a:t>
            </a:r>
            <a:r>
              <a:rPr lang="en-US" altLang="zh-CN" sz="2000" b="1" u="none" spc="-50" dirty="0">
                <a:latin typeface="宋体" panose="02010600030101010101" pitchFamily="2" charset="-122"/>
              </a:rPr>
              <a:t>(20</a:t>
            </a:r>
            <a:r>
              <a:rPr lang="zh-CN" altLang="en-US" sz="2000" b="1" u="none" spc="-50" dirty="0">
                <a:latin typeface="宋体" panose="02010600030101010101" pitchFamily="2" charset="-122"/>
              </a:rPr>
              <a:t>位</a:t>
            </a:r>
            <a:r>
              <a:rPr lang="en-US" altLang="zh-CN" sz="2000" b="1" u="none" spc="-50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spc="-50" dirty="0">
                <a:latin typeface="宋体" panose="02010600030101010101" pitchFamily="2" charset="-122"/>
              </a:rPr>
              <a:t>划分如下：  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50" dirty="0">
                <a:latin typeface="宋体" panose="02010600030101010101" pitchFamily="2" charset="-122"/>
              </a:rPr>
              <a:t>块内地址为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4</a:t>
            </a:r>
            <a:r>
              <a:rPr lang="zh-CN" altLang="en-US" sz="1800" b="1" u="none" spc="-50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)</a:t>
            </a:r>
            <a:r>
              <a:rPr lang="en-US" altLang="zh-CN" sz="2200" b="1" u="none" spc="-50" dirty="0"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381006" name="Group 78"/>
          <p:cNvGrpSpPr/>
          <p:nvPr/>
        </p:nvGrpSpPr>
        <p:grpSpPr bwMode="auto">
          <a:xfrm>
            <a:off x="2698921" y="3863529"/>
            <a:ext cx="3311525" cy="215900"/>
            <a:chOff x="2744" y="2342"/>
            <a:chExt cx="2086" cy="136"/>
          </a:xfrm>
        </p:grpSpPr>
        <p:sp>
          <p:nvSpPr>
            <p:cNvPr id="380993" name="Text Box 65"/>
            <p:cNvSpPr txBox="1">
              <a:spLocks noChangeArrowheads="1"/>
            </p:cNvSpPr>
            <p:nvPr/>
          </p:nvSpPr>
          <p:spPr bwMode="auto">
            <a:xfrm>
              <a:off x="4150" y="2342"/>
              <a:ext cx="680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块内地址</a:t>
              </a:r>
            </a:p>
          </p:txBody>
        </p:sp>
        <p:sp>
          <p:nvSpPr>
            <p:cNvPr id="381000" name="Text Box 72"/>
            <p:cNvSpPr txBox="1">
              <a:spLocks noChangeArrowheads="1"/>
            </p:cNvSpPr>
            <p:nvPr/>
          </p:nvSpPr>
          <p:spPr bwMode="auto">
            <a:xfrm>
              <a:off x="2744" y="2342"/>
              <a:ext cx="1406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主存块号</a:t>
              </a:r>
            </a:p>
          </p:txBody>
        </p:sp>
      </p:grpSp>
      <p:grpSp>
        <p:nvGrpSpPr>
          <p:cNvPr id="381007" name="Group 79"/>
          <p:cNvGrpSpPr/>
          <p:nvPr/>
        </p:nvGrpSpPr>
        <p:grpSpPr bwMode="auto">
          <a:xfrm>
            <a:off x="2698922" y="3571184"/>
            <a:ext cx="3313113" cy="252413"/>
            <a:chOff x="2744" y="2181"/>
            <a:chExt cx="2087" cy="159"/>
          </a:xfrm>
        </p:grpSpPr>
        <p:sp>
          <p:nvSpPr>
            <p:cNvPr id="380994" name="Line 66"/>
            <p:cNvSpPr>
              <a:spLocks noChangeShapeType="1"/>
            </p:cNvSpPr>
            <p:nvPr/>
          </p:nvSpPr>
          <p:spPr bwMode="auto">
            <a:xfrm>
              <a:off x="4151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5" name="Line 67"/>
            <p:cNvSpPr>
              <a:spLocks noChangeShapeType="1"/>
            </p:cNvSpPr>
            <p:nvPr/>
          </p:nvSpPr>
          <p:spPr bwMode="auto">
            <a:xfrm>
              <a:off x="4831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6" name="Text Box 68"/>
            <p:cNvSpPr txBox="1">
              <a:spLocks noChangeArrowheads="1"/>
            </p:cNvSpPr>
            <p:nvPr/>
          </p:nvSpPr>
          <p:spPr bwMode="auto">
            <a:xfrm>
              <a:off x="4377" y="2181"/>
              <a:ext cx="272" cy="1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380997" name="Line 69"/>
            <p:cNvSpPr>
              <a:spLocks noChangeShapeType="1"/>
            </p:cNvSpPr>
            <p:nvPr/>
          </p:nvSpPr>
          <p:spPr bwMode="auto">
            <a:xfrm>
              <a:off x="4649" y="226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8" name="Line 70"/>
            <p:cNvSpPr>
              <a:spLocks noChangeShapeType="1"/>
            </p:cNvSpPr>
            <p:nvPr/>
          </p:nvSpPr>
          <p:spPr bwMode="auto">
            <a:xfrm>
              <a:off x="3727" y="2266"/>
              <a:ext cx="4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9" name="Line 71"/>
            <p:cNvSpPr>
              <a:spLocks noChangeShapeType="1"/>
            </p:cNvSpPr>
            <p:nvPr/>
          </p:nvSpPr>
          <p:spPr bwMode="auto">
            <a:xfrm flipH="1">
              <a:off x="4151" y="226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001" name="Line 73"/>
            <p:cNvSpPr>
              <a:spLocks noChangeShapeType="1"/>
            </p:cNvSpPr>
            <p:nvPr/>
          </p:nvSpPr>
          <p:spPr bwMode="auto">
            <a:xfrm>
              <a:off x="2744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002" name="Text Box 74"/>
            <p:cNvSpPr txBox="1">
              <a:spLocks noChangeArrowheads="1"/>
            </p:cNvSpPr>
            <p:nvPr/>
          </p:nvSpPr>
          <p:spPr bwMode="auto">
            <a:xfrm>
              <a:off x="3198" y="2204"/>
              <a:ext cx="499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20-4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381003" name="Line 75"/>
            <p:cNvSpPr>
              <a:spLocks noChangeShapeType="1"/>
            </p:cNvSpPr>
            <p:nvPr/>
          </p:nvSpPr>
          <p:spPr bwMode="auto">
            <a:xfrm flipH="1">
              <a:off x="2744" y="2267"/>
              <a:ext cx="4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1008" name="Text Box 80"/>
          <p:cNvSpPr txBox="1">
            <a:spLocks noChangeArrowheads="1"/>
          </p:cNvSpPr>
          <p:nvPr/>
        </p:nvSpPr>
        <p:spPr bwMode="auto">
          <a:xfrm>
            <a:off x="825312" y="4150784"/>
            <a:ext cx="3456508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⑵Cache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行的标记</a:t>
            </a:r>
            <a:r>
              <a:rPr lang="zh-CN" altLang="en-US" sz="2000" b="1" u="none" spc="-50" dirty="0">
                <a:latin typeface="宋体" panose="02010600030101010101" pitchFamily="2" charset="-122"/>
              </a:rPr>
              <a:t>＝</a:t>
            </a:r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sp>
        <p:nvSpPr>
          <p:cNvPr id="381036" name="Text Box 108"/>
          <p:cNvSpPr txBox="1">
            <a:spLocks noChangeArrowheads="1"/>
          </p:cNvSpPr>
          <p:nvPr/>
        </p:nvSpPr>
        <p:spPr bwMode="auto">
          <a:xfrm>
            <a:off x="829797" y="4581128"/>
            <a:ext cx="7056000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⑶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访存地址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36454H</a:t>
            </a:r>
            <a:r>
              <a:rPr lang="zh-CN" altLang="en-US" sz="2000" b="1" u="none" spc="-50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/>
              <a:t> </a:t>
            </a:r>
            <a:r>
              <a:rPr lang="en-US" altLang="zh-CN" sz="2000" b="1" u="none" dirty="0">
                <a:highlight>
                  <a:srgbClr val="CC99FF"/>
                </a:highlight>
                <a:latin typeface="宋体" panose="02010600030101010101" pitchFamily="2" charset="-122"/>
              </a:rPr>
              <a:t>0011</a:t>
            </a:r>
            <a:r>
              <a:rPr lang="en-US" altLang="zh-CN" sz="2000" b="1" u="none" dirty="0">
                <a:highlight>
                  <a:srgbClr val="CC99FF"/>
                </a:highlight>
              </a:rPr>
              <a:t> </a:t>
            </a:r>
            <a:r>
              <a:rPr lang="en-US" altLang="zh-CN" sz="2000" b="1" u="none" dirty="0">
                <a:highlight>
                  <a:srgbClr val="CC99FF"/>
                </a:highlight>
                <a:latin typeface="宋体" panose="02010600030101010101" pitchFamily="2" charset="-122"/>
              </a:rPr>
              <a:t>0110</a:t>
            </a:r>
            <a:r>
              <a:rPr lang="en-US" altLang="zh-CN" sz="2000" b="1" u="none" dirty="0">
                <a:highlight>
                  <a:srgbClr val="CC99FF"/>
                </a:highlight>
              </a:rPr>
              <a:t> </a:t>
            </a:r>
            <a:r>
              <a:rPr lang="en-US" altLang="zh-CN" sz="2000" b="1" u="none" dirty="0">
                <a:highlight>
                  <a:srgbClr val="CC99FF"/>
                </a:highlight>
                <a:latin typeface="宋体" panose="02010600030101010101" pitchFamily="2" charset="-122"/>
              </a:rPr>
              <a:t>0100</a:t>
            </a:r>
            <a:r>
              <a:rPr lang="en-US" altLang="zh-CN" sz="2000" b="1" u="none" dirty="0">
                <a:highlight>
                  <a:srgbClr val="CC99FF"/>
                </a:highlight>
              </a:rPr>
              <a:t> </a:t>
            </a:r>
            <a:r>
              <a:rPr lang="en-US" altLang="zh-CN" sz="2000" b="1" u="none" dirty="0">
                <a:highlight>
                  <a:srgbClr val="CC99FF"/>
                </a:highlight>
                <a:latin typeface="宋体" panose="02010600030101010101" pitchFamily="2" charset="-122"/>
              </a:rPr>
              <a:t>0101</a:t>
            </a:r>
            <a:r>
              <a:rPr lang="en-US" altLang="zh-CN" sz="2000" b="1" u="none" dirty="0"/>
              <a:t> </a:t>
            </a:r>
            <a:r>
              <a:rPr lang="en-US" altLang="zh-CN" sz="2000" b="1" u="none" dirty="0">
                <a:highlight>
                  <a:srgbClr val="CCFFFF"/>
                </a:highlight>
                <a:latin typeface="宋体" panose="02010600030101010101" pitchFamily="2" charset="-122"/>
              </a:rPr>
              <a:t>0100</a:t>
            </a:r>
            <a:r>
              <a:rPr lang="en-US" altLang="zh-CN" sz="20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</a:rPr>
              <a:t>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      目标行的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V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</a:p>
        </p:txBody>
      </p:sp>
      <p:sp>
        <p:nvSpPr>
          <p:cNvPr id="381037" name="Text Box 109"/>
          <p:cNvSpPr txBox="1">
            <a:spLocks noChangeArrowheads="1"/>
          </p:cNvSpPr>
          <p:nvPr/>
        </p:nvSpPr>
        <p:spPr bwMode="auto">
          <a:xfrm>
            <a:off x="3059832" y="4941168"/>
            <a:ext cx="2592413" cy="4434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1        3645H</a:t>
            </a:r>
          </a:p>
        </p:txBody>
      </p:sp>
      <p:sp>
        <p:nvSpPr>
          <p:cNvPr id="31" name="Text Box 63"/>
          <p:cNvSpPr txBox="1">
            <a:spLocks noChangeArrowheads="1"/>
          </p:cNvSpPr>
          <p:nvPr/>
        </p:nvSpPr>
        <p:spPr bwMode="auto">
          <a:xfrm>
            <a:off x="1404280" y="1988840"/>
            <a:ext cx="5688000" cy="108343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①存储器编址单位＝主存编址单位＝程序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编址单位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②</a:t>
            </a:r>
            <a:r>
              <a:rPr lang="en-US" altLang="zh-CN" sz="1800" b="1" u="none" dirty="0">
                <a:latin typeface="宋体" panose="02010600030101010101" pitchFamily="2" charset="-122"/>
              </a:rPr>
              <a:t>CPU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可寻址空间＝主存地址空间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③</a:t>
            </a:r>
            <a:r>
              <a:rPr lang="en-US" altLang="zh-CN" sz="18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数据区容量＝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容量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32" name="Text Box 109"/>
          <p:cNvSpPr txBox="1">
            <a:spLocks noChangeArrowheads="1"/>
          </p:cNvSpPr>
          <p:nvPr/>
        </p:nvSpPr>
        <p:spPr bwMode="auto">
          <a:xfrm>
            <a:off x="3563888" y="4150784"/>
            <a:ext cx="3203483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主存块号，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16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</a:p>
        </p:txBody>
      </p:sp>
      <p:sp>
        <p:nvSpPr>
          <p:cNvPr id="451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2987825" y="652445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8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008" grpId="0" bldLvl="0" animBg="1"/>
      <p:bldP spid="381036" grpId="0"/>
      <p:bldP spid="381037" grpId="0" bldLvl="0" animBg="1"/>
      <p:bldP spid="32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8"/>
          <p:cNvGrpSpPr/>
          <p:nvPr/>
        </p:nvGrpSpPr>
        <p:grpSpPr bwMode="auto">
          <a:xfrm>
            <a:off x="4356980" y="827487"/>
            <a:ext cx="3851275" cy="342900"/>
            <a:chOff x="3152" y="458"/>
            <a:chExt cx="2426" cy="216"/>
          </a:xfrm>
        </p:grpSpPr>
        <p:sp>
          <p:nvSpPr>
            <p:cNvPr id="4" name="Text Box 16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4535" y="458"/>
              <a:ext cx="1043" cy="18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称为</a:t>
              </a: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路组相联</a:t>
              </a:r>
            </a:p>
          </p:txBody>
        </p:sp>
        <p:sp>
          <p:nvSpPr>
            <p:cNvPr id="5" name="Rectangle 205"/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3152" y="481"/>
              <a:ext cx="1134" cy="193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207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>
              <a:off x="4286" y="549"/>
              <a:ext cx="24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arrow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B2C-2EF7-4B73-B5C2-9BF7701487A1}" type="slidenum">
              <a:rPr lang="en-US" altLang="zh-CN"/>
              <a:t>58</a:t>
            </a:fld>
            <a:endParaRPr lang="en-US" altLang="zh-CN" dirty="0"/>
          </a:p>
        </p:txBody>
      </p:sp>
      <p:sp>
        <p:nvSpPr>
          <p:cNvPr id="524510" name="AutoShape 2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AutoShape 227">
            <a:hlinkClick r:id="rId7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740"/>
            <a:ext cx="8784590" cy="40074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组相联映射方式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u="none" dirty="0"/>
              <a:t>Set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associate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mapping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映射规则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将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的行分组，每个组有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n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个行；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主存块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可放到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某个组</a:t>
            </a:r>
            <a:r>
              <a:rPr lang="en-US" altLang="zh-CN" sz="2200" b="1" u="none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任意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mod</a:t>
            </a:r>
            <a:r>
              <a:rPr lang="en-US" altLang="zh-CN" sz="2200" b="1" u="none" dirty="0">
                <a:latin typeface="宋体" panose="02010600030101010101" pitchFamily="2" charset="-122"/>
              </a:rPr>
              <a:t> G/n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地址划分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索引＝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标记＝</a:t>
            </a:r>
          </a:p>
        </p:txBody>
      </p:sp>
      <p:sp>
        <p:nvSpPr>
          <p:cNvPr id="8" name="线形标注 2 7"/>
          <p:cNvSpPr/>
          <p:nvPr>
            <p:custDataLst>
              <p:tags r:id="rId2"/>
            </p:custDataLst>
          </p:nvPr>
        </p:nvSpPr>
        <p:spPr bwMode="auto">
          <a:xfrm>
            <a:off x="2049780" y="1692000"/>
            <a:ext cx="2772000" cy="252000"/>
          </a:xfrm>
          <a:prstGeom prst="borderCallout2">
            <a:avLst>
              <a:gd name="adj1" fmla="val 56301"/>
              <a:gd name="adj2" fmla="val 100358"/>
              <a:gd name="adj3" fmla="val 55940"/>
              <a:gd name="adj4" fmla="val 107281"/>
              <a:gd name="adj5" fmla="val -16773"/>
              <a:gd name="adj6" fmla="val 121227"/>
            </a:avLst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08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块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→组</a:t>
            </a:r>
            <a:r>
              <a:rPr lang="en-US" altLang="zh-CN" sz="1400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4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en-US" altLang="zh-CN" sz="1400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400" u="none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组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→行</a:t>
            </a:r>
            <a:r>
              <a: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400" b="1" u="none" dirty="0">
                <a:latin typeface="宋体" panose="02010600030101010101" pitchFamily="2" charset="-122"/>
              </a:rPr>
              <a:t>全相联</a:t>
            </a:r>
            <a:r>
              <a:rPr lang="en-US" altLang="zh-CN" sz="14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11560" y="2268000"/>
            <a:ext cx="3528344" cy="1008112"/>
            <a:chOff x="1043664" y="3861048"/>
            <a:chExt cx="3528344" cy="1008112"/>
          </a:xfrm>
        </p:grpSpPr>
        <p:sp>
          <p:nvSpPr>
            <p:cNvPr id="10" name="Text Box 246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563888" y="3861048"/>
              <a:ext cx="1008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1" name="Text Box 25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043664" y="3861048"/>
              <a:ext cx="504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</a:p>
          </p:txBody>
        </p:sp>
        <p:sp>
          <p:nvSpPr>
            <p:cNvPr id="12" name="Text Box 25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483888" y="4077072"/>
              <a:ext cx="108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13" name="Text Box 25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547664" y="4077072"/>
              <a:ext cx="93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14" name="Text Box 263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564008" y="4653160"/>
              <a:ext cx="1008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15" name="Text Box 264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763688" y="465316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 组号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26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115688" y="4437112"/>
              <a:ext cx="648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7" name="Line 266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flipH="1">
              <a:off x="3995936" y="4293096"/>
              <a:ext cx="0" cy="36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67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995936" y="4365128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</a:p>
          </p:txBody>
        </p:sp>
        <p:sp>
          <p:nvSpPr>
            <p:cNvPr id="19" name="Text Box 3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547664" y="3861072"/>
              <a:ext cx="201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主存块号   </a:t>
              </a:r>
            </a:p>
          </p:txBody>
        </p:sp>
        <p:sp>
          <p:nvSpPr>
            <p:cNvPr id="20" name="Text Box 264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483768" y="4653136"/>
              <a:ext cx="1080000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组内行号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835590" y="2700000"/>
            <a:ext cx="935990" cy="575310"/>
            <a:chOff x="2778" y="3969"/>
            <a:chExt cx="1474" cy="906"/>
          </a:xfrm>
        </p:grpSpPr>
        <p:sp>
          <p:nvSpPr>
            <p:cNvPr id="22" name="Text Box 267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458" y="4082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Line 266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 flipH="1">
              <a:off x="2778" y="3969"/>
              <a:ext cx="907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6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778" y="4535"/>
              <a:ext cx="34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g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5" name="Text Box 2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77470" y="3420245"/>
            <a:ext cx="28440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群内块号</a:t>
            </a:r>
            <a:r>
              <a:rPr lang="en-US" altLang="zh-CN" sz="1600" b="1" u="none" dirty="0">
                <a:latin typeface="宋体" panose="02010600030101010101" pitchFamily="2" charset="-122"/>
              </a:rPr>
              <a:t>(=log</a:t>
            </a:r>
            <a:r>
              <a:rPr lang="en-US" altLang="zh-CN" sz="1600" b="1" u="none" baseline="-22000" dirty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>
                <a:latin typeface="宋体" panose="02010600030101010101" pitchFamily="2" charset="-122"/>
              </a:rPr>
              <a:t>[G/n]</a:t>
            </a:r>
            <a:r>
              <a:rPr lang="zh-CN" altLang="en-US" sz="16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群号</a:t>
            </a:r>
            <a:r>
              <a:rPr lang="en-US" altLang="zh-CN" sz="1600" b="1" u="none" dirty="0">
                <a:latin typeface="宋体" panose="02010600030101010101" pitchFamily="2" charset="-122"/>
              </a:rPr>
              <a:t>(=log</a:t>
            </a:r>
            <a:r>
              <a:rPr lang="en-US" altLang="zh-CN" sz="16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>
                <a:latin typeface="宋体" panose="02010600030101010101" pitchFamily="2" charset="-122"/>
              </a:rPr>
              <a:t>M-log</a:t>
            </a:r>
            <a:r>
              <a:rPr lang="en-US" altLang="zh-CN" sz="16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>
                <a:latin typeface="宋体" panose="02010600030101010101" pitchFamily="2" charset="-122"/>
              </a:rPr>
              <a:t>[G/n]</a:t>
            </a:r>
            <a:r>
              <a:rPr lang="zh-CN" altLang="en-US" sz="16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6" name="线形标注 2 25"/>
          <p:cNvSpPr/>
          <p:nvPr>
            <p:custDataLst>
              <p:tags r:id="rId4"/>
            </p:custDataLst>
          </p:nvPr>
        </p:nvSpPr>
        <p:spPr bwMode="auto">
          <a:xfrm>
            <a:off x="7236000" y="3861316"/>
            <a:ext cx="1764000" cy="504000"/>
          </a:xfrm>
          <a:prstGeom prst="borderCallout2">
            <a:avLst>
              <a:gd name="adj1" fmla="val -480"/>
              <a:gd name="adj2" fmla="val 67142"/>
              <a:gd name="adj3" fmla="val -34750"/>
              <a:gd name="adj4" fmla="val 67142"/>
              <a:gd name="adj5" fmla="val -48969"/>
              <a:gd name="adj6" fmla="val 44816"/>
            </a:avLst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0800" numCol="1" rtlCol="0" anchor="ctr" anchorCtr="0" compatLnSpc="1"/>
          <a:lstStyle/>
          <a:p>
            <a:pPr algn="ctr"/>
            <a:r>
              <a:rPr lang="zh-CN" altLang="en-US" sz="1400" b="1" u="none" dirty="0">
                <a:latin typeface="+mn-ea"/>
                <a:ea typeface="+mn-ea"/>
              </a:rPr>
              <a:t>群、区不是专用术语</a:t>
            </a:r>
            <a:endParaRPr lang="en-US" altLang="zh-CN" sz="1400" b="1" u="none" dirty="0">
              <a:latin typeface="+mn-ea"/>
              <a:ea typeface="+mn-ea"/>
            </a:endParaRPr>
          </a:p>
          <a:p>
            <a:pPr algn="ctr"/>
            <a:r>
              <a:rPr lang="en-US" altLang="zh-CN" sz="1400" b="1" u="none" dirty="0">
                <a:latin typeface="+mn-ea"/>
                <a:ea typeface="+mn-ea"/>
              </a:rPr>
              <a:t>(</a:t>
            </a:r>
            <a:r>
              <a:rPr lang="zh-CN" altLang="en-US" sz="1400" b="1" u="none" dirty="0">
                <a:latin typeface="+mn-ea"/>
                <a:ea typeface="+mn-ea"/>
              </a:rPr>
              <a:t>为便于描述而定义</a:t>
            </a:r>
            <a:r>
              <a:rPr lang="en-US" altLang="zh-CN" sz="1400" b="1" u="none" dirty="0">
                <a:latin typeface="+mn-ea"/>
                <a:ea typeface="+mn-ea"/>
              </a:rPr>
              <a:t>)</a:t>
            </a:r>
            <a:endParaRPr lang="zh-CN" altLang="en-US" sz="1400" b="1" u="none" dirty="0">
              <a:latin typeface="+mn-ea"/>
              <a:ea typeface="+mn-ea"/>
            </a:endParaRPr>
          </a:p>
        </p:txBody>
      </p:sp>
      <p:sp>
        <p:nvSpPr>
          <p:cNvPr id="27" name="Text Box 7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4501" y="5473065"/>
            <a:ext cx="8341995" cy="75628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解：</a:t>
            </a:r>
            <a:r>
              <a:rPr lang="en-US" altLang="zh-CN" sz="20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Tag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群号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20-log</a:t>
            </a:r>
            <a:r>
              <a:rPr lang="en-US" altLang="zh-CN" sz="20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(16B/1B)-log</a:t>
            </a:r>
            <a:r>
              <a:rPr lang="en-US" altLang="zh-CN" sz="20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((8KB/16B)/4)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20-4-7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endParaRPr lang="en-US" altLang="zh-CN" sz="20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36454H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&lt;001101100,1000101,0100&gt;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，命中时组号＝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45H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06CH</a:t>
            </a:r>
          </a:p>
        </p:txBody>
      </p:sp>
      <p:sp>
        <p:nvSpPr>
          <p:cNvPr id="28" name="Text Box 27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76000" y="1908000"/>
            <a:ext cx="1620000" cy="28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候选行数＝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n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</a:t>
            </a:r>
          </a:p>
        </p:txBody>
      </p:sp>
      <p:grpSp>
        <p:nvGrpSpPr>
          <p:cNvPr id="150" name="组合 149"/>
          <p:cNvGrpSpPr/>
          <p:nvPr/>
        </p:nvGrpSpPr>
        <p:grpSpPr>
          <a:xfrm>
            <a:off x="3924000" y="2232735"/>
            <a:ext cx="2484120" cy="1548130"/>
            <a:chOff x="397" y="4365"/>
            <a:chExt cx="3912" cy="2438"/>
          </a:xfrm>
        </p:grpSpPr>
        <p:sp>
          <p:nvSpPr>
            <p:cNvPr id="131" name="Rectangle 183" descr="宽下对角线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288" y="5953"/>
              <a:ext cx="1020" cy="85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22" name="Rectangle 183" descr="宽下对角线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289" y="4696"/>
              <a:ext cx="1020" cy="85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23" name="AutoShape 185"/>
            <p:cNvSpPr/>
            <p:nvPr>
              <p:custDataLst>
                <p:tags r:id="rId41"/>
              </p:custDataLst>
            </p:nvPr>
          </p:nvSpPr>
          <p:spPr bwMode="auto">
            <a:xfrm>
              <a:off x="1701" y="4762"/>
              <a:ext cx="115" cy="624"/>
            </a:xfrm>
            <a:prstGeom prst="lef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9" name="Text Box 18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64" y="4932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0" name="Text Box 18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97" y="612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spAutoFit/>
            </a:bodyPr>
            <a:lstStyle/>
            <a:p>
              <a:pPr algn="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G/n-1</a:t>
              </a:r>
            </a:p>
          </p:txBody>
        </p:sp>
        <p:sp>
          <p:nvSpPr>
            <p:cNvPr id="31" name="Text Box 19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721" y="4365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2" name="Text Box 196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814" y="5272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n-1</a:t>
              </a:r>
            </a:p>
          </p:txBody>
        </p:sp>
        <p:sp>
          <p:nvSpPr>
            <p:cNvPr id="33" name="Text Box 197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814" y="4705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4" name="AutoShape 185"/>
            <p:cNvSpPr/>
            <p:nvPr>
              <p:custDataLst>
                <p:tags r:id="rId47"/>
              </p:custDataLst>
            </p:nvPr>
          </p:nvSpPr>
          <p:spPr bwMode="auto">
            <a:xfrm>
              <a:off x="1701" y="6009"/>
              <a:ext cx="115" cy="624"/>
            </a:xfrm>
            <a:prstGeom prst="lef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" name="Text Box 196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814" y="652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n-1</a:t>
              </a:r>
            </a:p>
          </p:txBody>
        </p:sp>
        <p:sp>
          <p:nvSpPr>
            <p:cNvPr id="36" name="Text Box 197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814" y="595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7" name="Text Box 190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721" y="4705"/>
              <a:ext cx="1587" cy="209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lstStyle/>
            <a:p>
              <a:pPr marL="0" indent="0" algn="l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缓存块</a:t>
              </a:r>
            </a:p>
            <a:p>
              <a:pPr marL="0" indent="0" algn="l" eaLnBrk="1" latinLnBrk="0" hangingPunct="1">
                <a:lnSpc>
                  <a:spcPct val="8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     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</a:p>
            <a:p>
              <a:pPr marL="0" indent="0" algn="l" eaLnBrk="1" latinLnBrk="0" hangingPunct="1">
                <a:lnSpc>
                  <a:spcPct val="80000"/>
                </a:lnSpc>
              </a:pP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…</a:t>
              </a: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…</a:t>
              </a: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Rectangle 189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721" y="4705"/>
              <a:ext cx="567" cy="209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lstStyle/>
            <a:p>
              <a:pPr marL="0" indent="0" eaLnBrk="1" latinLnBrk="0" hangingPunct="1">
                <a:lnSpc>
                  <a:spcPct val="80000"/>
                </a:lnSpc>
              </a:pPr>
              <a:r>
                <a:rPr lang="zh-CN" altLang="en-US" sz="1400" b="1" u="none"/>
                <a:t>标记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2721" y="4989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2721" y="5272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2721" y="5556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2721" y="5953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箭头连接符 127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2721" y="6236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2721" y="6520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9" name="组合 148"/>
          <p:cNvGrpSpPr/>
          <p:nvPr/>
        </p:nvGrpSpPr>
        <p:grpSpPr>
          <a:xfrm>
            <a:off x="6408000" y="1692735"/>
            <a:ext cx="2628265" cy="2087880"/>
            <a:chOff x="4309" y="3515"/>
            <a:chExt cx="4139" cy="3288"/>
          </a:xfrm>
        </p:grpSpPr>
        <p:cxnSp>
          <p:nvCxnSpPr>
            <p:cNvPr id="39" name="直接箭头连接符 38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4706" y="4025"/>
              <a:ext cx="567" cy="102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9"/>
              </p:custDataLst>
            </p:nvPr>
          </p:nvCxnSpPr>
          <p:spPr bwMode="auto">
            <a:xfrm flipH="1" flipV="1">
              <a:off x="4706" y="5159"/>
              <a:ext cx="567" cy="90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4706" y="4876"/>
              <a:ext cx="567" cy="25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2" name="Text Box 27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273" y="5556"/>
              <a:ext cx="1247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3" name="Text Box 27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73" y="3515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4" name="AutoShape 297"/>
            <p:cNvSpPr/>
            <p:nvPr>
              <p:custDataLst>
                <p:tags r:id="rId13"/>
              </p:custDataLst>
            </p:nvPr>
          </p:nvSpPr>
          <p:spPr bwMode="auto">
            <a:xfrm>
              <a:off x="6520" y="5953"/>
              <a:ext cx="113" cy="850"/>
            </a:xfrm>
            <a:prstGeom prst="righ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29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577" y="6179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M/(G/n)-1</a:t>
              </a:r>
            </a:p>
          </p:txBody>
        </p:sp>
        <p:sp>
          <p:nvSpPr>
            <p:cNvPr id="46" name="AutoShape 274"/>
            <p:cNvSpPr/>
            <p:nvPr>
              <p:custDataLst>
                <p:tags r:id="rId15"/>
              </p:custDataLst>
            </p:nvPr>
          </p:nvSpPr>
          <p:spPr bwMode="auto">
            <a:xfrm>
              <a:off x="6520" y="3841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Text Box 27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577" y="408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8" name="Text Box 29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273" y="3855"/>
              <a:ext cx="1247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0" name="直接箭头连接符 4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273" y="4138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272" y="4422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AutoShape 274"/>
            <p:cNvSpPr/>
            <p:nvPr>
              <p:custDataLst>
                <p:tags r:id="rId20"/>
              </p:custDataLst>
            </p:nvPr>
          </p:nvSpPr>
          <p:spPr bwMode="auto">
            <a:xfrm>
              <a:off x="6520" y="4705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27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577" y="4946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6" name="Text Box 29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272" y="4705"/>
              <a:ext cx="1247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" name="直接箭头连接符 5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273" y="5002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5272" y="5286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Text Box 29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273" y="5953"/>
              <a:ext cx="1247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lstStyle/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4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273" y="6236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272" y="6520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AutoShape 95"/>
            <p:cNvSpPr/>
            <p:nvPr>
              <p:custDataLst>
                <p:tags r:id="rId28"/>
              </p:custDataLst>
            </p:nvPr>
          </p:nvSpPr>
          <p:spPr bwMode="auto">
            <a:xfrm>
              <a:off x="4592" y="4762"/>
              <a:ext cx="115" cy="737"/>
            </a:xfrm>
            <a:prstGeom prst="rightBrace">
              <a:avLst>
                <a:gd name="adj1" fmla="val 42651"/>
                <a:gd name="adj2" fmla="val 45541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32" name="直接箭头连接符 131"/>
            <p:cNvCxnSpPr/>
            <p:nvPr>
              <p:custDataLst>
                <p:tags r:id="rId29"/>
              </p:custDataLst>
            </p:nvPr>
          </p:nvCxnSpPr>
          <p:spPr bwMode="auto">
            <a:xfrm flipH="1" flipV="1">
              <a:off x="4309" y="4819"/>
              <a:ext cx="283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4309" y="5046"/>
              <a:ext cx="283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309" y="5046"/>
              <a:ext cx="283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4309" y="6066"/>
              <a:ext cx="283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309" y="6293"/>
              <a:ext cx="283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309" y="6293"/>
              <a:ext cx="283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1" name="AutoShape 95"/>
            <p:cNvSpPr/>
            <p:nvPr>
              <p:custDataLst>
                <p:tags r:id="rId35"/>
              </p:custDataLst>
            </p:nvPr>
          </p:nvSpPr>
          <p:spPr bwMode="auto">
            <a:xfrm>
              <a:off x="4592" y="6009"/>
              <a:ext cx="115" cy="737"/>
            </a:xfrm>
            <a:prstGeom prst="rightBrace">
              <a:avLst>
                <a:gd name="adj1" fmla="val 42651"/>
                <a:gd name="adj2" fmla="val 45541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6" name="直接箭头连接符 145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706" y="4592"/>
              <a:ext cx="567" cy="164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4706" y="6406"/>
              <a:ext cx="56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4706" y="5442"/>
              <a:ext cx="567" cy="93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52" name="Text Box 16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9512" y="4428980"/>
            <a:ext cx="8784590" cy="11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3</a:t>
            </a:r>
            <a:r>
              <a:rPr lang="zh-CN" altLang="en-US" sz="2000" b="1" u="none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zh-CN" altLang="en-US" sz="20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同例</a:t>
            </a:r>
            <a:r>
              <a:rPr lang="en-US" altLang="zh-CN" sz="2000" b="1" u="none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1(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主存按字节编址、地址为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20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位，块大小为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容量为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8KB)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。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路组相联映射时，标记为几位？访存地址为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时，命中时的组号、目标行的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值？</a:t>
            </a:r>
            <a:endParaRPr lang="zh-CN" altLang="en-US" sz="2000" b="1" u="none" dirty="0">
              <a:latin typeface="宋体" panose="02010600030101010101" pitchFamily="2" charset="-122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6" grpId="0" bldLvl="0" animBg="1"/>
      <p:bldP spid="28" grpId="0" bldLvl="0" animBg="1"/>
      <p:bldP spid="52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5CE88-B27C-49E0-BA91-0D8234A555AD}" type="slidenum">
              <a:rPr lang="en-US" altLang="zh-CN"/>
              <a:t>59</a:t>
            </a:fld>
            <a:endParaRPr lang="en-US" altLang="zh-CN" dirty="0"/>
          </a:p>
        </p:txBody>
      </p:sp>
      <p:sp>
        <p:nvSpPr>
          <p:cNvPr id="376072" name="AutoShape 26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330190" cy="5428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36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地址变换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候选行有</a:t>
            </a:r>
            <a:r>
              <a:rPr lang="en-US" altLang="zh-CN" sz="1800" b="1" u="none" dirty="0">
                <a:latin typeface="宋体" panose="02010600030101010101" pitchFamily="2" charset="-122"/>
              </a:rPr>
              <a:t>n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[=</a:t>
            </a:r>
            <a:r>
              <a:rPr lang="zh-CN" altLang="en-US" sz="1800" b="1" u="none" dirty="0">
                <a:latin typeface="宋体" panose="02010600030101010101" pitchFamily="2" charset="-122"/>
              </a:rPr>
              <a:t>组内行数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])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查找方法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查找处理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9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映射性能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</p:txBody>
      </p:sp>
      <p:sp>
        <p:nvSpPr>
          <p:cNvPr id="4" name="Text Box 37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6000" y="5301208"/>
            <a:ext cx="6545580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324225" indent="-3324225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冲突率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较低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，地址变换速度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较快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、成本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较低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</a:p>
          <a:p>
            <a:pPr marL="3324225" indent="-3324225">
              <a:lnSpc>
                <a:spcPct val="100000"/>
              </a:lnSpc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通常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≤8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，命中率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≈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全相联方式</a:t>
            </a: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905" y="764456"/>
            <a:ext cx="679069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</a:rPr>
              <a:t>T</a:t>
            </a:r>
            <a:r>
              <a:rPr lang="zh-CN" altLang="en-US" sz="1800" b="1" u="none" baseline="-16000" dirty="0">
                <a:latin typeface="宋体" panose="02010600030101010101" pitchFamily="2" charset="-122"/>
              </a:rPr>
              <a:t>比较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u="none" dirty="0" err="1"/>
              <a:t>∆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，成本尚好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命中条件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某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候选行的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＝主存地址中群号；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有空闲行条件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某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候选行的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空闲行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＝该候选行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827663" y="2636912"/>
            <a:ext cx="3176385" cy="1008088"/>
            <a:chOff x="1979711" y="3357016"/>
            <a:chExt cx="3176385" cy="1008088"/>
          </a:xfrm>
        </p:grpSpPr>
        <p:cxnSp>
          <p:nvCxnSpPr>
            <p:cNvPr id="7" name="直接箭头连接符 158"/>
            <p:cNvCxnSpPr/>
            <p:nvPr>
              <p:custDataLst>
                <p:tags r:id="rId87"/>
              </p:custDataLst>
            </p:nvPr>
          </p:nvCxnSpPr>
          <p:spPr bwMode="auto">
            <a:xfrm rot="16200000" flipH="1">
              <a:off x="1745711" y="3879024"/>
              <a:ext cx="612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309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2190151" y="4149104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/>
            </a:p>
          </p:txBody>
        </p:sp>
        <p:sp>
          <p:nvSpPr>
            <p:cNvPr id="9" name="AutoShape 178"/>
            <p:cNvSpPr/>
            <p:nvPr>
              <p:custDataLst>
                <p:tags r:id="rId89"/>
              </p:custDataLst>
            </p:nvPr>
          </p:nvSpPr>
          <p:spPr bwMode="auto">
            <a:xfrm>
              <a:off x="2123728" y="4149104"/>
              <a:ext cx="72008" cy="216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21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 flipH="1">
              <a:off x="1988096" y="3645048"/>
              <a:ext cx="3168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21"/>
            <p:cNvSpPr>
              <a:spLocks noChangeShapeType="1"/>
            </p:cNvSpPr>
            <p:nvPr>
              <p:custDataLst>
                <p:tags r:id="rId91"/>
              </p:custDataLst>
            </p:nvPr>
          </p:nvSpPr>
          <p:spPr bwMode="auto">
            <a:xfrm flipH="1">
              <a:off x="5148064" y="3357016"/>
              <a:ext cx="0" cy="288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051768" y="2996952"/>
            <a:ext cx="5328544" cy="864965"/>
            <a:chOff x="2123776" y="1700808"/>
            <a:chExt cx="5328544" cy="864965"/>
          </a:xfrm>
        </p:grpSpPr>
        <p:sp>
          <p:nvSpPr>
            <p:cNvPr id="13" name="Text Box 85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555816" y="1915939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93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915816" y="1915939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94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635896" y="1915939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10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860032" y="191683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02" name="Text Box 324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420120" y="1700832"/>
              <a:ext cx="4318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4" name="Text Box 32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084232" y="1700808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i="1" u="none" dirty="0">
                  <a:latin typeface="+mn-lt"/>
                </a:rPr>
                <a:t>n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15" name="Line 327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>
              <a:off x="2559753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328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4716016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329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>
              <a:off x="3888016" y="1807676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331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H="1">
              <a:off x="5292080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32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>
              <a:off x="7452320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333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>
              <a:off x="6732240" y="1807675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334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H="1">
              <a:off x="5292080" y="1807675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334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flipH="1">
              <a:off x="2555776" y="1808816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Text Box 277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2123776" y="2132856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224" name="Text Box 85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2555776" y="2132856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5" name="Text Box 93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915776" y="2132856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6" name="Text Box 94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3635856" y="2132856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7" name="Text Box 110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4859992" y="2133749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28" name="Text Box 85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555776" y="2348880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9" name="Text Box 93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2915776" y="2348880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0" name="Text Box 94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3635856" y="2348880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1" name="Text Box 110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4859992" y="2349773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32" name="Text Box 85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5292240" y="1916832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3" name="Text Box 93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5652240" y="1916832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4" name="Text Box 94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6372320" y="1916832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5" name="Text Box 85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5292200" y="2133749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6" name="Text Box 93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5652200" y="2133749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7" name="Text Box 94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6372280" y="2133749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8" name="Text Box 85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292200" y="2349773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9" name="Text Box 93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652200" y="2349773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0" name="Text Box 94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372280" y="2349773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1691680" y="2636912"/>
            <a:ext cx="5292512" cy="1872208"/>
            <a:chOff x="1763688" y="1412776"/>
            <a:chExt cx="5292512" cy="1872208"/>
          </a:xfrm>
        </p:grpSpPr>
        <p:sp>
          <p:nvSpPr>
            <p:cNvPr id="242" name="Text Box 35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699896" y="2780928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17" name="Line 360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H="1">
              <a:off x="3491880" y="2348912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61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2807415" y="2349016"/>
              <a:ext cx="0" cy="43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46" name="直接箭头连接符 69"/>
            <p:cNvCxnSpPr/>
            <p:nvPr>
              <p:custDataLst>
                <p:tags r:id="rId39"/>
              </p:custDataLst>
            </p:nvPr>
          </p:nvCxnSpPr>
          <p:spPr bwMode="auto">
            <a:xfrm>
              <a:off x="3635952" y="285293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7" name="Line 121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flipH="1">
              <a:off x="1763688" y="3284984"/>
              <a:ext cx="453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121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flipH="1" flipV="1">
              <a:off x="1763688" y="1556792"/>
              <a:ext cx="0" cy="172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121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H="1">
              <a:off x="4139952" y="1412776"/>
              <a:ext cx="0" cy="14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12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flipH="1">
              <a:off x="1763688" y="1556792"/>
              <a:ext cx="237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360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flipH="1" flipV="1">
              <a:off x="3491880" y="2996952"/>
              <a:ext cx="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360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H="1" flipV="1">
              <a:off x="2807984" y="29969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Text Box 27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447944" y="3032976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54" name="Line 360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V="1">
              <a:off x="2591960" y="3140968"/>
              <a:ext cx="29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436096" y="278089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/>
                <a:t>比较器</a:t>
              </a:r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>
              <a:off x="6264112" y="2348880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5579647" y="2348984"/>
              <a:ext cx="0" cy="43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360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H="1" flipV="1">
              <a:off x="6300192" y="2996920"/>
              <a:ext cx="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360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H="1" flipV="1">
              <a:off x="5580216" y="299692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60" name="直接箭头连接符 69"/>
            <p:cNvCxnSpPr/>
            <p:nvPr>
              <p:custDataLst>
                <p:tags r:id="rId53"/>
              </p:custDataLst>
            </p:nvPr>
          </p:nvCxnSpPr>
          <p:spPr bwMode="auto">
            <a:xfrm>
              <a:off x="6372200" y="285293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1" name="Text Box 11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860032" y="278095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211976" y="2638177"/>
            <a:ext cx="4464480" cy="2447007"/>
            <a:chOff x="4283984" y="1414041"/>
            <a:chExt cx="4464480" cy="2447007"/>
          </a:xfrm>
        </p:grpSpPr>
        <p:sp>
          <p:nvSpPr>
            <p:cNvPr id="20" name="Line 12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4355824" y="2637024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等腰三角形 20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4283984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2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4356072" y="3572968"/>
              <a:ext cx="2952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30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308304" y="3357048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" name="Line 311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7308319" y="3483331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1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7308319" y="372009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12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732240" y="3356992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" name="Text Box 13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452416" y="350095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8" name="Line 121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7452424" y="342894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2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7452392" y="378898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329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244464" y="35008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31" name="Line 154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7848448" y="1558057"/>
              <a:ext cx="0" cy="180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21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7956392" y="3608992"/>
              <a:ext cx="288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2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7092128" y="2637024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等腰三角形 33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7020288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121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6228280" y="1414041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21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6228184" y="1558057"/>
              <a:ext cx="162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203848" y="2204864"/>
            <a:ext cx="3498541" cy="648072"/>
            <a:chOff x="3305707" y="1844824"/>
            <a:chExt cx="3498541" cy="648072"/>
          </a:xfrm>
        </p:grpSpPr>
        <p:sp>
          <p:nvSpPr>
            <p:cNvPr id="38" name="Text Box 38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724248" y="1844848"/>
              <a:ext cx="1080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39" name="Text Box 38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305707" y="1844848"/>
              <a:ext cx="546151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40" name="Text Box 38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571904" y="2060824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41" name="Text Box 38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852184" y="2060824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42" name="Text Box 25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851920" y="1844824"/>
              <a:ext cx="187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25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148064" y="2276896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索引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25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169803" y="2276872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62" name="组合 261"/>
          <p:cNvGrpSpPr/>
          <p:nvPr/>
        </p:nvGrpSpPr>
        <p:grpSpPr>
          <a:xfrm>
            <a:off x="3635896" y="4077072"/>
            <a:ext cx="2808312" cy="1224136"/>
            <a:chOff x="3635896" y="3645024"/>
            <a:chExt cx="2808312" cy="1224136"/>
          </a:xfrm>
        </p:grpSpPr>
        <p:cxnSp>
          <p:nvCxnSpPr>
            <p:cNvPr id="45" name="直接箭头连接符 157"/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3707901" y="3645104"/>
              <a:ext cx="3" cy="72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46" name="Text Box 32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35896" y="4365104"/>
              <a:ext cx="504056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7" name="Line 12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067944" y="4221088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1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779912" y="4149080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9" name="Line 12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4068152" y="4221040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2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6444208" y="3645024"/>
              <a:ext cx="0" cy="57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2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851920" y="4581128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32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923928" y="4653160"/>
              <a:ext cx="100811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命中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缺失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67" name="Text Box 351"/>
          <p:cNvSpPr txBox="1">
            <a:spLocks noChangeArrowheads="1"/>
          </p:cNvSpPr>
          <p:nvPr/>
        </p:nvSpPr>
        <p:spPr bwMode="auto">
          <a:xfrm>
            <a:off x="682432" y="3038597"/>
            <a:ext cx="8209036" cy="23477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u="none" dirty="0">
                <a:latin typeface="宋体" panose="02010600030101010101" pitchFamily="2" charset="-122"/>
              </a:rPr>
              <a:t>⑵</a:t>
            </a:r>
            <a:r>
              <a:rPr lang="zh-CN" altLang="en-US" sz="2000" b="1" u="none" dirty="0">
                <a:latin typeface="宋体" panose="02010600030101010101" pitchFamily="2" charset="-122"/>
              </a:rPr>
              <a:t>数据放在连续的  </a:t>
            </a:r>
            <a:r>
              <a:rPr lang="en-US" altLang="zh-CN" sz="2000" b="1" u="none" dirty="0">
                <a:latin typeface="宋体" panose="02010600030101010101" pitchFamily="2" charset="-122"/>
                <a:sym typeface="Symbol" panose="05050102010706020507"/>
              </a:rPr>
              <a:t>        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个主存块中，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块调入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时，放在 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～</a:t>
            </a:r>
            <a:r>
              <a:rPr lang="en-US" altLang="zh-CN" sz="2000" b="1" u="none" dirty="0">
                <a:latin typeface="宋体" panose="02010600030101010101" pitchFamily="2" charset="-122"/>
              </a:rPr>
              <a:t> </a:t>
            </a:r>
            <a:r>
              <a:rPr lang="zh-CN" altLang="en-US" sz="2000" b="1" u="none" dirty="0">
                <a:latin typeface="宋体" panose="02010600030101010101" pitchFamily="2" charset="-122"/>
              </a:rPr>
              <a:t> 组中，有  次冲突；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访问时不命中的特征是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命中率＝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⑶数据放在 </a:t>
            </a:r>
            <a:r>
              <a:rPr lang="en-US" altLang="zh-CN" sz="2000" b="1" u="none" dirty="0">
                <a:latin typeface="宋体" panose="02010600030101010101" pitchFamily="2" charset="-122"/>
                <a:sym typeface="Symbol" panose="05050102010706020507"/>
              </a:rPr>
              <a:t>          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个块中，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H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    ⑷</a:t>
            </a: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>
                <a:latin typeface="宋体" panose="02010600030101010101" pitchFamily="2" charset="-122"/>
              </a:rPr>
              <a:t>A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98BD-1638-410F-95F0-4036138D9928}" type="slidenum">
              <a:rPr lang="en-US" altLang="zh-CN"/>
              <a:t>60</a:t>
            </a:fld>
            <a:endParaRPr lang="en-US" altLang="zh-CN"/>
          </a:p>
        </p:txBody>
      </p:sp>
      <p:sp>
        <p:nvSpPr>
          <p:cNvPr id="214329" name="Text Box 313"/>
          <p:cNvSpPr txBox="1">
            <a:spLocks noChangeArrowheads="1"/>
          </p:cNvSpPr>
          <p:nvPr/>
        </p:nvSpPr>
        <p:spPr bwMode="auto">
          <a:xfrm>
            <a:off x="360480" y="332656"/>
            <a:ext cx="8532000" cy="1816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主存按字节编址、地址空间为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24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位；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容量为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8KB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，块大小为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32B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，采用</a:t>
            </a:r>
            <a:r>
              <a:rPr lang="en-US" altLang="zh-CN" sz="2000" b="1" u="none" dirty="0">
                <a:latin typeface="宋体" panose="02010600030101010101" pitchFamily="2" charset="-122"/>
              </a:rPr>
              <a:t>4</a:t>
            </a:r>
            <a:r>
              <a:rPr lang="zh-CN" altLang="en-US" sz="2000" b="1" u="none" dirty="0">
                <a:latin typeface="宋体" panose="02010600030101010101" pitchFamily="2" charset="-122"/>
              </a:rPr>
              <a:t>路组相联映射方式。⑴主存地址如何划分？ ⑵若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的初态为空，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从</a:t>
            </a:r>
            <a:r>
              <a:rPr lang="en-US" altLang="zh-CN" sz="2000" b="1" u="none" dirty="0">
                <a:latin typeface="宋体" panose="02010600030101010101" pitchFamily="2" charset="-122"/>
              </a:rPr>
              <a:t>0#</a:t>
            </a:r>
            <a:r>
              <a:rPr lang="zh-CN" altLang="en-US" sz="2000" b="1" u="none" dirty="0">
                <a:latin typeface="宋体" panose="02010600030101010101" pitchFamily="2" charset="-122"/>
              </a:rPr>
              <a:t>单元起连续读出</a:t>
            </a:r>
            <a:r>
              <a:rPr lang="en-US" altLang="zh-CN" sz="2000" b="1" u="none" dirty="0">
                <a:latin typeface="宋体" panose="02010600030101010101" pitchFamily="2" charset="-122"/>
              </a:rPr>
              <a:t>100B</a:t>
            </a:r>
            <a:r>
              <a:rPr lang="zh-CN" altLang="en-US" sz="2000" b="1" u="none" dirty="0">
                <a:latin typeface="宋体" panose="02010600030101010101" pitchFamily="2" charset="-122"/>
              </a:rPr>
              <a:t>数据</a:t>
            </a:r>
            <a:r>
              <a:rPr lang="en-US" altLang="zh-CN" sz="2000" b="1" u="none" dirty="0">
                <a:latin typeface="宋体" panose="02010600030101010101" pitchFamily="2" charset="-122"/>
              </a:rPr>
              <a:t>(1B/</a:t>
            </a:r>
            <a:r>
              <a:rPr lang="zh-CN" altLang="en-US" sz="2000" b="1" u="none" dirty="0">
                <a:latin typeface="宋体" panose="02010600030101010101" pitchFamily="2" charset="-122"/>
              </a:rPr>
              <a:t>次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命中率是多少？ ⑶若⑵中</a:t>
            </a:r>
            <a:r>
              <a:rPr lang="en-US" altLang="zh-CN" sz="2000" b="1" u="none" dirty="0">
                <a:latin typeface="宋体" panose="02010600030101010101" pitchFamily="2" charset="-122"/>
              </a:rPr>
              <a:t>100B</a:t>
            </a:r>
            <a:r>
              <a:rPr lang="zh-CN" altLang="en-US" sz="2000" b="1" u="none" dirty="0">
                <a:latin typeface="宋体" panose="02010600030101010101" pitchFamily="2" charset="-122"/>
              </a:rPr>
              <a:t>数据从</a:t>
            </a:r>
            <a:r>
              <a:rPr lang="en-US" altLang="zh-CN" sz="2000" b="1" u="none" dirty="0">
                <a:latin typeface="宋体" panose="02010600030101010101" pitchFamily="2" charset="-122"/>
              </a:rPr>
              <a:t>62#</a:t>
            </a:r>
            <a:r>
              <a:rPr lang="zh-CN" altLang="en-US" sz="2000" b="1" u="none" dirty="0">
                <a:latin typeface="宋体" panose="02010600030101010101" pitchFamily="2" charset="-122"/>
              </a:rPr>
              <a:t>单元起存储，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命中率是多少？ ⑷若⑵中</a:t>
            </a: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zh-CN" altLang="en-US" sz="2000" b="1" u="none" baseline="-18000" dirty="0">
                <a:latin typeface="宋体" panose="02010600030101010101" pitchFamily="2" charset="-122"/>
              </a:rPr>
              <a:t>命中</a:t>
            </a:r>
            <a:r>
              <a:rPr lang="en-US" altLang="zh-CN" sz="2000" b="1" u="none" dirty="0">
                <a:latin typeface="宋体" panose="02010600030101010101" pitchFamily="2" charset="-122"/>
              </a:rPr>
              <a:t>=20ns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zh-CN" altLang="en-US" sz="2000" b="1" u="none" baseline="-18000" dirty="0">
                <a:latin typeface="宋体" panose="02010600030101010101" pitchFamily="2" charset="-122"/>
              </a:rPr>
              <a:t>缺失</a:t>
            </a:r>
            <a:r>
              <a:rPr lang="en-US" altLang="zh-CN" sz="2000" b="1" u="none" dirty="0">
                <a:latin typeface="宋体" panose="02010600030101010101" pitchFamily="2" charset="-122"/>
              </a:rPr>
              <a:t>=200ns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，平均访问时间是多少？</a:t>
            </a:r>
          </a:p>
        </p:txBody>
      </p:sp>
      <p:sp>
        <p:nvSpPr>
          <p:cNvPr id="214330" name="Text Box 314"/>
          <p:cNvSpPr txBox="1">
            <a:spLocks noChangeArrowheads="1"/>
          </p:cNvSpPr>
          <p:nvPr/>
        </p:nvSpPr>
        <p:spPr bwMode="auto">
          <a:xfrm>
            <a:off x="179388" y="2132856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⑴主存地址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(24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划分如下： 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块内地址为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5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214383" name="Group 367"/>
          <p:cNvGrpSpPr/>
          <p:nvPr/>
        </p:nvGrpSpPr>
        <p:grpSpPr bwMode="auto">
          <a:xfrm>
            <a:off x="2555778" y="2564920"/>
            <a:ext cx="2303463" cy="287632"/>
            <a:chOff x="3334" y="2372"/>
            <a:chExt cx="1451" cy="261"/>
          </a:xfrm>
        </p:grpSpPr>
        <p:sp>
          <p:nvSpPr>
            <p:cNvPr id="214337" name="Line 321"/>
            <p:cNvSpPr>
              <a:spLocks noChangeShapeType="1"/>
            </p:cNvSpPr>
            <p:nvPr/>
          </p:nvSpPr>
          <p:spPr bwMode="auto">
            <a:xfrm flipV="1">
              <a:off x="3833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0" name="Line 324"/>
            <p:cNvSpPr>
              <a:spLocks noChangeShapeType="1"/>
            </p:cNvSpPr>
            <p:nvPr/>
          </p:nvSpPr>
          <p:spPr bwMode="auto">
            <a:xfrm>
              <a:off x="3334" y="2437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1" name="Text Box 325"/>
            <p:cNvSpPr txBox="1">
              <a:spLocks noChangeArrowheads="1"/>
            </p:cNvSpPr>
            <p:nvPr/>
          </p:nvSpPr>
          <p:spPr bwMode="auto">
            <a:xfrm>
              <a:off x="3515" y="2372"/>
              <a:ext cx="318" cy="1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13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214342" name="Line 326"/>
            <p:cNvSpPr>
              <a:spLocks noChangeShapeType="1"/>
            </p:cNvSpPr>
            <p:nvPr/>
          </p:nvSpPr>
          <p:spPr bwMode="auto">
            <a:xfrm flipH="1">
              <a:off x="3334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4" name="Line 328"/>
            <p:cNvSpPr>
              <a:spLocks noChangeShapeType="1"/>
            </p:cNvSpPr>
            <p:nvPr/>
          </p:nvSpPr>
          <p:spPr bwMode="auto">
            <a:xfrm>
              <a:off x="4014" y="2437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5" name="Line 329"/>
            <p:cNvSpPr>
              <a:spLocks noChangeShapeType="1"/>
            </p:cNvSpPr>
            <p:nvPr/>
          </p:nvSpPr>
          <p:spPr bwMode="auto">
            <a:xfrm flipV="1">
              <a:off x="4536" y="2478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6" name="Text Box 330"/>
            <p:cNvSpPr txBox="1">
              <a:spLocks noChangeArrowheads="1"/>
            </p:cNvSpPr>
            <p:nvPr/>
          </p:nvSpPr>
          <p:spPr bwMode="auto">
            <a:xfrm>
              <a:off x="4287" y="2372"/>
              <a:ext cx="272" cy="1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6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214347" name="Line 331"/>
            <p:cNvSpPr>
              <a:spLocks noChangeShapeType="1"/>
            </p:cNvSpPr>
            <p:nvPr/>
          </p:nvSpPr>
          <p:spPr bwMode="auto">
            <a:xfrm flipH="1">
              <a:off x="4014" y="2478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</p:grpSp>
      <p:grpSp>
        <p:nvGrpSpPr>
          <p:cNvPr id="214382" name="Group 366"/>
          <p:cNvGrpSpPr/>
          <p:nvPr/>
        </p:nvGrpSpPr>
        <p:grpSpPr bwMode="auto">
          <a:xfrm>
            <a:off x="2555776" y="2780803"/>
            <a:ext cx="3311525" cy="215900"/>
            <a:chOff x="1837" y="2523"/>
            <a:chExt cx="2086" cy="136"/>
          </a:xfrm>
        </p:grpSpPr>
        <p:sp>
          <p:nvSpPr>
            <p:cNvPr id="214332" name="Text Box 316"/>
            <p:cNvSpPr txBox="1">
              <a:spLocks noChangeArrowheads="1"/>
            </p:cNvSpPr>
            <p:nvPr/>
          </p:nvSpPr>
          <p:spPr bwMode="auto">
            <a:xfrm>
              <a:off x="3288" y="2523"/>
              <a:ext cx="635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</a:p>
          </p:txBody>
        </p:sp>
        <p:sp>
          <p:nvSpPr>
            <p:cNvPr id="214339" name="Text Box 323"/>
            <p:cNvSpPr txBox="1">
              <a:spLocks noChangeArrowheads="1"/>
            </p:cNvSpPr>
            <p:nvPr/>
          </p:nvSpPr>
          <p:spPr bwMode="auto">
            <a:xfrm>
              <a:off x="1837" y="2523"/>
              <a:ext cx="680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群号</a:t>
              </a:r>
            </a:p>
          </p:txBody>
        </p:sp>
        <p:sp>
          <p:nvSpPr>
            <p:cNvPr id="214343" name="Text Box 327"/>
            <p:cNvSpPr txBox="1">
              <a:spLocks noChangeArrowheads="1"/>
            </p:cNvSpPr>
            <p:nvPr/>
          </p:nvSpPr>
          <p:spPr bwMode="auto">
            <a:xfrm>
              <a:off x="2517" y="2523"/>
              <a:ext cx="771" cy="13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群内块号</a:t>
              </a:r>
            </a:p>
          </p:txBody>
        </p:sp>
      </p:grpSp>
      <p:sp>
        <p:nvSpPr>
          <p:cNvPr id="214368" name="Text Box 352"/>
          <p:cNvSpPr txBox="1">
            <a:spLocks noChangeArrowheads="1"/>
          </p:cNvSpPr>
          <p:nvPr/>
        </p:nvSpPr>
        <p:spPr bwMode="auto">
          <a:xfrm>
            <a:off x="1978233" y="4581128"/>
            <a:ext cx="5906135" cy="7917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Symbol" panose="05050102010706020507"/>
              </a:rPr>
              <a:t>     </a:t>
            </a:r>
            <a:r>
              <a:rPr lang="zh-CN" altLang="en-US" sz="2000" b="1" u="none" dirty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u="none" dirty="0">
                <a:latin typeface="宋体" panose="02010600030101010101" pitchFamily="2" charset="-122"/>
                <a:sym typeface="Symbol" panose="05050102010706020507"/>
              </a:rPr>
              <a:t>(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100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62</a:t>
            </a:r>
            <a:r>
              <a:rPr lang="en-US" altLang="zh-CN" sz="20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%32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)/32</a:t>
            </a:r>
            <a:r>
              <a:rPr lang="zh-CN" altLang="en-US" sz="2000" b="1" u="none" dirty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5            95%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zh-CN" altLang="en-US" sz="2000" b="1" u="none" baseline="-18000" dirty="0">
                <a:latin typeface="宋体" panose="02010600030101010101" pitchFamily="2" charset="-122"/>
              </a:rPr>
              <a:t>命中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＋</a:t>
            </a:r>
            <a:r>
              <a:rPr lang="en-US" altLang="zh-CN" sz="2000" b="1" u="none" dirty="0">
                <a:latin typeface="宋体" panose="02010600030101010101" pitchFamily="2" charset="-122"/>
              </a:rPr>
              <a:t>(1-H)T</a:t>
            </a:r>
            <a:r>
              <a:rPr lang="zh-CN" altLang="en-US" sz="2000" b="1" u="none" baseline="-18000" dirty="0">
                <a:latin typeface="宋体" panose="02010600030101010101" pitchFamily="2" charset="-122"/>
              </a:rPr>
              <a:t>缺失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20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＋</a:t>
            </a:r>
            <a:r>
              <a:rPr lang="en-US" altLang="zh-CN" sz="2000" b="1" u="none" dirty="0">
                <a:latin typeface="宋体" panose="02010600030101010101" pitchFamily="2" charset="-122"/>
              </a:rPr>
              <a:t>0.04*200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28ns</a:t>
            </a:r>
          </a:p>
        </p:txBody>
      </p:sp>
      <p:sp>
        <p:nvSpPr>
          <p:cNvPr id="214376" name="Text Box 360"/>
          <p:cNvSpPr txBox="1">
            <a:spLocks noChangeArrowheads="1"/>
          </p:cNvSpPr>
          <p:nvPr/>
        </p:nvSpPr>
        <p:spPr bwMode="auto">
          <a:xfrm>
            <a:off x="3203848" y="3038597"/>
            <a:ext cx="4824000" cy="1578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(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100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%32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)/32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4</a:t>
            </a: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0#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3#         0</a:t>
            </a: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每个块的块内地址＝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时缺失</a:t>
            </a: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(100-4)/100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96%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100392" y="3519828"/>
            <a:ext cx="576064" cy="1819232"/>
            <a:chOff x="8244408" y="3625991"/>
            <a:chExt cx="576064" cy="1819232"/>
          </a:xfrm>
        </p:grpSpPr>
        <p:sp>
          <p:nvSpPr>
            <p:cNvPr id="40" name="Text Box 316"/>
            <p:cNvSpPr txBox="1">
              <a:spLocks noChangeArrowheads="1"/>
            </p:cNvSpPr>
            <p:nvPr/>
          </p:nvSpPr>
          <p:spPr bwMode="auto">
            <a:xfrm>
              <a:off x="8532440" y="3645024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316"/>
            <p:cNvSpPr txBox="1">
              <a:spLocks noChangeArrowheads="1"/>
            </p:cNvSpPr>
            <p:nvPr/>
          </p:nvSpPr>
          <p:spPr bwMode="auto">
            <a:xfrm>
              <a:off x="8532440" y="4941168"/>
              <a:ext cx="288032" cy="432048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316"/>
            <p:cNvSpPr txBox="1">
              <a:spLocks noChangeArrowheads="1"/>
            </p:cNvSpPr>
            <p:nvPr/>
          </p:nvSpPr>
          <p:spPr bwMode="auto">
            <a:xfrm>
              <a:off x="8532440" y="4085580"/>
              <a:ext cx="288032" cy="864096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Line 317"/>
            <p:cNvSpPr>
              <a:spLocks noChangeShapeType="1"/>
            </p:cNvSpPr>
            <p:nvPr/>
          </p:nvSpPr>
          <p:spPr bwMode="auto">
            <a:xfrm>
              <a:off x="8532192" y="3625991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7"/>
            <p:cNvSpPr>
              <a:spLocks noChangeShapeType="1"/>
            </p:cNvSpPr>
            <p:nvPr/>
          </p:nvSpPr>
          <p:spPr bwMode="auto">
            <a:xfrm>
              <a:off x="8532440" y="408558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7"/>
            <p:cNvSpPr>
              <a:spLocks noChangeShapeType="1"/>
            </p:cNvSpPr>
            <p:nvPr/>
          </p:nvSpPr>
          <p:spPr bwMode="auto">
            <a:xfrm>
              <a:off x="8532440" y="429309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17"/>
            <p:cNvSpPr>
              <a:spLocks noChangeShapeType="1"/>
            </p:cNvSpPr>
            <p:nvPr/>
          </p:nvSpPr>
          <p:spPr bwMode="auto">
            <a:xfrm>
              <a:off x="8532440" y="494967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17"/>
            <p:cNvSpPr>
              <a:spLocks noChangeShapeType="1"/>
            </p:cNvSpPr>
            <p:nvPr/>
          </p:nvSpPr>
          <p:spPr bwMode="auto">
            <a:xfrm>
              <a:off x="8532440" y="515719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319"/>
            <p:cNvSpPr txBox="1">
              <a:spLocks noChangeArrowheads="1"/>
            </p:cNvSpPr>
            <p:nvPr/>
          </p:nvSpPr>
          <p:spPr bwMode="auto">
            <a:xfrm>
              <a:off x="8244408" y="3645024"/>
              <a:ext cx="576064" cy="180019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5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31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32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62</a:t>
              </a:r>
              <a:r>
                <a:rPr lang="en-US" altLang="zh-CN" sz="1600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63</a:t>
              </a:r>
              <a:r>
                <a:rPr lang="en-US" altLang="zh-CN" sz="1600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>
                  <a:latin typeface="宋体" panose="02010600030101010101" pitchFamily="2" charset="-122"/>
                </a:rPr>
                <a:t>1</a:t>
              </a:r>
              <a:endParaRPr lang="en-US" altLang="zh-CN" sz="1600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64</a:t>
              </a:r>
              <a:r>
                <a:rPr lang="en-US" altLang="zh-CN" sz="1600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>
                  <a:latin typeface="宋体" panose="02010600030101010101" pitchFamily="2" charset="-122"/>
                </a:rPr>
                <a:t>2</a:t>
              </a:r>
              <a:endParaRPr lang="en-US" altLang="zh-CN" sz="1600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  <a:endParaRPr lang="zh-CN" altLang="en-US" sz="1600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Line 317"/>
            <p:cNvSpPr>
              <a:spLocks noChangeShapeType="1"/>
            </p:cNvSpPr>
            <p:nvPr/>
          </p:nvSpPr>
          <p:spPr bwMode="auto">
            <a:xfrm>
              <a:off x="8532440" y="451762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17"/>
            <p:cNvSpPr>
              <a:spLocks noChangeShapeType="1"/>
            </p:cNvSpPr>
            <p:nvPr/>
          </p:nvSpPr>
          <p:spPr bwMode="auto">
            <a:xfrm>
              <a:off x="8532440" y="472514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17"/>
            <p:cNvSpPr>
              <a:spLocks noChangeShapeType="1"/>
            </p:cNvSpPr>
            <p:nvPr/>
          </p:nvSpPr>
          <p:spPr bwMode="auto">
            <a:xfrm>
              <a:off x="8532440" y="386104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5536" y="3285277"/>
            <a:ext cx="504056" cy="1769291"/>
            <a:chOff x="-324544" y="3068960"/>
            <a:chExt cx="504056" cy="1769291"/>
          </a:xfrm>
        </p:grpSpPr>
        <p:sp>
          <p:nvSpPr>
            <p:cNvPr id="59" name="Text Box 316"/>
            <p:cNvSpPr txBox="1">
              <a:spLocks noChangeArrowheads="1"/>
            </p:cNvSpPr>
            <p:nvPr/>
          </p:nvSpPr>
          <p:spPr bwMode="auto">
            <a:xfrm>
              <a:off x="-108520" y="3933056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319"/>
            <p:cNvSpPr txBox="1">
              <a:spLocks noChangeArrowheads="1"/>
            </p:cNvSpPr>
            <p:nvPr/>
          </p:nvSpPr>
          <p:spPr bwMode="auto">
            <a:xfrm>
              <a:off x="-324544" y="3068961"/>
              <a:ext cx="216024" cy="1728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 0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31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32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63</a:t>
              </a:r>
              <a:endParaRPr lang="en-US" altLang="zh-CN" sz="1200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64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95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96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…</a:t>
              </a: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>
                  <a:latin typeface="宋体" panose="02010600030101010101" pitchFamily="2" charset="-122"/>
                </a:rPr>
                <a:t>99</a:t>
              </a:r>
            </a:p>
          </p:txBody>
        </p:sp>
        <p:sp>
          <p:nvSpPr>
            <p:cNvPr id="44" name="Text Box 316"/>
            <p:cNvSpPr txBox="1">
              <a:spLocks noChangeArrowheads="1"/>
            </p:cNvSpPr>
            <p:nvPr/>
          </p:nvSpPr>
          <p:spPr bwMode="auto">
            <a:xfrm>
              <a:off x="-108644" y="3068960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316"/>
            <p:cNvSpPr txBox="1">
              <a:spLocks noChangeArrowheads="1"/>
            </p:cNvSpPr>
            <p:nvPr/>
          </p:nvSpPr>
          <p:spPr bwMode="auto">
            <a:xfrm>
              <a:off x="-108644" y="4365104"/>
              <a:ext cx="288032" cy="432048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316"/>
            <p:cNvSpPr txBox="1">
              <a:spLocks noChangeArrowheads="1"/>
            </p:cNvSpPr>
            <p:nvPr/>
          </p:nvSpPr>
          <p:spPr bwMode="auto">
            <a:xfrm>
              <a:off x="-108644" y="3501008"/>
              <a:ext cx="288032" cy="432048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" name="Line 317"/>
            <p:cNvSpPr>
              <a:spLocks noChangeShapeType="1"/>
            </p:cNvSpPr>
            <p:nvPr/>
          </p:nvSpPr>
          <p:spPr bwMode="auto">
            <a:xfrm>
              <a:off x="-108892" y="3068960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17"/>
            <p:cNvSpPr>
              <a:spLocks noChangeShapeType="1"/>
            </p:cNvSpPr>
            <p:nvPr/>
          </p:nvSpPr>
          <p:spPr bwMode="auto">
            <a:xfrm>
              <a:off x="-108644" y="350100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17"/>
            <p:cNvSpPr>
              <a:spLocks noChangeShapeType="1"/>
            </p:cNvSpPr>
            <p:nvPr/>
          </p:nvSpPr>
          <p:spPr bwMode="auto">
            <a:xfrm>
              <a:off x="-108644" y="364502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17"/>
            <p:cNvSpPr>
              <a:spLocks noChangeShapeType="1"/>
            </p:cNvSpPr>
            <p:nvPr/>
          </p:nvSpPr>
          <p:spPr bwMode="auto">
            <a:xfrm>
              <a:off x="-108644" y="407707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17"/>
            <p:cNvSpPr>
              <a:spLocks noChangeShapeType="1"/>
            </p:cNvSpPr>
            <p:nvPr/>
          </p:nvSpPr>
          <p:spPr bwMode="auto">
            <a:xfrm>
              <a:off x="-108644" y="465313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17"/>
            <p:cNvSpPr>
              <a:spLocks noChangeShapeType="1"/>
            </p:cNvSpPr>
            <p:nvPr/>
          </p:nvSpPr>
          <p:spPr bwMode="auto">
            <a:xfrm>
              <a:off x="-108644" y="378904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17"/>
            <p:cNvSpPr>
              <a:spLocks noChangeShapeType="1"/>
            </p:cNvSpPr>
            <p:nvPr/>
          </p:nvSpPr>
          <p:spPr bwMode="auto">
            <a:xfrm>
              <a:off x="-108644" y="393305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17"/>
            <p:cNvSpPr>
              <a:spLocks noChangeShapeType="1"/>
            </p:cNvSpPr>
            <p:nvPr/>
          </p:nvSpPr>
          <p:spPr bwMode="auto">
            <a:xfrm>
              <a:off x="-108644" y="306896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17"/>
            <p:cNvSpPr>
              <a:spLocks noChangeShapeType="1"/>
            </p:cNvSpPr>
            <p:nvPr/>
          </p:nvSpPr>
          <p:spPr bwMode="auto">
            <a:xfrm>
              <a:off x="179264" y="3068960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17"/>
            <p:cNvSpPr>
              <a:spLocks noChangeShapeType="1"/>
            </p:cNvSpPr>
            <p:nvPr/>
          </p:nvSpPr>
          <p:spPr bwMode="auto">
            <a:xfrm>
              <a:off x="-108520" y="321297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317"/>
            <p:cNvSpPr>
              <a:spLocks noChangeShapeType="1"/>
            </p:cNvSpPr>
            <p:nvPr/>
          </p:nvSpPr>
          <p:spPr bwMode="auto">
            <a:xfrm>
              <a:off x="-108520" y="335699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317"/>
            <p:cNvSpPr>
              <a:spLocks noChangeShapeType="1"/>
            </p:cNvSpPr>
            <p:nvPr/>
          </p:nvSpPr>
          <p:spPr bwMode="auto">
            <a:xfrm>
              <a:off x="-108520" y="450912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317"/>
            <p:cNvSpPr>
              <a:spLocks noChangeShapeType="1"/>
            </p:cNvSpPr>
            <p:nvPr/>
          </p:nvSpPr>
          <p:spPr bwMode="auto">
            <a:xfrm>
              <a:off x="-108520" y="422108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317"/>
            <p:cNvSpPr>
              <a:spLocks noChangeShapeType="1"/>
            </p:cNvSpPr>
            <p:nvPr/>
          </p:nvSpPr>
          <p:spPr bwMode="auto">
            <a:xfrm>
              <a:off x="-108520" y="436510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317"/>
            <p:cNvSpPr>
              <a:spLocks noChangeShapeType="1"/>
            </p:cNvSpPr>
            <p:nvPr/>
          </p:nvSpPr>
          <p:spPr bwMode="auto">
            <a:xfrm>
              <a:off x="-108520" y="479715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" name="Text Box 319"/>
          <p:cNvSpPr txBox="1">
            <a:spLocks noChangeArrowheads="1"/>
          </p:cNvSpPr>
          <p:nvPr/>
        </p:nvSpPr>
        <p:spPr bwMode="auto">
          <a:xfrm>
            <a:off x="899592" y="3285278"/>
            <a:ext cx="216024" cy="17281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78000"/>
              </a:lnSpc>
            </a:pP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</a:p>
          <a:p>
            <a:pPr algn="ctr">
              <a:lnSpc>
                <a:spcPct val="78000"/>
              </a:lnSpc>
            </a:pP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>
                <a:latin typeface="宋体" panose="02010600030101010101" pitchFamily="2" charset="-122"/>
              </a:rPr>
              <a:t> </a:t>
            </a: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</a:p>
          <a:p>
            <a:pPr algn="ctr">
              <a:lnSpc>
                <a:spcPct val="78000"/>
              </a:lnSpc>
            </a:pP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endParaRPr lang="en-US" altLang="zh-CN" sz="1200" u="none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59238" y="2564904"/>
            <a:ext cx="1008906" cy="216003"/>
            <a:chOff x="4859238" y="3259924"/>
            <a:chExt cx="1008906" cy="311155"/>
          </a:xfrm>
        </p:grpSpPr>
        <p:sp>
          <p:nvSpPr>
            <p:cNvPr id="63" name="Line 317"/>
            <p:cNvSpPr>
              <a:spLocks noChangeShapeType="1"/>
            </p:cNvSpPr>
            <p:nvPr/>
          </p:nvSpPr>
          <p:spPr bwMode="auto">
            <a:xfrm>
              <a:off x="4859238" y="3259927"/>
              <a:ext cx="0" cy="311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6" name="Line 318"/>
            <p:cNvSpPr>
              <a:spLocks noChangeShapeType="1"/>
            </p:cNvSpPr>
            <p:nvPr/>
          </p:nvSpPr>
          <p:spPr bwMode="auto">
            <a:xfrm>
              <a:off x="5868144" y="3259928"/>
              <a:ext cx="0" cy="311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7" name="Text Box 319"/>
            <p:cNvSpPr txBox="1">
              <a:spLocks noChangeArrowheads="1"/>
            </p:cNvSpPr>
            <p:nvPr/>
          </p:nvSpPr>
          <p:spPr bwMode="auto">
            <a:xfrm>
              <a:off x="5148064" y="3259924"/>
              <a:ext cx="431800" cy="3111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68" name="Line 320"/>
            <p:cNvSpPr>
              <a:spLocks noChangeShapeType="1"/>
            </p:cNvSpPr>
            <p:nvPr/>
          </p:nvSpPr>
          <p:spPr bwMode="auto">
            <a:xfrm>
              <a:off x="5579963" y="3428225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9" name="Line 322"/>
            <p:cNvSpPr>
              <a:spLocks noChangeShapeType="1"/>
            </p:cNvSpPr>
            <p:nvPr/>
          </p:nvSpPr>
          <p:spPr bwMode="auto">
            <a:xfrm flipH="1">
              <a:off x="4859238" y="3428225"/>
              <a:ext cx="288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</p:grpSp>
      <p:sp>
        <p:nvSpPr>
          <p:cNvPr id="71" name="Text Box 352"/>
          <p:cNvSpPr txBox="1">
            <a:spLocks noChangeArrowheads="1"/>
          </p:cNvSpPr>
          <p:nvPr/>
        </p:nvSpPr>
        <p:spPr bwMode="auto">
          <a:xfrm>
            <a:off x="2627784" y="5445224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为何</a:t>
            </a:r>
            <a:r>
              <a:rPr lang="en-US" altLang="zh-CN" sz="1800" b="1" u="none" dirty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</a:rPr>
              <a:t>≠</a:t>
            </a:r>
            <a:r>
              <a:rPr lang="en-US" altLang="zh-CN" sz="1800" b="1" u="none" dirty="0">
                <a:latin typeface="宋体" panose="02010600030101010101" pitchFamily="2" charset="-122"/>
              </a:rPr>
              <a:t>0.96</a:t>
            </a:r>
            <a:r>
              <a:rPr lang="zh-CN" altLang="en-US" sz="1800" b="1" u="none" dirty="0">
                <a:latin typeface="宋体" panose="02010600030101010101" pitchFamily="2" charset="-122"/>
              </a:rPr>
              <a:t>*</a:t>
            </a:r>
            <a:r>
              <a:rPr lang="en-US" altLang="zh-CN" sz="1800" b="1" u="none" dirty="0">
                <a:latin typeface="宋体" panose="02010600030101010101" pitchFamily="2" charset="-122"/>
              </a:rPr>
              <a:t>20+0.04</a:t>
            </a:r>
            <a:r>
              <a:rPr lang="zh-CN" altLang="en-US" sz="1800" b="1" u="none" dirty="0">
                <a:latin typeface="宋体" panose="02010600030101010101" pitchFamily="2" charset="-122"/>
              </a:rPr>
              <a:t>*</a:t>
            </a:r>
            <a:r>
              <a:rPr lang="en-US" altLang="zh-CN" sz="1800" b="1" u="none" dirty="0">
                <a:latin typeface="宋体" panose="02010600030101010101" pitchFamily="2" charset="-122"/>
              </a:rPr>
              <a:t>200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4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4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14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4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4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367" grpId="0" bldLvl="0" animBg="1"/>
      <p:bldP spid="65" grpId="0" bldLvl="0" animBg="1"/>
      <p:bldP spid="71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975" y="3780000"/>
            <a:ext cx="2930525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映射方式抽象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查找的组织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应用选择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spc="-1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61</a:t>
            </a:fld>
            <a:endParaRPr lang="en-US" altLang="zh-CN" dirty="0"/>
          </a:p>
        </p:txBody>
      </p:sp>
      <p:sp>
        <p:nvSpPr>
          <p:cNvPr id="4" name="Text Box 1360"/>
          <p:cNvSpPr txBox="1">
            <a:spLocks noChangeArrowheads="1"/>
          </p:cNvSpPr>
          <p:nvPr/>
        </p:nvSpPr>
        <p:spPr bwMode="auto">
          <a:xfrm>
            <a:off x="179512" y="332656"/>
            <a:ext cx="8785225" cy="869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地址映射小结：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设主存块号为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m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位，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有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G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(G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spc="-100" baseline="36000" dirty="0">
                <a:latin typeface="宋体" panose="02010600030101010101" pitchFamily="2" charset="-122"/>
              </a:rPr>
              <a:t>c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，主存块</a:t>
            </a:r>
            <a:r>
              <a:rPr lang="en-US" altLang="zh-CN" sz="2200" b="1" u="none" spc="-100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调入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j</a:t>
            </a:r>
            <a:endParaRPr lang="zh-CN" altLang="en-US" sz="2200" b="1" u="none" spc="-1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39933"/>
              </p:ext>
            </p:extLst>
          </p:nvPr>
        </p:nvGraphicFramePr>
        <p:xfrm>
          <a:off x="1259631" y="1197007"/>
          <a:ext cx="7488833" cy="170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7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直接映射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全相联映射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组相联映射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候选行数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映射规则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mod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∈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{0,1,…,G-1}</a:t>
                      </a:r>
                    </a:p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(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1800" b="1" u="non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无关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&lt;</a:t>
                      </a:r>
                      <a:r>
                        <a:rPr lang="en-US" altLang="zh-CN" sz="1800" b="1" u="none" dirty="0" err="1">
                          <a:latin typeface="+mn-ea"/>
                          <a:ea typeface="+mn-ea"/>
                        </a:rPr>
                        <a:t>k,x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&gt;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k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 err="1"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 mod G/n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          x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1800" b="1" u="none" dirty="0"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n-1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7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索引位数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行号＝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无索引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组号＝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c-log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9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标记位数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区号＝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m-c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主存块号＝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群号＝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m-(c-log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1360"/>
          <p:cNvSpPr txBox="1">
            <a:spLocks noChangeArrowheads="1"/>
          </p:cNvSpPr>
          <p:nvPr/>
        </p:nvSpPr>
        <p:spPr bwMode="auto">
          <a:xfrm>
            <a:off x="2188845" y="3780155"/>
            <a:ext cx="6684010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均为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组相联映射</a:t>
            </a:r>
            <a:r>
              <a:rPr lang="zh-CN" altLang="en-US" sz="2200" b="1" u="none" dirty="0">
                <a:latin typeface="宋体" panose="02010600030101010101" pitchFamily="2" charset="-122"/>
              </a:rPr>
              <a:t>方式，路数、组数不同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使用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(n=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相联度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常为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组相联方式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58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32384" y="5013176"/>
            <a:ext cx="6696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相联度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指一个主存块可映射到的</a:t>
            </a:r>
            <a:r>
              <a:rPr lang="en-US" altLang="zh-CN" sz="18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行数，即候选行数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路数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11560" y="1620000"/>
            <a:ext cx="540000" cy="2808000"/>
            <a:chOff x="395536" y="1772816"/>
            <a:chExt cx="540000" cy="2808000"/>
          </a:xfrm>
        </p:grpSpPr>
        <p:cxnSp>
          <p:nvCxnSpPr>
            <p:cNvPr id="13" name="直接箭头连接符 12"/>
            <p:cNvCxnSpPr/>
            <p:nvPr/>
          </p:nvCxnSpPr>
          <p:spPr bwMode="auto">
            <a:xfrm>
              <a:off x="395536" y="1772816"/>
              <a:ext cx="5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395536" y="4580816"/>
              <a:ext cx="5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>
              <a:off x="395536" y="1772816"/>
              <a:ext cx="0" cy="28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>
            <a:off x="1547664" y="2997205"/>
            <a:ext cx="7344816" cy="756750"/>
            <a:chOff x="1475656" y="2996952"/>
            <a:chExt cx="7344816" cy="756750"/>
          </a:xfrm>
        </p:grpSpPr>
        <p:sp>
          <p:nvSpPr>
            <p:cNvPr id="60" name="Text Box 246"/>
            <p:cNvSpPr txBox="1">
              <a:spLocks noChangeArrowheads="1"/>
            </p:cNvSpPr>
            <p:nvPr/>
          </p:nvSpPr>
          <p:spPr bwMode="auto">
            <a:xfrm>
              <a:off x="8388424" y="299695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257"/>
            <p:cNvSpPr txBox="1">
              <a:spLocks noChangeArrowheads="1"/>
            </p:cNvSpPr>
            <p:nvPr/>
          </p:nvSpPr>
          <p:spPr bwMode="auto">
            <a:xfrm>
              <a:off x="7452320" y="2996952"/>
              <a:ext cx="936104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群内块号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258"/>
            <p:cNvSpPr txBox="1">
              <a:spLocks noChangeArrowheads="1"/>
            </p:cNvSpPr>
            <p:nvPr/>
          </p:nvSpPr>
          <p:spPr bwMode="auto">
            <a:xfrm>
              <a:off x="6300192" y="2996952"/>
              <a:ext cx="1152128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群号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263"/>
            <p:cNvSpPr txBox="1">
              <a:spLocks noChangeArrowheads="1"/>
            </p:cNvSpPr>
            <p:nvPr/>
          </p:nvSpPr>
          <p:spPr bwMode="auto">
            <a:xfrm>
              <a:off x="8388424" y="350170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264"/>
            <p:cNvSpPr txBox="1">
              <a:spLocks noChangeArrowheads="1"/>
            </p:cNvSpPr>
            <p:nvPr/>
          </p:nvSpPr>
          <p:spPr bwMode="auto">
            <a:xfrm>
              <a:off x="6732240" y="3501702"/>
              <a:ext cx="792087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组号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Line 266"/>
            <p:cNvSpPr>
              <a:spLocks noChangeShapeType="1"/>
            </p:cNvSpPr>
            <p:nvPr/>
          </p:nvSpPr>
          <p:spPr bwMode="auto">
            <a:xfrm flipH="1">
              <a:off x="8585630" y="3250547"/>
              <a:ext cx="0" cy="252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118"/>
            <p:cNvSpPr txBox="1">
              <a:spLocks noChangeArrowheads="1"/>
            </p:cNvSpPr>
            <p:nvPr/>
          </p:nvSpPr>
          <p:spPr bwMode="auto">
            <a:xfrm>
              <a:off x="7524328" y="3501008"/>
              <a:ext cx="864096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组内行号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" name="Line 266"/>
            <p:cNvSpPr>
              <a:spLocks noChangeShapeType="1"/>
            </p:cNvSpPr>
            <p:nvPr/>
          </p:nvSpPr>
          <p:spPr bwMode="auto">
            <a:xfrm flipH="1">
              <a:off x="7236296" y="3250547"/>
              <a:ext cx="576064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246"/>
            <p:cNvSpPr txBox="1">
              <a:spLocks noChangeArrowheads="1"/>
            </p:cNvSpPr>
            <p:nvPr/>
          </p:nvSpPr>
          <p:spPr bwMode="auto">
            <a:xfrm>
              <a:off x="5363505" y="299695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258"/>
            <p:cNvSpPr txBox="1">
              <a:spLocks noChangeArrowheads="1"/>
            </p:cNvSpPr>
            <p:nvPr/>
          </p:nvSpPr>
          <p:spPr bwMode="auto">
            <a:xfrm>
              <a:off x="4067361" y="2996952"/>
              <a:ext cx="1296144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263"/>
            <p:cNvSpPr txBox="1">
              <a:spLocks noChangeArrowheads="1"/>
            </p:cNvSpPr>
            <p:nvPr/>
          </p:nvSpPr>
          <p:spPr bwMode="auto">
            <a:xfrm>
              <a:off x="5363505" y="350170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264"/>
            <p:cNvSpPr txBox="1">
              <a:spLocks noChangeArrowheads="1"/>
            </p:cNvSpPr>
            <p:nvPr/>
          </p:nvSpPr>
          <p:spPr bwMode="auto">
            <a:xfrm>
              <a:off x="4283384" y="3501702"/>
              <a:ext cx="1080121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2" name="Line 266"/>
            <p:cNvSpPr>
              <a:spLocks noChangeShapeType="1"/>
            </p:cNvSpPr>
            <p:nvPr/>
          </p:nvSpPr>
          <p:spPr bwMode="auto">
            <a:xfrm flipH="1">
              <a:off x="5560711" y="3250547"/>
              <a:ext cx="0" cy="252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246"/>
            <p:cNvSpPr txBox="1">
              <a:spLocks noChangeArrowheads="1"/>
            </p:cNvSpPr>
            <p:nvPr/>
          </p:nvSpPr>
          <p:spPr bwMode="auto">
            <a:xfrm>
              <a:off x="3275273" y="299695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257"/>
            <p:cNvSpPr txBox="1">
              <a:spLocks noChangeArrowheads="1"/>
            </p:cNvSpPr>
            <p:nvPr/>
          </p:nvSpPr>
          <p:spPr bwMode="auto">
            <a:xfrm>
              <a:off x="2339169" y="2996952"/>
              <a:ext cx="936104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区内块号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5" name="Text Box 258"/>
            <p:cNvSpPr txBox="1">
              <a:spLocks noChangeArrowheads="1"/>
            </p:cNvSpPr>
            <p:nvPr/>
          </p:nvSpPr>
          <p:spPr bwMode="auto">
            <a:xfrm>
              <a:off x="1475656" y="2996952"/>
              <a:ext cx="863513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区号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263"/>
            <p:cNvSpPr txBox="1">
              <a:spLocks noChangeArrowheads="1"/>
            </p:cNvSpPr>
            <p:nvPr/>
          </p:nvSpPr>
          <p:spPr bwMode="auto">
            <a:xfrm>
              <a:off x="3275273" y="3501702"/>
              <a:ext cx="43204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7" name="Line 266"/>
            <p:cNvSpPr>
              <a:spLocks noChangeShapeType="1"/>
            </p:cNvSpPr>
            <p:nvPr/>
          </p:nvSpPr>
          <p:spPr bwMode="auto">
            <a:xfrm flipH="1">
              <a:off x="3472479" y="3250547"/>
              <a:ext cx="0" cy="252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66"/>
            <p:cNvSpPr>
              <a:spLocks noChangeShapeType="1"/>
            </p:cNvSpPr>
            <p:nvPr/>
          </p:nvSpPr>
          <p:spPr bwMode="auto">
            <a:xfrm flipH="1">
              <a:off x="2771217" y="3250547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64"/>
            <p:cNvSpPr txBox="1">
              <a:spLocks noChangeArrowheads="1"/>
            </p:cNvSpPr>
            <p:nvPr/>
          </p:nvSpPr>
          <p:spPr bwMode="auto">
            <a:xfrm>
              <a:off x="2339169" y="3501008"/>
              <a:ext cx="936105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5488985" y="5873892"/>
            <a:ext cx="3384000" cy="26987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>
                <a:latin typeface="宋体" panose="02010600030101010101" pitchFamily="2" charset="-122"/>
              </a:rPr>
              <a:t>路组相联时比较器个数？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69835"/>
              </p:ext>
            </p:extLst>
          </p:nvPr>
        </p:nvGraphicFramePr>
        <p:xfrm>
          <a:off x="1259632" y="4284000"/>
          <a:ext cx="6245225" cy="5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路  数</a:t>
                      </a: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组  数</a:t>
                      </a: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>
                          <a:latin typeface="+mn-ea"/>
                          <a:ea typeface="+mn-ea"/>
                        </a:rPr>
                        <a:t>G/n</a:t>
                      </a: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1" grpId="0" bldLvl="0" animBg="1"/>
      <p:bldP spid="37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62</a:t>
            </a:fld>
            <a:endParaRPr lang="en-US" altLang="zh-CN" dirty="0"/>
          </a:p>
        </p:txBody>
      </p:sp>
      <p:sp>
        <p:nvSpPr>
          <p:cNvPr id="6" name="Text Box 128"/>
          <p:cNvSpPr txBox="1">
            <a:spLocks noChangeArrowheads="1"/>
          </p:cNvSpPr>
          <p:nvPr/>
        </p:nvSpPr>
        <p:spPr bwMode="auto">
          <a:xfrm>
            <a:off x="179705" y="332656"/>
            <a:ext cx="4187825" cy="61360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的替换算法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最佳算法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常见替换算法：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基于候选行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RAND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FIFO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先进先出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LRU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最近最少使用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*LRU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算法基本原理：</a:t>
            </a: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各块次序的表示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endParaRPr lang="en-US" altLang="zh-CN" sz="20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各块次序的更新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00000"/>
              </a:lnSpc>
            </a:pP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牺牲块的选择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1" name="Text Box 128"/>
          <p:cNvSpPr txBox="1">
            <a:spLocks noChangeArrowheads="1"/>
          </p:cNvSpPr>
          <p:nvPr/>
        </p:nvSpPr>
        <p:spPr bwMode="auto">
          <a:xfrm>
            <a:off x="1333500" y="836712"/>
            <a:ext cx="7630795" cy="3313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从</a:t>
            </a:r>
            <a:r>
              <a:rPr lang="zh-CN" altLang="en-US" sz="2200" b="1" dirty="0">
                <a:latin typeface="宋体" panose="02010600030101010101" pitchFamily="2" charset="-122"/>
              </a:rPr>
              <a:t>候选行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选出</a:t>
            </a:r>
            <a:r>
              <a:rPr lang="en-US" altLang="zh-CN" sz="2200" b="1" u="none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个牺牲块</a:t>
            </a:r>
            <a:r>
              <a:rPr lang="en-US" altLang="zh-CN" sz="2200" b="1" u="none" dirty="0">
                <a:latin typeface="宋体" panose="02010600030101010101" pitchFamily="2" charset="-122"/>
              </a:rPr>
              <a:t>(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</a:t>
            </a:r>
            <a:r>
              <a:rPr lang="en-US" altLang="zh-CN" sz="2200" b="1" u="none" dirty="0">
                <a:latin typeface="宋体" panose="02010600030101010101" pitchFamily="2" charset="-122"/>
              </a:rPr>
              <a:t>)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←适于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全相联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组相联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映射</a:t>
            </a:r>
            <a:endParaRPr lang="en-US" altLang="zh-CN" sz="1600" b="1" u="none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对命中率</a:t>
            </a:r>
            <a:r>
              <a:rPr lang="en-US" altLang="zh-CN" sz="2200" b="1" u="none" dirty="0">
                <a:latin typeface="宋体" panose="02010600030101010101" pitchFamily="2" charset="-122"/>
              </a:rPr>
              <a:t>H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影响程度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、算法的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实现开销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←替换是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否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遵循访问局部性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，如增加相联度时</a:t>
            </a:r>
            <a:endParaRPr lang="zh-CN" altLang="en-US" sz="1800" b="1" u="none" spc="-50" dirty="0">
              <a:latin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  牺牲块为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最远将来使用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的块    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←无法实现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没长后眼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随机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适于全相联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最早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调入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sz="1600" b="1" u="none" dirty="0">
                <a:latin typeface="宋体" panose="02010600030101010101" pitchFamily="2" charset="-122"/>
                <a:sym typeface="+mn-ea"/>
              </a:rPr>
              <a:t>≠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访问次序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200" b="1" u="none" baseline="-25000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近期最少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使用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随相联度增大</a:t>
            </a:r>
            <a:endParaRPr lang="en-US" altLang="zh-CN" sz="2200" b="1" dirty="0">
              <a:solidFill>
                <a:srgbClr val="0070C0"/>
              </a:solidFill>
              <a:highlight>
                <a:srgbClr val="FFFF00"/>
              </a:highlight>
              <a:latin typeface="宋体" panose="02010600030101010101" pitchFamily="2" charset="-122"/>
            </a:endParaRPr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36215" y="4509120"/>
            <a:ext cx="6228080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 bIns="0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各行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用计数器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CNT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值越大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越久未用</a:t>
            </a:r>
            <a:endParaRPr lang="zh-CN" altLang="en-US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访问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目标块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CNT←0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其余块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CNT++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饱和计数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←块次序不变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目标块已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=0)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均不变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16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最大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的块</a:t>
            </a: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80000" y="4221088"/>
            <a:ext cx="48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>
                <a:latin typeface="宋体" panose="02010600030101010101" pitchFamily="2" charset="-122"/>
              </a:rPr>
              <a:t>路组相联</a:t>
            </a:r>
            <a:r>
              <a:rPr lang="zh-CN" sz="1800" b="1" u="none" dirty="0">
                <a:latin typeface="宋体" panose="02010600030101010101" pitchFamily="2" charset="-122"/>
              </a:rPr>
              <a:t>映射时，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每个行的</a:t>
            </a:r>
            <a:r>
              <a:rPr lang="en-US" altLang="zh-CN" sz="1800" b="1" u="none" dirty="0">
                <a:latin typeface="宋体" panose="02010600030101010101" pitchFamily="2" charset="-122"/>
              </a:rPr>
              <a:t>CNT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为几位？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92000" y="5013176"/>
            <a:ext cx="6551930" cy="288290"/>
            <a:chOff x="1587" y="8674"/>
            <a:chExt cx="10318" cy="454"/>
          </a:xfrm>
        </p:grpSpPr>
        <p:sp>
          <p:nvSpPr>
            <p:cNvPr id="64" name="Rectangle 136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608" y="8674"/>
              <a:ext cx="7257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Text Box 136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587" y="8674"/>
              <a:ext cx="1020" cy="45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组</a:t>
              </a:r>
            </a:p>
          </p:txBody>
        </p:sp>
        <p:sp>
          <p:nvSpPr>
            <p:cNvPr id="88" name="Text Box 138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009" y="873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68" name="Text Box 136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665" y="8732"/>
              <a:ext cx="34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</a:p>
          </p:txBody>
        </p:sp>
        <p:sp>
          <p:nvSpPr>
            <p:cNvPr id="69" name="Text Box 136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005" y="8732"/>
              <a:ext cx="90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</a:p>
          </p:txBody>
        </p:sp>
        <p:sp>
          <p:nvSpPr>
            <p:cNvPr id="70" name="Text Box 136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819" y="8732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600" b="1" u="none">
                  <a:latin typeface="宋体" panose="02010600030101010101" pitchFamily="2" charset="-122"/>
                </a:rPr>
                <a:t>缓存块</a:t>
              </a:r>
            </a:p>
          </p:txBody>
        </p:sp>
        <p:sp>
          <p:nvSpPr>
            <p:cNvPr id="76" name="Text Box 137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12" y="8732"/>
              <a:ext cx="907" cy="34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LRU</a:t>
              </a:r>
            </a:p>
          </p:txBody>
        </p:sp>
        <p:sp>
          <p:nvSpPr>
            <p:cNvPr id="89" name="Line 137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479" y="8733"/>
              <a:ext cx="0" cy="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38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921" y="8731"/>
              <a:ext cx="198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LRU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log</a:t>
              </a:r>
              <a:r>
                <a:rPr lang="en-US" altLang="zh-CN" sz="1600" b="1" u="none" baseline="-2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7" name="Text Box 136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520" y="8731"/>
              <a:ext cx="34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</a:p>
          </p:txBody>
        </p:sp>
        <p:sp>
          <p:nvSpPr>
            <p:cNvPr id="8" name="Text Box 136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860" y="8731"/>
              <a:ext cx="90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</a:p>
          </p:txBody>
        </p:sp>
        <p:sp>
          <p:nvSpPr>
            <p:cNvPr id="9" name="Text Box 136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674" y="8731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600" b="1" u="none">
                  <a:latin typeface="宋体" panose="02010600030101010101" pitchFamily="2" charset="-122"/>
                </a:rPr>
                <a:t>缓存块</a:t>
              </a:r>
            </a:p>
          </p:txBody>
        </p:sp>
        <p:sp>
          <p:nvSpPr>
            <p:cNvPr id="10" name="Text Box 137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767" y="8731"/>
              <a:ext cx="907" cy="34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LRU</a:t>
              </a:r>
            </a:p>
          </p:txBody>
        </p:sp>
        <p:sp>
          <p:nvSpPr>
            <p:cNvPr id="13" name="Line 137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8334" y="8732"/>
              <a:ext cx="0" cy="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4510" name="AutoShape 222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63</a:t>
            </a:fld>
            <a:endParaRPr lang="en-US" altLang="zh-CN" dirty="0"/>
          </a:p>
        </p:txBody>
      </p:sp>
      <p:graphicFrame>
        <p:nvGraphicFramePr>
          <p:cNvPr id="25" name="Group 14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1464022"/>
              </p:ext>
            </p:extLst>
          </p:nvPr>
        </p:nvGraphicFramePr>
        <p:xfrm>
          <a:off x="7884795" y="2369463"/>
          <a:ext cx="935355" cy="1852676"/>
        </p:xfrm>
        <a:graphic>
          <a:graphicData uri="http://schemas.openxmlformats.org/drawingml/2006/table">
            <a:tbl>
              <a:tblPr/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7385" name="Text Box 122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4582671"/>
            <a:ext cx="8785225" cy="445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每个块只访问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次时，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(7-5)/7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2/7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；连续访问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次时，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23/</a:t>
            </a:r>
            <a:r>
              <a:rPr 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28</a:t>
            </a:r>
          </a:p>
        </p:txBody>
      </p:sp>
      <p:graphicFrame>
        <p:nvGraphicFramePr>
          <p:cNvPr id="14" name="Group 147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21859692"/>
              </p:ext>
            </p:extLst>
          </p:nvPr>
        </p:nvGraphicFramePr>
        <p:xfrm>
          <a:off x="2268220" y="2369463"/>
          <a:ext cx="1871345" cy="1852676"/>
        </p:xfrm>
        <a:graphic>
          <a:graphicData uri="http://schemas.openxmlformats.org/drawingml/2006/table">
            <a:tbl>
              <a:tblPr/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" name="Group 1473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33964811"/>
              </p:ext>
            </p:extLst>
          </p:nvPr>
        </p:nvGraphicFramePr>
        <p:xfrm>
          <a:off x="4140200" y="2369463"/>
          <a:ext cx="935355" cy="1852676"/>
        </p:xfrm>
        <a:graphic>
          <a:graphicData uri="http://schemas.openxmlformats.org/drawingml/2006/table">
            <a:tbl>
              <a:tblPr/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Group 1473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25000756"/>
              </p:ext>
            </p:extLst>
          </p:nvPr>
        </p:nvGraphicFramePr>
        <p:xfrm>
          <a:off x="5076825" y="2369463"/>
          <a:ext cx="1871345" cy="1852676"/>
        </p:xfrm>
        <a:graphic>
          <a:graphicData uri="http://schemas.openxmlformats.org/drawingml/2006/table">
            <a:tbl>
              <a:tblPr/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Group 1473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839600402"/>
              </p:ext>
            </p:extLst>
          </p:nvPr>
        </p:nvGraphicFramePr>
        <p:xfrm>
          <a:off x="6948805" y="2369463"/>
          <a:ext cx="935355" cy="1852676"/>
        </p:xfrm>
        <a:graphic>
          <a:graphicData uri="http://schemas.openxmlformats.org/drawingml/2006/table">
            <a:tbl>
              <a:tblPr/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替换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" name="Group 1473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472674982"/>
              </p:ext>
            </p:extLst>
          </p:nvPr>
        </p:nvGraphicFramePr>
        <p:xfrm>
          <a:off x="539750" y="1700808"/>
          <a:ext cx="8281035" cy="2501392"/>
        </p:xfrm>
        <a:graphic>
          <a:graphicData uri="http://schemas.openxmlformats.org/drawingml/2006/table">
            <a:tbl>
              <a:tblPr/>
              <a:tblGrid>
                <a:gridCol w="79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R="0" lvl="0" indent="0" algn="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状态</a:t>
                      </a: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行号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块地址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row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 Box 9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9388" y="396000"/>
            <a:ext cx="8568000" cy="12572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254125" indent="-1254125">
              <a:lnSpc>
                <a:spcPct val="120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全相联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行，采用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LRU</a:t>
            </a:r>
            <a:r>
              <a:rPr lang="zh-CN" altLang="en-US" sz="2200" b="1" u="none" dirty="0">
                <a:latin typeface="宋体" panose="02010600030101010101" pitchFamily="2" charset="-122"/>
              </a:rPr>
              <a:t>替换算法，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初态为空，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latin typeface="宋体" panose="02010600030101010101" pitchFamily="2" charset="-122"/>
              </a:rPr>
              <a:t>按下列</a:t>
            </a:r>
            <a:r>
              <a:rPr lang="zh-CN" altLang="en-US" sz="2200" b="1" dirty="0">
                <a:latin typeface="宋体" panose="02010600030101010101" pitchFamily="2" charset="-122"/>
              </a:rPr>
              <a:t>块地址流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访存时，分别求每个块只访问</a:t>
            </a:r>
            <a:r>
              <a:rPr lang="en-US" altLang="zh-CN" sz="2200" b="1" u="none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latin typeface="宋体" panose="02010600030101010101" pitchFamily="2" charset="-122"/>
              </a:rPr>
              <a:t>次、连续访问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次时的命中率</a:t>
            </a:r>
            <a:r>
              <a:rPr lang="en-US" altLang="zh-CN" sz="2200" b="1" u="none" dirty="0">
                <a:latin typeface="宋体" panose="02010600030101010101" pitchFamily="2" charset="-122"/>
              </a:rPr>
              <a:t>H</a:t>
            </a:r>
          </a:p>
        </p:txBody>
      </p:sp>
      <p:sp>
        <p:nvSpPr>
          <p:cNvPr id="28" name="AutoShape 331"/>
          <p:cNvSpPr/>
          <p:nvPr>
            <p:custDataLst>
              <p:tags r:id="rId9"/>
            </p:custDataLst>
          </p:nvPr>
        </p:nvSpPr>
        <p:spPr bwMode="auto">
          <a:xfrm>
            <a:off x="2770282" y="4258671"/>
            <a:ext cx="6156000" cy="288000"/>
          </a:xfrm>
          <a:prstGeom prst="borderCallout2">
            <a:avLst>
              <a:gd name="adj1" fmla="val 50505"/>
              <a:gd name="adj2" fmla="val -4"/>
              <a:gd name="adj3" fmla="val 49711"/>
              <a:gd name="adj4" fmla="val -3793"/>
              <a:gd name="adj5" fmla="val -73230"/>
              <a:gd name="adj6" fmla="val -579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7780" rIns="18000" bIns="0" anchor="ctr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+mn-ea"/>
                <a:ea typeface="+mn-ea"/>
                <a:sym typeface="+mn-ea"/>
              </a:rPr>
              <a:t>次序不变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b="1" u="none" dirty="0">
                <a:latin typeface="+mn-ea"/>
                <a:ea typeface="+mn-ea"/>
              </a:rPr>
              <a:t>CNT</a:t>
            </a:r>
            <a:r>
              <a:rPr lang="zh-CN" altLang="en-US" sz="1600" b="1" u="none" baseline="-18000" dirty="0">
                <a:latin typeface="+mn-ea"/>
                <a:ea typeface="+mn-ea"/>
              </a:rPr>
              <a:t>目标块</a:t>
            </a:r>
            <a:r>
              <a:rPr lang="en-US" altLang="zh-CN" sz="1600" b="1" u="none" dirty="0">
                <a:latin typeface="+mn-ea"/>
                <a:ea typeface="+mn-ea"/>
              </a:rPr>
              <a:t>=0)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时</a:t>
            </a:r>
            <a:r>
              <a:rPr lang="zh-CN" altLang="en-US" sz="1600" b="1" u="none" dirty="0">
                <a:latin typeface="+mn-ea"/>
                <a:ea typeface="+mn-ea"/>
              </a:rPr>
              <a:t>，各</a:t>
            </a:r>
            <a:r>
              <a:rPr lang="en-US" altLang="zh-CN" sz="1600" b="1" u="none" dirty="0">
                <a:latin typeface="+mn-ea"/>
                <a:ea typeface="+mn-ea"/>
              </a:rPr>
              <a:t>CNT</a:t>
            </a:r>
            <a:r>
              <a:rPr lang="zh-CN" altLang="en-US" sz="1600" b="1" u="none" dirty="0">
                <a:latin typeface="+mn-ea"/>
                <a:ea typeface="+mn-ea"/>
              </a:rPr>
              <a:t>不变；</a:t>
            </a:r>
            <a:r>
              <a:rPr lang="en-US" altLang="zh-CN" sz="1600" b="1" u="none" dirty="0">
                <a:latin typeface="+mn-ea"/>
              </a:rPr>
              <a:t>CNT</a:t>
            </a:r>
            <a:r>
              <a:rPr lang="en-US" altLang="zh-CN" sz="1600" b="1" u="none" dirty="0">
                <a:latin typeface="+mn-ea"/>
                <a:ea typeface="+mn-ea"/>
              </a:rPr>
              <a:t>=3</a:t>
            </a:r>
            <a:r>
              <a:rPr lang="zh-CN" altLang="en-US" sz="1600" b="1" u="none" dirty="0">
                <a:latin typeface="+mn-ea"/>
                <a:ea typeface="+mn-ea"/>
              </a:rPr>
              <a:t>时不再增加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饱和计数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45210" y="5044198"/>
            <a:ext cx="514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增加相联度时，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LRU</a:t>
            </a:r>
            <a:r>
              <a:rPr lang="zh-CN" sz="1800" b="1" u="none" dirty="0">
                <a:latin typeface="宋体" panose="02010600030101010101" pitchFamily="2" charset="-122"/>
              </a:rPr>
              <a:t>算法能提高</a:t>
            </a:r>
            <a:r>
              <a:rPr lang="en-US" altLang="zh-CN" sz="1800" b="1" u="none" dirty="0">
                <a:latin typeface="宋体" panose="02010600030101010101" pitchFamily="2" charset="-122"/>
              </a:rPr>
              <a:t>H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的原因是？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451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5400000">
            <a:off x="2987825" y="652445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13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64</a:t>
            </a:fld>
            <a:endParaRPr lang="en-US" altLang="zh-CN" dirty="0"/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4208145" cy="5181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的写策略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写策略类型：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按写命中命名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写命中时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写缺失时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写命中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缺失的组合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包含写策略的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行组成：</a:t>
            </a: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2230" y="836712"/>
            <a:ext cx="7631430" cy="12652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确定写操作的数据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</a:rPr>
              <a:t>何时写回</a:t>
            </a:r>
            <a:r>
              <a:rPr lang="zh-CN" altLang="en-US" sz="2200" b="1" u="none" dirty="0">
                <a:latin typeface="+mn-ea"/>
                <a:ea typeface="+mn-ea"/>
              </a:rPr>
              <a:t>主存 </a:t>
            </a:r>
            <a:r>
              <a:rPr lang="en-US" altLang="zh-CN" sz="2200" b="1" u="none" dirty="0">
                <a:latin typeface="+mn-ea"/>
                <a:ea typeface="+mn-ea"/>
              </a:rPr>
              <a:t>   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又称更新策略</a:t>
            </a:r>
            <a:r>
              <a:rPr lang="en-US" altLang="zh-CN" sz="1800" b="1" u="none" dirty="0">
                <a:latin typeface="+mn-ea"/>
                <a:ea typeface="+mn-ea"/>
              </a:rPr>
              <a:t>)</a:t>
            </a:r>
            <a:endParaRPr lang="en-US" altLang="zh-CN" sz="2200" b="1" u="none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   </a:t>
            </a:r>
            <a:r>
              <a:rPr lang="zh-CN" altLang="en-US" sz="2200" b="1" u="none" dirty="0">
                <a:latin typeface="+mn-ea"/>
                <a:ea typeface="+mn-ea"/>
              </a:rPr>
              <a:t>对</a:t>
            </a:r>
            <a:r>
              <a:rPr lang="en-US" altLang="zh-CN" sz="2200" b="1" u="none" dirty="0">
                <a:latin typeface="+mn-ea"/>
                <a:ea typeface="+mn-ea"/>
              </a:rPr>
              <a:t>T</a:t>
            </a:r>
            <a:r>
              <a:rPr lang="en-US" altLang="zh-CN" sz="2200" b="1" u="none" baseline="-18000" dirty="0">
                <a:latin typeface="+mn-ea"/>
                <a:ea typeface="+mn-ea"/>
              </a:rPr>
              <a:t>A</a:t>
            </a:r>
            <a:r>
              <a:rPr lang="zh-CN" altLang="en-US" sz="2200" b="1" u="none" dirty="0">
                <a:latin typeface="+mn-ea"/>
                <a:ea typeface="+mn-ea"/>
              </a:rPr>
              <a:t>、总线的</a:t>
            </a:r>
            <a:r>
              <a:rPr lang="zh-CN" altLang="en-US" sz="2200" b="1" u="none" dirty="0">
                <a:solidFill>
                  <a:srgbClr val="990099"/>
                </a:solidFill>
                <a:latin typeface="+mn-ea"/>
                <a:ea typeface="+mn-ea"/>
              </a:rPr>
              <a:t>影响程度  </a:t>
            </a:r>
            <a:r>
              <a:rPr lang="en-US" altLang="zh-CN" sz="2200" b="1" u="none" dirty="0">
                <a:solidFill>
                  <a:srgbClr val="990099"/>
                </a:solidFill>
                <a:latin typeface="+mn-ea"/>
                <a:ea typeface="+mn-ea"/>
              </a:rPr>
              <a:t>   </a:t>
            </a:r>
            <a:r>
              <a:rPr lang="en-US" altLang="zh-CN" sz="1800" b="1" u="none" dirty="0">
                <a:latin typeface="+mn-ea"/>
                <a:ea typeface="+mn-ea"/>
              </a:rPr>
              <a:t>[T</a:t>
            </a:r>
            <a:r>
              <a:rPr lang="en-US" altLang="zh-CN" sz="1800" b="1" u="none" baseline="-18000" dirty="0">
                <a:latin typeface="+mn-ea"/>
                <a:ea typeface="+mn-ea"/>
              </a:rPr>
              <a:t>A</a:t>
            </a:r>
            <a:r>
              <a:rPr lang="zh-CN" altLang="en-US" sz="1800" b="1" u="none" dirty="0">
                <a:latin typeface="+mn-ea"/>
                <a:ea typeface="+mn-ea"/>
              </a:rPr>
              <a:t>＝</a:t>
            </a:r>
            <a:r>
              <a:rPr lang="en-US" altLang="zh-CN" sz="1800" b="1" u="none" dirty="0">
                <a:latin typeface="+mn-ea"/>
                <a:ea typeface="+mn-ea"/>
              </a:rPr>
              <a:t>T</a:t>
            </a:r>
            <a:r>
              <a:rPr lang="zh-CN" altLang="en-US" sz="1800" b="1" u="none" baseline="-18000" dirty="0">
                <a:latin typeface="+mn-ea"/>
                <a:ea typeface="+mn-ea"/>
              </a:rPr>
              <a:t>命中</a:t>
            </a:r>
            <a:r>
              <a:rPr lang="zh-CN" altLang="en-US" sz="1800" b="1" u="none" dirty="0">
                <a:latin typeface="+mn-ea"/>
                <a:ea typeface="+mn-ea"/>
              </a:rPr>
              <a:t>＋</a:t>
            </a:r>
            <a:r>
              <a:rPr lang="en-US" altLang="zh-CN" sz="1800" b="1" u="none" dirty="0">
                <a:latin typeface="+mn-ea"/>
                <a:ea typeface="+mn-ea"/>
              </a:rPr>
              <a:t>(1</a:t>
            </a:r>
            <a:r>
              <a:rPr lang="zh-CN" altLang="en-US" sz="1800" b="1" u="none" dirty="0">
                <a:latin typeface="+mn-ea"/>
                <a:ea typeface="+mn-ea"/>
              </a:rPr>
              <a:t>－</a:t>
            </a:r>
            <a:r>
              <a:rPr lang="en-US" altLang="zh-CN" sz="1800" b="1" u="none" dirty="0">
                <a:latin typeface="+mn-ea"/>
                <a:ea typeface="+mn-ea"/>
              </a:rPr>
              <a:t>H)T</a:t>
            </a:r>
            <a:r>
              <a:rPr lang="zh-CN" altLang="en-US" sz="1800" b="1" u="none" baseline="-18000" dirty="0">
                <a:latin typeface="+mn-ea"/>
                <a:ea typeface="+mn-ea"/>
              </a:rPr>
              <a:t>缺失</a:t>
            </a:r>
            <a:r>
              <a:rPr lang="en-US" altLang="zh-CN" sz="1800" b="1" u="none" dirty="0">
                <a:latin typeface="+mn-ea"/>
                <a:ea typeface="+mn-ea"/>
              </a:rPr>
              <a:t>]</a:t>
            </a:r>
          </a:p>
        </p:txBody>
      </p:sp>
      <p:sp>
        <p:nvSpPr>
          <p:cNvPr id="37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08000" y="1268760"/>
            <a:ext cx="406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中数据为何要写回主存？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4140" y="1268760"/>
            <a:ext cx="377952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主存共享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CPU/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私有</a:t>
            </a:r>
          </a:p>
        </p:txBody>
      </p:sp>
      <p:cxnSp>
        <p:nvCxnSpPr>
          <p:cNvPr id="16" name="直接箭头连接符 15"/>
          <p:cNvCxnSpPr/>
          <p:nvPr>
            <p:custDataLst>
              <p:tags r:id="rId5"/>
            </p:custDataLst>
          </p:nvPr>
        </p:nvCxnSpPr>
        <p:spPr bwMode="auto">
          <a:xfrm flipH="1">
            <a:off x="3384000" y="1563022"/>
            <a:ext cx="2164080" cy="1524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Text Box 10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14336" y="2420888"/>
            <a:ext cx="7122160" cy="27877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 bIns="0">
            <a:spAutoFit/>
          </a:bodyPr>
          <a:lstStyle/>
          <a:p>
            <a:pPr marL="0" indent="0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全写法：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和主存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个字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none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保持一致性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写回法：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只写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替换时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写主存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整个块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none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优化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endParaRPr lang="zh-CN" altLang="en-US" sz="1800" b="1" u="none" dirty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                </a:t>
            </a: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块被改过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才写主存</a:t>
            </a:r>
            <a:endParaRPr lang="en-US" altLang="zh-CN" sz="1800" b="1" u="none" dirty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写分配法：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目标块调入主存，再按写命中处理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非写分配法：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目标块不调入主存，直接写主存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全写法＋非写分配法，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写回法＋写分配法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反正要写主存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遵循访问局部性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75656" y="3356992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u="none" dirty="0">
                <a:latin typeface="宋体" panose="02010600030101010101" pitchFamily="2" charset="-122"/>
              </a:rPr>
              <a:t>没改过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的块</a:t>
            </a:r>
            <a:r>
              <a:rPr lang="zh-CN" sz="1800" b="1" u="none" dirty="0">
                <a:latin typeface="宋体" panose="02010600030101010101" pitchFamily="2" charset="-122"/>
              </a:rPr>
              <a:t>也要写主存吗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55" name="Text Box 14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12160" y="5301208"/>
            <a:ext cx="2628000" cy="100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solidFill>
                  <a:srgbClr val="C00000"/>
                </a:solidFill>
                <a:cs typeface="Times New Roman" panose="02020603050405020304" pitchFamily="18" charset="0"/>
              </a:rPr>
              <a:t>全写</a:t>
            </a:r>
            <a:r>
              <a:rPr lang="en-US" altLang="zh-CN" sz="1600" b="1" u="none" dirty="0">
                <a:solidFill>
                  <a:srgbClr val="C000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sz="1600" u="none" dirty="0">
                <a:cs typeface="Times New Roman" panose="02020603050405020304" pitchFamily="18" charset="0"/>
                <a:sym typeface="+mn-ea"/>
              </a:rPr>
              <a:t>Write Through</a:t>
            </a:r>
            <a:endParaRPr lang="en-US" sz="1600" u="none" dirty="0"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>
                <a:solidFill>
                  <a:srgbClr val="C00000"/>
                </a:solidFill>
                <a:cs typeface="Times New Roman" panose="02020603050405020304" pitchFamily="18" charset="0"/>
              </a:rPr>
              <a:t>写回</a:t>
            </a:r>
            <a:r>
              <a:rPr lang="en-US" altLang="zh-CN" sz="1600" b="1" u="none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cs typeface="Times New Roman" panose="02020603050405020304" pitchFamily="18" charset="0"/>
                <a:sym typeface="+mn-ea"/>
              </a:rPr>
              <a:t>Write Back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写分配</a:t>
            </a:r>
            <a:r>
              <a:rPr lang="en-US" altLang="zh-CN" sz="1600" b="1" u="none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Write Allocate</a:t>
            </a:r>
            <a:endParaRPr lang="en-US" altLang="zh-CN" sz="1600" b="1" u="none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非写分配</a:t>
            </a:r>
            <a:r>
              <a:rPr lang="en-US" altLang="zh-CN" sz="1600" b="1" u="none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Not Write Allocate</a:t>
            </a:r>
            <a:endParaRPr lang="en-US" altLang="zh-CN" sz="1600" b="1" u="none" spc="-10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00245" y="5589240"/>
            <a:ext cx="4356000" cy="252000"/>
            <a:chOff x="287624" y="6092403"/>
            <a:chExt cx="4356000" cy="288925"/>
          </a:xfrm>
        </p:grpSpPr>
        <p:sp>
          <p:nvSpPr>
            <p:cNvPr id="10" name="Text Box 136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87624" y="6092403"/>
              <a:ext cx="183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8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全写法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的行组成：</a:t>
              </a:r>
            </a:p>
          </p:txBody>
        </p:sp>
        <p:sp>
          <p:nvSpPr>
            <p:cNvPr id="11" name="Line 1365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563665" y="6093990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36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123803" y="6092403"/>
              <a:ext cx="288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V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36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411624" y="6092403"/>
              <a:ext cx="576263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Tag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36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779624" y="6092403"/>
              <a:ext cx="864000" cy="28892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800" b="1" u="none">
                  <a:latin typeface="宋体" panose="02010600030101010101" pitchFamily="2" charset="-122"/>
                </a:rPr>
                <a:t>缓存块</a:t>
              </a:r>
            </a:p>
          </p:txBody>
        </p:sp>
        <p:sp>
          <p:nvSpPr>
            <p:cNvPr id="63" name="Text Box 1375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987624" y="6092403"/>
              <a:ext cx="791418" cy="28892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LRU</a:t>
              </a: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64" name="Line 1371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3419624" y="6092973"/>
              <a:ext cx="0" cy="2873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00430" y="6021288"/>
            <a:ext cx="4355465" cy="252000"/>
            <a:chOff x="1531" y="9411"/>
            <a:chExt cx="6859" cy="455"/>
          </a:xfrm>
        </p:grpSpPr>
        <p:sp>
          <p:nvSpPr>
            <p:cNvPr id="17" name="Text Box 13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531" y="9411"/>
              <a:ext cx="2891" cy="45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8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写回法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的行组成：</a:t>
              </a:r>
            </a:p>
          </p:txBody>
        </p:sp>
        <p:sp>
          <p:nvSpPr>
            <p:cNvPr id="18" name="Line 1365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6690" y="941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136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422" y="9411"/>
              <a:ext cx="454" cy="45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V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36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876" y="9411"/>
              <a:ext cx="908" cy="45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Tag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36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030" y="9411"/>
              <a:ext cx="1361" cy="45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800" b="1" u="none">
                  <a:latin typeface="宋体" panose="02010600030101010101" pitchFamily="2" charset="-122"/>
                </a:rPr>
                <a:t>缓存块</a:t>
              </a:r>
            </a:p>
          </p:txBody>
        </p:sp>
        <p:sp>
          <p:nvSpPr>
            <p:cNvPr id="22" name="Text Box 137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783" y="9411"/>
              <a:ext cx="1246" cy="45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LRU </a:t>
              </a: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M </a:t>
              </a:r>
            </a:p>
          </p:txBody>
        </p:sp>
        <p:sp>
          <p:nvSpPr>
            <p:cNvPr id="23" name="Line 137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6463" y="9412"/>
              <a:ext cx="0" cy="45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37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6803" y="9411"/>
              <a:ext cx="0" cy="45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9" name="AutoShape 331"/>
          <p:cNvSpPr/>
          <p:nvPr>
            <p:custDataLst>
              <p:tags r:id="rId9"/>
            </p:custDataLst>
          </p:nvPr>
        </p:nvSpPr>
        <p:spPr bwMode="auto">
          <a:xfrm>
            <a:off x="4752328" y="6417265"/>
            <a:ext cx="2772000" cy="252095"/>
          </a:xfrm>
          <a:prstGeom prst="borderCallout2">
            <a:avLst>
              <a:gd name="adj1" fmla="val 50061"/>
              <a:gd name="adj2" fmla="val 82"/>
              <a:gd name="adj3" fmla="val 49118"/>
              <a:gd name="adj4" fmla="val -6505"/>
              <a:gd name="adj5" fmla="val -86937"/>
              <a:gd name="adj6" fmla="val -20052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+mn-ea"/>
                <a:ea typeface="+mn-ea"/>
              </a:rPr>
              <a:t>称为脏位</a:t>
            </a:r>
            <a:r>
              <a:rPr lang="en-US" altLang="zh-CN" sz="1600" b="1" u="none" dirty="0"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latin typeface="+mn-ea"/>
                <a:ea typeface="+mn-ea"/>
              </a:rPr>
              <a:t>表示块是否改写过</a:t>
            </a:r>
            <a:r>
              <a:rPr lang="en-US" altLang="zh-CN" sz="1600" b="1" u="none" dirty="0">
                <a:latin typeface="+mn-ea"/>
                <a:ea typeface="+mn-ea"/>
              </a:rPr>
              <a:t>)</a:t>
            </a:r>
            <a:endParaRPr lang="en-US" altLang="zh-CN" sz="1600" b="1" u="none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31" name="AutoShape 62">
            <a:hlinkClick r:id="rId29" action="ppaction://hlinksldjump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4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6" grpId="0" bldLvl="0" animBg="1"/>
      <p:bldP spid="8" grpId="0" bldLvl="0" animBg="1"/>
      <p:bldP spid="255" grpId="0" bldLvl="0" animBg="1"/>
      <p:bldP spid="159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65</a:t>
            </a:fld>
            <a:endParaRPr lang="en-US" altLang="zh-CN" dirty="0"/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926080" cy="6009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操作过程：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性能分析：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写策略应用：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791845" y="836712"/>
            <a:ext cx="3636010" cy="3168015"/>
            <a:chOff x="1247" y="1531"/>
            <a:chExt cx="5726" cy="4989"/>
          </a:xfrm>
        </p:grpSpPr>
        <p:sp>
          <p:nvSpPr>
            <p:cNvPr id="21" name="Rectangle 111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4252" y="1701"/>
              <a:ext cx="2721" cy="481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AutoShape 103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531" y="4535"/>
              <a:ext cx="2041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/>
                <a:t>写？</a:t>
              </a:r>
            </a:p>
          </p:txBody>
        </p:sp>
        <p:sp>
          <p:nvSpPr>
            <p:cNvPr id="23" name="Text Box 105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531" y="5329"/>
              <a:ext cx="2041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4" name="Text Box 107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268" y="498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75"/>
              </p:custDataLst>
            </p:nvPr>
          </p:nvCxnSpPr>
          <p:spPr bwMode="auto">
            <a:xfrm>
              <a:off x="2552" y="493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69"/>
            <p:cNvCxnSpPr/>
            <p:nvPr>
              <p:custDataLst>
                <p:tags r:id="rId76"/>
              </p:custDataLst>
            </p:nvPr>
          </p:nvCxnSpPr>
          <p:spPr bwMode="auto">
            <a:xfrm rot="10800000" flipH="1" flipV="1">
              <a:off x="1531" y="4734"/>
              <a:ext cx="1022" cy="1134"/>
            </a:xfrm>
            <a:prstGeom prst="bentConnector4">
              <a:avLst>
                <a:gd name="adj1" fmla="val -35219"/>
                <a:gd name="adj2" fmla="val 100534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" name="Text Box 132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247" y="47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129"/>
            <p:cNvCxnSpPr>
              <a:stCxn id="23" idx="2"/>
            </p:cNvCxnSpPr>
            <p:nvPr>
              <p:custDataLst>
                <p:tags r:id="rId78"/>
              </p:custDataLst>
            </p:nvPr>
          </p:nvCxnSpPr>
          <p:spPr bwMode="auto">
            <a:xfrm flipH="1">
              <a:off x="2550" y="5726"/>
              <a:ext cx="2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" name="Text Box 132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458" y="28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133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361" y="2268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目标主存块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" name="AutoShape 134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644" y="2948"/>
              <a:ext cx="1814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/>
                <a:t>命中？</a:t>
              </a:r>
            </a:p>
          </p:txBody>
        </p:sp>
        <p:sp>
          <p:nvSpPr>
            <p:cNvPr id="32" name="Text Box 139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2219" y="335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3" name="AutoShape 141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361" y="1531"/>
              <a:ext cx="238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43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361" y="3798"/>
              <a:ext cx="238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目标行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" name="AutoShape 145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361" y="6123"/>
              <a:ext cx="238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86"/>
              </p:custDataLst>
            </p:nvPr>
          </p:nvCxnSpPr>
          <p:spPr bwMode="auto">
            <a:xfrm>
              <a:off x="2551" y="3345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87"/>
              </p:custDataLst>
            </p:nvPr>
          </p:nvCxnSpPr>
          <p:spPr bwMode="auto">
            <a:xfrm>
              <a:off x="2557" y="194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2551" y="2665"/>
              <a:ext cx="1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89"/>
              </p:custDataLst>
            </p:nvPr>
          </p:nvCxnSpPr>
          <p:spPr bwMode="auto">
            <a:xfrm>
              <a:off x="2552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64"/>
            <p:cNvCxnSpPr/>
            <p:nvPr>
              <p:custDataLst>
                <p:tags r:id="rId90"/>
              </p:custDataLst>
            </p:nvPr>
          </p:nvCxnSpPr>
          <p:spPr bwMode="auto">
            <a:xfrm>
              <a:off x="4025" y="1587"/>
              <a:ext cx="1644" cy="283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" name="Text Box 128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5726" y="6178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400" b="1" u="none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缺失处理</a:t>
              </a:r>
              <a:endParaRPr lang="zh-CN" altLang="en-US" sz="1400" b="1" u="none" baseline="-20000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42" name="直接箭头连接符 64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3458" y="1587"/>
              <a:ext cx="567" cy="155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93"/>
              </p:custDataLst>
            </p:nvPr>
          </p:nvCxnSpPr>
          <p:spPr bwMode="auto">
            <a:xfrm flipH="1" flipV="1">
              <a:off x="2552" y="3515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4" name="组合 43"/>
          <p:cNvGrpSpPr/>
          <p:nvPr/>
        </p:nvGrpSpPr>
        <p:grpSpPr>
          <a:xfrm>
            <a:off x="1620000" y="1016712"/>
            <a:ext cx="2736215" cy="2844165"/>
            <a:chOff x="6406" y="1814"/>
            <a:chExt cx="4309" cy="4479"/>
          </a:xfrm>
        </p:grpSpPr>
        <p:sp>
          <p:nvSpPr>
            <p:cNvPr id="45" name="Text Box 12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561" y="4932"/>
              <a:ext cx="1928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6" name="AutoShape 114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561" y="2665"/>
              <a:ext cx="1928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空闲行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115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561" y="5726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17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184" y="311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2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0431" y="255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24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561" y="3458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牺牲行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箭头连接符 50"/>
            <p:cNvCxnSpPr/>
            <p:nvPr>
              <p:custDataLst>
                <p:tags r:id="rId53"/>
              </p:custDataLst>
            </p:nvPr>
          </p:nvCxnSpPr>
          <p:spPr bwMode="auto">
            <a:xfrm>
              <a:off x="9525" y="306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54"/>
              </p:custDataLst>
            </p:nvPr>
          </p:nvCxnSpPr>
          <p:spPr bwMode="auto">
            <a:xfrm>
              <a:off x="9524" y="4592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81"/>
            <p:cNvCxnSpPr/>
            <p:nvPr>
              <p:custDataLst>
                <p:tags r:id="rId55"/>
              </p:custDataLst>
            </p:nvPr>
          </p:nvCxnSpPr>
          <p:spPr bwMode="auto">
            <a:xfrm>
              <a:off x="9525" y="532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4" name="AutoShape 103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617" y="1871"/>
              <a:ext cx="1814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/>
                <a:t>写？</a:t>
              </a:r>
            </a:p>
          </p:txBody>
        </p:sp>
        <p:cxnSp>
          <p:nvCxnSpPr>
            <p:cNvPr id="55" name="直接箭头连接符 54"/>
            <p:cNvCxnSpPr/>
            <p:nvPr>
              <p:custDataLst>
                <p:tags r:id="rId57"/>
              </p:custDataLst>
            </p:nvPr>
          </p:nvCxnSpPr>
          <p:spPr bwMode="auto">
            <a:xfrm>
              <a:off x="9524" y="2268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" name="Text Box 12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184" y="232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11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334" y="1814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8" name="AutoShape 103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617" y="4195"/>
              <a:ext cx="1814" cy="397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/>
            </a:p>
          </p:txBody>
        </p:sp>
        <p:cxnSp>
          <p:nvCxnSpPr>
            <p:cNvPr id="59" name="直接箭头连接符 58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9524" y="3855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62"/>
              </p:custDataLst>
            </p:nvPr>
          </p:nvCxnSpPr>
          <p:spPr bwMode="auto">
            <a:xfrm>
              <a:off x="8391" y="3515"/>
              <a:ext cx="1" cy="277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63"/>
              </p:custDataLst>
            </p:nvPr>
          </p:nvCxnSpPr>
          <p:spPr bwMode="auto">
            <a:xfrm>
              <a:off x="8391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64"/>
              </p:custDataLst>
            </p:nvPr>
          </p:nvCxnSpPr>
          <p:spPr bwMode="auto">
            <a:xfrm>
              <a:off x="9523" y="6123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489" y="2863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66"/>
              </p:custDataLst>
            </p:nvPr>
          </p:nvCxnSpPr>
          <p:spPr bwMode="auto">
            <a:xfrm>
              <a:off x="10715" y="2863"/>
              <a:ext cx="1" cy="266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9523" y="5513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68"/>
              </p:custDataLst>
            </p:nvPr>
          </p:nvCxnSpPr>
          <p:spPr bwMode="auto">
            <a:xfrm>
              <a:off x="8220" y="206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69"/>
              </p:custDataLst>
            </p:nvPr>
          </p:nvCxnSpPr>
          <p:spPr bwMode="auto">
            <a:xfrm>
              <a:off x="8221" y="2069"/>
              <a:ext cx="1" cy="3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6406" y="5102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4932390" y="836712"/>
            <a:ext cx="3563620" cy="3176905"/>
            <a:chOff x="1361" y="1531"/>
            <a:chExt cx="5612" cy="5003"/>
          </a:xfrm>
        </p:grpSpPr>
        <p:sp>
          <p:nvSpPr>
            <p:cNvPr id="70" name="Rectangle 111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252" y="1701"/>
              <a:ext cx="2721" cy="481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AutoShape 103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531" y="4535"/>
              <a:ext cx="2041" cy="397"/>
            </a:xfrm>
            <a:prstGeom prst="flowChartDecision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endParaRPr lang="zh-CN" altLang="en-US" sz="1600" b="1" u="none" dirty="0"/>
            </a:p>
          </p:txBody>
        </p:sp>
        <p:sp>
          <p:nvSpPr>
            <p:cNvPr id="72" name="Text Box 10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531" y="5343"/>
              <a:ext cx="2041" cy="39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箭头连接符 74"/>
            <p:cNvCxnSpPr/>
            <p:nvPr>
              <p:custDataLst>
                <p:tags r:id="rId30"/>
              </p:custDataLst>
            </p:nvPr>
          </p:nvCxnSpPr>
          <p:spPr bwMode="auto">
            <a:xfrm>
              <a:off x="2552" y="493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129"/>
            <p:cNvCxnSpPr>
              <a:stCxn id="72" idx="2"/>
            </p:cNvCxnSpPr>
            <p:nvPr>
              <p:custDataLst>
                <p:tags r:id="rId31"/>
              </p:custDataLst>
            </p:nvPr>
          </p:nvCxnSpPr>
          <p:spPr bwMode="auto">
            <a:xfrm flipH="1">
              <a:off x="2550" y="5740"/>
              <a:ext cx="2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Text Box 13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458" y="28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13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361" y="2268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目标主存块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8" name="AutoShape 134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644" y="2948"/>
              <a:ext cx="1814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/>
                <a:t>命中？</a:t>
              </a:r>
            </a:p>
          </p:txBody>
        </p:sp>
        <p:sp>
          <p:nvSpPr>
            <p:cNvPr id="119" name="Text Box 139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219" y="335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0" name="AutoShape 141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361" y="1531"/>
              <a:ext cx="238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14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361" y="3798"/>
              <a:ext cx="238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目标行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AutoShape 14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361" y="6137"/>
              <a:ext cx="238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57" name="直接箭头连接符 156"/>
            <p:cNvCxnSpPr/>
            <p:nvPr>
              <p:custDataLst>
                <p:tags r:id="rId39"/>
              </p:custDataLst>
            </p:nvPr>
          </p:nvCxnSpPr>
          <p:spPr bwMode="auto">
            <a:xfrm>
              <a:off x="2551" y="3345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40"/>
              </p:custDataLst>
            </p:nvPr>
          </p:nvCxnSpPr>
          <p:spPr bwMode="auto">
            <a:xfrm>
              <a:off x="2557" y="194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2551" y="2665"/>
              <a:ext cx="1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42"/>
              </p:custDataLst>
            </p:nvPr>
          </p:nvCxnSpPr>
          <p:spPr bwMode="auto">
            <a:xfrm>
              <a:off x="2552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64"/>
            <p:cNvCxnSpPr/>
            <p:nvPr>
              <p:custDataLst>
                <p:tags r:id="rId43"/>
              </p:custDataLst>
            </p:nvPr>
          </p:nvCxnSpPr>
          <p:spPr bwMode="auto">
            <a:xfrm>
              <a:off x="4025" y="1587"/>
              <a:ext cx="1644" cy="283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2" name="Text Box 12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726" y="6180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缺失处理</a:t>
              </a:r>
            </a:p>
          </p:txBody>
        </p:sp>
        <p:cxnSp>
          <p:nvCxnSpPr>
            <p:cNvPr id="163" name="直接箭头连接符 64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3458" y="1587"/>
              <a:ext cx="567" cy="155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2552" y="3515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65" name="组合 164"/>
          <p:cNvGrpSpPr/>
          <p:nvPr/>
        </p:nvGrpSpPr>
        <p:grpSpPr>
          <a:xfrm>
            <a:off x="6948475" y="1052712"/>
            <a:ext cx="1476375" cy="2807970"/>
            <a:chOff x="8391" y="1871"/>
            <a:chExt cx="2325" cy="4422"/>
          </a:xfrm>
        </p:grpSpPr>
        <p:sp>
          <p:nvSpPr>
            <p:cNvPr id="166" name="Text Box 12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561" y="4932"/>
              <a:ext cx="1928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块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7" name="AutoShape 11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561" y="2665"/>
              <a:ext cx="1928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空闲行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1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561" y="5726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1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184" y="311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12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431" y="255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1" name="Text Box 12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561" y="3458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牺牲行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箭头连接符 171"/>
            <p:cNvCxnSpPr/>
            <p:nvPr>
              <p:custDataLst>
                <p:tags r:id="rId11"/>
              </p:custDataLst>
            </p:nvPr>
          </p:nvCxnSpPr>
          <p:spPr bwMode="auto">
            <a:xfrm>
              <a:off x="9525" y="306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12"/>
              </p:custDataLst>
            </p:nvPr>
          </p:nvCxnSpPr>
          <p:spPr bwMode="auto">
            <a:xfrm>
              <a:off x="9524" y="4592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81"/>
            <p:cNvCxnSpPr/>
            <p:nvPr>
              <p:custDataLst>
                <p:tags r:id="rId13"/>
              </p:custDataLst>
            </p:nvPr>
          </p:nvCxnSpPr>
          <p:spPr bwMode="auto">
            <a:xfrm>
              <a:off x="9525" y="532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5" name="AutoShape 10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617" y="1871"/>
              <a:ext cx="1814" cy="397"/>
            </a:xfrm>
            <a:prstGeom prst="flowChartDecision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/>
            </a:p>
          </p:txBody>
        </p:sp>
        <p:cxnSp>
          <p:nvCxnSpPr>
            <p:cNvPr id="176" name="直接箭头连接符 175"/>
            <p:cNvCxnSpPr/>
            <p:nvPr>
              <p:custDataLst>
                <p:tags r:id="rId15"/>
              </p:custDataLst>
            </p:nvPr>
          </p:nvCxnSpPr>
          <p:spPr bwMode="auto">
            <a:xfrm>
              <a:off x="9524" y="2268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7" name="Text Box 12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318" y="413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11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241" y="464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AutoShape 10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617" y="4195"/>
              <a:ext cx="1814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块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改过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?</a:t>
              </a:r>
              <a:endPara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9524" y="3855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20"/>
              </p:custDataLst>
            </p:nvPr>
          </p:nvCxnSpPr>
          <p:spPr bwMode="auto">
            <a:xfrm>
              <a:off x="8391" y="3515"/>
              <a:ext cx="1" cy="277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>
              <p:custDataLst>
                <p:tags r:id="rId21"/>
              </p:custDataLst>
            </p:nvPr>
          </p:nvCxnSpPr>
          <p:spPr bwMode="auto">
            <a:xfrm>
              <a:off x="8391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/>
            <p:cNvCxnSpPr/>
            <p:nvPr>
              <p:custDataLst>
                <p:tags r:id="rId22"/>
              </p:custDataLst>
            </p:nvPr>
          </p:nvCxnSpPr>
          <p:spPr bwMode="auto">
            <a:xfrm>
              <a:off x="9523" y="6123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489" y="2863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715" y="2863"/>
              <a:ext cx="1" cy="266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9523" y="5513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7" name="直接箭头连接符 186"/>
            <p:cNvCxnSpPr/>
            <p:nvPr>
              <p:custDataLst>
                <p:tags r:id="rId26"/>
              </p:custDataLst>
            </p:nvPr>
          </p:nvCxnSpPr>
          <p:spPr bwMode="auto">
            <a:xfrm>
              <a:off x="10431" y="4394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191" name="表格 190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83785581"/>
              </p:ext>
            </p:extLst>
          </p:nvPr>
        </p:nvGraphicFramePr>
        <p:xfrm>
          <a:off x="1263650" y="4581128"/>
          <a:ext cx="7272020" cy="125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4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读命中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读缺失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写命中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缺失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总线占用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全写法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Cache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字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)</a:t>
                      </a:r>
                      <a:r>
                        <a:rPr lang="en-US" altLang="zh-CN" sz="1800" b="1" baseline="30000" dirty="0">
                          <a:latin typeface="+mn-ea"/>
                          <a:sym typeface="+mn-ea"/>
                        </a:rPr>
                        <a:t>①</a:t>
                      </a:r>
                      <a:endParaRPr lang="en-US" altLang="zh-CN" sz="1800" b="1" baseline="300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②</a:t>
                      </a:r>
                      <a:endParaRPr lang="en-US" altLang="zh-CN" b="1" baseline="3000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读缺失、</a:t>
                      </a:r>
                      <a:r>
                        <a:rPr lang="zh-CN" altLang="en-US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每次写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写回法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Cache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 ≥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)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Cache</a:t>
                      </a:r>
                      <a:endParaRPr lang="en-US" altLang="zh-CN" sz="1800" b="1" baseline="-16000" dirty="0" err="1">
                        <a:solidFill>
                          <a:srgbClr val="990099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≥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)</a:t>
                      </a:r>
                      <a:endParaRPr lang="en-US" altLang="zh-CN" sz="1800" b="1" baseline="-16000" dirty="0">
                        <a:solidFill>
                          <a:srgbClr val="990099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读缺失、</a:t>
                      </a:r>
                      <a:r>
                        <a:rPr lang="zh-CN" altLang="en-US" sz="18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替换时</a:t>
                      </a: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r>
                        <a:rPr lang="en-US" altLang="zh-CN" sz="1800" b="1" dirty="0">
                          <a:latin typeface="+mn-ea"/>
                          <a:sym typeface="+mn-ea"/>
                        </a:rPr>
                        <a:t>&gt;&gt;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cache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  ②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缺失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停顿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-T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命中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 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仅调入时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＝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、有替换时＞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800" marB="28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2" name="Text Box 7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6000" y="5877272"/>
            <a:ext cx="41814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常采用写回法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600" b="1" u="none" dirty="0">
                <a:latin typeface="宋体" panose="02010600030101010101" pitchFamily="2" charset="-122"/>
              </a:rPr>
              <a:t>小、占用总线少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9" name="AutoShape 24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线形标注 2 2"/>
          <p:cNvSpPr/>
          <p:nvPr/>
        </p:nvSpPr>
        <p:spPr bwMode="auto">
          <a:xfrm>
            <a:off x="2880000" y="4112712"/>
            <a:ext cx="1728000" cy="252000"/>
          </a:xfrm>
          <a:prstGeom prst="borderCallout2">
            <a:avLst>
              <a:gd name="adj1" fmla="val 45415"/>
              <a:gd name="adj2" fmla="val 269"/>
              <a:gd name="adj3" fmla="val 49961"/>
              <a:gd name="adj4" fmla="val -12810"/>
              <a:gd name="adj5" fmla="val -393946"/>
              <a:gd name="adj6" fmla="val 1288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丢弃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与主存一致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1" name="线形标注 2 2">
            <a:extLst>
              <a:ext uri="{FF2B5EF4-FFF2-40B4-BE49-F238E27FC236}">
                <a16:creationId xmlns:a16="http://schemas.microsoft.com/office/drawing/2014/main" id="{AB652DDE-5F10-4B61-A8F9-FBF79A6E2D53}"/>
              </a:ext>
            </a:extLst>
          </p:cNvPr>
          <p:cNvSpPr/>
          <p:nvPr/>
        </p:nvSpPr>
        <p:spPr bwMode="auto">
          <a:xfrm>
            <a:off x="6732432" y="4113104"/>
            <a:ext cx="1728000" cy="252000"/>
          </a:xfrm>
          <a:prstGeom prst="borderCallout2">
            <a:avLst>
              <a:gd name="adj1" fmla="val 45415"/>
              <a:gd name="adj2" fmla="val 269"/>
              <a:gd name="adj3" fmla="val 49961"/>
              <a:gd name="adj4" fmla="val -12810"/>
              <a:gd name="adj5" fmla="val -306748"/>
              <a:gd name="adj6" fmla="val -2895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替换时才写主存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bldLvl="0" animBg="1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66</a:t>
            </a:fld>
            <a:endParaRPr lang="en-US" altLang="zh-CN"/>
          </a:p>
        </p:txBody>
      </p:sp>
      <p:sp>
        <p:nvSpPr>
          <p:cNvPr id="69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522595" cy="52330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5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组织示例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新的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结构：</a:t>
            </a: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多级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18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16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优点：</a:t>
            </a:r>
            <a:endParaRPr lang="zh-CN" altLang="en-US" sz="22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哈佛结构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0000"/>
              </a:lnSpc>
            </a:pPr>
            <a:endParaRPr lang="en-US" altLang="zh-CN" sz="1600" b="1" u="none" spc="-50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spc="-50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spc="-50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优点：</a:t>
            </a:r>
            <a:endParaRPr lang="en-US" altLang="zh-CN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Text Box 7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3735" y="1268747"/>
            <a:ext cx="7030085" cy="42866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层次结构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代替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单级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(L1$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是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L2$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的子集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├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随容量、相联度增大</a:t>
            </a:r>
            <a:endParaRPr lang="en-US" altLang="zh-CN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←F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随相联度高降低</a:t>
            </a:r>
            <a:endParaRPr lang="en-US" altLang="zh-CN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L1$</a:t>
            </a:r>
            <a:r>
              <a:rPr lang="zh-CN" altLang="en-US" sz="22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较小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容量小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结构简单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22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L2$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较低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提高相联度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虚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实地址变换与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L1$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访问可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隐藏部分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L1$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下节讨论</a:t>
            </a:r>
            <a:endParaRPr lang="zh-CN" altLang="en-US" sz="22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代替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联合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                             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又称为</a:t>
            </a:r>
            <a:r>
              <a: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冯</a:t>
            </a:r>
            <a:r>
              <a:rPr lang="en-US" altLang="zh-CN" sz="1600" u="none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诺依曼结构</a:t>
            </a:r>
            <a:endParaRPr lang="en-US" altLang="zh-CN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取指令、访问数据可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均缺失时才有冲突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特别适于</a:t>
            </a:r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流水线</a:t>
            </a:r>
            <a:endParaRPr lang="zh-CN" altLang="en-US" sz="1600" b="1" u="none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4572000" y="908720"/>
            <a:ext cx="3924000" cy="288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</p:spPr>
        <p:txBody>
          <a:bodyPr wrap="square" lIns="36195" tIns="0" rIns="36195" bIns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H)T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endParaRPr lang="zh-CN" altLang="en-US" sz="1800" b="1" u="none" baseline="-18000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91680" y="2204864"/>
            <a:ext cx="6048536" cy="576072"/>
            <a:chOff x="1547640" y="3429000"/>
            <a:chExt cx="6048536" cy="576072"/>
          </a:xfrm>
        </p:grpSpPr>
        <p:sp>
          <p:nvSpPr>
            <p:cNvPr id="7" name="Text Box 8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653075" y="3717064"/>
              <a:ext cx="64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L1$</a:t>
              </a:r>
            </a:p>
          </p:txBody>
        </p:sp>
        <p:sp>
          <p:nvSpPr>
            <p:cNvPr id="8" name="Text Box 8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948176" y="3429000"/>
              <a:ext cx="648000" cy="57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9" name="Text Box 8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715992" y="3789064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0" name="Text Box 84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300104" y="3573072"/>
              <a:ext cx="64800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L2$</a:t>
              </a:r>
            </a:p>
          </p:txBody>
        </p:sp>
        <p:sp>
          <p:nvSpPr>
            <p:cNvPr id="11" name="Text Box 8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131824" y="3429072"/>
              <a:ext cx="648000" cy="57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2" name="Text Box 8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547640" y="3789064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3" name="Text Box 8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483752" y="3573064"/>
              <a:ext cx="64800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14" name="AutoShape 88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067904" y="3645024"/>
              <a:ext cx="432000" cy="360040"/>
            </a:xfrm>
            <a:prstGeom prst="rightArrow">
              <a:avLst>
                <a:gd name="adj1" fmla="val 42861"/>
                <a:gd name="adj2" fmla="val 38109"/>
              </a:avLst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zh-CN" sz="1800"/>
            </a:p>
          </p:txBody>
        </p:sp>
        <p:sp>
          <p:nvSpPr>
            <p:cNvPr id="28" name="Line 89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2124905" y="3893810"/>
              <a:ext cx="358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" name="Line 90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5292080" y="3893706"/>
              <a:ext cx="358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1619672" y="4221088"/>
            <a:ext cx="4752344" cy="864000"/>
            <a:chOff x="1835776" y="1413744"/>
            <a:chExt cx="4752344" cy="864000"/>
          </a:xfrm>
        </p:grpSpPr>
        <p:sp>
          <p:nvSpPr>
            <p:cNvPr id="216" name="Text Box 10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843808" y="1484709"/>
              <a:ext cx="1224000" cy="72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8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 rot="10800000" flipV="1">
              <a:off x="1835776" y="1629768"/>
              <a:ext cx="720000" cy="43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202" name="Line 83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H="1" flipV="1">
              <a:off x="2556024" y="198980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Text Box 89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987928" y="1557760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I-Cache</a:t>
              </a:r>
            </a:p>
          </p:txBody>
        </p:sp>
        <p:sp>
          <p:nvSpPr>
            <p:cNvPr id="204" name="Text Box 10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987928" y="1881824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D-Cache</a:t>
              </a:r>
            </a:p>
          </p:txBody>
        </p:sp>
        <p:sp>
          <p:nvSpPr>
            <p:cNvPr id="205" name="Line 10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 flipV="1">
              <a:off x="2556024" y="170271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Text Box 10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355976" y="1485231"/>
              <a:ext cx="936000" cy="72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L2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207" name="Text Box 10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652120" y="1413744"/>
              <a:ext cx="936000" cy="86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08" name="Line 11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3923928" y="1989683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11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H="1" flipV="1">
              <a:off x="3923928" y="1701328"/>
              <a:ext cx="4365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112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 flipV="1">
              <a:off x="5292080" y="1847181"/>
              <a:ext cx="3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383915" y="5481392"/>
            <a:ext cx="3383915" cy="720090"/>
            <a:chOff x="5329" y="8844"/>
            <a:chExt cx="5329" cy="1134"/>
          </a:xfrm>
        </p:grpSpPr>
        <p:cxnSp>
          <p:nvCxnSpPr>
            <p:cNvPr id="5" name="直接箭头连接符 4"/>
            <p:cNvCxnSpPr/>
            <p:nvPr>
              <p:custDataLst>
                <p:tags r:id="rId4"/>
              </p:custDataLst>
            </p:nvPr>
          </p:nvCxnSpPr>
          <p:spPr bwMode="auto">
            <a:xfrm>
              <a:off x="6293" y="8957"/>
              <a:ext cx="402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Text Box 6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29" y="9014"/>
              <a:ext cx="964" cy="9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/>
            <a:lstStyle/>
            <a:p>
              <a:pPr algn="l">
                <a:lnSpc>
                  <a:spcPct val="100000"/>
                </a:lnSpc>
              </a:pPr>
              <a:r>
                <a:rPr 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  <a:p>
              <a:pPr algn="l">
                <a:lnSpc>
                  <a:spcPct val="100000"/>
                </a:lnSpc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  <a:p>
              <a:pPr algn="l">
                <a:lnSpc>
                  <a:spcPct val="100000"/>
                </a:lnSpc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93" y="9014"/>
              <a:ext cx="567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IF</a:t>
              </a:r>
              <a:endPara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60" y="9014"/>
              <a:ext cx="567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ID</a:t>
              </a:r>
              <a:endParaRPr lang="en-US" altLang="zh-CN" sz="1400" b="1" u="none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427" y="901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OF</a:t>
              </a: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994" y="9014"/>
              <a:ext cx="56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561" y="901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60" y="9354"/>
              <a:ext cx="567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IF</a:t>
              </a:r>
              <a:endPara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427" y="9354"/>
              <a:ext cx="567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ID</a:t>
              </a:r>
              <a:endParaRPr lang="en-US" altLang="zh-CN" sz="1400" b="1" u="none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994" y="935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OF</a:t>
              </a:r>
            </a:p>
          </p:txBody>
        </p:sp>
        <p:sp>
          <p:nvSpPr>
            <p:cNvPr id="26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61" y="9354"/>
              <a:ext cx="56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128" y="935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27" y="9694"/>
              <a:ext cx="567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IF</a:t>
              </a:r>
              <a:endPara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994" y="9694"/>
              <a:ext cx="567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ID</a:t>
              </a:r>
              <a:endParaRPr lang="en-US" altLang="zh-CN" sz="1400" b="1" u="none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561" y="969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OF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128" y="9694"/>
              <a:ext cx="56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695" y="9694"/>
              <a:ext cx="567" cy="28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194" name="Oval 288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540" y="9694"/>
              <a:ext cx="397" cy="283"/>
            </a:xfrm>
            <a:prstGeom prst="ellips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288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540" y="9014"/>
              <a:ext cx="397" cy="283"/>
            </a:xfrm>
            <a:prstGeom prst="ellips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19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0318" y="8844"/>
              <a:ext cx="340" cy="283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69DB-60B0-4DFD-B351-9C45C9C06CF1}" type="slidenum">
              <a:rPr lang="en-US" altLang="zh-CN"/>
              <a:t>67</a:t>
            </a:fld>
            <a:endParaRPr lang="en-US" altLang="zh-CN"/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152515" cy="4886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*Pentium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组织：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组成解析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内部结构：</a:t>
            </a: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地址映射：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组数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标记＝</a:t>
            </a: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替换算法：</a:t>
            </a: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 策 略：</a:t>
            </a:r>
          </a:p>
        </p:txBody>
      </p:sp>
      <p:sp>
        <p:nvSpPr>
          <p:cNvPr id="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000" y="764704"/>
            <a:ext cx="6696870" cy="18753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贯穿式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级联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级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Cache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←PII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为旁侧式</a:t>
            </a: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L1-D$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←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主存按字节编址、地址为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位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91" name="表格 190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9417452"/>
              </p:ext>
            </p:extLst>
          </p:nvPr>
        </p:nvGraphicFramePr>
        <p:xfrm>
          <a:off x="989141" y="1268656"/>
          <a:ext cx="8047355" cy="87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3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结构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容量</a:t>
                      </a:r>
                      <a:endParaRPr lang="zh-CN" altLang="en-US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块大小</a:t>
                      </a:r>
                      <a:endParaRPr lang="zh-CN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映射方式</a:t>
                      </a:r>
                      <a:endParaRPr lang="zh-CN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替换算法</a:t>
                      </a:r>
                      <a:endParaRPr lang="zh-CN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写策略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L1$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哈佛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各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8KB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32B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路组相联</a:t>
                      </a:r>
                      <a:endParaRPr lang="en-US" altLang="zh-CN" sz="1800" b="1" baseline="300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LRU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L1-I$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无，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L1-D$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写回法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L2$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冯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Symbol" panose="05050102010706020507"/>
                        </a:rPr>
                        <a:t>•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诺依曼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≥256KB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写回法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2412000" y="2708920"/>
            <a:ext cx="5086985" cy="1297940"/>
            <a:chOff x="2437" y="2211"/>
            <a:chExt cx="8011" cy="2044"/>
          </a:xfrm>
        </p:grpSpPr>
        <p:sp>
          <p:nvSpPr>
            <p:cNvPr id="146" name="Text Box 56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37" y="2211"/>
              <a:ext cx="379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</a:rPr>
                <a:t>组号 </a:t>
              </a:r>
              <a:r>
                <a:rPr lang="en-US" altLang="zh-CN" sz="1600" b="1" u="none" dirty="0">
                  <a:solidFill>
                    <a:srgbClr val="C00000"/>
                  </a:solidFill>
                </a:rPr>
                <a:t>  </a:t>
              </a:r>
              <a:r>
                <a:rPr lang="zh-CN" altLang="en-US" sz="1600" b="1" u="none" dirty="0"/>
                <a:t>标记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/>
                <a:t>状态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缓存块</a:t>
              </a:r>
            </a:p>
          </p:txBody>
        </p:sp>
        <p:sp>
          <p:nvSpPr>
            <p:cNvPr id="15" name="Text Box 53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705" y="2551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/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</p:txBody>
        </p:sp>
        <p:sp>
          <p:nvSpPr>
            <p:cNvPr id="16" name="Rectangle 54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231" y="2551"/>
              <a:ext cx="1021" cy="13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00000H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11111H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22222H</a:t>
              </a:r>
            </a:p>
          </p:txBody>
        </p:sp>
        <p:sp>
          <p:nvSpPr>
            <p:cNvPr id="17" name="Rectangle 548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52" y="2551"/>
              <a:ext cx="449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97" name="Text Box 56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477" y="3968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8" name="直接箭头连接符 17"/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3231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9"/>
              </p:custDataLst>
            </p:nvPr>
          </p:nvCxnSpPr>
          <p:spPr bwMode="auto">
            <a:xfrm>
              <a:off x="5102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3231" y="3968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6293" y="397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232" y="289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231" y="323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231" y="3572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" name="Text Box 56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496" y="2211"/>
              <a:ext cx="283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标记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/>
                <a:t>状态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缓存块</a:t>
              </a:r>
            </a:p>
          </p:txBody>
        </p:sp>
        <p:sp>
          <p:nvSpPr>
            <p:cNvPr id="29" name="Text Box 53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860" y="2551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/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</a:p>
          </p:txBody>
        </p:sp>
        <p:sp>
          <p:nvSpPr>
            <p:cNvPr id="25" name="Rectangle 546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386" y="2551"/>
              <a:ext cx="1021" cy="13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33333H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44444H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55555H</a:t>
              </a:r>
            </a:p>
          </p:txBody>
        </p:sp>
        <p:sp>
          <p:nvSpPr>
            <p:cNvPr id="31" name="Rectangle 548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407" y="2551"/>
              <a:ext cx="449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32" name="Text Box 56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632" y="3968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3" name="直接箭头连接符 32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7386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31"/>
              </p:custDataLst>
            </p:nvPr>
          </p:nvCxnSpPr>
          <p:spPr bwMode="auto">
            <a:xfrm>
              <a:off x="9257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7386" y="3968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10448" y="397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7387" y="289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7386" y="323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7386" y="3572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4" name="组合 43"/>
          <p:cNvGrpSpPr/>
          <p:nvPr/>
        </p:nvGrpSpPr>
        <p:grpSpPr>
          <a:xfrm>
            <a:off x="4932000" y="2708920"/>
            <a:ext cx="575310" cy="1079500"/>
            <a:chOff x="6405" y="2211"/>
            <a:chExt cx="906" cy="1700"/>
          </a:xfrm>
        </p:grpSpPr>
        <p:sp>
          <p:nvSpPr>
            <p:cNvPr id="91" name="Text Box 51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05" y="2211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LRU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位</a:t>
              </a:r>
            </a:p>
          </p:txBody>
        </p:sp>
        <p:sp>
          <p:nvSpPr>
            <p:cNvPr id="92" name="Text Box 51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578" y="2551"/>
              <a:ext cx="452" cy="136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lstStyle/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" name="直接箭头连接符 2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6576" y="289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6576" y="323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6576" y="357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7" name="Text Box 49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32000" y="4005064"/>
            <a:ext cx="6696868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(8KB/32B)/2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128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    32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－</a:t>
            </a:r>
            <a:r>
              <a:rPr lang="en-US" altLang="zh-CN" sz="2000" b="1" u="none" dirty="0">
                <a:latin typeface="宋体" panose="02010600030101010101" pitchFamily="2" charset="-122"/>
              </a:rPr>
              <a:t>5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－</a:t>
            </a:r>
            <a:r>
              <a:rPr lang="en-US" altLang="zh-CN" sz="2000" b="1" u="none" dirty="0">
                <a:latin typeface="宋体" panose="02010600030101010101" pitchFamily="2" charset="-122"/>
              </a:rPr>
              <a:t>log</a:t>
            </a:r>
            <a:r>
              <a:rPr lang="en-US" altLang="zh-CN" sz="20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128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20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每组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设置</a:t>
            </a:r>
            <a:r>
              <a:rPr lang="en-US" altLang="zh-CN" sz="2000" b="1" u="none" dirty="0">
                <a:latin typeface="宋体" panose="02010600030101010101" pitchFamily="2" charset="-122"/>
              </a:rPr>
              <a:t>LRU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(log</a:t>
            </a:r>
            <a:r>
              <a:rPr lang="en-US" altLang="zh-CN" sz="16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>
                <a:latin typeface="宋体" panose="02010600030101010101" pitchFamily="2" charset="-122"/>
              </a:rPr>
              <a:t>2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600" b="1" u="none" dirty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←值互斥、可节省</a:t>
            </a:r>
            <a:r>
              <a:rPr lang="en-US" altLang="zh-CN" sz="1600" b="1" u="none" dirty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个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每行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设置脏位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状态域低位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←状态</a:t>
            </a:r>
            <a:r>
              <a:rPr lang="en-US" altLang="zh-CN" sz="1600" b="1" u="none" dirty="0">
                <a:latin typeface="宋体" panose="02010600030101010101" pitchFamily="2" charset="-122"/>
              </a:rPr>
              <a:t>=&lt;</a:t>
            </a:r>
            <a:r>
              <a:rPr lang="zh-CN" altLang="en-US" sz="1600" b="1" u="none" dirty="0">
                <a:latin typeface="宋体" panose="02010600030101010101" pitchFamily="2" charset="-122"/>
              </a:rPr>
              <a:t>有效位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,</a:t>
            </a:r>
            <a:r>
              <a:rPr lang="zh-CN" altLang="en-US" sz="1600" b="1" u="none" dirty="0">
                <a:latin typeface="宋体" panose="02010600030101010101" pitchFamily="2" charset="-122"/>
              </a:rPr>
              <a:t>脏位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&gt;</a:t>
            </a:r>
          </a:p>
        </p:txBody>
      </p:sp>
      <p:sp>
        <p:nvSpPr>
          <p:cNvPr id="86" name="Text Box 52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48000" y="2924920"/>
            <a:ext cx="360000" cy="864000"/>
          </a:xfrm>
          <a:prstGeom prst="rect">
            <a:avLst/>
          </a:prstGeom>
          <a:solidFill>
            <a:srgbClr val="CCECFF"/>
          </a:solidFill>
          <a:ln w="19050">
            <a:noFill/>
            <a:miter lim="800000"/>
          </a:ln>
          <a:effectLst/>
        </p:spPr>
        <p:txBody>
          <a:bodyPr lIns="0" tIns="0" rIns="0" bIns="0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…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127</a:t>
            </a:r>
          </a:p>
        </p:txBody>
      </p:sp>
      <p:sp>
        <p:nvSpPr>
          <p:cNvPr id="144" name="Text Box 52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4000" y="5229200"/>
            <a:ext cx="73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marL="990600" indent="-990600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上图中，若</a:t>
            </a:r>
            <a:r>
              <a:rPr lang="en-US" altLang="zh-CN" sz="1800" b="1" u="none" dirty="0">
                <a:latin typeface="宋体" panose="02010600030101010101" pitchFamily="2" charset="-122"/>
              </a:rPr>
              <a:t>LRU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=1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时替换行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44444FE3H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号单元的操作过程？</a:t>
            </a: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116000" y="5517200"/>
            <a:ext cx="76320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映射：主存地址的标记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=44444H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、群内块号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=1111111B=127(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映射到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127#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组的任一行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查找：该组各行的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、标记都不是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44444H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目标块调入该组的行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(V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LRU=1)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，调入前先替换</a:t>
            </a:r>
            <a:r>
              <a:rPr 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的脏位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  <p:bldP spid="144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68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u="none" dirty="0" err="1">
                <a:solidFill>
                  <a:srgbClr val="C00000"/>
                </a:solidFill>
                <a:latin typeface="宋体" panose="02010600030101010101" pitchFamily="2" charset="-122"/>
              </a:rPr>
              <a:t>Kunpeng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鲲鹏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单个内核的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组织：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内核参数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机器字长为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位，主存按字节编址、容量≤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u="none" baseline="30000" dirty="0">
                <a:solidFill>
                  <a:schemeClr val="tx1"/>
                </a:solidFill>
                <a:latin typeface="宋体" panose="02010600030101010101" pitchFamily="2" charset="-122"/>
              </a:rPr>
              <a:t>48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参数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338867" y="1196752"/>
            <a:ext cx="6265582" cy="8956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贯穿式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级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结构，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L1$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哈佛结构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L2$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冯</a:t>
            </a:r>
            <a:r>
              <a:rPr lang="en-US" altLang="zh-CN" sz="2200" b="1" u="none" spc="-100" dirty="0">
                <a:solidFill>
                  <a:srgbClr val="990099"/>
                </a:solidFill>
              </a:rPr>
              <a:t>·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诺依曼结构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401238"/>
              </p:ext>
            </p:extLst>
          </p:nvPr>
        </p:nvGraphicFramePr>
        <p:xfrm>
          <a:off x="2483768" y="2132856"/>
          <a:ext cx="5616624" cy="113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容量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块大小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映射方式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替换算法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写策略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L1-I$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64KB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64B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路组相联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LRU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L1-D$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64KB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全写法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L2$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512KB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128B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路组相联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写回法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Text Box 493"/>
          <p:cNvSpPr txBox="1">
            <a:spLocks noChangeArrowheads="1"/>
          </p:cNvSpPr>
          <p:nvPr/>
        </p:nvSpPr>
        <p:spPr bwMode="auto">
          <a:xfrm>
            <a:off x="179388" y="3356992"/>
            <a:ext cx="8569076" cy="2232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>
                <a:latin typeface="宋体" panose="02010600030101010101" pitchFamily="2" charset="-122"/>
              </a:rPr>
              <a:t>以</a:t>
            </a:r>
            <a:r>
              <a:rPr lang="en-US" altLang="zh-CN" sz="1800" b="1" u="none" dirty="0">
                <a:latin typeface="宋体" panose="02010600030101010101" pitchFamily="2" charset="-122"/>
              </a:rPr>
              <a:t>L1-D$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为例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内部结构：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组、每组有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行，每行有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等域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地址映射：</a:t>
            </a:r>
            <a:r>
              <a:rPr lang="en-US" altLang="zh-CN" sz="22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         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替换算法：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每行的</a:t>
            </a:r>
            <a:r>
              <a:rPr lang="en-US" altLang="zh-CN" sz="2200" b="1" u="none" dirty="0">
                <a:latin typeface="宋体" panose="02010600030101010101" pitchFamily="2" charset="-122"/>
              </a:rPr>
              <a:t>LRU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写 策 略：</a:t>
            </a:r>
          </a:p>
        </p:txBody>
      </p:sp>
      <p:sp>
        <p:nvSpPr>
          <p:cNvPr id="42" name="Text Box 494"/>
          <p:cNvSpPr txBox="1">
            <a:spLocks noChangeArrowheads="1"/>
          </p:cNvSpPr>
          <p:nvPr/>
        </p:nvSpPr>
        <p:spPr bwMode="auto">
          <a:xfrm>
            <a:off x="2355790" y="3789040"/>
            <a:ext cx="6536690" cy="1748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256           4           V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Tag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48-log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(64B/1B)-log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(256)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34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    log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2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latin typeface="宋体" panose="02010600030101010101" pitchFamily="2" charset="-122"/>
              </a:rPr>
              <a:t>无需增加硬件</a:t>
            </a:r>
          </a:p>
        </p:txBody>
      </p:sp>
      <p:sp>
        <p:nvSpPr>
          <p:cNvPr id="8" name="Text Box 334"/>
          <p:cNvSpPr txBox="1">
            <a:spLocks noChangeArrowheads="1"/>
          </p:cNvSpPr>
          <p:nvPr/>
        </p:nvSpPr>
        <p:spPr bwMode="auto">
          <a:xfrm>
            <a:off x="827461" y="5877525"/>
            <a:ext cx="4500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3-3</a:t>
            </a:r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>
                <a:latin typeface="宋体" panose="02010600030101010101" pitchFamily="2" charset="-122"/>
              </a:rPr>
              <a:t>P138—22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24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25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28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29</a:t>
            </a:r>
          </a:p>
        </p:txBody>
      </p:sp>
      <p:sp>
        <p:nvSpPr>
          <p:cNvPr id="7" name="AutoShape 62">
            <a:hlinkClick r:id="rId3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7452669" y="6236219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0" grpId="0" bldLvl="0" animBg="1"/>
      <p:bldP spid="8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69</a:t>
            </a:fld>
            <a:endParaRPr lang="en-US" altLang="zh-CN"/>
          </a:p>
        </p:txBody>
      </p:sp>
      <p:sp>
        <p:nvSpPr>
          <p:cNvPr id="5183" name="Text Box 6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68760"/>
            <a:ext cx="3284220" cy="48375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程序的结构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程序空间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程序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程序地址组成：</a:t>
            </a:r>
            <a:endParaRPr lang="en-US" altLang="zh-CN" sz="2200" b="1" u="none" dirty="0">
              <a:solidFill>
                <a:srgbClr val="990099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程序的</a:t>
            </a:r>
            <a:r>
              <a:rPr 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存放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41" name="文本框 140"/>
          <p:cNvSpPr txBox="1"/>
          <p:nvPr>
            <p:custDataLst>
              <p:tags r:id="rId2"/>
            </p:custDataLst>
          </p:nvPr>
        </p:nvSpPr>
        <p:spPr>
          <a:xfrm>
            <a:off x="2195736" y="1700808"/>
            <a:ext cx="6858635" cy="11107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2880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大小＝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200" b="1" u="none" baseline="500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×主存单元长度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，由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约定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(2</a:t>
            </a:r>
            <a:r>
              <a:rPr lang="en-US" altLang="zh-CN" sz="1600" b="1" u="none" baseline="50000" dirty="0"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&gt;&gt;</a:t>
            </a:r>
            <a:r>
              <a:rPr lang="zh-CN" altLang="en-US" sz="1600" b="1" u="none" dirty="0">
                <a:uFillTx/>
                <a:latin typeface="宋体" panose="02010600030101010101" pitchFamily="2" charset="-122"/>
                <a:sym typeface="+mn-ea"/>
              </a:rPr>
              <a:t>主存地址空间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sz="1600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└</a:t>
            </a:r>
            <a:r>
              <a:rPr lang="en-US" sz="16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便于装入主存后地址</a:t>
            </a:r>
            <a:r>
              <a:rPr lang="zh-CN" altLang="en-US" sz="1600" b="1" u="none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相对不变</a:t>
            </a:r>
            <a:endParaRPr lang="zh-CN" altLang="en-US" sz="16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包含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多种段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每种可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，各段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访问权限不同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101" name="组合 100"/>
          <p:cNvGrpSpPr/>
          <p:nvPr/>
        </p:nvGrpSpPr>
        <p:grpSpPr>
          <a:xfrm>
            <a:off x="1440180" y="2852936"/>
            <a:ext cx="3599815" cy="1945005"/>
            <a:chOff x="2607" y="3138"/>
            <a:chExt cx="5669" cy="3063"/>
          </a:xfrm>
        </p:grpSpPr>
        <p:sp>
          <p:nvSpPr>
            <p:cNvPr id="102" name="Text Box 3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607" y="3736"/>
              <a:ext cx="1928" cy="22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0" rIns="0" bIns="0">
              <a:no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C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语言程序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:</a:t>
              </a:r>
              <a:endParaRPr lang="zh-CN" altLang="en-US" sz="1400" b="1" u="none" dirty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void main(){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int x,b,y;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if (x==0)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   y=b;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else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   y=b+2;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}</a:t>
              </a: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4591" y="3138"/>
              <a:ext cx="3685" cy="3063"/>
              <a:chOff x="4026" y="5172"/>
              <a:chExt cx="3685" cy="3063"/>
            </a:xfrm>
          </p:grpSpPr>
          <p:sp>
            <p:nvSpPr>
              <p:cNvPr id="104" name="Text Box 36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762" y="5514"/>
                <a:ext cx="2154" cy="272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R[1]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1000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R[2]</a:t>
                </a:r>
                <a:r>
                  <a:rPr lang="zh-CN" altLang="en-US" sz="1400" b="1" u="none" dirty="0">
                    <a:latin typeface="宋体" panose="02010600030101010101" pitchFamily="2" charset="-122"/>
                    <a:sym typeface="+mn-ea"/>
                  </a:rPr>
                  <a:t>←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M[</a:t>
                </a: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1001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]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JNE R[1], </a:t>
                </a: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0004</a:t>
                </a:r>
                <a:endParaRPr lang="en-US" altLang="zh-CN" sz="1400" b="1" u="none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R[2]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R[2]</a:t>
                </a:r>
                <a:r>
                  <a:rPr lang="en-US" sz="1400" b="1" u="none" dirty="0">
                    <a:latin typeface="宋体" panose="02010600030101010101" pitchFamily="2" charset="-122"/>
                  </a:rPr>
                  <a:t>+2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1002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]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R[2]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HALT(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程序结束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)</a:t>
                </a:r>
              </a:p>
              <a:p>
                <a:pPr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x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b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y</a:t>
                </a:r>
              </a:p>
            </p:txBody>
          </p:sp>
          <p:cxnSp>
            <p:nvCxnSpPr>
              <p:cNvPr id="105" name="直接连接符 104"/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4762" y="5828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6" name="右大括号 105"/>
              <p:cNvSpPr/>
              <p:nvPr>
                <p:custDataLst>
                  <p:tags r:id="rId23"/>
                </p:custDataLst>
              </p:nvPr>
            </p:nvSpPr>
            <p:spPr>
              <a:xfrm>
                <a:off x="6973" y="7370"/>
                <a:ext cx="113" cy="794"/>
              </a:xfrm>
              <a:prstGeom prst="rightBrace">
                <a:avLst/>
              </a:prstGeom>
              <a:noFill/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右大括号 106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73" y="5556"/>
                <a:ext cx="113" cy="1701"/>
              </a:xfrm>
              <a:prstGeom prst="rightBrace">
                <a:avLst/>
              </a:prstGeom>
              <a:noFill/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Text Box 36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7031" y="6181"/>
                <a:ext cx="680" cy="181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36195" rIns="0" bIns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代码</a:t>
                </a: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  <a:spcBef>
                    <a:spcPts val="900"/>
                  </a:spcBef>
                  <a:spcAft>
                    <a:spcPts val="0"/>
                  </a:spcAft>
                </a:pPr>
                <a:r>
                  <a:rPr lang="zh-CN" altLang="en-US" sz="14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数据</a:t>
                </a:r>
              </a:p>
            </p:txBody>
          </p:sp>
          <p:sp>
            <p:nvSpPr>
              <p:cNvPr id="109" name="Text Box 36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026" y="5514"/>
                <a:ext cx="737" cy="2721"/>
              </a:xfrm>
              <a:prstGeom prst="rect">
                <a:avLst/>
              </a:prstGeom>
              <a:noFill/>
              <a:ln w="15875">
                <a:noFill/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0000</a:t>
                </a:r>
                <a:endPara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0001</a:t>
                </a:r>
                <a:endPara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0003</a:t>
                </a:r>
                <a:endPara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0004</a:t>
                </a:r>
                <a:endPara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0005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1001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1002</a:t>
                </a:r>
              </a:p>
            </p:txBody>
          </p:sp>
          <p:cxnSp>
            <p:nvCxnSpPr>
              <p:cNvPr id="110" name="直接连接符 109"/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4762" y="6120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直接连接符 110"/>
              <p:cNvCxnSpPr/>
              <p:nvPr>
                <p:custDataLst>
                  <p:tags r:id="rId28"/>
                </p:custDataLst>
              </p:nvPr>
            </p:nvCxnSpPr>
            <p:spPr bwMode="auto">
              <a:xfrm>
                <a:off x="4762" y="6423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2" name="直接连接符 111"/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4762" y="6722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3" name="直接连接符 112"/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4762" y="7024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4" name="直接连接符 113"/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4762" y="7351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5" name="直接连接符 114"/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4762" y="7640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6" name="直接连接符 115"/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4762" y="7946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7" name="Text Box 36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139" y="5172"/>
                <a:ext cx="2721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36195" tIns="0" rIns="36195" bIns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  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程序内容</a:t>
                </a:r>
              </a:p>
            </p:txBody>
          </p:sp>
        </p:grpSp>
      </p:grpSp>
      <p:grpSp>
        <p:nvGrpSpPr>
          <p:cNvPr id="118" name="组合 117"/>
          <p:cNvGrpSpPr/>
          <p:nvPr/>
        </p:nvGrpSpPr>
        <p:grpSpPr>
          <a:xfrm>
            <a:off x="5616000" y="3068936"/>
            <a:ext cx="864235" cy="1224280"/>
            <a:chOff x="11225" y="1587"/>
            <a:chExt cx="1361" cy="1928"/>
          </a:xfrm>
        </p:grpSpPr>
        <p:sp>
          <p:nvSpPr>
            <p:cNvPr id="119" name="Text Box 12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225" y="1587"/>
              <a:ext cx="1361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latin typeface="宋体" panose="02010600030101010101" pitchFamily="2" charset="-122"/>
                </a:rPr>
                <a:t>代码段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0" name="Text Box 12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225" y="2835"/>
              <a:ext cx="1361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latin typeface="宋体" panose="02010600030101010101" pitchFamily="2" charset="-122"/>
                </a:rPr>
                <a:t>代码段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1" name="Text Box 12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225" y="2041"/>
              <a:ext cx="1361" cy="34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latin typeface="宋体" panose="02010600030101010101" pitchFamily="2" charset="-122"/>
                </a:rPr>
                <a:t>数据段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2" name="Text Box 12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225" y="2494"/>
              <a:ext cx="1361" cy="283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latin typeface="宋体" panose="02010600030101010101" pitchFamily="2" charset="-122"/>
                </a:rPr>
                <a:t>数据段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3" name="Text Box 12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225" y="3175"/>
              <a:ext cx="1361" cy="34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spc="-100" dirty="0">
                  <a:latin typeface="宋体" panose="02010600030101010101" pitchFamily="2" charset="-122"/>
                </a:rPr>
                <a:t>堆栈段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24" name="直接连接符 123"/>
            <p:cNvCxnSpPr/>
            <p:nvPr>
              <p:custDataLst>
                <p:tags r:id="rId18"/>
              </p:custDataLst>
            </p:nvPr>
          </p:nvCxnSpPr>
          <p:spPr bwMode="auto">
            <a:xfrm>
              <a:off x="11225" y="2381"/>
              <a:ext cx="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19"/>
              </p:custDataLst>
            </p:nvPr>
          </p:nvCxnSpPr>
          <p:spPr bwMode="auto">
            <a:xfrm>
              <a:off x="12586" y="2381"/>
              <a:ext cx="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5" name="组合 134"/>
          <p:cNvGrpSpPr/>
          <p:nvPr/>
        </p:nvGrpSpPr>
        <p:grpSpPr>
          <a:xfrm>
            <a:off x="6838950" y="2852936"/>
            <a:ext cx="1226185" cy="1188085"/>
            <a:chOff x="10318" y="2494"/>
            <a:chExt cx="1931" cy="1871"/>
          </a:xfrm>
        </p:grpSpPr>
        <p:sp>
          <p:nvSpPr>
            <p:cNvPr id="136" name="Rectangle 95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889" y="3118"/>
              <a:ext cx="1361" cy="1247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 cmpd="sng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36000" tIns="18000" rIns="36000" bIns="180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</a:p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内容</a:t>
              </a:r>
            </a:p>
          </p:txBody>
        </p:sp>
        <p:sp>
          <p:nvSpPr>
            <p:cNvPr id="137" name="Text Box 34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889" y="2834"/>
              <a:ext cx="1361" cy="283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程序头表</a:t>
              </a:r>
            </a:p>
          </p:txBody>
        </p:sp>
        <p:sp>
          <p:nvSpPr>
            <p:cNvPr id="138" name="Text Box 12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889" y="2494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文件空间</a:t>
              </a:r>
            </a:p>
          </p:txBody>
        </p:sp>
        <p:sp>
          <p:nvSpPr>
            <p:cNvPr id="139" name="Text Box 12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318" y="2835"/>
              <a:ext cx="567" cy="15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0" bIns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a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L+</a:t>
              </a:r>
              <a:r>
                <a:rPr lang="en-US" altLang="zh-CN" sz="1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142" name="矩形 141"/>
          <p:cNvSpPr/>
          <p:nvPr>
            <p:custDataLst>
              <p:tags r:id="rId3"/>
            </p:custDataLst>
          </p:nvPr>
        </p:nvSpPr>
        <p:spPr>
          <a:xfrm>
            <a:off x="2448560" y="4869160"/>
            <a:ext cx="6515735" cy="1433469"/>
          </a:xfrm>
          <a:prstGeom prst="rect">
            <a:avLst/>
          </a:prstGeom>
        </p:spPr>
        <p:txBody>
          <a:bodyPr wrap="square" tIns="4699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段号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en-US" altLang="zh-CN" sz="2200" b="1" u="none" dirty="0">
                <a:latin typeface="+mn-lt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段内地址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&gt;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段首址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段内地址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n-m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位→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固定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始于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0)  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←n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u="none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1600" b="1" u="none" dirty="0">
                <a:highlight>
                  <a:srgbClr val="CCCCFF"/>
                </a:highlight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1600" b="1" u="none" dirty="0">
                <a:highlight>
                  <a:srgbClr val="CCECFF"/>
                </a:highlight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600" b="1" u="none" dirty="0">
                <a:highlight>
                  <a:srgbClr val="CCECFF"/>
                </a:highlight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>
                <a:highlight>
                  <a:srgbClr val="CCECFF"/>
                </a:highlight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u="none" dirty="0">
                <a:uFillTx/>
                <a:latin typeface="宋体" panose="02010600030101010101" pitchFamily="2" charset="-122"/>
                <a:sym typeface="+mn-ea"/>
              </a:rPr>
              <a:t>以</a:t>
            </a:r>
            <a:r>
              <a:rPr lang="zh-CN" altLang="en-US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文件形式</a:t>
            </a:r>
            <a:r>
              <a:rPr lang="zh-CN" altLang="en-US" sz="22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存于辅存，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程序头表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指明</a:t>
            </a:r>
            <a:r>
              <a:rPr lang="zh-CN" altLang="en-US" sz="2200" b="1" u="none" dirty="0">
                <a:uFillTx/>
                <a:latin typeface="宋体" panose="02010600030101010101" pitchFamily="2" charset="-122"/>
                <a:sym typeface="+mn-ea"/>
              </a:rPr>
              <a:t>所有段信息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+mn-ea"/>
                <a:ea typeface="+mn-ea"/>
                <a:sym typeface="+mn-ea"/>
              </a:rPr>
              <a:t>                    &lt;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类型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长度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程序空间首址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文件空间首址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>
                <a:latin typeface="+mn-ea"/>
                <a:ea typeface="+mn-ea"/>
                <a:sym typeface="+mn-ea"/>
              </a:rPr>
              <a:t>&gt;</a:t>
            </a:r>
            <a:endParaRPr lang="en-US" altLang="zh-CN" sz="1600" b="1" u="none" dirty="0">
              <a:solidFill>
                <a:schemeClr val="tx1"/>
              </a:solidFill>
              <a:uFillTx/>
              <a:latin typeface="+mn-ea"/>
              <a:ea typeface="+mn-ea"/>
              <a:sym typeface="+mn-ea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5256000" y="2852936"/>
            <a:ext cx="1224280" cy="1764030"/>
            <a:chOff x="10658" y="1247"/>
            <a:chExt cx="1928" cy="2778"/>
          </a:xfrm>
        </p:grpSpPr>
        <p:sp>
          <p:nvSpPr>
            <p:cNvPr id="144" name="Text Box 12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225" y="1247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程序空间</a:t>
              </a:r>
            </a:p>
          </p:txBody>
        </p:sp>
        <p:sp>
          <p:nvSpPr>
            <p:cNvPr id="145" name="Text Box 12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658" y="1587"/>
              <a:ext cx="567" cy="24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0" bIns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  <a:r>
                <a:rPr lang="en-US" altLang="zh-CN" sz="1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a1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a2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a3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a4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1…1</a:t>
              </a:r>
            </a:p>
          </p:txBody>
        </p:sp>
        <p:sp>
          <p:nvSpPr>
            <p:cNvPr id="149" name="Text Box 12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1225" y="1587"/>
              <a:ext cx="1361" cy="2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400" b="1" u="none" spc="-1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Text Box 4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9313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§3.5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虚拟存储器</a:t>
            </a:r>
          </a:p>
        </p:txBody>
      </p:sp>
      <p:sp>
        <p:nvSpPr>
          <p:cNvPr id="20" name="Text Box 52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512" y="764704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u="none" dirty="0">
                <a:solidFill>
                  <a:schemeClr val="tx1"/>
                </a:solidFill>
                <a:latin typeface="+mn-ea"/>
                <a:ea typeface="+mn-ea"/>
              </a:rPr>
              <a:t>存储管理</a:t>
            </a:r>
            <a:r>
              <a:rPr lang="zh-CN" altLang="en-US" sz="2000" b="1" u="none" dirty="0">
                <a:latin typeface="+mn-ea"/>
                <a:ea typeface="+mn-ea"/>
              </a:rPr>
              <a:t>相关</a:t>
            </a:r>
            <a:r>
              <a:rPr lang="zh-CN" altLang="en-US" sz="2000" b="1" u="none" spc="-100" dirty="0">
                <a:latin typeface="宋体" panose="02010600030101010101" pitchFamily="2" charset="-122"/>
              </a:rPr>
              <a:t>概念，虚存的组成、工作过程、地址变换</a:t>
            </a:r>
            <a:endParaRPr lang="zh-CN" altLang="en-US" sz="2000" b="1" u="none" spc="-100" dirty="0">
              <a:latin typeface="宋体" panose="02010600030101010101" pitchFamily="2" charset="-122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5443822" cy="49919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存储管理相关概念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指主存的管理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主存空间的分配  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程序装入的准备工作</a:t>
            </a: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分区方式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zh-CN" altLang="en-US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地址变换方法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*分页方式：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地址变换方法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70</a:t>
            </a:fld>
            <a:endParaRPr lang="en-US" altLang="zh-CN" dirty="0"/>
          </a:p>
        </p:txBody>
      </p:sp>
      <p:sp>
        <p:nvSpPr>
          <p:cNvPr id="34" name="Text Box 10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2000" y="1268760"/>
            <a:ext cx="7120890" cy="22559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主存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划分</a:t>
            </a:r>
            <a:r>
              <a:rPr lang="zh-CN" altLang="en-US" sz="22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成若干个分区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主存</a:t>
            </a:r>
            <a:r>
              <a:rPr lang="zh-CN" altLang="en-US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＝∑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spc="-50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600" b="1" u="none" baseline="-18000" dirty="0" err="1"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可不等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每个进程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</a:rPr>
              <a:t>分配</a:t>
            </a: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200" b="1" u="none" spc="-50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u="none" spc="-50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所占空间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连续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分区</a:t>
            </a:r>
            <a:r>
              <a:rPr lang="en-US" altLang="zh-CN" sz="1600" b="1" u="none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≥S</a:t>
            </a:r>
            <a:r>
              <a:rPr lang="zh-CN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</a:t>
            </a:r>
            <a:endParaRPr lang="zh-CN" altLang="en-US" sz="16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物理地址＝基地址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逻辑地址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←基地址指分区首地址</a:t>
            </a:r>
          </a:p>
        </p:txBody>
      </p:sp>
      <p:cxnSp>
        <p:nvCxnSpPr>
          <p:cNvPr id="36" name="直接箭头连接符 35"/>
          <p:cNvCxnSpPr/>
          <p:nvPr>
            <p:custDataLst>
              <p:tags r:id="rId3"/>
            </p:custDataLst>
          </p:nvPr>
        </p:nvCxnSpPr>
        <p:spPr bwMode="auto">
          <a:xfrm flipH="1">
            <a:off x="5292000" y="2096760"/>
            <a:ext cx="684000" cy="1080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887016822"/>
              </p:ext>
            </p:extLst>
          </p:nvPr>
        </p:nvGraphicFramePr>
        <p:xfrm>
          <a:off x="2026978" y="2202288"/>
          <a:ext cx="6289438" cy="848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分区类型</a:t>
                      </a: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固定分区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altLang="en-US" sz="1800" b="1" u="none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分区</a:t>
                      </a:r>
                      <a:r>
                        <a:rPr lang="zh-CN" altLang="en-US" sz="1800" b="1" u="none" spc="-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不变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可变分区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u="none" spc="-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</a:t>
                      </a:r>
                      <a:r>
                        <a:rPr lang="en-US" altLang="zh-CN" sz="1800" b="1" u="none" spc="-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合并</a:t>
                      </a:r>
                      <a:r>
                        <a:rPr lang="en-US" altLang="zh-CN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altLang="en-US" sz="1800" b="1" u="none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空闲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分配方法</a:t>
                      </a: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u="none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选择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容量匹配的分区</a:t>
                      </a:r>
                      <a:endParaRPr lang="zh-CN" altLang="en-US" sz="1800" b="1" u="none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切割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空闲分区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800" b="1" u="none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碎片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较大</a:t>
                      </a:r>
                      <a:endParaRPr lang="zh-CN" altLang="en-US" sz="1800" b="1" u="none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u="none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</a:t>
                      </a:r>
                      <a:r>
                        <a:rPr lang="zh-CN" altLang="en-US" sz="1800" b="1" u="none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管理开销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较大</a:t>
                      </a:r>
                      <a:endParaRPr lang="en-US" altLang="zh-CN" sz="1800" b="1" u="none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 Box 10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8000" y="3573016"/>
            <a:ext cx="7113270" cy="21268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程序、主存</a:t>
            </a:r>
            <a:r>
              <a:rPr lang="zh-CN" altLang="en-US" sz="2200" b="1" u="sng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划分</a:t>
            </a:r>
            <a:r>
              <a:rPr lang="zh-CN" altLang="en-US" sz="22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成若干个页、页框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页</a:t>
            </a:r>
            <a:r>
              <a:rPr lang="zh-CN" altLang="en-US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页框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←如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页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=4KB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每个进程</a:t>
            </a:r>
            <a:r>
              <a:rPr lang="zh-CN" altLang="en-US" sz="2200" b="1" u="sng" spc="-50" dirty="0">
                <a:latin typeface="宋体" panose="02010600030101010101" pitchFamily="2" charset="-122"/>
                <a:cs typeface="宋体" panose="02010600030101010101" pitchFamily="2" charset="-122"/>
              </a:rPr>
              <a:t>分配</a:t>
            </a: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zh-CN" altLang="en-US" sz="2200" b="1" u="none" spc="-50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所需全部</a:t>
            </a: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页框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所占空间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不连续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碎片小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页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&lt;&lt;S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，管理开销小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页表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实现页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页框映射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 物理地址＝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&lt;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物理页号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页内地址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物理页号＝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页表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逻辑页号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56064" y="5733256"/>
            <a:ext cx="33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0800" rIns="36000" bIns="10800" anchor="ctr" anchorCtr="0">
            <a:noAutofit/>
          </a:bodyPr>
          <a:lstStyle/>
          <a:p>
            <a:pPr marL="271780" indent="-2717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谁实施主存分配的管理？</a:t>
            </a:r>
            <a:endParaRPr lang="zh-CN" altLang="en-US" sz="1800" b="1" u="none" baseline="-16000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7"/>
            </p:custDataLst>
          </p:nvPr>
        </p:nvCxnSpPr>
        <p:spPr bwMode="auto">
          <a:xfrm flipH="1">
            <a:off x="6300000" y="4365104"/>
            <a:ext cx="540000" cy="14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66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56072" y="6165336"/>
            <a:ext cx="360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0800" rIns="36000" bIns="10800" anchor="ctr" anchorCtr="0">
            <a:noAutofit/>
          </a:bodyPr>
          <a:lstStyle/>
          <a:p>
            <a:pPr marL="271780" indent="-2717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solidFill>
                  <a:srgbClr val="990099"/>
                </a:solidFill>
                <a:latin typeface="+mn-ea"/>
                <a:ea typeface="+mn-ea"/>
              </a:rPr>
              <a:t>引子：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程序大小＞主存大小咋办？</a:t>
            </a:r>
            <a:endParaRPr lang="zh-CN" altLang="en-US" sz="1800" b="1" u="none" baseline="-16000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7487765" y="4906889"/>
            <a:ext cx="1187936" cy="969985"/>
            <a:chOff x="3684" y="1448"/>
            <a:chExt cx="1871" cy="1528"/>
          </a:xfrm>
        </p:grpSpPr>
        <p:sp>
          <p:nvSpPr>
            <p:cNvPr id="70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36" y="1785"/>
              <a:ext cx="850" cy="119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b="1" u="none" dirty="0">
                  <a:latin typeface="宋体" panose="02010600030101010101" pitchFamily="2" charset="-122"/>
                </a:rPr>
                <a:t>3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b="1" u="none" dirty="0">
                  <a:latin typeface="宋体" panose="02010600030101010101" pitchFamily="2" charset="-122"/>
                </a:rPr>
                <a:t>8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…</a:t>
              </a:r>
            </a:p>
          </p:txBody>
        </p:sp>
        <p:cxnSp>
          <p:nvCxnSpPr>
            <p:cNvPr id="71" name="直接连接符 70"/>
            <p:cNvCxnSpPr/>
            <p:nvPr>
              <p:custDataLst>
                <p:tags r:id="rId11"/>
              </p:custDataLst>
            </p:nvPr>
          </p:nvCxnSpPr>
          <p:spPr bwMode="auto">
            <a:xfrm>
              <a:off x="4536" y="2099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68" y="1785"/>
              <a:ext cx="397" cy="119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3" name="直接连接符 72"/>
            <p:cNvCxnSpPr/>
            <p:nvPr>
              <p:custDataLst>
                <p:tags r:id="rId13"/>
              </p:custDataLst>
            </p:nvPr>
          </p:nvCxnSpPr>
          <p:spPr bwMode="auto">
            <a:xfrm>
              <a:off x="4536" y="2391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4"/>
              </p:custDataLst>
            </p:nvPr>
          </p:nvCxnSpPr>
          <p:spPr bwMode="auto">
            <a:xfrm>
              <a:off x="4536" y="2694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684" y="1448"/>
              <a:ext cx="187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0" rIns="36195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页号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页框号</a:t>
              </a:r>
            </a:p>
          </p:txBody>
        </p:sp>
      </p:grpSp>
      <p:sp>
        <p:nvSpPr>
          <p:cNvPr id="16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66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71</a:t>
            </a:fld>
            <a:endParaRPr lang="en-US" altLang="zh-CN"/>
          </a:p>
        </p:txBody>
      </p:sp>
      <p:sp>
        <p:nvSpPr>
          <p:cNvPr id="9" name="AutoShape 2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5400407" cy="6035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(2)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空间的扩充 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主存分配的优化</a:t>
            </a:r>
            <a:endParaRPr 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覆盖技术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 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基于程序段类型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空间分配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空间扩充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*交换技术：   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基于进程状态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空间分配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空间扩充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spc="-5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spc="-5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虚拟存储技术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覆盖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交换技术的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融合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空间分配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空间扩充</a:t>
            </a: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" name="Text Box 10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672" y="1196752"/>
            <a:ext cx="7416824" cy="51541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＝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∑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2200" b="1" u="none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不可覆盖</a:t>
            </a:r>
            <a:r>
              <a:rPr lang="zh-CN" altLang="en-US" sz="2200" b="1" u="none" baseline="-25000" dirty="0">
                <a:latin typeface="宋体" panose="02010600030101010101" pitchFamily="2" charset="-122"/>
              </a:rPr>
              <a:t>段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max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(S</a:t>
            </a:r>
            <a:r>
              <a:rPr lang="zh-CN" altLang="en-US" sz="2200" b="1" u="none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可覆盖</a:t>
            </a:r>
            <a:r>
              <a:rPr lang="zh-CN" altLang="en-US" sz="2200" b="1" u="none" baseline="-25000" dirty="0">
                <a:latin typeface="宋体" panose="02010600030101010101" pitchFamily="2" charset="-122"/>
              </a:rPr>
              <a:t>段</a:t>
            </a:r>
            <a:r>
              <a:rPr lang="en-US" altLang="zh-CN" sz="2200" b="1" u="none" dirty="0">
                <a:latin typeface="宋体" panose="02010600030101010101" pitchFamily="2" charset="-122"/>
              </a:rPr>
              <a:t>) 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←程序段</a:t>
            </a:r>
            <a:r>
              <a:rPr lang="zh-CN" altLang="en-US" sz="18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不可覆盖</a:t>
            </a:r>
            <a:r>
              <a:rPr lang="en-US" altLang="zh-CN" sz="1800" b="1" u="none" dirty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可覆盖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段装入时，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可覆盖段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占用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同一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区域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覆盖旧的段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需应用程序员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协助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程序中指明段类型、编程时计算段大小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任一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分配方式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进程状态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执行态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就绪态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等待态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等待态进程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换出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留给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就绪态进程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←部分进程</a:t>
            </a:r>
            <a:endParaRPr lang="zh-CN" altLang="en-US" sz="18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对应用程序员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透明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(OS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负责交换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、开销大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以进程为单位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                                     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主流技术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＝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当前活跃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的程序段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其余段放在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辅存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←基于局部性</a:t>
            </a:r>
            <a:endParaRPr lang="en-US" altLang="zh-CN" sz="1800" b="1" i="1" u="none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访问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缺失时，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其他程序段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交换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到辅存   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←层次结构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对应用程序员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透明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(OS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负责交换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、开销小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以段为单位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4FB7-CB1E-4F0D-A2FA-D910542F6C99}" type="slidenum">
              <a:rPr lang="en-US" altLang="zh-CN"/>
              <a:t>72</a:t>
            </a:fld>
            <a:endParaRPr lang="en-US" altLang="zh-CN" dirty="0"/>
          </a:p>
        </p:txBody>
      </p:sp>
      <p:sp>
        <p:nvSpPr>
          <p:cNvPr id="49" name="Text Box 14"/>
          <p:cNvSpPr txBox="1">
            <a:spLocks noChangeArrowheads="1"/>
          </p:cNvSpPr>
          <p:nvPr/>
        </p:nvSpPr>
        <p:spPr bwMode="auto">
          <a:xfrm>
            <a:off x="179512" y="332656"/>
            <a:ext cx="8784976" cy="2029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、虚拟存储器的基本原理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虚拟存储器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(VM)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en-US" altLang="zh-CN" sz="1800" u="none" dirty="0"/>
              <a:t>Virtual Memory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，又称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虚拟主存</a:t>
            </a:r>
            <a:endParaRPr lang="en-US" altLang="zh-CN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指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以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透明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方式</a:t>
            </a:r>
            <a:r>
              <a:rPr lang="zh-CN" altLang="en-US" sz="2200" b="1" u="none" spc="-100" dirty="0">
                <a:latin typeface="+mn-lt"/>
              </a:rPr>
              <a:t> 、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为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程序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提供的、空间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远大于主存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的存储空间</a:t>
            </a:r>
          </a:p>
          <a:p>
            <a:pPr>
              <a:lnSpc>
                <a:spcPct val="105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    (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无关于</a:t>
            </a:r>
            <a:r>
              <a:rPr lang="zh-CN" altLang="en-US" sz="1600" b="1" u="none" dirty="0">
                <a:latin typeface="宋体" panose="02010600030101010101" pitchFamily="2" charset="-122"/>
              </a:rPr>
              <a:t>程序员</a:t>
            </a:r>
            <a:r>
              <a:rPr lang="en-US" altLang="zh-CN" sz="1600" b="1" u="none" dirty="0">
                <a:latin typeface="宋体" panose="02010600030101010101" pitchFamily="2" charset="-122"/>
              </a:rPr>
              <a:t>)  (</a:t>
            </a:r>
            <a:r>
              <a:rPr lang="zh-CN" altLang="en-US" sz="1600" b="1" u="none" dirty="0">
                <a:latin typeface="宋体" panose="02010600030101010101" pitchFamily="2" charset="-122"/>
              </a:rPr>
              <a:t>按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程序地址</a:t>
            </a:r>
            <a:r>
              <a:rPr lang="zh-CN" altLang="en-US" sz="1600" b="1" u="none" dirty="0">
                <a:latin typeface="宋体" panose="02010600030101010101" pitchFamily="2" charset="-122"/>
              </a:rPr>
              <a:t>访问</a:t>
            </a:r>
            <a:r>
              <a:rPr lang="en-US" altLang="zh-CN" sz="1600" b="1" u="none" dirty="0">
                <a:latin typeface="宋体" panose="02010600030101010101" pitchFamily="2" charset="-122"/>
              </a:rPr>
              <a:t>)   (</a:t>
            </a:r>
            <a:r>
              <a:rPr lang="zh-CN" altLang="en-US" sz="1600" b="1" u="none" dirty="0">
                <a:latin typeface="宋体" panose="02010600030101010101" pitchFamily="2" charset="-122"/>
              </a:rPr>
              <a:t>满足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所有</a:t>
            </a:r>
            <a:r>
              <a:rPr lang="zh-CN" altLang="en-US" sz="1600" b="1" u="none" dirty="0">
                <a:latin typeface="宋体" panose="02010600030101010101" pitchFamily="2" charset="-122"/>
              </a:rPr>
              <a:t>需求、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速度</a:t>
            </a:r>
            <a:r>
              <a:rPr lang="en-US" altLang="zh-CN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≈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术语：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虚拟地址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逻辑地址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、物理地址，虚拟地址空间</a:t>
            </a:r>
            <a:endParaRPr lang="zh-CN" altLang="en-US" sz="2000" u="none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876256" y="1880457"/>
            <a:ext cx="2051655" cy="1476535"/>
            <a:chOff x="10545" y="3118"/>
            <a:chExt cx="3231" cy="2325"/>
          </a:xfrm>
        </p:grpSpPr>
        <p:sp>
          <p:nvSpPr>
            <p:cNvPr id="2" name="Text Box 3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602" y="3969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</a:rPr>
                <a:t>程序地址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箭头连接符 5"/>
            <p:cNvCxnSpPr/>
            <p:nvPr>
              <p:custDataLst>
                <p:tags r:id="rId18"/>
              </p:custDataLst>
            </p:nvPr>
          </p:nvCxnSpPr>
          <p:spPr bwMode="auto">
            <a:xfrm>
              <a:off x="10545" y="4365"/>
              <a:ext cx="1531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25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076" y="3459"/>
              <a:ext cx="1134" cy="198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spcBef>
                  <a:spcPts val="0"/>
                </a:spcBef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硬件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软件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实现</a:t>
              </a:r>
            </a:p>
          </p:txBody>
        </p:sp>
        <p:cxnSp>
          <p:nvCxnSpPr>
            <p:cNvPr id="10" name="直接连接符 9"/>
            <p:cNvCxnSpPr/>
            <p:nvPr>
              <p:custDataLst>
                <p:tags r:id="rId20"/>
              </p:custDataLst>
            </p:nvPr>
          </p:nvCxnSpPr>
          <p:spPr bwMode="auto">
            <a:xfrm>
              <a:off x="12076" y="3742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21"/>
              </p:custDataLst>
            </p:nvPr>
          </p:nvCxnSpPr>
          <p:spPr bwMode="auto">
            <a:xfrm>
              <a:off x="12076" y="5159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 Box 12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189" y="3118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spc="-1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VM</a:t>
              </a:r>
              <a:endParaRPr lang="zh-CN" altLang="en-US" sz="1600" b="1" u="none" spc="-1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右大括号 12"/>
            <p:cNvSpPr/>
            <p:nvPr>
              <p:custDataLst>
                <p:tags r:id="rId23"/>
              </p:custDataLst>
            </p:nvPr>
          </p:nvSpPr>
          <p:spPr bwMode="auto">
            <a:xfrm>
              <a:off x="13266" y="3457"/>
              <a:ext cx="113" cy="1984"/>
            </a:xfrm>
            <a:prstGeom prst="rightBrace">
              <a:avLst>
                <a:gd name="adj1" fmla="val 4240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3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3379" y="3458"/>
              <a:ext cx="397" cy="198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ctr">
                <a:lnSpc>
                  <a:spcPct val="115000"/>
                </a:lnSpc>
              </a:pPr>
              <a:r>
                <a:rPr lang="zh-CN" altLang="en-US" sz="1600" b="1" u="none" dirty="0"/>
                <a:t>程序地址空间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9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420888"/>
            <a:ext cx="2964180" cy="36972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虚拟存储器的组成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*基本思想：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*基本组成：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*实质：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│</a:t>
            </a:r>
            <a:endParaRPr lang="zh-CN" altLang="en-US" sz="18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spc="-5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│</a:t>
            </a:r>
            <a:endParaRPr lang="en-US" altLang="zh-CN" sz="1800" b="1" u="none" spc="-5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5" name="Text Box 2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97940" y="2852888"/>
            <a:ext cx="7638415" cy="35544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借助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辅存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扩充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主存的存储空间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 u="none" dirty="0">
                <a:latin typeface="宋体" panose="02010600030101010101" pitchFamily="2" charset="-122"/>
              </a:rPr>
              <a:t>  </a:t>
            </a:r>
            <a:r>
              <a:rPr lang="en-US" altLang="zh-CN" sz="1800" u="none" dirty="0">
                <a:latin typeface="宋体" panose="02010600030101010101" pitchFamily="2" charset="-122"/>
              </a:rPr>
              <a:t>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←划出部分空间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交换区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暂存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主存换出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的信息</a:t>
            </a:r>
            <a:endParaRPr lang="en-US" altLang="zh-CN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主存＋辅存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构成层次结构，按</a:t>
            </a:r>
            <a:r>
              <a:rPr lang="zh-CN" altLang="en-US" sz="2200" b="1" dirty="0">
                <a:latin typeface="宋体" panose="02010600030101010101" pitchFamily="2" charset="-122"/>
              </a:rPr>
              <a:t>虚拟地址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是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面向软件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模型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</a:t>
            </a:r>
            <a:r>
              <a:rPr lang="en-US" altLang="zh-CN" sz="1800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    </a:t>
            </a:r>
            <a:r>
              <a:rPr lang="en-US" altLang="zh-CN" sz="1800" u="none" dirty="0">
                <a:latin typeface="宋体" panose="02010600030101010101" pitchFamily="2" charset="-122"/>
              </a:rPr>
              <a:t>├</a:t>
            </a:r>
            <a:r>
              <a:rPr lang="en-US" altLang="zh-CN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程序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装入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时，仅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活跃部分</a:t>
            </a:r>
            <a:r>
              <a:rPr lang="zh-CN" altLang="en-US" sz="1800" b="1" u="none" dirty="0">
                <a:latin typeface="宋体" panose="02010600030101010101" pitchFamily="2" charset="-122"/>
              </a:rPr>
              <a:t>调入主存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其余</a:t>
            </a:r>
            <a:r>
              <a:rPr lang="zh-CN" altLang="en-US" sz="1600" b="1" u="none" dirty="0">
                <a:latin typeface="宋体" panose="02010600030101010101" pitchFamily="2" charset="-122"/>
              </a:rPr>
              <a:t>放在辅存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800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←程序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时，先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失败时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辅存自动交换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4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←软件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编程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时，按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程序空间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进行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不考虑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硬件实现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04008" y="4114800"/>
            <a:ext cx="4140200" cy="864235"/>
            <a:chOff x="3628" y="6633"/>
            <a:chExt cx="6520" cy="1361"/>
          </a:xfrm>
        </p:grpSpPr>
        <p:sp>
          <p:nvSpPr>
            <p:cNvPr id="17" name="Text Box 3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28" y="7427"/>
              <a:ext cx="147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内核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16" y="7257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CC3300"/>
                  </a:solidFill>
                </a:rPr>
                <a:t>虚拟地址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Rectangle 34" descr="宽上对角线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746" y="6633"/>
              <a:ext cx="3402" cy="136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tIns="107950" bIns="0" anchor="ctr"/>
            <a:lstStyle/>
            <a:p>
              <a:pPr algn="r"/>
              <a:r>
                <a:rPr lang="en-US" altLang="zh-CN" sz="1800" b="1" u="none" dirty="0">
                  <a:latin typeface="宋体" panose="02010600030101010101" pitchFamily="2" charset="-122"/>
                </a:rPr>
                <a:t>VM</a:t>
              </a:r>
            </a:p>
            <a:p>
              <a:endParaRPr lang="en-US" altLang="zh-CN" sz="1800" u="none" dirty="0"/>
            </a:p>
            <a:p>
              <a:endParaRPr lang="zh-CN" altLang="en-US" sz="2000" u="none" dirty="0"/>
            </a:p>
          </p:txBody>
        </p:sp>
        <p:sp>
          <p:nvSpPr>
            <p:cNvPr id="20" name="Text Box 3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787" y="7427"/>
              <a:ext cx="1247" cy="45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21" name="Text Box 3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60" y="7427"/>
              <a:ext cx="113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2" name="Text Box 3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597" y="6746"/>
              <a:ext cx="181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软硬件</a:t>
              </a:r>
            </a:p>
          </p:txBody>
        </p:sp>
        <p:cxnSp>
          <p:nvCxnSpPr>
            <p:cNvPr id="23" name="直接箭头连接符 22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7427" y="7087"/>
              <a:ext cx="624" cy="33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4"/>
              </p:custDataLst>
            </p:nvPr>
          </p:nvCxnSpPr>
          <p:spPr bwMode="auto">
            <a:xfrm>
              <a:off x="8901" y="7087"/>
              <a:ext cx="624" cy="33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15"/>
              </p:custDataLst>
            </p:nvPr>
          </p:nvCxnSpPr>
          <p:spPr bwMode="auto">
            <a:xfrm>
              <a:off x="5102" y="7654"/>
              <a:ext cx="164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16"/>
              </p:custDataLst>
            </p:nvPr>
          </p:nvCxnSpPr>
          <p:spPr bwMode="auto">
            <a:xfrm>
              <a:off x="7993" y="7653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grpSp>
        <p:nvGrpSpPr>
          <p:cNvPr id="27" name="组合 26"/>
          <p:cNvGrpSpPr/>
          <p:nvPr/>
        </p:nvGrpSpPr>
        <p:grpSpPr>
          <a:xfrm>
            <a:off x="7740440" y="3501008"/>
            <a:ext cx="864008" cy="1548192"/>
            <a:chOff x="7740352" y="4077072"/>
            <a:chExt cx="864008" cy="1548192"/>
          </a:xfrm>
        </p:grpSpPr>
        <p:sp>
          <p:nvSpPr>
            <p:cNvPr id="29" name="Text Box 25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812360" y="4365264"/>
              <a:ext cx="792000" cy="126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145" rIns="18000" bIns="10800" anchor="t" anchorCtr="0"/>
            <a:lstStyle/>
            <a:p>
              <a:pPr algn="ctr">
                <a:spcBef>
                  <a:spcPts val="0"/>
                </a:spcBef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文件区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其他区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0" name="Text Box 12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740352" y="4077072"/>
              <a:ext cx="864000" cy="2873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spc="-1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辅存空间</a:t>
              </a:r>
            </a:p>
          </p:txBody>
        </p:sp>
        <p:sp>
          <p:nvSpPr>
            <p:cNvPr id="55" name="Text Box 3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812360" y="4905072"/>
              <a:ext cx="792000" cy="360363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交换区</a:t>
              </a:r>
            </a:p>
          </p:txBody>
        </p: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6B1FBA4-1725-42D2-84AF-FF8E4662E90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 flipV="1">
            <a:off x="6660232" y="1196752"/>
            <a:ext cx="144016" cy="46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3829888" cy="32165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虚拟存储器的工作过程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*VM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涉及空间：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*VM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工作过程：</a:t>
            </a:r>
            <a:endParaRPr lang="en-US" altLang="zh-CN" sz="1800" u="none" dirty="0">
              <a:latin typeface="宋体" panose="02010600030101010101" pitchFamily="2" charset="-122"/>
            </a:endParaRPr>
          </a:p>
        </p:txBody>
      </p:sp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9F223-DF1A-45BC-8FDC-2A5D53E0C282}" type="slidenum">
              <a:rPr lang="en-US" altLang="zh-CN"/>
              <a:t>73</a:t>
            </a:fld>
            <a:endParaRPr lang="en-US" altLang="zh-CN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261745" y="3545952"/>
            <a:ext cx="4678680" cy="1728470"/>
            <a:chOff x="2665" y="6406"/>
            <a:chExt cx="7368" cy="2722"/>
          </a:xfrm>
        </p:grpSpPr>
        <p:sp>
          <p:nvSpPr>
            <p:cNvPr id="41" name="Text Box 24" descr="宽上对角线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195" y="6406"/>
              <a:ext cx="5839" cy="272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000" rIns="18000" bIns="10800" anchor="t" anchorCtr="0"/>
            <a:lstStyle/>
            <a:p>
              <a:r>
                <a:rPr lang="en-US" altLang="zh-CN" sz="1800" b="1" u="none" dirty="0">
                  <a:latin typeface="+mn-ea"/>
                  <a:ea typeface="+mn-ea"/>
                </a:rPr>
                <a:t>                             VM</a:t>
              </a:r>
            </a:p>
          </p:txBody>
        </p:sp>
        <p:sp>
          <p:nvSpPr>
            <p:cNvPr id="42" name="Text Box 118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726" y="8464"/>
              <a:ext cx="1134" cy="56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3" name="Text Box 119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8787" y="8464"/>
              <a:ext cx="1134" cy="567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44" name="Rectangle 121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4422" y="6520"/>
              <a:ext cx="4932" cy="18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t" anchorCtr="0"/>
            <a:lstStyle/>
            <a:p>
              <a:endParaRPr lang="en-US" altLang="zh-CN" sz="2000" b="1" u="none" dirty="0"/>
            </a:p>
            <a:p>
              <a:endParaRPr lang="en-US" altLang="zh-CN" sz="2000" b="1" u="none" dirty="0"/>
            </a:p>
            <a:p>
              <a:endParaRPr lang="zh-CN" altLang="en-US" sz="2000" b="1" u="none" dirty="0"/>
            </a:p>
          </p:txBody>
        </p:sp>
        <p:sp>
          <p:nvSpPr>
            <p:cNvPr id="45" name="Text Box 176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2665" y="6803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虚拟地址</a:t>
              </a:r>
            </a:p>
          </p:txBody>
        </p:sp>
        <p:sp>
          <p:nvSpPr>
            <p:cNvPr id="46" name="Text Box 177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3231" y="8504"/>
              <a:ext cx="794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命令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</a:t>
              </a:r>
            </a:p>
          </p:txBody>
        </p:sp>
        <p:cxnSp>
          <p:nvCxnSpPr>
            <p:cNvPr id="47" name="直接箭头连接符 46"/>
            <p:cNvCxnSpPr/>
            <p:nvPr>
              <p:custDataLst>
                <p:tags r:id="rId88"/>
              </p:custDataLst>
            </p:nvPr>
          </p:nvCxnSpPr>
          <p:spPr bwMode="auto">
            <a:xfrm>
              <a:off x="5159" y="8561"/>
              <a:ext cx="567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89"/>
              </p:custDataLst>
            </p:nvPr>
          </p:nvCxnSpPr>
          <p:spPr bwMode="auto">
            <a:xfrm>
              <a:off x="4025" y="8731"/>
              <a:ext cx="1701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55"/>
            <p:cNvCxnSpPr/>
            <p:nvPr>
              <p:custDataLst>
                <p:tags r:id="rId90"/>
              </p:custDataLst>
            </p:nvPr>
          </p:nvCxnSpPr>
          <p:spPr bwMode="auto">
            <a:xfrm>
              <a:off x="5159" y="8391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91"/>
              </p:custDataLst>
            </p:nvPr>
          </p:nvCxnSpPr>
          <p:spPr bwMode="auto">
            <a:xfrm>
              <a:off x="4025" y="8957"/>
              <a:ext cx="1701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92"/>
              </p:custDataLst>
            </p:nvPr>
          </p:nvCxnSpPr>
          <p:spPr bwMode="auto">
            <a:xfrm>
              <a:off x="4025" y="6973"/>
              <a:ext cx="3798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" name="Text Box 20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736" y="764704"/>
            <a:ext cx="622681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程序空间，主存空间、辅存空间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交换区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latin typeface="宋体" panose="02010600030101010101" pitchFamily="2" charset="-122"/>
              </a:rPr>
              <a:t>文件区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7" name="Text Box 20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000" y="3068960"/>
            <a:ext cx="6624736" cy="459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地址变换＋</a:t>
            </a:r>
            <a:r>
              <a:rPr lang="en-US" altLang="zh-CN" sz="2200" b="1" u="none" dirty="0">
                <a:latin typeface="宋体" panose="02010600030101010101" pitchFamily="2" charset="-122"/>
              </a:rPr>
              <a:t>[</a:t>
            </a:r>
            <a:r>
              <a:rPr lang="zh-CN" altLang="en-US" sz="2200" b="1" u="none" dirty="0">
                <a:latin typeface="宋体" panose="02010600030101010101" pitchFamily="2" charset="-122"/>
              </a:rPr>
              <a:t>层次管理＋</a:t>
            </a:r>
            <a:r>
              <a:rPr lang="en-US" altLang="zh-CN" sz="2200" b="1" u="none" dirty="0">
                <a:latin typeface="宋体" panose="02010600030101010101" pitchFamily="2" charset="-122"/>
              </a:rPr>
              <a:t>]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访问主存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[]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表示可缺省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2413420" y="3654142"/>
            <a:ext cx="1619885" cy="1151890"/>
            <a:chOff x="4308" y="4162"/>
            <a:chExt cx="2551" cy="1814"/>
          </a:xfrm>
        </p:grpSpPr>
        <p:sp>
          <p:nvSpPr>
            <p:cNvPr id="33" name="Text Box 21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4308" y="4786"/>
              <a:ext cx="158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地址变换</a:t>
              </a:r>
            </a:p>
          </p:txBody>
        </p:sp>
        <p:sp>
          <p:nvSpPr>
            <p:cNvPr id="34" name="Text Box 212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5046" y="5523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</a:p>
          </p:txBody>
        </p:sp>
        <p:sp>
          <p:nvSpPr>
            <p:cNvPr id="35" name="Text Box 22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5895" y="4842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</a:p>
          </p:txBody>
        </p:sp>
        <p:sp>
          <p:nvSpPr>
            <p:cNvPr id="36" name="Text Box 212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4421" y="4162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硬件</a:t>
              </a:r>
            </a:p>
          </p:txBody>
        </p:sp>
        <p:cxnSp>
          <p:nvCxnSpPr>
            <p:cNvPr id="37" name="直接箭头连接符 55"/>
            <p:cNvCxnSpPr/>
            <p:nvPr>
              <p:custDataLst>
                <p:tags r:id="rId79"/>
              </p:custDataLst>
            </p:nvPr>
          </p:nvCxnSpPr>
          <p:spPr bwMode="auto">
            <a:xfrm>
              <a:off x="4989" y="546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38" name="直接箭头连接符 55"/>
            <p:cNvCxnSpPr/>
            <p:nvPr>
              <p:custDataLst>
                <p:tags r:id="rId80"/>
              </p:custDataLst>
            </p:nvPr>
          </p:nvCxnSpPr>
          <p:spPr bwMode="auto">
            <a:xfrm>
              <a:off x="4989" y="45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81"/>
              </p:custDataLst>
            </p:nvPr>
          </p:nvCxnSpPr>
          <p:spPr bwMode="auto">
            <a:xfrm>
              <a:off x="5895" y="5126"/>
              <a:ext cx="96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" name="组合 7"/>
          <p:cNvGrpSpPr/>
          <p:nvPr/>
        </p:nvGrpSpPr>
        <p:grpSpPr>
          <a:xfrm>
            <a:off x="3601085" y="3653902"/>
            <a:ext cx="2952115" cy="1512570"/>
            <a:chOff x="6349" y="6576"/>
            <a:chExt cx="4649" cy="2382"/>
          </a:xfrm>
        </p:grpSpPr>
        <p:sp>
          <p:nvSpPr>
            <p:cNvPr id="9" name="Text Box 220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7029" y="7200"/>
              <a:ext cx="158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辅存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地址变换</a:t>
              </a:r>
            </a:p>
          </p:txBody>
        </p:sp>
        <p:sp>
          <p:nvSpPr>
            <p:cNvPr id="10" name="Text Box 230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6689" y="7994"/>
              <a:ext cx="141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主存管理</a:t>
              </a:r>
            </a:p>
          </p:txBody>
        </p:sp>
        <p:sp>
          <p:nvSpPr>
            <p:cNvPr id="104" name="Text Box 212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334" y="7938"/>
              <a:ext cx="68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</a:p>
          </p:txBody>
        </p:sp>
        <p:sp>
          <p:nvSpPr>
            <p:cNvPr id="105" name="Text Box 216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0204" y="7227"/>
              <a:ext cx="794" cy="79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系统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异常</a:t>
              </a:r>
            </a:p>
          </p:txBody>
        </p:sp>
        <p:sp>
          <p:nvSpPr>
            <p:cNvPr id="106" name="Text Box 21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265" y="6576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软件</a:t>
              </a:r>
            </a:p>
          </p:txBody>
        </p:sp>
        <p:cxnSp>
          <p:nvCxnSpPr>
            <p:cNvPr id="107" name="直接箭头连接符 55"/>
            <p:cNvCxnSpPr/>
            <p:nvPr>
              <p:custDataLst>
                <p:tags r:id="rId65"/>
              </p:custDataLst>
            </p:nvPr>
          </p:nvCxnSpPr>
          <p:spPr bwMode="auto">
            <a:xfrm>
              <a:off x="7823" y="697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6860" y="8561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55"/>
            <p:cNvCxnSpPr/>
            <p:nvPr>
              <p:custDataLst>
                <p:tags r:id="rId67"/>
              </p:custDataLst>
            </p:nvPr>
          </p:nvCxnSpPr>
          <p:spPr bwMode="auto">
            <a:xfrm>
              <a:off x="7370" y="833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68"/>
              </p:custDataLst>
            </p:nvPr>
          </p:nvCxnSpPr>
          <p:spPr bwMode="auto">
            <a:xfrm>
              <a:off x="6349" y="8164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1" name="直接箭头连接符 55"/>
            <p:cNvCxnSpPr/>
            <p:nvPr>
              <p:custDataLst>
                <p:tags r:id="rId69"/>
              </p:custDataLst>
            </p:nvPr>
          </p:nvCxnSpPr>
          <p:spPr bwMode="auto">
            <a:xfrm>
              <a:off x="6349" y="7540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sp>
          <p:nvSpPr>
            <p:cNvPr id="112" name="Text Box 22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617" y="7313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</a:p>
          </p:txBody>
        </p:sp>
        <p:cxnSp>
          <p:nvCxnSpPr>
            <p:cNvPr id="113" name="直接箭头连接符 112"/>
            <p:cNvCxnSpPr/>
            <p:nvPr>
              <p:custDataLst>
                <p:tags r:id="rId71"/>
              </p:custDataLst>
            </p:nvPr>
          </p:nvCxnSpPr>
          <p:spPr bwMode="auto">
            <a:xfrm>
              <a:off x="8617" y="7598"/>
              <a:ext cx="1587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55"/>
            <p:cNvCxnSpPr/>
            <p:nvPr>
              <p:custDataLst>
                <p:tags r:id="rId72"/>
              </p:custDataLst>
            </p:nvPr>
          </p:nvCxnSpPr>
          <p:spPr bwMode="auto">
            <a:xfrm>
              <a:off x="8334" y="7881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8334" y="856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74"/>
              </p:custDataLst>
            </p:nvPr>
          </p:nvCxnSpPr>
          <p:spPr bwMode="auto">
            <a:xfrm>
              <a:off x="6860" y="8958"/>
              <a:ext cx="1928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sp>
        <p:nvSpPr>
          <p:cNvPr id="166" name="Text Box 52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1990" y="5445224"/>
            <a:ext cx="46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虚存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zh-CN" sz="1800" b="1" u="none" dirty="0">
                <a:latin typeface="宋体" panose="02010600030101010101" pitchFamily="2" charset="-122"/>
              </a:rPr>
              <a:t>变换为何要用</a:t>
            </a:r>
            <a:r>
              <a:rPr lang="zh-CN" altLang="en-US" sz="1800" b="1" u="none" dirty="0">
                <a:latin typeface="宋体" panose="02010600030101010101" pitchFamily="2" charset="-122"/>
              </a:rPr>
              <a:t>硬件实现？</a:t>
            </a:r>
          </a:p>
        </p:txBody>
      </p:sp>
      <p:sp>
        <p:nvSpPr>
          <p:cNvPr id="167" name="Text Box 52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37662" y="5445224"/>
            <a:ext cx="257429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需保证访问速度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(≈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68" name="Text Box 52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2295" y="5806800"/>
            <a:ext cx="46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思考②：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虚存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辅存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变换为何要用软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件实现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69" name="Text Box 52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56016" y="5806800"/>
            <a:ext cx="385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需访问辅存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慢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、管理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表太大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成本高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71" name="Text Box 52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11560" y="6166800"/>
            <a:ext cx="42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思考③：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如何从硬件实现</a:t>
            </a:r>
            <a:r>
              <a:rPr lang="zh-CN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转到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软件实现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72" name="Text Box 52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931260" y="6166800"/>
            <a:ext cx="3333115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MMU</a:t>
            </a:r>
            <a:r>
              <a:rPr 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产生异常请求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见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结构图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73" name="AutoShape 331"/>
          <p:cNvSpPr/>
          <p:nvPr>
            <p:custDataLst>
              <p:tags r:id="rId10"/>
            </p:custDataLst>
          </p:nvPr>
        </p:nvSpPr>
        <p:spPr bwMode="auto">
          <a:xfrm>
            <a:off x="864000" y="4299447"/>
            <a:ext cx="864000" cy="252000"/>
          </a:xfrm>
          <a:prstGeom prst="borderCallout2">
            <a:avLst>
              <a:gd name="adj1" fmla="val 47976"/>
              <a:gd name="adj2" fmla="val 99245"/>
              <a:gd name="adj3" fmla="val 50476"/>
              <a:gd name="adj4" fmla="val 122369"/>
              <a:gd name="adj5" fmla="val -200751"/>
              <a:gd name="adj6" fmla="val 195130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+mn-ea"/>
                <a:ea typeface="+mn-ea"/>
              </a:rPr>
              <a:t>称为</a:t>
            </a:r>
            <a:r>
              <a:rPr lang="en-US" altLang="zh-CN" sz="1600" b="1" u="none" dirty="0">
                <a:latin typeface="+mn-ea"/>
                <a:ea typeface="+mn-ea"/>
              </a:rPr>
              <a:t>MMU</a:t>
            </a:r>
            <a:endParaRPr lang="en-US" altLang="zh-CN" sz="1600" b="1" u="none" dirty="0">
              <a:solidFill>
                <a:srgbClr val="FF33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4" name="Text Box 14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21400" y="4842096"/>
            <a:ext cx="289814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 marL="504190" indent="-504190">
              <a:lnSpc>
                <a:spcPct val="114000"/>
              </a:lnSpc>
            </a:pPr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MMU—</a:t>
            </a:r>
            <a:r>
              <a:rPr lang="en-US" altLang="zh-CN" sz="1600" u="none" dirty="0"/>
              <a:t>Memory Management Unit</a:t>
            </a:r>
            <a:endParaRPr lang="en-US" altLang="zh-CN" sz="1600" b="1" u="none" spc="-100" dirty="0">
              <a:latin typeface="+mn-ea"/>
            </a:endParaRPr>
          </a:p>
        </p:txBody>
      </p:sp>
      <p:sp>
        <p:nvSpPr>
          <p:cNvPr id="154" name="Text Box 212">
            <a:extLst>
              <a:ext uri="{FF2B5EF4-FFF2-40B4-BE49-F238E27FC236}">
                <a16:creationId xmlns:a16="http://schemas.microsoft.com/office/drawing/2014/main" id="{1DF9294D-A77E-4843-8E8C-9F5E702F00C2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164000" y="1484640"/>
            <a:ext cx="1800000" cy="108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000" tIns="28800" rIns="36000" bIns="10800" anchor="ctr"/>
          <a:lstStyle/>
          <a:p>
            <a:pPr marL="266700" indent="-266700">
              <a:lnSpc>
                <a:spcPct val="105000"/>
              </a:lnSpc>
            </a:pP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交换区：</a:t>
            </a:r>
            <a:r>
              <a:rPr lang="zh-CN" altLang="en-US" sz="1600" b="1" u="none" dirty="0">
                <a:latin typeface="宋体" panose="02010600030101010101" pitchFamily="2" charset="-122"/>
              </a:rPr>
              <a:t>暂存</a:t>
            </a:r>
            <a:r>
              <a:rPr lang="zh-CN" altLang="en-US" sz="1600" b="1" dirty="0">
                <a:latin typeface="宋体" panose="02010600030101010101" pitchFamily="2" charset="-122"/>
              </a:rPr>
              <a:t>替换出</a:t>
            </a:r>
            <a:r>
              <a:rPr lang="zh-CN" altLang="en-US" sz="1600" b="1" u="none" dirty="0">
                <a:latin typeface="宋体" panose="02010600030101010101" pitchFamily="2" charset="-122"/>
              </a:rPr>
              <a:t>的程序信息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 marL="266700" indent="-266700">
              <a:lnSpc>
                <a:spcPct val="105000"/>
              </a:lnSpc>
            </a:pP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文件区：</a:t>
            </a:r>
            <a:r>
              <a:rPr lang="zh-CN" altLang="en-US" sz="1600" b="1" u="none" dirty="0">
                <a:latin typeface="宋体" panose="02010600030101010101" pitchFamily="2" charset="-122"/>
              </a:rPr>
              <a:t>存放程序文件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>
                <a:latin typeface="宋体" panose="02010600030101010101" pitchFamily="2" charset="-122"/>
              </a:rPr>
              <a:t>VM</a:t>
            </a:r>
            <a:r>
              <a:rPr lang="zh-CN" altLang="en-US" sz="1600" b="1" u="none" dirty="0">
                <a:latin typeface="宋体" panose="02010600030101010101" pitchFamily="2" charset="-122"/>
              </a:rPr>
              <a:t>无关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E4541D7-1728-4C95-AFF0-6CEA9AA50B47}"/>
              </a:ext>
            </a:extLst>
          </p:cNvPr>
          <p:cNvGrpSpPr/>
          <p:nvPr/>
        </p:nvGrpSpPr>
        <p:grpSpPr>
          <a:xfrm>
            <a:off x="1007846" y="1268760"/>
            <a:ext cx="5940418" cy="1800000"/>
            <a:chOff x="828000" y="1188000"/>
            <a:chExt cx="5940418" cy="1800000"/>
          </a:xfrm>
        </p:grpSpPr>
        <p:sp>
          <p:nvSpPr>
            <p:cNvPr id="125" name="Rectangle 121">
              <a:extLst>
                <a:ext uri="{FF2B5EF4-FFF2-40B4-BE49-F238E27FC236}">
                  <a16:creationId xmlns:a16="http://schemas.microsoft.com/office/drawing/2014/main" id="{A80E68B2-3DD3-4570-A74F-E66E73ACB4A9}"/>
                </a:ext>
              </a:extLst>
            </p:cNvPr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052000" y="1188000"/>
              <a:ext cx="3060000" cy="165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anchor="t" anchorCtr="0"/>
            <a:lstStyle/>
            <a:p>
              <a:endParaRPr lang="en-US" altLang="zh-CN" sz="2000" b="1" u="none" dirty="0"/>
            </a:p>
            <a:p>
              <a:endParaRPr lang="en-US" altLang="zh-CN" sz="2000" b="1" u="none" dirty="0"/>
            </a:p>
            <a:p>
              <a:endParaRPr lang="zh-CN" altLang="en-US" sz="2000" b="1" u="none" dirty="0"/>
            </a:p>
          </p:txBody>
        </p:sp>
        <p:sp>
          <p:nvSpPr>
            <p:cNvPr id="126" name="Text Box 37">
              <a:extLst>
                <a:ext uri="{FF2B5EF4-FFF2-40B4-BE49-F238E27FC236}">
                  <a16:creationId xmlns:a16="http://schemas.microsoft.com/office/drawing/2014/main" id="{03AAFE89-A654-4615-9245-D9162C4BC0A7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924253" y="1728000"/>
              <a:ext cx="1080135" cy="50419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辅存空间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交换区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27" name="Text Box 37">
              <a:extLst>
                <a:ext uri="{FF2B5EF4-FFF2-40B4-BE49-F238E27FC236}">
                  <a16:creationId xmlns:a16="http://schemas.microsoft.com/office/drawing/2014/main" id="{3B3BE2C4-03F5-4AC1-ADEE-60AEAD01C63F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652723" y="1728000"/>
              <a:ext cx="1115695" cy="540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辅存空间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文件区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28" name="Text Box 212">
              <a:extLst>
                <a:ext uri="{FF2B5EF4-FFF2-40B4-BE49-F238E27FC236}">
                  <a16:creationId xmlns:a16="http://schemas.microsoft.com/office/drawing/2014/main" id="{95A022C5-82BE-4912-8242-5A10D6A3D38F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148533" y="1692435"/>
              <a:ext cx="4679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装入</a:t>
              </a:r>
            </a:p>
          </p:txBody>
        </p:sp>
        <p:sp>
          <p:nvSpPr>
            <p:cNvPr id="129" name="左箭头 30">
              <a:extLst>
                <a:ext uri="{FF2B5EF4-FFF2-40B4-BE49-F238E27FC236}">
                  <a16:creationId xmlns:a16="http://schemas.microsoft.com/office/drawing/2014/main" id="{BCD08441-61E9-4E2F-A1E7-9F59418227A2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5004388" y="1872775"/>
              <a:ext cx="647700" cy="107950"/>
            </a:xfrm>
            <a:prstGeom prst="lef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左箭头 154">
              <a:extLst>
                <a:ext uri="{FF2B5EF4-FFF2-40B4-BE49-F238E27FC236}">
                  <a16:creationId xmlns:a16="http://schemas.microsoft.com/office/drawing/2014/main" id="{2ED2EF22-DE3C-472E-9CC0-B78A05D36DC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3095999" y="1800385"/>
              <a:ext cx="828000" cy="107950"/>
            </a:xfrm>
            <a:prstGeom prst="lef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" name="右箭头 155">
              <a:extLst>
                <a:ext uri="{FF2B5EF4-FFF2-40B4-BE49-F238E27FC236}">
                  <a16:creationId xmlns:a16="http://schemas.microsoft.com/office/drawing/2014/main" id="{DA1320EE-142E-4076-8533-4242E5D29C4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3096000" y="2088000"/>
              <a:ext cx="828000" cy="107950"/>
            </a:xfrm>
            <a:prstGeom prst="righ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2" name="Text Box 212">
              <a:extLst>
                <a:ext uri="{FF2B5EF4-FFF2-40B4-BE49-F238E27FC236}">
                  <a16:creationId xmlns:a16="http://schemas.microsoft.com/office/drawing/2014/main" id="{43837AA1-975D-45CD-99B8-C20B424D11F6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132000" y="1882800"/>
              <a:ext cx="46799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交换</a:t>
              </a:r>
            </a:p>
          </p:txBody>
        </p:sp>
        <p:sp>
          <p:nvSpPr>
            <p:cNvPr id="133" name="Text Box 322">
              <a:extLst>
                <a:ext uri="{FF2B5EF4-FFF2-40B4-BE49-F238E27FC236}">
                  <a16:creationId xmlns:a16="http://schemas.microsoft.com/office/drawing/2014/main" id="{E92D65BA-88D4-43AE-9395-B34D5B8699AF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364000" y="2376000"/>
              <a:ext cx="900000" cy="468000"/>
            </a:xfrm>
            <a:prstGeom prst="rect">
              <a:avLst/>
            </a:prstGeom>
            <a:noFill/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文件映射表</a:t>
              </a:r>
            </a:p>
          </p:txBody>
        </p:sp>
        <p:sp>
          <p:nvSpPr>
            <p:cNvPr id="134" name="Text Box 212">
              <a:extLst>
                <a:ext uri="{FF2B5EF4-FFF2-40B4-BE49-F238E27FC236}">
                  <a16:creationId xmlns:a16="http://schemas.microsoft.com/office/drawing/2014/main" id="{F85F17AB-71E1-495C-A357-AB9C9F335E77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480000" y="2412000"/>
              <a:ext cx="216000" cy="46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存放</a:t>
              </a:r>
            </a:p>
          </p:txBody>
        </p:sp>
        <p:sp>
          <p:nvSpPr>
            <p:cNvPr id="135" name="Text Box 176">
              <a:extLst>
                <a:ext uri="{FF2B5EF4-FFF2-40B4-BE49-F238E27FC236}">
                  <a16:creationId xmlns:a16="http://schemas.microsoft.com/office/drawing/2014/main" id="{433B3F1A-094F-4E7A-AAAD-39ED5CD5AE7C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511895" y="1620000"/>
              <a:ext cx="50419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虚拟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20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136" name="Text Box 249">
              <a:extLst>
                <a:ext uri="{FF2B5EF4-FFF2-40B4-BE49-F238E27FC236}">
                  <a16:creationId xmlns:a16="http://schemas.microsoft.com/office/drawing/2014/main" id="{799AE037-395D-4C8F-8EE1-24253FC98AE2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519640" y="1728000"/>
              <a:ext cx="575945" cy="50419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主存空间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251">
              <a:extLst>
                <a:ext uri="{FF2B5EF4-FFF2-40B4-BE49-F238E27FC236}">
                  <a16:creationId xmlns:a16="http://schemas.microsoft.com/office/drawing/2014/main" id="{C63C02B8-CCF8-4304-835D-AE2225D4B108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28000" y="1332390"/>
              <a:ext cx="647700" cy="13677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spcBef>
                  <a:spcPts val="0"/>
                </a:spcBef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程序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空间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空间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4AC23E01-9C44-4626-8B67-3FDBB3D47D8C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1475700" y="1872000"/>
              <a:ext cx="575945" cy="6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55">
              <a:extLst>
                <a:ext uri="{FF2B5EF4-FFF2-40B4-BE49-F238E27FC236}">
                  <a16:creationId xmlns:a16="http://schemas.microsoft.com/office/drawing/2014/main" id="{94966B48-1F38-42D0-9165-9B139DB4A048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1475700" y="2160000"/>
              <a:ext cx="10439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40" name="直接箭头连接符 55">
              <a:extLst>
                <a:ext uri="{FF2B5EF4-FFF2-40B4-BE49-F238E27FC236}">
                  <a16:creationId xmlns:a16="http://schemas.microsoft.com/office/drawing/2014/main" id="{9D570A4A-DCD8-4DD9-9C4C-75181E24313D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2051645" y="1872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sp>
          <p:nvSpPr>
            <p:cNvPr id="141" name="Text Box 249">
              <a:extLst>
                <a:ext uri="{FF2B5EF4-FFF2-40B4-BE49-F238E27FC236}">
                  <a16:creationId xmlns:a16="http://schemas.microsoft.com/office/drawing/2014/main" id="{8E563DFA-A516-479A-A981-C8BD7A0C91F4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115850" y="2700000"/>
              <a:ext cx="72000" cy="28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2" name="箭头: 直角上 141">
              <a:extLst>
                <a:ext uri="{FF2B5EF4-FFF2-40B4-BE49-F238E27FC236}">
                  <a16:creationId xmlns:a16="http://schemas.microsoft.com/office/drawing/2014/main" id="{0CA4F7CF-7F9B-4166-BC95-68A06080181E}"/>
                </a:ext>
              </a:extLst>
            </p:cNvPr>
            <p:cNvSpPr/>
            <p:nvPr/>
          </p:nvSpPr>
          <p:spPr bwMode="auto">
            <a:xfrm>
              <a:off x="1188000" y="2268000"/>
              <a:ext cx="5292000" cy="720000"/>
            </a:xfrm>
            <a:prstGeom prst="bentUpArrow">
              <a:avLst>
                <a:gd name="adj1" fmla="val 8527"/>
                <a:gd name="adj2" fmla="val 8527"/>
                <a:gd name="adj3" fmla="val 16279"/>
              </a:avLst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Text Box 322">
              <a:extLst>
                <a:ext uri="{FF2B5EF4-FFF2-40B4-BE49-F238E27FC236}">
                  <a16:creationId xmlns:a16="http://schemas.microsoft.com/office/drawing/2014/main" id="{35DB8650-1BA3-451D-B68E-C03672B66D18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124000" y="1260000"/>
              <a:ext cx="1656000" cy="215900"/>
            </a:xfrm>
            <a:prstGeom prst="rect">
              <a:avLst/>
            </a:prstGeom>
            <a:solidFill>
              <a:schemeClr val="bg1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主存映射表</a:t>
              </a:r>
            </a:p>
          </p:txBody>
        </p:sp>
        <p:sp>
          <p:nvSpPr>
            <p:cNvPr id="144" name="Text Box 322">
              <a:extLst>
                <a:ext uri="{FF2B5EF4-FFF2-40B4-BE49-F238E27FC236}">
                  <a16:creationId xmlns:a16="http://schemas.microsoft.com/office/drawing/2014/main" id="{59BFE85C-73CB-481B-B9BB-8A4A6D5ECB58}"/>
                </a:ext>
              </a:extLst>
            </p:cNvPr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384000" y="2484000"/>
              <a:ext cx="1620000" cy="215900"/>
            </a:xfrm>
            <a:prstGeom prst="rect">
              <a:avLst/>
            </a:prstGeom>
            <a:solidFill>
              <a:schemeClr val="bg1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辅存映射表</a:t>
              </a: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4ACC32E4-9DA5-41AC-BF96-2F4681FF0660}"/>
              </a:ext>
            </a:extLst>
          </p:cNvPr>
          <p:cNvGrpSpPr/>
          <p:nvPr/>
        </p:nvGrpSpPr>
        <p:grpSpPr>
          <a:xfrm>
            <a:off x="2375582" y="1556760"/>
            <a:ext cx="2124264" cy="1152000"/>
            <a:chOff x="2195736" y="1476000"/>
            <a:chExt cx="2124264" cy="1152000"/>
          </a:xfrm>
        </p:grpSpPr>
        <p:cxnSp>
          <p:nvCxnSpPr>
            <p:cNvPr id="146" name="直接箭头连接符 55">
              <a:extLst>
                <a:ext uri="{FF2B5EF4-FFF2-40B4-BE49-F238E27FC236}">
                  <a16:creationId xmlns:a16="http://schemas.microsoft.com/office/drawing/2014/main" id="{CE21835D-8635-4CAD-8DB2-1A32DC92875B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708000" y="1476256"/>
              <a:ext cx="635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sm" len="sm"/>
              <a:tailEnd type="arrow" w="sm" len="sm"/>
            </a:ln>
            <a:effectLst/>
          </p:spPr>
        </p:cxnSp>
        <p:sp>
          <p:nvSpPr>
            <p:cNvPr id="147" name="Text Box 322">
              <a:extLst>
                <a:ext uri="{FF2B5EF4-FFF2-40B4-BE49-F238E27FC236}">
                  <a16:creationId xmlns:a16="http://schemas.microsoft.com/office/drawing/2014/main" id="{7CB92B72-2A7F-4726-A1B7-90A11CBB3501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28875" y="2232101"/>
              <a:ext cx="396240" cy="21590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sz="1400" b="1" u="none" dirty="0">
                  <a:latin typeface="宋体" panose="02010600030101010101" pitchFamily="2" charset="-122"/>
                </a:rPr>
                <a:t>替换</a:t>
              </a:r>
            </a:p>
          </p:txBody>
        </p:sp>
        <p:cxnSp>
          <p:nvCxnSpPr>
            <p:cNvPr id="148" name="直接箭头连接符 55">
              <a:extLst>
                <a:ext uri="{FF2B5EF4-FFF2-40B4-BE49-F238E27FC236}">
                  <a16:creationId xmlns:a16="http://schemas.microsoft.com/office/drawing/2014/main" id="{6804AE2F-5D94-45FC-9F17-DA8E0A6B1BD1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 flipV="1">
              <a:off x="3780000" y="2016000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med"/>
            </a:ln>
            <a:effectLst/>
          </p:spPr>
        </p:cxnSp>
        <p:cxnSp>
          <p:nvCxnSpPr>
            <p:cNvPr id="149" name="直接箭头连接符 55">
              <a:extLst>
                <a:ext uri="{FF2B5EF4-FFF2-40B4-BE49-F238E27FC236}">
                  <a16:creationId xmlns:a16="http://schemas.microsoft.com/office/drawing/2014/main" id="{C3714848-831F-4D7D-BC46-922FD3EF9BC0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492000" y="1476001"/>
              <a:ext cx="635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A5B7B65A-DE80-4977-9C15-E50DF5038156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2304000" y="1476000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51" name="直接箭头连接符 55">
              <a:extLst>
                <a:ext uri="{FF2B5EF4-FFF2-40B4-BE49-F238E27FC236}">
                  <a16:creationId xmlns:a16="http://schemas.microsoft.com/office/drawing/2014/main" id="{0CE2A4B7-E0D8-4713-BAD0-250FD55802ED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2303999" y="187200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52" name="直接箭头连接符 55">
              <a:extLst>
                <a:ext uri="{FF2B5EF4-FFF2-40B4-BE49-F238E27FC236}">
                  <a16:creationId xmlns:a16="http://schemas.microsoft.com/office/drawing/2014/main" id="{26DAF0A2-E291-46B0-A798-325001DEF14D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2196000" y="1476000"/>
              <a:ext cx="635" cy="39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sp>
          <p:nvSpPr>
            <p:cNvPr id="153" name="Text Box 322">
              <a:extLst>
                <a:ext uri="{FF2B5EF4-FFF2-40B4-BE49-F238E27FC236}">
                  <a16:creationId xmlns:a16="http://schemas.microsoft.com/office/drawing/2014/main" id="{CD217D98-5627-4B3C-8618-1366B7DEBBE8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628875" y="1512101"/>
              <a:ext cx="396240" cy="21590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分配</a:t>
              </a:r>
            </a:p>
          </p:txBody>
        </p:sp>
        <p:cxnSp>
          <p:nvCxnSpPr>
            <p:cNvPr id="155" name="直接箭头连接符 55">
              <a:extLst>
                <a:ext uri="{FF2B5EF4-FFF2-40B4-BE49-F238E27FC236}">
                  <a16:creationId xmlns:a16="http://schemas.microsoft.com/office/drawing/2014/main" id="{58A1C14A-C31D-4B3A-AD44-C1A2925D18C6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3025115" y="1620101"/>
              <a:ext cx="46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sp>
          <p:nvSpPr>
            <p:cNvPr id="156" name="Text Box 212">
              <a:extLst>
                <a:ext uri="{FF2B5EF4-FFF2-40B4-BE49-F238E27FC236}">
                  <a16:creationId xmlns:a16="http://schemas.microsoft.com/office/drawing/2014/main" id="{E9730710-E161-40A8-84F4-F42BCC95F7A2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492000" y="1512101"/>
              <a:ext cx="82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更新表项</a:t>
              </a:r>
            </a:p>
          </p:txBody>
        </p:sp>
        <p:sp>
          <p:nvSpPr>
            <p:cNvPr id="157" name="Text Box 212">
              <a:extLst>
                <a:ext uri="{FF2B5EF4-FFF2-40B4-BE49-F238E27FC236}">
                  <a16:creationId xmlns:a16="http://schemas.microsoft.com/office/drawing/2014/main" id="{2322C8D7-7AF6-4ED4-923C-9911836904CF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304000" y="1537088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cxnSp>
          <p:nvCxnSpPr>
            <p:cNvPr id="158" name="直接箭头连接符 55">
              <a:extLst>
                <a:ext uri="{FF2B5EF4-FFF2-40B4-BE49-F238E27FC236}">
                  <a16:creationId xmlns:a16="http://schemas.microsoft.com/office/drawing/2014/main" id="{19957E63-70C4-4F14-BEB4-C500CE53876D}"/>
                </a:ext>
              </a:extLst>
            </p:cNvPr>
            <p:cNvCxnSpPr>
              <a:cxnSpLocks/>
            </p:cNvCxnSpPr>
            <p:nvPr>
              <p:custDataLst>
                <p:tags r:id="rId34"/>
              </p:custDataLst>
            </p:nvPr>
          </p:nvCxnSpPr>
          <p:spPr bwMode="auto">
            <a:xfrm>
              <a:off x="3780000" y="2016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sp>
          <p:nvSpPr>
            <p:cNvPr id="159" name="Text Box 212">
              <a:extLst>
                <a:ext uri="{FF2B5EF4-FFF2-40B4-BE49-F238E27FC236}">
                  <a16:creationId xmlns:a16="http://schemas.microsoft.com/office/drawing/2014/main" id="{1F8033E2-E4F9-4159-93EF-633B11A1553F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204000" y="16416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  <p:cxnSp>
          <p:nvCxnSpPr>
            <p:cNvPr id="160" name="直接箭头连接符 55">
              <a:extLst>
                <a:ext uri="{FF2B5EF4-FFF2-40B4-BE49-F238E27FC236}">
                  <a16:creationId xmlns:a16="http://schemas.microsoft.com/office/drawing/2014/main" id="{2423B079-3656-4195-AF53-8A8971078978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2195736" y="2628000"/>
              <a:ext cx="11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61" name="直接箭头连接符 55">
              <a:extLst>
                <a:ext uri="{FF2B5EF4-FFF2-40B4-BE49-F238E27FC236}">
                  <a16:creationId xmlns:a16="http://schemas.microsoft.com/office/drawing/2014/main" id="{92E663A5-D18D-40A4-80FF-0CF54812FE7F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2195736" y="1872000"/>
              <a:ext cx="0" cy="75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none" w="med" len="med"/>
            </a:ln>
            <a:effectLst/>
          </p:spPr>
        </p:cxnSp>
        <p:sp>
          <p:nvSpPr>
            <p:cNvPr id="162" name="Text Box 212">
              <a:extLst>
                <a:ext uri="{FF2B5EF4-FFF2-40B4-BE49-F238E27FC236}">
                  <a16:creationId xmlns:a16="http://schemas.microsoft.com/office/drawing/2014/main" id="{FC94C702-59D6-4706-8AC8-AB85367B78B4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04000" y="21852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cxnSp>
          <p:nvCxnSpPr>
            <p:cNvPr id="163" name="直接箭头连接符 55">
              <a:extLst>
                <a:ext uri="{FF2B5EF4-FFF2-40B4-BE49-F238E27FC236}">
                  <a16:creationId xmlns:a16="http://schemas.microsoft.com/office/drawing/2014/main" id="{BA9D504C-4F62-47F8-A631-C531A91E2B09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2844000" y="2556000"/>
              <a:ext cx="54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64" name="直接箭头连接符 55">
              <a:extLst>
                <a:ext uri="{FF2B5EF4-FFF2-40B4-BE49-F238E27FC236}">
                  <a16:creationId xmlns:a16="http://schemas.microsoft.com/office/drawing/2014/main" id="{888B604D-1B28-4666-A0A1-0E10F611CC5A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>
              <a:off x="2844000" y="2448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none" w="med" len="med"/>
            </a:ln>
            <a:effectLst/>
          </p:spPr>
        </p:cxn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DBAF5C2E-27FD-4BBA-B810-8CDC2B3D45DD}"/>
              </a:ext>
            </a:extLst>
          </p:cNvPr>
          <p:cNvGrpSpPr/>
          <p:nvPr/>
        </p:nvGrpSpPr>
        <p:grpSpPr>
          <a:xfrm>
            <a:off x="2375846" y="2024561"/>
            <a:ext cx="3456000" cy="828199"/>
            <a:chOff x="2196000" y="1943801"/>
            <a:chExt cx="3456000" cy="828199"/>
          </a:xfrm>
        </p:grpSpPr>
        <p:cxnSp>
          <p:nvCxnSpPr>
            <p:cNvPr id="185" name="直接箭头连接符 55">
              <a:extLst>
                <a:ext uri="{FF2B5EF4-FFF2-40B4-BE49-F238E27FC236}">
                  <a16:creationId xmlns:a16="http://schemas.microsoft.com/office/drawing/2014/main" id="{6352C07A-C560-4067-8626-666F9A91B64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H="1" flipV="1">
              <a:off x="5004388" y="2591801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sm"/>
              <a:tailEnd type="arrow" w="sm" len="sm"/>
            </a:ln>
            <a:effectLst/>
          </p:spPr>
        </p:cxnSp>
        <p:cxnSp>
          <p:nvCxnSpPr>
            <p:cNvPr id="186" name="直接箭头连接符 55">
              <a:extLst>
                <a:ext uri="{FF2B5EF4-FFF2-40B4-BE49-F238E27FC236}">
                  <a16:creationId xmlns:a16="http://schemas.microsoft.com/office/drawing/2014/main" id="{BA5B07A8-41E5-4F29-8912-38E89AAEF212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5220288" y="1943801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sm"/>
              <a:tailEnd type="none" w="med" len="sm"/>
            </a:ln>
            <a:effectLst/>
          </p:spPr>
        </p:cxnSp>
        <p:sp>
          <p:nvSpPr>
            <p:cNvPr id="187" name="Text Box 322">
              <a:extLst>
                <a:ext uri="{FF2B5EF4-FFF2-40B4-BE49-F238E27FC236}">
                  <a16:creationId xmlns:a16="http://schemas.microsoft.com/office/drawing/2014/main" id="{451E5015-CF6A-4F0F-B834-AEFCFD1B4050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464000" y="2232000"/>
              <a:ext cx="396240" cy="21590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分配</a:t>
              </a:r>
            </a:p>
          </p:txBody>
        </p:sp>
        <p:cxnSp>
          <p:nvCxnSpPr>
            <p:cNvPr id="188" name="直接箭头连接符 55">
              <a:extLst>
                <a:ext uri="{FF2B5EF4-FFF2-40B4-BE49-F238E27FC236}">
                  <a16:creationId xmlns:a16="http://schemas.microsoft.com/office/drawing/2014/main" id="{87B281DB-E361-4A2A-B424-74E4848D410B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508000" y="2196000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89" name="直接箭头连接符 55">
              <a:extLst>
                <a:ext uri="{FF2B5EF4-FFF2-40B4-BE49-F238E27FC236}">
                  <a16:creationId xmlns:a16="http://schemas.microsoft.com/office/drawing/2014/main" id="{46C86160-C373-4C04-A60C-690616D058CB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5508000" y="2196000"/>
              <a:ext cx="635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sm" len="sm"/>
            </a:ln>
            <a:effectLst/>
          </p:spPr>
        </p:cxnSp>
        <p:cxnSp>
          <p:nvCxnSpPr>
            <p:cNvPr id="190" name="直接箭头连接符 55">
              <a:extLst>
                <a:ext uri="{FF2B5EF4-FFF2-40B4-BE49-F238E27FC236}">
                  <a16:creationId xmlns:a16="http://schemas.microsoft.com/office/drawing/2014/main" id="{C994250F-7D01-4DE2-B3BF-A151E11A92C4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2196000" y="2771801"/>
              <a:ext cx="316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91" name="直接箭头连接符 55">
              <a:extLst>
                <a:ext uri="{FF2B5EF4-FFF2-40B4-BE49-F238E27FC236}">
                  <a16:creationId xmlns:a16="http://schemas.microsoft.com/office/drawing/2014/main" id="{2EC11CB4-8905-4721-8C2B-8C5B99869456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2196000" y="2628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none" w="med" len="med"/>
            </a:ln>
            <a:effectLst/>
          </p:spPr>
        </p:cxnSp>
        <p:cxnSp>
          <p:nvCxnSpPr>
            <p:cNvPr id="192" name="直接箭头连接符 55">
              <a:extLst>
                <a:ext uri="{FF2B5EF4-FFF2-40B4-BE49-F238E27FC236}">
                  <a16:creationId xmlns:a16="http://schemas.microsoft.com/office/drawing/2014/main" id="{FB05A38C-B1B8-448C-87B7-3BFB0129A989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4860000" y="2340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sp>
          <p:nvSpPr>
            <p:cNvPr id="193" name="Text Box 212">
              <a:extLst>
                <a:ext uri="{FF2B5EF4-FFF2-40B4-BE49-F238E27FC236}">
                  <a16:creationId xmlns:a16="http://schemas.microsoft.com/office/drawing/2014/main" id="{1F9EB8EA-F77C-4C4B-891F-98336BBB7305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220000" y="1980000"/>
              <a:ext cx="216000" cy="39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194" name="Text Box 212">
              <a:extLst>
                <a:ext uri="{FF2B5EF4-FFF2-40B4-BE49-F238E27FC236}">
                  <a16:creationId xmlns:a16="http://schemas.microsoft.com/office/drawing/2014/main" id="{E7A09E35-3DA4-412B-A409-B3072B36BC61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400000" y="19620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66" grpId="0" bldLvl="0" animBg="1"/>
      <p:bldP spid="167" grpId="0" bldLvl="0" animBg="1"/>
      <p:bldP spid="168" grpId="0" bldLvl="0" animBg="1"/>
      <p:bldP spid="169" grpId="0" bldLvl="0" animBg="1"/>
      <p:bldP spid="171" grpId="0" bldLvl="0" animBg="1"/>
      <p:bldP spid="172" grpId="0" bldLvl="0" animBg="1"/>
      <p:bldP spid="173" grpId="0" bldLvl="0" animBg="1"/>
      <p:bldP spid="174" grpId="0" bldLvl="0" animBg="1"/>
      <p:bldP spid="154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74</a:t>
            </a:fld>
            <a:endParaRPr lang="en-US" altLang="zh-CN"/>
          </a:p>
        </p:txBody>
      </p:sp>
      <p:sp>
        <p:nvSpPr>
          <p:cNvPr id="44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8785225" cy="20562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、虚拟存储器的存储管理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主要内容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交换单位，存储空间管理，地址变换方法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虚存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主存的交换单位：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虚存的存储管理方式：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3276600" y="1195200"/>
            <a:ext cx="5687695" cy="11725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+mn-ea"/>
                <a:ea typeface="+mn-ea"/>
              </a:rPr>
              <a:t> 程序段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大小可变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>
                <a:latin typeface="+mn-ea"/>
                <a:ea typeface="+mn-ea"/>
              </a:rPr>
              <a:t>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大小固定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4KB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800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利于进程保护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利于主存利用率</a:t>
            </a:r>
            <a:endParaRPr lang="en-US" altLang="zh-CN" sz="1800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段式、页式、段页式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先分段再分页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Text Box 7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420888"/>
            <a:ext cx="4088765" cy="3804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管理方式：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段表组成：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段表存放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7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7704" y="2854800"/>
            <a:ext cx="7092295" cy="3370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空间由</a:t>
            </a:r>
            <a:r>
              <a:rPr lang="zh-CN" altLang="en-US" sz="2200" b="1" dirty="0">
                <a:latin typeface="宋体" panose="02010600030101010101" pitchFamily="2" charset="-122"/>
              </a:rPr>
              <a:t>若干</a:t>
            </a:r>
            <a:r>
              <a:rPr lang="zh-CN" altLang="en-US" sz="2200" b="1" u="sng" dirty="0">
                <a:latin typeface="宋体" panose="02010600030101010101" pitchFamily="2" charset="-122"/>
              </a:rPr>
              <a:t>段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组成，主存空间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按段大小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分配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多次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虚拟地址＝</a:t>
            </a:r>
            <a:r>
              <a:rPr lang="en-US" altLang="zh-CN" sz="2000" b="1" u="none" dirty="0">
                <a:latin typeface="宋体" panose="02010600030101010101" pitchFamily="2" charset="-122"/>
              </a:rPr>
              <a:t>&lt;</a:t>
            </a:r>
            <a:r>
              <a:rPr lang="zh-CN" altLang="en-US" sz="2000" b="1" u="none" dirty="0">
                <a:latin typeface="宋体" panose="02010600030101010101" pitchFamily="2" charset="-122"/>
              </a:rPr>
              <a:t>段号</a:t>
            </a:r>
            <a:r>
              <a:rPr lang="en-US" altLang="zh-CN" sz="2000" b="1" u="none" dirty="0">
                <a:latin typeface="宋体" panose="02010600030101010101" pitchFamily="2" charset="-122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</a:rPr>
              <a:t>段内地址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&gt;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                                    </a:t>
            </a:r>
            <a:r>
              <a:rPr lang="en-US" altLang="zh-CN" sz="1600" u="none" dirty="0">
                <a:latin typeface="宋体" panose="02010600030101010101" pitchFamily="2" charset="-122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←长度固定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便于管理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段首址</a:t>
            </a:r>
            <a:r>
              <a:rPr lang="zh-CN" altLang="en-US" sz="20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段内地址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←分区方式</a:t>
            </a:r>
            <a:endParaRPr lang="en-US" altLang="zh-CN" sz="20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</a:rPr>
              <a:t>段表项按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段号</a:t>
            </a:r>
            <a:r>
              <a:rPr lang="zh-CN" altLang="en-US" sz="2200" b="1" u="none" dirty="0">
                <a:latin typeface="宋体" panose="02010600030101010101" pitchFamily="2" charset="-122"/>
              </a:rPr>
              <a:t>索引，行数＝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程序段数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</a:t>
            </a:r>
            <a:r>
              <a:rPr 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受限于成本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[Cache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才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4MB]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段表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按段号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减少访存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5" name="Text Box 52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6539" y="5446800"/>
            <a:ext cx="71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Windows</a:t>
            </a:r>
            <a:r>
              <a:rPr lang="zh-CN" altLang="en-US" sz="1800" b="1" u="none" dirty="0">
                <a:latin typeface="宋体" panose="02010600030101010101" pitchFamily="2" charset="-122"/>
              </a:rPr>
              <a:t>支持</a:t>
            </a:r>
            <a:r>
              <a:rPr lang="en-US" altLang="zh-CN" sz="1800" b="1" u="none" dirty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个进程，段号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=16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位、段表项</a:t>
            </a:r>
            <a:r>
              <a:rPr lang="en-US" altLang="zh-CN" sz="1800" b="1" u="none" dirty="0">
                <a:latin typeface="宋体" panose="02010600030101010101" pitchFamily="2" charset="-122"/>
              </a:rPr>
              <a:t>=8B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，段表总空间？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81405" y="3356992"/>
            <a:ext cx="2484755" cy="1440180"/>
            <a:chOff x="2494" y="7143"/>
            <a:chExt cx="3913" cy="2268"/>
          </a:xfrm>
        </p:grpSpPr>
        <p:sp>
          <p:nvSpPr>
            <p:cNvPr id="7" name="Text Box 7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48" y="7654"/>
              <a:ext cx="568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1KB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4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4KB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4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2KB</a:t>
              </a:r>
            </a:p>
          </p:txBody>
        </p:sp>
        <p:sp>
          <p:nvSpPr>
            <p:cNvPr id="31" name="Text Box 7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494" y="7143"/>
              <a:ext cx="1757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段长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虚存</a:t>
              </a:r>
            </a:p>
          </p:txBody>
        </p:sp>
        <p:sp>
          <p:nvSpPr>
            <p:cNvPr id="32" name="Text Box 7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116" y="8050"/>
              <a:ext cx="1020" cy="79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3" name="Text Box 7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386" y="7597"/>
              <a:ext cx="1020" cy="45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386" y="8504"/>
              <a:ext cx="1020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5" name="Text Box 80" descr="宽上对角线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386" y="8050"/>
              <a:ext cx="1020" cy="455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36" name="Text Box 8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930" y="7597"/>
              <a:ext cx="397" cy="181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1K</a:t>
              </a:r>
            </a:p>
            <a:p>
              <a:pPr algn="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4K</a:t>
              </a:r>
            </a:p>
            <a:p>
              <a:pPr algn="r">
                <a:lnSpc>
                  <a:spcPct val="90000"/>
                </a:lnSpc>
                <a:spcBef>
                  <a:spcPts val="11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6K</a:t>
              </a:r>
            </a:p>
          </p:txBody>
        </p:sp>
        <p:sp>
          <p:nvSpPr>
            <p:cNvPr id="38" name="Text Box 82" descr="宽上对角线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386" y="9071"/>
              <a:ext cx="1020" cy="340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39" name="Text Box 8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116" y="7597"/>
              <a:ext cx="1020" cy="45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" name="Text Box 8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116" y="8844"/>
              <a:ext cx="1020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9" name="Text Box 12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760" y="7143"/>
              <a:ext cx="1644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主存</a:t>
              </a:r>
            </a:p>
          </p:txBody>
        </p:sp>
        <p:cxnSp>
          <p:nvCxnSpPr>
            <p:cNvPr id="47" name="直接箭头连接符 46"/>
            <p:cNvCxnSpPr/>
            <p:nvPr>
              <p:custDataLst>
                <p:tags r:id="rId24"/>
              </p:custDataLst>
            </p:nvPr>
          </p:nvCxnSpPr>
          <p:spPr bwMode="auto">
            <a:xfrm>
              <a:off x="4136" y="7937"/>
              <a:ext cx="1247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136" y="8957"/>
              <a:ext cx="1247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Rectangle 130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116" y="8957"/>
              <a:ext cx="1020" cy="8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Rectangle 131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87" y="8617"/>
              <a:ext cx="1020" cy="8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588318" y="4437112"/>
            <a:ext cx="2376170" cy="863600"/>
            <a:chOff x="9865" y="7710"/>
            <a:chExt cx="3742" cy="1360"/>
          </a:xfrm>
        </p:grpSpPr>
        <p:sp>
          <p:nvSpPr>
            <p:cNvPr id="66" name="Text Box 8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601" y="7710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段首址 段长</a:t>
              </a:r>
            </a:p>
          </p:txBody>
        </p:sp>
        <p:sp>
          <p:nvSpPr>
            <p:cNvPr id="63" name="Text Box 4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865" y="771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段号</a:t>
              </a:r>
            </a:p>
          </p:txBody>
        </p:sp>
        <p:sp>
          <p:nvSpPr>
            <p:cNvPr id="64" name="Text Box 4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602" y="8050"/>
              <a:ext cx="3005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1      0K    1K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   4K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1      4K    2K</a:t>
              </a:r>
            </a:p>
          </p:txBody>
        </p:sp>
        <p:sp>
          <p:nvSpPr>
            <p:cNvPr id="65" name="Text Box 5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978" y="8050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67" name="直接箭头连接符 66"/>
            <p:cNvCxnSpPr/>
            <p:nvPr>
              <p:custDataLst>
                <p:tags r:id="rId9"/>
              </p:custDataLst>
            </p:nvPr>
          </p:nvCxnSpPr>
          <p:spPr bwMode="auto">
            <a:xfrm>
              <a:off x="10602" y="8391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10"/>
              </p:custDataLst>
            </p:nvPr>
          </p:nvCxnSpPr>
          <p:spPr bwMode="auto">
            <a:xfrm>
              <a:off x="10602" y="8731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11"/>
              </p:custDataLst>
            </p:nvPr>
          </p:nvCxnSpPr>
          <p:spPr bwMode="auto">
            <a:xfrm>
              <a:off x="11680" y="8049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0" name="直接箭头连接符 69"/>
            <p:cNvCxnSpPr/>
            <p:nvPr>
              <p:custDataLst>
                <p:tags r:id="rId12"/>
              </p:custDataLst>
            </p:nvPr>
          </p:nvCxnSpPr>
          <p:spPr bwMode="auto">
            <a:xfrm>
              <a:off x="12813" y="8049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1" name="Text Box 52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244408" y="5446800"/>
            <a:ext cx="54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32MB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1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75</a:t>
            </a:fld>
            <a:endParaRPr lang="en-US" altLang="zh-CN"/>
          </a:p>
        </p:txBody>
      </p:sp>
      <p:sp>
        <p:nvSpPr>
          <p:cNvPr id="31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9877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1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8808085" cy="46612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表项地址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＝段表基址＋段号×表项长度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←主存中地址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②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读取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表项内容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                 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←访问主存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③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物理地址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＝段首址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＋</a:t>
            </a:r>
            <a:r>
              <a:rPr lang="zh-CN" altLang="en-US" sz="1800" b="1" u="none" dirty="0">
                <a:latin typeface="宋体" panose="02010600030101010101" pitchFamily="2" charset="-122"/>
              </a:rPr>
              <a:t>段内地址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判断</a:t>
            </a:r>
            <a:r>
              <a:rPr lang="zh-CN" altLang="en-US" sz="2200" b="1" u="none" dirty="0">
                <a:latin typeface="宋体" panose="02010600030101010101" pitchFamily="2" charset="-122"/>
              </a:rPr>
              <a:t>异常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                   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装入位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=0)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缺段→</a:t>
            </a:r>
            <a:r>
              <a:rPr lang="zh-CN" altLang="en-US" sz="1800" u="none" dirty="0">
                <a:latin typeface="宋体" panose="02010600030101010101" pitchFamily="2" charset="-122"/>
              </a:rPr>
              <a:t>┴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←越界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越权等</a:t>
            </a:r>
            <a:endParaRPr lang="zh-CN" altLang="en-US" sz="1800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2627790" y="2384641"/>
            <a:ext cx="4752245" cy="972000"/>
            <a:chOff x="5046" y="4422"/>
            <a:chExt cx="7484" cy="1531"/>
          </a:xfrm>
        </p:grpSpPr>
        <p:sp>
          <p:nvSpPr>
            <p:cNvPr id="5" name="Oval 101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046" y="470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 u="none" dirty="0"/>
                <a:t>＋</a:t>
              </a:r>
            </a:p>
          </p:txBody>
        </p:sp>
        <p:cxnSp>
          <p:nvCxnSpPr>
            <p:cNvPr id="6" name="直接连接符 75"/>
            <p:cNvCxnSpPr/>
            <p:nvPr>
              <p:custDataLst>
                <p:tags r:id="rId25"/>
              </p:custDataLst>
            </p:nvPr>
          </p:nvCxnSpPr>
          <p:spPr bwMode="auto">
            <a:xfrm>
              <a:off x="8334" y="5443"/>
              <a:ext cx="374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26"/>
              </p:custDataLst>
            </p:nvPr>
          </p:nvCxnSpPr>
          <p:spPr bwMode="auto">
            <a:xfrm>
              <a:off x="527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7"/>
              </p:custDataLst>
            </p:nvPr>
          </p:nvCxnSpPr>
          <p:spPr bwMode="auto">
            <a:xfrm>
              <a:off x="5272" y="5386"/>
              <a:ext cx="45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272" y="4422"/>
              <a:ext cx="595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29"/>
              </p:custDataLst>
            </p:nvPr>
          </p:nvCxnSpPr>
          <p:spPr bwMode="auto">
            <a:xfrm flipH="1" flipV="1">
              <a:off x="11226" y="4422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5272" y="51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9" name="Oval 101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2076" y="521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 u="none" dirty="0"/>
                <a:t>＋</a:t>
              </a:r>
            </a:p>
          </p:txBody>
        </p:sp>
        <p:cxnSp>
          <p:nvCxnSpPr>
            <p:cNvPr id="50" name="直接箭头连接符 49"/>
            <p:cNvCxnSpPr/>
            <p:nvPr>
              <p:custDataLst>
                <p:tags r:id="rId32"/>
              </p:custDataLst>
            </p:nvPr>
          </p:nvCxnSpPr>
          <p:spPr bwMode="auto">
            <a:xfrm>
              <a:off x="12303" y="493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33"/>
              </p:custDataLst>
            </p:nvPr>
          </p:nvCxnSpPr>
          <p:spPr bwMode="auto">
            <a:xfrm>
              <a:off x="12302" y="5669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5" name="Text Box 52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44245" y="3733513"/>
            <a:ext cx="58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实现</a:t>
            </a:r>
            <a:r>
              <a:rPr lang="zh-CN" sz="1800" b="1" u="none" dirty="0">
                <a:latin typeface="宋体" panose="02010600030101010101" pitchFamily="2" charset="-122"/>
              </a:rPr>
              <a:t>地址变换的</a:t>
            </a:r>
            <a:r>
              <a:rPr lang="zh-CN" altLang="en-US" sz="1800" b="1" u="none" dirty="0">
                <a:latin typeface="宋体" panose="02010600030101010101" pitchFamily="2" charset="-122"/>
              </a:rPr>
              <a:t>硬件名称？段表基址放在哪里？</a:t>
            </a:r>
          </a:p>
        </p:txBody>
      </p:sp>
      <p:sp>
        <p:nvSpPr>
          <p:cNvPr id="66" name="Text Box 52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3940" y="4121433"/>
            <a:ext cx="3343275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u="none" dirty="0">
                <a:latin typeface="宋体" panose="02010600030101010101" pitchFamily="2" charset="-122"/>
              </a:rPr>
              <a:t>判断异常有什么好处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67" name="Text Box 52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464" y="3725428"/>
            <a:ext cx="180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u="none" dirty="0">
                <a:latin typeface="宋体" panose="02010600030101010101" pitchFamily="2" charset="-122"/>
                <a:sym typeface="+mn-ea"/>
              </a:rPr>
              <a:t>MMU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Text Box 52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99610" y="4121433"/>
            <a:ext cx="4356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保证正确性，防止进程被破坏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如病毒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/BUG)</a:t>
            </a:r>
          </a:p>
        </p:txBody>
      </p:sp>
      <p:sp>
        <p:nvSpPr>
          <p:cNvPr id="68" name="Text Box 12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96000" y="4481731"/>
            <a:ext cx="7290435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利于进程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共享与保护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面向软件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利用率低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     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←程序结构基于段  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←碎片较大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440180" y="2456731"/>
            <a:ext cx="6299835" cy="1151890"/>
            <a:chOff x="2268" y="3912"/>
            <a:chExt cx="9921" cy="1814"/>
          </a:xfrm>
        </p:grpSpPr>
        <p:sp>
          <p:nvSpPr>
            <p:cNvPr id="53" name="Text Box 4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705" y="391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段号</a:t>
              </a:r>
            </a:p>
          </p:txBody>
        </p:sp>
        <p:sp>
          <p:nvSpPr>
            <p:cNvPr id="59" name="Text Box 5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818" y="4252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8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441" y="3912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段首址 段长</a:t>
              </a:r>
            </a:p>
          </p:txBody>
        </p:sp>
        <p:cxnSp>
          <p:nvCxnSpPr>
            <p:cNvPr id="7" name="直接箭头连接符 6"/>
            <p:cNvCxnSpPr/>
            <p:nvPr>
              <p:custDataLst>
                <p:tags r:id="rId10"/>
              </p:custDataLst>
            </p:nvPr>
          </p:nvCxnSpPr>
          <p:spPr bwMode="auto">
            <a:xfrm>
              <a:off x="5442" y="459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" name="直接箭头连接符 7"/>
            <p:cNvCxnSpPr/>
            <p:nvPr>
              <p:custDataLst>
                <p:tags r:id="rId11"/>
              </p:custDataLst>
            </p:nvPr>
          </p:nvCxnSpPr>
          <p:spPr bwMode="auto">
            <a:xfrm>
              <a:off x="5442" y="4933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12"/>
              </p:custDataLst>
            </p:nvPr>
          </p:nvCxnSpPr>
          <p:spPr bwMode="auto">
            <a:xfrm>
              <a:off x="6462" y="425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13"/>
              </p:custDataLst>
            </p:nvPr>
          </p:nvCxnSpPr>
          <p:spPr bwMode="auto">
            <a:xfrm>
              <a:off x="7653" y="425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" name="Text Box 9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268" y="413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段表基址</a:t>
              </a:r>
            </a:p>
          </p:txBody>
        </p:sp>
        <p:sp>
          <p:nvSpPr>
            <p:cNvPr id="12" name="Text Box 4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839" y="5329"/>
              <a:ext cx="238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段表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3" name="直接箭头连接符 12"/>
            <p:cNvCxnSpPr/>
            <p:nvPr>
              <p:custDataLst>
                <p:tags r:id="rId16"/>
              </p:custDataLst>
            </p:nvPr>
          </p:nvCxnSpPr>
          <p:spPr bwMode="auto">
            <a:xfrm>
              <a:off x="3685" y="4308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 Box 8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731" y="3968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</a:p>
          </p:txBody>
        </p:sp>
        <p:sp>
          <p:nvSpPr>
            <p:cNvPr id="14" name="Text Box 8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071" y="5329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</a:p>
          </p:txBody>
        </p:sp>
        <p:sp>
          <p:nvSpPr>
            <p:cNvPr id="15" name="Text Box 9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922" y="3968"/>
              <a:ext cx="79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段号</a:t>
              </a:r>
            </a:p>
          </p:txBody>
        </p:sp>
        <p:sp>
          <p:nvSpPr>
            <p:cNvPr id="16" name="Text Box 9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715" y="3968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段内地址</a:t>
              </a:r>
            </a:p>
          </p:txBody>
        </p:sp>
        <p:sp>
          <p:nvSpPr>
            <p:cNvPr id="17" name="Text Box 9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205" y="5329"/>
              <a:ext cx="198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物理地址</a:t>
              </a:r>
            </a:p>
          </p:txBody>
        </p:sp>
        <p:sp>
          <p:nvSpPr>
            <p:cNvPr id="70" name="Text Box 9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268" y="4479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段表长度</a:t>
              </a:r>
            </a:p>
          </p:txBody>
        </p:sp>
        <p:sp>
          <p:nvSpPr>
            <p:cNvPr id="54" name="Text Box 4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442" y="4252"/>
              <a:ext cx="3005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xx    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ldLvl="0" animBg="1"/>
      <p:bldP spid="66" grpId="0" bldLvl="0" animBg="1"/>
      <p:bldP spid="167" grpId="0" bldLvl="0" animBg="1"/>
      <p:bldP spid="67" grpId="0" bldLvl="0" animBg="1"/>
      <p:bldP spid="68" grpId="0" bldLvl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76</a:t>
            </a:fld>
            <a:endParaRPr lang="en-US" altLang="zh-CN"/>
          </a:p>
        </p:txBody>
      </p:sp>
      <p:sp>
        <p:nvSpPr>
          <p:cNvPr id="61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57">
            <a:hlinkClick r:id="rId5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52370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7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917825" cy="60623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管理方式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页表组成：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页表存放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特点：</a:t>
            </a:r>
          </a:p>
        </p:txBody>
      </p:sp>
      <p:sp>
        <p:nvSpPr>
          <p:cNvPr id="19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3250" y="764456"/>
            <a:ext cx="7091045" cy="390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虚存</a:t>
            </a:r>
            <a:r>
              <a:rPr lang="en-US" altLang="zh-CN" sz="22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按页大小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划分成若干个页，</a:t>
            </a: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分配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多次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←页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不连续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虚拟地址＝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虚页号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en-US" altLang="zh-CN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实页号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虚页号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索引，行数＝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程序页数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同段表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计算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表项地址，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②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读取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表项内容，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←同段式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VM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③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拼接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为实地址、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判断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缺页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越界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116965" y="1673419"/>
            <a:ext cx="3204845" cy="1152525"/>
            <a:chOff x="2324" y="7483"/>
            <a:chExt cx="5047" cy="1815"/>
          </a:xfrm>
        </p:grpSpPr>
        <p:sp>
          <p:nvSpPr>
            <p:cNvPr id="101" name="Rectangle 132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231" y="8617"/>
              <a:ext cx="1020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1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324" y="7483"/>
              <a:ext cx="1928" cy="4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虚页号</a:t>
              </a:r>
              <a:r>
                <a:rPr lang="zh-CN" altLang="en-US" sz="1600" b="1" u="none" baseline="30000" dirty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虚存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11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443" y="7486"/>
              <a:ext cx="1928" cy="4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baseline="30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实页号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118" descr="宽上对角线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328" y="7937"/>
              <a:ext cx="1020" cy="338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26" name="Text Box 119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730" y="7951"/>
              <a:ext cx="340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7" name="Rectangle 124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328" y="8617"/>
              <a:ext cx="102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125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328" y="8277"/>
              <a:ext cx="1020" cy="338"/>
            </a:xfrm>
            <a:prstGeom prst="rect">
              <a:avLst/>
            </a:prstGeom>
            <a:pattFill prst="wdUp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126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328" y="8960"/>
              <a:ext cx="102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12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576" y="7937"/>
              <a:ext cx="340" cy="13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86" name="Rectangle 132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231" y="8277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Rectangle 196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231" y="8674"/>
              <a:ext cx="1020" cy="5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Rectangle 197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328" y="9014"/>
              <a:ext cx="1020" cy="5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99" name="直接箭头连接符 98"/>
            <p:cNvCxnSpPr/>
            <p:nvPr>
              <p:custDataLst>
                <p:tags r:id="rId51"/>
              </p:custDataLst>
            </p:nvPr>
          </p:nvCxnSpPr>
          <p:spPr bwMode="auto">
            <a:xfrm>
              <a:off x="4252" y="8107"/>
              <a:ext cx="1077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>
              <a:endCxn id="82" idx="1"/>
            </p:cNvCxnSpPr>
            <p:nvPr>
              <p:custDataLst>
                <p:tags r:id="rId52"/>
              </p:custDataLst>
            </p:nvPr>
          </p:nvCxnSpPr>
          <p:spPr bwMode="auto">
            <a:xfrm>
              <a:off x="4252" y="8846"/>
              <a:ext cx="1076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Rectangle 132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231" y="7937"/>
              <a:ext cx="102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6084168" y="2672611"/>
            <a:ext cx="2591435" cy="863600"/>
            <a:chOff x="4252" y="7994"/>
            <a:chExt cx="4081" cy="1360"/>
          </a:xfrm>
        </p:grpSpPr>
        <p:sp>
          <p:nvSpPr>
            <p:cNvPr id="123" name="Text Box 8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327" y="7994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实页号 其他</a:t>
              </a:r>
            </a:p>
          </p:txBody>
        </p:sp>
        <p:sp>
          <p:nvSpPr>
            <p:cNvPr id="120" name="Text Box 4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252" y="7994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虚页号</a:t>
              </a:r>
            </a:p>
          </p:txBody>
        </p:sp>
        <p:sp>
          <p:nvSpPr>
            <p:cNvPr id="121" name="Text Box 4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328" y="8334"/>
              <a:ext cx="3005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1      2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1      3   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5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704" y="8334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35"/>
              </p:custDataLst>
            </p:nvPr>
          </p:nvCxnSpPr>
          <p:spPr bwMode="auto">
            <a:xfrm>
              <a:off x="5328" y="8675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36"/>
              </p:custDataLst>
            </p:nvPr>
          </p:nvCxnSpPr>
          <p:spPr bwMode="auto">
            <a:xfrm>
              <a:off x="5328" y="9015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37"/>
              </p:custDataLst>
            </p:nvPr>
          </p:nvCxnSpPr>
          <p:spPr bwMode="auto">
            <a:xfrm>
              <a:off x="6406" y="833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38"/>
              </p:custDataLst>
            </p:nvPr>
          </p:nvCxnSpPr>
          <p:spPr bwMode="auto">
            <a:xfrm>
              <a:off x="7539" y="833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55" name="组合 154"/>
          <p:cNvGrpSpPr/>
          <p:nvPr/>
        </p:nvGrpSpPr>
        <p:grpSpPr>
          <a:xfrm>
            <a:off x="1440180" y="4769755"/>
            <a:ext cx="6623320" cy="1143000"/>
            <a:chOff x="2042" y="8561"/>
            <a:chExt cx="10430" cy="1800"/>
          </a:xfrm>
        </p:grpSpPr>
        <p:sp>
          <p:nvSpPr>
            <p:cNvPr id="109" name="Text Box 8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553" y="8561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实页号 其他</a:t>
              </a:r>
            </a:p>
          </p:txBody>
        </p:sp>
        <p:sp>
          <p:nvSpPr>
            <p:cNvPr id="106" name="Text Box 4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478" y="8561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虚页号</a:t>
              </a:r>
            </a:p>
          </p:txBody>
        </p:sp>
        <p:sp>
          <p:nvSpPr>
            <p:cNvPr id="107" name="Text Box 4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554" y="8901"/>
              <a:ext cx="3005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xx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5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930" y="8901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/>
            <p:nvPr>
              <p:custDataLst>
                <p:tags r:id="rId17"/>
              </p:custDataLst>
            </p:nvPr>
          </p:nvCxnSpPr>
          <p:spPr bwMode="auto">
            <a:xfrm>
              <a:off x="5554" y="924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18"/>
              </p:custDataLst>
            </p:nvPr>
          </p:nvCxnSpPr>
          <p:spPr bwMode="auto">
            <a:xfrm>
              <a:off x="5554" y="958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19"/>
              </p:custDataLst>
            </p:nvPr>
          </p:nvCxnSpPr>
          <p:spPr bwMode="auto">
            <a:xfrm>
              <a:off x="6634" y="890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20"/>
              </p:custDataLst>
            </p:nvPr>
          </p:nvCxnSpPr>
          <p:spPr bwMode="auto">
            <a:xfrm>
              <a:off x="7765" y="890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4" name="Text Box 4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897" y="9964"/>
              <a:ext cx="238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页表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43" name="Text Box 9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042" y="8787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页表基址</a:t>
              </a:r>
            </a:p>
          </p:txBody>
        </p:sp>
        <p:cxnSp>
          <p:nvCxnSpPr>
            <p:cNvPr id="145" name="直接箭头连接符 14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459" y="8957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8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731" y="8617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</a:p>
          </p:txBody>
        </p:sp>
        <p:sp>
          <p:nvSpPr>
            <p:cNvPr id="147" name="Text Box 8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731" y="9865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</a:p>
          </p:txBody>
        </p:sp>
        <p:sp>
          <p:nvSpPr>
            <p:cNvPr id="148" name="Text Box 9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922" y="8617"/>
              <a:ext cx="107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虚页号</a:t>
              </a:r>
            </a:p>
          </p:txBody>
        </p:sp>
        <p:sp>
          <p:nvSpPr>
            <p:cNvPr id="149" name="Text Box 9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998" y="8617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页内地址</a:t>
              </a:r>
            </a:p>
          </p:txBody>
        </p:sp>
        <p:sp>
          <p:nvSpPr>
            <p:cNvPr id="152" name="Text Box 9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042" y="912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页表长度</a:t>
              </a:r>
            </a:p>
          </p:txBody>
        </p:sp>
        <p:sp>
          <p:nvSpPr>
            <p:cNvPr id="153" name="Text Box 9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921" y="9865"/>
              <a:ext cx="107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实页号</a:t>
              </a:r>
            </a:p>
          </p:txBody>
        </p:sp>
        <p:sp>
          <p:nvSpPr>
            <p:cNvPr id="154" name="Text Box 9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0998" y="9865"/>
              <a:ext cx="147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2628000" y="4697755"/>
            <a:ext cx="4932045" cy="900335"/>
            <a:chOff x="4025" y="8447"/>
            <a:chExt cx="7767" cy="1418"/>
          </a:xfrm>
        </p:grpSpPr>
        <p:sp>
          <p:nvSpPr>
            <p:cNvPr id="157" name="Oval 10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025" y="8731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 u="none" dirty="0"/>
                <a:t>＋</a:t>
              </a:r>
            </a:p>
          </p:txBody>
        </p:sp>
        <p:cxnSp>
          <p:nvCxnSpPr>
            <p:cNvPr id="158" name="直接连接符 75"/>
            <p:cNvCxnSpPr/>
            <p:nvPr>
              <p:custDataLst>
                <p:tags r:id="rId5"/>
              </p:custDataLst>
            </p:nvPr>
          </p:nvCxnSpPr>
          <p:spPr bwMode="auto">
            <a:xfrm>
              <a:off x="7597" y="9468"/>
              <a:ext cx="29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6"/>
              </p:custDataLst>
            </p:nvPr>
          </p:nvCxnSpPr>
          <p:spPr bwMode="auto">
            <a:xfrm>
              <a:off x="4251" y="8447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7"/>
              </p:custDataLst>
            </p:nvPr>
          </p:nvCxnSpPr>
          <p:spPr bwMode="auto">
            <a:xfrm>
              <a:off x="4251" y="941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4251" y="8447"/>
              <a:ext cx="629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9"/>
              </p:custDataLst>
            </p:nvPr>
          </p:nvCxnSpPr>
          <p:spPr bwMode="auto">
            <a:xfrm flipH="1" flipV="1">
              <a:off x="10545" y="844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4251" y="918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11"/>
              </p:custDataLst>
            </p:nvPr>
          </p:nvCxnSpPr>
          <p:spPr bwMode="auto">
            <a:xfrm>
              <a:off x="10545" y="9468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12"/>
              </p:custDataLst>
            </p:nvPr>
          </p:nvCxnSpPr>
          <p:spPr bwMode="auto">
            <a:xfrm>
              <a:off x="11792" y="8957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70" name="Text Box 12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0960" y="5849883"/>
            <a:ext cx="710247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spc="-50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利用率高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50" dirty="0">
                <a:latin typeface="宋体" panose="02010600030101010101" pitchFamily="2" charset="-122"/>
              </a:rPr>
              <a:t>面向硬件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，进程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共享与保护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有限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bldLvl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77</a:t>
            </a:fld>
            <a:endParaRPr lang="en-US" altLang="zh-CN"/>
          </a:p>
        </p:txBody>
      </p:sp>
      <p:sp>
        <p:nvSpPr>
          <p:cNvPr id="72" name="Text Box 7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488055" cy="5804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段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管理方式：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管理表组成：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16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特点：</a:t>
            </a:r>
          </a:p>
        </p:txBody>
      </p:sp>
      <p:sp>
        <p:nvSpPr>
          <p:cNvPr id="3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7704" y="764704"/>
            <a:ext cx="6729095" cy="2526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VM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空间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先分段、再分页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，主存空间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仅分页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；</a:t>
            </a:r>
            <a:endParaRPr lang="en-US" altLang="zh-CN" sz="2200" b="1" u="none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分配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多次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虚拟地址＝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段号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段内页号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实页号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段表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＋</a:t>
            </a:r>
            <a:r>
              <a:rPr lang="zh-CN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页表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，均放在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段式、页式地址变换的</a:t>
            </a:r>
            <a:r>
              <a:rPr lang="zh-CN" altLang="en-US" sz="2200" b="1" dirty="0">
                <a:latin typeface="宋体" panose="02010600030101010101" pitchFamily="2" charset="-122"/>
              </a:rPr>
              <a:t>组合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次</a:t>
            </a:r>
            <a:r>
              <a:rPr lang="zh-CN" altLang="en-US" sz="1800" b="1" u="none" dirty="0">
                <a:latin typeface="宋体" panose="02010600030101010101" pitchFamily="2" charset="-122"/>
              </a:rPr>
              <a:t>访存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1332230" y="3329688"/>
            <a:ext cx="5544185" cy="756285"/>
            <a:chOff x="2098" y="4195"/>
            <a:chExt cx="8731" cy="1191"/>
          </a:xfrm>
        </p:grpSpPr>
        <p:sp>
          <p:nvSpPr>
            <p:cNvPr id="157" name="Oval 101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098" y="470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 u="none" dirty="0"/>
                <a:t>＋</a:t>
              </a:r>
            </a:p>
          </p:txBody>
        </p:sp>
        <p:cxnSp>
          <p:nvCxnSpPr>
            <p:cNvPr id="159" name="直接箭头连接符 158"/>
            <p:cNvCxnSpPr/>
            <p:nvPr>
              <p:custDataLst>
                <p:tags r:id="rId52"/>
              </p:custDataLst>
            </p:nvPr>
          </p:nvCxnSpPr>
          <p:spPr bwMode="auto">
            <a:xfrm>
              <a:off x="2324" y="419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53"/>
              </p:custDataLst>
            </p:nvPr>
          </p:nvCxnSpPr>
          <p:spPr bwMode="auto">
            <a:xfrm>
              <a:off x="2324" y="53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2324" y="4195"/>
              <a:ext cx="850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10829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2324" y="51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4572000" y="3437688"/>
            <a:ext cx="3924300" cy="899795"/>
            <a:chOff x="7200" y="5614"/>
            <a:chExt cx="6180" cy="1417"/>
          </a:xfrm>
        </p:grpSpPr>
        <p:cxnSp>
          <p:nvCxnSpPr>
            <p:cNvPr id="5" name="直接箭头连接符 4"/>
            <p:cNvCxnSpPr/>
            <p:nvPr>
              <p:custDataLst>
                <p:tags r:id="rId42"/>
              </p:custDataLst>
            </p:nvPr>
          </p:nvCxnSpPr>
          <p:spPr bwMode="auto">
            <a:xfrm>
              <a:off x="12076" y="663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43"/>
              </p:custDataLst>
            </p:nvPr>
          </p:nvCxnSpPr>
          <p:spPr bwMode="auto">
            <a:xfrm>
              <a:off x="13380" y="6124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Oval 101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200" y="5955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 u="none" dirty="0"/>
                <a:t>＋</a:t>
              </a:r>
            </a:p>
          </p:txBody>
        </p:sp>
        <p:cxnSp>
          <p:nvCxnSpPr>
            <p:cNvPr id="8" name="直接连接符 75"/>
            <p:cNvCxnSpPr/>
            <p:nvPr>
              <p:custDataLst>
                <p:tags r:id="rId45"/>
              </p:custDataLst>
            </p:nvPr>
          </p:nvCxnSpPr>
          <p:spPr bwMode="auto">
            <a:xfrm>
              <a:off x="9808" y="6635"/>
              <a:ext cx="226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46"/>
              </p:custDataLst>
            </p:nvPr>
          </p:nvCxnSpPr>
          <p:spPr bwMode="auto">
            <a:xfrm>
              <a:off x="7426" y="5614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47"/>
              </p:custDataLst>
            </p:nvPr>
          </p:nvCxnSpPr>
          <p:spPr bwMode="auto">
            <a:xfrm>
              <a:off x="7426" y="663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7426" y="5614"/>
              <a:ext cx="4479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11906" y="5614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7426" y="640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0" name="Text Box 12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0960" y="5589240"/>
            <a:ext cx="71024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兼有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段式及页式优点，但需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次访存</a:t>
            </a:r>
            <a:endParaRPr lang="zh-CN" altLang="en-US" sz="2200" b="1" u="sng" spc="-50" dirty="0"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5900" y="3329603"/>
            <a:ext cx="8748395" cy="2197100"/>
            <a:chOff x="340" y="5329"/>
            <a:chExt cx="13777" cy="3460"/>
          </a:xfrm>
        </p:grpSpPr>
        <p:sp>
          <p:nvSpPr>
            <p:cNvPr id="11" name="Text Box 8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00" y="5614"/>
              <a:ext cx="3288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页表基址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段长</a:t>
              </a:r>
            </a:p>
          </p:txBody>
        </p:sp>
        <p:sp>
          <p:nvSpPr>
            <p:cNvPr id="12" name="Text Box 4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401" y="5954"/>
              <a:ext cx="3288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xx    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4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664" y="5614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段号</a:t>
              </a:r>
            </a:p>
          </p:txBody>
        </p:sp>
        <p:sp>
          <p:nvSpPr>
            <p:cNvPr id="14" name="Text Box 5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777" y="5954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" name="直接箭头连接符 14"/>
            <p:cNvCxnSpPr/>
            <p:nvPr>
              <p:custDataLst>
                <p:tags r:id="rId8"/>
              </p:custDataLst>
            </p:nvPr>
          </p:nvCxnSpPr>
          <p:spPr bwMode="auto">
            <a:xfrm>
              <a:off x="3401" y="6294"/>
              <a:ext cx="328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9"/>
              </p:custDataLst>
            </p:nvPr>
          </p:nvCxnSpPr>
          <p:spPr bwMode="auto">
            <a:xfrm>
              <a:off x="3401" y="6635"/>
              <a:ext cx="328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0"/>
              </p:custDataLst>
            </p:nvPr>
          </p:nvCxnSpPr>
          <p:spPr bwMode="auto">
            <a:xfrm>
              <a:off x="4477" y="5952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11"/>
              </p:custDataLst>
            </p:nvPr>
          </p:nvCxnSpPr>
          <p:spPr bwMode="auto">
            <a:xfrm>
              <a:off x="5894" y="5952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" name="Text Box 9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40" y="5897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段表基址</a:t>
              </a:r>
            </a:p>
          </p:txBody>
        </p:sp>
        <p:sp>
          <p:nvSpPr>
            <p:cNvPr id="20" name="Text Box 4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855" y="7031"/>
              <a:ext cx="238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段表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21" name="直接箭头连接符 20"/>
            <p:cNvCxnSpPr/>
            <p:nvPr>
              <p:custDataLst>
                <p:tags r:id="rId14"/>
              </p:custDataLst>
            </p:nvPr>
          </p:nvCxnSpPr>
          <p:spPr bwMode="auto">
            <a:xfrm>
              <a:off x="1758" y="6068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 Box 9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0" y="623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段表长度</a:t>
              </a:r>
            </a:p>
          </p:txBody>
        </p:sp>
        <p:sp>
          <p:nvSpPr>
            <p:cNvPr id="23" name="Text Box 8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2083" y="5329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</a:p>
          </p:txBody>
        </p:sp>
        <p:sp>
          <p:nvSpPr>
            <p:cNvPr id="24" name="Text Box 9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374" y="5668"/>
              <a:ext cx="79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段号</a:t>
              </a:r>
            </a:p>
          </p:txBody>
        </p:sp>
        <p:sp>
          <p:nvSpPr>
            <p:cNvPr id="25" name="Text Box 9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1167" y="5668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段内页号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6" name="Text Box 8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431" y="6918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</a:p>
          </p:txBody>
        </p:sp>
        <p:sp>
          <p:nvSpPr>
            <p:cNvPr id="27" name="Text Box 9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565" y="6918"/>
              <a:ext cx="107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实页号</a:t>
              </a:r>
            </a:p>
          </p:txBody>
        </p:sp>
        <p:sp>
          <p:nvSpPr>
            <p:cNvPr id="28" name="Text Box 9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643" y="6918"/>
              <a:ext cx="147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</a:p>
          </p:txBody>
        </p:sp>
        <p:sp>
          <p:nvSpPr>
            <p:cNvPr id="29" name="Text Box 9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643" y="5670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</a:p>
          </p:txBody>
        </p:sp>
        <p:sp>
          <p:nvSpPr>
            <p:cNvPr id="30" name="Text Box 8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80" y="5614"/>
              <a:ext cx="221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装入位 实页号</a:t>
              </a:r>
            </a:p>
          </p:txBody>
        </p:sp>
        <p:sp>
          <p:nvSpPr>
            <p:cNvPr id="32" name="Text Box 4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881" y="5954"/>
              <a:ext cx="2154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yy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25"/>
              </p:custDataLst>
            </p:nvPr>
          </p:nvCxnSpPr>
          <p:spPr bwMode="auto">
            <a:xfrm>
              <a:off x="7881" y="6295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6"/>
              </p:custDataLst>
            </p:nvPr>
          </p:nvCxnSpPr>
          <p:spPr bwMode="auto">
            <a:xfrm>
              <a:off x="7881" y="6635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7"/>
              </p:custDataLst>
            </p:nvPr>
          </p:nvCxnSpPr>
          <p:spPr bwMode="auto">
            <a:xfrm>
              <a:off x="8901" y="595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" name="Text Box 4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824" y="8392"/>
              <a:ext cx="2268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页表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38" name="Text Box 49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881" y="7316"/>
              <a:ext cx="2154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zz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30"/>
              </p:custDataLst>
            </p:nvPr>
          </p:nvCxnSpPr>
          <p:spPr bwMode="auto">
            <a:xfrm>
              <a:off x="7881" y="7657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31"/>
              </p:custDataLst>
            </p:nvPr>
          </p:nvCxnSpPr>
          <p:spPr bwMode="auto">
            <a:xfrm>
              <a:off x="7881" y="7997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2"/>
              </p:custDataLst>
            </p:nvPr>
          </p:nvCxnSpPr>
          <p:spPr bwMode="auto">
            <a:xfrm>
              <a:off x="8901" y="7315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" name="Text Box 4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675" y="6975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  <a:sym typeface="+mn-ea"/>
                </a:rPr>
                <a:t>…</a:t>
              </a:r>
            </a:p>
          </p:txBody>
        </p:sp>
        <p:cxnSp>
          <p:nvCxnSpPr>
            <p:cNvPr id="158" name="直接连接符 75"/>
            <p:cNvCxnSpPr/>
            <p:nvPr>
              <p:custDataLst>
                <p:tags r:id="rId34"/>
              </p:custDataLst>
            </p:nvPr>
          </p:nvCxnSpPr>
          <p:spPr bwMode="auto">
            <a:xfrm>
              <a:off x="5670" y="6521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35"/>
              </p:custDataLst>
            </p:nvPr>
          </p:nvCxnSpPr>
          <p:spPr bwMode="auto">
            <a:xfrm>
              <a:off x="6860" y="6067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6860" y="6067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连接符 75"/>
            <p:cNvCxnSpPr/>
            <p:nvPr>
              <p:custDataLst>
                <p:tags r:id="rId37"/>
              </p:custDataLst>
            </p:nvPr>
          </p:nvCxnSpPr>
          <p:spPr bwMode="auto">
            <a:xfrm>
              <a:off x="5669" y="6861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38"/>
              </p:custDataLst>
            </p:nvPr>
          </p:nvCxnSpPr>
          <p:spPr bwMode="auto">
            <a:xfrm>
              <a:off x="6860" y="7371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6860" y="6861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8" name="AutoShape 28"/>
            <p:cNvSpPr/>
            <p:nvPr>
              <p:custDataLst>
                <p:tags r:id="rId40"/>
              </p:custDataLst>
            </p:nvPr>
          </p:nvSpPr>
          <p:spPr bwMode="auto">
            <a:xfrm rot="16200000">
              <a:off x="11452" y="5004"/>
              <a:ext cx="113" cy="2154"/>
            </a:xfrm>
            <a:prstGeom prst="rightBrace">
              <a:avLst>
                <a:gd name="adj1" fmla="val 7020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154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998" y="6123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虚页号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78</a:t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85225" cy="12342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页式虚拟存储器的实现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主要内容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</a:rPr>
              <a:t>缓存管理、页表组织、地址变换、缺页处理等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      (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(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 (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  (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2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69" y="1556792"/>
            <a:ext cx="8641403" cy="46338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虚存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主存的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缓存管理 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负责，了解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背景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按页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分配，被所有进程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共用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；每个进程有一个页表</a:t>
            </a: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映射方式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查找方法：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替换算法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写 策 略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5696" y="3645024"/>
            <a:ext cx="7126928" cy="25948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全相联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，主存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位图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管理页框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(=0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空闲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按序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分配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次访存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，页表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按虚页号</a:t>
            </a:r>
            <a:r>
              <a:rPr lang="zh-CN" altLang="en-US" sz="2200" b="1" u="none" dirty="0">
                <a:latin typeface="宋体" panose="02010600030101010101" pitchFamily="2" charset="-122"/>
              </a:rPr>
              <a:t>索引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伪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LRU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，状态用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访问位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b="1" u="none" dirty="0">
                <a:latin typeface="宋体" panose="02010600030101010101" pitchFamily="2" charset="-122"/>
                <a:sym typeface="+mn-ea"/>
              </a:rPr>
              <a:t>表示，</a:t>
            </a:r>
            <a:r>
              <a:rPr lang="zh-CN" altLang="en-US" sz="2200" b="1" u="none" dirty="0">
                <a:latin typeface="宋体" panose="02010600030101010101" pitchFamily="2" charset="-122"/>
              </a:rPr>
              <a:t>更新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定时轮询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实现，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800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1/0=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近期有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无访问→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┴←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复位所有页的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endParaRPr lang="en-US" altLang="zh-CN" sz="1800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       牺牲页优先选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A=0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的非修改页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写回法</a:t>
            </a:r>
            <a:r>
              <a:rPr lang="zh-CN" altLang="en-US" sz="2200" b="1" u="none" dirty="0">
                <a:latin typeface="宋体" panose="02010600030101010101" pitchFamily="2" charset="-122"/>
              </a:rPr>
              <a:t>       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←写交换区开销太大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B4B27EA-16DD-47A9-A595-1611B4D5A954}"/>
              </a:ext>
            </a:extLst>
          </p:cNvPr>
          <p:cNvGrpSpPr/>
          <p:nvPr/>
        </p:nvGrpSpPr>
        <p:grpSpPr>
          <a:xfrm>
            <a:off x="1045330" y="2385016"/>
            <a:ext cx="7775142" cy="1188000"/>
            <a:chOff x="540000" y="1692000"/>
            <a:chExt cx="7775142" cy="1188000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FD3F4A07-D9E6-423F-8154-95C8239D30A3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 bwMode="auto">
            <a:xfrm>
              <a:off x="3708224" y="2088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D66B34F-9CBA-4542-905B-AD59E05BD4B9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>
              <a:off x="3708224" y="2448000"/>
              <a:ext cx="43200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D513E62-16B1-4235-AA25-614497BDB1C5}"/>
                </a:ext>
              </a:extLst>
            </p:cNvPr>
            <p:cNvGrpSpPr/>
            <p:nvPr/>
          </p:nvGrpSpPr>
          <p:grpSpPr>
            <a:xfrm>
              <a:off x="3060000" y="1692000"/>
              <a:ext cx="648000" cy="1188000"/>
              <a:chOff x="1727776" y="1692000"/>
              <a:chExt cx="648000" cy="1188000"/>
            </a:xfrm>
          </p:grpSpPr>
          <p:sp>
            <p:nvSpPr>
              <p:cNvPr id="53" name="Rectangle 132">
                <a:extLst>
                  <a:ext uri="{FF2B5EF4-FFF2-40B4-BE49-F238E27FC236}">
                    <a16:creationId xmlns:a16="http://schemas.microsoft.com/office/drawing/2014/main" id="{828C91C1-9354-414F-B86E-543E837239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1728000" y="2340000"/>
                <a:ext cx="6477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2#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54" name="Text Box 116">
                <a:extLst>
                  <a:ext uri="{FF2B5EF4-FFF2-40B4-BE49-F238E27FC236}">
                    <a16:creationId xmlns:a16="http://schemas.microsoft.com/office/drawing/2014/main" id="{E62F812C-2D36-4B8C-B860-4C89AB57599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727776" y="1692000"/>
                <a:ext cx="648000" cy="2876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虚存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5" name="Rectangle 132">
                <a:extLst>
                  <a:ext uri="{FF2B5EF4-FFF2-40B4-BE49-F238E27FC236}">
                    <a16:creationId xmlns:a16="http://schemas.microsoft.com/office/drawing/2014/main" id="{A2B065BB-6149-44FF-8BCC-6CD0B87D268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728000" y="2160000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1#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56" name="Rectangle 132">
                <a:extLst>
                  <a:ext uri="{FF2B5EF4-FFF2-40B4-BE49-F238E27FC236}">
                    <a16:creationId xmlns:a16="http://schemas.microsoft.com/office/drawing/2014/main" id="{5A172C88-51A5-47E0-8CB8-AA1CA552E6B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1728000" y="1980290"/>
                <a:ext cx="6477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0#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57" name="Rectangle 132">
                <a:extLst>
                  <a:ext uri="{FF2B5EF4-FFF2-40B4-BE49-F238E27FC236}">
                    <a16:creationId xmlns:a16="http://schemas.microsoft.com/office/drawing/2014/main" id="{065CB446-2C41-49B5-A79E-0134BA42976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728000" y="2520000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3#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58" name="Rectangle 132">
                <a:extLst>
                  <a:ext uri="{FF2B5EF4-FFF2-40B4-BE49-F238E27FC236}">
                    <a16:creationId xmlns:a16="http://schemas.microsoft.com/office/drawing/2014/main" id="{08B7104F-A962-4197-B7B7-6F589E8C22D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1728000" y="2700000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4#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6373D6E7-E4EE-4350-AB6F-5696BEBAEE85}"/>
                </a:ext>
              </a:extLst>
            </p:cNvPr>
            <p:cNvGrpSpPr/>
            <p:nvPr/>
          </p:nvGrpSpPr>
          <p:grpSpPr>
            <a:xfrm>
              <a:off x="4140224" y="1700808"/>
              <a:ext cx="648205" cy="999192"/>
              <a:chOff x="3024000" y="1700808"/>
              <a:chExt cx="648205" cy="999192"/>
            </a:xfrm>
          </p:grpSpPr>
          <p:sp>
            <p:nvSpPr>
              <p:cNvPr id="48" name="Text Box 118" descr="宽上对角线">
                <a:extLst>
                  <a:ext uri="{FF2B5EF4-FFF2-40B4-BE49-F238E27FC236}">
                    <a16:creationId xmlns:a16="http://schemas.microsoft.com/office/drawing/2014/main" id="{FC401A65-5E3D-4177-9780-FBF07ACF183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3024505" y="1980290"/>
                <a:ext cx="6477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0#</a:t>
                </a:r>
              </a:p>
            </p:txBody>
          </p:sp>
          <p:sp>
            <p:nvSpPr>
              <p:cNvPr id="49" name="Rectangle 124">
                <a:extLst>
                  <a:ext uri="{FF2B5EF4-FFF2-40B4-BE49-F238E27FC236}">
                    <a16:creationId xmlns:a16="http://schemas.microsoft.com/office/drawing/2014/main" id="{D6C58D21-8B1A-48B0-A936-11AC195944B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3024505" y="2340000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00000"/>
                    </a:solidFill>
                    <a:latin typeface="+mn-ea"/>
                    <a:ea typeface="+mn-ea"/>
                  </a:rPr>
                  <a:t>2#</a:t>
                </a:r>
                <a:endParaRPr lang="zh-CN" altLang="en-US" sz="1600" b="1" u="none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0" name="Rectangle 125">
                <a:extLst>
                  <a:ext uri="{FF2B5EF4-FFF2-40B4-BE49-F238E27FC236}">
                    <a16:creationId xmlns:a16="http://schemas.microsoft.com/office/drawing/2014/main" id="{E14E8052-1357-4CDE-B398-8240B492ACF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024505" y="2160000"/>
                <a:ext cx="647700" cy="180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00000"/>
                    </a:solidFill>
                    <a:latin typeface="+mn-ea"/>
                    <a:ea typeface="+mn-ea"/>
                  </a:rPr>
                  <a:t>1#</a:t>
                </a:r>
                <a:endParaRPr lang="zh-CN" altLang="en-US" sz="1600" b="1" u="none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1" name="Rectangle 126">
                <a:extLst>
                  <a:ext uri="{FF2B5EF4-FFF2-40B4-BE49-F238E27FC236}">
                    <a16:creationId xmlns:a16="http://schemas.microsoft.com/office/drawing/2014/main" id="{49E4E296-CA2A-419C-94E4-3DB33FDAE66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024505" y="2520000"/>
                <a:ext cx="6477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C00000"/>
                    </a:solidFill>
                    <a:latin typeface="+mn-ea"/>
                    <a:ea typeface="+mn-ea"/>
                  </a:rPr>
                  <a:t>3#</a:t>
                </a:r>
                <a:endParaRPr lang="zh-CN" altLang="en-US" sz="1600" b="1" u="none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2" name="Text Box 116">
                <a:extLst>
                  <a:ext uri="{FF2B5EF4-FFF2-40B4-BE49-F238E27FC236}">
                    <a16:creationId xmlns:a16="http://schemas.microsoft.com/office/drawing/2014/main" id="{6E3953D1-6F41-4651-81E2-7C36E214F71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024000" y="1700808"/>
                <a:ext cx="648000" cy="2876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主存</a:t>
                </a:r>
                <a:endPara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F627DBC-6D5D-4860-BFCD-1D8DD1326B6C}"/>
                </a:ext>
              </a:extLst>
            </p:cNvPr>
            <p:cNvGrpSpPr/>
            <p:nvPr/>
          </p:nvGrpSpPr>
          <p:grpSpPr>
            <a:xfrm>
              <a:off x="5220224" y="1700808"/>
              <a:ext cx="648000" cy="1008000"/>
              <a:chOff x="4320000" y="1700808"/>
              <a:chExt cx="648000" cy="1008000"/>
            </a:xfrm>
          </p:grpSpPr>
          <p:sp>
            <p:nvSpPr>
              <p:cNvPr id="43" name="Rectangle 132">
                <a:extLst>
                  <a:ext uri="{FF2B5EF4-FFF2-40B4-BE49-F238E27FC236}">
                    <a16:creationId xmlns:a16="http://schemas.microsoft.com/office/drawing/2014/main" id="{46ECD1ED-C210-4B36-8E47-68D6EB42566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320000" y="2348808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2#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44" name="Text Box 116">
                <a:extLst>
                  <a:ext uri="{FF2B5EF4-FFF2-40B4-BE49-F238E27FC236}">
                    <a16:creationId xmlns:a16="http://schemas.microsoft.com/office/drawing/2014/main" id="{6751AEC2-020A-4FB1-BB79-61F4EA9048B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4320000" y="1700808"/>
                <a:ext cx="648000" cy="2876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虚存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2</a:t>
                </a:r>
                <a:endPara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5" name="Rectangle 132">
                <a:extLst>
                  <a:ext uri="{FF2B5EF4-FFF2-40B4-BE49-F238E27FC236}">
                    <a16:creationId xmlns:a16="http://schemas.microsoft.com/office/drawing/2014/main" id="{62EB0F2F-AF47-4152-B500-4E41EF38616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4320000" y="2168808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1#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46" name="Rectangle 132">
                <a:extLst>
                  <a:ext uri="{FF2B5EF4-FFF2-40B4-BE49-F238E27FC236}">
                    <a16:creationId xmlns:a16="http://schemas.microsoft.com/office/drawing/2014/main" id="{6FD97E0E-363F-42D5-804B-7DBA04989AF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4320000" y="1989098"/>
                <a:ext cx="647700" cy="180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0#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47" name="Rectangle 132">
                <a:extLst>
                  <a:ext uri="{FF2B5EF4-FFF2-40B4-BE49-F238E27FC236}">
                    <a16:creationId xmlns:a16="http://schemas.microsoft.com/office/drawing/2014/main" id="{2AB460AB-8C84-41B0-9F6A-0ECA1A46222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4320000" y="2528808"/>
                <a:ext cx="647700" cy="18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3#</a:t>
                </a:r>
                <a:endParaRPr lang="zh-CN" altLang="en-US" sz="1600" b="1" u="none" dirty="0">
                  <a:latin typeface="+mn-ea"/>
                  <a:ea typeface="+mn-ea"/>
                </a:endParaRPr>
              </a:p>
            </p:txBody>
          </p:sp>
        </p:grp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98870B9-529B-4400-8B47-FA950240C2A9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788224" y="2088000"/>
              <a:ext cx="432000" cy="1797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36447DB-685A-46CA-9F56-78DC8BD83679}"/>
                </a:ext>
              </a:extLst>
            </p:cNvPr>
            <p:cNvGrpSpPr/>
            <p:nvPr/>
          </p:nvGrpSpPr>
          <p:grpSpPr>
            <a:xfrm>
              <a:off x="540000" y="1764000"/>
              <a:ext cx="2302982" cy="1115900"/>
              <a:chOff x="180000" y="1764000"/>
              <a:chExt cx="2302982" cy="1115900"/>
            </a:xfrm>
          </p:grpSpPr>
          <p:sp>
            <p:nvSpPr>
              <p:cNvPr id="33" name="Text Box 87">
                <a:extLst>
                  <a:ext uri="{FF2B5EF4-FFF2-40B4-BE49-F238E27FC236}">
                    <a16:creationId xmlns:a16="http://schemas.microsoft.com/office/drawing/2014/main" id="{3AAA2DC4-236F-4670-B590-39867B36681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790982" y="1764000"/>
                <a:ext cx="169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装入位 实页号 其他</a:t>
                </a:r>
              </a:p>
            </p:txBody>
          </p:sp>
          <p:sp>
            <p:nvSpPr>
              <p:cNvPr id="34" name="Text Box 47">
                <a:extLst>
                  <a:ext uri="{FF2B5EF4-FFF2-40B4-BE49-F238E27FC236}">
                    <a16:creationId xmlns:a16="http://schemas.microsoft.com/office/drawing/2014/main" id="{0687D066-9360-4CA5-AA08-8DD39E3EE01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80000" y="1764000"/>
                <a:ext cx="61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lvl="0" algn="l">
                  <a:lnSpc>
                    <a:spcPct val="90000"/>
                  </a:lnSpc>
                  <a:buClrTx/>
                  <a:buSzTx/>
                  <a:buFontTx/>
                </a:pPr>
                <a:r>
                  <a:rPr lang="zh-CN" altLang="en-US" sz="1400" b="1" u="none" dirty="0">
                    <a:latin typeface="宋体" panose="02010600030101010101" pitchFamily="2" charset="-122"/>
                    <a:sym typeface="+mn-ea"/>
                  </a:rPr>
                  <a:t>虚页号</a:t>
                </a:r>
              </a:p>
            </p:txBody>
          </p:sp>
          <p:sp>
            <p:nvSpPr>
              <p:cNvPr id="35" name="Text Box 49">
                <a:extLst>
                  <a:ext uri="{FF2B5EF4-FFF2-40B4-BE49-F238E27FC236}">
                    <a16:creationId xmlns:a16="http://schemas.microsoft.com/office/drawing/2014/main" id="{DFB75AD1-2E58-45CC-A291-EE4C69052AE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791617" y="1979899"/>
                <a:ext cx="1656000" cy="90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/>
              <a:lstStyle/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1      0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400" b="1" u="none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0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     *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1      3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  0      *     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400" b="1" u="none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0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     *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" name="Text Box 55">
                <a:extLst>
                  <a:ext uri="{FF2B5EF4-FFF2-40B4-BE49-F238E27FC236}">
                    <a16:creationId xmlns:a16="http://schemas.microsoft.com/office/drawing/2014/main" id="{E31E7D00-9ED3-4DBD-8A09-6EC4E4FE596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95377" y="1979900"/>
                <a:ext cx="252095" cy="90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7780" rIns="18000" bIns="0"/>
              <a:lstStyle/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3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4</a:t>
                </a:r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7FB7EFC2-FFE0-4465-BE12-BEDE996024B1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792000" y="216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B47CBCA5-C0CE-4C8D-83B8-1F451687149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791617" y="234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D186CD1E-9E7C-4889-B8D3-D41BAD10448C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1404000" y="1979265"/>
                <a:ext cx="0" cy="900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F0081CE8-CB95-4548-AAE7-8A9DBF6B3E5C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auto">
              <a:xfrm>
                <a:off x="2016000" y="1979265"/>
                <a:ext cx="0" cy="900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33D6E4C-4066-4D48-8AB5-4508A609EA43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792000" y="252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598B043D-2948-40AD-8AC2-2F9DE36DA47E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auto">
              <a:xfrm>
                <a:off x="792000" y="270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8FABFD4-DDB8-4C21-A3D3-EAA9A5C35385}"/>
                </a:ext>
              </a:extLst>
            </p:cNvPr>
            <p:cNvGrpSpPr/>
            <p:nvPr/>
          </p:nvGrpSpPr>
          <p:grpSpPr>
            <a:xfrm>
              <a:off x="6012160" y="1764000"/>
              <a:ext cx="2302982" cy="935900"/>
              <a:chOff x="180000" y="1764000"/>
              <a:chExt cx="2302982" cy="935900"/>
            </a:xfrm>
          </p:grpSpPr>
          <p:sp>
            <p:nvSpPr>
              <p:cNvPr id="24" name="Text Box 87">
                <a:extLst>
                  <a:ext uri="{FF2B5EF4-FFF2-40B4-BE49-F238E27FC236}">
                    <a16:creationId xmlns:a16="http://schemas.microsoft.com/office/drawing/2014/main" id="{0E52165A-3C83-4F0A-8C72-56233B86DDB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790982" y="1764000"/>
                <a:ext cx="169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装入位 实页号 其他</a:t>
                </a:r>
              </a:p>
            </p:txBody>
          </p:sp>
          <p:sp>
            <p:nvSpPr>
              <p:cNvPr id="25" name="Text Box 47">
                <a:extLst>
                  <a:ext uri="{FF2B5EF4-FFF2-40B4-BE49-F238E27FC236}">
                    <a16:creationId xmlns:a16="http://schemas.microsoft.com/office/drawing/2014/main" id="{B496D789-4707-4483-A295-32106899E74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80000" y="1764000"/>
                <a:ext cx="61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lvl="0" algn="l">
                  <a:lnSpc>
                    <a:spcPct val="90000"/>
                  </a:lnSpc>
                  <a:buClrTx/>
                  <a:buSzTx/>
                  <a:buFontTx/>
                </a:pPr>
                <a:r>
                  <a:rPr lang="zh-CN" altLang="en-US" sz="1400" b="1" u="none" dirty="0">
                    <a:latin typeface="宋体" panose="02010600030101010101" pitchFamily="2" charset="-122"/>
                    <a:sym typeface="+mn-ea"/>
                  </a:rPr>
                  <a:t>虚页号</a:t>
                </a:r>
              </a:p>
            </p:txBody>
          </p:sp>
          <p:sp>
            <p:nvSpPr>
              <p:cNvPr id="26" name="Text Box 49">
                <a:extLst>
                  <a:ext uri="{FF2B5EF4-FFF2-40B4-BE49-F238E27FC236}">
                    <a16:creationId xmlns:a16="http://schemas.microsoft.com/office/drawing/2014/main" id="{FAB8CC36-F491-4CFE-A019-6B14DB07F1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791617" y="1979899"/>
                <a:ext cx="1656000" cy="72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/>
              <a:lstStyle/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1      1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400" b="1" u="none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0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     *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0      *     </a:t>
                </a: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…</a:t>
                </a:r>
              </a:p>
              <a:p>
                <a:pPr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  <a:sym typeface="+mn-ea"/>
                  </a:rPr>
                  <a:t>  0      *     …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" name="Text Box 55">
                <a:extLst>
                  <a:ext uri="{FF2B5EF4-FFF2-40B4-BE49-F238E27FC236}">
                    <a16:creationId xmlns:a16="http://schemas.microsoft.com/office/drawing/2014/main" id="{BC2A8037-2803-47FB-A6A0-3A627DA1B2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95377" y="1979900"/>
                <a:ext cx="252095" cy="72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7780" rIns="18000" bIns="0"/>
              <a:lstStyle/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FAD0F0C1-1DF9-4210-A46E-8059A59CF4D0}"/>
                  </a:ext>
                </a:extLst>
              </p:cNvPr>
              <p:cNvCxnSpPr/>
              <p:nvPr>
                <p:custDataLst>
                  <p:tags r:id="rId14"/>
                </p:custDataLst>
              </p:nvPr>
            </p:nvCxnSpPr>
            <p:spPr bwMode="auto">
              <a:xfrm>
                <a:off x="792000" y="216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825179B4-AA5F-4DEC-8665-1FB6A1DBEBFA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>
                <a:off x="791617" y="234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652C5CC0-AFE6-4541-B4BC-C1C6B5CCDA75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>
                <a:off x="1404000" y="1979265"/>
                <a:ext cx="0" cy="720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BD2CCC26-813C-4B39-85F6-98CF948EF112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auto">
              <a:xfrm>
                <a:off x="2016000" y="1979265"/>
                <a:ext cx="0" cy="720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15648E5A-A0B0-44E0-8419-DC3F086FADBA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>
                <a:off x="792000" y="2520000"/>
                <a:ext cx="165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3807126-99DB-4F07-A3E8-701447A00EE2}"/>
              </a:ext>
            </a:extLst>
          </p:cNvPr>
          <p:cNvGrpSpPr/>
          <p:nvPr/>
        </p:nvGrpSpPr>
        <p:grpSpPr>
          <a:xfrm>
            <a:off x="1116000" y="4079808"/>
            <a:ext cx="2801200" cy="1582976"/>
            <a:chOff x="1116000" y="4223824"/>
            <a:chExt cx="2801200" cy="1582976"/>
          </a:xfrm>
        </p:grpSpPr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4D88FB7C-3851-45F8-B9CB-5EE82E8F24C5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 bwMode="auto">
            <a:xfrm>
              <a:off x="2376000" y="4223824"/>
              <a:ext cx="72000" cy="10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61" name="Text Box 116">
              <a:extLst>
                <a:ext uri="{FF2B5EF4-FFF2-40B4-BE49-F238E27FC236}">
                  <a16:creationId xmlns:a16="http://schemas.microsoft.com/office/drawing/2014/main" id="{2BBD3CB5-635B-4BEA-BE72-5652EACB71F8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1116000" y="5302800"/>
              <a:ext cx="1548000" cy="504000"/>
            </a:xfrm>
            <a:prstGeom prst="rect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每次更新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所有页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开销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太大</a:t>
              </a:r>
              <a:endParaRPr lang="zh-CN" altLang="en-US" sz="14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52F3C7E-5DA9-4593-A18D-E963B48205CD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2484000" y="4690800"/>
              <a:ext cx="1433200" cy="60138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81FC2AD4-C355-4F98-91E0-F03EFF650578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2124000" y="51228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42844" y="332656"/>
            <a:ext cx="5185559" cy="25692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页表</a:t>
            </a:r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(PT)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的组织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负责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*结构：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*页表项</a:t>
            </a:r>
            <a:r>
              <a:rPr lang="en-US" altLang="zh-CN" sz="2200" b="1" u="none" dirty="0">
                <a:solidFill>
                  <a:srgbClr val="C00000"/>
                </a:solidFill>
                <a:latin typeface="+mn-ea"/>
              </a:rPr>
              <a:t>(PTE)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*地址变换方法：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79</a:t>
            </a:fld>
            <a:endParaRPr lang="en-US" altLang="zh-CN"/>
          </a:p>
        </p:txBody>
      </p:sp>
      <p:sp>
        <p:nvSpPr>
          <p:cNvPr id="86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AutoShape 62">
            <a:hlinkClick r:id="rId47" action="ppaction://hlinksldjump"/>
          </p:cNvPr>
          <p:cNvSpPr>
            <a:spLocks noChangeArrowheads="1"/>
          </p:cNvSpPr>
          <p:nvPr/>
        </p:nvSpPr>
        <p:spPr bwMode="auto">
          <a:xfrm rot="16200000">
            <a:off x="3996284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 Box 7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9632" y="764656"/>
            <a:ext cx="7704856" cy="2075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页表项按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虚页号</a:t>
            </a:r>
            <a:r>
              <a:rPr lang="zh-CN" altLang="en-US" sz="2200" b="1" u="none" dirty="0">
                <a:latin typeface="宋体" panose="02010600030101010101" pitchFamily="2" charset="-122"/>
              </a:rPr>
              <a:t>索引，行数为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程序页数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需保存表长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←减少查表访存次数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←减少所占主存空间</a:t>
            </a:r>
            <a:endParaRPr lang="zh-CN" altLang="en-US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实地址＝</a:t>
            </a:r>
            <a:r>
              <a:rPr lang="en-US" altLang="zh-CN" sz="2200" b="1" u="none" spc="-100" dirty="0">
                <a:solidFill>
                  <a:schemeClr val="tx1"/>
                </a:solidFill>
                <a:latin typeface="宋体" panose="02010600030101010101" pitchFamily="2" charset="-122"/>
              </a:rPr>
              <a:t>&lt;</a:t>
            </a:r>
            <a:r>
              <a:rPr lang="zh-CN" altLang="en-US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页表</a:t>
            </a:r>
            <a:r>
              <a:rPr lang="en-US" altLang="zh-CN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虚页号</a:t>
            </a:r>
            <a:r>
              <a:rPr lang="en-US" altLang="zh-CN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].</a:t>
            </a:r>
            <a:r>
              <a:rPr lang="zh-CN" altLang="en-US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实页号</a:t>
            </a:r>
            <a:r>
              <a:rPr lang="en-US" altLang="zh-CN" sz="2200" b="1" u="none" spc="-100" dirty="0">
                <a:latin typeface="宋体" panose="02010600030101010101" pitchFamily="2" charset="-122"/>
              </a:rPr>
              <a:t>,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页内地址</a:t>
            </a:r>
            <a:r>
              <a:rPr lang="en-US" altLang="zh-CN" sz="2200" b="1" u="none" spc="-100" dirty="0">
                <a:solidFill>
                  <a:schemeClr val="tx1"/>
                </a:solidFill>
                <a:latin typeface="宋体" panose="02010600030101010101" pitchFamily="2" charset="-122"/>
              </a:rPr>
              <a:t>&gt;</a:t>
            </a:r>
          </a:p>
        </p:txBody>
      </p:sp>
      <p:sp>
        <p:nvSpPr>
          <p:cNvPr id="5" name="Text Box 14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0000" y="548680"/>
            <a:ext cx="3600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PT—</a:t>
            </a:r>
            <a:r>
              <a:rPr lang="en-US" altLang="zh-CN" sz="1600" u="none" dirty="0">
                <a:latin typeface="+mn-lt"/>
              </a:rPr>
              <a:t>Page Table    </a:t>
            </a:r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PTE—</a:t>
            </a:r>
            <a:r>
              <a:rPr lang="en-US" altLang="zh-CN" sz="1600" u="none" dirty="0"/>
              <a:t>Page Table Entry</a:t>
            </a:r>
            <a:endParaRPr lang="en-US" altLang="zh-CN" sz="1600" b="1" u="none" spc="-100" dirty="0">
              <a:latin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56590400"/>
              </p:ext>
            </p:extLst>
          </p:nvPr>
        </p:nvGraphicFramePr>
        <p:xfrm>
          <a:off x="2915816" y="1627200"/>
          <a:ext cx="5328592" cy="28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装入位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实页号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修改位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禁止缓存位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704" y="2852936"/>
            <a:ext cx="4526334" cy="3287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地址变换的实现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(MMU&amp;OS</a:t>
            </a:r>
            <a:r>
              <a:rPr lang="zh-CN" altLang="en-US" sz="1800" b="1" u="none" dirty="0">
                <a:latin typeface="宋体" panose="02010600030101010101" pitchFamily="2" charset="-122"/>
              </a:rPr>
              <a:t>负责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地址变换：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05000"/>
              </a:lnSpc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缺页处理：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187450" y="4077072"/>
            <a:ext cx="3167380" cy="1080135"/>
            <a:chOff x="1870" y="6576"/>
            <a:chExt cx="4988" cy="1701"/>
          </a:xfrm>
        </p:grpSpPr>
        <p:sp>
          <p:nvSpPr>
            <p:cNvPr id="12" name="Text Box 20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870" y="6576"/>
              <a:ext cx="3231" cy="170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0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097" y="7257"/>
              <a:ext cx="79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核心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20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98" y="6803"/>
              <a:ext cx="624" cy="102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sp>
          <p:nvSpPr>
            <p:cNvPr id="15" name="Text Box 20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404" y="6576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33"/>
              </p:custDataLst>
            </p:nvPr>
          </p:nvCxnSpPr>
          <p:spPr bwMode="auto">
            <a:xfrm>
              <a:off x="4420" y="6917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34"/>
              </p:custDataLst>
            </p:nvPr>
          </p:nvCxnSpPr>
          <p:spPr bwMode="auto">
            <a:xfrm>
              <a:off x="2891" y="7712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3" name="Text Box 4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964" y="737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4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213" y="6578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37"/>
              </p:custDataLst>
            </p:nvPr>
          </p:nvCxnSpPr>
          <p:spPr bwMode="auto">
            <a:xfrm rot="10800000" flipV="1">
              <a:off x="4420" y="7030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9" name="Text Box 4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213" y="7030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箭头连接符 19"/>
            <p:cNvCxnSpPr/>
            <p:nvPr>
              <p:custDataLst>
                <p:tags r:id="rId39"/>
              </p:custDataLst>
            </p:nvPr>
          </p:nvCxnSpPr>
          <p:spPr bwMode="auto">
            <a:xfrm>
              <a:off x="4422" y="7710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47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13" y="737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4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213" y="7767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⑤数据</a:t>
              </a:r>
            </a:p>
          </p:txBody>
        </p:sp>
        <p:sp>
          <p:nvSpPr>
            <p:cNvPr id="23" name="Text Box 4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420" y="7427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</a:p>
          </p:txBody>
        </p:sp>
        <p:sp>
          <p:nvSpPr>
            <p:cNvPr id="24" name="Text Box 4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983" y="663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芯片</a:t>
              </a:r>
            </a:p>
          </p:txBody>
        </p:sp>
        <p:cxnSp>
          <p:nvCxnSpPr>
            <p:cNvPr id="25" name="直接箭头连接符 24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2891" y="8107"/>
              <a:ext cx="351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组合 25"/>
          <p:cNvGrpSpPr/>
          <p:nvPr/>
        </p:nvGrpSpPr>
        <p:grpSpPr>
          <a:xfrm>
            <a:off x="4680000" y="4077072"/>
            <a:ext cx="2627270" cy="1332441"/>
            <a:chOff x="852" y="6576"/>
            <a:chExt cx="4137" cy="2098"/>
          </a:xfrm>
        </p:grpSpPr>
        <p:sp>
          <p:nvSpPr>
            <p:cNvPr id="27" name="Text Box 20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2" y="6576"/>
              <a:ext cx="2948" cy="170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20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79" y="7257"/>
              <a:ext cx="79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核心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20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780" y="6803"/>
              <a:ext cx="624" cy="102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sp>
          <p:nvSpPr>
            <p:cNvPr id="31" name="Text Box 20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35" y="6576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18"/>
              </p:custDataLst>
            </p:nvPr>
          </p:nvCxnSpPr>
          <p:spPr bwMode="auto">
            <a:xfrm>
              <a:off x="3402" y="6917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9"/>
              </p:custDataLst>
            </p:nvPr>
          </p:nvCxnSpPr>
          <p:spPr bwMode="auto">
            <a:xfrm>
              <a:off x="1873" y="7712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 Box 4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946" y="737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4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12" y="657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</a:p>
          </p:txBody>
        </p:sp>
        <p:cxnSp>
          <p:nvCxnSpPr>
            <p:cNvPr id="91" name="直接箭头连接符 90"/>
            <p:cNvCxnSpPr/>
            <p:nvPr>
              <p:custDataLst>
                <p:tags r:id="rId22"/>
              </p:custDataLst>
            </p:nvPr>
          </p:nvCxnSpPr>
          <p:spPr bwMode="auto">
            <a:xfrm rot="10800000" flipV="1">
              <a:off x="3402" y="7030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2" name="Text Box 4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912" y="703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</a:p>
          </p:txBody>
        </p:sp>
        <p:cxnSp>
          <p:nvCxnSpPr>
            <p:cNvPr id="93" name="直接箭头连接符 92"/>
            <p:cNvCxnSpPr/>
            <p:nvPr>
              <p:custDataLst>
                <p:tags r:id="rId24"/>
              </p:custDataLst>
            </p:nvPr>
          </p:nvCxnSpPr>
          <p:spPr bwMode="auto">
            <a:xfrm>
              <a:off x="3118" y="7823"/>
              <a:ext cx="0" cy="8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4" name="Text Box 4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31" y="8334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④异常</a:t>
              </a:r>
            </a:p>
          </p:txBody>
        </p:sp>
        <p:sp>
          <p:nvSpPr>
            <p:cNvPr id="95" name="Text Box 4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118" y="7880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</a:p>
          </p:txBody>
        </p:sp>
        <p:sp>
          <p:nvSpPr>
            <p:cNvPr id="96" name="Text Box 4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66" y="663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芯片</a:t>
              </a:r>
            </a:p>
          </p:txBody>
        </p:sp>
        <p:cxnSp>
          <p:nvCxnSpPr>
            <p:cNvPr id="97" name="直接箭头连接符 96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118" y="8674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8" name="组合 97"/>
          <p:cNvGrpSpPr/>
          <p:nvPr/>
        </p:nvGrpSpPr>
        <p:grpSpPr>
          <a:xfrm>
            <a:off x="5364000" y="4077312"/>
            <a:ext cx="3348000" cy="1404000"/>
            <a:chOff x="5171995" y="4205058"/>
            <a:chExt cx="3348000" cy="1404000"/>
          </a:xfrm>
        </p:grpSpPr>
        <p:sp>
          <p:nvSpPr>
            <p:cNvPr id="99" name="Text Box 4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295995" y="4457138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⑤牺牲页</a:t>
              </a:r>
            </a:p>
          </p:txBody>
        </p:sp>
        <p:sp>
          <p:nvSpPr>
            <p:cNvPr id="100" name="Text Box 20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231995" y="4205058"/>
              <a:ext cx="288000" cy="10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01" name="直接箭头连接符 100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7115995" y="4673138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2" name="Text Box 4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719995" y="5393058"/>
              <a:ext cx="180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缺页异常处理程序</a:t>
              </a:r>
            </a:p>
          </p:txBody>
        </p:sp>
        <p:sp>
          <p:nvSpPr>
            <p:cNvPr id="103" name="Text Box 4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295995" y="4781058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⑥目标页</a:t>
              </a:r>
            </a:p>
          </p:txBody>
        </p:sp>
        <p:cxnSp>
          <p:nvCxnSpPr>
            <p:cNvPr id="104" name="直接箭头连接符 103"/>
            <p:cNvCxnSpPr/>
            <p:nvPr>
              <p:custDataLst>
                <p:tags r:id="rId11"/>
              </p:custDataLst>
            </p:nvPr>
          </p:nvCxnSpPr>
          <p:spPr bwMode="auto">
            <a:xfrm rot="10800000">
              <a:off x="7115995" y="4997058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5" name="上箭头 104"/>
            <p:cNvSpPr/>
            <p:nvPr>
              <p:custDataLst>
                <p:tags r:id="rId12"/>
              </p:custDataLst>
            </p:nvPr>
          </p:nvSpPr>
          <p:spPr bwMode="auto">
            <a:xfrm>
              <a:off x="7583995" y="5069154"/>
              <a:ext cx="108000" cy="252000"/>
            </a:xfrm>
            <a:prstGeom prst="up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4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171995" y="4998578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IVA</a:t>
              </a:r>
            </a:p>
          </p:txBody>
        </p:sp>
      </p:grpSp>
      <p:sp>
        <p:nvSpPr>
          <p:cNvPr id="58" name="Text Box 6">
            <a:extLst>
              <a:ext uri="{FF2B5EF4-FFF2-40B4-BE49-F238E27FC236}">
                <a16:creationId xmlns:a16="http://schemas.microsoft.com/office/drawing/2014/main" id="{DC70DDCD-514D-47BA-B1A9-49B9FF268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059200"/>
            <a:ext cx="34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PTE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中为何没有标记域？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59" name="Text Box 6">
            <a:extLst>
              <a:ext uri="{FF2B5EF4-FFF2-40B4-BE49-F238E27FC236}">
                <a16:creationId xmlns:a16="http://schemas.microsoft.com/office/drawing/2014/main" id="{08CDDB32-AC1E-4466-804D-CFD4614F1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496" y="2059200"/>
            <a:ext cx="403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按虚页号索引可直接定位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sz="1600" b="1" u="none" dirty="0">
                <a:latin typeface="宋体" panose="02010600030101010101" pitchFamily="2" charset="-122"/>
              </a:rPr>
              <a:t>按实页号才</a:t>
            </a:r>
            <a:r>
              <a:rPr lang="zh-CN" altLang="en-US" sz="1600" b="1" u="none" dirty="0">
                <a:latin typeface="宋体" panose="02010600030101010101" pitchFamily="2" charset="-122"/>
              </a:rPr>
              <a:t>需</a:t>
            </a:r>
            <a:r>
              <a:rPr lang="zh-CN" sz="1600" b="1" u="none" dirty="0">
                <a:latin typeface="宋体" panose="02010600030101010101" pitchFamily="2" charset="-122"/>
              </a:rPr>
              <a:t>要</a:t>
            </a:r>
            <a:r>
              <a:rPr lang="en-US" altLang="zh-CN" sz="1600" b="1" u="none" dirty="0">
                <a:latin typeface="宋体" panose="02010600030101010101" pitchFamily="2" charset="-122"/>
              </a:rPr>
              <a:t>) 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78055142-04BB-4BA4-9214-5F39D26529F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7896" y="3284984"/>
            <a:ext cx="7272616" cy="29195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MMU</a:t>
            </a:r>
            <a:r>
              <a:rPr lang="zh-CN" altLang="en-US" sz="2200" b="1" u="none" dirty="0">
                <a:latin typeface="宋体" panose="02010600030101010101" pitchFamily="2" charset="-122"/>
              </a:rPr>
              <a:t>负责，计算</a:t>
            </a:r>
            <a:r>
              <a:rPr lang="en-US" altLang="zh-CN" sz="2200" b="1" u="none" dirty="0">
                <a:latin typeface="宋体" panose="02010600030101010101" pitchFamily="2" charset="-122"/>
              </a:rPr>
              <a:t>PTE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2200" b="1" u="none" dirty="0">
                <a:latin typeface="宋体" panose="02010600030101010101" pitchFamily="2" charset="-122"/>
              </a:rPr>
              <a:t>+</a:t>
            </a:r>
            <a:r>
              <a:rPr lang="zh-CN" altLang="en-US" sz="2200" b="1" u="none" dirty="0">
                <a:latin typeface="宋体" panose="02010600030101010101" pitchFamily="2" charset="-122"/>
              </a:rPr>
              <a:t>读取</a:t>
            </a:r>
            <a:r>
              <a:rPr lang="en-US" altLang="zh-CN" sz="2200" b="1" u="none" dirty="0">
                <a:latin typeface="宋体" panose="02010600030101010101" pitchFamily="2" charset="-122"/>
              </a:rPr>
              <a:t>PTE+</a:t>
            </a:r>
            <a:r>
              <a:rPr lang="zh-CN" altLang="en-US" sz="2200" b="1" u="none" dirty="0">
                <a:latin typeface="宋体" panose="02010600030101010101" pitchFamily="2" charset="-122"/>
              </a:rPr>
              <a:t>形成实地址</a:t>
            </a:r>
            <a:r>
              <a:rPr lang="en-US" altLang="zh-CN" sz="22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判断异常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05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                                             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缺页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越界等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OS</a:t>
            </a:r>
            <a:r>
              <a:rPr lang="zh-CN" altLang="en-US" sz="2200" b="1" u="none" dirty="0">
                <a:latin typeface="宋体" panose="02010600030101010101" pitchFamily="2" charset="-122"/>
              </a:rPr>
              <a:t>负责，调入目标页＋返回缺页指令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重新执行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57" name="Text Box 6">
            <a:extLst>
              <a:ext uri="{FF2B5EF4-FFF2-40B4-BE49-F238E27FC236}">
                <a16:creationId xmlns:a16="http://schemas.microsoft.com/office/drawing/2014/main" id="{01E529C7-9CF4-43F9-83C6-F4B5D4DC8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000" y="5301208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MMU</a:t>
            </a:r>
            <a:r>
              <a:rPr lang="zh-CN" altLang="en-US" sz="1800" b="1" u="none" dirty="0">
                <a:latin typeface="宋体" panose="02010600030101010101" pitchFamily="2" charset="-122"/>
              </a:rPr>
              <a:t>如何判断变换成功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失败？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807F7A0D-E125-456E-B1DA-B78944DD2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000" y="6093296"/>
            <a:ext cx="673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引子：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取</a:t>
            </a:r>
            <a:r>
              <a:rPr lang="en-US" altLang="zh-CN" sz="1800" b="1" u="none" dirty="0">
                <a:latin typeface="宋体" panose="02010600030101010101" pitchFamily="2" charset="-122"/>
              </a:rPr>
              <a:t>PTE</a:t>
            </a:r>
            <a:r>
              <a:rPr lang="zh-CN" altLang="en-US" sz="1800" b="1" u="none" dirty="0">
                <a:latin typeface="宋体" panose="02010600030101010101" pitchFamily="2" charset="-122"/>
              </a:rPr>
              <a:t>至少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访存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次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25000" dirty="0">
                <a:latin typeface="宋体" panose="02010600030101010101" pitchFamily="2" charset="-122"/>
                <a:sym typeface="+mn-ea"/>
              </a:rPr>
              <a:t>虚存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2*T</a:t>
            </a:r>
            <a:r>
              <a:rPr lang="zh-CN" altLang="en-US" sz="1800" b="1" u="none" baseline="-25000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，能优化吗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？否则无意义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60" name="线形标注 2 2">
            <a:extLst>
              <a:ext uri="{FF2B5EF4-FFF2-40B4-BE49-F238E27FC236}">
                <a16:creationId xmlns:a16="http://schemas.microsoft.com/office/drawing/2014/main" id="{E504932A-A868-47A0-8B38-D91C1488CC67}"/>
              </a:ext>
            </a:extLst>
          </p:cNvPr>
          <p:cNvSpPr/>
          <p:nvPr/>
        </p:nvSpPr>
        <p:spPr bwMode="auto">
          <a:xfrm>
            <a:off x="5148064" y="6507312"/>
            <a:ext cx="2952328" cy="287338"/>
          </a:xfrm>
          <a:prstGeom prst="borderCallout2">
            <a:avLst>
              <a:gd name="adj1" fmla="val 45415"/>
              <a:gd name="adj2" fmla="val 269"/>
              <a:gd name="adj3" fmla="val 42560"/>
              <a:gd name="adj4" fmla="val -7741"/>
              <a:gd name="adj5" fmla="val -184259"/>
              <a:gd name="adj6" fmla="val 817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减少保存的信息、不影响正确性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57" grpId="0" bldLvl="0" animBg="1"/>
      <p:bldP spid="56" grpId="0" bldLvl="0" animBg="1"/>
      <p:bldP spid="6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80</a:t>
            </a:fld>
            <a:endParaRPr lang="en-US" altLang="zh-CN"/>
          </a:p>
        </p:txBody>
      </p:sp>
      <p:sp>
        <p:nvSpPr>
          <p:cNvPr id="43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77DEE394-2C0E-49B6-B18A-A3F78C9D2CF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696335" cy="4581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地址变换的优化：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优化方法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0000"/>
              </a:lnSpc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TLB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的组织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缓存管理：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TLB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行组织：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TLB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的大小：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地址变换过程的改变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8" name="Text Box 185">
            <a:extLst>
              <a:ext uri="{FF2B5EF4-FFF2-40B4-BE49-F238E27FC236}">
                <a16:creationId xmlns:a16="http://schemas.microsoft.com/office/drawing/2014/main" id="{475827B7-4D8A-4EE3-9C2E-17639B3E5AF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830" y="764456"/>
            <a:ext cx="6750050" cy="41571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页表采用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层次结构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页表缓冲器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(TLB)</a:t>
            </a:r>
            <a:r>
              <a:rPr lang="zh-CN" altLang="en-US" sz="2200" b="1" u="none" dirty="0">
                <a:latin typeface="宋体" panose="02010600030101010101" pitchFamily="2" charset="-122"/>
              </a:rPr>
              <a:t>放在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中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利用访问局部性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→地址变换</a:t>
            </a:r>
            <a:r>
              <a: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可不访存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u="none" dirty="0">
                <a:solidFill>
                  <a:schemeClr val="tx1"/>
                </a:solidFill>
                <a:latin typeface="宋体" panose="02010600030101010101" pitchFamily="2" charset="-122"/>
              </a:rPr>
              <a:t>┘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zh-CN" altLang="en-US" sz="18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同一页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的地址变换查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同一页表项</a:t>
            </a:r>
            <a:r>
              <a:rPr lang="en-US" altLang="zh-CN" sz="1600" u="none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16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  组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全相联映射、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LRU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替换算法、写回策略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类似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行，缓存块为页表项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几十行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en-US" altLang="zh-CN" sz="1600" b="1" u="none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TLB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&gt;&gt;H</a:t>
            </a:r>
            <a:r>
              <a:rPr lang="en-US" altLang="zh-CN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先访问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缺失时才访问页表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87" name="表格 86">
            <a:extLst>
              <a:ext uri="{FF2B5EF4-FFF2-40B4-BE49-F238E27FC236}">
                <a16:creationId xmlns:a16="http://schemas.microsoft.com/office/drawing/2014/main" id="{BF5C998A-0CF1-4110-898E-43A7B802C72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27713322"/>
              </p:ext>
            </p:extLst>
          </p:nvPr>
        </p:nvGraphicFramePr>
        <p:xfrm>
          <a:off x="1691680" y="2852936"/>
          <a:ext cx="5256584" cy="28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有效位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LRU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修改位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实页号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访问位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Text Box 140">
            <a:extLst>
              <a:ext uri="{FF2B5EF4-FFF2-40B4-BE49-F238E27FC236}">
                <a16:creationId xmlns:a16="http://schemas.microsoft.com/office/drawing/2014/main" id="{124E8443-5D97-4E1C-9D49-C666902DB01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96136" y="476672"/>
            <a:ext cx="3060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r>
              <a:rPr lang="en-US" altLang="zh-CN" sz="1600" b="1" u="none" dirty="0">
                <a:solidFill>
                  <a:srgbClr val="C00000"/>
                </a:solidFill>
                <a:latin typeface="+mn-ea"/>
              </a:rPr>
              <a:t>TLB—</a:t>
            </a:r>
            <a:r>
              <a:rPr lang="en-US" altLang="zh-CN" sz="1600" u="none" dirty="0">
                <a:latin typeface="+mn-lt"/>
              </a:rPr>
              <a:t>Translation Lookaside Buffer</a:t>
            </a:r>
          </a:p>
        </p:txBody>
      </p:sp>
      <p:sp>
        <p:nvSpPr>
          <p:cNvPr id="89" name="Text Box 6">
            <a:extLst>
              <a:ext uri="{FF2B5EF4-FFF2-40B4-BE49-F238E27FC236}">
                <a16:creationId xmlns:a16="http://schemas.microsoft.com/office/drawing/2014/main" id="{508CFD3A-5560-494B-8623-4E6AE6215D9C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91680" y="3645024"/>
            <a:ext cx="5796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664845" indent="-664845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baseline="30000" dirty="0">
                <a:solidFill>
                  <a:schemeClr val="tx1"/>
                </a:solidFill>
                <a:latin typeface="宋体" panose="02010600030101010101" pitchFamily="2" charset="-122"/>
              </a:rPr>
              <a:t>48</a:t>
            </a:r>
            <a:r>
              <a:rPr lang="en-US" altLang="zh-CN" sz="1800" b="1" u="none" dirty="0">
                <a:latin typeface="宋体" panose="02010600030101010101" pitchFamily="2" charset="-122"/>
              </a:rPr>
              <a:t>×1B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1800" b="1" u="none" baseline="-18000" dirty="0">
                <a:latin typeface="宋体" panose="02010600030101010101" pitchFamily="2" charset="-122"/>
              </a:rPr>
              <a:t>页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4KB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</a:rPr>
              <a:t>TLB</a:t>
            </a:r>
            <a:r>
              <a:rPr lang="zh-CN" sz="18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>
                <a:latin typeface="宋体" panose="02010600030101010101" pitchFamily="2" charset="-122"/>
              </a:rPr>
              <a:t>路组相联，其标记、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LRU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的位数？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EFBECA3-BBA6-4B70-B953-7A24972C9B7B}"/>
              </a:ext>
            </a:extLst>
          </p:cNvPr>
          <p:cNvGrpSpPr/>
          <p:nvPr/>
        </p:nvGrpSpPr>
        <p:grpSpPr>
          <a:xfrm>
            <a:off x="5292080" y="4869160"/>
            <a:ext cx="3168219" cy="1115795"/>
            <a:chOff x="3685" y="6973"/>
            <a:chExt cx="4989" cy="1757"/>
          </a:xfrm>
        </p:grpSpPr>
        <p:sp>
          <p:nvSpPr>
            <p:cNvPr id="91" name="Text Box 207">
              <a:extLst>
                <a:ext uri="{FF2B5EF4-FFF2-40B4-BE49-F238E27FC236}">
                  <a16:creationId xmlns:a16="http://schemas.microsoft.com/office/drawing/2014/main" id="{C98F879C-8DA6-4D3A-A858-9A5E6CE42B5E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220" y="6973"/>
              <a:ext cx="454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47">
              <a:extLst>
                <a:ext uri="{FF2B5EF4-FFF2-40B4-BE49-F238E27FC236}">
                  <a16:creationId xmlns:a16="http://schemas.microsoft.com/office/drawing/2014/main" id="{CDF71A86-893A-4A87-9150-666B8358C1D6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685" y="7824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E04DDA9E-2ABF-4382-AF87-461C82A16978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3685" y="8617"/>
              <a:ext cx="453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94" name="Text Box 207">
              <a:extLst>
                <a:ext uri="{FF2B5EF4-FFF2-40B4-BE49-F238E27FC236}">
                  <a16:creationId xmlns:a16="http://schemas.microsoft.com/office/drawing/2014/main" id="{1ECE2EDA-F0C0-49A0-8F96-3908FFB8EAFD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139" y="6973"/>
              <a:ext cx="2664" cy="147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207">
              <a:extLst>
                <a:ext uri="{FF2B5EF4-FFF2-40B4-BE49-F238E27FC236}">
                  <a16:creationId xmlns:a16="http://schemas.microsoft.com/office/drawing/2014/main" id="{383C8E17-1D7A-41C9-A901-2F234F5B44A8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309" y="7994"/>
              <a:ext cx="153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地址变换</a:t>
              </a:r>
            </a:p>
          </p:txBody>
        </p:sp>
        <p:sp>
          <p:nvSpPr>
            <p:cNvPr id="96" name="Text Box 207">
              <a:extLst>
                <a:ext uri="{FF2B5EF4-FFF2-40B4-BE49-F238E27FC236}">
                  <a16:creationId xmlns:a16="http://schemas.microsoft.com/office/drawing/2014/main" id="{875DC54B-B40B-4B39-8E4A-E5E28484DCBE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365" y="7087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TLB</a:t>
              </a:r>
            </a:p>
          </p:txBody>
        </p:sp>
        <p:sp>
          <p:nvSpPr>
            <p:cNvPr id="97" name="Text Box 47">
              <a:extLst>
                <a:ext uri="{FF2B5EF4-FFF2-40B4-BE49-F238E27FC236}">
                  <a16:creationId xmlns:a16="http://schemas.microsoft.com/office/drawing/2014/main" id="{34932380-75FE-4D3C-81CC-346F432E2B82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252" y="754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98" name="Text Box 47">
              <a:extLst>
                <a:ext uri="{FF2B5EF4-FFF2-40B4-BE49-F238E27FC236}">
                  <a16:creationId xmlns:a16="http://schemas.microsoft.com/office/drawing/2014/main" id="{22C15A58-A458-4B83-87F1-F7250EA92DE2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876" y="754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78DE43B8-B44D-4263-A87C-67638CD18579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3685" y="8164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7DA3A786-A109-40E0-9120-8D42491D0DB4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5840" y="8164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Text Box 47">
              <a:extLst>
                <a:ext uri="{FF2B5EF4-FFF2-40B4-BE49-F238E27FC236}">
                  <a16:creationId xmlns:a16="http://schemas.microsoft.com/office/drawing/2014/main" id="{DF7206B5-5BA1-440B-A665-5C41D0077162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973" y="7824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47">
              <a:extLst>
                <a:ext uri="{FF2B5EF4-FFF2-40B4-BE49-F238E27FC236}">
                  <a16:creationId xmlns:a16="http://schemas.microsoft.com/office/drawing/2014/main" id="{0151BD76-C738-46E2-8CB9-B84D827A1725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973" y="8221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⑦数据</a:t>
              </a:r>
            </a:p>
          </p:txBody>
        </p:sp>
        <p:sp>
          <p:nvSpPr>
            <p:cNvPr id="103" name="Text Box 47">
              <a:extLst>
                <a:ext uri="{FF2B5EF4-FFF2-40B4-BE49-F238E27FC236}">
                  <a16:creationId xmlns:a16="http://schemas.microsoft.com/office/drawing/2014/main" id="{6454B5C3-59A7-4BF4-BE0A-70D701C5120B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669" y="7484"/>
              <a:ext cx="1077" cy="34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09689969-A340-4211-8EF2-1FCBB05EC29B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 flipV="1">
              <a:off x="4708" y="7427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E05B54DD-936D-41C7-AD0A-26F82724CE27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4819" y="7427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6" name="Text Box 47">
              <a:extLst>
                <a:ext uri="{FF2B5EF4-FFF2-40B4-BE49-F238E27FC236}">
                  <a16:creationId xmlns:a16="http://schemas.microsoft.com/office/drawing/2014/main" id="{57EFB41D-B6DE-4D3F-ACE4-9F866D96BD80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973" y="6973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④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47">
              <a:extLst>
                <a:ext uri="{FF2B5EF4-FFF2-40B4-BE49-F238E27FC236}">
                  <a16:creationId xmlns:a16="http://schemas.microsoft.com/office/drawing/2014/main" id="{BFBD12DD-F28B-4BF4-9C38-999F389C348C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973" y="7427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E09BD2C-0931-46B6-A27D-0900BD07E70B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5443" y="7314"/>
              <a:ext cx="277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DBE0162C-26D0-467C-90D2-E62F3F7E05CC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5613" y="7427"/>
              <a:ext cx="260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558F7ED9-7700-43DF-B66C-FDAD0E85EFB2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443" y="731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FF4FE042-7C3E-4D1C-A7BD-3A597F56245E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5613" y="7427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A1AF037B-0855-4A18-83FC-1464D64ECFA7}"/>
              </a:ext>
            </a:extLst>
          </p:cNvPr>
          <p:cNvGrpSpPr/>
          <p:nvPr/>
        </p:nvGrpSpPr>
        <p:grpSpPr>
          <a:xfrm>
            <a:off x="1440427" y="4869399"/>
            <a:ext cx="3493770" cy="1080135"/>
            <a:chOff x="2719" y="4935"/>
            <a:chExt cx="5502" cy="1701"/>
          </a:xfrm>
        </p:grpSpPr>
        <p:sp>
          <p:nvSpPr>
            <p:cNvPr id="113" name="Text Box 207">
              <a:extLst>
                <a:ext uri="{FF2B5EF4-FFF2-40B4-BE49-F238E27FC236}">
                  <a16:creationId xmlns:a16="http://schemas.microsoft.com/office/drawing/2014/main" id="{0BA7BC8F-1C13-477E-9F47-B7A326A6A3A6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67" y="4935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47">
              <a:extLst>
                <a:ext uri="{FF2B5EF4-FFF2-40B4-BE49-F238E27FC236}">
                  <a16:creationId xmlns:a16="http://schemas.microsoft.com/office/drawing/2014/main" id="{DEA46A21-A796-44C9-AAAE-D027C19CD49F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776" y="5785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2D680EF9-07A8-48CE-A5CD-27071E57FF5B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2776" y="6579"/>
              <a:ext cx="498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16" name="Text Box 207">
              <a:extLst>
                <a:ext uri="{FF2B5EF4-FFF2-40B4-BE49-F238E27FC236}">
                  <a16:creationId xmlns:a16="http://schemas.microsoft.com/office/drawing/2014/main" id="{90FF31C5-69FB-4E06-9583-E2569DDF7F49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569" y="4935"/>
              <a:ext cx="2835" cy="147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207">
              <a:extLst>
                <a:ext uri="{FF2B5EF4-FFF2-40B4-BE49-F238E27FC236}">
                  <a16:creationId xmlns:a16="http://schemas.microsoft.com/office/drawing/2014/main" id="{77828533-D71B-40FE-97B2-CB0063E9FA62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739" y="5955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地址变换</a:t>
              </a:r>
            </a:p>
          </p:txBody>
        </p:sp>
        <p:sp>
          <p:nvSpPr>
            <p:cNvPr id="118" name="Text Box 207">
              <a:extLst>
                <a:ext uri="{FF2B5EF4-FFF2-40B4-BE49-F238E27FC236}">
                  <a16:creationId xmlns:a16="http://schemas.microsoft.com/office/drawing/2014/main" id="{EC2191C3-FA52-485A-9B68-C9ECB22FE6C6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63" y="5046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TLB</a:t>
              </a:r>
            </a:p>
          </p:txBody>
        </p:sp>
        <p:sp>
          <p:nvSpPr>
            <p:cNvPr id="119" name="Text Box 47">
              <a:extLst>
                <a:ext uri="{FF2B5EF4-FFF2-40B4-BE49-F238E27FC236}">
                  <a16:creationId xmlns:a16="http://schemas.microsoft.com/office/drawing/2014/main" id="{EBCED9EF-911D-4A54-A925-55F09B7916B6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626" y="5445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47">
              <a:extLst>
                <a:ext uri="{FF2B5EF4-FFF2-40B4-BE49-F238E27FC236}">
                  <a16:creationId xmlns:a16="http://schemas.microsoft.com/office/drawing/2014/main" id="{5B02E994-E566-45FA-8FCD-E64B66D4D0CF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873" y="5445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90D77787-04C7-421D-8AB6-2DB1F75DCB41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2719" y="6126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2" name="Text Box 47">
              <a:extLst>
                <a:ext uri="{FF2B5EF4-FFF2-40B4-BE49-F238E27FC236}">
                  <a16:creationId xmlns:a16="http://schemas.microsoft.com/office/drawing/2014/main" id="{62E91EDC-7BBA-46E7-A9BD-ABC11061590C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574" y="5729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47">
              <a:extLst>
                <a:ext uri="{FF2B5EF4-FFF2-40B4-BE49-F238E27FC236}">
                  <a16:creationId xmlns:a16="http://schemas.microsoft.com/office/drawing/2014/main" id="{ACD107E7-7A00-4C00-8A13-3B22205566DB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574" y="6182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⑤数据</a:t>
              </a:r>
            </a:p>
          </p:txBody>
        </p:sp>
        <p:sp>
          <p:nvSpPr>
            <p:cNvPr id="124" name="Text Box 47">
              <a:extLst>
                <a:ext uri="{FF2B5EF4-FFF2-40B4-BE49-F238E27FC236}">
                  <a16:creationId xmlns:a16="http://schemas.microsoft.com/office/drawing/2014/main" id="{A78DF5FC-33C2-46B9-A3FD-A133CBB0E08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270" y="5785"/>
              <a:ext cx="1077" cy="34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</a:p>
          </p:txBody>
        </p: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533EFD56-3825-444E-A9D0-97230ABB192D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4703" y="5386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1FDD1295-4566-4E94-AAB7-AD3A02D2CD3C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4817" y="5386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EE2B03A7-010D-4682-BFA4-D5D9678D0D7A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5213" y="6126"/>
              <a:ext cx="255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bldLvl="0" animBg="1"/>
      <p:bldP spid="89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B69C4DD-1C85-4637-A75C-C2FF125771DD}"/>
              </a:ext>
            </a:extLst>
          </p:cNvPr>
          <p:cNvGrpSpPr/>
          <p:nvPr/>
        </p:nvGrpSpPr>
        <p:grpSpPr>
          <a:xfrm>
            <a:off x="3059875" y="838622"/>
            <a:ext cx="2592080" cy="4644178"/>
            <a:chOff x="3059875" y="910800"/>
            <a:chExt cx="2592080" cy="4644178"/>
          </a:xfrm>
        </p:grpSpPr>
        <p:sp>
          <p:nvSpPr>
            <p:cNvPr id="168" name="Rectangle 111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275775" y="982556"/>
              <a:ext cx="2051685" cy="446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Text Box 12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284155" y="4906978"/>
              <a:ext cx="1007745" cy="5041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缺失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处理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硬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软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04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419920" y="1090508"/>
              <a:ext cx="1440180" cy="50419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查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页表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AutoShape 105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564065" y="1846808"/>
              <a:ext cx="1151890" cy="288295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成功？</a:t>
              </a:r>
            </a:p>
          </p:txBody>
        </p:sp>
        <p:cxnSp>
          <p:nvCxnSpPr>
            <p:cNvPr id="171" name="直接箭头连接符 170"/>
            <p:cNvCxnSpPr/>
            <p:nvPr>
              <p:custDataLst>
                <p:tags r:id="rId61"/>
              </p:custDataLst>
            </p:nvPr>
          </p:nvCxnSpPr>
          <p:spPr bwMode="auto">
            <a:xfrm>
              <a:off x="4140010" y="1594708"/>
              <a:ext cx="0" cy="2521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62"/>
              </p:custDataLst>
            </p:nvPr>
          </p:nvCxnSpPr>
          <p:spPr bwMode="auto">
            <a:xfrm>
              <a:off x="4140010" y="2134468"/>
              <a:ext cx="0" cy="2882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3" name="Text Box 11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924110" y="2134468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4" name="Text Box 9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456115" y="4583074"/>
              <a:ext cx="1800225" cy="2521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表项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j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TLB(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5" name="AutoShape 114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419920" y="2422763"/>
              <a:ext cx="1440180" cy="288295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TLB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6" name="Text Box 117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823905" y="2351007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7" name="Text Box 12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924110" y="2746620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124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456115" y="2998719"/>
              <a:ext cx="1367790" cy="2521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牺牲行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69"/>
              </p:custDataLst>
            </p:nvPr>
          </p:nvCxnSpPr>
          <p:spPr bwMode="auto">
            <a:xfrm>
              <a:off x="4140010" y="3250819"/>
              <a:ext cx="0" cy="2521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81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4140010" y="4330974"/>
              <a:ext cx="0" cy="2521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2" name="Text Box 126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3456115" y="4078875"/>
              <a:ext cx="1440180" cy="2521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表项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页表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3" name="AutoShape 114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3419920" y="3502919"/>
              <a:ext cx="1440180" cy="288295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页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改过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箭头连接符 183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4140010" y="3791214"/>
              <a:ext cx="0" cy="2882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4140010" y="2711059"/>
              <a:ext cx="0" cy="2882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75"/>
              </p:custDataLst>
            </p:nvPr>
          </p:nvCxnSpPr>
          <p:spPr bwMode="auto">
            <a:xfrm>
              <a:off x="4860100" y="3647066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7" name="Text Box 12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823905" y="3430527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117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924110" y="3790579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12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4715955" y="1774416"/>
              <a:ext cx="215900" cy="2159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90" name="直接连接符 189"/>
            <p:cNvCxnSpPr/>
            <p:nvPr>
              <p:custDataLst>
                <p:tags r:id="rId79"/>
              </p:custDataLst>
            </p:nvPr>
          </p:nvCxnSpPr>
          <p:spPr bwMode="auto">
            <a:xfrm>
              <a:off x="4715955" y="1990955"/>
              <a:ext cx="93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箭头连接符 75"/>
            <p:cNvCxnSpPr/>
            <p:nvPr>
              <p:custDataLst>
                <p:tags r:id="rId80"/>
              </p:custDataLst>
            </p:nvPr>
          </p:nvCxnSpPr>
          <p:spPr bwMode="auto">
            <a:xfrm>
              <a:off x="4140010" y="4834539"/>
              <a:ext cx="0" cy="72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75"/>
            <p:cNvCxnSpPr/>
            <p:nvPr>
              <p:custDataLst>
                <p:tags r:id="rId81"/>
              </p:custDataLst>
            </p:nvPr>
          </p:nvCxnSpPr>
          <p:spPr bwMode="auto">
            <a:xfrm>
              <a:off x="4860100" y="2566911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75"/>
            <p:cNvCxnSpPr/>
            <p:nvPr>
              <p:custDataLst>
                <p:tags r:id="rId82"/>
              </p:custDataLst>
            </p:nvPr>
          </p:nvCxnSpPr>
          <p:spPr bwMode="auto">
            <a:xfrm flipH="1" flipV="1">
              <a:off x="4140010" y="4438926"/>
              <a:ext cx="108013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75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5220145" y="2566911"/>
              <a:ext cx="0" cy="187201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75"/>
            <p:cNvCxnSpPr/>
            <p:nvPr>
              <p:custDataLst>
                <p:tags r:id="rId84"/>
              </p:custDataLst>
            </p:nvPr>
          </p:nvCxnSpPr>
          <p:spPr bwMode="auto">
            <a:xfrm>
              <a:off x="3167825" y="5554978"/>
              <a:ext cx="97218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75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3167825" y="1306411"/>
              <a:ext cx="0" cy="424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5" name="直接箭头连接符 204"/>
            <p:cNvCxnSpPr/>
            <p:nvPr>
              <p:custDataLst>
                <p:tags r:id="rId86"/>
              </p:custDataLst>
            </p:nvPr>
          </p:nvCxnSpPr>
          <p:spPr bwMode="auto">
            <a:xfrm>
              <a:off x="4140010" y="910800"/>
              <a:ext cx="0" cy="17970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87"/>
              </p:custDataLst>
            </p:nvPr>
          </p:nvCxnSpPr>
          <p:spPr bwMode="auto">
            <a:xfrm>
              <a:off x="3059875" y="910800"/>
              <a:ext cx="108013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7" name="直接箭头连接符 75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3060000" y="910800"/>
              <a:ext cx="0" cy="14402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3" name="Text Box 121">
              <a:extLst>
                <a:ext uri="{FF2B5EF4-FFF2-40B4-BE49-F238E27FC236}">
                  <a16:creationId xmlns:a16="http://schemas.microsoft.com/office/drawing/2014/main" id="{3542C631-3950-46B8-8FAC-78E7483526CA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5400000" y="1080000"/>
              <a:ext cx="215900" cy="90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产生异常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81</a:t>
            </a:fld>
            <a:endParaRPr lang="en-US" altLang="zh-CN"/>
          </a:p>
        </p:txBody>
      </p:sp>
      <p:sp>
        <p:nvSpPr>
          <p:cNvPr id="3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33057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的工作过程</a:t>
            </a:r>
          </a:p>
        </p:txBody>
      </p:sp>
      <p:grpSp>
        <p:nvGrpSpPr>
          <p:cNvPr id="208" name="组合 207"/>
          <p:cNvGrpSpPr/>
          <p:nvPr/>
        </p:nvGrpSpPr>
        <p:grpSpPr>
          <a:xfrm>
            <a:off x="934720" y="836712"/>
            <a:ext cx="2231390" cy="3924300"/>
            <a:chOff x="794" y="1871"/>
            <a:chExt cx="3514" cy="6180"/>
          </a:xfrm>
        </p:grpSpPr>
        <p:sp>
          <p:nvSpPr>
            <p:cNvPr id="144" name="Text Box 10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191" y="2721"/>
              <a:ext cx="2268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查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TLB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AutoShape 105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417" y="3911"/>
              <a:ext cx="1814" cy="454"/>
            </a:xfrm>
            <a:prstGeom prst="flowChartDecision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成功？</a:t>
              </a:r>
            </a:p>
          </p:txBody>
        </p:sp>
        <p:sp>
          <p:nvSpPr>
            <p:cNvPr id="146" name="AutoShape 112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94" y="1871"/>
              <a:ext cx="306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36000" tIns="17780" rIns="36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接收虚地址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(VP=j)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7" name="AutoShape 116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94" y="7654"/>
              <a:ext cx="306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通知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1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077" y="6860"/>
              <a:ext cx="24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Cache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>
              <p:custDataLst>
                <p:tags r:id="rId49"/>
              </p:custDataLst>
            </p:nvPr>
          </p:nvCxnSpPr>
          <p:spPr bwMode="auto">
            <a:xfrm>
              <a:off x="2325" y="351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62"/>
            <p:cNvCxnSpPr/>
            <p:nvPr>
              <p:custDataLst>
                <p:tags r:id="rId50"/>
              </p:custDataLst>
            </p:nvPr>
          </p:nvCxnSpPr>
          <p:spPr bwMode="auto">
            <a:xfrm>
              <a:off x="2324" y="4365"/>
              <a:ext cx="0" cy="24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>
              <a:stCxn id="148" idx="2"/>
            </p:cNvCxnSpPr>
            <p:nvPr>
              <p:custDataLst>
                <p:tags r:id="rId51"/>
              </p:custDataLst>
            </p:nvPr>
          </p:nvCxnSpPr>
          <p:spPr bwMode="auto">
            <a:xfrm flipH="1">
              <a:off x="2324" y="7257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2324" y="226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3" name="Text Box 11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974" y="4422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1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31" y="3798"/>
              <a:ext cx="338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/>
            <p:cNvCxnSpPr/>
            <p:nvPr>
              <p:custDataLst>
                <p:tags r:id="rId55"/>
              </p:custDataLst>
            </p:nvPr>
          </p:nvCxnSpPr>
          <p:spPr bwMode="auto">
            <a:xfrm>
              <a:off x="3231" y="4138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箭头连接符 75"/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2324" y="2494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0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1560" y="5589240"/>
            <a:ext cx="460864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4160" indent="-264160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软件处理</a:t>
            </a:r>
            <a:r>
              <a:rPr lang="en-US" altLang="zh-CN" sz="1800" b="1" u="none" dirty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缺失时，上图的变化？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22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380504" y="5949280"/>
            <a:ext cx="1728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TLB</a:t>
            </a:r>
            <a:r>
              <a:rPr lang="zh-CN" altLang="en-US" sz="1600" b="1" u="none" dirty="0">
                <a:latin typeface="宋体" panose="02010600030101010101" pitchFamily="2" charset="-122"/>
              </a:rPr>
              <a:t>命中</a:t>
            </a:r>
            <a:r>
              <a:rPr lang="en-US" altLang="zh-CN" sz="1600" b="1" u="none" dirty="0">
                <a:latin typeface="宋体" panose="02010600030101010101" pitchFamily="2" charset="-122"/>
              </a:rPr>
              <a:t>&amp;PT</a:t>
            </a:r>
            <a:r>
              <a:rPr lang="zh-CN" altLang="en-US" sz="1600" b="1" u="none" dirty="0">
                <a:latin typeface="宋体" panose="02010600030101010101" pitchFamily="2" charset="-122"/>
              </a:rPr>
              <a:t>缺失，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PT</a:t>
            </a:r>
            <a:r>
              <a:rPr lang="zh-CN" altLang="en-US" sz="1600" b="1" u="none" dirty="0">
                <a:latin typeface="宋体" panose="02010600030101010101" pitchFamily="2" charset="-122"/>
              </a:rPr>
              <a:t>缺失</a:t>
            </a:r>
            <a:r>
              <a:rPr lang="en-US" altLang="zh-CN" sz="1600" b="1" u="none" dirty="0">
                <a:latin typeface="宋体" panose="02010600030101010101" pitchFamily="2" charset="-122"/>
              </a:rPr>
              <a:t>&amp;Cache</a:t>
            </a:r>
            <a:r>
              <a:rPr lang="zh-CN" altLang="en-US" sz="1600" b="1" u="none" dirty="0">
                <a:latin typeface="宋体" panose="02010600030101010101" pitchFamily="2" charset="-122"/>
              </a:rPr>
              <a:t>命中</a:t>
            </a:r>
          </a:p>
        </p:txBody>
      </p:sp>
      <p:sp>
        <p:nvSpPr>
          <p:cNvPr id="224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1560" y="6021288"/>
            <a:ext cx="666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、页表、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的命中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缺失组合中，哪些不会发生？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2784CF-A73F-49D5-BD1D-00BE04673392}"/>
              </a:ext>
            </a:extLst>
          </p:cNvPr>
          <p:cNvGrpSpPr/>
          <p:nvPr/>
        </p:nvGrpSpPr>
        <p:grpSpPr>
          <a:xfrm>
            <a:off x="5651755" y="836712"/>
            <a:ext cx="3204240" cy="5077910"/>
            <a:chOff x="5651755" y="908890"/>
            <a:chExt cx="3204240" cy="5077910"/>
          </a:xfrm>
        </p:grpSpPr>
        <p:sp>
          <p:nvSpPr>
            <p:cNvPr id="23" name="Rectangle 11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96535" y="980644"/>
              <a:ext cx="2484000" cy="493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9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868925" y="4582365"/>
              <a:ext cx="1692275" cy="25209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页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j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装入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MM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页框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6" name="Text Box 9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868925" y="1088595"/>
              <a:ext cx="1440180" cy="50419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辅存地址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spc="-100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spc="-100" dirty="0">
                  <a:latin typeface="宋体" panose="02010600030101010101" pitchFamily="2" charset="-122"/>
                </a:rPr>
                <a:t>查</a:t>
              </a:r>
              <a:r>
                <a:rPr lang="zh-CN" altLang="en-US" sz="1600" b="1" u="none" spc="-1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外页表</a:t>
              </a:r>
              <a:r>
                <a:rPr lang="en-US" altLang="zh-CN" sz="1600" b="1" u="none" spc="-100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7" name="AutoShape 10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013070" y="1846785"/>
              <a:ext cx="1151890" cy="28829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成功？</a:t>
              </a:r>
            </a:p>
          </p:txBody>
        </p:sp>
        <p:cxnSp>
          <p:nvCxnSpPr>
            <p:cNvPr id="47" name="直接箭头连接符 46"/>
            <p:cNvCxnSpPr/>
            <p:nvPr>
              <p:custDataLst>
                <p:tags r:id="rId9"/>
              </p:custDataLst>
            </p:nvPr>
          </p:nvCxnSpPr>
          <p:spPr bwMode="auto">
            <a:xfrm>
              <a:off x="6587745" y="1592785"/>
              <a:ext cx="0" cy="2520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10"/>
              </p:custDataLst>
            </p:nvPr>
          </p:nvCxnSpPr>
          <p:spPr bwMode="auto">
            <a:xfrm>
              <a:off x="6589015" y="213507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AutoShape 11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868925" y="2422730"/>
              <a:ext cx="1440180" cy="288290"/>
            </a:xfrm>
            <a:prstGeom prst="flowChartDecision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MM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空页框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1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374385" y="2746580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1" name="Text Box 12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72910" y="2350340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12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868925" y="2998675"/>
              <a:ext cx="1440180" cy="25209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牺牲页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12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668000" y="4212000"/>
              <a:ext cx="540000" cy="720000"/>
            </a:xfrm>
            <a:prstGeom prst="rect">
              <a:avLst/>
            </a:prstGeom>
            <a:solidFill>
              <a:schemeClr val="bg1"/>
            </a:solidFill>
            <a:ln w="15875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缺页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处理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软件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16"/>
              </p:custDataLst>
            </p:nvPr>
          </p:nvCxnSpPr>
          <p:spPr bwMode="auto">
            <a:xfrm>
              <a:off x="6589015" y="3250770"/>
              <a:ext cx="0" cy="2520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81"/>
            <p:cNvCxnSpPr/>
            <p:nvPr>
              <p:custDataLst>
                <p:tags r:id="rId17"/>
              </p:custDataLst>
            </p:nvPr>
          </p:nvCxnSpPr>
          <p:spPr bwMode="auto">
            <a:xfrm>
              <a:off x="6589015" y="4330905"/>
              <a:ext cx="0" cy="2520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" name="Text Box 12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868925" y="4078810"/>
              <a:ext cx="1440180" cy="25209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交换区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7" name="AutoShape 11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868925" y="3502865"/>
              <a:ext cx="1440180" cy="288290"/>
            </a:xfrm>
            <a:prstGeom prst="flowChartDecision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页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改过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8" name="直接箭头连接符 57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6589015" y="379115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21"/>
              </p:custDataLst>
            </p:nvPr>
          </p:nvCxnSpPr>
          <p:spPr bwMode="auto">
            <a:xfrm>
              <a:off x="6589015" y="271102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>
              <a:stCxn id="57" idx="3"/>
            </p:cNvCxnSpPr>
            <p:nvPr>
              <p:custDataLst>
                <p:tags r:id="rId22"/>
              </p:custDataLst>
            </p:nvPr>
          </p:nvCxnSpPr>
          <p:spPr bwMode="auto">
            <a:xfrm>
              <a:off x="7309105" y="364701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Text Box 11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372480" y="2134440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12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128765" y="1774395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12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309105" y="3430475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11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372480" y="3790520"/>
              <a:ext cx="2159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" name="Text Box 1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868925" y="5086555"/>
              <a:ext cx="2016125" cy="252095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修改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页表项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66"/>
            <p:cNvCxnSpPr/>
            <p:nvPr>
              <p:custDataLst>
                <p:tags r:id="rId28"/>
              </p:custDataLst>
            </p:nvPr>
          </p:nvCxnSpPr>
          <p:spPr bwMode="auto">
            <a:xfrm>
              <a:off x="6589015" y="4834460"/>
              <a:ext cx="0" cy="2520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29"/>
              </p:custDataLst>
            </p:nvPr>
          </p:nvCxnSpPr>
          <p:spPr bwMode="auto">
            <a:xfrm>
              <a:off x="7128130" y="1990295"/>
              <a:ext cx="82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30"/>
              </p:custDataLst>
            </p:nvPr>
          </p:nvCxnSpPr>
          <p:spPr bwMode="auto">
            <a:xfrm>
              <a:off x="7272910" y="2564970"/>
              <a:ext cx="323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箭头连接符 75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7596760" y="2564970"/>
              <a:ext cx="0" cy="18719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75"/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6589015" y="4436950"/>
              <a:ext cx="10077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1" name="直接箭头连接符 7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587745" y="5336744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34"/>
              </p:custDataLst>
            </p:nvPr>
          </p:nvCxnSpPr>
          <p:spPr bwMode="auto">
            <a:xfrm>
              <a:off x="6587745" y="908890"/>
              <a:ext cx="0" cy="17970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35"/>
              </p:custDataLst>
            </p:nvPr>
          </p:nvCxnSpPr>
          <p:spPr bwMode="auto">
            <a:xfrm>
              <a:off x="5651755" y="908890"/>
              <a:ext cx="9359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4" name="直接箭头连接符 75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5651755" y="908890"/>
              <a:ext cx="0" cy="10801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37"/>
              </p:custDataLst>
            </p:nvPr>
          </p:nvCxnSpPr>
          <p:spPr bwMode="auto">
            <a:xfrm>
              <a:off x="6587745" y="5986800"/>
              <a:ext cx="20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箭头连接符 75"/>
            <p:cNvCxnSpPr/>
            <p:nvPr>
              <p:custDataLst>
                <p:tags r:id="rId38"/>
              </p:custDataLst>
            </p:nvPr>
          </p:nvCxnSpPr>
          <p:spPr bwMode="auto">
            <a:xfrm>
              <a:off x="8640000" y="5662800"/>
              <a:ext cx="0" cy="3238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triangle" w="med" len="med"/>
              <a:tailEnd type="none"/>
            </a:ln>
            <a:effectLst/>
          </p:spPr>
        </p:cxnSp>
        <p:sp>
          <p:nvSpPr>
            <p:cNvPr id="4" name="Text Box 51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388000" y="4654800"/>
              <a:ext cx="467995" cy="100774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/>
                <a:t>重新执行异常指令</a:t>
              </a:r>
            </a:p>
          </p:txBody>
        </p:sp>
        <p:cxnSp>
          <p:nvCxnSpPr>
            <p:cNvPr id="218" name="直接箭头连接符 81"/>
            <p:cNvCxnSpPr/>
            <p:nvPr>
              <p:custDataLst>
                <p:tags r:id="rId40"/>
              </p:custDataLst>
            </p:nvPr>
          </p:nvCxnSpPr>
          <p:spPr bwMode="auto">
            <a:xfrm>
              <a:off x="7955900" y="1989025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6" name="Text Box 517">
              <a:extLst>
                <a:ext uri="{FF2B5EF4-FFF2-40B4-BE49-F238E27FC236}">
                  <a16:creationId xmlns:a16="http://schemas.microsoft.com/office/drawing/2014/main" id="{3C49994C-72EA-4DE4-A4B5-B2484EA92FBB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868000" y="5590800"/>
              <a:ext cx="2232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</a:rPr>
                <a:t>返回到</a:t>
              </a:r>
              <a:r>
                <a:rPr lang="zh-CN" altLang="en-US" sz="1600" b="1" u="none" dirty="0"/>
                <a:t>异常产生的指令</a:t>
              </a:r>
            </a:p>
          </p:txBody>
        </p:sp>
        <p:cxnSp>
          <p:nvCxnSpPr>
            <p:cNvPr id="97" name="直接箭头连接符 75">
              <a:extLst>
                <a:ext uri="{FF2B5EF4-FFF2-40B4-BE49-F238E27FC236}">
                  <a16:creationId xmlns:a16="http://schemas.microsoft.com/office/drawing/2014/main" id="{7CE04D0F-2E2F-4423-87A6-F1AAC448D438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6588000" y="58428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8" name="Text Box 517">
              <a:extLst>
                <a:ext uri="{FF2B5EF4-FFF2-40B4-BE49-F238E27FC236}">
                  <a16:creationId xmlns:a16="http://schemas.microsoft.com/office/drawing/2014/main" id="{EB6B1397-F99A-4CD3-9B70-56B57A2447B6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704000" y="2204864"/>
              <a:ext cx="504000" cy="126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</a:rPr>
                <a:t>调用</a:t>
              </a:r>
              <a:r>
                <a:rPr lang="zh-CN" altLang="en-US" sz="1600" b="1" u="none" dirty="0"/>
                <a:t>系统异常处理程序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bldLvl="0" animBg="1"/>
      <p:bldP spid="222" grpId="0" bldLvl="0" animBg="1"/>
      <p:bldP spid="224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82</a:t>
            </a:fld>
            <a:endParaRPr lang="en-US" altLang="zh-CN" dirty="0"/>
          </a:p>
        </p:txBody>
      </p:sp>
      <p:sp>
        <p:nvSpPr>
          <p:cNvPr id="135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2484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存储器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层次结构综合示例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以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Core i7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为例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层次结构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Cache+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</a:t>
            </a:r>
          </a:p>
        </p:txBody>
      </p:sp>
      <p:graphicFrame>
        <p:nvGraphicFramePr>
          <p:cNvPr id="212" name="表格 211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0897894"/>
              </p:ext>
            </p:extLst>
          </p:nvPr>
        </p:nvGraphicFramePr>
        <p:xfrm>
          <a:off x="1384935" y="4168691"/>
          <a:ext cx="7070090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虚存</a:t>
                      </a: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TLB</a:t>
                      </a: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剩余参数</a:t>
                      </a:r>
                    </a:p>
                  </a:txBody>
                  <a:tcPr marL="17780" marR="1778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页式，</a:t>
                      </a:r>
                      <a:r>
                        <a:rPr lang="en-US" altLang="zh-CN" sz="1800" b="1" dirty="0" err="1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 err="1">
                          <a:latin typeface="宋体" panose="02010600030101010101" pitchFamily="2" charset="-122"/>
                          <a:sym typeface="+mn-ea"/>
                        </a:rPr>
                        <a:t>页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4KB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800" b="1" dirty="0" err="1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 err="1">
                          <a:latin typeface="宋体" panose="02010600030101010101" pitchFamily="2" charset="-122"/>
                          <a:sym typeface="+mn-ea"/>
                        </a:rPr>
                        <a:t>页表项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8B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7780" marR="1778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LRU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、写回法，硬件处理缺失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7780" marR="1778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>
                          <a:latin typeface="宋体" panose="02010600030101010101" pitchFamily="2" charset="-122"/>
                          <a:sym typeface="+mn-ea"/>
                        </a:rPr>
                        <a:t>块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64B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LRU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、写回法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DDR3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支持三通道方式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0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51890" y="5228611"/>
            <a:ext cx="457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L2$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索引、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标记各为几位？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1403985" y="1232451"/>
            <a:ext cx="6984365" cy="2844165"/>
            <a:chOff x="2211" y="1984"/>
            <a:chExt cx="10999" cy="4479"/>
          </a:xfrm>
        </p:grpSpPr>
        <p:sp>
          <p:nvSpPr>
            <p:cNvPr id="138" name="Text Box 19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211" y="1984"/>
              <a:ext cx="8844" cy="447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9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323" y="2098"/>
              <a:ext cx="8617" cy="306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19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73" y="3345"/>
              <a:ext cx="1701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DTLB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(64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19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901" y="3345"/>
              <a:ext cx="181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ITLB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(128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19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313" y="4535"/>
              <a:ext cx="3061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L2TLB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(512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4" name="直接箭头连接符 44"/>
            <p:cNvCxnSpPr/>
            <p:nvPr>
              <p:custDataLst>
                <p:tags r:id="rId13"/>
              </p:custDataLst>
            </p:nvPr>
          </p:nvCxnSpPr>
          <p:spPr bwMode="auto">
            <a:xfrm>
              <a:off x="8050" y="4082"/>
              <a:ext cx="0" cy="4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50" name="Text Box 19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509" y="5216"/>
              <a:ext cx="170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页表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19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591" y="3345"/>
              <a:ext cx="1701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L1-I$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(32KB/4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19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63" y="3345"/>
              <a:ext cx="1701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L1-D$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(32KB/8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9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345" y="4535"/>
              <a:ext cx="2721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L2$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(256KB/8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65" name="直接箭头连接符 4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385" y="408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6" name="直接箭头连接符 44"/>
            <p:cNvCxnSpPr/>
            <p:nvPr>
              <p:custDataLst>
                <p:tags r:id="rId19"/>
              </p:custDataLst>
            </p:nvPr>
          </p:nvCxnSpPr>
          <p:spPr bwMode="auto">
            <a:xfrm>
              <a:off x="6065" y="2438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44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572" y="408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1" name="直接箭头连接符 44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385" y="277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44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571" y="277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3" name="直接箭头连接符 44"/>
            <p:cNvCxnSpPr/>
            <p:nvPr>
              <p:custDataLst>
                <p:tags r:id="rId23"/>
              </p:custDataLst>
            </p:nvPr>
          </p:nvCxnSpPr>
          <p:spPr bwMode="auto">
            <a:xfrm>
              <a:off x="9524" y="4082"/>
              <a:ext cx="0" cy="4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74" name="直接箭头连接符 44"/>
            <p:cNvCxnSpPr/>
            <p:nvPr>
              <p:custDataLst>
                <p:tags r:id="rId24"/>
              </p:custDataLst>
            </p:nvPr>
          </p:nvCxnSpPr>
          <p:spPr bwMode="auto">
            <a:xfrm>
              <a:off x="8787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5" name="直接箭头连接符 44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364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76" name="Text Box 19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880" y="2324"/>
              <a:ext cx="1814" cy="56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177" name="直接箭头连接符 176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9524" y="289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4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8050" y="289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79" name="Text Box 19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777" y="2211"/>
              <a:ext cx="3289" cy="56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        执行引擎 </a:t>
              </a:r>
            </a:p>
          </p:txBody>
        </p:sp>
        <p:sp>
          <p:nvSpPr>
            <p:cNvPr id="180" name="Text Box 193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230" y="5556"/>
              <a:ext cx="2495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核共享的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L3$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(2MB/16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81" name="Text Box 19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086" y="5556"/>
              <a:ext cx="3402" cy="79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控制器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(64b@10.66GB/s×3)</a:t>
              </a:r>
            </a:p>
          </p:txBody>
        </p:sp>
        <p:sp>
          <p:nvSpPr>
            <p:cNvPr id="182" name="Text Box 19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1509" y="5556"/>
              <a:ext cx="1701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cxnSp>
          <p:nvCxnSpPr>
            <p:cNvPr id="183" name="直接箭头连接符 44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5725" y="6068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4" name="直接箭头连接符 44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10488" y="5954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5" name="直接箭头连接符 44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10488" y="572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6" name="直接箭头连接符 44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10488" y="6181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87" name="Text Box 7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463" y="209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</a:p>
          </p:txBody>
        </p:sp>
        <p:sp>
          <p:nvSpPr>
            <p:cNvPr id="188" name="Text Box 74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381" y="4762"/>
              <a:ext cx="907" cy="340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核</a:t>
              </a:r>
            </a:p>
          </p:txBody>
        </p:sp>
        <p:sp>
          <p:nvSpPr>
            <p:cNvPr id="189" name="Text Box 74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324" y="5839"/>
              <a:ext cx="680" cy="454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190" name="直接箭头连接符 44"/>
            <p:cNvCxnSpPr/>
            <p:nvPr>
              <p:custDataLst>
                <p:tags r:id="rId40"/>
              </p:custDataLst>
            </p:nvPr>
          </p:nvCxnSpPr>
          <p:spPr bwMode="auto">
            <a:xfrm>
              <a:off x="4137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44"/>
            <p:cNvCxnSpPr/>
            <p:nvPr>
              <p:custDataLst>
                <p:tags r:id="rId41"/>
              </p:custDataLst>
            </p:nvPr>
          </p:nvCxnSpPr>
          <p:spPr bwMode="auto">
            <a:xfrm>
              <a:off x="5838" y="300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44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4478" y="4309"/>
              <a:ext cx="1" cy="22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3" name="直接箭头连接符 44"/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4478" y="4309"/>
              <a:ext cx="2041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4" name="直接箭头连接符 44"/>
            <p:cNvCxnSpPr/>
            <p:nvPr>
              <p:custDataLst>
                <p:tags r:id="rId44"/>
              </p:custDataLst>
            </p:nvPr>
          </p:nvCxnSpPr>
          <p:spPr bwMode="auto">
            <a:xfrm>
              <a:off x="6519" y="2777"/>
              <a:ext cx="0" cy="25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44"/>
            <p:cNvCxnSpPr/>
            <p:nvPr>
              <p:custDataLst>
                <p:tags r:id="rId45"/>
              </p:custDataLst>
            </p:nvPr>
          </p:nvCxnSpPr>
          <p:spPr bwMode="auto">
            <a:xfrm>
              <a:off x="5158" y="532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6" name="直接箭头连接符 44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5158" y="5329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44"/>
            <p:cNvCxnSpPr/>
            <p:nvPr>
              <p:custDataLst>
                <p:tags r:id="rId47"/>
              </p:custDataLst>
            </p:nvPr>
          </p:nvCxnSpPr>
          <p:spPr bwMode="auto">
            <a:xfrm>
              <a:off x="7652" y="532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8" name="直接箭头连接符 44"/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4137" y="3118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9" name="直接箭头连接符 44"/>
            <p:cNvCxnSpPr/>
            <p:nvPr>
              <p:custDataLst>
                <p:tags r:id="rId49"/>
              </p:custDataLst>
            </p:nvPr>
          </p:nvCxnSpPr>
          <p:spPr bwMode="auto">
            <a:xfrm>
              <a:off x="6065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0" name="直接箭头连接符 44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3911" y="3005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44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6519" y="2778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44"/>
            <p:cNvCxnSpPr/>
            <p:nvPr>
              <p:custDataLst>
                <p:tags r:id="rId52"/>
              </p:custDataLst>
            </p:nvPr>
          </p:nvCxnSpPr>
          <p:spPr bwMode="auto">
            <a:xfrm>
              <a:off x="6292" y="243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3" name="Text Box 19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948" y="2381"/>
              <a:ext cx="1247" cy="397"/>
            </a:xfrm>
            <a:prstGeom prst="rect">
              <a:avLst/>
            </a:prstGeom>
            <a:solidFill>
              <a:srgbClr val="FFFF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寄存器</a:t>
              </a:r>
            </a:p>
          </p:txBody>
        </p:sp>
        <p:cxnSp>
          <p:nvCxnSpPr>
            <p:cNvPr id="204" name="直接箭头连接符 44"/>
            <p:cNvCxnSpPr/>
            <p:nvPr>
              <p:custDataLst>
                <p:tags r:id="rId54"/>
              </p:custDataLst>
            </p:nvPr>
          </p:nvCxnSpPr>
          <p:spPr bwMode="auto">
            <a:xfrm>
              <a:off x="8787" y="2894"/>
              <a:ext cx="0" cy="16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5" name="直接箭头连接符 44"/>
            <p:cNvCxnSpPr/>
            <p:nvPr>
              <p:custDataLst>
                <p:tags r:id="rId55"/>
              </p:custDataLst>
            </p:nvPr>
          </p:nvCxnSpPr>
          <p:spPr bwMode="auto">
            <a:xfrm>
              <a:off x="8333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箭头连接符 44"/>
            <p:cNvCxnSpPr/>
            <p:nvPr>
              <p:custDataLst>
                <p:tags r:id="rId56"/>
              </p:custDataLst>
            </p:nvPr>
          </p:nvCxnSpPr>
          <p:spPr bwMode="auto">
            <a:xfrm>
              <a:off x="9240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44"/>
            <p:cNvCxnSpPr/>
            <p:nvPr>
              <p:custDataLst>
                <p:tags r:id="rId57"/>
              </p:custDataLst>
            </p:nvPr>
          </p:nvCxnSpPr>
          <p:spPr bwMode="auto">
            <a:xfrm>
              <a:off x="8334" y="3118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8" name="Text Box 74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463" y="243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</a:p>
          </p:txBody>
        </p:sp>
        <p:cxnSp>
          <p:nvCxnSpPr>
            <p:cNvPr id="209" name="直接箭头连接符 44"/>
            <p:cNvCxnSpPr/>
            <p:nvPr>
              <p:custDataLst>
                <p:tags r:id="rId59"/>
              </p:custDataLst>
            </p:nvPr>
          </p:nvCxnSpPr>
          <p:spPr bwMode="auto">
            <a:xfrm>
              <a:off x="9694" y="2721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0" name="Text Box 74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9751" y="2438"/>
              <a:ext cx="73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异常</a:t>
              </a:r>
            </a:p>
          </p:txBody>
        </p:sp>
        <p:cxnSp>
          <p:nvCxnSpPr>
            <p:cNvPr id="211" name="直接箭头连接符 44"/>
            <p:cNvCxnSpPr/>
            <p:nvPr>
              <p:custDataLst>
                <p:tags r:id="rId61"/>
              </p:custDataLst>
            </p:nvPr>
          </p:nvCxnSpPr>
          <p:spPr bwMode="auto">
            <a:xfrm>
              <a:off x="3910" y="300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3" name="Text Box 74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7087" y="2154"/>
              <a:ext cx="51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48b</a:t>
              </a:r>
            </a:p>
          </p:txBody>
        </p:sp>
        <p:sp>
          <p:nvSpPr>
            <p:cNvPr id="214" name="Text Box 74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087" y="2494"/>
              <a:ext cx="51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52b</a:t>
              </a:r>
            </a:p>
          </p:txBody>
        </p:sp>
        <p:cxnSp>
          <p:nvCxnSpPr>
            <p:cNvPr id="215" name="直接箭头连接符 44"/>
            <p:cNvCxnSpPr/>
            <p:nvPr>
              <p:custDataLst>
                <p:tags r:id="rId64"/>
              </p:custDataLst>
            </p:nvPr>
          </p:nvCxnSpPr>
          <p:spPr bwMode="auto">
            <a:xfrm>
              <a:off x="6973" y="2381"/>
              <a:ext cx="170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44"/>
            <p:cNvCxnSpPr/>
            <p:nvPr>
              <p:custDataLst>
                <p:tags r:id="rId65"/>
              </p:custDataLst>
            </p:nvPr>
          </p:nvCxnSpPr>
          <p:spPr bwMode="auto">
            <a:xfrm>
              <a:off x="7030" y="2721"/>
              <a:ext cx="170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22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32000" y="5229200"/>
            <a:ext cx="302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b="1" u="none" dirty="0">
                <a:latin typeface="宋体" panose="02010600030101010101" pitchFamily="2" charset="-122"/>
              </a:rPr>
              <a:t>ITLB</a:t>
            </a:r>
            <a:r>
              <a:rPr lang="zh-CN" sz="18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5b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31b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</a:rPr>
              <a:t>L2$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9</a:t>
            </a:r>
            <a:r>
              <a:rPr lang="zh-CN" altLang="en-US" sz="1800" b="1" u="none" dirty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37</a:t>
            </a:r>
          </a:p>
        </p:txBody>
      </p:sp>
      <p:sp>
        <p:nvSpPr>
          <p:cNvPr id="21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52000" y="5624611"/>
            <a:ext cx="388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的异常信号连接到哪里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19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75715" y="5625440"/>
            <a:ext cx="165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u="none" dirty="0">
                <a:latin typeface="宋体" panose="02010600030101010101" pitchFamily="2" charset="-122"/>
              </a:rPr>
              <a:t>CPU</a:t>
            </a:r>
            <a:r>
              <a:rPr lang="zh-CN" altLang="en-US" sz="1800" b="1" u="none" dirty="0">
                <a:latin typeface="宋体" panose="02010600030101010101" pitchFamily="2" charset="-122"/>
              </a:rPr>
              <a:t>的中断机构</a:t>
            </a:r>
          </a:p>
        </p:txBody>
      </p:sp>
      <p:sp>
        <p:nvSpPr>
          <p:cNvPr id="12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bldLvl="0" animBg="1"/>
      <p:bldP spid="222" grpId="0" bldLvl="0" animBg="1"/>
      <p:bldP spid="218" grpId="0" bldLvl="0" animBg="1"/>
      <p:bldP spid="219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  <a:t>83</a:t>
            </a:fld>
            <a:endParaRPr lang="en-US" altLang="zh-CN" dirty="0"/>
          </a:p>
        </p:txBody>
      </p:sp>
      <p:sp>
        <p:nvSpPr>
          <p:cNvPr id="135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872109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工作过程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ITLB/DTLB)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＋数据访问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L1-I$/L1-D$)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409575" y="1340520"/>
            <a:ext cx="8482965" cy="4898390"/>
            <a:chOff x="193" y="2111"/>
            <a:chExt cx="13359" cy="7714"/>
          </a:xfrm>
        </p:grpSpPr>
        <p:grpSp>
          <p:nvGrpSpPr>
            <p:cNvPr id="198" name="组合 197"/>
            <p:cNvGrpSpPr/>
            <p:nvPr/>
          </p:nvGrpSpPr>
          <p:grpSpPr>
            <a:xfrm>
              <a:off x="396" y="2111"/>
              <a:ext cx="6017" cy="1588"/>
              <a:chOff x="396" y="2111"/>
              <a:chExt cx="6017" cy="1588"/>
            </a:xfrm>
          </p:grpSpPr>
          <p:cxnSp>
            <p:nvCxnSpPr>
              <p:cNvPr id="199" name="直接箭头连接符 44"/>
              <p:cNvCxnSpPr/>
              <p:nvPr>
                <p:custDataLst>
                  <p:tags r:id="rId271"/>
                </p:custDataLst>
              </p:nvPr>
            </p:nvCxnSpPr>
            <p:spPr bwMode="auto">
              <a:xfrm flipH="1">
                <a:off x="3121" y="3699"/>
                <a:ext cx="32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00" name="直接箭头连接符 44"/>
              <p:cNvCxnSpPr/>
              <p:nvPr>
                <p:custDataLst>
                  <p:tags r:id="rId272"/>
                </p:custDataLst>
              </p:nvPr>
            </p:nvCxnSpPr>
            <p:spPr bwMode="auto">
              <a:xfrm flipH="1">
                <a:off x="2430" y="3245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01" name="Text Box 305"/>
              <p:cNvSpPr txBox="1">
                <a:spLocks noChangeArrowheads="1"/>
              </p:cNvSpPr>
              <p:nvPr>
                <p:custDataLst>
                  <p:tags r:id="rId273"/>
                </p:custDataLst>
              </p:nvPr>
            </p:nvSpPr>
            <p:spPr bwMode="auto">
              <a:xfrm>
                <a:off x="957" y="2451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02" name="Text Box 307"/>
              <p:cNvSpPr txBox="1">
                <a:spLocks noChangeArrowheads="1"/>
              </p:cNvSpPr>
              <p:nvPr>
                <p:custDataLst>
                  <p:tags r:id="rId274"/>
                </p:custDataLst>
              </p:nvPr>
            </p:nvSpPr>
            <p:spPr bwMode="auto">
              <a:xfrm>
                <a:off x="1976" y="2451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03" name="Text Box 308"/>
              <p:cNvSpPr txBox="1">
                <a:spLocks noChangeArrowheads="1"/>
              </p:cNvSpPr>
              <p:nvPr>
                <p:custDataLst>
                  <p:tags r:id="rId275"/>
                </p:custDataLst>
              </p:nvPr>
            </p:nvSpPr>
            <p:spPr bwMode="auto">
              <a:xfrm>
                <a:off x="1296" y="2451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04" name="Text Box 331"/>
              <p:cNvSpPr txBox="1">
                <a:spLocks noChangeArrowheads="1"/>
              </p:cNvSpPr>
              <p:nvPr>
                <p:custDataLst>
                  <p:tags r:id="rId276"/>
                </p:custDataLst>
              </p:nvPr>
            </p:nvSpPr>
            <p:spPr bwMode="auto">
              <a:xfrm>
                <a:off x="2891" y="2603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05" name="Text Box 305"/>
              <p:cNvSpPr txBox="1">
                <a:spLocks noChangeArrowheads="1"/>
              </p:cNvSpPr>
              <p:nvPr>
                <p:custDataLst>
                  <p:tags r:id="rId277"/>
                </p:custDataLst>
              </p:nvPr>
            </p:nvSpPr>
            <p:spPr bwMode="auto">
              <a:xfrm>
                <a:off x="396" y="2451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06" name="Line 317"/>
              <p:cNvSpPr>
                <a:spLocks noChangeShapeType="1"/>
              </p:cNvSpPr>
              <p:nvPr>
                <p:custDataLst>
                  <p:tags r:id="rId278"/>
                </p:custDataLst>
              </p:nvPr>
            </p:nvSpPr>
            <p:spPr bwMode="auto">
              <a:xfrm flipV="1">
                <a:off x="396" y="2789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Text Box 309"/>
              <p:cNvSpPr txBox="1">
                <a:spLocks noChangeArrowheads="1"/>
              </p:cNvSpPr>
              <p:nvPr>
                <p:custDataLst>
                  <p:tags r:id="rId279"/>
                </p:custDataLst>
              </p:nvPr>
            </p:nvSpPr>
            <p:spPr bwMode="auto">
              <a:xfrm>
                <a:off x="502" y="2796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08" name="Text Box 305"/>
              <p:cNvSpPr txBox="1">
                <a:spLocks noChangeArrowheads="1"/>
              </p:cNvSpPr>
              <p:nvPr>
                <p:custDataLst>
                  <p:tags r:id="rId280"/>
                </p:custDataLst>
              </p:nvPr>
            </p:nvSpPr>
            <p:spPr bwMode="auto">
              <a:xfrm>
                <a:off x="3913" y="2451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09" name="Text Box 307"/>
              <p:cNvSpPr txBox="1">
                <a:spLocks noChangeArrowheads="1"/>
              </p:cNvSpPr>
              <p:nvPr>
                <p:custDataLst>
                  <p:tags r:id="rId281"/>
                </p:custDataLst>
              </p:nvPr>
            </p:nvSpPr>
            <p:spPr bwMode="auto">
              <a:xfrm>
                <a:off x="4932" y="2451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10" name="Text Box 308"/>
              <p:cNvSpPr txBox="1">
                <a:spLocks noChangeArrowheads="1"/>
              </p:cNvSpPr>
              <p:nvPr>
                <p:custDataLst>
                  <p:tags r:id="rId282"/>
                </p:custDataLst>
              </p:nvPr>
            </p:nvSpPr>
            <p:spPr bwMode="auto">
              <a:xfrm>
                <a:off x="4252" y="2451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11" name="Text Box 305"/>
              <p:cNvSpPr txBox="1">
                <a:spLocks noChangeArrowheads="1"/>
              </p:cNvSpPr>
              <p:nvPr>
                <p:custDataLst>
                  <p:tags r:id="rId283"/>
                </p:custDataLst>
              </p:nvPr>
            </p:nvSpPr>
            <p:spPr bwMode="auto">
              <a:xfrm>
                <a:off x="3345" y="2451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12" name="Line 317"/>
              <p:cNvSpPr>
                <a:spLocks noChangeShapeType="1"/>
              </p:cNvSpPr>
              <p:nvPr>
                <p:custDataLst>
                  <p:tags r:id="rId284"/>
                </p:custDataLst>
              </p:nvPr>
            </p:nvSpPr>
            <p:spPr bwMode="auto">
              <a:xfrm flipV="1">
                <a:off x="3344" y="2789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Text Box 170"/>
              <p:cNvSpPr txBox="1">
                <a:spLocks noChangeArrowheads="1"/>
              </p:cNvSpPr>
              <p:nvPr>
                <p:custDataLst>
                  <p:tags r:id="rId285"/>
                </p:custDataLst>
              </p:nvPr>
            </p:nvSpPr>
            <p:spPr bwMode="auto">
              <a:xfrm>
                <a:off x="3352" y="2837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4" name="Text Box 195"/>
              <p:cNvSpPr txBox="1">
                <a:spLocks noChangeArrowheads="1"/>
              </p:cNvSpPr>
              <p:nvPr>
                <p:custDataLst>
                  <p:tags r:id="rId286"/>
                </p:custDataLst>
              </p:nvPr>
            </p:nvSpPr>
            <p:spPr bwMode="auto">
              <a:xfrm>
                <a:off x="2324" y="3359"/>
                <a:ext cx="2154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L2TLB</a:t>
                </a:r>
                <a:r>
                  <a:rPr lang="zh-CN" altLang="en-US" sz="1200" b="1" u="none" dirty="0">
                    <a:latin typeface="宋体" panose="02010600030101010101" pitchFamily="2" charset="-122"/>
                  </a:rPr>
                  <a:t>层间管理</a:t>
                </a:r>
              </a:p>
            </p:txBody>
          </p:sp>
          <p:cxnSp>
            <p:nvCxnSpPr>
              <p:cNvPr id="215" name="直接箭头连接符 44"/>
              <p:cNvCxnSpPr/>
              <p:nvPr>
                <p:custDataLst>
                  <p:tags r:id="rId287"/>
                </p:custDataLst>
              </p:nvPr>
            </p:nvCxnSpPr>
            <p:spPr bwMode="auto">
              <a:xfrm flipH="1">
                <a:off x="5385" y="3245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6" name="Text Box 170"/>
              <p:cNvSpPr txBox="1">
                <a:spLocks noChangeArrowheads="1"/>
              </p:cNvSpPr>
              <p:nvPr>
                <p:custDataLst>
                  <p:tags r:id="rId288"/>
                </p:custDataLst>
              </p:nvPr>
            </p:nvSpPr>
            <p:spPr bwMode="auto">
              <a:xfrm>
                <a:off x="4313" y="2837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31b</a:t>
                </a:r>
              </a:p>
            </p:txBody>
          </p:sp>
          <p:cxnSp>
            <p:nvCxnSpPr>
              <p:cNvPr id="217" name="直接箭头连接符 44"/>
              <p:cNvCxnSpPr/>
              <p:nvPr>
                <p:custDataLst>
                  <p:tags r:id="rId289"/>
                </p:custDataLst>
              </p:nvPr>
            </p:nvCxnSpPr>
            <p:spPr bwMode="auto">
              <a:xfrm flipH="1">
                <a:off x="3121" y="358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8" name="Text Box 170"/>
              <p:cNvSpPr txBox="1">
                <a:spLocks noChangeArrowheads="1"/>
              </p:cNvSpPr>
              <p:nvPr>
                <p:custDataLst>
                  <p:tags r:id="rId290"/>
                </p:custDataLst>
              </p:nvPr>
            </p:nvSpPr>
            <p:spPr bwMode="auto">
              <a:xfrm>
                <a:off x="396" y="2111"/>
                <a:ext cx="80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ITLB</a:t>
                </a:r>
              </a:p>
            </p:txBody>
          </p:sp>
          <p:cxnSp>
            <p:nvCxnSpPr>
              <p:cNvPr id="219" name="直接连接符 218"/>
              <p:cNvCxnSpPr/>
              <p:nvPr>
                <p:custDataLst>
                  <p:tags r:id="rId291"/>
                </p:custDataLst>
              </p:nvPr>
            </p:nvCxnSpPr>
            <p:spPr bwMode="auto">
              <a:xfrm flipH="1">
                <a:off x="1643" y="222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20" name="直接连接符 219"/>
              <p:cNvCxnSpPr/>
              <p:nvPr>
                <p:custDataLst>
                  <p:tags r:id="rId292"/>
                </p:custDataLst>
              </p:nvPr>
            </p:nvCxnSpPr>
            <p:spPr bwMode="auto">
              <a:xfrm flipH="1">
                <a:off x="4592" y="222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21" name="直接连接符 220"/>
              <p:cNvCxnSpPr/>
              <p:nvPr>
                <p:custDataLst>
                  <p:tags r:id="rId293"/>
                </p:custDataLst>
              </p:nvPr>
            </p:nvCxnSpPr>
            <p:spPr bwMode="auto">
              <a:xfrm>
                <a:off x="1645" y="2224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2" name="直接箭头连接符 44"/>
              <p:cNvCxnSpPr/>
              <p:nvPr>
                <p:custDataLst>
                  <p:tags r:id="rId294"/>
                </p:custDataLst>
              </p:nvPr>
            </p:nvCxnSpPr>
            <p:spPr bwMode="auto">
              <a:xfrm flipH="1">
                <a:off x="5840" y="2905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23" name="直接连接符 222"/>
              <p:cNvCxnSpPr/>
              <p:nvPr>
                <p:custDataLst>
                  <p:tags r:id="rId295"/>
                </p:custDataLst>
              </p:nvPr>
            </p:nvCxnSpPr>
            <p:spPr bwMode="auto">
              <a:xfrm flipV="1">
                <a:off x="6066" y="2852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4" name="Text Box 331"/>
              <p:cNvSpPr txBox="1">
                <a:spLocks noChangeArrowheads="1"/>
              </p:cNvSpPr>
              <p:nvPr>
                <p:custDataLst>
                  <p:tags r:id="rId296"/>
                </p:custDataLst>
              </p:nvPr>
            </p:nvSpPr>
            <p:spPr bwMode="auto">
              <a:xfrm>
                <a:off x="5953" y="2610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5b</a:t>
                </a:r>
              </a:p>
            </p:txBody>
          </p:sp>
          <p:cxnSp>
            <p:nvCxnSpPr>
              <p:cNvPr id="225" name="直接箭头连接符 44"/>
              <p:cNvCxnSpPr/>
              <p:nvPr>
                <p:custDataLst>
                  <p:tags r:id="rId297"/>
                </p:custDataLst>
              </p:nvPr>
            </p:nvCxnSpPr>
            <p:spPr bwMode="auto">
              <a:xfrm flipH="1">
                <a:off x="5505" y="3474"/>
                <a:ext cx="90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26" name="Text Box 195"/>
              <p:cNvSpPr txBox="1">
                <a:spLocks noChangeArrowheads="1"/>
              </p:cNvSpPr>
              <p:nvPr>
                <p:custDataLst>
                  <p:tags r:id="rId298"/>
                </p:custDataLst>
              </p:nvPr>
            </p:nvSpPr>
            <p:spPr bwMode="auto">
              <a:xfrm>
                <a:off x="4483" y="3359"/>
                <a:ext cx="1020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4:1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27" name="组合 226"/>
            <p:cNvGrpSpPr/>
            <p:nvPr/>
          </p:nvGrpSpPr>
          <p:grpSpPr>
            <a:xfrm>
              <a:off x="7542" y="2112"/>
              <a:ext cx="6010" cy="1588"/>
              <a:chOff x="8107" y="2112"/>
              <a:chExt cx="6010" cy="1588"/>
            </a:xfrm>
          </p:grpSpPr>
          <p:cxnSp>
            <p:nvCxnSpPr>
              <p:cNvPr id="228" name="直接箭头连接符 44"/>
              <p:cNvCxnSpPr/>
              <p:nvPr>
                <p:custDataLst>
                  <p:tags r:id="rId243"/>
                </p:custDataLst>
              </p:nvPr>
            </p:nvCxnSpPr>
            <p:spPr bwMode="auto">
              <a:xfrm flipH="1">
                <a:off x="8117" y="3700"/>
                <a:ext cx="453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29" name="直接箭头连接符 44"/>
              <p:cNvCxnSpPr/>
              <p:nvPr>
                <p:custDataLst>
                  <p:tags r:id="rId244"/>
                </p:custDataLst>
              </p:nvPr>
            </p:nvCxnSpPr>
            <p:spPr bwMode="auto">
              <a:xfrm flipH="1">
                <a:off x="10707" y="324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30" name="Text Box 305"/>
              <p:cNvSpPr txBox="1">
                <a:spLocks noChangeArrowheads="1"/>
              </p:cNvSpPr>
              <p:nvPr>
                <p:custDataLst>
                  <p:tags r:id="rId245"/>
                </p:custDataLst>
              </p:nvPr>
            </p:nvSpPr>
            <p:spPr bwMode="auto">
              <a:xfrm>
                <a:off x="9234" y="245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31" name="Text Box 307"/>
              <p:cNvSpPr txBox="1">
                <a:spLocks noChangeArrowheads="1"/>
              </p:cNvSpPr>
              <p:nvPr>
                <p:custDataLst>
                  <p:tags r:id="rId246"/>
                </p:custDataLst>
              </p:nvPr>
            </p:nvSpPr>
            <p:spPr bwMode="auto">
              <a:xfrm>
                <a:off x="10254" y="245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32" name="Text Box 308"/>
              <p:cNvSpPr txBox="1">
                <a:spLocks noChangeArrowheads="1"/>
              </p:cNvSpPr>
              <p:nvPr>
                <p:custDataLst>
                  <p:tags r:id="rId247"/>
                </p:custDataLst>
              </p:nvPr>
            </p:nvSpPr>
            <p:spPr bwMode="auto">
              <a:xfrm>
                <a:off x="9573" y="245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33" name="Text Box 331"/>
              <p:cNvSpPr txBox="1">
                <a:spLocks noChangeArrowheads="1"/>
              </p:cNvSpPr>
              <p:nvPr>
                <p:custDataLst>
                  <p:tags r:id="rId248"/>
                </p:custDataLst>
              </p:nvPr>
            </p:nvSpPr>
            <p:spPr bwMode="auto">
              <a:xfrm>
                <a:off x="11168" y="2604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34" name="Text Box 305"/>
              <p:cNvSpPr txBox="1">
                <a:spLocks noChangeArrowheads="1"/>
              </p:cNvSpPr>
              <p:nvPr>
                <p:custDataLst>
                  <p:tags r:id="rId249"/>
                </p:custDataLst>
              </p:nvPr>
            </p:nvSpPr>
            <p:spPr bwMode="auto">
              <a:xfrm>
                <a:off x="8674" y="2452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35" name="Line 317"/>
              <p:cNvSpPr>
                <a:spLocks noChangeShapeType="1"/>
              </p:cNvSpPr>
              <p:nvPr>
                <p:custDataLst>
                  <p:tags r:id="rId250"/>
                </p:custDataLst>
              </p:nvPr>
            </p:nvSpPr>
            <p:spPr bwMode="auto">
              <a:xfrm flipV="1">
                <a:off x="8674" y="2789"/>
                <a:ext cx="2494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Text Box 309"/>
              <p:cNvSpPr txBox="1">
                <a:spLocks noChangeArrowheads="1"/>
              </p:cNvSpPr>
              <p:nvPr>
                <p:custDataLst>
                  <p:tags r:id="rId251"/>
                </p:custDataLst>
              </p:nvPr>
            </p:nvSpPr>
            <p:spPr bwMode="auto">
              <a:xfrm>
                <a:off x="8779" y="2797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37" name="Text Box 305"/>
              <p:cNvSpPr txBox="1">
                <a:spLocks noChangeArrowheads="1"/>
              </p:cNvSpPr>
              <p:nvPr>
                <p:custDataLst>
                  <p:tags r:id="rId252"/>
                </p:custDataLst>
              </p:nvPr>
            </p:nvSpPr>
            <p:spPr bwMode="auto">
              <a:xfrm>
                <a:off x="12190" y="245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38" name="Text Box 307"/>
              <p:cNvSpPr txBox="1">
                <a:spLocks noChangeArrowheads="1"/>
              </p:cNvSpPr>
              <p:nvPr>
                <p:custDataLst>
                  <p:tags r:id="rId253"/>
                </p:custDataLst>
              </p:nvPr>
            </p:nvSpPr>
            <p:spPr bwMode="auto">
              <a:xfrm>
                <a:off x="13210" y="245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39" name="Text Box 308"/>
              <p:cNvSpPr txBox="1">
                <a:spLocks noChangeArrowheads="1"/>
              </p:cNvSpPr>
              <p:nvPr>
                <p:custDataLst>
                  <p:tags r:id="rId254"/>
                </p:custDataLst>
              </p:nvPr>
            </p:nvSpPr>
            <p:spPr bwMode="auto">
              <a:xfrm>
                <a:off x="12529" y="245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40" name="Text Box 305"/>
              <p:cNvSpPr txBox="1">
                <a:spLocks noChangeArrowheads="1"/>
              </p:cNvSpPr>
              <p:nvPr>
                <p:custDataLst>
                  <p:tags r:id="rId255"/>
                </p:custDataLst>
              </p:nvPr>
            </p:nvSpPr>
            <p:spPr bwMode="auto">
              <a:xfrm>
                <a:off x="11623" y="2452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41" name="Line 317"/>
              <p:cNvSpPr>
                <a:spLocks noChangeShapeType="1"/>
              </p:cNvSpPr>
              <p:nvPr>
                <p:custDataLst>
                  <p:tags r:id="rId256"/>
                </p:custDataLst>
              </p:nvPr>
            </p:nvSpPr>
            <p:spPr bwMode="auto">
              <a:xfrm flipV="1">
                <a:off x="11622" y="2790"/>
                <a:ext cx="2494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" name="Text Box 170"/>
              <p:cNvSpPr txBox="1">
                <a:spLocks noChangeArrowheads="1"/>
              </p:cNvSpPr>
              <p:nvPr>
                <p:custDataLst>
                  <p:tags r:id="rId257"/>
                </p:custDataLst>
              </p:nvPr>
            </p:nvSpPr>
            <p:spPr bwMode="auto">
              <a:xfrm>
                <a:off x="11630" y="2838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3" name="Text Box 195"/>
              <p:cNvSpPr txBox="1">
                <a:spLocks noChangeArrowheads="1"/>
              </p:cNvSpPr>
              <p:nvPr>
                <p:custDataLst>
                  <p:tags r:id="rId258"/>
                </p:custDataLst>
              </p:nvPr>
            </p:nvSpPr>
            <p:spPr bwMode="auto">
              <a:xfrm>
                <a:off x="11731" y="3360"/>
                <a:ext cx="2041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  <a:sym typeface="+mn-ea"/>
                  </a:rPr>
                  <a:t>L2TLB</a:t>
                </a:r>
                <a:r>
                  <a:rPr lang="zh-CN" altLang="en-US" sz="1200" b="1" u="none" dirty="0">
                    <a:latin typeface="宋体" panose="02010600030101010101" pitchFamily="2" charset="-122"/>
                    <a:sym typeface="+mn-ea"/>
                  </a:rPr>
                  <a:t>层间管理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4" name="直接箭头连接符 44"/>
              <p:cNvCxnSpPr/>
              <p:nvPr>
                <p:custDataLst>
                  <p:tags r:id="rId259"/>
                </p:custDataLst>
              </p:nvPr>
            </p:nvCxnSpPr>
            <p:spPr bwMode="auto">
              <a:xfrm flipH="1">
                <a:off x="13663" y="324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45" name="Text Box 170"/>
              <p:cNvSpPr txBox="1">
                <a:spLocks noChangeArrowheads="1"/>
              </p:cNvSpPr>
              <p:nvPr>
                <p:custDataLst>
                  <p:tags r:id="rId260"/>
                </p:custDataLst>
              </p:nvPr>
            </p:nvSpPr>
            <p:spPr bwMode="auto">
              <a:xfrm>
                <a:off x="12590" y="2838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32b</a:t>
                </a:r>
              </a:p>
            </p:txBody>
          </p:sp>
          <p:cxnSp>
            <p:nvCxnSpPr>
              <p:cNvPr id="246" name="直接箭头连接符 44"/>
              <p:cNvCxnSpPr/>
              <p:nvPr>
                <p:custDataLst>
                  <p:tags r:id="rId261"/>
                </p:custDataLst>
              </p:nvPr>
            </p:nvCxnSpPr>
            <p:spPr bwMode="auto">
              <a:xfrm flipH="1">
                <a:off x="12641" y="3587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47" name="Text Box 170"/>
              <p:cNvSpPr txBox="1">
                <a:spLocks noChangeArrowheads="1"/>
              </p:cNvSpPr>
              <p:nvPr>
                <p:custDataLst>
                  <p:tags r:id="rId262"/>
                </p:custDataLst>
              </p:nvPr>
            </p:nvSpPr>
            <p:spPr bwMode="auto">
              <a:xfrm>
                <a:off x="13314" y="2112"/>
                <a:ext cx="80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DTLB</a:t>
                </a:r>
              </a:p>
            </p:txBody>
          </p:sp>
          <p:cxnSp>
            <p:nvCxnSpPr>
              <p:cNvPr id="248" name="直接连接符 247"/>
              <p:cNvCxnSpPr/>
              <p:nvPr>
                <p:custDataLst>
                  <p:tags r:id="rId263"/>
                </p:custDataLst>
              </p:nvPr>
            </p:nvCxnSpPr>
            <p:spPr bwMode="auto">
              <a:xfrm flipH="1">
                <a:off x="9921" y="222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49" name="直接连接符 248"/>
              <p:cNvCxnSpPr/>
              <p:nvPr>
                <p:custDataLst>
                  <p:tags r:id="rId264"/>
                </p:custDataLst>
              </p:nvPr>
            </p:nvCxnSpPr>
            <p:spPr bwMode="auto">
              <a:xfrm flipH="1">
                <a:off x="12869" y="222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50" name="直接连接符 249"/>
              <p:cNvCxnSpPr/>
              <p:nvPr>
                <p:custDataLst>
                  <p:tags r:id="rId265"/>
                </p:custDataLst>
              </p:nvPr>
            </p:nvCxnSpPr>
            <p:spPr bwMode="auto">
              <a:xfrm>
                <a:off x="8107" y="2225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1" name="直接箭头连接符 44"/>
              <p:cNvCxnSpPr/>
              <p:nvPr>
                <p:custDataLst>
                  <p:tags r:id="rId266"/>
                </p:custDataLst>
              </p:nvPr>
            </p:nvCxnSpPr>
            <p:spPr bwMode="auto">
              <a:xfrm>
                <a:off x="8107" y="2906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52" name="直接连接符 251"/>
              <p:cNvCxnSpPr/>
              <p:nvPr>
                <p:custDataLst>
                  <p:tags r:id="rId267"/>
                </p:custDataLst>
              </p:nvPr>
            </p:nvCxnSpPr>
            <p:spPr bwMode="auto">
              <a:xfrm flipV="1">
                <a:off x="8220" y="2853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3" name="Text Box 331"/>
              <p:cNvSpPr txBox="1">
                <a:spLocks noChangeArrowheads="1"/>
              </p:cNvSpPr>
              <p:nvPr>
                <p:custDataLst>
                  <p:tags r:id="rId268"/>
                </p:custDataLst>
              </p:nvPr>
            </p:nvSpPr>
            <p:spPr bwMode="auto">
              <a:xfrm>
                <a:off x="8178" y="2593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4b</a:t>
                </a:r>
              </a:p>
            </p:txBody>
          </p:sp>
          <p:cxnSp>
            <p:nvCxnSpPr>
              <p:cNvPr id="254" name="直接箭头连接符 44"/>
              <p:cNvCxnSpPr/>
              <p:nvPr>
                <p:custDataLst>
                  <p:tags r:id="rId269"/>
                </p:custDataLst>
              </p:nvPr>
            </p:nvCxnSpPr>
            <p:spPr bwMode="auto">
              <a:xfrm flipH="1">
                <a:off x="10142" y="3468"/>
                <a:ext cx="45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55" name="Text Box 195"/>
              <p:cNvSpPr txBox="1">
                <a:spLocks noChangeArrowheads="1"/>
              </p:cNvSpPr>
              <p:nvPr>
                <p:custDataLst>
                  <p:tags r:id="rId270"/>
                </p:custDataLst>
              </p:nvPr>
            </p:nvSpPr>
            <p:spPr bwMode="auto">
              <a:xfrm>
                <a:off x="10599" y="3358"/>
                <a:ext cx="1134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4:1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56" name="组合 255"/>
            <p:cNvGrpSpPr/>
            <p:nvPr/>
          </p:nvGrpSpPr>
          <p:grpSpPr>
            <a:xfrm>
              <a:off x="193" y="3699"/>
              <a:ext cx="6214" cy="1929"/>
              <a:chOff x="193" y="3699"/>
              <a:chExt cx="6214" cy="1929"/>
            </a:xfrm>
          </p:grpSpPr>
          <p:cxnSp>
            <p:nvCxnSpPr>
              <p:cNvPr id="257" name="直接箭头连接符 44"/>
              <p:cNvCxnSpPr/>
              <p:nvPr>
                <p:custDataLst>
                  <p:tags r:id="rId215"/>
                </p:custDataLst>
              </p:nvPr>
            </p:nvCxnSpPr>
            <p:spPr bwMode="auto">
              <a:xfrm flipH="1">
                <a:off x="1991" y="5626"/>
                <a:ext cx="249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8" name="直接箭头连接符 44"/>
              <p:cNvCxnSpPr/>
              <p:nvPr>
                <p:custDataLst>
                  <p:tags r:id="rId216"/>
                </p:custDataLst>
              </p:nvPr>
            </p:nvCxnSpPr>
            <p:spPr bwMode="auto">
              <a:xfrm flipH="1">
                <a:off x="2430" y="4833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59" name="Text Box 305"/>
              <p:cNvSpPr txBox="1">
                <a:spLocks noChangeArrowheads="1"/>
              </p:cNvSpPr>
              <p:nvPr>
                <p:custDataLst>
                  <p:tags r:id="rId217"/>
                </p:custDataLst>
              </p:nvPr>
            </p:nvSpPr>
            <p:spPr bwMode="auto">
              <a:xfrm>
                <a:off x="957" y="4039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60" name="Text Box 307"/>
              <p:cNvSpPr txBox="1">
                <a:spLocks noChangeArrowheads="1"/>
              </p:cNvSpPr>
              <p:nvPr>
                <p:custDataLst>
                  <p:tags r:id="rId218"/>
                </p:custDataLst>
              </p:nvPr>
            </p:nvSpPr>
            <p:spPr bwMode="auto">
              <a:xfrm>
                <a:off x="1976" y="4039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61" name="Text Box 308"/>
              <p:cNvSpPr txBox="1">
                <a:spLocks noChangeArrowheads="1"/>
              </p:cNvSpPr>
              <p:nvPr>
                <p:custDataLst>
                  <p:tags r:id="rId219"/>
                </p:custDataLst>
              </p:nvPr>
            </p:nvSpPr>
            <p:spPr bwMode="auto">
              <a:xfrm>
                <a:off x="1296" y="4039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62" name="Text Box 331"/>
              <p:cNvSpPr txBox="1">
                <a:spLocks noChangeArrowheads="1"/>
              </p:cNvSpPr>
              <p:nvPr>
                <p:custDataLst>
                  <p:tags r:id="rId220"/>
                </p:custDataLst>
              </p:nvPr>
            </p:nvSpPr>
            <p:spPr bwMode="auto">
              <a:xfrm>
                <a:off x="2891" y="4191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63" name="Text Box 305"/>
              <p:cNvSpPr txBox="1">
                <a:spLocks noChangeArrowheads="1"/>
              </p:cNvSpPr>
              <p:nvPr>
                <p:custDataLst>
                  <p:tags r:id="rId221"/>
                </p:custDataLst>
              </p:nvPr>
            </p:nvSpPr>
            <p:spPr bwMode="auto">
              <a:xfrm>
                <a:off x="396" y="4039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64" name="Line 317"/>
              <p:cNvSpPr>
                <a:spLocks noChangeShapeType="1"/>
              </p:cNvSpPr>
              <p:nvPr>
                <p:custDataLst>
                  <p:tags r:id="rId222"/>
                </p:custDataLst>
              </p:nvPr>
            </p:nvSpPr>
            <p:spPr bwMode="auto">
              <a:xfrm flipV="1">
                <a:off x="396" y="4377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Text Box 309"/>
              <p:cNvSpPr txBox="1">
                <a:spLocks noChangeArrowheads="1"/>
              </p:cNvSpPr>
              <p:nvPr>
                <p:custDataLst>
                  <p:tags r:id="rId223"/>
                </p:custDataLst>
              </p:nvPr>
            </p:nvSpPr>
            <p:spPr bwMode="auto">
              <a:xfrm>
                <a:off x="502" y="4384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266" name="Text Box 305"/>
              <p:cNvSpPr txBox="1">
                <a:spLocks noChangeArrowheads="1"/>
              </p:cNvSpPr>
              <p:nvPr>
                <p:custDataLst>
                  <p:tags r:id="rId224"/>
                </p:custDataLst>
              </p:nvPr>
            </p:nvSpPr>
            <p:spPr bwMode="auto">
              <a:xfrm>
                <a:off x="3913" y="4039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267" name="Text Box 307"/>
              <p:cNvSpPr txBox="1">
                <a:spLocks noChangeArrowheads="1"/>
              </p:cNvSpPr>
              <p:nvPr>
                <p:custDataLst>
                  <p:tags r:id="rId225"/>
                </p:custDataLst>
              </p:nvPr>
            </p:nvSpPr>
            <p:spPr bwMode="auto">
              <a:xfrm>
                <a:off x="4932" y="4039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实页号</a:t>
                </a:r>
              </a:p>
            </p:txBody>
          </p:sp>
          <p:sp>
            <p:nvSpPr>
              <p:cNvPr id="268" name="Text Box 308"/>
              <p:cNvSpPr txBox="1"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4252" y="4039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269" name="Text Box 305"/>
              <p:cNvSpPr txBox="1">
                <a:spLocks noChangeArrowheads="1"/>
              </p:cNvSpPr>
              <p:nvPr>
                <p:custDataLst>
                  <p:tags r:id="rId227"/>
                </p:custDataLst>
              </p:nvPr>
            </p:nvSpPr>
            <p:spPr bwMode="auto">
              <a:xfrm>
                <a:off x="3345" y="4039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PID</a:t>
                </a:r>
              </a:p>
            </p:txBody>
          </p:sp>
          <p:sp>
            <p:nvSpPr>
              <p:cNvPr id="270" name="Line 317"/>
              <p:cNvSpPr>
                <a:spLocks noChangeShapeType="1"/>
              </p:cNvSpPr>
              <p:nvPr>
                <p:custDataLst>
                  <p:tags r:id="rId228"/>
                </p:custDataLst>
              </p:nvPr>
            </p:nvSpPr>
            <p:spPr bwMode="auto">
              <a:xfrm flipV="1">
                <a:off x="3344" y="4377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1" name="Text Box 170"/>
              <p:cNvSpPr txBox="1">
                <a:spLocks noChangeArrowheads="1"/>
              </p:cNvSpPr>
              <p:nvPr>
                <p:custDataLst>
                  <p:tags r:id="rId229"/>
                </p:custDataLst>
              </p:nvPr>
            </p:nvSpPr>
            <p:spPr bwMode="auto">
              <a:xfrm>
                <a:off x="3352" y="4425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2" name="Text Box 195"/>
              <p:cNvSpPr txBox="1">
                <a:spLocks noChangeArrowheads="1"/>
              </p:cNvSpPr>
              <p:nvPr>
                <p:custDataLst>
                  <p:tags r:id="rId230"/>
                </p:custDataLst>
              </p:nvPr>
            </p:nvSpPr>
            <p:spPr bwMode="auto">
              <a:xfrm>
                <a:off x="3341" y="4947"/>
                <a:ext cx="2154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zh-CN" sz="1100" b="1" u="none" dirty="0">
                    <a:latin typeface="宋体" panose="02010600030101010101" pitchFamily="2" charset="-122"/>
                  </a:rPr>
                  <a:t>与主存页表层间管理</a:t>
                </a:r>
              </a:p>
            </p:txBody>
          </p:sp>
          <p:cxnSp>
            <p:nvCxnSpPr>
              <p:cNvPr id="273" name="直接箭头连接符 44"/>
              <p:cNvCxnSpPr/>
              <p:nvPr>
                <p:custDataLst>
                  <p:tags r:id="rId231"/>
                </p:custDataLst>
              </p:nvPr>
            </p:nvCxnSpPr>
            <p:spPr bwMode="auto">
              <a:xfrm flipH="1">
                <a:off x="5385" y="4833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74" name="Text Box 170"/>
              <p:cNvSpPr txBox="1">
                <a:spLocks noChangeArrowheads="1"/>
              </p:cNvSpPr>
              <p:nvPr>
                <p:custDataLst>
                  <p:tags r:id="rId232"/>
                </p:custDataLst>
              </p:nvPr>
            </p:nvSpPr>
            <p:spPr bwMode="auto">
              <a:xfrm>
                <a:off x="4313" y="4425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29b</a:t>
                </a:r>
              </a:p>
            </p:txBody>
          </p:sp>
          <p:cxnSp>
            <p:nvCxnSpPr>
              <p:cNvPr id="275" name="直接箭头连接符 44"/>
              <p:cNvCxnSpPr/>
              <p:nvPr>
                <p:custDataLst>
                  <p:tags r:id="rId233"/>
                </p:custDataLst>
              </p:nvPr>
            </p:nvCxnSpPr>
            <p:spPr bwMode="auto">
              <a:xfrm flipH="1">
                <a:off x="4477" y="5174"/>
                <a:ext cx="0" cy="454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76" name="Text Box 170"/>
              <p:cNvSpPr txBox="1">
                <a:spLocks noChangeArrowheads="1"/>
              </p:cNvSpPr>
              <p:nvPr>
                <p:custDataLst>
                  <p:tags r:id="rId234"/>
                </p:custDataLst>
              </p:nvPr>
            </p:nvSpPr>
            <p:spPr bwMode="auto">
              <a:xfrm>
                <a:off x="396" y="3699"/>
                <a:ext cx="102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L2TLB</a:t>
                </a:r>
              </a:p>
            </p:txBody>
          </p:sp>
          <p:cxnSp>
            <p:nvCxnSpPr>
              <p:cNvPr id="277" name="直接连接符 276"/>
              <p:cNvCxnSpPr/>
              <p:nvPr>
                <p:custDataLst>
                  <p:tags r:id="rId235"/>
                </p:custDataLst>
              </p:nvPr>
            </p:nvCxnSpPr>
            <p:spPr bwMode="auto">
              <a:xfrm flipH="1">
                <a:off x="1643" y="381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78" name="直接连接符 277"/>
              <p:cNvCxnSpPr/>
              <p:nvPr>
                <p:custDataLst>
                  <p:tags r:id="rId236"/>
                </p:custDataLst>
              </p:nvPr>
            </p:nvCxnSpPr>
            <p:spPr bwMode="auto">
              <a:xfrm flipH="1">
                <a:off x="4592" y="381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79" name="直接连接符 278"/>
              <p:cNvCxnSpPr/>
              <p:nvPr>
                <p:custDataLst>
                  <p:tags r:id="rId237"/>
                </p:custDataLst>
              </p:nvPr>
            </p:nvCxnSpPr>
            <p:spPr bwMode="auto">
              <a:xfrm>
                <a:off x="1645" y="3812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" name="直接箭头连接符 44"/>
              <p:cNvCxnSpPr/>
              <p:nvPr>
                <p:custDataLst>
                  <p:tags r:id="rId238"/>
                </p:custDataLst>
              </p:nvPr>
            </p:nvCxnSpPr>
            <p:spPr bwMode="auto">
              <a:xfrm flipH="1">
                <a:off x="5840" y="4493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81" name="直接连接符 280"/>
              <p:cNvCxnSpPr/>
              <p:nvPr>
                <p:custDataLst>
                  <p:tags r:id="rId239"/>
                </p:custDataLst>
              </p:nvPr>
            </p:nvCxnSpPr>
            <p:spPr bwMode="auto">
              <a:xfrm flipV="1">
                <a:off x="6066" y="4442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4" name="Text Box 331"/>
              <p:cNvSpPr txBox="1">
                <a:spLocks noChangeArrowheads="1"/>
              </p:cNvSpPr>
              <p:nvPr>
                <p:custDataLst>
                  <p:tags r:id="rId240"/>
                </p:custDataLst>
              </p:nvPr>
            </p:nvSpPr>
            <p:spPr bwMode="auto">
              <a:xfrm>
                <a:off x="5953" y="4198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7b</a:t>
                </a:r>
              </a:p>
            </p:txBody>
          </p:sp>
          <p:cxnSp>
            <p:nvCxnSpPr>
              <p:cNvPr id="287" name="直接箭头连接符 44"/>
              <p:cNvCxnSpPr/>
              <p:nvPr>
                <p:custDataLst>
                  <p:tags r:id="rId241"/>
                </p:custDataLst>
              </p:nvPr>
            </p:nvCxnSpPr>
            <p:spPr bwMode="auto">
              <a:xfrm flipH="1">
                <a:off x="193" y="5065"/>
                <a:ext cx="158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88" name="Text Box 195"/>
              <p:cNvSpPr txBox="1">
                <a:spLocks noChangeArrowheads="1"/>
              </p:cNvSpPr>
              <p:nvPr>
                <p:custDataLst>
                  <p:tags r:id="rId242"/>
                </p:custDataLst>
              </p:nvPr>
            </p:nvSpPr>
            <p:spPr bwMode="auto">
              <a:xfrm>
                <a:off x="1770" y="4950"/>
                <a:ext cx="1587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4:1 MUX/DEC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82" name="Text Box 307"/>
            <p:cNvSpPr txBox="1">
              <a:spLocks noChangeArrowheads="1"/>
            </p:cNvSpPr>
            <p:nvPr>
              <p:custDataLst>
                <p:tags r:id="rId214"/>
              </p:custDataLst>
            </p:nvPr>
          </p:nvSpPr>
          <p:spPr bwMode="auto">
            <a:xfrm>
              <a:off x="6520" y="9258"/>
              <a:ext cx="158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marL="0" indent="0" algn="ctr" eaLnBrk="1" latinLnBrk="0" hangingPunct="1">
                <a:lnSpc>
                  <a:spcPct val="10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930059" y="1124779"/>
            <a:ext cx="73230" cy="3348000"/>
            <a:chOff x="4499529" y="1124744"/>
            <a:chExt cx="73230" cy="3418484"/>
          </a:xfrm>
        </p:grpSpPr>
        <p:cxnSp>
          <p:nvCxnSpPr>
            <p:cNvPr id="51" name="直接连接符 50"/>
            <p:cNvCxnSpPr/>
            <p:nvPr>
              <p:custDataLst>
                <p:tags r:id="rId212"/>
              </p:custDataLst>
            </p:nvPr>
          </p:nvCxnSpPr>
          <p:spPr bwMode="auto">
            <a:xfrm flipV="1">
              <a:off x="4572456" y="1124744"/>
              <a:ext cx="303" cy="34184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sm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213"/>
              </p:custDataLst>
            </p:nvPr>
          </p:nvCxnSpPr>
          <p:spPr bwMode="auto">
            <a:xfrm flipH="1" flipV="1">
              <a:off x="4499529" y="1124744"/>
              <a:ext cx="463" cy="34184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68" name="组合 67"/>
          <p:cNvGrpSpPr/>
          <p:nvPr/>
        </p:nvGrpSpPr>
        <p:grpSpPr>
          <a:xfrm>
            <a:off x="617855" y="3645570"/>
            <a:ext cx="8059420" cy="2088515"/>
            <a:chOff x="521" y="5741"/>
            <a:chExt cx="12692" cy="3289"/>
          </a:xfrm>
        </p:grpSpPr>
        <p:grpSp>
          <p:nvGrpSpPr>
            <p:cNvPr id="69" name="组合 68"/>
            <p:cNvGrpSpPr/>
            <p:nvPr/>
          </p:nvGrpSpPr>
          <p:grpSpPr>
            <a:xfrm>
              <a:off x="7543" y="5741"/>
              <a:ext cx="5670" cy="1588"/>
              <a:chOff x="4932040" y="3717032"/>
              <a:chExt cx="3600400" cy="1008112"/>
            </a:xfrm>
          </p:grpSpPr>
          <p:cxnSp>
            <p:nvCxnSpPr>
              <p:cNvPr id="70" name="直接箭头连接符 44"/>
              <p:cNvCxnSpPr/>
              <p:nvPr>
                <p:custDataLst>
                  <p:tags r:id="rId183"/>
                </p:custDataLst>
              </p:nvPr>
            </p:nvCxnSpPr>
            <p:spPr bwMode="auto">
              <a:xfrm flipH="1">
                <a:off x="5147302" y="4725144"/>
                <a:ext cx="223196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71" name="直接箭头连接符 44"/>
              <p:cNvCxnSpPr/>
              <p:nvPr>
                <p:custDataLst>
                  <p:tags r:id="rId184"/>
                </p:custDataLst>
              </p:nvPr>
            </p:nvCxnSpPr>
            <p:spPr bwMode="auto">
              <a:xfrm flipH="1">
                <a:off x="6510278" y="4437120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72" name="直接箭头连接符 44"/>
              <p:cNvCxnSpPr/>
              <p:nvPr>
                <p:custDataLst>
                  <p:tags r:id="rId185"/>
                </p:custDataLst>
              </p:nvPr>
            </p:nvCxnSpPr>
            <p:spPr bwMode="auto">
              <a:xfrm>
                <a:off x="4932040" y="4221088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70C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73" name="Text Box 305"/>
              <p:cNvSpPr txBox="1"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5363785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74" name="Text Box 307"/>
              <p:cNvSpPr txBox="1"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6228137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75" name="Text Box 308"/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5796136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76" name="Text Box 331"/>
              <p:cNvSpPr txBox="1">
                <a:spLocks noChangeArrowheads="1"/>
              </p:cNvSpPr>
              <p:nvPr>
                <p:custDataLst>
                  <p:tags r:id="rId189"/>
                </p:custDataLst>
              </p:nvPr>
            </p:nvSpPr>
            <p:spPr bwMode="auto">
              <a:xfrm>
                <a:off x="6803945" y="4038621"/>
                <a:ext cx="288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77" name="Text Box 305"/>
              <p:cNvSpPr txBox="1">
                <a:spLocks noChangeArrowheads="1"/>
              </p:cNvSpPr>
              <p:nvPr>
                <p:custDataLst>
                  <p:tags r:id="rId190"/>
                </p:custDataLst>
              </p:nvPr>
            </p:nvSpPr>
            <p:spPr bwMode="auto">
              <a:xfrm>
                <a:off x="5580112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78" name="Line 317"/>
              <p:cNvSpPr>
                <a:spLocks noChangeShapeType="1"/>
              </p:cNvSpPr>
              <p:nvPr>
                <p:custDataLst>
                  <p:tags r:id="rId191"/>
                </p:custDataLst>
              </p:nvPr>
            </p:nvSpPr>
            <p:spPr bwMode="auto">
              <a:xfrm flipV="1">
                <a:off x="5363785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Text Box 309"/>
              <p:cNvSpPr txBox="1">
                <a:spLocks noChangeArrowheads="1"/>
              </p:cNvSpPr>
              <p:nvPr>
                <p:custDataLst>
                  <p:tags r:id="rId192"/>
                </p:custDataLst>
              </p:nvPr>
            </p:nvSpPr>
            <p:spPr bwMode="auto">
              <a:xfrm>
                <a:off x="5869014" y="4152131"/>
                <a:ext cx="215154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80" name="Text Box 195"/>
              <p:cNvSpPr txBox="1"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6803186" y="4509120"/>
                <a:ext cx="1511979" cy="14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L2$</a:t>
                </a:r>
                <a:r>
                  <a:rPr lang="zh-CN" altLang="en-US" sz="1200" b="1" u="none" dirty="0">
                    <a:latin typeface="宋体" panose="02010600030101010101" pitchFamily="2" charset="-122"/>
                  </a:rPr>
                  <a:t>层间管理</a:t>
                </a:r>
              </a:p>
            </p:txBody>
          </p:sp>
          <p:cxnSp>
            <p:nvCxnSpPr>
              <p:cNvPr id="81" name="直接箭头连接符 44"/>
              <p:cNvCxnSpPr/>
              <p:nvPr>
                <p:custDataLst>
                  <p:tags r:id="rId194"/>
                </p:custDataLst>
              </p:nvPr>
            </p:nvCxnSpPr>
            <p:spPr bwMode="auto">
              <a:xfrm flipH="1">
                <a:off x="8244105" y="4437112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82" name="直接连接符 81"/>
              <p:cNvCxnSpPr/>
              <p:nvPr>
                <p:custDataLst>
                  <p:tags r:id="rId195"/>
                </p:custDataLst>
              </p:nvPr>
            </p:nvCxnSpPr>
            <p:spPr bwMode="auto">
              <a:xfrm flipV="1">
                <a:off x="5084153" y="4188849"/>
                <a:ext cx="144000" cy="72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Text Box 331"/>
              <p:cNvSpPr txBox="1"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5003745" y="4044841"/>
                <a:ext cx="216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6b</a:t>
                </a:r>
              </a:p>
            </p:txBody>
          </p:sp>
          <p:cxnSp>
            <p:nvCxnSpPr>
              <p:cNvPr id="84" name="直接连接符 83"/>
              <p:cNvCxnSpPr/>
              <p:nvPr>
                <p:custDataLst>
                  <p:tags r:id="rId197"/>
                </p:custDataLst>
              </p:nvPr>
            </p:nvCxnSpPr>
            <p:spPr bwMode="auto">
              <a:xfrm flipH="1">
                <a:off x="6012159" y="3789056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5" name="直接连接符 84"/>
              <p:cNvCxnSpPr/>
              <p:nvPr>
                <p:custDataLst>
                  <p:tags r:id="rId198"/>
                </p:custDataLst>
              </p:nvPr>
            </p:nvCxnSpPr>
            <p:spPr bwMode="auto">
              <a:xfrm flipH="1">
                <a:off x="7740351" y="3789040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6" name="直接连接符 85"/>
              <p:cNvCxnSpPr/>
              <p:nvPr>
                <p:custDataLst>
                  <p:tags r:id="rId199"/>
                </p:custDataLst>
              </p:nvPr>
            </p:nvCxnSpPr>
            <p:spPr bwMode="auto">
              <a:xfrm>
                <a:off x="4932352" y="3789040"/>
                <a:ext cx="280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接箭头连接符 44"/>
              <p:cNvCxnSpPr/>
              <p:nvPr>
                <p:custDataLst>
                  <p:tags r:id="rId200"/>
                </p:custDataLst>
              </p:nvPr>
            </p:nvCxnSpPr>
            <p:spPr bwMode="auto">
              <a:xfrm flipH="1">
                <a:off x="7379801" y="4653136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88" name="Text Box 305"/>
              <p:cNvSpPr txBox="1"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7091930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89" name="Text Box 307"/>
              <p:cNvSpPr txBox="1">
                <a:spLocks noChangeArrowheads="1"/>
              </p:cNvSpPr>
              <p:nvPr>
                <p:custDataLst>
                  <p:tags r:id="rId202"/>
                </p:custDataLst>
              </p:nvPr>
            </p:nvSpPr>
            <p:spPr bwMode="auto">
              <a:xfrm>
                <a:off x="7956026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90" name="Text Box 308"/>
              <p:cNvSpPr txBox="1"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7524328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91" name="Text Box 305"/>
              <p:cNvSpPr txBox="1">
                <a:spLocks noChangeArrowheads="1"/>
              </p:cNvSpPr>
              <p:nvPr>
                <p:custDataLst>
                  <p:tags r:id="rId204"/>
                </p:custDataLst>
              </p:nvPr>
            </p:nvSpPr>
            <p:spPr bwMode="auto">
              <a:xfrm>
                <a:off x="7308304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92" name="Line 317"/>
              <p:cNvSpPr>
                <a:spLocks noChangeShapeType="1"/>
              </p:cNvSpPr>
              <p:nvPr>
                <p:custDataLst>
                  <p:tags r:id="rId205"/>
                </p:custDataLst>
              </p:nvPr>
            </p:nvSpPr>
            <p:spPr bwMode="auto">
              <a:xfrm flipV="1">
                <a:off x="7091930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Text Box 170"/>
              <p:cNvSpPr txBox="1">
                <a:spLocks noChangeArrowheads="1"/>
              </p:cNvSpPr>
              <p:nvPr>
                <p:custDataLst>
                  <p:tags r:id="rId206"/>
                </p:custDataLst>
              </p:nvPr>
            </p:nvSpPr>
            <p:spPr bwMode="auto">
              <a:xfrm>
                <a:off x="7091977" y="4187180"/>
                <a:ext cx="1368152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4" name="Text Box 170"/>
              <p:cNvSpPr txBox="1"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7558275" y="4190231"/>
                <a:ext cx="360000" cy="2160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40b</a:t>
                </a:r>
              </a:p>
            </p:txBody>
          </p:sp>
          <p:cxnSp>
            <p:nvCxnSpPr>
              <p:cNvPr id="95" name="直接箭头连接符 44"/>
              <p:cNvCxnSpPr/>
              <p:nvPr>
                <p:custDataLst>
                  <p:tags r:id="rId208"/>
                </p:custDataLst>
              </p:nvPr>
            </p:nvCxnSpPr>
            <p:spPr bwMode="auto">
              <a:xfrm flipV="1">
                <a:off x="4932136" y="4615146"/>
                <a:ext cx="864000" cy="16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96" name="Text Box 170"/>
              <p:cNvSpPr txBox="1">
                <a:spLocks noChangeArrowheads="1"/>
              </p:cNvSpPr>
              <p:nvPr>
                <p:custDataLst>
                  <p:tags r:id="rId209"/>
                </p:custDataLst>
              </p:nvPr>
            </p:nvSpPr>
            <p:spPr bwMode="auto">
              <a:xfrm>
                <a:off x="7884440" y="3717032"/>
                <a:ext cx="648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L1-D$</a:t>
                </a:r>
              </a:p>
            </p:txBody>
          </p:sp>
          <p:cxnSp>
            <p:nvCxnSpPr>
              <p:cNvPr id="97" name="直接箭头连接符 44"/>
              <p:cNvCxnSpPr/>
              <p:nvPr>
                <p:custDataLst>
                  <p:tags r:id="rId210"/>
                </p:custDataLst>
              </p:nvPr>
            </p:nvCxnSpPr>
            <p:spPr bwMode="auto">
              <a:xfrm>
                <a:off x="5147406" y="4543682"/>
                <a:ext cx="647991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98" name="Text Box 195"/>
              <p:cNvSpPr txBox="1"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5796208" y="4509136"/>
                <a:ext cx="1007986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8:1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521" y="5741"/>
              <a:ext cx="5659" cy="1588"/>
              <a:chOff x="547330" y="3717032"/>
              <a:chExt cx="3593355" cy="1008112"/>
            </a:xfrm>
          </p:grpSpPr>
          <p:cxnSp>
            <p:nvCxnSpPr>
              <p:cNvPr id="100" name="直接箭头连接符 44"/>
              <p:cNvCxnSpPr/>
              <p:nvPr>
                <p:custDataLst>
                  <p:tags r:id="rId154"/>
                </p:custDataLst>
              </p:nvPr>
            </p:nvCxnSpPr>
            <p:spPr bwMode="auto">
              <a:xfrm flipH="1">
                <a:off x="547330" y="4725144"/>
                <a:ext cx="1511876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1" name="直接箭头连接符 44"/>
              <p:cNvCxnSpPr/>
              <p:nvPr>
                <p:custDataLst>
                  <p:tags r:id="rId155"/>
                </p:custDataLst>
              </p:nvPr>
            </p:nvCxnSpPr>
            <p:spPr bwMode="auto">
              <a:xfrm flipH="1">
                <a:off x="1830069" y="4437120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2" name="直接箭头连接符 44"/>
              <p:cNvCxnSpPr/>
              <p:nvPr>
                <p:custDataLst>
                  <p:tags r:id="rId156"/>
                </p:custDataLst>
              </p:nvPr>
            </p:nvCxnSpPr>
            <p:spPr bwMode="auto">
              <a:xfrm flipH="1">
                <a:off x="3851968" y="4221088"/>
                <a:ext cx="288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70C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03" name="Text Box 305"/>
              <p:cNvSpPr txBox="1"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683576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04" name="Text Box 307"/>
              <p:cNvSpPr txBox="1"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1547672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105" name="Text Box 308"/>
              <p:cNvSpPr txBox="1"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1115624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06" name="Text Box 331"/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2123736" y="4038621"/>
                <a:ext cx="288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07" name="Text Box 305"/>
              <p:cNvSpPr txBox="1">
                <a:spLocks noChangeArrowheads="1"/>
              </p:cNvSpPr>
              <p:nvPr>
                <p:custDataLst>
                  <p:tags r:id="rId161"/>
                </p:custDataLst>
              </p:nvPr>
            </p:nvSpPr>
            <p:spPr bwMode="auto">
              <a:xfrm>
                <a:off x="899600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08" name="Line 317"/>
              <p:cNvSpPr>
                <a:spLocks noChangeShapeType="1"/>
              </p:cNvSpPr>
              <p:nvPr>
                <p:custDataLst>
                  <p:tags r:id="rId162"/>
                </p:custDataLst>
              </p:nvPr>
            </p:nvSpPr>
            <p:spPr bwMode="auto">
              <a:xfrm flipV="1">
                <a:off x="683576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Text Box 309"/>
              <p:cNvSpPr txBox="1">
                <a:spLocks noChangeArrowheads="1"/>
              </p:cNvSpPr>
              <p:nvPr>
                <p:custDataLst>
                  <p:tags r:id="rId163"/>
                </p:custDataLst>
              </p:nvPr>
            </p:nvSpPr>
            <p:spPr bwMode="auto">
              <a:xfrm>
                <a:off x="1188502" y="4152131"/>
                <a:ext cx="215154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10" name="Text Box 195"/>
              <p:cNvSpPr txBox="1">
                <a:spLocks noChangeArrowheads="1"/>
              </p:cNvSpPr>
              <p:nvPr>
                <p:custDataLst>
                  <p:tags r:id="rId164"/>
                </p:custDataLst>
              </p:nvPr>
            </p:nvSpPr>
            <p:spPr bwMode="auto">
              <a:xfrm>
                <a:off x="1476900" y="4509120"/>
                <a:ext cx="1223899" cy="14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L2$</a:t>
                </a:r>
                <a:r>
                  <a:rPr lang="zh-CN" altLang="en-US" sz="1200" b="1" u="none" dirty="0">
                    <a:latin typeface="宋体" panose="02010600030101010101" pitchFamily="2" charset="-122"/>
                  </a:rPr>
                  <a:t>层间管理</a:t>
                </a:r>
              </a:p>
            </p:txBody>
          </p:sp>
          <p:cxnSp>
            <p:nvCxnSpPr>
              <p:cNvPr id="111" name="直接箭头连接符 44"/>
              <p:cNvCxnSpPr/>
              <p:nvPr>
                <p:custDataLst>
                  <p:tags r:id="rId165"/>
                </p:custDataLst>
              </p:nvPr>
            </p:nvCxnSpPr>
            <p:spPr bwMode="auto">
              <a:xfrm flipH="1">
                <a:off x="3563896" y="4437112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12" name="直接连接符 111"/>
              <p:cNvCxnSpPr/>
              <p:nvPr>
                <p:custDataLst>
                  <p:tags r:id="rId166"/>
                </p:custDataLst>
              </p:nvPr>
            </p:nvCxnSpPr>
            <p:spPr bwMode="auto">
              <a:xfrm flipV="1">
                <a:off x="3995944" y="4179552"/>
                <a:ext cx="144000" cy="72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3" name="Text Box 331"/>
              <p:cNvSpPr txBox="1">
                <a:spLocks noChangeArrowheads="1"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3923936" y="4035544"/>
                <a:ext cx="216000" cy="144000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7b</a:t>
                </a:r>
              </a:p>
            </p:txBody>
          </p:sp>
          <p:cxnSp>
            <p:nvCxnSpPr>
              <p:cNvPr id="114" name="直接连接符 113"/>
              <p:cNvCxnSpPr/>
              <p:nvPr>
                <p:custDataLst>
                  <p:tags r:id="rId168"/>
                </p:custDataLst>
              </p:nvPr>
            </p:nvCxnSpPr>
            <p:spPr bwMode="auto">
              <a:xfrm flipH="1">
                <a:off x="1403647" y="3789056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5" name="直接连接符 114"/>
              <p:cNvCxnSpPr/>
              <p:nvPr>
                <p:custDataLst>
                  <p:tags r:id="rId169"/>
                </p:custDataLst>
              </p:nvPr>
            </p:nvCxnSpPr>
            <p:spPr bwMode="auto">
              <a:xfrm flipH="1">
                <a:off x="3059839" y="3789040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6" name="直接连接符 115"/>
              <p:cNvCxnSpPr/>
              <p:nvPr>
                <p:custDataLst>
                  <p:tags r:id="rId170"/>
                </p:custDataLst>
              </p:nvPr>
            </p:nvCxnSpPr>
            <p:spPr bwMode="auto">
              <a:xfrm>
                <a:off x="1403648" y="3789040"/>
                <a:ext cx="2736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7" name="直接箭头连接符 44"/>
              <p:cNvCxnSpPr/>
              <p:nvPr>
                <p:custDataLst>
                  <p:tags r:id="rId171"/>
                </p:custDataLst>
              </p:nvPr>
            </p:nvCxnSpPr>
            <p:spPr bwMode="auto">
              <a:xfrm flipH="1">
                <a:off x="2053851" y="4653136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18" name="Text Box 305"/>
              <p:cNvSpPr txBox="1">
                <a:spLocks noChangeArrowheads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2411721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19" name="Text Box 307"/>
              <p:cNvSpPr txBox="1"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3275817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120" name="Text Box 308"/>
              <p:cNvSpPr txBox="1">
                <a:spLocks noChangeArrowheads="1"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2843816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21" name="Text Box 305"/>
              <p:cNvSpPr txBox="1">
                <a:spLocks noChangeArrowheads="1"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2627792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22" name="Line 317"/>
              <p:cNvSpPr>
                <a:spLocks noChangeShapeType="1"/>
              </p:cNvSpPr>
              <p:nvPr>
                <p:custDataLst>
                  <p:tags r:id="rId176"/>
                </p:custDataLst>
              </p:nvPr>
            </p:nvSpPr>
            <p:spPr bwMode="auto">
              <a:xfrm flipV="1">
                <a:off x="2411721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Text Box 170"/>
              <p:cNvSpPr txBox="1"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2411768" y="4187180"/>
                <a:ext cx="1368152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4" name="Text Box 170"/>
              <p:cNvSpPr txBox="1"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2892803" y="4190231"/>
                <a:ext cx="360000" cy="2160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39b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25" name="直接箭头连接符 44"/>
              <p:cNvCxnSpPr/>
              <p:nvPr>
                <p:custDataLst>
                  <p:tags r:id="rId179"/>
                </p:custDataLst>
              </p:nvPr>
            </p:nvCxnSpPr>
            <p:spPr bwMode="auto">
              <a:xfrm flipH="1">
                <a:off x="3636726" y="4614406"/>
                <a:ext cx="503959" cy="12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26" name="Text Box 170"/>
              <p:cNvSpPr txBox="1"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683568" y="3717032"/>
                <a:ext cx="648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L1-I$</a:t>
                </a:r>
              </a:p>
            </p:txBody>
          </p:sp>
          <p:cxnSp>
            <p:nvCxnSpPr>
              <p:cNvPr id="127" name="直接箭头连接符 44"/>
              <p:cNvCxnSpPr/>
              <p:nvPr>
                <p:custDataLst>
                  <p:tags r:id="rId181"/>
                </p:custDataLst>
              </p:nvPr>
            </p:nvCxnSpPr>
            <p:spPr bwMode="auto">
              <a:xfrm flipH="1">
                <a:off x="3636462" y="4539872"/>
                <a:ext cx="50395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8" name="Text Box 195"/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2701346" y="4509120"/>
                <a:ext cx="935923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8:1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736" y="7329"/>
              <a:ext cx="5443" cy="1577"/>
              <a:chOff x="736" y="7442"/>
              <a:chExt cx="5443" cy="1577"/>
            </a:xfrm>
          </p:grpSpPr>
          <p:sp>
            <p:nvSpPr>
              <p:cNvPr id="130" name="Text Box 170"/>
              <p:cNvSpPr txBox="1">
                <a:spLocks noChangeArrowheads="1"/>
              </p:cNvSpPr>
              <p:nvPr>
                <p:custDataLst>
                  <p:tags r:id="rId126"/>
                </p:custDataLst>
              </p:nvPr>
            </p:nvSpPr>
            <p:spPr bwMode="auto">
              <a:xfrm>
                <a:off x="736" y="7442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L2$</a:t>
                </a:r>
              </a:p>
            </p:txBody>
          </p:sp>
          <p:cxnSp>
            <p:nvCxnSpPr>
              <p:cNvPr id="131" name="直接箭头连接符 44"/>
              <p:cNvCxnSpPr/>
              <p:nvPr>
                <p:custDataLst>
                  <p:tags r:id="rId127"/>
                </p:custDataLst>
              </p:nvPr>
            </p:nvCxnSpPr>
            <p:spPr bwMode="auto">
              <a:xfrm flipH="1">
                <a:off x="2541" y="857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2" name="直接箭头连接符 44"/>
              <p:cNvCxnSpPr/>
              <p:nvPr>
                <p:custDataLst>
                  <p:tags r:id="rId128"/>
                </p:custDataLst>
              </p:nvPr>
            </p:nvCxnSpPr>
            <p:spPr bwMode="auto">
              <a:xfrm flipH="1" flipV="1">
                <a:off x="5725" y="8236"/>
                <a:ext cx="454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33" name="Text Box 305"/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736" y="778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34" name="Text Box 307"/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2097" y="778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3" name="Text Box 308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1416" y="778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36" name="Text Box 331"/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3004" y="7949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37" name="Text Box 305"/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1076" y="7782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38" name="Line 317"/>
              <p:cNvSpPr>
                <a:spLocks noChangeShapeType="1"/>
              </p:cNvSpPr>
              <p:nvPr>
                <p:custDataLst>
                  <p:tags r:id="rId134"/>
                </p:custDataLst>
              </p:nvPr>
            </p:nvSpPr>
            <p:spPr bwMode="auto">
              <a:xfrm flipV="1">
                <a:off x="736" y="8134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Text Box 309"/>
              <p:cNvSpPr txBox="1"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1530" y="8127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40" name="Text Box 195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1872" y="8690"/>
                <a:ext cx="1587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8:1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1" name="直接箭头连接符 44"/>
              <p:cNvCxnSpPr/>
              <p:nvPr>
                <p:custDataLst>
                  <p:tags r:id="rId137"/>
                </p:custDataLst>
              </p:nvPr>
            </p:nvCxnSpPr>
            <p:spPr bwMode="auto">
              <a:xfrm flipH="1">
                <a:off x="5272" y="857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42" name="直接连接符 141"/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5952" y="8171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3" name="Text Box 331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5839" y="7944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9b</a:t>
                </a:r>
              </a:p>
            </p:txBody>
          </p:sp>
          <p:cxnSp>
            <p:nvCxnSpPr>
              <p:cNvPr id="144" name="直接连接符 143"/>
              <p:cNvCxnSpPr/>
              <p:nvPr>
                <p:custDataLst>
                  <p:tags r:id="rId140"/>
                </p:custDataLst>
              </p:nvPr>
            </p:nvCxnSpPr>
            <p:spPr bwMode="auto">
              <a:xfrm flipH="1">
                <a:off x="1757" y="755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5" name="直接连接符 144"/>
              <p:cNvCxnSpPr/>
              <p:nvPr>
                <p:custDataLst>
                  <p:tags r:id="rId141"/>
                </p:custDataLst>
              </p:nvPr>
            </p:nvCxnSpPr>
            <p:spPr bwMode="auto">
              <a:xfrm flipH="1">
                <a:off x="4478" y="755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6" name="直接连接符 145"/>
              <p:cNvCxnSpPr/>
              <p:nvPr>
                <p:custDataLst>
                  <p:tags r:id="rId142"/>
                </p:custDataLst>
              </p:nvPr>
            </p:nvCxnSpPr>
            <p:spPr bwMode="auto">
              <a:xfrm>
                <a:off x="1757" y="7555"/>
                <a:ext cx="442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7" name="Text Box 305"/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457" y="778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48" name="Text Box 307"/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4818" y="778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149" name="Text Box 308"/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4138" y="778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50" name="Text Box 305"/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3798" y="7782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51" name="Line 317"/>
              <p:cNvSpPr>
                <a:spLocks noChangeShapeType="1"/>
              </p:cNvSpPr>
              <p:nvPr>
                <p:custDataLst>
                  <p:tags r:id="rId147"/>
                </p:custDataLst>
              </p:nvPr>
            </p:nvSpPr>
            <p:spPr bwMode="auto">
              <a:xfrm flipV="1">
                <a:off x="3457" y="8134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Text Box 170"/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458" y="8183"/>
                <a:ext cx="2155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3" name="Text Box 170"/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4191" y="8187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37b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4" name="Text Box 195"/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3448" y="8688"/>
                <a:ext cx="1928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L3$</a:t>
                </a:r>
                <a:r>
                  <a:rPr lang="zh-CN" altLang="en-US" sz="1200" b="1" u="none" dirty="0">
                    <a:latin typeface="宋体" panose="02010600030101010101" pitchFamily="2" charset="-122"/>
                  </a:rPr>
                  <a:t>层间管理</a:t>
                </a:r>
              </a:p>
            </p:txBody>
          </p:sp>
          <p:cxnSp>
            <p:nvCxnSpPr>
              <p:cNvPr id="155" name="直接箭头连接符 44"/>
              <p:cNvCxnSpPr/>
              <p:nvPr>
                <p:custDataLst>
                  <p:tags r:id="rId151"/>
                </p:custDataLst>
              </p:nvPr>
            </p:nvCxnSpPr>
            <p:spPr bwMode="auto">
              <a:xfrm flipH="1">
                <a:off x="4353" y="9019"/>
                <a:ext cx="181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6" name="直接箭头连接符 44"/>
              <p:cNvCxnSpPr/>
              <p:nvPr>
                <p:custDataLst>
                  <p:tags r:id="rId152"/>
                </p:custDataLst>
              </p:nvPr>
            </p:nvCxnSpPr>
            <p:spPr bwMode="auto">
              <a:xfrm flipH="1">
                <a:off x="4366" y="890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7" name="直接箭头连接符 156"/>
              <p:cNvCxnSpPr/>
              <p:nvPr>
                <p:custDataLst>
                  <p:tags r:id="rId153"/>
                </p:custDataLst>
              </p:nvPr>
            </p:nvCxnSpPr>
            <p:spPr bwMode="auto">
              <a:xfrm>
                <a:off x="958" y="8796"/>
                <a:ext cx="90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158" name="组合 157"/>
            <p:cNvGrpSpPr/>
            <p:nvPr/>
          </p:nvGrpSpPr>
          <p:grpSpPr>
            <a:xfrm>
              <a:off x="7543" y="7442"/>
              <a:ext cx="5670" cy="1588"/>
              <a:chOff x="7882" y="7555"/>
              <a:chExt cx="5670" cy="1588"/>
            </a:xfrm>
          </p:grpSpPr>
          <p:cxnSp>
            <p:nvCxnSpPr>
              <p:cNvPr id="159" name="直接箭头连接符 44"/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8221" y="9143"/>
                <a:ext cx="385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0" name="直接箭头连接符 44"/>
              <p:cNvCxnSpPr/>
              <p:nvPr>
                <p:custDataLst>
                  <p:tags r:id="rId99"/>
                </p:custDataLst>
              </p:nvPr>
            </p:nvCxnSpPr>
            <p:spPr bwMode="auto">
              <a:xfrm flipH="1">
                <a:off x="10368" y="8689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1" name="直接箭头连接符 44"/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7882" y="8349"/>
                <a:ext cx="68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62" name="Text Box 305"/>
              <p:cNvSpPr txBox="1"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8562" y="7895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63" name="Text Box 307"/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9923" y="7895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164" name="Text Box 308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9243" y="7895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65" name="Text Box 331"/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10830" y="8062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66" name="Text Box 305"/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8903" y="7895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67" name="Line 317"/>
              <p:cNvSpPr>
                <a:spLocks noChangeShapeType="1"/>
              </p:cNvSpPr>
              <p:nvPr>
                <p:custDataLst>
                  <p:tags r:id="rId106"/>
                </p:custDataLst>
              </p:nvPr>
            </p:nvSpPr>
            <p:spPr bwMode="auto">
              <a:xfrm flipV="1">
                <a:off x="8562" y="8247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Text Box 309"/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9358" y="8240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</a:p>
            </p:txBody>
          </p:sp>
          <p:sp>
            <p:nvSpPr>
              <p:cNvPr id="169" name="Text Box 195"/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9586" y="8803"/>
                <a:ext cx="1701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16:1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0" name="直接箭头连接符 44"/>
              <p:cNvCxnSpPr/>
              <p:nvPr>
                <p:custDataLst>
                  <p:tags r:id="rId109"/>
                </p:custDataLst>
              </p:nvPr>
            </p:nvCxnSpPr>
            <p:spPr bwMode="auto">
              <a:xfrm flipH="1">
                <a:off x="13098" y="8689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71" name="直接连接符 170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8122" y="8298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2" name="Text Box 331"/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7995" y="8071"/>
                <a:ext cx="454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13b</a:t>
                </a:r>
              </a:p>
            </p:txBody>
          </p:sp>
          <p:cxnSp>
            <p:nvCxnSpPr>
              <p:cNvPr id="173" name="直接连接符 172"/>
              <p:cNvCxnSpPr/>
              <p:nvPr>
                <p:custDataLst>
                  <p:tags r:id="rId112"/>
                </p:custDataLst>
              </p:nvPr>
            </p:nvCxnSpPr>
            <p:spPr bwMode="auto">
              <a:xfrm flipH="1">
                <a:off x="9583" y="7668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113"/>
                </p:custDataLst>
              </p:nvPr>
            </p:nvCxnSpPr>
            <p:spPr bwMode="auto">
              <a:xfrm flipH="1">
                <a:off x="12305" y="7668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5" name="直接连接符 174"/>
              <p:cNvCxnSpPr/>
              <p:nvPr>
                <p:custDataLst>
                  <p:tags r:id="rId114"/>
                </p:custDataLst>
              </p:nvPr>
            </p:nvCxnSpPr>
            <p:spPr bwMode="auto">
              <a:xfrm>
                <a:off x="7882" y="7668"/>
                <a:ext cx="442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6" name="直接箭头连接符 44"/>
              <p:cNvCxnSpPr/>
              <p:nvPr>
                <p:custDataLst>
                  <p:tags r:id="rId115"/>
                </p:custDataLst>
              </p:nvPr>
            </p:nvCxnSpPr>
            <p:spPr bwMode="auto">
              <a:xfrm flipH="1">
                <a:off x="12076" y="9030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77" name="Text Box 305"/>
              <p:cNvSpPr txBox="1">
                <a:spLocks noChangeArrowheads="1"/>
              </p:cNvSpPr>
              <p:nvPr>
                <p:custDataLst>
                  <p:tags r:id="rId116"/>
                </p:custDataLst>
              </p:nvPr>
            </p:nvSpPr>
            <p:spPr bwMode="auto">
              <a:xfrm>
                <a:off x="11284" y="7895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78" name="Text Box 307"/>
              <p:cNvSpPr txBox="1"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12644" y="7895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</a:p>
            </p:txBody>
          </p:sp>
          <p:sp>
            <p:nvSpPr>
              <p:cNvPr id="179" name="Text Box 308"/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11965" y="7895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标记</a:t>
                </a:r>
              </a:p>
            </p:txBody>
          </p:sp>
          <p:sp>
            <p:nvSpPr>
              <p:cNvPr id="180" name="Text Box 305"/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11624" y="7895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81" name="Line 317"/>
              <p:cNvSpPr>
                <a:spLocks noChangeShapeType="1"/>
              </p:cNvSpPr>
              <p:nvPr>
                <p:custDataLst>
                  <p:tags r:id="rId120"/>
                </p:custDataLst>
              </p:nvPr>
            </p:nvSpPr>
            <p:spPr bwMode="auto">
              <a:xfrm flipV="1">
                <a:off x="11284" y="8247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Text Box 170"/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11284" y="8296"/>
                <a:ext cx="21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3" name="Text Box 170"/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12018" y="8300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33b</a:t>
                </a:r>
              </a:p>
            </p:txBody>
          </p:sp>
          <p:sp>
            <p:nvSpPr>
              <p:cNvPr id="184" name="Text Box 170"/>
              <p:cNvSpPr txBox="1"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12871" y="7555"/>
                <a:ext cx="6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L3$</a:t>
                </a:r>
              </a:p>
            </p:txBody>
          </p:sp>
          <p:sp>
            <p:nvSpPr>
              <p:cNvPr id="185" name="Text Box 195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11282" y="8805"/>
                <a:ext cx="1928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与主存层间管理</a:t>
                </a:r>
              </a:p>
            </p:txBody>
          </p:sp>
          <p:cxnSp>
            <p:nvCxnSpPr>
              <p:cNvPr id="186" name="直接箭头连接符 44"/>
              <p:cNvCxnSpPr/>
              <p:nvPr>
                <p:custDataLst>
                  <p:tags r:id="rId125"/>
                </p:custDataLst>
              </p:nvPr>
            </p:nvCxnSpPr>
            <p:spPr bwMode="auto">
              <a:xfrm flipV="1">
                <a:off x="8292" y="8889"/>
                <a:ext cx="1304" cy="1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</p:grpSp>
      <p:grpSp>
        <p:nvGrpSpPr>
          <p:cNvPr id="597" name="组合 596"/>
          <p:cNvGrpSpPr/>
          <p:nvPr/>
        </p:nvGrpSpPr>
        <p:grpSpPr>
          <a:xfrm>
            <a:off x="461645" y="908720"/>
            <a:ext cx="7639050" cy="3384550"/>
            <a:chOff x="727" y="1431"/>
            <a:chExt cx="12030" cy="5330"/>
          </a:xfrm>
        </p:grpSpPr>
        <p:sp>
          <p:nvSpPr>
            <p:cNvPr id="15" name="Text Box 170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27" y="1431"/>
              <a:ext cx="21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95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2887" y="1431"/>
              <a:ext cx="226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VPN&lt;36&gt;</a:t>
              </a:r>
            </a:p>
          </p:txBody>
        </p:sp>
        <p:sp>
          <p:nvSpPr>
            <p:cNvPr id="17" name="Text Box 195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155" y="1431"/>
              <a:ext cx="147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VPO&lt;12&gt;</a:t>
              </a:r>
            </a:p>
          </p:txBody>
        </p:sp>
        <p:cxnSp>
          <p:nvCxnSpPr>
            <p:cNvPr id="18" name="直接连接符 17"/>
            <p:cNvCxnSpPr/>
            <p:nvPr>
              <p:custDataLst>
                <p:tags r:id="rId86"/>
              </p:custDataLst>
            </p:nvPr>
          </p:nvCxnSpPr>
          <p:spPr bwMode="auto">
            <a:xfrm flipH="1">
              <a:off x="3796" y="1771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87"/>
              </p:custDataLst>
            </p:nvPr>
          </p:nvCxnSpPr>
          <p:spPr bwMode="auto">
            <a:xfrm>
              <a:off x="7198" y="1998"/>
              <a:ext cx="0" cy="272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" name="Text Box 170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8335" y="4154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PA: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9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9015" y="4154"/>
              <a:ext cx="226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PPN&lt;40&gt;</a:t>
              </a:r>
            </a:p>
          </p:txBody>
        </p:sp>
        <p:sp>
          <p:nvSpPr>
            <p:cNvPr id="22" name="Text Box 195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1283" y="4154"/>
              <a:ext cx="147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VPO&lt;12&gt;</a:t>
              </a:r>
            </a:p>
          </p:txBody>
        </p:sp>
        <p:cxnSp>
          <p:nvCxnSpPr>
            <p:cNvPr id="23" name="直接箭头连接符 44"/>
            <p:cNvCxnSpPr/>
            <p:nvPr>
              <p:custDataLst>
                <p:tags r:id="rId91"/>
              </p:custDataLst>
            </p:nvPr>
          </p:nvCxnSpPr>
          <p:spPr bwMode="auto">
            <a:xfrm flipH="1" flipV="1">
              <a:off x="3796" y="1998"/>
              <a:ext cx="340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44"/>
            <p:cNvCxnSpPr/>
            <p:nvPr>
              <p:custDataLst>
                <p:tags r:id="rId92"/>
              </p:custDataLst>
            </p:nvPr>
          </p:nvCxnSpPr>
          <p:spPr bwMode="auto">
            <a:xfrm>
              <a:off x="7526" y="1885"/>
              <a:ext cx="0" cy="487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2" name="直接箭头连接符 44"/>
            <p:cNvCxnSpPr/>
            <p:nvPr>
              <p:custDataLst>
                <p:tags r:id="rId93"/>
              </p:custDataLst>
            </p:nvPr>
          </p:nvCxnSpPr>
          <p:spPr bwMode="auto">
            <a:xfrm>
              <a:off x="5041" y="1885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5723" y="177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95"/>
              </p:custDataLst>
            </p:nvPr>
          </p:nvCxnSpPr>
          <p:spPr bwMode="auto">
            <a:xfrm flipH="1">
              <a:off x="5041" y="177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 Box 170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7085" y="1431"/>
              <a:ext cx="165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596" name="Text Box 33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4623" y="178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</p:grpSp>
      <p:grpSp>
        <p:nvGrpSpPr>
          <p:cNvPr id="599" name="组合 598"/>
          <p:cNvGrpSpPr/>
          <p:nvPr/>
        </p:nvGrpSpPr>
        <p:grpSpPr>
          <a:xfrm>
            <a:off x="2218055" y="1412910"/>
            <a:ext cx="4156075" cy="1224280"/>
            <a:chOff x="3493" y="2225"/>
            <a:chExt cx="6545" cy="1928"/>
          </a:xfrm>
        </p:grpSpPr>
        <p:cxnSp>
          <p:nvCxnSpPr>
            <p:cNvPr id="5" name="直接连接符 4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6859" y="2905"/>
              <a:ext cx="33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74"/>
              </p:custDataLst>
            </p:nvPr>
          </p:nvCxnSpPr>
          <p:spPr bwMode="auto">
            <a:xfrm>
              <a:off x="6858" y="3473"/>
              <a:ext cx="2835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75"/>
              </p:custDataLst>
            </p:nvPr>
          </p:nvCxnSpPr>
          <p:spPr bwMode="auto">
            <a:xfrm>
              <a:off x="7202" y="2225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76"/>
              </p:custDataLst>
            </p:nvPr>
          </p:nvCxnSpPr>
          <p:spPr bwMode="auto">
            <a:xfrm>
              <a:off x="7202" y="2905"/>
              <a:ext cx="79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6858" y="2225"/>
              <a:ext cx="33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10" name="直接箭头连接符 44"/>
            <p:cNvCxnSpPr/>
            <p:nvPr>
              <p:custDataLst>
                <p:tags r:id="rId78"/>
              </p:custDataLst>
            </p:nvPr>
          </p:nvCxnSpPr>
          <p:spPr bwMode="auto">
            <a:xfrm>
              <a:off x="10038" y="3473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1" name="直接箭头连接符 44"/>
            <p:cNvCxnSpPr/>
            <p:nvPr>
              <p:custDataLst>
                <p:tags r:id="rId79"/>
              </p:custDataLst>
            </p:nvPr>
          </p:nvCxnSpPr>
          <p:spPr bwMode="auto">
            <a:xfrm>
              <a:off x="9699" y="3473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591" name="Text Box 33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6909" y="245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592" name="Text Box 33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744" y="378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598" name="Text Box 33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493" y="2993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</p:grpSp>
      <p:grpSp>
        <p:nvGrpSpPr>
          <p:cNvPr id="604" name="组合 603"/>
          <p:cNvGrpSpPr/>
          <p:nvPr/>
        </p:nvGrpSpPr>
        <p:grpSpPr>
          <a:xfrm>
            <a:off x="402590" y="2127920"/>
            <a:ext cx="5032375" cy="1377315"/>
            <a:chOff x="634" y="3351"/>
            <a:chExt cx="7925" cy="2169"/>
          </a:xfrm>
        </p:grpSpPr>
        <p:cxnSp>
          <p:nvCxnSpPr>
            <p:cNvPr id="584" name="直接连接符 583"/>
            <p:cNvCxnSpPr/>
            <p:nvPr>
              <p:custDataLst>
                <p:tags r:id="rId63"/>
              </p:custDataLst>
            </p:nvPr>
          </p:nvCxnSpPr>
          <p:spPr bwMode="auto">
            <a:xfrm flipH="1">
              <a:off x="6859" y="4493"/>
              <a:ext cx="33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5" name="直接连接符 584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6858" y="3812"/>
              <a:ext cx="33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6" name="直接箭头连接符 44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6858" y="3699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587" name="直接连接符 586"/>
            <p:cNvCxnSpPr/>
            <p:nvPr>
              <p:custDataLst>
                <p:tags r:id="rId66"/>
              </p:custDataLst>
            </p:nvPr>
          </p:nvCxnSpPr>
          <p:spPr bwMode="auto">
            <a:xfrm>
              <a:off x="650" y="3699"/>
              <a:ext cx="0" cy="136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8" name="直接连接符 587"/>
            <p:cNvCxnSpPr/>
            <p:nvPr>
              <p:custDataLst>
                <p:tags r:id="rId67"/>
              </p:custDataLst>
            </p:nvPr>
          </p:nvCxnSpPr>
          <p:spPr bwMode="auto">
            <a:xfrm>
              <a:off x="643" y="3698"/>
              <a:ext cx="294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9" name="Text Box 170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634" y="5180"/>
              <a:ext cx="36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ITLB/DTLB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&amp;L2TLB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命中时</a:t>
              </a:r>
            </a:p>
          </p:txBody>
        </p:sp>
        <p:sp>
          <p:nvSpPr>
            <p:cNvPr id="590" name="Text Box 170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072" y="335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/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93" name="Text Box 33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2147" y="3419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-3</a:t>
              </a:r>
            </a:p>
          </p:txBody>
        </p:sp>
        <p:sp>
          <p:nvSpPr>
            <p:cNvPr id="602" name="Text Box 33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6641" y="3958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-1</a:t>
              </a:r>
            </a:p>
          </p:txBody>
        </p:sp>
        <p:sp>
          <p:nvSpPr>
            <p:cNvPr id="603" name="Text Box 33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3338" y="4610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</a:t>
              </a:r>
            </a:p>
          </p:txBody>
        </p:sp>
      </p:grpSp>
      <p:grpSp>
        <p:nvGrpSpPr>
          <p:cNvPr id="607" name="组合 606"/>
          <p:cNvGrpSpPr/>
          <p:nvPr/>
        </p:nvGrpSpPr>
        <p:grpSpPr>
          <a:xfrm>
            <a:off x="396240" y="3412525"/>
            <a:ext cx="4043680" cy="2871470"/>
            <a:chOff x="624" y="5374"/>
            <a:chExt cx="6368" cy="4522"/>
          </a:xfrm>
        </p:grpSpPr>
        <p:sp>
          <p:nvSpPr>
            <p:cNvPr id="600" name="Text Box 33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059" y="5374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-2-3</a:t>
              </a:r>
            </a:p>
          </p:txBody>
        </p:sp>
        <p:sp>
          <p:nvSpPr>
            <p:cNvPr id="191" name="Text Box 170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21" y="9448"/>
              <a:ext cx="175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L2TLB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缺失时</a:t>
              </a:r>
            </a:p>
          </p:txBody>
        </p:sp>
        <p:cxnSp>
          <p:nvCxnSpPr>
            <p:cNvPr id="192" name="直接箭头连接符 44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639" y="5628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57"/>
              </p:custDataLst>
            </p:nvPr>
          </p:nvCxnSpPr>
          <p:spPr bwMode="auto">
            <a:xfrm>
              <a:off x="644" y="5614"/>
              <a:ext cx="0" cy="38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箭头连接符 44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624" y="9456"/>
              <a:ext cx="635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5" name="直接箭头连接符 44"/>
            <p:cNvCxnSpPr/>
            <p:nvPr>
              <p:custDataLst>
                <p:tags r:id="rId59"/>
              </p:custDataLst>
            </p:nvPr>
          </p:nvCxnSpPr>
          <p:spPr bwMode="auto">
            <a:xfrm>
              <a:off x="6028" y="9643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96" name="Text Box 170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859" y="9535"/>
              <a:ext cx="2154" cy="34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sz="1400" b="1" u="none" dirty="0">
                  <a:latin typeface="宋体" panose="02010600030101010101" pitchFamily="2" charset="-122"/>
                </a:rPr>
                <a:t>VPN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对应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PTE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605" name="Text Box 33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086" y="9669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-2-1</a:t>
              </a:r>
            </a:p>
          </p:txBody>
        </p:sp>
        <p:sp>
          <p:nvSpPr>
            <p:cNvPr id="606" name="Text Box 33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111" y="9643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</a:t>
              </a:r>
            </a:p>
          </p:txBody>
        </p:sp>
      </p:grpSp>
      <p:grpSp>
        <p:nvGrpSpPr>
          <p:cNvPr id="609" name="组合 608"/>
          <p:cNvGrpSpPr/>
          <p:nvPr/>
        </p:nvGrpSpPr>
        <p:grpSpPr>
          <a:xfrm>
            <a:off x="4570730" y="2853725"/>
            <a:ext cx="3530600" cy="2664460"/>
            <a:chOff x="7198" y="4494"/>
            <a:chExt cx="5560" cy="4196"/>
          </a:xfrm>
        </p:grpSpPr>
        <p:sp>
          <p:nvSpPr>
            <p:cNvPr id="13" name="Text Box 195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016" y="4721"/>
              <a:ext cx="260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CN&lt;46&gt;</a:t>
              </a:r>
            </a:p>
          </p:txBody>
        </p:sp>
        <p:sp>
          <p:nvSpPr>
            <p:cNvPr id="25" name="Text Box 19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1624" y="4721"/>
              <a:ext cx="113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CO&lt;6&gt;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44"/>
              </p:custDataLst>
            </p:nvPr>
          </p:nvCxnSpPr>
          <p:spPr bwMode="auto">
            <a:xfrm>
              <a:off x="7199" y="5175"/>
              <a:ext cx="0" cy="35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箭头连接符 44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12190" y="506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" name="直接箭头连接符 44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7312" y="5288"/>
              <a:ext cx="487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" name="直接箭头连接符 44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941" y="4494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48"/>
              </p:custDataLst>
            </p:nvPr>
          </p:nvCxnSpPr>
          <p:spPr bwMode="auto">
            <a:xfrm>
              <a:off x="10830" y="4721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右箭头 35"/>
            <p:cNvSpPr/>
            <p:nvPr>
              <p:custDataLst>
                <p:tags r:id="rId49"/>
              </p:custDataLst>
            </p:nvPr>
          </p:nvSpPr>
          <p:spPr bwMode="auto">
            <a:xfrm rot="5400000">
              <a:off x="10206" y="4438"/>
              <a:ext cx="227" cy="340"/>
            </a:xfrm>
            <a:prstGeom prst="rightArrow">
              <a:avLst/>
            </a:prstGeom>
            <a:noFill/>
            <a:ln w="15875" cmpd="sng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 u="none"/>
            </a:p>
          </p:txBody>
        </p:sp>
        <p:cxnSp>
          <p:nvCxnSpPr>
            <p:cNvPr id="37" name="直接箭头连接符 44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10828" y="5061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8" name="直接箭头连接符 44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7198" y="5175"/>
              <a:ext cx="362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9" name="直接箭头连接符 44"/>
            <p:cNvCxnSpPr/>
            <p:nvPr>
              <p:custDataLst>
                <p:tags r:id="rId52"/>
              </p:custDataLst>
            </p:nvPr>
          </p:nvCxnSpPr>
          <p:spPr bwMode="auto">
            <a:xfrm flipH="1" flipV="1">
              <a:off x="7312" y="5288"/>
              <a:ext cx="1" cy="340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608" name="Text Box 33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187" y="507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⑤</a:t>
              </a:r>
            </a:p>
          </p:txBody>
        </p:sp>
      </p:grpSp>
      <p:grpSp>
        <p:nvGrpSpPr>
          <p:cNvPr id="619" name="组合 618"/>
          <p:cNvGrpSpPr/>
          <p:nvPr/>
        </p:nvGrpSpPr>
        <p:grpSpPr>
          <a:xfrm>
            <a:off x="619125" y="4440590"/>
            <a:ext cx="4680585" cy="1365250"/>
            <a:chOff x="975" y="6993"/>
            <a:chExt cx="7371" cy="2150"/>
          </a:xfrm>
        </p:grpSpPr>
        <p:cxnSp>
          <p:nvCxnSpPr>
            <p:cNvPr id="54" name="直接连接符 53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6631" y="7442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6631" y="8122"/>
              <a:ext cx="56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6" name="直接箭头连接符 4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3358" y="7329"/>
              <a:ext cx="498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57" name="Text Box 17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75" y="8803"/>
              <a:ext cx="266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L1$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&amp;L2$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命中时</a:t>
              </a:r>
            </a:p>
          </p:txBody>
        </p:sp>
        <p:sp>
          <p:nvSpPr>
            <p:cNvPr id="58" name="Text Box 17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11" y="699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/</a:t>
              </a:r>
            </a:p>
          </p:txBody>
        </p:sp>
        <p:cxnSp>
          <p:nvCxnSpPr>
            <p:cNvPr id="59" name="直接箭头连接符 44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986" y="7329"/>
              <a:ext cx="0" cy="136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0" name="直接箭头连接符 44"/>
            <p:cNvCxnSpPr/>
            <p:nvPr>
              <p:custDataLst>
                <p:tags r:id="rId38"/>
              </p:custDataLst>
            </p:nvPr>
          </p:nvCxnSpPr>
          <p:spPr bwMode="auto">
            <a:xfrm>
              <a:off x="984" y="868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614" name="Text Box 33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859" y="7086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-3</a:t>
              </a:r>
            </a:p>
          </p:txBody>
        </p:sp>
        <p:sp>
          <p:nvSpPr>
            <p:cNvPr id="615" name="Text Box 33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615" y="7661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-1</a:t>
              </a:r>
            </a:p>
          </p:txBody>
        </p:sp>
        <p:sp>
          <p:nvSpPr>
            <p:cNvPr id="616" name="Text Box 33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425" y="7861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</a:t>
              </a:r>
            </a:p>
          </p:txBody>
        </p:sp>
      </p:grpSp>
      <p:grpSp>
        <p:nvGrpSpPr>
          <p:cNvPr id="618" name="组合 617"/>
          <p:cNvGrpSpPr/>
          <p:nvPr/>
        </p:nvGrpSpPr>
        <p:grpSpPr>
          <a:xfrm>
            <a:off x="2273300" y="3717325"/>
            <a:ext cx="3053715" cy="826770"/>
            <a:chOff x="3580" y="5854"/>
            <a:chExt cx="4809" cy="1302"/>
          </a:xfrm>
        </p:grpSpPr>
        <p:sp>
          <p:nvSpPr>
            <p:cNvPr id="41" name="Text Box 17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877" y="671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字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42" name="直接连接符 41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6631" y="6535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6631" y="5854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6631" y="7156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23"/>
              </p:custDataLst>
            </p:nvPr>
          </p:nvCxnSpPr>
          <p:spPr bwMode="auto">
            <a:xfrm>
              <a:off x="6631" y="7037"/>
              <a:ext cx="113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24"/>
              </p:custDataLst>
            </p:nvPr>
          </p:nvCxnSpPr>
          <p:spPr bwMode="auto">
            <a:xfrm>
              <a:off x="7539" y="6535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315" y="7156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26"/>
              </p:custDataLst>
            </p:nvPr>
          </p:nvCxnSpPr>
          <p:spPr bwMode="auto">
            <a:xfrm>
              <a:off x="7879" y="7048"/>
              <a:ext cx="5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27"/>
              </p:custDataLst>
            </p:nvPr>
          </p:nvCxnSpPr>
          <p:spPr bwMode="auto">
            <a:xfrm>
              <a:off x="7202" y="585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610" name="Text Box 33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883" y="5931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⑥</a:t>
              </a:r>
            </a:p>
          </p:txBody>
        </p:sp>
        <p:sp>
          <p:nvSpPr>
            <p:cNvPr id="611" name="Text Box 33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466" y="678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⑧</a:t>
              </a:r>
            </a:p>
          </p:txBody>
        </p:sp>
        <p:sp>
          <p:nvSpPr>
            <p:cNvPr id="612" name="Text Box 3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80" y="624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</a:p>
          </p:txBody>
        </p:sp>
        <p:sp>
          <p:nvSpPr>
            <p:cNvPr id="617" name="Text Box 33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758" y="628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</p:grpSp>
      <p:grpSp>
        <p:nvGrpSpPr>
          <p:cNvPr id="623" name="组合 622"/>
          <p:cNvGrpSpPr/>
          <p:nvPr/>
        </p:nvGrpSpPr>
        <p:grpSpPr>
          <a:xfrm>
            <a:off x="2483485" y="4797460"/>
            <a:ext cx="4826635" cy="1080770"/>
            <a:chOff x="3911" y="7555"/>
            <a:chExt cx="7601" cy="1702"/>
          </a:xfrm>
        </p:grpSpPr>
        <p:sp>
          <p:nvSpPr>
            <p:cNvPr id="62" name="Text Box 17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11" y="8917"/>
              <a:ext cx="272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L2$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&amp;L3$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命中时</a:t>
              </a:r>
            </a:p>
          </p:txBody>
        </p:sp>
        <p:cxnSp>
          <p:nvCxnSpPr>
            <p:cNvPr id="63" name="直接箭头连接符 44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6614" y="889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4" name="直接箭头连接符 44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7631" y="8773"/>
              <a:ext cx="79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5" name="直接箭头连接符 44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647" y="8785"/>
              <a:ext cx="0" cy="12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14"/>
              </p:custDataLst>
            </p:nvPr>
          </p:nvCxnSpPr>
          <p:spPr bwMode="auto">
            <a:xfrm>
              <a:off x="7202" y="7555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15"/>
              </p:custDataLst>
            </p:nvPr>
          </p:nvCxnSpPr>
          <p:spPr bwMode="auto">
            <a:xfrm>
              <a:off x="7202" y="8236"/>
              <a:ext cx="79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620" name="Text Box 33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745" y="8512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-2-3</a:t>
              </a:r>
            </a:p>
          </p:txBody>
        </p:sp>
        <p:sp>
          <p:nvSpPr>
            <p:cNvPr id="621" name="Text Box 33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467" y="7722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-2-1</a:t>
              </a:r>
            </a:p>
          </p:txBody>
        </p:sp>
        <p:sp>
          <p:nvSpPr>
            <p:cNvPr id="622" name="Text Box 33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718" y="7583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</a:t>
              </a: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4577715" y="5477545"/>
            <a:ext cx="2947670" cy="473075"/>
            <a:chOff x="7209" y="8626"/>
            <a:chExt cx="4642" cy="745"/>
          </a:xfrm>
        </p:grpSpPr>
        <p:cxnSp>
          <p:nvCxnSpPr>
            <p:cNvPr id="188" name="直接箭头连接符 44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8347" y="90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89" name="Text Box 17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378" y="9031"/>
              <a:ext cx="147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L3$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缺失时</a:t>
              </a:r>
            </a:p>
          </p:txBody>
        </p:sp>
        <p:sp>
          <p:nvSpPr>
            <p:cNvPr id="624" name="Text Box 3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658" y="9071"/>
              <a:ext cx="102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-2-2-1</a:t>
              </a:r>
            </a:p>
          </p:txBody>
        </p:sp>
        <p:cxnSp>
          <p:nvCxnSpPr>
            <p:cNvPr id="625" name="直接连接符 624"/>
            <p:cNvCxnSpPr/>
            <p:nvPr>
              <p:custDataLst>
                <p:tags r:id="rId8"/>
              </p:custDataLst>
            </p:nvPr>
          </p:nvCxnSpPr>
          <p:spPr bwMode="auto">
            <a:xfrm>
              <a:off x="7209" y="8652"/>
              <a:ext cx="0" cy="62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6" name="直接连接符 625"/>
            <p:cNvCxnSpPr/>
            <p:nvPr>
              <p:custDataLst>
                <p:tags r:id="rId9"/>
              </p:custDataLst>
            </p:nvPr>
          </p:nvCxnSpPr>
          <p:spPr bwMode="auto">
            <a:xfrm>
              <a:off x="7305" y="8626"/>
              <a:ext cx="0" cy="6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" name="Text Box 29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34955" y="6093296"/>
            <a:ext cx="3456000" cy="329588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tIns="10800" bIns="10800">
            <a:spAutoFit/>
          </a:bodyPr>
          <a:lstStyle/>
          <a:p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3-4</a:t>
            </a:r>
            <a:r>
              <a:rPr lang="zh-CN" altLang="en-US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>
                <a:latin typeface="宋体" panose="02010600030101010101" pitchFamily="2" charset="-122"/>
              </a:rPr>
              <a:t>P139—34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35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选做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2" name="AutoShape 62">
            <a:hlinkClick r:id="rId300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14" name="AutoShape 4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75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75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75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75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75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75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34376-3f17-4eec-9f82-cc1c1bc8fcc2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192*45"/>
  <p:tag name="TABLE_ENDDRAG_RECT" val="507*212*192*45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15*39"/>
  <p:tag name="TABLE_ENDDRAG_RECT" val="121*365*515*39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3*122"/>
  <p:tag name="TABLE_ENDDRAG_RECT" val="620*152*73*122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3*6"/>
  <p:tag name="TABLE_ENDDRAG_RECT" val="188*413*503*6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9*44"/>
  <p:tag name="TABLE_ENDDRAG_RECT" val="88*180*609*44"/>
  <p:tag name="KSO_WM_BEAUTIFY_FLAG" val="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87*50"/>
  <p:tag name="TABLE_ENDDRAG_RECT" val="161*195*487*50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391*5"/>
  <p:tag name="TABLE_ENDDRAG_RECT" val="252*138*391*6"/>
</p:tagLst>
</file>

<file path=ppt/tags/tag2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65*6"/>
  <p:tag name="TABLE_ENDDRAG_RECT" val="144*257*465*6"/>
</p:tagLst>
</file>

<file path=ppt/tags/tag2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7*110"/>
  <p:tag name="TABLE_ENDDRAG_RECT" val="74*471*617*110"/>
  <p:tag name="KSO_WM_BEAUTIFY_FLAG" val=""/>
</p:tagLst>
</file>

<file path=ppt/tags/tag2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rgbClr val="808080"/>
          </a:solidFill>
          <a:miter lim="800000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8192</TotalTime>
  <Words>19115</Words>
  <Application>Microsoft Office PowerPoint</Application>
  <PresentationFormat>全屏显示(4:3)</PresentationFormat>
  <Paragraphs>4098</Paragraphs>
  <Slides>83</Slides>
  <Notes>63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89" baseType="lpstr">
      <vt:lpstr>MS Gothic</vt:lpstr>
      <vt:lpstr>黑体</vt:lpstr>
      <vt:lpstr>宋体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2707</cp:revision>
  <dcterms:created xsi:type="dcterms:W3CDTF">2002-02-16T03:40:00Z</dcterms:created>
  <dcterms:modified xsi:type="dcterms:W3CDTF">2025-11-03T05:26:32Z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206FEC49866A43748A423839376AA976_12</vt:lpwstr>
  </property>
  <property fmtid="{D5CDD505-2E9C-101B-9397-08002B2CF9AE}" pid="3" name="KSOProductBuildVer">
    <vt:lpwstr>2052-12.1.0.15712</vt:lpwstr>
  </property>
</Properties>
</file>